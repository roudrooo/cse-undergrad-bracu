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Economica"/>
      <p:regular r:id="rId16"/>
      <p:bold r:id="rId17"/>
      <p:italic r:id="rId18"/>
      <p:boldItalic r:id="rId19"/>
    </p:embeddedFont>
    <p:embeddedFont>
      <p:font typeface="Open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94DB839-60CA-4555-BE55-87CF6BC8CD59}">
  <a:tblStyle styleId="{394DB839-60CA-4555-BE55-87CF6BC8CD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-regular.fntdata"/><Relationship Id="rId11" Type="http://schemas.openxmlformats.org/officeDocument/2006/relationships/slide" Target="slides/slide5.xml"/><Relationship Id="rId22" Type="http://schemas.openxmlformats.org/officeDocument/2006/relationships/font" Target="fonts/OpenSans-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Economica-bold.fntdata"/><Relationship Id="rId16" Type="http://schemas.openxmlformats.org/officeDocument/2006/relationships/font" Target="fonts/Economica-regular.fntdata"/><Relationship Id="rId5" Type="http://schemas.openxmlformats.org/officeDocument/2006/relationships/slideMaster" Target="slideMasters/slideMaster1.xml"/><Relationship Id="rId19" Type="http://schemas.openxmlformats.org/officeDocument/2006/relationships/font" Target="fonts/Economica-bold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Economica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55719ed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55719ed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55719edc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55719edc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99db2f62a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99db2f62a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9db2f62a4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9db2f62a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99db2f62a4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99db2f62a4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9db2f62a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99db2f62a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55719edc7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55719edc7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9db2f62a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99db2f62a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Nearest Neighbour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Supervised Learning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 Nearest Neighbour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 sz="1400">
                <a:solidFill>
                  <a:schemeClr val="dk1"/>
                </a:solidFill>
              </a:rPr>
              <a:t>K-Nearest Neighbours (KNN)</a:t>
            </a:r>
            <a:r>
              <a:rPr lang="en" sz="1400">
                <a:solidFill>
                  <a:schemeClr val="dk1"/>
                </a:solidFill>
              </a:rPr>
              <a:t> is a simple, intuitive machine learning algorithm used for </a:t>
            </a:r>
            <a:r>
              <a:rPr b="1" lang="en" sz="1400">
                <a:solidFill>
                  <a:schemeClr val="dk1"/>
                </a:solidFill>
              </a:rPr>
              <a:t>classification</a:t>
            </a:r>
            <a:r>
              <a:rPr lang="en" sz="1400">
                <a:solidFill>
                  <a:schemeClr val="dk1"/>
                </a:solidFill>
              </a:rPr>
              <a:t> and </a:t>
            </a:r>
            <a:r>
              <a:rPr b="1" lang="en" sz="1400">
                <a:solidFill>
                  <a:schemeClr val="dk1"/>
                </a:solidFill>
              </a:rPr>
              <a:t>regression</a:t>
            </a:r>
            <a:r>
              <a:rPr lang="en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It works by looking at the </a:t>
            </a:r>
            <a:r>
              <a:rPr b="1" lang="en" sz="1400">
                <a:solidFill>
                  <a:schemeClr val="dk1"/>
                </a:solidFill>
              </a:rPr>
              <a:t>K closest data points</a:t>
            </a:r>
            <a:r>
              <a:rPr lang="en" sz="1400">
                <a:solidFill>
                  <a:schemeClr val="dk1"/>
                </a:solidFill>
              </a:rPr>
              <a:t> (neighbors) to a new, unknown data point, based on distance (usually Euclidean distance).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KNN is called a </a:t>
            </a:r>
            <a:r>
              <a:rPr b="1" lang="en" sz="1400">
                <a:solidFill>
                  <a:schemeClr val="dk1"/>
                </a:solidFill>
              </a:rPr>
              <a:t>lazy learner</a:t>
            </a:r>
            <a:r>
              <a:rPr lang="en" sz="1400">
                <a:solidFill>
                  <a:schemeClr val="dk1"/>
                </a:solidFill>
              </a:rPr>
              <a:t> because it does not build a model—it makes decisions only when needed.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KNN works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9502500" cy="371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-32639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200">
                <a:solidFill>
                  <a:schemeClr val="dk1"/>
                </a:solidFill>
              </a:rPr>
              <a:t>You have labeled data points (like “cat” or “dog”, or numerical values).</a:t>
            </a:r>
            <a:endParaRPr sz="2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AutoNum type="arabicPeriod"/>
            </a:pPr>
            <a:r>
              <a:rPr lang="en" sz="2000">
                <a:solidFill>
                  <a:schemeClr val="dk1"/>
                </a:solidFill>
              </a:rPr>
              <a:t>To classify/predict a new point: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000">
                <a:solidFill>
                  <a:schemeClr val="dk1"/>
                </a:solidFill>
              </a:rPr>
              <a:t>Compute its distance to all existing points.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000">
                <a:solidFill>
                  <a:schemeClr val="dk1"/>
                </a:solidFill>
              </a:rPr>
              <a:t>Pick the </a:t>
            </a:r>
            <a:r>
              <a:rPr b="1" lang="en" sz="2000">
                <a:solidFill>
                  <a:schemeClr val="dk1"/>
                </a:solidFill>
              </a:rPr>
              <a:t>K nearest</a:t>
            </a:r>
            <a:r>
              <a:rPr lang="en" sz="2000">
                <a:solidFill>
                  <a:schemeClr val="dk1"/>
                </a:solidFill>
              </a:rPr>
              <a:t> ones.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en" sz="2000">
                <a:solidFill>
                  <a:schemeClr val="dk1"/>
                </a:solidFill>
              </a:rPr>
              <a:t>For classification → choose the </a:t>
            </a:r>
            <a:r>
              <a:rPr b="1" lang="en" sz="2000">
                <a:solidFill>
                  <a:schemeClr val="dk1"/>
                </a:solidFill>
              </a:rPr>
              <a:t>majority class</a:t>
            </a:r>
            <a:r>
              <a:rPr lang="en" sz="2000">
                <a:solidFill>
                  <a:schemeClr val="dk1"/>
                </a:solidFill>
              </a:rPr>
              <a:t> among neighbors.</a:t>
            </a:r>
            <a:br>
              <a:rPr lang="en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29083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0000"/>
              <a:buChar char="○"/>
            </a:pPr>
            <a:r>
              <a:rPr lang="en" sz="2000">
                <a:solidFill>
                  <a:schemeClr val="dk1"/>
                </a:solidFill>
              </a:rPr>
              <a:t>For regression → average the </a:t>
            </a:r>
            <a:r>
              <a:rPr b="1" lang="en" sz="2000">
                <a:solidFill>
                  <a:schemeClr val="dk1"/>
                </a:solidFill>
              </a:rPr>
              <a:t>values</a:t>
            </a:r>
            <a:r>
              <a:rPr lang="en" sz="2000">
                <a:solidFill>
                  <a:schemeClr val="dk1"/>
                </a:solidFill>
              </a:rPr>
              <a:t> of the neighbors.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2535650" y="95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{394DB839-60CA-4555-BE55-87CF6BC8CD59}</a:tableStyleId>
              </a:tblPr>
              <a:tblGrid>
                <a:gridCol w="1803550"/>
                <a:gridCol w="1803550"/>
              </a:tblGrid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 (1, 1)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B (2, 1)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 (1, 2)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 (2, 2)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 (3, 1.5)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 (3, 3)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G (4, 2)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 (5, 3)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 (0.5, 3.5)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0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69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J (4.5, 1)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1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088" y="1145688"/>
            <a:ext cx="48291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775" y="2688838"/>
            <a:ext cx="519112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575" y="3679538"/>
            <a:ext cx="5038725" cy="87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Distance from P to all points (closest to farthest)</a:t>
            </a:r>
            <a:endParaRPr sz="1400">
              <a:solidFill>
                <a:schemeClr val="dk1"/>
              </a:solidFill>
            </a:endParaRPr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2313" y="1731725"/>
            <a:ext cx="3038475" cy="240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250" y="1338875"/>
            <a:ext cx="3829050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1319825"/>
            <a:ext cx="3857625" cy="2952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2275" y="374475"/>
            <a:ext cx="6072823" cy="429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Properties</a:t>
            </a:r>
            <a:endParaRPr/>
          </a:p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</a:rPr>
              <a:t>📌 When to use KNN?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Small to medium datasets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When data is not too high-dimensional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When interpretability is important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📌 When it struggles?</a:t>
            </a:r>
            <a:endParaRPr b="1" sz="17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Very large datasets (slow)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 dimensional features (curse of dimensionality)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Features with different scales (need normalization)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