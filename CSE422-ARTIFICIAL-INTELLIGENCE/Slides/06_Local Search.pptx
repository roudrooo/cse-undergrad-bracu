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2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9144000" cy="6858000" type="screen4x3"/>
  <p:notesSz cx="6858000" cy="9144000"/>
  <p:embeddedFontLst>
    <p:embeddedFont>
      <p:font typeface="Arial Black" panose="020B0604020202020204" pitchFamily="34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gzQtKynDn1YGTkIoTpNhTxBToC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67"/>
  </p:normalViewPr>
  <p:slideViewPr>
    <p:cSldViewPr snapToGrid="0">
      <p:cViewPr varScale="1">
        <p:scale>
          <a:sx n="124" d="100"/>
          <a:sy n="124" d="100"/>
        </p:scale>
        <p:origin x="1304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customschemas.google.com/relationships/presentationmetadata" Target="metadata"/><Relationship Id="rId37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1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hedi Hasan" userId="3f84af61-50e3-4561-93b6-29c6e556d79c" providerId="ADAL" clId="{02FB1482-9278-5792-853F-EEADF0BED0EF}"/>
    <pc:docChg chg="undo redo custSel mod modSld">
      <pc:chgData name="Mehedi Hasan" userId="3f84af61-50e3-4561-93b6-29c6e556d79c" providerId="ADAL" clId="{02FB1482-9278-5792-853F-EEADF0BED0EF}" dt="2026-04-02T19:12:01.731" v="10" actId="20577"/>
      <pc:docMkLst>
        <pc:docMk/>
      </pc:docMkLst>
      <pc:sldChg chg="modSp mod">
        <pc:chgData name="Mehedi Hasan" userId="3f84af61-50e3-4561-93b6-29c6e556d79c" providerId="ADAL" clId="{02FB1482-9278-5792-853F-EEADF0BED0EF}" dt="2026-04-02T19:12:01.731" v="10" actId="20577"/>
        <pc:sldMkLst>
          <pc:docMk/>
          <pc:sldMk cId="0" sldId="276"/>
        </pc:sldMkLst>
        <pc:spChg chg="mod">
          <ac:chgData name="Mehedi Hasan" userId="3f84af61-50e3-4561-93b6-29c6e556d79c" providerId="ADAL" clId="{02FB1482-9278-5792-853F-EEADF0BED0EF}" dt="2026-04-02T19:12:01.731" v="10" actId="20577"/>
          <ac:spMkLst>
            <pc:docMk/>
            <pc:sldMk cId="0" sldId="276"/>
            <ac:spMk id="62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/>
          </a:p>
        </p:txBody>
      </p:sp>
      <p:sp>
        <p:nvSpPr>
          <p:cNvPr id="134" name="Google Shape;13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35" name="Google Shape;13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50" name="Google Shape;15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/>
          </a:p>
        </p:txBody>
      </p:sp>
      <p:sp>
        <p:nvSpPr>
          <p:cNvPr id="190" name="Google Shape;19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91" name="Google Shape;19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/>
          </a:p>
        </p:txBody>
      </p:sp>
      <p:sp>
        <p:nvSpPr>
          <p:cNvPr id="424" name="Google Shape;42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425" name="Google Shape;42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/>
          </a:p>
        </p:txBody>
      </p:sp>
      <p:sp>
        <p:nvSpPr>
          <p:cNvPr id="441" name="Google Shape;44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442" name="Google Shape;44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/>
          </a:p>
        </p:txBody>
      </p:sp>
      <p:sp>
        <p:nvSpPr>
          <p:cNvPr id="603" name="Google Shape;60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604" name="Google Shape;60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/>
          </a:p>
        </p:txBody>
      </p:sp>
      <p:sp>
        <p:nvSpPr>
          <p:cNvPr id="610" name="Google Shape;61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611" name="Google Shape;61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/>
          </a:p>
        </p:txBody>
      </p:sp>
      <p:sp>
        <p:nvSpPr>
          <p:cNvPr id="624" name="Google Shape;62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625" name="Google Shape;62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 txBox="1">
            <a:spLocks noGrp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0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680"/>
              </a:spcBef>
              <a:spcAft>
                <a:spcPts val="0"/>
              </a:spcAft>
              <a:buSzPts val="2550"/>
              <a:buFont typeface="Noto Sans Symbols"/>
              <a:buNone/>
              <a:defRPr sz="3400"/>
            </a:lvl1pPr>
            <a:lvl2pPr lvl="1" algn="l"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6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8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8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9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4038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4038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2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29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0"/>
          <p:cNvSpPr txBox="1">
            <a:spLocks noGrp="1"/>
          </p:cNvSpPr>
          <p:nvPr>
            <p:ph type="title"/>
          </p:nvPr>
        </p:nvSpPr>
        <p:spPr>
          <a:xfrm rot="5400000">
            <a:off x="4953000" y="2133600"/>
            <a:ext cx="54102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body" idx="1"/>
          </p:nvPr>
        </p:nvSpPr>
        <p:spPr>
          <a:xfrm rot="5400000">
            <a:off x="762000" y="152400"/>
            <a:ext cx="54102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0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30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1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body" idx="1"/>
          </p:nvPr>
        </p:nvSpPr>
        <p:spPr>
          <a:xfrm rot="5400000">
            <a:off x="2628900" y="-190500"/>
            <a:ext cx="38862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3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2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32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SzPts val="780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0" name="Google Shape;80;p32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32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3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3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640"/>
              </a:spcBef>
              <a:spcAft>
                <a:spcPts val="0"/>
              </a:spcAft>
              <a:buSzPts val="2400"/>
              <a:buChar char="■"/>
              <a:defRPr sz="3200"/>
            </a:lvl1pPr>
            <a:lvl2pPr marL="914400" lvl="1" indent="-370840" algn="l">
              <a:spcBef>
                <a:spcPts val="560"/>
              </a:spcBef>
              <a:spcAft>
                <a:spcPts val="0"/>
              </a:spcAft>
              <a:buSzPts val="2240"/>
              <a:buChar char="◻"/>
              <a:defRPr sz="2800"/>
            </a:lvl2pPr>
            <a:lvl3pPr marL="1371600" lvl="2" indent="-32766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3pPr>
            <a:lvl4pPr marL="1828800" lvl="3" indent="-317500" algn="l">
              <a:spcBef>
                <a:spcPts val="400"/>
              </a:spcBef>
              <a:spcAft>
                <a:spcPts val="0"/>
              </a:spcAft>
              <a:buSzPts val="1400"/>
              <a:buChar char="◻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6" name="Google Shape;86;p33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SzPts val="780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7" name="Google Shape;87;p33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3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33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4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4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34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5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5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35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6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6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8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17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2" name="Google Shape;102;p36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3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8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17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" name="Google Shape;104;p3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36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36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7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7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4038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37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4038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37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7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37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8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8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800"/>
              <a:buNone/>
              <a:defRPr sz="24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2000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170"/>
              <a:buNone/>
              <a:defRPr sz="18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8" name="Google Shape;118;p38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3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38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5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11" name="Google Shape;11;p25"/>
            <p:cNvSpPr txBox="1"/>
            <p:nvPr/>
          </p:nvSpPr>
          <p:spPr>
            <a:xfrm>
              <a:off x="0" y="0"/>
              <a:ext cx="2208" cy="4320"/>
            </a:xfrm>
            <a:prstGeom prst="rect">
              <a:avLst/>
            </a:prstGeom>
            <a:gradFill>
              <a:gsLst>
                <a:gs pos="0">
                  <a:schemeClr val="folHlink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5"/>
            <p:cNvSpPr txBox="1"/>
            <p:nvPr/>
          </p:nvSpPr>
          <p:spPr>
            <a:xfrm>
              <a:off x="1081" y="1065"/>
              <a:ext cx="4679" cy="159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" name="Google Shape;13;p2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14" name="Google Shape;14;p25"/>
              <p:cNvSpPr txBox="1"/>
              <p:nvPr/>
            </p:nvSpPr>
            <p:spPr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25"/>
              <p:cNvSpPr txBox="1"/>
              <p:nvPr/>
            </p:nvSpPr>
            <p:spPr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25"/>
              <p:cNvSpPr txBox="1"/>
              <p:nvPr/>
            </p:nvSpPr>
            <p:spPr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25"/>
              <p:cNvSpPr txBox="1"/>
              <p:nvPr/>
            </p:nvSpPr>
            <p:spPr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25"/>
              <p:cNvSpPr txBox="1"/>
              <p:nvPr/>
            </p:nvSpPr>
            <p:spPr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25"/>
              <p:cNvSpPr txBox="1"/>
              <p:nvPr/>
            </p:nvSpPr>
            <p:spPr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25"/>
              <p:cNvSpPr txBox="1"/>
              <p:nvPr/>
            </p:nvSpPr>
            <p:spPr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25"/>
              <p:cNvSpPr txBox="1"/>
              <p:nvPr/>
            </p:nvSpPr>
            <p:spPr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25"/>
              <p:cNvSpPr txBox="1"/>
              <p:nvPr/>
            </p:nvSpPr>
            <p:spPr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25"/>
              <p:cNvSpPr txBox="1"/>
              <p:nvPr/>
            </p:nvSpPr>
            <p:spPr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4" name="Google Shape;24;p25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Char char="■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7084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240"/>
              <a:buFont typeface="Noto Sans Symbols"/>
              <a:buChar char="◻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7660" algn="l" rtl="0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56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25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2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sz="1200" b="0" i="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" name="Google Shape;38;p27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39" name="Google Shape;39;p27"/>
            <p:cNvSpPr txBox="1"/>
            <p:nvPr/>
          </p:nvSpPr>
          <p:spPr>
            <a:xfrm>
              <a:off x="0" y="0"/>
              <a:ext cx="180" cy="336"/>
            </a:xfrm>
            <a:prstGeom prst="rect">
              <a:avLst/>
            </a:prstGeom>
            <a:gradFill>
              <a:gsLst>
                <a:gs pos="0">
                  <a:schemeClr val="folHlink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7"/>
            <p:cNvSpPr txBox="1"/>
            <p:nvPr/>
          </p:nvSpPr>
          <p:spPr>
            <a:xfrm>
              <a:off x="260" y="85"/>
              <a:ext cx="5500" cy="173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7"/>
            <p:cNvSpPr txBox="1"/>
            <p:nvPr/>
          </p:nvSpPr>
          <p:spPr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7"/>
            <p:cNvSpPr txBox="1"/>
            <p:nvPr/>
          </p:nvSpPr>
          <p:spPr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7"/>
            <p:cNvSpPr txBox="1"/>
            <p:nvPr/>
          </p:nvSpPr>
          <p:spPr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7"/>
            <p:cNvSpPr txBox="1"/>
            <p:nvPr/>
          </p:nvSpPr>
          <p:spPr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7"/>
            <p:cNvSpPr txBox="1"/>
            <p:nvPr/>
          </p:nvSpPr>
          <p:spPr>
            <a:xfrm>
              <a:off x="83" y="86"/>
              <a:ext cx="89" cy="87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7"/>
            <p:cNvSpPr txBox="1"/>
            <p:nvPr/>
          </p:nvSpPr>
          <p:spPr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7"/>
            <p:cNvSpPr txBox="1"/>
            <p:nvPr/>
          </p:nvSpPr>
          <p:spPr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" name="Google Shape;48;p27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Char char="■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7084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240"/>
              <a:buFont typeface="Noto Sans Symbols"/>
              <a:buChar char="◻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7660" algn="l" rtl="0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56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27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"/>
          <p:cNvSpPr txBox="1">
            <a:spLocks noGrp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rial"/>
              <a:buNone/>
            </a:pPr>
            <a:r>
              <a:rPr lang="en-US" sz="5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Informed search algorithms</a:t>
            </a:r>
            <a:br>
              <a:rPr lang="en-US" sz="5000" b="0" i="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 search algorithms</a:t>
            </a:r>
            <a:endParaRPr/>
          </a:p>
        </p:txBody>
      </p:sp>
      <p:sp>
        <p:nvSpPr>
          <p:cNvPr id="131" name="Google Shape;131;p2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■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many optimization problems, the </a:t>
            </a:r>
            <a:r>
              <a:rPr lang="en-US" sz="2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path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the goal is irrelevant; the goal state itself is the solution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Char char="◻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 space = set of "complete" configurations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Char char="◻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configuration satisfying constraints, e.g., n-queens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■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such cases, we can use </a:t>
            </a:r>
            <a:r>
              <a:rPr lang="en-US" sz="2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local search algorithms</a:t>
            </a: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Char char="◻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a single "current" state, tries to improve it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Iterative Improvement Search</a:t>
            </a:r>
            <a:endParaRPr/>
          </a:p>
        </p:txBody>
      </p:sp>
      <p:sp>
        <p:nvSpPr>
          <p:cNvPr id="138" name="Google Shape;138;p3"/>
          <p:cNvSpPr txBox="1">
            <a:spLocks noGrp="1"/>
          </p:cNvSpPr>
          <p:nvPr>
            <p:ph type="body" idx="1"/>
          </p:nvPr>
        </p:nvSpPr>
        <p:spPr>
          <a:xfrm>
            <a:off x="919162" y="2057400"/>
            <a:ext cx="7426325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Char char="■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Another approach to search involves starting with an initial guess at a solution and gradually improving it until it is a legal/optimal one.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Char char="■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examples: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Char char="◻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Hill climbing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Char char="◻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Simulated annealing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Char char="◻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Constraint satisfaction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"/>
          <p:cNvSpPr txBox="1">
            <a:spLocks noGrp="1"/>
          </p:cNvSpPr>
          <p:nvPr>
            <p:ph type="title"/>
          </p:nvPr>
        </p:nvSpPr>
        <p:spPr>
          <a:xfrm>
            <a:off x="414337" y="228600"/>
            <a:ext cx="812006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Hill Climbing on a Surface of States</a:t>
            </a:r>
            <a:endParaRPr/>
          </a:p>
        </p:txBody>
      </p:sp>
      <p:sp>
        <p:nvSpPr>
          <p:cNvPr id="145" name="Google Shape;145;p4"/>
          <p:cNvSpPr txBox="1">
            <a:spLocks noGrp="1"/>
          </p:cNvSpPr>
          <p:nvPr>
            <p:ph type="body" idx="1"/>
          </p:nvPr>
        </p:nvSpPr>
        <p:spPr>
          <a:xfrm>
            <a:off x="5867400" y="4495800"/>
            <a:ext cx="29718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Height Defined by Evaluation Function</a:t>
            </a:r>
            <a:endParaRPr/>
          </a:p>
        </p:txBody>
      </p:sp>
      <p:pic>
        <p:nvPicPr>
          <p:cNvPr id="146" name="Google Shape;146;p4" descr="img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9200" y="1371600"/>
            <a:ext cx="6934200" cy="522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Hill Climbing Search</a:t>
            </a:r>
            <a:endParaRPr/>
          </a:p>
        </p:txBody>
      </p:sp>
      <p:sp>
        <p:nvSpPr>
          <p:cNvPr id="153" name="Google Shape;153;p5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7724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there exists a successor s for the current state n such that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◻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h(s) &lt; h(n)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◻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h(s) ≤ h(t) for all the successors t of n,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then move from n to s. Otherwise, halt at n.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Looks one step ahead to determine if any successor is better than the current state; if there is, move to the best successor.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Similar to Greedy search in that it uses h, but does not allow backtracking or jumping to an alternative path since it doesn’t “remember” where it has been.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Corresponds to Beam search with a beam width of 1 (i.e., the maximum size of the nodes list is 1).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complete since the search will terminate at "local minima," "plateaus," and "ridges."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Hill-climbing search</a:t>
            </a:r>
            <a:endParaRPr/>
          </a:p>
        </p:txBody>
      </p:sp>
      <p:sp>
        <p:nvSpPr>
          <p:cNvPr id="159" name="Google Shape;159;p6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Char char="■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"Like climbing Everest in thick fog with amnesia"</a:t>
            </a:r>
            <a:endParaRPr/>
          </a:p>
          <a:p>
            <a:pPr marL="342900" lvl="0" indent="-190500" algn="l" rtl="0">
              <a:spcBef>
                <a:spcPts val="640"/>
              </a:spcBef>
              <a:spcAft>
                <a:spcPts val="0"/>
              </a:spcAft>
              <a:buSzPts val="2400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6"/>
          <p:cNvPicPr preferRelativeResize="0"/>
          <p:nvPr/>
        </p:nvPicPr>
        <p:blipFill rotWithShape="1">
          <a:blip r:embed="rId3">
            <a:alphaModFix/>
          </a:blip>
          <a:srcRect l="17968" t="27082" r="13280" b="36459"/>
          <a:stretch/>
        </p:blipFill>
        <p:spPr>
          <a:xfrm>
            <a:off x="762000" y="3200400"/>
            <a:ext cx="7620000" cy="3030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The 8-puzzle</a:t>
            </a:r>
            <a:endParaRPr/>
          </a:p>
        </p:txBody>
      </p:sp>
      <p:sp>
        <p:nvSpPr>
          <p:cNvPr id="166" name="Google Shape;166;p7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095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None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20955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None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lvl="1" indent="-16383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lvl="1" indent="-16383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20955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None/>
            </a:pPr>
            <a:endParaRPr sz="2800" b="0" i="0" u="none">
              <a:solidFill>
                <a:srgbClr val="CC009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■"/>
            </a:pPr>
            <a:r>
              <a:rPr lang="en-US" sz="2800" b="0" i="0" u="sng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states?</a:t>
            </a:r>
            <a:r>
              <a:rPr lang="en-US" sz="2800" b="0" i="0" u="non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locations of tiles 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■"/>
            </a:pPr>
            <a:r>
              <a:rPr lang="en-US" sz="2800" b="0" i="0" u="sng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actions?</a:t>
            </a:r>
            <a:r>
              <a:rPr lang="en-US" sz="2800" b="0" i="0" u="non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blank left, right, up, down 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■"/>
            </a:pPr>
            <a:r>
              <a:rPr lang="en-US" sz="2800" b="0" i="0" u="sng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goal test?</a:t>
            </a:r>
            <a:r>
              <a:rPr lang="en-US" sz="2800" b="0" i="0" u="none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goal state (given)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■"/>
            </a:pPr>
            <a:r>
              <a:rPr lang="en-US" sz="2800" b="0" i="0" u="sng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path cost? 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per move</a:t>
            </a:r>
            <a:endParaRPr/>
          </a:p>
          <a:p>
            <a:pPr marL="342900" lvl="0" indent="-20955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None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[Note: optimal solution of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-Puzzle family is NP-hard]</a:t>
            </a:r>
            <a:endParaRPr/>
          </a:p>
          <a:p>
            <a:pPr marL="342900" lvl="0" indent="-228600" algn="l" rtl="0">
              <a:spcBef>
                <a:spcPts val="480"/>
              </a:spcBef>
              <a:spcAft>
                <a:spcPts val="0"/>
              </a:spcAft>
              <a:buSzPts val="1800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7" descr="8puzz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62200" y="1524000"/>
            <a:ext cx="4257675" cy="216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Admissible heuristics</a:t>
            </a:r>
            <a:endParaRPr/>
          </a:p>
        </p:txBody>
      </p:sp>
      <p:sp>
        <p:nvSpPr>
          <p:cNvPr id="173" name="Google Shape;173;p8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for the 8-puzzle:</a:t>
            </a:r>
            <a:b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■"/>
            </a:pP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20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(n)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number of misplaced tiles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■"/>
            </a:pP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20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(n)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total Manhattan distance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(i.e., no. of squares from desired location of each tile)</a:t>
            </a:r>
            <a:b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■"/>
            </a:pPr>
            <a:r>
              <a:rPr lang="en-US" sz="2800" b="0" i="0" u="sng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2800" b="0" i="0" u="sng" baseline="-25000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800" b="0" i="0" u="sng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(S) = ? 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■"/>
            </a:pPr>
            <a:r>
              <a:rPr lang="en-US" sz="2800" b="0" i="0" u="sng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2800" b="0" i="0" u="sng" baseline="-25000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800" b="0" i="0" u="sng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(S) = ?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174" name="Google Shape;174;p8" descr="8puzz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81400" y="3810000"/>
            <a:ext cx="4257675" cy="216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Admissible heuristics</a:t>
            </a:r>
            <a:endParaRPr/>
          </a:p>
        </p:txBody>
      </p:sp>
      <p:sp>
        <p:nvSpPr>
          <p:cNvPr id="180" name="Google Shape;180;p9"/>
          <p:cNvSpPr txBox="1">
            <a:spLocks noGrp="1"/>
          </p:cNvSpPr>
          <p:nvPr>
            <p:ph type="body" idx="1"/>
          </p:nvPr>
        </p:nvSpPr>
        <p:spPr>
          <a:xfrm>
            <a:off x="533400" y="16764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for the 8-puzzle:</a:t>
            </a:r>
            <a:b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■"/>
            </a:pP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20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(n)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number of misplaced tiles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■"/>
            </a:pP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20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(n)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total Manhattan distance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(i.e., no. of squares from desired location of each tile)</a:t>
            </a:r>
            <a:b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■"/>
            </a:pPr>
            <a:r>
              <a:rPr lang="en-US" sz="2800" b="0" i="0" u="sng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2800" b="0" i="0" u="sng" baseline="-25000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800" b="0" i="0" u="sng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(S) = ?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8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■"/>
            </a:pPr>
            <a:r>
              <a:rPr lang="en-US" sz="2800" b="0" i="0" u="sng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2800" b="0" i="0" u="sng" baseline="-25000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800" b="0" i="0" u="sng">
                <a:solidFill>
                  <a:srgbClr val="CC0099"/>
                </a:solidFill>
                <a:latin typeface="Arial"/>
                <a:ea typeface="Arial"/>
                <a:cs typeface="Arial"/>
                <a:sym typeface="Arial"/>
              </a:rPr>
              <a:t>(S) = ?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3+1+2+2+2+3+3+2 = 18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181" name="Google Shape;181;p9" descr="8puzz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2400" y="3429000"/>
            <a:ext cx="4257675" cy="216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Dominance</a:t>
            </a:r>
            <a:endParaRPr/>
          </a:p>
        </p:txBody>
      </p:sp>
      <p:sp>
        <p:nvSpPr>
          <p:cNvPr id="187" name="Google Shape;187;p10"/>
          <p:cNvSpPr txBox="1">
            <a:spLocks noGrp="1"/>
          </p:cNvSpPr>
          <p:nvPr>
            <p:ph type="body" idx="1"/>
          </p:nvPr>
        </p:nvSpPr>
        <p:spPr>
          <a:xfrm>
            <a:off x="457200" y="16764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(n) ≥ h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(n)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all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(both admissible)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960"/>
              </a:spcBef>
              <a:spcAft>
                <a:spcPts val="0"/>
              </a:spcAft>
              <a:buSzPts val="1800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then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dominates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9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■"/>
            </a:pP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better for search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9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Typical search costs (average number of nodes expanded):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9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■"/>
            </a:pP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d=12	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IDS = 3,644,035 nodes</a:t>
            </a:r>
            <a:b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A</a:t>
            </a:r>
            <a:r>
              <a:rPr lang="en-US" sz="2400" b="0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(h</a:t>
            </a:r>
            <a:r>
              <a:rPr lang="en-US" sz="24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227 nodes </a:t>
            </a:r>
            <a:b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A</a:t>
            </a:r>
            <a:r>
              <a:rPr lang="en-US" sz="2400" b="0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(h</a:t>
            </a:r>
            <a:r>
              <a:rPr lang="en-US" sz="24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73 nodes 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9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■"/>
            </a:pP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d=24 	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IDS = too many nodes</a:t>
            </a:r>
            <a:b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A</a:t>
            </a:r>
            <a:r>
              <a:rPr lang="en-US" sz="2400" b="0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(h</a:t>
            </a:r>
            <a:r>
              <a:rPr lang="en-US" sz="24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39,135 nodes </a:t>
            </a:r>
            <a:b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A</a:t>
            </a:r>
            <a:r>
              <a:rPr lang="en-US" sz="2400" b="0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(h</a:t>
            </a:r>
            <a:r>
              <a:rPr lang="en-US" sz="24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1,641 nodes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"/>
          <p:cNvSpPr txBox="1">
            <a:spLocks noGrp="1"/>
          </p:cNvSpPr>
          <p:nvPr>
            <p:ph type="title"/>
          </p:nvPr>
        </p:nvSpPr>
        <p:spPr>
          <a:xfrm>
            <a:off x="792162" y="177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Hill Climbing Example </a:t>
            </a:r>
            <a:endParaRPr/>
          </a:p>
        </p:txBody>
      </p:sp>
      <p:grpSp>
        <p:nvGrpSpPr>
          <p:cNvPr id="194" name="Google Shape;194;p11"/>
          <p:cNvGrpSpPr/>
          <p:nvPr/>
        </p:nvGrpSpPr>
        <p:grpSpPr>
          <a:xfrm>
            <a:off x="1555750" y="1087437"/>
            <a:ext cx="1187450" cy="1285875"/>
            <a:chOff x="3519" y="1880"/>
            <a:chExt cx="748" cy="810"/>
          </a:xfrm>
        </p:grpSpPr>
        <p:grpSp>
          <p:nvGrpSpPr>
            <p:cNvPr id="195" name="Google Shape;195;p11"/>
            <p:cNvGrpSpPr/>
            <p:nvPr/>
          </p:nvGrpSpPr>
          <p:grpSpPr>
            <a:xfrm>
              <a:off x="3529" y="1880"/>
              <a:ext cx="738" cy="288"/>
              <a:chOff x="1282" y="2126"/>
              <a:chExt cx="738" cy="288"/>
            </a:xfrm>
          </p:grpSpPr>
          <p:grpSp>
            <p:nvGrpSpPr>
              <p:cNvPr id="196" name="Google Shape;196;p11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197" name="Google Shape;197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" name="Google Shape;198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</a:t>
                  </a:r>
                  <a:endParaRPr/>
                </a:p>
              </p:txBody>
            </p:sp>
          </p:grpSp>
          <p:grpSp>
            <p:nvGrpSpPr>
              <p:cNvPr id="199" name="Google Shape;199;p11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200" name="Google Shape;200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" name="Google Shape;201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8</a:t>
                  </a:r>
                  <a:endParaRPr/>
                </a:p>
              </p:txBody>
            </p:sp>
          </p:grpSp>
          <p:grpSp>
            <p:nvGrpSpPr>
              <p:cNvPr id="202" name="Google Shape;202;p11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203" name="Google Shape;203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4" name="Google Shape;204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205" name="Google Shape;205;p11"/>
            <p:cNvGrpSpPr/>
            <p:nvPr/>
          </p:nvGrpSpPr>
          <p:grpSpPr>
            <a:xfrm>
              <a:off x="3524" y="2141"/>
              <a:ext cx="738" cy="288"/>
              <a:chOff x="1282" y="2126"/>
              <a:chExt cx="738" cy="288"/>
            </a:xfrm>
          </p:grpSpPr>
          <p:grpSp>
            <p:nvGrpSpPr>
              <p:cNvPr id="206" name="Google Shape;206;p11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207" name="Google Shape;207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" name="Google Shape;208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</p:grpSp>
          <p:grpSp>
            <p:nvGrpSpPr>
              <p:cNvPr id="209" name="Google Shape;209;p11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210" name="Google Shape;210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1" name="Google Shape;211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6</a:t>
                  </a:r>
                  <a:endParaRPr/>
                </a:p>
              </p:txBody>
            </p:sp>
          </p:grpSp>
          <p:grpSp>
            <p:nvGrpSpPr>
              <p:cNvPr id="212" name="Google Shape;212;p11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213" name="Google Shape;213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4" name="Google Shape;214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</a:t>
                  </a:r>
                  <a:endParaRPr/>
                </a:p>
              </p:txBody>
            </p:sp>
          </p:grpSp>
        </p:grpSp>
        <p:grpSp>
          <p:nvGrpSpPr>
            <p:cNvPr id="215" name="Google Shape;215;p11"/>
            <p:cNvGrpSpPr/>
            <p:nvPr/>
          </p:nvGrpSpPr>
          <p:grpSpPr>
            <a:xfrm>
              <a:off x="3519" y="2402"/>
              <a:ext cx="738" cy="288"/>
              <a:chOff x="1282" y="2126"/>
              <a:chExt cx="738" cy="288"/>
            </a:xfrm>
          </p:grpSpPr>
          <p:grpSp>
            <p:nvGrpSpPr>
              <p:cNvPr id="216" name="Google Shape;216;p11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217" name="Google Shape;217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8" name="Google Shape;218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</a:t>
                  </a:r>
                  <a:endParaRPr/>
                </a:p>
              </p:txBody>
            </p:sp>
          </p:grpSp>
          <p:grpSp>
            <p:nvGrpSpPr>
              <p:cNvPr id="219" name="Google Shape;219;p11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220" name="Google Shape;220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1" name="Google Shape;221;p11"/>
                <p:cNvSpPr txBox="1"/>
                <p:nvPr/>
              </p:nvSpPr>
              <p:spPr>
                <a:xfrm>
                  <a:off x="1316" y="1865"/>
                  <a:ext cx="164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 </a:t>
                  </a:r>
                  <a:endParaRPr/>
                </a:p>
              </p:txBody>
            </p:sp>
          </p:grpSp>
          <p:grpSp>
            <p:nvGrpSpPr>
              <p:cNvPr id="222" name="Google Shape;222;p11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223" name="Google Shape;223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4" name="Google Shape;224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</a:t>
                  </a:r>
                  <a:endParaRPr/>
                </a:p>
              </p:txBody>
            </p:sp>
          </p:grpSp>
        </p:grpSp>
      </p:grpSp>
      <p:grpSp>
        <p:nvGrpSpPr>
          <p:cNvPr id="225" name="Google Shape;225;p11"/>
          <p:cNvGrpSpPr/>
          <p:nvPr/>
        </p:nvGrpSpPr>
        <p:grpSpPr>
          <a:xfrm>
            <a:off x="1509712" y="2971800"/>
            <a:ext cx="1187450" cy="1651000"/>
            <a:chOff x="3519" y="1880"/>
            <a:chExt cx="748" cy="1040"/>
          </a:xfrm>
        </p:grpSpPr>
        <p:grpSp>
          <p:nvGrpSpPr>
            <p:cNvPr id="226" name="Google Shape;226;p11"/>
            <p:cNvGrpSpPr/>
            <p:nvPr/>
          </p:nvGrpSpPr>
          <p:grpSpPr>
            <a:xfrm>
              <a:off x="3529" y="1880"/>
              <a:ext cx="738" cy="288"/>
              <a:chOff x="1282" y="2126"/>
              <a:chExt cx="738" cy="288"/>
            </a:xfrm>
          </p:grpSpPr>
          <p:grpSp>
            <p:nvGrpSpPr>
              <p:cNvPr id="227" name="Google Shape;227;p11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228" name="Google Shape;228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9" name="Google Shape;229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</a:t>
                  </a:r>
                  <a:endParaRPr/>
                </a:p>
              </p:txBody>
            </p:sp>
          </p:grpSp>
          <p:grpSp>
            <p:nvGrpSpPr>
              <p:cNvPr id="230" name="Google Shape;230;p11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231" name="Google Shape;231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2" name="Google Shape;232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8</a:t>
                  </a:r>
                  <a:endParaRPr/>
                </a:p>
              </p:txBody>
            </p:sp>
          </p:grpSp>
          <p:grpSp>
            <p:nvGrpSpPr>
              <p:cNvPr id="233" name="Google Shape;233;p11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234" name="Google Shape;234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5" name="Google Shape;235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236" name="Google Shape;236;p11"/>
            <p:cNvGrpSpPr/>
            <p:nvPr/>
          </p:nvGrpSpPr>
          <p:grpSpPr>
            <a:xfrm>
              <a:off x="3524" y="2141"/>
              <a:ext cx="738" cy="288"/>
              <a:chOff x="1282" y="2126"/>
              <a:chExt cx="738" cy="288"/>
            </a:xfrm>
          </p:grpSpPr>
          <p:grpSp>
            <p:nvGrpSpPr>
              <p:cNvPr id="237" name="Google Shape;237;p11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238" name="Google Shape;238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" name="Google Shape;239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</p:grpSp>
          <p:grpSp>
            <p:nvGrpSpPr>
              <p:cNvPr id="240" name="Google Shape;240;p11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241" name="Google Shape;241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2" name="Google Shape;242;p11"/>
                <p:cNvSpPr txBox="1"/>
                <p:nvPr/>
              </p:nvSpPr>
              <p:spPr>
                <a:xfrm>
                  <a:off x="1316" y="1865"/>
                  <a:ext cx="116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3" name="Google Shape;243;p11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244" name="Google Shape;244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5" name="Google Shape;245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</a:t>
                  </a:r>
                  <a:endParaRPr/>
                </a:p>
              </p:txBody>
            </p:sp>
          </p:grpSp>
        </p:grpSp>
        <p:grpSp>
          <p:nvGrpSpPr>
            <p:cNvPr id="246" name="Google Shape;246;p11"/>
            <p:cNvGrpSpPr/>
            <p:nvPr/>
          </p:nvGrpSpPr>
          <p:grpSpPr>
            <a:xfrm>
              <a:off x="3519" y="2402"/>
              <a:ext cx="738" cy="518"/>
              <a:chOff x="1282" y="2126"/>
              <a:chExt cx="738" cy="518"/>
            </a:xfrm>
          </p:grpSpPr>
          <p:grpSp>
            <p:nvGrpSpPr>
              <p:cNvPr id="247" name="Google Shape;247;p11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248" name="Google Shape;248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9" name="Google Shape;249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</a:t>
                  </a:r>
                  <a:endParaRPr/>
                </a:p>
              </p:txBody>
            </p:sp>
          </p:grpSp>
          <p:grpSp>
            <p:nvGrpSpPr>
              <p:cNvPr id="250" name="Google Shape;250;p11"/>
              <p:cNvGrpSpPr/>
              <p:nvPr/>
            </p:nvGrpSpPr>
            <p:grpSpPr>
              <a:xfrm>
                <a:off x="1528" y="2126"/>
                <a:ext cx="246" cy="518"/>
                <a:chOff x="1287" y="1865"/>
                <a:chExt cx="246" cy="518"/>
              </a:xfrm>
            </p:grpSpPr>
            <p:sp>
              <p:nvSpPr>
                <p:cNvPr id="251" name="Google Shape;251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" name="Google Shape;252;p11"/>
                <p:cNvSpPr txBox="1"/>
                <p:nvPr/>
              </p:nvSpPr>
              <p:spPr>
                <a:xfrm>
                  <a:off x="1316" y="1865"/>
                  <a:ext cx="212" cy="5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6</a:t>
                  </a:r>
                  <a:endParaRPr/>
                </a:p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3" name="Google Shape;253;p11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254" name="Google Shape;254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5" name="Google Shape;255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</a:t>
                  </a:r>
                  <a:endParaRPr/>
                </a:p>
              </p:txBody>
            </p:sp>
          </p:grpSp>
        </p:grpSp>
      </p:grpSp>
      <p:grpSp>
        <p:nvGrpSpPr>
          <p:cNvPr id="256" name="Google Shape;256;p11"/>
          <p:cNvGrpSpPr/>
          <p:nvPr/>
        </p:nvGrpSpPr>
        <p:grpSpPr>
          <a:xfrm>
            <a:off x="1485900" y="4884737"/>
            <a:ext cx="1187450" cy="1285875"/>
            <a:chOff x="3519" y="1880"/>
            <a:chExt cx="748" cy="810"/>
          </a:xfrm>
        </p:grpSpPr>
        <p:grpSp>
          <p:nvGrpSpPr>
            <p:cNvPr id="257" name="Google Shape;257;p11"/>
            <p:cNvGrpSpPr/>
            <p:nvPr/>
          </p:nvGrpSpPr>
          <p:grpSpPr>
            <a:xfrm>
              <a:off x="3529" y="1880"/>
              <a:ext cx="738" cy="288"/>
              <a:chOff x="1282" y="2126"/>
              <a:chExt cx="738" cy="288"/>
            </a:xfrm>
          </p:grpSpPr>
          <p:grpSp>
            <p:nvGrpSpPr>
              <p:cNvPr id="258" name="Google Shape;258;p11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259" name="Google Shape;259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" name="Google Shape;260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</a:t>
                  </a:r>
                  <a:endParaRPr/>
                </a:p>
              </p:txBody>
            </p:sp>
          </p:grpSp>
          <p:grpSp>
            <p:nvGrpSpPr>
              <p:cNvPr id="261" name="Google Shape;261;p11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262" name="Google Shape;262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3" name="Google Shape;263;p11"/>
                <p:cNvSpPr txBox="1"/>
                <p:nvPr/>
              </p:nvSpPr>
              <p:spPr>
                <a:xfrm>
                  <a:off x="1316" y="1865"/>
                  <a:ext cx="116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4" name="Google Shape;264;p11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265" name="Google Shape;265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6" name="Google Shape;266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267" name="Google Shape;267;p11"/>
            <p:cNvGrpSpPr/>
            <p:nvPr/>
          </p:nvGrpSpPr>
          <p:grpSpPr>
            <a:xfrm>
              <a:off x="3524" y="2141"/>
              <a:ext cx="738" cy="288"/>
              <a:chOff x="1282" y="2126"/>
              <a:chExt cx="738" cy="288"/>
            </a:xfrm>
          </p:grpSpPr>
          <p:grpSp>
            <p:nvGrpSpPr>
              <p:cNvPr id="268" name="Google Shape;268;p11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269" name="Google Shape;269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" name="Google Shape;270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</p:grpSp>
          <p:grpSp>
            <p:nvGrpSpPr>
              <p:cNvPr id="271" name="Google Shape;271;p11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272" name="Google Shape;272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" name="Google Shape;273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8</a:t>
                  </a:r>
                  <a:endParaRPr/>
                </a:p>
              </p:txBody>
            </p:sp>
          </p:grpSp>
          <p:grpSp>
            <p:nvGrpSpPr>
              <p:cNvPr id="274" name="Google Shape;274;p11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275" name="Google Shape;275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6" name="Google Shape;276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</a:t>
                  </a:r>
                  <a:endParaRPr/>
                </a:p>
              </p:txBody>
            </p:sp>
          </p:grpSp>
        </p:grpSp>
        <p:grpSp>
          <p:nvGrpSpPr>
            <p:cNvPr id="277" name="Google Shape;277;p11"/>
            <p:cNvGrpSpPr/>
            <p:nvPr/>
          </p:nvGrpSpPr>
          <p:grpSpPr>
            <a:xfrm>
              <a:off x="3519" y="2402"/>
              <a:ext cx="738" cy="288"/>
              <a:chOff x="1282" y="2126"/>
              <a:chExt cx="738" cy="288"/>
            </a:xfrm>
          </p:grpSpPr>
          <p:grpSp>
            <p:nvGrpSpPr>
              <p:cNvPr id="278" name="Google Shape;278;p11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279" name="Google Shape;279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" name="Google Shape;280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</a:t>
                  </a:r>
                  <a:endParaRPr/>
                </a:p>
              </p:txBody>
            </p:sp>
          </p:grpSp>
          <p:grpSp>
            <p:nvGrpSpPr>
              <p:cNvPr id="281" name="Google Shape;281;p11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282" name="Google Shape;282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3" name="Google Shape;283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6</a:t>
                  </a:r>
                  <a:endParaRPr/>
                </a:p>
              </p:txBody>
            </p:sp>
          </p:grpSp>
          <p:grpSp>
            <p:nvGrpSpPr>
              <p:cNvPr id="284" name="Google Shape;284;p11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285" name="Google Shape;285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6" name="Google Shape;286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</a:t>
                  </a:r>
                  <a:endParaRPr/>
                </a:p>
              </p:txBody>
            </p:sp>
          </p:grpSp>
        </p:grpSp>
      </p:grpSp>
      <p:grpSp>
        <p:nvGrpSpPr>
          <p:cNvPr id="287" name="Google Shape;287;p11"/>
          <p:cNvGrpSpPr/>
          <p:nvPr/>
        </p:nvGrpSpPr>
        <p:grpSpPr>
          <a:xfrm>
            <a:off x="6297612" y="2995612"/>
            <a:ext cx="1187450" cy="1309687"/>
            <a:chOff x="3797" y="3132"/>
            <a:chExt cx="748" cy="825"/>
          </a:xfrm>
        </p:grpSpPr>
        <p:grpSp>
          <p:nvGrpSpPr>
            <p:cNvPr id="288" name="Google Shape;288;p11"/>
            <p:cNvGrpSpPr/>
            <p:nvPr/>
          </p:nvGrpSpPr>
          <p:grpSpPr>
            <a:xfrm>
              <a:off x="3807" y="3147"/>
              <a:ext cx="738" cy="288"/>
              <a:chOff x="1282" y="2126"/>
              <a:chExt cx="738" cy="288"/>
            </a:xfrm>
          </p:grpSpPr>
          <p:grpSp>
            <p:nvGrpSpPr>
              <p:cNvPr id="289" name="Google Shape;289;p11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290" name="Google Shape;290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1" name="Google Shape;291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</p:grpSp>
          <p:grpSp>
            <p:nvGrpSpPr>
              <p:cNvPr id="292" name="Google Shape;292;p11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293" name="Google Shape;293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4" name="Google Shape;294;p11"/>
                <p:cNvSpPr txBox="1"/>
                <p:nvPr/>
              </p:nvSpPr>
              <p:spPr>
                <a:xfrm>
                  <a:off x="1316" y="1865"/>
                  <a:ext cx="116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5" name="Google Shape;295;p11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296" name="Google Shape;296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7" name="Google Shape;297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298" name="Google Shape;298;p11"/>
            <p:cNvGrpSpPr/>
            <p:nvPr/>
          </p:nvGrpSpPr>
          <p:grpSpPr>
            <a:xfrm>
              <a:off x="3802" y="3408"/>
              <a:ext cx="246" cy="288"/>
              <a:chOff x="1287" y="1865"/>
              <a:chExt cx="246" cy="288"/>
            </a:xfrm>
          </p:grpSpPr>
          <p:sp>
            <p:nvSpPr>
              <p:cNvPr id="299" name="Google Shape;299;p11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11"/>
              <p:cNvSpPr txBox="1"/>
              <p:nvPr/>
            </p:nvSpPr>
            <p:spPr>
              <a:xfrm>
                <a:off x="1316" y="1865"/>
                <a:ext cx="16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lang="en-US"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/>
              </a:p>
            </p:txBody>
          </p:sp>
        </p:grpSp>
        <p:grpSp>
          <p:nvGrpSpPr>
            <p:cNvPr id="301" name="Google Shape;301;p11"/>
            <p:cNvGrpSpPr/>
            <p:nvPr/>
          </p:nvGrpSpPr>
          <p:grpSpPr>
            <a:xfrm>
              <a:off x="4048" y="3408"/>
              <a:ext cx="246" cy="288"/>
              <a:chOff x="1287" y="1865"/>
              <a:chExt cx="246" cy="288"/>
            </a:xfrm>
          </p:grpSpPr>
          <p:sp>
            <p:nvSpPr>
              <p:cNvPr id="302" name="Google Shape;302;p11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11"/>
              <p:cNvSpPr txBox="1"/>
              <p:nvPr/>
            </p:nvSpPr>
            <p:spPr>
              <a:xfrm>
                <a:off x="1316" y="1865"/>
                <a:ext cx="212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lang="en-US"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8</a:t>
                </a:r>
                <a:endParaRPr/>
              </a:p>
            </p:txBody>
          </p:sp>
        </p:grpSp>
        <p:grpSp>
          <p:nvGrpSpPr>
            <p:cNvPr id="304" name="Google Shape;304;p11"/>
            <p:cNvGrpSpPr/>
            <p:nvPr/>
          </p:nvGrpSpPr>
          <p:grpSpPr>
            <a:xfrm>
              <a:off x="4294" y="3408"/>
              <a:ext cx="246" cy="288"/>
              <a:chOff x="1287" y="1865"/>
              <a:chExt cx="246" cy="288"/>
            </a:xfrm>
          </p:grpSpPr>
          <p:sp>
            <p:nvSpPr>
              <p:cNvPr id="305" name="Google Shape;305;p11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11"/>
              <p:cNvSpPr txBox="1"/>
              <p:nvPr/>
            </p:nvSpPr>
            <p:spPr>
              <a:xfrm>
                <a:off x="1316" y="1865"/>
                <a:ext cx="212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lang="en-US"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/>
              </a:p>
            </p:txBody>
          </p:sp>
        </p:grpSp>
        <p:grpSp>
          <p:nvGrpSpPr>
            <p:cNvPr id="307" name="Google Shape;307;p11"/>
            <p:cNvGrpSpPr/>
            <p:nvPr/>
          </p:nvGrpSpPr>
          <p:grpSpPr>
            <a:xfrm>
              <a:off x="3797" y="3669"/>
              <a:ext cx="738" cy="288"/>
              <a:chOff x="1282" y="2126"/>
              <a:chExt cx="738" cy="288"/>
            </a:xfrm>
          </p:grpSpPr>
          <p:grpSp>
            <p:nvGrpSpPr>
              <p:cNvPr id="308" name="Google Shape;308;p11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309" name="Google Shape;309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0" name="Google Shape;310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</a:t>
                  </a:r>
                  <a:endParaRPr/>
                </a:p>
              </p:txBody>
            </p:sp>
          </p:grpSp>
          <p:grpSp>
            <p:nvGrpSpPr>
              <p:cNvPr id="311" name="Google Shape;311;p11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312" name="Google Shape;312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" name="Google Shape;313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6</a:t>
                  </a:r>
                  <a:endParaRPr/>
                </a:p>
              </p:txBody>
            </p:sp>
          </p:grpSp>
          <p:grpSp>
            <p:nvGrpSpPr>
              <p:cNvPr id="314" name="Google Shape;314;p11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315" name="Google Shape;315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" name="Google Shape;316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</a:t>
                  </a:r>
                  <a:endParaRPr/>
                </a:p>
              </p:txBody>
            </p:sp>
          </p:grpSp>
        </p:grpSp>
        <p:sp>
          <p:nvSpPr>
            <p:cNvPr id="317" name="Google Shape;317;p11"/>
            <p:cNvSpPr txBox="1"/>
            <p:nvPr/>
          </p:nvSpPr>
          <p:spPr>
            <a:xfrm>
              <a:off x="4072" y="3132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318" name="Google Shape;318;p11"/>
          <p:cNvGrpSpPr/>
          <p:nvPr/>
        </p:nvGrpSpPr>
        <p:grpSpPr>
          <a:xfrm>
            <a:off x="6321425" y="4860925"/>
            <a:ext cx="1187450" cy="1309687"/>
            <a:chOff x="3797" y="3132"/>
            <a:chExt cx="748" cy="825"/>
          </a:xfrm>
        </p:grpSpPr>
        <p:grpSp>
          <p:nvGrpSpPr>
            <p:cNvPr id="319" name="Google Shape;319;p11"/>
            <p:cNvGrpSpPr/>
            <p:nvPr/>
          </p:nvGrpSpPr>
          <p:grpSpPr>
            <a:xfrm>
              <a:off x="3807" y="3147"/>
              <a:ext cx="738" cy="288"/>
              <a:chOff x="1282" y="2126"/>
              <a:chExt cx="738" cy="288"/>
            </a:xfrm>
          </p:grpSpPr>
          <p:grpSp>
            <p:nvGrpSpPr>
              <p:cNvPr id="320" name="Google Shape;320;p11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321" name="Google Shape;321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" name="Google Shape;322;p11"/>
                <p:cNvSpPr txBox="1"/>
                <p:nvPr/>
              </p:nvSpPr>
              <p:spPr>
                <a:xfrm>
                  <a:off x="1316" y="1865"/>
                  <a:ext cx="164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 </a:t>
                  </a:r>
                  <a:endParaRPr/>
                </a:p>
              </p:txBody>
            </p:sp>
          </p:grpSp>
          <p:grpSp>
            <p:nvGrpSpPr>
              <p:cNvPr id="323" name="Google Shape;323;p11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324" name="Google Shape;324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5" name="Google Shape;325;p11"/>
                <p:cNvSpPr txBox="1"/>
                <p:nvPr/>
              </p:nvSpPr>
              <p:spPr>
                <a:xfrm>
                  <a:off x="1316" y="1865"/>
                  <a:ext cx="116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6" name="Google Shape;326;p11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327" name="Google Shape;327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" name="Google Shape;328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329" name="Google Shape;329;p11"/>
            <p:cNvGrpSpPr/>
            <p:nvPr/>
          </p:nvGrpSpPr>
          <p:grpSpPr>
            <a:xfrm>
              <a:off x="3802" y="3408"/>
              <a:ext cx="246" cy="288"/>
              <a:chOff x="1287" y="1865"/>
              <a:chExt cx="246" cy="288"/>
            </a:xfrm>
          </p:grpSpPr>
          <p:sp>
            <p:nvSpPr>
              <p:cNvPr id="330" name="Google Shape;330;p11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11"/>
              <p:cNvSpPr txBox="1"/>
              <p:nvPr/>
            </p:nvSpPr>
            <p:spPr>
              <a:xfrm>
                <a:off x="1316" y="1865"/>
                <a:ext cx="212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lang="en-US"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  <p:grpSp>
          <p:nvGrpSpPr>
            <p:cNvPr id="332" name="Google Shape;332;p11"/>
            <p:cNvGrpSpPr/>
            <p:nvPr/>
          </p:nvGrpSpPr>
          <p:grpSpPr>
            <a:xfrm>
              <a:off x="4048" y="3408"/>
              <a:ext cx="246" cy="288"/>
              <a:chOff x="1287" y="1865"/>
              <a:chExt cx="246" cy="288"/>
            </a:xfrm>
          </p:grpSpPr>
          <p:sp>
            <p:nvSpPr>
              <p:cNvPr id="333" name="Google Shape;333;p11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11"/>
              <p:cNvSpPr txBox="1"/>
              <p:nvPr/>
            </p:nvSpPr>
            <p:spPr>
              <a:xfrm>
                <a:off x="1316" y="1865"/>
                <a:ext cx="212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lang="en-US"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8</a:t>
                </a:r>
                <a:endParaRPr/>
              </a:p>
            </p:txBody>
          </p:sp>
        </p:grpSp>
        <p:grpSp>
          <p:nvGrpSpPr>
            <p:cNvPr id="335" name="Google Shape;335;p11"/>
            <p:cNvGrpSpPr/>
            <p:nvPr/>
          </p:nvGrpSpPr>
          <p:grpSpPr>
            <a:xfrm>
              <a:off x="4294" y="3408"/>
              <a:ext cx="246" cy="288"/>
              <a:chOff x="1287" y="1865"/>
              <a:chExt cx="246" cy="288"/>
            </a:xfrm>
          </p:grpSpPr>
          <p:sp>
            <p:nvSpPr>
              <p:cNvPr id="336" name="Google Shape;336;p11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11"/>
              <p:cNvSpPr txBox="1"/>
              <p:nvPr/>
            </p:nvSpPr>
            <p:spPr>
              <a:xfrm>
                <a:off x="1316" y="1865"/>
                <a:ext cx="212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lang="en-US"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/>
              </a:p>
            </p:txBody>
          </p:sp>
        </p:grpSp>
        <p:grpSp>
          <p:nvGrpSpPr>
            <p:cNvPr id="338" name="Google Shape;338;p11"/>
            <p:cNvGrpSpPr/>
            <p:nvPr/>
          </p:nvGrpSpPr>
          <p:grpSpPr>
            <a:xfrm>
              <a:off x="3797" y="3669"/>
              <a:ext cx="738" cy="288"/>
              <a:chOff x="1282" y="2126"/>
              <a:chExt cx="738" cy="288"/>
            </a:xfrm>
          </p:grpSpPr>
          <p:grpSp>
            <p:nvGrpSpPr>
              <p:cNvPr id="339" name="Google Shape;339;p11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340" name="Google Shape;340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1" name="Google Shape;341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</a:t>
                  </a:r>
                  <a:endParaRPr/>
                </a:p>
              </p:txBody>
            </p:sp>
          </p:grpSp>
          <p:grpSp>
            <p:nvGrpSpPr>
              <p:cNvPr id="342" name="Google Shape;342;p11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343" name="Google Shape;343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4" name="Google Shape;344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6</a:t>
                  </a:r>
                  <a:endParaRPr/>
                </a:p>
              </p:txBody>
            </p:sp>
          </p:grpSp>
          <p:grpSp>
            <p:nvGrpSpPr>
              <p:cNvPr id="345" name="Google Shape;345;p11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346" name="Google Shape;346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" name="Google Shape;347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</a:t>
                  </a:r>
                  <a:endParaRPr/>
                </a:p>
              </p:txBody>
            </p:sp>
          </p:grpSp>
        </p:grpSp>
        <p:sp>
          <p:nvSpPr>
            <p:cNvPr id="348" name="Google Shape;348;p11"/>
            <p:cNvSpPr txBox="1"/>
            <p:nvPr/>
          </p:nvSpPr>
          <p:spPr>
            <a:xfrm>
              <a:off x="4072" y="3132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349" name="Google Shape;349;p11"/>
          <p:cNvGrpSpPr/>
          <p:nvPr/>
        </p:nvGrpSpPr>
        <p:grpSpPr>
          <a:xfrm>
            <a:off x="6230937" y="1106487"/>
            <a:ext cx="1187450" cy="1309687"/>
            <a:chOff x="3797" y="3132"/>
            <a:chExt cx="748" cy="825"/>
          </a:xfrm>
        </p:grpSpPr>
        <p:grpSp>
          <p:nvGrpSpPr>
            <p:cNvPr id="350" name="Google Shape;350;p11"/>
            <p:cNvGrpSpPr/>
            <p:nvPr/>
          </p:nvGrpSpPr>
          <p:grpSpPr>
            <a:xfrm>
              <a:off x="3807" y="3147"/>
              <a:ext cx="738" cy="288"/>
              <a:chOff x="1282" y="2126"/>
              <a:chExt cx="738" cy="288"/>
            </a:xfrm>
          </p:grpSpPr>
          <p:grpSp>
            <p:nvGrpSpPr>
              <p:cNvPr id="351" name="Google Shape;351;p11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352" name="Google Shape;352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3" name="Google Shape;353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</p:grpSp>
          <p:grpSp>
            <p:nvGrpSpPr>
              <p:cNvPr id="354" name="Google Shape;354;p11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355" name="Google Shape;355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6" name="Google Shape;356;p11"/>
                <p:cNvSpPr txBox="1"/>
                <p:nvPr/>
              </p:nvSpPr>
              <p:spPr>
                <a:xfrm>
                  <a:off x="1316" y="1865"/>
                  <a:ext cx="116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7" name="Google Shape;357;p11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358" name="Google Shape;358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9" name="Google Shape;359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360" name="Google Shape;360;p11"/>
            <p:cNvGrpSpPr/>
            <p:nvPr/>
          </p:nvGrpSpPr>
          <p:grpSpPr>
            <a:xfrm>
              <a:off x="3802" y="3408"/>
              <a:ext cx="289" cy="288"/>
              <a:chOff x="1287" y="1865"/>
              <a:chExt cx="289" cy="288"/>
            </a:xfrm>
          </p:grpSpPr>
          <p:sp>
            <p:nvSpPr>
              <p:cNvPr id="361" name="Google Shape;361;p11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11"/>
              <p:cNvSpPr txBox="1"/>
              <p:nvPr/>
            </p:nvSpPr>
            <p:spPr>
              <a:xfrm>
                <a:off x="1316" y="1865"/>
                <a:ext cx="260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lang="en-US"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8 </a:t>
                </a:r>
                <a:endParaRPr/>
              </a:p>
            </p:txBody>
          </p:sp>
        </p:grpSp>
        <p:grpSp>
          <p:nvGrpSpPr>
            <p:cNvPr id="363" name="Google Shape;363;p11"/>
            <p:cNvGrpSpPr/>
            <p:nvPr/>
          </p:nvGrpSpPr>
          <p:grpSpPr>
            <a:xfrm>
              <a:off x="4048" y="3408"/>
              <a:ext cx="246" cy="288"/>
              <a:chOff x="1287" y="1865"/>
              <a:chExt cx="246" cy="288"/>
            </a:xfrm>
          </p:grpSpPr>
          <p:sp>
            <p:nvSpPr>
              <p:cNvPr id="364" name="Google Shape;364;p11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11"/>
              <p:cNvSpPr txBox="1"/>
              <p:nvPr/>
            </p:nvSpPr>
            <p:spPr>
              <a:xfrm>
                <a:off x="1316" y="1865"/>
                <a:ext cx="16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lang="en-US"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/>
              </a:p>
            </p:txBody>
          </p:sp>
        </p:grpSp>
        <p:grpSp>
          <p:nvGrpSpPr>
            <p:cNvPr id="366" name="Google Shape;366;p11"/>
            <p:cNvGrpSpPr/>
            <p:nvPr/>
          </p:nvGrpSpPr>
          <p:grpSpPr>
            <a:xfrm>
              <a:off x="4294" y="3408"/>
              <a:ext cx="246" cy="288"/>
              <a:chOff x="1287" y="1865"/>
              <a:chExt cx="246" cy="288"/>
            </a:xfrm>
          </p:grpSpPr>
          <p:sp>
            <p:nvSpPr>
              <p:cNvPr id="367" name="Google Shape;367;p11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11"/>
              <p:cNvSpPr txBox="1"/>
              <p:nvPr/>
            </p:nvSpPr>
            <p:spPr>
              <a:xfrm>
                <a:off x="1316" y="1865"/>
                <a:ext cx="212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lang="en-US"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/>
              </a:p>
            </p:txBody>
          </p:sp>
        </p:grpSp>
        <p:grpSp>
          <p:nvGrpSpPr>
            <p:cNvPr id="369" name="Google Shape;369;p11"/>
            <p:cNvGrpSpPr/>
            <p:nvPr/>
          </p:nvGrpSpPr>
          <p:grpSpPr>
            <a:xfrm>
              <a:off x="3797" y="3669"/>
              <a:ext cx="738" cy="288"/>
              <a:chOff x="1282" y="2126"/>
              <a:chExt cx="738" cy="288"/>
            </a:xfrm>
          </p:grpSpPr>
          <p:grpSp>
            <p:nvGrpSpPr>
              <p:cNvPr id="370" name="Google Shape;370;p11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371" name="Google Shape;371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2" name="Google Shape;372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</a:t>
                  </a:r>
                  <a:endParaRPr/>
                </a:p>
              </p:txBody>
            </p:sp>
          </p:grpSp>
          <p:grpSp>
            <p:nvGrpSpPr>
              <p:cNvPr id="373" name="Google Shape;373;p11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374" name="Google Shape;374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" name="Google Shape;375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6</a:t>
                  </a:r>
                  <a:endParaRPr/>
                </a:p>
              </p:txBody>
            </p:sp>
          </p:grpSp>
          <p:grpSp>
            <p:nvGrpSpPr>
              <p:cNvPr id="376" name="Google Shape;376;p11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377" name="Google Shape;377;p11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8" name="Google Shape;378;p11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</a:t>
                  </a:r>
                  <a:endParaRPr/>
                </a:p>
              </p:txBody>
            </p:sp>
          </p:grpSp>
        </p:grpSp>
        <p:sp>
          <p:nvSpPr>
            <p:cNvPr id="379" name="Google Shape;379;p11"/>
            <p:cNvSpPr txBox="1"/>
            <p:nvPr/>
          </p:nvSpPr>
          <p:spPr>
            <a:xfrm>
              <a:off x="4072" y="3132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380" name="Google Shape;380;p11"/>
          <p:cNvSpPr txBox="1"/>
          <p:nvPr/>
        </p:nvSpPr>
        <p:spPr>
          <a:xfrm>
            <a:off x="522287" y="1501775"/>
            <a:ext cx="7080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/>
          </a:p>
        </p:txBody>
      </p:sp>
      <p:sp>
        <p:nvSpPr>
          <p:cNvPr id="381" name="Google Shape;381;p11"/>
          <p:cNvSpPr txBox="1"/>
          <p:nvPr/>
        </p:nvSpPr>
        <p:spPr>
          <a:xfrm>
            <a:off x="5399087" y="1568450"/>
            <a:ext cx="7080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/>
          </a:p>
        </p:txBody>
      </p:sp>
      <p:grpSp>
        <p:nvGrpSpPr>
          <p:cNvPr id="382" name="Google Shape;382;p11"/>
          <p:cNvGrpSpPr/>
          <p:nvPr/>
        </p:nvGrpSpPr>
        <p:grpSpPr>
          <a:xfrm>
            <a:off x="1230312" y="2373312"/>
            <a:ext cx="1882775" cy="598487"/>
            <a:chOff x="686" y="1661"/>
            <a:chExt cx="1186" cy="377"/>
          </a:xfrm>
        </p:grpSpPr>
        <p:cxnSp>
          <p:nvCxnSpPr>
            <p:cNvPr id="383" name="Google Shape;383;p11"/>
            <p:cNvCxnSpPr/>
            <p:nvPr/>
          </p:nvCxnSpPr>
          <p:spPr>
            <a:xfrm>
              <a:off x="1258" y="1661"/>
              <a:ext cx="0" cy="37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384" name="Google Shape;384;p11"/>
            <p:cNvCxnSpPr/>
            <p:nvPr/>
          </p:nvCxnSpPr>
          <p:spPr>
            <a:xfrm>
              <a:off x="1288" y="1661"/>
              <a:ext cx="584" cy="25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385" name="Google Shape;385;p11"/>
            <p:cNvCxnSpPr/>
            <p:nvPr/>
          </p:nvCxnSpPr>
          <p:spPr>
            <a:xfrm flipH="1">
              <a:off x="686" y="1661"/>
              <a:ext cx="572" cy="25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</p:grpSp>
      <p:grpSp>
        <p:nvGrpSpPr>
          <p:cNvPr id="386" name="Google Shape;386;p11"/>
          <p:cNvGrpSpPr/>
          <p:nvPr/>
        </p:nvGrpSpPr>
        <p:grpSpPr>
          <a:xfrm>
            <a:off x="1131887" y="4257675"/>
            <a:ext cx="1882775" cy="598487"/>
            <a:chOff x="686" y="1661"/>
            <a:chExt cx="1186" cy="377"/>
          </a:xfrm>
        </p:grpSpPr>
        <p:cxnSp>
          <p:nvCxnSpPr>
            <p:cNvPr id="387" name="Google Shape;387;p11"/>
            <p:cNvCxnSpPr/>
            <p:nvPr/>
          </p:nvCxnSpPr>
          <p:spPr>
            <a:xfrm>
              <a:off x="1258" y="1661"/>
              <a:ext cx="0" cy="377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388" name="Google Shape;388;p11"/>
            <p:cNvCxnSpPr/>
            <p:nvPr/>
          </p:nvCxnSpPr>
          <p:spPr>
            <a:xfrm>
              <a:off x="1288" y="1661"/>
              <a:ext cx="584" cy="25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389" name="Google Shape;389;p11"/>
            <p:cNvCxnSpPr/>
            <p:nvPr/>
          </p:nvCxnSpPr>
          <p:spPr>
            <a:xfrm flipH="1">
              <a:off x="686" y="1661"/>
              <a:ext cx="572" cy="25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</p:grpSp>
      <p:sp>
        <p:nvSpPr>
          <p:cNvPr id="390" name="Google Shape;390;p11"/>
          <p:cNvSpPr txBox="1"/>
          <p:nvPr/>
        </p:nvSpPr>
        <p:spPr>
          <a:xfrm>
            <a:off x="792162" y="2586037"/>
            <a:ext cx="438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-5</a:t>
            </a:r>
            <a:endParaRPr/>
          </a:p>
        </p:txBody>
      </p:sp>
      <p:sp>
        <p:nvSpPr>
          <p:cNvPr id="391" name="Google Shape;391;p11"/>
          <p:cNvSpPr txBox="1"/>
          <p:nvPr/>
        </p:nvSpPr>
        <p:spPr>
          <a:xfrm>
            <a:off x="2743200" y="3367087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 = -3</a:t>
            </a:r>
            <a:endParaRPr/>
          </a:p>
        </p:txBody>
      </p:sp>
      <p:sp>
        <p:nvSpPr>
          <p:cNvPr id="392" name="Google Shape;392;p11"/>
          <p:cNvSpPr txBox="1"/>
          <p:nvPr/>
        </p:nvSpPr>
        <p:spPr>
          <a:xfrm>
            <a:off x="595312" y="5908675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 = -3</a:t>
            </a:r>
            <a:endParaRPr/>
          </a:p>
        </p:txBody>
      </p:sp>
      <p:sp>
        <p:nvSpPr>
          <p:cNvPr id="393" name="Google Shape;393;p11"/>
          <p:cNvSpPr txBox="1"/>
          <p:nvPr/>
        </p:nvSpPr>
        <p:spPr>
          <a:xfrm>
            <a:off x="7508875" y="5280025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 = -2</a:t>
            </a:r>
            <a:endParaRPr/>
          </a:p>
        </p:txBody>
      </p:sp>
      <p:sp>
        <p:nvSpPr>
          <p:cNvPr id="394" name="Google Shape;394;p11"/>
          <p:cNvSpPr txBox="1"/>
          <p:nvPr/>
        </p:nvSpPr>
        <p:spPr>
          <a:xfrm>
            <a:off x="7508875" y="3433762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 = -1</a:t>
            </a:r>
            <a:endParaRPr/>
          </a:p>
        </p:txBody>
      </p:sp>
      <p:sp>
        <p:nvSpPr>
          <p:cNvPr id="395" name="Google Shape;395;p11"/>
          <p:cNvSpPr txBox="1"/>
          <p:nvPr/>
        </p:nvSpPr>
        <p:spPr>
          <a:xfrm>
            <a:off x="7508875" y="1544637"/>
            <a:ext cx="81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 = 0</a:t>
            </a:r>
            <a:endParaRPr/>
          </a:p>
        </p:txBody>
      </p:sp>
      <p:sp>
        <p:nvSpPr>
          <p:cNvPr id="396" name="Google Shape;396;p11"/>
          <p:cNvSpPr txBox="1"/>
          <p:nvPr/>
        </p:nvSpPr>
        <p:spPr>
          <a:xfrm>
            <a:off x="2895600" y="1611312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 = -4</a:t>
            </a:r>
            <a:endParaRPr/>
          </a:p>
        </p:txBody>
      </p:sp>
      <p:sp>
        <p:nvSpPr>
          <p:cNvPr id="397" name="Google Shape;397;p11"/>
          <p:cNvSpPr txBox="1"/>
          <p:nvPr/>
        </p:nvSpPr>
        <p:spPr>
          <a:xfrm>
            <a:off x="3014662" y="2586037"/>
            <a:ext cx="438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-5</a:t>
            </a:r>
            <a:endParaRPr/>
          </a:p>
        </p:txBody>
      </p:sp>
      <p:sp>
        <p:nvSpPr>
          <p:cNvPr id="398" name="Google Shape;398;p11"/>
          <p:cNvSpPr txBox="1"/>
          <p:nvPr/>
        </p:nvSpPr>
        <p:spPr>
          <a:xfrm>
            <a:off x="3371850" y="5908675"/>
            <a:ext cx="438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-4</a:t>
            </a:r>
            <a:endParaRPr/>
          </a:p>
        </p:txBody>
      </p:sp>
      <p:sp>
        <p:nvSpPr>
          <p:cNvPr id="399" name="Google Shape;399;p11"/>
          <p:cNvSpPr txBox="1"/>
          <p:nvPr/>
        </p:nvSpPr>
        <p:spPr>
          <a:xfrm>
            <a:off x="3014662" y="4473575"/>
            <a:ext cx="438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-4</a:t>
            </a:r>
            <a:endParaRPr/>
          </a:p>
        </p:txBody>
      </p:sp>
      <p:sp>
        <p:nvSpPr>
          <p:cNvPr id="400" name="Google Shape;400;p11"/>
          <p:cNvSpPr txBox="1"/>
          <p:nvPr/>
        </p:nvSpPr>
        <p:spPr>
          <a:xfrm>
            <a:off x="693737" y="4473575"/>
            <a:ext cx="438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-3</a:t>
            </a:r>
            <a:endParaRPr/>
          </a:p>
        </p:txBody>
      </p:sp>
      <p:sp>
        <p:nvSpPr>
          <p:cNvPr id="401" name="Google Shape;401;p11"/>
          <p:cNvSpPr txBox="1"/>
          <p:nvPr/>
        </p:nvSpPr>
        <p:spPr>
          <a:xfrm>
            <a:off x="5265737" y="2514600"/>
            <a:ext cx="438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-2</a:t>
            </a:r>
            <a:endParaRPr/>
          </a:p>
        </p:txBody>
      </p:sp>
      <p:cxnSp>
        <p:nvCxnSpPr>
          <p:cNvPr id="402" name="Google Shape;402;p11"/>
          <p:cNvCxnSpPr/>
          <p:nvPr/>
        </p:nvCxnSpPr>
        <p:spPr>
          <a:xfrm rot="10800000">
            <a:off x="6910387" y="4305300"/>
            <a:ext cx="0" cy="57943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03" name="Google Shape;403;p11"/>
          <p:cNvCxnSpPr/>
          <p:nvPr/>
        </p:nvCxnSpPr>
        <p:spPr>
          <a:xfrm>
            <a:off x="2719387" y="5527675"/>
            <a:ext cx="35115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04" name="Google Shape;404;p11"/>
          <p:cNvCxnSpPr/>
          <p:nvPr/>
        </p:nvCxnSpPr>
        <p:spPr>
          <a:xfrm>
            <a:off x="2719387" y="5527675"/>
            <a:ext cx="733425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05" name="Google Shape;405;p11"/>
          <p:cNvCxnSpPr/>
          <p:nvPr/>
        </p:nvCxnSpPr>
        <p:spPr>
          <a:xfrm rot="10800000">
            <a:off x="6786562" y="2416175"/>
            <a:ext cx="0" cy="57943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06" name="Google Shape;406;p11"/>
          <p:cNvCxnSpPr/>
          <p:nvPr/>
        </p:nvCxnSpPr>
        <p:spPr>
          <a:xfrm rot="10800000">
            <a:off x="5703887" y="2784475"/>
            <a:ext cx="1054100" cy="21113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07" name="Google Shape;407;p11"/>
          <p:cNvSpPr txBox="1"/>
          <p:nvPr/>
        </p:nvSpPr>
        <p:spPr>
          <a:xfrm>
            <a:off x="2320925" y="6365875"/>
            <a:ext cx="49117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f(n) = -(number of tiles out of place)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12" descr="Related 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8562" y="1530350"/>
            <a:ext cx="7924800" cy="5286375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2"/>
          <p:cNvSpPr txBox="1"/>
          <p:nvPr/>
        </p:nvSpPr>
        <p:spPr>
          <a:xfrm>
            <a:off x="228600" y="1128712"/>
            <a:ext cx="4648200" cy="1322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Hill climbing with minimization goal: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Here, the objective function is 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Where,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)=(manhattan distance)</a:t>
            </a:r>
            <a:endParaRPr/>
          </a:p>
        </p:txBody>
      </p:sp>
      <p:sp>
        <p:nvSpPr>
          <p:cNvPr id="414" name="Google Shape;414;p12"/>
          <p:cNvSpPr txBox="1">
            <a:spLocks noGrp="1"/>
          </p:cNvSpPr>
          <p:nvPr>
            <p:ph type="title"/>
          </p:nvPr>
        </p:nvSpPr>
        <p:spPr>
          <a:xfrm>
            <a:off x="1189037" y="1857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Hill Climbing Example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3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686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Drawbacks of Hill-climbing search</a:t>
            </a:r>
            <a:endParaRPr/>
          </a:p>
        </p:txBody>
      </p:sp>
      <p:sp>
        <p:nvSpPr>
          <p:cNvPr id="420" name="Google Shape;420;p13"/>
          <p:cNvSpPr txBox="1">
            <a:spLocks noGrp="1"/>
          </p:cNvSpPr>
          <p:nvPr>
            <p:ph type="body" idx="1"/>
          </p:nvPr>
        </p:nvSpPr>
        <p:spPr>
          <a:xfrm>
            <a:off x="457200" y="16764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Char char="■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Problem: depending on initial state, can get stuck in local maxima</a:t>
            </a:r>
            <a:endParaRPr/>
          </a:p>
          <a:p>
            <a:pPr marL="342900" lvl="0" indent="-190500" algn="l" rtl="0">
              <a:spcBef>
                <a:spcPts val="640"/>
              </a:spcBef>
              <a:spcAft>
                <a:spcPts val="0"/>
              </a:spcAft>
              <a:buSzPts val="2400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1" name="Google Shape;421;p13" descr="hill-climb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2781300"/>
            <a:ext cx="6705600" cy="3763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" name="Google Shape;427;p14"/>
          <p:cNvGrpSpPr/>
          <p:nvPr/>
        </p:nvGrpSpPr>
        <p:grpSpPr>
          <a:xfrm>
            <a:off x="3914775" y="1025525"/>
            <a:ext cx="5248275" cy="4752975"/>
            <a:chOff x="2466" y="611"/>
            <a:chExt cx="3306" cy="2994"/>
          </a:xfrm>
        </p:grpSpPr>
        <p:grpSp>
          <p:nvGrpSpPr>
            <p:cNvPr id="428" name="Google Shape;428;p14"/>
            <p:cNvGrpSpPr/>
            <p:nvPr/>
          </p:nvGrpSpPr>
          <p:grpSpPr>
            <a:xfrm>
              <a:off x="2466" y="611"/>
              <a:ext cx="3294" cy="2994"/>
              <a:chOff x="2466" y="611"/>
              <a:chExt cx="3294" cy="2994"/>
            </a:xfrm>
          </p:grpSpPr>
          <p:pic>
            <p:nvPicPr>
              <p:cNvPr id="429" name="Google Shape;429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466" y="611"/>
                <a:ext cx="3294" cy="299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30" name="Google Shape;430;p14"/>
              <p:cNvSpPr txBox="1"/>
              <p:nvPr/>
            </p:nvSpPr>
            <p:spPr>
              <a:xfrm>
                <a:off x="2996" y="3117"/>
                <a:ext cx="245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lang="en-US" sz="10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Image from: http://classes.yale.edu/fractals/CA/GA/Fitness/Fitness.html</a:t>
                </a:r>
                <a:endParaRPr/>
              </a:p>
            </p:txBody>
          </p:sp>
        </p:grpSp>
        <p:sp>
          <p:nvSpPr>
            <p:cNvPr id="431" name="Google Shape;431;p14"/>
            <p:cNvSpPr txBox="1"/>
            <p:nvPr/>
          </p:nvSpPr>
          <p:spPr>
            <a:xfrm>
              <a:off x="4459" y="630"/>
              <a:ext cx="1313" cy="2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local maximum</a:t>
              </a:r>
              <a:endParaRPr/>
            </a:p>
          </p:txBody>
        </p:sp>
        <p:cxnSp>
          <p:nvCxnSpPr>
            <p:cNvPr id="432" name="Google Shape;432;p14"/>
            <p:cNvCxnSpPr/>
            <p:nvPr/>
          </p:nvCxnSpPr>
          <p:spPr>
            <a:xfrm flipH="1">
              <a:off x="4849" y="942"/>
              <a:ext cx="195" cy="521"/>
            </a:xfrm>
            <a:prstGeom prst="straightConnector1">
              <a:avLst/>
            </a:prstGeom>
            <a:noFill/>
            <a:ln w="762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sp>
          <p:nvSpPr>
            <p:cNvPr id="433" name="Google Shape;433;p14"/>
            <p:cNvSpPr txBox="1"/>
            <p:nvPr/>
          </p:nvSpPr>
          <p:spPr>
            <a:xfrm>
              <a:off x="3163" y="2684"/>
              <a:ext cx="509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ridge</a:t>
              </a:r>
              <a:endParaRPr/>
            </a:p>
          </p:txBody>
        </p:sp>
        <p:sp>
          <p:nvSpPr>
            <p:cNvPr id="434" name="Google Shape;434;p14"/>
            <p:cNvSpPr txBox="1"/>
            <p:nvPr/>
          </p:nvSpPr>
          <p:spPr>
            <a:xfrm>
              <a:off x="2832" y="1114"/>
              <a:ext cx="67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plateau</a:t>
              </a:r>
              <a:endParaRPr/>
            </a:p>
          </p:txBody>
        </p:sp>
        <p:cxnSp>
          <p:nvCxnSpPr>
            <p:cNvPr id="435" name="Google Shape;435;p14"/>
            <p:cNvCxnSpPr/>
            <p:nvPr/>
          </p:nvCxnSpPr>
          <p:spPr>
            <a:xfrm rot="10800000" flipH="1">
              <a:off x="3586" y="2374"/>
              <a:ext cx="260" cy="366"/>
            </a:xfrm>
            <a:prstGeom prst="straightConnector1">
              <a:avLst/>
            </a:prstGeom>
            <a:noFill/>
            <a:ln w="762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436" name="Google Shape;436;p14"/>
            <p:cNvCxnSpPr/>
            <p:nvPr/>
          </p:nvCxnSpPr>
          <p:spPr>
            <a:xfrm>
              <a:off x="3287" y="1463"/>
              <a:ext cx="846" cy="520"/>
            </a:xfrm>
            <a:prstGeom prst="straightConnector1">
              <a:avLst/>
            </a:prstGeom>
            <a:noFill/>
            <a:ln w="762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</p:grpSp>
      <p:sp>
        <p:nvSpPr>
          <p:cNvPr id="437" name="Google Shape;437;p14"/>
          <p:cNvSpPr txBox="1">
            <a:spLocks noGrp="1"/>
          </p:cNvSpPr>
          <p:nvPr>
            <p:ph type="title"/>
          </p:nvPr>
        </p:nvSpPr>
        <p:spPr>
          <a:xfrm>
            <a:off x="685800" y="73025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Exploring the Landscape</a:t>
            </a:r>
            <a:endParaRPr/>
          </a:p>
        </p:txBody>
      </p:sp>
      <p:sp>
        <p:nvSpPr>
          <p:cNvPr id="438" name="Google Shape;438;p14"/>
          <p:cNvSpPr txBox="1">
            <a:spLocks noGrp="1"/>
          </p:cNvSpPr>
          <p:nvPr>
            <p:ph type="body" idx="1"/>
          </p:nvPr>
        </p:nvSpPr>
        <p:spPr>
          <a:xfrm>
            <a:off x="563562" y="1295400"/>
            <a:ext cx="38100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50"/>
              <a:buFont typeface="Noto Sans Symbols"/>
              <a:buChar char="■"/>
            </a:pPr>
            <a:r>
              <a:rPr lang="en-US" sz="22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 Maxima</a:t>
            </a: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peaks that aren’t the highest point in the space</a:t>
            </a:r>
            <a:endParaRPr/>
          </a:p>
          <a:p>
            <a:pPr marL="342900" lvl="0" indent="-304800" algn="l" rtl="0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lt2"/>
              </a:buClr>
              <a:buSzPts val="600"/>
              <a:buFont typeface="Noto Sans Symbols"/>
              <a:buNone/>
            </a:pPr>
            <a:endParaRPr sz="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lt2"/>
              </a:buClr>
              <a:buSzPts val="1650"/>
              <a:buFont typeface="Noto Sans Symbols"/>
              <a:buChar char="■"/>
            </a:pPr>
            <a:r>
              <a:rPr lang="en-US" sz="22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Plateaus:</a:t>
            </a: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space has a broad flat region that gives the search algorithm no direction (random walk)</a:t>
            </a:r>
            <a:endParaRPr/>
          </a:p>
          <a:p>
            <a:pPr marL="342900" lvl="0" indent="-304800" algn="l" rtl="0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lt2"/>
              </a:buClr>
              <a:buSzPts val="600"/>
              <a:buFont typeface="Noto Sans Symbols"/>
              <a:buNone/>
            </a:pPr>
            <a:endParaRPr sz="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lt2"/>
              </a:buClr>
              <a:buSzPts val="1650"/>
              <a:buFont typeface="Noto Sans Symbols"/>
              <a:buChar char="■"/>
            </a:pPr>
            <a:r>
              <a:rPr lang="en-US" sz="22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Ridges:</a:t>
            </a: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flat like a plateau, but with drop-offs to the sides; steps to the North, East, South and West may go down, but a step to the NW may go up.</a:t>
            </a:r>
            <a:endParaRPr/>
          </a:p>
          <a:p>
            <a:pPr marL="342900" lvl="0" indent="-238125" algn="l" rtl="0">
              <a:spcBef>
                <a:spcPts val="440"/>
              </a:spcBef>
              <a:spcAft>
                <a:spcPts val="0"/>
              </a:spcAft>
              <a:buSzPts val="1650"/>
              <a:buNone/>
            </a:pPr>
            <a:endParaRPr sz="2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5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of a Local Optimum</a:t>
            </a:r>
            <a:endParaRPr/>
          </a:p>
        </p:txBody>
      </p:sp>
      <p:grpSp>
        <p:nvGrpSpPr>
          <p:cNvPr id="445" name="Google Shape;445;p15"/>
          <p:cNvGrpSpPr/>
          <p:nvPr/>
        </p:nvGrpSpPr>
        <p:grpSpPr>
          <a:xfrm>
            <a:off x="747712" y="3616325"/>
            <a:ext cx="1187450" cy="1285875"/>
            <a:chOff x="3519" y="1880"/>
            <a:chExt cx="748" cy="810"/>
          </a:xfrm>
        </p:grpSpPr>
        <p:grpSp>
          <p:nvGrpSpPr>
            <p:cNvPr id="446" name="Google Shape;446;p15"/>
            <p:cNvGrpSpPr/>
            <p:nvPr/>
          </p:nvGrpSpPr>
          <p:grpSpPr>
            <a:xfrm>
              <a:off x="3529" y="1880"/>
              <a:ext cx="738" cy="288"/>
              <a:chOff x="1282" y="2126"/>
              <a:chExt cx="738" cy="288"/>
            </a:xfrm>
          </p:grpSpPr>
          <p:grpSp>
            <p:nvGrpSpPr>
              <p:cNvPr id="447" name="Google Shape;447;p15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448" name="Google Shape;448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9" name="Google Shape;449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</p:grpSp>
          <p:grpSp>
            <p:nvGrpSpPr>
              <p:cNvPr id="450" name="Google Shape;450;p15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451" name="Google Shape;451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2" name="Google Shape;452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</a:t>
                  </a:r>
                  <a:endParaRPr/>
                </a:p>
              </p:txBody>
            </p:sp>
          </p:grpSp>
          <p:grpSp>
            <p:nvGrpSpPr>
              <p:cNvPr id="453" name="Google Shape;453;p15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454" name="Google Shape;454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5" name="Google Shape;455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</a:t>
                  </a:r>
                  <a:endParaRPr/>
                </a:p>
              </p:txBody>
            </p:sp>
          </p:grpSp>
        </p:grpSp>
        <p:grpSp>
          <p:nvGrpSpPr>
            <p:cNvPr id="456" name="Google Shape;456;p15"/>
            <p:cNvGrpSpPr/>
            <p:nvPr/>
          </p:nvGrpSpPr>
          <p:grpSpPr>
            <a:xfrm>
              <a:off x="3524" y="2141"/>
              <a:ext cx="738" cy="288"/>
              <a:chOff x="1282" y="2126"/>
              <a:chExt cx="738" cy="288"/>
            </a:xfrm>
          </p:grpSpPr>
          <p:grpSp>
            <p:nvGrpSpPr>
              <p:cNvPr id="457" name="Google Shape;457;p15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458" name="Google Shape;458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9" name="Google Shape;459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8</a:t>
                  </a:r>
                  <a:endParaRPr/>
                </a:p>
              </p:txBody>
            </p:sp>
          </p:grpSp>
          <p:grpSp>
            <p:nvGrpSpPr>
              <p:cNvPr id="460" name="Google Shape;460;p15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461" name="Google Shape;461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2" name="Google Shape;462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</a:t>
                  </a:r>
                  <a:endParaRPr/>
                </a:p>
              </p:txBody>
            </p:sp>
          </p:grpSp>
          <p:grpSp>
            <p:nvGrpSpPr>
              <p:cNvPr id="463" name="Google Shape;463;p15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464" name="Google Shape;464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5" name="Google Shape;465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</a:t>
                  </a:r>
                  <a:endParaRPr/>
                </a:p>
              </p:txBody>
            </p:sp>
          </p:grpSp>
        </p:grpSp>
        <p:grpSp>
          <p:nvGrpSpPr>
            <p:cNvPr id="466" name="Google Shape;466;p15"/>
            <p:cNvGrpSpPr/>
            <p:nvPr/>
          </p:nvGrpSpPr>
          <p:grpSpPr>
            <a:xfrm>
              <a:off x="3519" y="2402"/>
              <a:ext cx="738" cy="288"/>
              <a:chOff x="1282" y="2126"/>
              <a:chExt cx="738" cy="288"/>
            </a:xfrm>
          </p:grpSpPr>
          <p:grpSp>
            <p:nvGrpSpPr>
              <p:cNvPr id="467" name="Google Shape;467;p15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468" name="Google Shape;468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9" name="Google Shape;469;p15"/>
                <p:cNvSpPr txBox="1"/>
                <p:nvPr/>
              </p:nvSpPr>
              <p:spPr>
                <a:xfrm>
                  <a:off x="1316" y="1865"/>
                  <a:ext cx="164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 </a:t>
                  </a:r>
                  <a:endParaRPr/>
                </a:p>
              </p:txBody>
            </p:sp>
          </p:grpSp>
          <p:grpSp>
            <p:nvGrpSpPr>
              <p:cNvPr id="470" name="Google Shape;470;p15"/>
              <p:cNvGrpSpPr/>
              <p:nvPr/>
            </p:nvGrpSpPr>
            <p:grpSpPr>
              <a:xfrm>
                <a:off x="1528" y="2126"/>
                <a:ext cx="289" cy="288"/>
                <a:chOff x="1287" y="1865"/>
                <a:chExt cx="289" cy="288"/>
              </a:xfrm>
            </p:grpSpPr>
            <p:sp>
              <p:nvSpPr>
                <p:cNvPr id="471" name="Google Shape;471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2" name="Google Shape;472;p15"/>
                <p:cNvSpPr txBox="1"/>
                <p:nvPr/>
              </p:nvSpPr>
              <p:spPr>
                <a:xfrm>
                  <a:off x="1316" y="1865"/>
                  <a:ext cx="260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6 </a:t>
                  </a:r>
                  <a:endParaRPr/>
                </a:p>
              </p:txBody>
            </p:sp>
          </p:grpSp>
          <p:grpSp>
            <p:nvGrpSpPr>
              <p:cNvPr id="473" name="Google Shape;473;p15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474" name="Google Shape;474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5" name="Google Shape;475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</a:t>
                  </a:r>
                  <a:endParaRPr/>
                </a:p>
              </p:txBody>
            </p:sp>
          </p:grpSp>
        </p:grpSp>
      </p:grpSp>
      <p:grpSp>
        <p:nvGrpSpPr>
          <p:cNvPr id="476" name="Google Shape;476;p15"/>
          <p:cNvGrpSpPr/>
          <p:nvPr/>
        </p:nvGrpSpPr>
        <p:grpSpPr>
          <a:xfrm>
            <a:off x="6900862" y="4056062"/>
            <a:ext cx="390525" cy="457200"/>
            <a:chOff x="1287" y="1865"/>
            <a:chExt cx="246" cy="288"/>
          </a:xfrm>
        </p:grpSpPr>
        <p:sp>
          <p:nvSpPr>
            <p:cNvPr id="477" name="Google Shape;477;p15"/>
            <p:cNvSpPr txBox="1"/>
            <p:nvPr/>
          </p:nvSpPr>
          <p:spPr>
            <a:xfrm>
              <a:off x="1287" y="1880"/>
              <a:ext cx="246" cy="246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15"/>
            <p:cNvSpPr txBox="1"/>
            <p:nvPr/>
          </p:nvSpPr>
          <p:spPr>
            <a:xfrm>
              <a:off x="1316" y="1865"/>
              <a:ext cx="164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</p:grpSp>
      <p:grpSp>
        <p:nvGrpSpPr>
          <p:cNvPr id="479" name="Google Shape;479;p15"/>
          <p:cNvGrpSpPr/>
          <p:nvPr/>
        </p:nvGrpSpPr>
        <p:grpSpPr>
          <a:xfrm>
            <a:off x="7304087" y="4056062"/>
            <a:ext cx="390525" cy="457200"/>
            <a:chOff x="1287" y="1865"/>
            <a:chExt cx="246" cy="288"/>
          </a:xfrm>
        </p:grpSpPr>
        <p:sp>
          <p:nvSpPr>
            <p:cNvPr id="480" name="Google Shape;480;p15"/>
            <p:cNvSpPr txBox="1"/>
            <p:nvPr/>
          </p:nvSpPr>
          <p:spPr>
            <a:xfrm>
              <a:off x="1287" y="1880"/>
              <a:ext cx="246" cy="246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15"/>
            <p:cNvSpPr txBox="1"/>
            <p:nvPr/>
          </p:nvSpPr>
          <p:spPr>
            <a:xfrm>
              <a:off x="1316" y="1865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grpSp>
        <p:nvGrpSpPr>
          <p:cNvPr id="482" name="Google Shape;482;p15"/>
          <p:cNvGrpSpPr/>
          <p:nvPr/>
        </p:nvGrpSpPr>
        <p:grpSpPr>
          <a:xfrm>
            <a:off x="6499225" y="3665537"/>
            <a:ext cx="1171575" cy="1236662"/>
            <a:chOff x="4575" y="2293"/>
            <a:chExt cx="738" cy="779"/>
          </a:xfrm>
        </p:grpSpPr>
        <p:grpSp>
          <p:nvGrpSpPr>
            <p:cNvPr id="483" name="Google Shape;483;p15"/>
            <p:cNvGrpSpPr/>
            <p:nvPr/>
          </p:nvGrpSpPr>
          <p:grpSpPr>
            <a:xfrm>
              <a:off x="4575" y="2293"/>
              <a:ext cx="738" cy="288"/>
              <a:chOff x="1282" y="2126"/>
              <a:chExt cx="738" cy="288"/>
            </a:xfrm>
          </p:grpSpPr>
          <p:grpSp>
            <p:nvGrpSpPr>
              <p:cNvPr id="484" name="Google Shape;484;p15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485" name="Google Shape;485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6" name="Google Shape;486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</p:grpSp>
          <p:grpSp>
            <p:nvGrpSpPr>
              <p:cNvPr id="487" name="Google Shape;487;p15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488" name="Google Shape;488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9" name="Google Shape;489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</a:t>
                  </a:r>
                  <a:endParaRPr/>
                </a:p>
              </p:txBody>
            </p:sp>
          </p:grpSp>
          <p:grpSp>
            <p:nvGrpSpPr>
              <p:cNvPr id="490" name="Google Shape;490;p15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491" name="Google Shape;491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2" name="Google Shape;492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493" name="Google Shape;493;p15"/>
            <p:cNvGrpSpPr/>
            <p:nvPr/>
          </p:nvGrpSpPr>
          <p:grpSpPr>
            <a:xfrm>
              <a:off x="4575" y="2539"/>
              <a:ext cx="246" cy="288"/>
              <a:chOff x="1287" y="1865"/>
              <a:chExt cx="246" cy="288"/>
            </a:xfrm>
          </p:grpSpPr>
          <p:sp>
            <p:nvSpPr>
              <p:cNvPr id="494" name="Google Shape;494;p15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15"/>
              <p:cNvSpPr txBox="1"/>
              <p:nvPr/>
            </p:nvSpPr>
            <p:spPr>
              <a:xfrm>
                <a:off x="1316" y="1865"/>
                <a:ext cx="212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lang="en-US"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8</a:t>
                </a:r>
                <a:endParaRPr/>
              </a:p>
            </p:txBody>
          </p:sp>
        </p:grpSp>
        <p:grpSp>
          <p:nvGrpSpPr>
            <p:cNvPr id="496" name="Google Shape;496;p15"/>
            <p:cNvGrpSpPr/>
            <p:nvPr/>
          </p:nvGrpSpPr>
          <p:grpSpPr>
            <a:xfrm>
              <a:off x="4575" y="2784"/>
              <a:ext cx="738" cy="288"/>
              <a:chOff x="1282" y="2126"/>
              <a:chExt cx="738" cy="288"/>
            </a:xfrm>
          </p:grpSpPr>
          <p:grpSp>
            <p:nvGrpSpPr>
              <p:cNvPr id="497" name="Google Shape;497;p15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498" name="Google Shape;498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9" name="Google Shape;499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</a:t>
                  </a:r>
                  <a:endParaRPr/>
                </a:p>
              </p:txBody>
            </p:sp>
          </p:grpSp>
          <p:grpSp>
            <p:nvGrpSpPr>
              <p:cNvPr id="500" name="Google Shape;500;p15"/>
              <p:cNvGrpSpPr/>
              <p:nvPr/>
            </p:nvGrpSpPr>
            <p:grpSpPr>
              <a:xfrm>
                <a:off x="1528" y="2126"/>
                <a:ext cx="289" cy="288"/>
                <a:chOff x="1287" y="1865"/>
                <a:chExt cx="289" cy="288"/>
              </a:xfrm>
            </p:grpSpPr>
            <p:sp>
              <p:nvSpPr>
                <p:cNvPr id="501" name="Google Shape;501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2" name="Google Shape;502;p15"/>
                <p:cNvSpPr txBox="1"/>
                <p:nvPr/>
              </p:nvSpPr>
              <p:spPr>
                <a:xfrm>
                  <a:off x="1316" y="1865"/>
                  <a:ext cx="260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6 </a:t>
                  </a:r>
                  <a:endParaRPr/>
                </a:p>
              </p:txBody>
            </p:sp>
          </p:grpSp>
          <p:grpSp>
            <p:nvGrpSpPr>
              <p:cNvPr id="503" name="Google Shape;503;p15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504" name="Google Shape;504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5" name="Google Shape;505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</a:t>
                  </a:r>
                  <a:endParaRPr/>
                </a:p>
              </p:txBody>
            </p:sp>
          </p:grpSp>
        </p:grpSp>
      </p:grpSp>
      <p:grpSp>
        <p:nvGrpSpPr>
          <p:cNvPr id="506" name="Google Shape;506;p15"/>
          <p:cNvGrpSpPr/>
          <p:nvPr/>
        </p:nvGrpSpPr>
        <p:grpSpPr>
          <a:xfrm>
            <a:off x="3260725" y="4930775"/>
            <a:ext cx="1171575" cy="457200"/>
            <a:chOff x="1282" y="2126"/>
            <a:chExt cx="738" cy="288"/>
          </a:xfrm>
        </p:grpSpPr>
        <p:grpSp>
          <p:nvGrpSpPr>
            <p:cNvPr id="507" name="Google Shape;507;p15"/>
            <p:cNvGrpSpPr/>
            <p:nvPr/>
          </p:nvGrpSpPr>
          <p:grpSpPr>
            <a:xfrm>
              <a:off x="1282" y="2126"/>
              <a:ext cx="246" cy="288"/>
              <a:chOff x="1287" y="1865"/>
              <a:chExt cx="246" cy="288"/>
            </a:xfrm>
          </p:grpSpPr>
          <p:sp>
            <p:nvSpPr>
              <p:cNvPr id="508" name="Google Shape;508;p15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15"/>
              <p:cNvSpPr txBox="1"/>
              <p:nvPr/>
            </p:nvSpPr>
            <p:spPr>
              <a:xfrm>
                <a:off x="1316" y="1865"/>
                <a:ext cx="212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lang="en-US"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  <p:grpSp>
          <p:nvGrpSpPr>
            <p:cNvPr id="510" name="Google Shape;510;p15"/>
            <p:cNvGrpSpPr/>
            <p:nvPr/>
          </p:nvGrpSpPr>
          <p:grpSpPr>
            <a:xfrm>
              <a:off x="1528" y="2126"/>
              <a:ext cx="246" cy="288"/>
              <a:chOff x="1287" y="1865"/>
              <a:chExt cx="246" cy="288"/>
            </a:xfrm>
          </p:grpSpPr>
          <p:sp>
            <p:nvSpPr>
              <p:cNvPr id="511" name="Google Shape;511;p15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15"/>
              <p:cNvSpPr txBox="1"/>
              <p:nvPr/>
            </p:nvSpPr>
            <p:spPr>
              <a:xfrm>
                <a:off x="1316" y="1865"/>
                <a:ext cx="212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lang="en-US"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  <p:grpSp>
          <p:nvGrpSpPr>
            <p:cNvPr id="513" name="Google Shape;513;p15"/>
            <p:cNvGrpSpPr/>
            <p:nvPr/>
          </p:nvGrpSpPr>
          <p:grpSpPr>
            <a:xfrm>
              <a:off x="1774" y="2126"/>
              <a:ext cx="246" cy="288"/>
              <a:chOff x="1287" y="1865"/>
              <a:chExt cx="246" cy="288"/>
            </a:xfrm>
          </p:grpSpPr>
          <p:sp>
            <p:nvSpPr>
              <p:cNvPr id="514" name="Google Shape;514;p15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15"/>
              <p:cNvSpPr txBox="1"/>
              <p:nvPr/>
            </p:nvSpPr>
            <p:spPr>
              <a:xfrm>
                <a:off x="1316" y="1865"/>
                <a:ext cx="212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lang="en-US"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/>
              </a:p>
            </p:txBody>
          </p:sp>
        </p:grpSp>
      </p:grpSp>
      <p:grpSp>
        <p:nvGrpSpPr>
          <p:cNvPr id="516" name="Google Shape;516;p15"/>
          <p:cNvGrpSpPr/>
          <p:nvPr/>
        </p:nvGrpSpPr>
        <p:grpSpPr>
          <a:xfrm>
            <a:off x="3252787" y="5345112"/>
            <a:ext cx="1171575" cy="457200"/>
            <a:chOff x="1282" y="2126"/>
            <a:chExt cx="738" cy="288"/>
          </a:xfrm>
        </p:grpSpPr>
        <p:grpSp>
          <p:nvGrpSpPr>
            <p:cNvPr id="517" name="Google Shape;517;p15"/>
            <p:cNvGrpSpPr/>
            <p:nvPr/>
          </p:nvGrpSpPr>
          <p:grpSpPr>
            <a:xfrm>
              <a:off x="1282" y="2126"/>
              <a:ext cx="246" cy="288"/>
              <a:chOff x="1287" y="1865"/>
              <a:chExt cx="246" cy="288"/>
            </a:xfrm>
          </p:grpSpPr>
          <p:sp>
            <p:nvSpPr>
              <p:cNvPr id="518" name="Google Shape;518;p15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15"/>
              <p:cNvSpPr txBox="1"/>
              <p:nvPr/>
            </p:nvSpPr>
            <p:spPr>
              <a:xfrm>
                <a:off x="1316" y="1865"/>
                <a:ext cx="212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lang="en-US"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8</a:t>
                </a:r>
                <a:endParaRPr/>
              </a:p>
            </p:txBody>
          </p:sp>
        </p:grpSp>
        <p:grpSp>
          <p:nvGrpSpPr>
            <p:cNvPr id="520" name="Google Shape;520;p15"/>
            <p:cNvGrpSpPr/>
            <p:nvPr/>
          </p:nvGrpSpPr>
          <p:grpSpPr>
            <a:xfrm>
              <a:off x="1528" y="2126"/>
              <a:ext cx="246" cy="288"/>
              <a:chOff x="1287" y="1865"/>
              <a:chExt cx="246" cy="288"/>
            </a:xfrm>
          </p:grpSpPr>
          <p:sp>
            <p:nvSpPr>
              <p:cNvPr id="521" name="Google Shape;521;p15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2" name="Google Shape;522;p15"/>
              <p:cNvSpPr txBox="1"/>
              <p:nvPr/>
            </p:nvSpPr>
            <p:spPr>
              <a:xfrm>
                <a:off x="1316" y="1865"/>
                <a:ext cx="212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lang="en-US"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7</a:t>
                </a:r>
                <a:endParaRPr/>
              </a:p>
            </p:txBody>
          </p:sp>
        </p:grpSp>
        <p:grpSp>
          <p:nvGrpSpPr>
            <p:cNvPr id="523" name="Google Shape;523;p15"/>
            <p:cNvGrpSpPr/>
            <p:nvPr/>
          </p:nvGrpSpPr>
          <p:grpSpPr>
            <a:xfrm>
              <a:off x="1774" y="2126"/>
              <a:ext cx="246" cy="288"/>
              <a:chOff x="1287" y="1865"/>
              <a:chExt cx="246" cy="288"/>
            </a:xfrm>
          </p:grpSpPr>
          <p:sp>
            <p:nvSpPr>
              <p:cNvPr id="524" name="Google Shape;524;p15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15"/>
              <p:cNvSpPr txBox="1"/>
              <p:nvPr/>
            </p:nvSpPr>
            <p:spPr>
              <a:xfrm>
                <a:off x="1316" y="1865"/>
                <a:ext cx="212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lang="en-US"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/>
              </a:p>
            </p:txBody>
          </p:sp>
        </p:grpSp>
      </p:grpSp>
      <p:grpSp>
        <p:nvGrpSpPr>
          <p:cNvPr id="526" name="Google Shape;526;p15"/>
          <p:cNvGrpSpPr/>
          <p:nvPr/>
        </p:nvGrpSpPr>
        <p:grpSpPr>
          <a:xfrm>
            <a:off x="3244850" y="5759450"/>
            <a:ext cx="390525" cy="457200"/>
            <a:chOff x="1287" y="1865"/>
            <a:chExt cx="246" cy="288"/>
          </a:xfrm>
        </p:grpSpPr>
        <p:sp>
          <p:nvSpPr>
            <p:cNvPr id="527" name="Google Shape;527;p15"/>
            <p:cNvSpPr txBox="1"/>
            <p:nvPr/>
          </p:nvSpPr>
          <p:spPr>
            <a:xfrm>
              <a:off x="1287" y="1880"/>
              <a:ext cx="246" cy="246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15"/>
            <p:cNvSpPr txBox="1"/>
            <p:nvPr/>
          </p:nvSpPr>
          <p:spPr>
            <a:xfrm>
              <a:off x="1316" y="1865"/>
              <a:ext cx="116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9" name="Google Shape;529;p15"/>
          <p:cNvGrpSpPr/>
          <p:nvPr/>
        </p:nvGrpSpPr>
        <p:grpSpPr>
          <a:xfrm>
            <a:off x="3635375" y="5759450"/>
            <a:ext cx="390525" cy="457200"/>
            <a:chOff x="1287" y="1865"/>
            <a:chExt cx="246" cy="288"/>
          </a:xfrm>
        </p:grpSpPr>
        <p:sp>
          <p:nvSpPr>
            <p:cNvPr id="530" name="Google Shape;530;p15"/>
            <p:cNvSpPr txBox="1"/>
            <p:nvPr/>
          </p:nvSpPr>
          <p:spPr>
            <a:xfrm>
              <a:off x="1287" y="1880"/>
              <a:ext cx="246" cy="246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15"/>
            <p:cNvSpPr txBox="1"/>
            <p:nvPr/>
          </p:nvSpPr>
          <p:spPr>
            <a:xfrm>
              <a:off x="1316" y="1865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endParaRPr/>
            </a:p>
          </p:txBody>
        </p:sp>
      </p:grpSp>
      <p:grpSp>
        <p:nvGrpSpPr>
          <p:cNvPr id="532" name="Google Shape;532;p15"/>
          <p:cNvGrpSpPr/>
          <p:nvPr/>
        </p:nvGrpSpPr>
        <p:grpSpPr>
          <a:xfrm>
            <a:off x="4025900" y="5759450"/>
            <a:ext cx="390525" cy="457200"/>
            <a:chOff x="1287" y="1865"/>
            <a:chExt cx="246" cy="288"/>
          </a:xfrm>
        </p:grpSpPr>
        <p:sp>
          <p:nvSpPr>
            <p:cNvPr id="533" name="Google Shape;533;p15"/>
            <p:cNvSpPr txBox="1"/>
            <p:nvPr/>
          </p:nvSpPr>
          <p:spPr>
            <a:xfrm>
              <a:off x="1287" y="1880"/>
              <a:ext cx="246" cy="246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15"/>
            <p:cNvSpPr txBox="1"/>
            <p:nvPr/>
          </p:nvSpPr>
          <p:spPr>
            <a:xfrm>
              <a:off x="1316" y="1865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cxnSp>
        <p:nvCxnSpPr>
          <p:cNvPr id="535" name="Google Shape;535;p15"/>
          <p:cNvCxnSpPr/>
          <p:nvPr/>
        </p:nvCxnSpPr>
        <p:spPr>
          <a:xfrm rot="10800000" flipH="1">
            <a:off x="1935162" y="2971800"/>
            <a:ext cx="1189037" cy="1295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536" name="Google Shape;536;p15"/>
          <p:cNvSpPr txBox="1"/>
          <p:nvPr/>
        </p:nvSpPr>
        <p:spPr>
          <a:xfrm>
            <a:off x="889000" y="4954587"/>
            <a:ext cx="8651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 = -6</a:t>
            </a:r>
            <a:endParaRPr/>
          </a:p>
        </p:txBody>
      </p:sp>
      <p:sp>
        <p:nvSpPr>
          <p:cNvPr id="537" name="Google Shape;537;p15"/>
          <p:cNvSpPr txBox="1"/>
          <p:nvPr/>
        </p:nvSpPr>
        <p:spPr>
          <a:xfrm>
            <a:off x="4572000" y="2701925"/>
            <a:ext cx="8651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 = -7</a:t>
            </a:r>
            <a:endParaRPr/>
          </a:p>
        </p:txBody>
      </p:sp>
      <p:sp>
        <p:nvSpPr>
          <p:cNvPr id="538" name="Google Shape;538;p15"/>
          <p:cNvSpPr txBox="1"/>
          <p:nvPr/>
        </p:nvSpPr>
        <p:spPr>
          <a:xfrm>
            <a:off x="4572000" y="5326062"/>
            <a:ext cx="8651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 = -7</a:t>
            </a:r>
            <a:endParaRPr/>
          </a:p>
        </p:txBody>
      </p:sp>
      <p:sp>
        <p:nvSpPr>
          <p:cNvPr id="539" name="Google Shape;539;p15"/>
          <p:cNvSpPr txBox="1"/>
          <p:nvPr/>
        </p:nvSpPr>
        <p:spPr>
          <a:xfrm>
            <a:off x="7694612" y="4079875"/>
            <a:ext cx="7635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 = 0</a:t>
            </a:r>
            <a:endParaRPr/>
          </a:p>
        </p:txBody>
      </p:sp>
      <p:sp>
        <p:nvSpPr>
          <p:cNvPr id="540" name="Google Shape;540;p15"/>
          <p:cNvSpPr txBox="1"/>
          <p:nvPr/>
        </p:nvSpPr>
        <p:spPr>
          <a:xfrm>
            <a:off x="854075" y="3014662"/>
            <a:ext cx="742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lang="en-US" sz="1800" b="1" i="1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/>
          </a:p>
        </p:txBody>
      </p:sp>
      <p:sp>
        <p:nvSpPr>
          <p:cNvPr id="541" name="Google Shape;541;p15"/>
          <p:cNvSpPr txBox="1"/>
          <p:nvPr/>
        </p:nvSpPr>
        <p:spPr>
          <a:xfrm>
            <a:off x="6624637" y="3040062"/>
            <a:ext cx="7254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lang="en-US" sz="1800" b="1" i="1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/>
          </a:p>
        </p:txBody>
      </p:sp>
      <p:grpSp>
        <p:nvGrpSpPr>
          <p:cNvPr id="542" name="Google Shape;542;p15"/>
          <p:cNvGrpSpPr/>
          <p:nvPr/>
        </p:nvGrpSpPr>
        <p:grpSpPr>
          <a:xfrm>
            <a:off x="3244850" y="2311400"/>
            <a:ext cx="1187450" cy="1304925"/>
            <a:chOff x="2044" y="1338"/>
            <a:chExt cx="748" cy="822"/>
          </a:xfrm>
        </p:grpSpPr>
        <p:grpSp>
          <p:nvGrpSpPr>
            <p:cNvPr id="543" name="Google Shape;543;p15"/>
            <p:cNvGrpSpPr/>
            <p:nvPr/>
          </p:nvGrpSpPr>
          <p:grpSpPr>
            <a:xfrm>
              <a:off x="2054" y="1350"/>
              <a:ext cx="246" cy="288"/>
              <a:chOff x="1287" y="1865"/>
              <a:chExt cx="246" cy="288"/>
            </a:xfrm>
          </p:grpSpPr>
          <p:sp>
            <p:nvSpPr>
              <p:cNvPr id="544" name="Google Shape;544;p15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15"/>
              <p:cNvSpPr txBox="1"/>
              <p:nvPr/>
            </p:nvSpPr>
            <p:spPr>
              <a:xfrm>
                <a:off x="1316" y="1865"/>
                <a:ext cx="116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46" name="Google Shape;546;p15"/>
            <p:cNvGrpSpPr/>
            <p:nvPr/>
          </p:nvGrpSpPr>
          <p:grpSpPr>
            <a:xfrm>
              <a:off x="2300" y="1350"/>
              <a:ext cx="246" cy="288"/>
              <a:chOff x="1287" y="1865"/>
              <a:chExt cx="246" cy="288"/>
            </a:xfrm>
          </p:grpSpPr>
          <p:sp>
            <p:nvSpPr>
              <p:cNvPr id="547" name="Google Shape;547;p15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15"/>
              <p:cNvSpPr txBox="1"/>
              <p:nvPr/>
            </p:nvSpPr>
            <p:spPr>
              <a:xfrm>
                <a:off x="1316" y="1865"/>
                <a:ext cx="212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lang="en-US"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  <p:grpSp>
          <p:nvGrpSpPr>
            <p:cNvPr id="549" name="Google Shape;549;p15"/>
            <p:cNvGrpSpPr/>
            <p:nvPr/>
          </p:nvGrpSpPr>
          <p:grpSpPr>
            <a:xfrm>
              <a:off x="2546" y="1350"/>
              <a:ext cx="246" cy="288"/>
              <a:chOff x="1287" y="1865"/>
              <a:chExt cx="246" cy="288"/>
            </a:xfrm>
          </p:grpSpPr>
          <p:sp>
            <p:nvSpPr>
              <p:cNvPr id="550" name="Google Shape;550;p15"/>
              <p:cNvSpPr txBox="1"/>
              <p:nvPr/>
            </p:nvSpPr>
            <p:spPr>
              <a:xfrm>
                <a:off x="1287" y="1880"/>
                <a:ext cx="246" cy="246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15"/>
              <p:cNvSpPr txBox="1"/>
              <p:nvPr/>
            </p:nvSpPr>
            <p:spPr>
              <a:xfrm>
                <a:off x="1316" y="1865"/>
                <a:ext cx="212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lang="en-US"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/>
              </a:p>
            </p:txBody>
          </p:sp>
        </p:grpSp>
        <p:grpSp>
          <p:nvGrpSpPr>
            <p:cNvPr id="552" name="Google Shape;552;p15"/>
            <p:cNvGrpSpPr/>
            <p:nvPr/>
          </p:nvGrpSpPr>
          <p:grpSpPr>
            <a:xfrm>
              <a:off x="2049" y="1611"/>
              <a:ext cx="738" cy="288"/>
              <a:chOff x="1282" y="2126"/>
              <a:chExt cx="738" cy="288"/>
            </a:xfrm>
          </p:grpSpPr>
          <p:grpSp>
            <p:nvGrpSpPr>
              <p:cNvPr id="553" name="Google Shape;553;p15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554" name="Google Shape;554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5" name="Google Shape;555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  </a:t>
                  </a:r>
                  <a:endParaRPr/>
                </a:p>
              </p:txBody>
            </p:sp>
          </p:grpSp>
          <p:grpSp>
            <p:nvGrpSpPr>
              <p:cNvPr id="556" name="Google Shape;556;p15"/>
              <p:cNvGrpSpPr/>
              <p:nvPr/>
            </p:nvGrpSpPr>
            <p:grpSpPr>
              <a:xfrm>
                <a:off x="1528" y="2126"/>
                <a:ext cx="246" cy="288"/>
                <a:chOff x="1287" y="1865"/>
                <a:chExt cx="246" cy="288"/>
              </a:xfrm>
            </p:grpSpPr>
            <p:sp>
              <p:nvSpPr>
                <p:cNvPr id="557" name="Google Shape;557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8" name="Google Shape;558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</a:t>
                  </a:r>
                  <a:endParaRPr/>
                </a:p>
              </p:txBody>
            </p:sp>
          </p:grpSp>
          <p:grpSp>
            <p:nvGrpSpPr>
              <p:cNvPr id="559" name="Google Shape;559;p15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560" name="Google Shape;560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1" name="Google Shape;561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</a:t>
                  </a:r>
                  <a:endParaRPr/>
                </a:p>
              </p:txBody>
            </p:sp>
          </p:grpSp>
        </p:grpSp>
        <p:grpSp>
          <p:nvGrpSpPr>
            <p:cNvPr id="562" name="Google Shape;562;p15"/>
            <p:cNvGrpSpPr/>
            <p:nvPr/>
          </p:nvGrpSpPr>
          <p:grpSpPr>
            <a:xfrm>
              <a:off x="2044" y="1872"/>
              <a:ext cx="738" cy="288"/>
              <a:chOff x="1282" y="2126"/>
              <a:chExt cx="738" cy="288"/>
            </a:xfrm>
          </p:grpSpPr>
          <p:grpSp>
            <p:nvGrpSpPr>
              <p:cNvPr id="563" name="Google Shape;563;p15"/>
              <p:cNvGrpSpPr/>
              <p:nvPr/>
            </p:nvGrpSpPr>
            <p:grpSpPr>
              <a:xfrm>
                <a:off x="1282" y="2126"/>
                <a:ext cx="246" cy="288"/>
                <a:chOff x="1287" y="1865"/>
                <a:chExt cx="246" cy="288"/>
              </a:xfrm>
            </p:grpSpPr>
            <p:sp>
              <p:nvSpPr>
                <p:cNvPr id="564" name="Google Shape;564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5" name="Google Shape;565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8</a:t>
                  </a:r>
                  <a:endParaRPr/>
                </a:p>
              </p:txBody>
            </p:sp>
          </p:grpSp>
          <p:grpSp>
            <p:nvGrpSpPr>
              <p:cNvPr id="566" name="Google Shape;566;p15"/>
              <p:cNvGrpSpPr/>
              <p:nvPr/>
            </p:nvGrpSpPr>
            <p:grpSpPr>
              <a:xfrm>
                <a:off x="1528" y="2126"/>
                <a:ext cx="289" cy="288"/>
                <a:chOff x="1287" y="1865"/>
                <a:chExt cx="289" cy="288"/>
              </a:xfrm>
            </p:grpSpPr>
            <p:sp>
              <p:nvSpPr>
                <p:cNvPr id="567" name="Google Shape;567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8" name="Google Shape;568;p15"/>
                <p:cNvSpPr txBox="1"/>
                <p:nvPr/>
              </p:nvSpPr>
              <p:spPr>
                <a:xfrm>
                  <a:off x="1316" y="1865"/>
                  <a:ext cx="260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6 </a:t>
                  </a:r>
                  <a:endParaRPr/>
                </a:p>
              </p:txBody>
            </p:sp>
          </p:grpSp>
          <p:grpSp>
            <p:nvGrpSpPr>
              <p:cNvPr id="569" name="Google Shape;569;p15"/>
              <p:cNvGrpSpPr/>
              <p:nvPr/>
            </p:nvGrpSpPr>
            <p:grpSpPr>
              <a:xfrm>
                <a:off x="1774" y="2126"/>
                <a:ext cx="246" cy="288"/>
                <a:chOff x="1287" y="1865"/>
                <a:chExt cx="246" cy="288"/>
              </a:xfrm>
            </p:grpSpPr>
            <p:sp>
              <p:nvSpPr>
                <p:cNvPr id="570" name="Google Shape;570;p15"/>
                <p:cNvSpPr txBox="1"/>
                <p:nvPr/>
              </p:nvSpPr>
              <p:spPr>
                <a:xfrm>
                  <a:off x="1287" y="1880"/>
                  <a:ext cx="246" cy="246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1" name="Google Shape;571;p15"/>
                <p:cNvSpPr txBox="1"/>
                <p:nvPr/>
              </p:nvSpPr>
              <p:spPr>
                <a:xfrm>
                  <a:off x="1316" y="1865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</a:t>
                  </a:r>
                  <a:endParaRPr/>
                </a:p>
              </p:txBody>
            </p:sp>
          </p:grpSp>
        </p:grpSp>
        <p:sp>
          <p:nvSpPr>
            <p:cNvPr id="572" name="Google Shape;572;p15"/>
            <p:cNvSpPr txBox="1"/>
            <p:nvPr/>
          </p:nvSpPr>
          <p:spPr>
            <a:xfrm>
              <a:off x="2079" y="1338"/>
              <a:ext cx="212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cxnSp>
        <p:nvCxnSpPr>
          <p:cNvPr id="573" name="Google Shape;573;p15"/>
          <p:cNvCxnSpPr/>
          <p:nvPr/>
        </p:nvCxnSpPr>
        <p:spPr>
          <a:xfrm>
            <a:off x="1935162" y="4278312"/>
            <a:ext cx="1189037" cy="1295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574" name="Google Shape;574;p15"/>
          <p:cNvSpPr txBox="1"/>
          <p:nvPr/>
        </p:nvSpPr>
        <p:spPr>
          <a:xfrm>
            <a:off x="3260725" y="5759450"/>
            <a:ext cx="33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575" name="Google Shape;575;p15"/>
          <p:cNvSpPr txBox="1"/>
          <p:nvPr/>
        </p:nvSpPr>
        <p:spPr>
          <a:xfrm>
            <a:off x="2338387" y="2911475"/>
            <a:ext cx="68738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</a:t>
            </a:r>
            <a:endParaRPr/>
          </a:p>
        </p:txBody>
      </p:sp>
      <p:sp>
        <p:nvSpPr>
          <p:cNvPr id="576" name="Google Shape;576;p15"/>
          <p:cNvSpPr txBox="1"/>
          <p:nvPr/>
        </p:nvSpPr>
        <p:spPr>
          <a:xfrm>
            <a:off x="2338387" y="4295775"/>
            <a:ext cx="68738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</a:t>
            </a:r>
            <a:endParaRPr/>
          </a:p>
        </p:txBody>
      </p:sp>
      <p:sp>
        <p:nvSpPr>
          <p:cNvPr id="577" name="Google Shape;577;p15"/>
          <p:cNvSpPr txBox="1"/>
          <p:nvPr/>
        </p:nvSpPr>
        <p:spPr>
          <a:xfrm>
            <a:off x="6054725" y="5561012"/>
            <a:ext cx="274002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 = -(manhattan distance)</a:t>
            </a:r>
            <a:endParaRPr/>
          </a:p>
        </p:txBody>
      </p:sp>
      <p:sp>
        <p:nvSpPr>
          <p:cNvPr id="578" name="Google Shape;578;p15"/>
          <p:cNvSpPr txBox="1"/>
          <p:nvPr/>
        </p:nvSpPr>
        <p:spPr>
          <a:xfrm>
            <a:off x="763587" y="5411787"/>
            <a:ext cx="1574800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Maxima</a:t>
            </a:r>
            <a:endParaRPr/>
          </a:p>
        </p:txBody>
      </p:sp>
      <p:sp>
        <p:nvSpPr>
          <p:cNvPr id="579" name="Google Shape;579;p15"/>
          <p:cNvSpPr txBox="1"/>
          <p:nvPr/>
        </p:nvSpPr>
        <p:spPr>
          <a:xfrm>
            <a:off x="4592637" y="5903912"/>
            <a:ext cx="15748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Plateaus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6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4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4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-queens</a:t>
            </a:r>
            <a:endParaRPr/>
          </a:p>
        </p:txBody>
      </p:sp>
      <p:sp>
        <p:nvSpPr>
          <p:cNvPr id="585" name="Google Shape;585;p16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Char char="■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Put </a:t>
            </a:r>
            <a:r>
              <a:rPr lang="en-US" sz="32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queens on an </a:t>
            </a:r>
            <a:r>
              <a:rPr lang="en-US" sz="32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× n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board with no two queens on the same row, column, or diagonal</a:t>
            </a:r>
            <a:b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pic>
        <p:nvPicPr>
          <p:cNvPr id="586" name="Google Shape;586;p16" descr="4queens-sequ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3505200"/>
            <a:ext cx="7467600" cy="186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7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Hill-climbing search: 8-queens problem</a:t>
            </a:r>
            <a:endParaRPr/>
          </a:p>
        </p:txBody>
      </p:sp>
      <p:sp>
        <p:nvSpPr>
          <p:cNvPr id="592" name="Google Shape;592;p17"/>
          <p:cNvSpPr txBox="1">
            <a:spLocks noGrp="1"/>
          </p:cNvSpPr>
          <p:nvPr>
            <p:ph type="body" idx="1"/>
          </p:nvPr>
        </p:nvSpPr>
        <p:spPr>
          <a:xfrm>
            <a:off x="457200" y="4729162"/>
            <a:ext cx="8229600" cy="1138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095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None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■"/>
            </a:pP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number of pairs of queens that are attacking each other, either directly or indirectly 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■"/>
            </a:pP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 = 17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the above state</a:t>
            </a:r>
            <a:b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pic>
        <p:nvPicPr>
          <p:cNvPr id="593" name="Google Shape;593;p17" descr="8queens-successor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0" y="1295400"/>
            <a:ext cx="3733800" cy="37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8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Hill-climbing search: 8-queens problem</a:t>
            </a:r>
            <a:endParaRPr/>
          </a:p>
        </p:txBody>
      </p:sp>
      <p:pic>
        <p:nvPicPr>
          <p:cNvPr id="599" name="Google Shape;599;p18" descr="8queens-local-minimu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0" y="1600200"/>
            <a:ext cx="37338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18"/>
          <p:cNvSpPr txBox="1"/>
          <p:nvPr/>
        </p:nvSpPr>
        <p:spPr>
          <a:xfrm>
            <a:off x="457200" y="5562600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local minimum with </a:t>
            </a:r>
            <a:r>
              <a:rPr lang="en-US" sz="32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 = 1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9"/>
          <p:cNvSpPr txBox="1">
            <a:spLocks noGrp="1"/>
          </p:cNvSpPr>
          <p:nvPr>
            <p:ph type="title"/>
          </p:nvPr>
        </p:nvSpPr>
        <p:spPr>
          <a:xfrm>
            <a:off x="228600" y="381000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Remedies of Hill Climbing Search</a:t>
            </a:r>
            <a:endParaRPr/>
          </a:p>
        </p:txBody>
      </p:sp>
      <p:sp>
        <p:nvSpPr>
          <p:cNvPr id="607" name="Google Shape;607;p19"/>
          <p:cNvSpPr txBox="1">
            <a:spLocks noGrp="1"/>
          </p:cNvSpPr>
          <p:nvPr>
            <p:ph type="body" idx="1"/>
          </p:nvPr>
        </p:nvSpPr>
        <p:spPr>
          <a:xfrm>
            <a:off x="990600" y="1752600"/>
            <a:ext cx="73152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■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Problems: local maxima, plateaus, ridges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■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Remedies: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Char char="◻"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 restart: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keep restarting the search from random locations until a goal is found.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Char char="◻"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reformulation: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reformulate the search space to eliminate these problematic features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Char char="◻"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Simulated Annealing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■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problem spaces are great for hill climbing and others are terrible.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0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Simulated Annealing</a:t>
            </a:r>
            <a:endParaRPr/>
          </a:p>
        </p:txBody>
      </p:sp>
      <p:sp>
        <p:nvSpPr>
          <p:cNvPr id="614" name="Google Shape;614;p20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83820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Simulated annealing (SA) exploits an analogy between the way in which a metal cools and freezes into a minimum-energy crystalline structure (the annealing process) and the search for a minimum [or maximum] in a more general system.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 can avoid becoming trapped at local minima.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 uses a random search that accepts changes that increase objective function f, 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well as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some that 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decrease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it.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 uses a control parameter T, which by analogy with the original application is known as the system “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temperature.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 starts out high and gradually decreases toward 0.</a:t>
            </a:r>
            <a:endParaRPr/>
          </a:p>
          <a:p>
            <a:pPr marL="342900" lvl="0" indent="-228600" algn="l" rtl="0">
              <a:spcBef>
                <a:spcPts val="480"/>
              </a:spcBef>
              <a:spcAft>
                <a:spcPts val="0"/>
              </a:spcAft>
              <a:buSzPts val="1800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1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Simulated annealing</a:t>
            </a:r>
            <a:endParaRPr/>
          </a:p>
        </p:txBody>
      </p:sp>
      <p:sp>
        <p:nvSpPr>
          <p:cNvPr id="620" name="Google Shape;620;p21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■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Idea: escape local maxima by allowing some "bad" moves but </a:t>
            </a:r>
            <a:r>
              <a:rPr lang="en-US" sz="2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gradually decrease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their frequency</a:t>
            </a:r>
            <a:endParaRPr/>
          </a:p>
        </p:txBody>
      </p:sp>
      <p:sp>
        <p:nvSpPr>
          <p:cNvPr id="621" name="Google Shape;621;p21"/>
          <p:cNvSpPr txBox="1"/>
          <p:nvPr/>
        </p:nvSpPr>
        <p:spPr>
          <a:xfrm>
            <a:off x="381000" y="2819400"/>
            <a:ext cx="87630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C = </a:t>
            </a:r>
            <a:r>
              <a:rPr lang="en-US" sz="1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800" b="0" i="0" u="none" baseline="-25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</a:t>
            </a:r>
            <a:r>
              <a:rPr lang="en-US" sz="1800" b="0" i="0" u="none" baseline="-25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1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 here, C is the current state and </a:t>
            </a:r>
            <a:r>
              <a:rPr lang="en-US" sz="1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800" b="0" i="0" u="none" baseline="-25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</a:t>
            </a:r>
            <a:r>
              <a:rPr lang="en-US" sz="1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initial state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baseline="-25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For  T   =    </a:t>
            </a:r>
            <a:r>
              <a:rPr lang="en-US" sz="1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800" b="0" i="0" u="none" baseline="-25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r>
              <a:rPr lang="en-US" sz="1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to  </a:t>
            </a:r>
            <a:r>
              <a:rPr lang="en-US" sz="1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800" b="0" i="0" u="none" baseline="-25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r>
              <a:rPr lang="en-US" sz="1800" b="0" i="0" u="none" baseline="-25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//  </a:t>
            </a:r>
            <a:r>
              <a:rPr lang="en-US" sz="1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here,T</a:t>
            </a:r>
            <a:r>
              <a:rPr lang="en-US" sz="1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control temperature for annealing</a:t>
            </a:r>
            <a:endParaRPr sz="1800" b="0" i="0" u="none" baseline="-25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E</a:t>
            </a:r>
            <a:r>
              <a:rPr lang="en-US" sz="1800" b="0" i="0" u="none" strike="noStrike" cap="none" baseline="-25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E(C)  // here, E</a:t>
            </a:r>
            <a:r>
              <a:rPr lang="en-US" sz="1800" b="0" i="0" u="none" strike="noStrike" cap="none" baseline="-25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Energy i.e. utility or goodness value of state C</a:t>
            </a:r>
            <a:endParaRPr dirty="0"/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N = Next (C) // Here, N is next state of current state C</a:t>
            </a:r>
            <a:endParaRPr dirty="0"/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E</a:t>
            </a:r>
            <a:r>
              <a:rPr lang="en-US" sz="1800" b="0" i="0" u="none" strike="noStrike" cap="none" baseline="-25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E(N)  // here, E</a:t>
            </a:r>
            <a:r>
              <a:rPr lang="en-US" sz="1800" b="0" i="0" u="none" strike="noStrike" cap="none" baseline="-25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Energy i.e. utility or goodness value of state N</a:t>
            </a:r>
            <a:endParaRPr dirty="0"/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ΔE = E</a:t>
            </a:r>
            <a:r>
              <a:rPr lang="en-US" sz="1800" b="0" i="0" u="none" strike="noStrike" cap="none" baseline="-25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E</a:t>
            </a:r>
            <a:r>
              <a:rPr lang="en-US" sz="1800" b="0" i="0" u="none" strike="noStrike" cap="none" baseline="-25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//Here, ΔE  is the Energy difference</a:t>
            </a:r>
            <a:endParaRPr dirty="0"/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 If (ΔE &gt; 0) </a:t>
            </a:r>
            <a:endParaRPr dirty="0"/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8.     C=N</a:t>
            </a:r>
            <a:endParaRPr dirty="0"/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 Else if (e</a:t>
            </a:r>
            <a:r>
              <a:rPr lang="en-US" sz="1800" baseline="30000" dirty="0">
                <a:solidFill>
                  <a:schemeClr val="dk1"/>
                </a:solidFill>
              </a:rPr>
              <a:t>-Δ</a:t>
            </a:r>
            <a:r>
              <a:rPr lang="en-US" sz="1800" b="0" i="0" u="none" strike="noStrike" cap="none" baseline="30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/ 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rand(0,1))  // Suppose, ΔE = -1, 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800" b="0" i="0" u="none" strike="noStrike" cap="none" baseline="-25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100 and 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800" b="0" i="0" u="none" strike="noStrike" cap="none" baseline="-25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2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 startAt="10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C=N			//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1800" b="0" i="0" u="none" strike="noStrike" cap="none" baseline="30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ΔE</a:t>
            </a:r>
            <a:r>
              <a:rPr lang="en-US" sz="1800" b="0" i="0" u="none" strike="noStrike" cap="none" baseline="30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T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0.99 for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800" b="0" i="0" u="none" strike="noStrike" cap="none" baseline="-25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100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11. End				// </a:t>
            </a:r>
            <a:r>
              <a:rPr lang="en-US" sz="1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1800" b="0" i="0" u="none" baseline="30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ΔE</a:t>
            </a:r>
            <a:r>
              <a:rPr lang="en-US" sz="1800" b="0" i="0" u="none" baseline="30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T </a:t>
            </a:r>
            <a:r>
              <a:rPr lang="en-US" sz="1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0.60 for </a:t>
            </a:r>
            <a:r>
              <a:rPr lang="en-US" sz="1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800" b="0" i="0" u="none" baseline="-25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r>
              <a:rPr lang="en-US" sz="1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2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Simulated Annealing (cont.)</a:t>
            </a:r>
            <a:endParaRPr/>
          </a:p>
        </p:txBody>
      </p:sp>
      <p:sp>
        <p:nvSpPr>
          <p:cNvPr id="628" name="Google Shape;628;p22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f(s) represents the quality of state n (high is good)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“bad” move from A to B is accepted with a probability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P(move</a:t>
            </a:r>
            <a:r>
              <a:rPr lang="en-US" sz="20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A→B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≈ e</a:t>
            </a:r>
            <a:r>
              <a:rPr lang="en-US" sz="2000" b="0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</a:t>
            </a:r>
            <a:r>
              <a:rPr lang="en-US" sz="2000" b="0" i="1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2000" b="0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(B) – </a:t>
            </a:r>
            <a:r>
              <a:rPr lang="en-US" sz="2000" b="0" i="1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2000" b="0" i="0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(A))  / </a:t>
            </a:r>
            <a:r>
              <a:rPr lang="en-US" sz="2000" b="0" i="1" u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  <a:p>
            <a:pPr marL="2057400" lvl="4" indent="-228600" algn="l" rtl="0">
              <a:lnSpc>
                <a:spcPct val="4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 b="0" i="0" u="none" baseline="30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(Note that f(B) – f(A) will be negative, so bad moves always have a relatively probability less than one.  Good moves, for which f(B) – f(A) is positive, have a relative probability greater than one.)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higher the temperature, the more likely it is that a bad move can be made.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T tends to zero, this probability tends to zero, and SA becomes more like hill climbing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 is lowered slowly enough, SA is complete and admissible.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3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3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5" name="Google Shape;635;p23" descr="Image result for simulated annealing in artificial intellig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0812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4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Properties of simulated annealing search</a:t>
            </a:r>
            <a:endParaRPr/>
          </a:p>
        </p:txBody>
      </p:sp>
      <p:sp>
        <p:nvSpPr>
          <p:cNvPr id="641" name="Google Shape;641;p24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■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can prove: If </a:t>
            </a:r>
            <a:r>
              <a:rPr lang="en-US" sz="2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decreases slowly enough, then simulated annealing search will find a global optimum with probability approaching 1</a:t>
            </a:r>
            <a:endParaRPr/>
          </a:p>
          <a:p>
            <a:pPr marL="34290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None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Char char="■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Widely used in VLSI layout, airline scheduling, etc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1526</Words>
  <Application>Microsoft Macintosh PowerPoint</Application>
  <PresentationFormat>On-screen Show (4:3)</PresentationFormat>
  <Paragraphs>258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Noto Sans Symbols</vt:lpstr>
      <vt:lpstr>Arial Black</vt:lpstr>
      <vt:lpstr>Arial</vt:lpstr>
      <vt:lpstr>1_Pixel</vt:lpstr>
      <vt:lpstr>Pixel</vt:lpstr>
      <vt:lpstr>Informed search algorithms </vt:lpstr>
      <vt:lpstr>Local search algorithms</vt:lpstr>
      <vt:lpstr>Iterative Improvement Search</vt:lpstr>
      <vt:lpstr>Hill Climbing on a Surface of States</vt:lpstr>
      <vt:lpstr>Hill Climbing Search</vt:lpstr>
      <vt:lpstr>Hill-climbing search</vt:lpstr>
      <vt:lpstr>Example: The 8-puzzle</vt:lpstr>
      <vt:lpstr>Admissible heuristics</vt:lpstr>
      <vt:lpstr>Admissible heuristics</vt:lpstr>
      <vt:lpstr>Dominance</vt:lpstr>
      <vt:lpstr>Hill Climbing Example </vt:lpstr>
      <vt:lpstr>Hill Climbing Example </vt:lpstr>
      <vt:lpstr>Drawbacks of Hill-climbing search</vt:lpstr>
      <vt:lpstr>Exploring the Landscape</vt:lpstr>
      <vt:lpstr>Example of a Local Optimum</vt:lpstr>
      <vt:lpstr>Example: n-queens</vt:lpstr>
      <vt:lpstr>Hill-climbing search: 8-queens problem</vt:lpstr>
      <vt:lpstr>Hill-climbing search: 8-queens problem</vt:lpstr>
      <vt:lpstr>Remedies of Hill Climbing Search</vt:lpstr>
      <vt:lpstr>Simulated Annealing</vt:lpstr>
      <vt:lpstr>Simulated annealing</vt:lpstr>
      <vt:lpstr>Simulated Annealing (cont.)</vt:lpstr>
      <vt:lpstr>PowerPoint Presentation</vt:lpstr>
      <vt:lpstr>Properties of simulated annealing search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Thomas Schwarz, S.J.</dc:creator>
  <cp:lastModifiedBy>Mehedi Hasan</cp:lastModifiedBy>
  <cp:revision>1</cp:revision>
  <dcterms:created xsi:type="dcterms:W3CDTF">2008-04-02T20:14:30Z</dcterms:created>
  <dcterms:modified xsi:type="dcterms:W3CDTF">2026-04-02T19:12:12Z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2026-04-02T19:11:22Z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bc1e5976-f887-41cf-87d7-138b8da14090</vt:lpwstr>
  </property>
  <property fmtid="{D5CDD505-2E9C-101B-9397-08002B2CF9AE}" pid="7" name="MSIP_Label_defa4170-0d19-0005-0004-bc88714345d2_ActionId">
    <vt:lpwstr>34f27d57-635d-48c8-b067-4dce9e8f310b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