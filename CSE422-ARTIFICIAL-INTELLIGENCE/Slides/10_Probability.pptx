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6858000" type="screen4x3"/>
  <p:notesSz cx="6735763" cy="98663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iCLCqhJvw2KjmhcsREC3OLWHW9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C63656-7E65-4348-B9EE-2416DE781A1D}">
  <a:tblStyle styleId="{97C63656-7E65-4348-B9EE-2416DE781A1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31"/>
  </p:normalViewPr>
  <p:slideViewPr>
    <p:cSldViewPr snapToGrid="0">
      <p:cViewPr varScale="1">
        <p:scale>
          <a:sx n="123" d="100"/>
          <a:sy n="123" d="100"/>
        </p:scale>
        <p:origin x="1160" y="2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edi Hasan" userId="3f84af61-50e3-4561-93b6-29c6e556d79c" providerId="ADAL" clId="{02FB1482-9278-5792-853F-EEADF0BED0EF}"/>
    <pc:docChg chg="undo custSel mod modSld">
      <pc:chgData name="Mehedi Hasan" userId="3f84af61-50e3-4561-93b6-29c6e556d79c" providerId="ADAL" clId="{02FB1482-9278-5792-853F-EEADF0BED0EF}" dt="2026-05-17T18:25:25.479" v="3" actId="33475"/>
      <pc:docMkLst>
        <pc:docMk/>
      </pc:docMkLst>
      <pc:sldChg chg="modSp mod">
        <pc:chgData name="Mehedi Hasan" userId="3f84af61-50e3-4561-93b6-29c6e556d79c" providerId="ADAL" clId="{02FB1482-9278-5792-853F-EEADF0BED0EF}" dt="2026-05-17T18:25:15.421" v="2" actId="20577"/>
        <pc:sldMkLst>
          <pc:docMk/>
          <pc:sldMk cId="0" sldId="257"/>
        </pc:sldMkLst>
        <pc:spChg chg="mod">
          <ac:chgData name="Mehedi Hasan" userId="3f84af61-50e3-4561-93b6-29c6e556d79c" providerId="ADAL" clId="{02FB1482-9278-5792-853F-EEADF0BED0EF}" dt="2026-05-17T18:25:15.421" v="2" actId="20577"/>
          <ac:spMkLst>
            <pc:docMk/>
            <pc:sldMk cId="0" sldId="257"/>
            <ac:spMk id="75" creationId="{00000000-0000-0000-0000-000000000000}"/>
          </ac:spMkLst>
        </pc:spChg>
        <pc:picChg chg="mod">
          <ac:chgData name="Mehedi Hasan" userId="3f84af61-50e3-4561-93b6-29c6e556d79c" providerId="ADAL" clId="{02FB1482-9278-5792-853F-EEADF0BED0EF}" dt="2026-05-17T16:04:54.958" v="1" actId="1076"/>
          <ac:picMkLst>
            <pc:docMk/>
            <pc:sldMk cId="0" sldId="257"/>
            <ac:picMk id="7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35288" cy="484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16350" y="0"/>
            <a:ext cx="2938463" cy="484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96413"/>
            <a:ext cx="293528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16350" y="9396413"/>
            <a:ext cx="293846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>
            <a:spLocks noGrp="1"/>
          </p:cNvSpPr>
          <p:nvPr>
            <p:ph type="sldNum" idx="12"/>
          </p:nvPr>
        </p:nvSpPr>
        <p:spPr>
          <a:xfrm>
            <a:off x="3816350" y="9396413"/>
            <a:ext cx="293846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65" name="Google Shape;6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 txBox="1">
            <a:spLocks noGrp="1"/>
          </p:cNvSpPr>
          <p:nvPr>
            <p:ph type="sldNum" idx="12"/>
          </p:nvPr>
        </p:nvSpPr>
        <p:spPr>
          <a:xfrm>
            <a:off x="3816350" y="9396413"/>
            <a:ext cx="293846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97" name="Google Shape;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5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>
            <a:spLocks noGrp="1"/>
          </p:cNvSpPr>
          <p:nvPr>
            <p:ph type="sldNum" idx="12"/>
          </p:nvPr>
        </p:nvSpPr>
        <p:spPr>
          <a:xfrm>
            <a:off x="3816350" y="9396413"/>
            <a:ext cx="293846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07" name="Google Shape;1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6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>
            <a:spLocks noGrp="1"/>
          </p:cNvSpPr>
          <p:nvPr>
            <p:ph type="sldNum" idx="12"/>
          </p:nvPr>
        </p:nvSpPr>
        <p:spPr>
          <a:xfrm>
            <a:off x="3816350" y="9396413"/>
            <a:ext cx="293846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34" name="Google Shape;1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9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:notes"/>
          <p:cNvSpPr txBox="1">
            <a:spLocks noGrp="1"/>
          </p:cNvSpPr>
          <p:nvPr>
            <p:ph type="sldNum" idx="12"/>
          </p:nvPr>
        </p:nvSpPr>
        <p:spPr>
          <a:xfrm>
            <a:off x="3816350" y="9396413"/>
            <a:ext cx="293846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26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26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3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5:notes"/>
          <p:cNvSpPr txBox="1">
            <a:spLocks noGrp="1"/>
          </p:cNvSpPr>
          <p:nvPr>
            <p:ph type="sldNum" idx="12"/>
          </p:nvPr>
        </p:nvSpPr>
        <p:spPr>
          <a:xfrm>
            <a:off x="3816350" y="9396413"/>
            <a:ext cx="293846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35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p35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6:notes"/>
          <p:cNvSpPr txBox="1">
            <a:spLocks noGrp="1"/>
          </p:cNvSpPr>
          <p:nvPr>
            <p:ph type="sldNum" idx="12"/>
          </p:nvPr>
        </p:nvSpPr>
        <p:spPr>
          <a:xfrm>
            <a:off x="3816350" y="9396413"/>
            <a:ext cx="293846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36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36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:notes"/>
          <p:cNvSpPr txBox="1">
            <a:spLocks noGrp="1"/>
          </p:cNvSpPr>
          <p:nvPr>
            <p:ph type="sldNum" idx="12"/>
          </p:nvPr>
        </p:nvSpPr>
        <p:spPr>
          <a:xfrm>
            <a:off x="3816350" y="9396413"/>
            <a:ext cx="293846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37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730250"/>
            <a:ext cx="496570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37:notes"/>
          <p:cNvSpPr txBox="1">
            <a:spLocks noGrp="1"/>
          </p:cNvSpPr>
          <p:nvPr>
            <p:ph type="body" idx="1"/>
          </p:nvPr>
        </p:nvSpPr>
        <p:spPr>
          <a:xfrm>
            <a:off x="881063" y="4697413"/>
            <a:ext cx="4992687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/>
            </a:lvl5pPr>
            <a:lvl6pPr lvl="5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/>
            </a:lvl6pPr>
            <a:lvl7pPr lvl="6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/>
            </a:lvl7pPr>
            <a:lvl8pPr lvl="7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/>
            </a:lvl8pPr>
            <a:lvl9pPr lvl="8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9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0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0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0" name="Google Shape;20;p40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1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>
            <a:endParaRPr/>
          </a:p>
        </p:txBody>
      </p:sp>
      <p:sp>
        <p:nvSpPr>
          <p:cNvPr id="24" name="Google Shape;24;p41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>
            <a:endParaRPr/>
          </a:p>
        </p:txBody>
      </p:sp>
      <p:sp>
        <p:nvSpPr>
          <p:cNvPr id="25" name="Google Shape;25;p41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2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2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43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36" name="Google Shape;36;p4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37" name="Google Shape;37;p4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38" name="Google Shape;38;p4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39" name="Google Shape;39;p44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5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45" name="Google Shape;45;p4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46" name="Google Shape;46;p46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4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1" name="Google Shape;51;p47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8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8"/>
          <p:cNvSpPr txBox="1">
            <a:spLocks noGrp="1"/>
          </p:cNvSpPr>
          <p:nvPr>
            <p:ph type="body" idx="1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55" name="Google Shape;55;p48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9"/>
          <p:cNvSpPr txBox="1">
            <a:spLocks noGrp="1"/>
          </p:cNvSpPr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9"/>
          <p:cNvSpPr txBox="1">
            <a:spLocks noGrp="1"/>
          </p:cNvSpPr>
          <p:nvPr>
            <p:ph type="body" idx="1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59" name="Google Shape;59;p49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0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0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38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38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69" name="Google Shape;69;p1"/>
          <p:cNvSpPr txBox="1">
            <a:spLocks noGrp="1"/>
          </p:cNvSpPr>
          <p:nvPr>
            <p:ph type="ctrTitle"/>
          </p:nvPr>
        </p:nvSpPr>
        <p:spPr>
          <a:xfrm>
            <a:off x="685800" y="723900"/>
            <a:ext cx="77724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Probability Theory for Inference</a:t>
            </a:r>
            <a:endParaRPr/>
          </a:p>
        </p:txBody>
      </p:sp>
      <p:sp>
        <p:nvSpPr>
          <p:cNvPr id="70" name="Google Shape;70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76" name="Google Shape;76;p2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73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/>
          </a:p>
        </p:txBody>
      </p:sp>
      <p:sp>
        <p:nvSpPr>
          <p:cNvPr id="77" name="Google Shape;77;p2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78" name="Google Shape;7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762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73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/>
          </a:p>
        </p:txBody>
      </p:sp>
      <p:sp>
        <p:nvSpPr>
          <p:cNvPr id="85" name="Google Shape;85;p3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86" name="Google Shape;8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73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/>
          </a:p>
        </p:txBody>
      </p:sp>
      <p:sp>
        <p:nvSpPr>
          <p:cNvPr id="93" name="Google Shape;93;p4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94" name="Google Shape;9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01" name="Google Shape;101;p5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Probability Theory</a:t>
            </a:r>
            <a:endParaRPr/>
          </a:p>
        </p:txBody>
      </p:sp>
      <p:sp>
        <p:nvSpPr>
          <p:cNvPr id="102" name="Google Shape;102;p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200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225425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1">
                <a:solidFill>
                  <a:schemeClr val="accent2"/>
                </a:solidFill>
              </a:rPr>
              <a:t>Random variables</a:t>
            </a:r>
            <a:endParaRPr/>
          </a:p>
          <a:p>
            <a:pPr marL="566738" lvl="1" indent="-22701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/>
              <a:t>Domain</a:t>
            </a:r>
            <a:endParaRPr/>
          </a:p>
          <a:p>
            <a:pPr marL="566738" lvl="1" indent="-11271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/>
          </a:p>
          <a:p>
            <a:pPr marL="225425" lvl="0" indent="-225425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1">
                <a:solidFill>
                  <a:schemeClr val="accent2"/>
                </a:solidFill>
              </a:rPr>
              <a:t>Atomic event</a:t>
            </a:r>
            <a:r>
              <a:rPr lang="en-US" sz="2000"/>
              <a:t>: complete specification of state</a:t>
            </a:r>
            <a:endParaRPr/>
          </a:p>
          <a:p>
            <a:pPr marL="566738" lvl="1" indent="-11271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/>
          </a:p>
          <a:p>
            <a:pPr marL="225425" lvl="0" indent="-225425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1">
                <a:solidFill>
                  <a:schemeClr val="accent2"/>
                </a:solidFill>
              </a:rPr>
              <a:t>Prior probability</a:t>
            </a:r>
            <a:r>
              <a:rPr lang="en-US" sz="2000"/>
              <a:t>: degree of belief without any other evidence</a:t>
            </a:r>
            <a:endParaRPr/>
          </a:p>
          <a:p>
            <a:pPr marL="225425" lvl="0" indent="-225425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1">
                <a:solidFill>
                  <a:schemeClr val="accent2"/>
                </a:solidFill>
              </a:rPr>
              <a:t>Joint probability</a:t>
            </a:r>
            <a:r>
              <a:rPr lang="en-US" sz="2000"/>
              <a:t>: matrix of combined probabilities of a set of variables</a:t>
            </a:r>
            <a:endParaRPr/>
          </a:p>
        </p:txBody>
      </p:sp>
      <p:sp>
        <p:nvSpPr>
          <p:cNvPr id="103" name="Google Shape;103;p5"/>
          <p:cNvSpPr txBox="1">
            <a:spLocks noGrp="1"/>
          </p:cNvSpPr>
          <p:nvPr>
            <p:ph type="body" idx="2"/>
          </p:nvPr>
        </p:nvSpPr>
        <p:spPr>
          <a:xfrm>
            <a:off x="4114800" y="1981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2254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/>
              <a:t>Alarm, Burglary, Earthquake</a:t>
            </a:r>
            <a:endParaRPr/>
          </a:p>
          <a:p>
            <a:pPr marL="566738" lvl="1" indent="-22701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/>
              <a:t>Boolean (like these), discrete, continuous</a:t>
            </a:r>
            <a:endParaRPr/>
          </a:p>
          <a:p>
            <a:pPr marL="225425" lvl="0" indent="-22542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/>
              <a:t>Alarm=True </a:t>
            </a:r>
            <a:r>
              <a:rPr lang="en-US" sz="2000">
                <a:latin typeface="MS PGothic"/>
                <a:ea typeface="MS PGothic"/>
                <a:cs typeface="MS PGothic"/>
                <a:sym typeface="MS PGothic"/>
              </a:rPr>
              <a:t>∧</a:t>
            </a:r>
            <a:r>
              <a:rPr lang="en-US" sz="2000"/>
              <a:t> Burglary=True </a:t>
            </a:r>
            <a:r>
              <a:rPr lang="en-US" sz="2000">
                <a:latin typeface="MS PGothic"/>
                <a:ea typeface="MS PGothic"/>
                <a:cs typeface="MS PGothic"/>
                <a:sym typeface="MS PGothic"/>
              </a:rPr>
              <a:t>∧</a:t>
            </a:r>
            <a:r>
              <a:rPr lang="en-US" sz="2000"/>
              <a:t> Earthquake=False</a:t>
            </a:r>
            <a:br>
              <a:rPr lang="en-US" sz="2000"/>
            </a:br>
            <a:r>
              <a:rPr lang="en-US" sz="2000"/>
              <a:t>alarm </a:t>
            </a:r>
            <a:r>
              <a:rPr lang="en-US" sz="2000">
                <a:latin typeface="MS PGothic"/>
                <a:ea typeface="MS PGothic"/>
                <a:cs typeface="MS PGothic"/>
                <a:sym typeface="MS PGothic"/>
              </a:rPr>
              <a:t>∧</a:t>
            </a:r>
            <a:r>
              <a:rPr lang="en-US" sz="2000"/>
              <a:t> burglary </a:t>
            </a:r>
            <a:r>
              <a:rPr lang="en-US" sz="2000">
                <a:latin typeface="MS PGothic"/>
                <a:ea typeface="MS PGothic"/>
                <a:cs typeface="MS PGothic"/>
                <a:sym typeface="MS PGothic"/>
              </a:rPr>
              <a:t>∧</a:t>
            </a:r>
            <a:r>
              <a:rPr lang="en-US" sz="2000"/>
              <a:t> ¬earthquake</a:t>
            </a:r>
            <a:endParaRPr/>
          </a:p>
          <a:p>
            <a:pPr marL="225425" lvl="0" indent="-225425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/>
              <a:t>P(Burglary) = .1</a:t>
            </a:r>
            <a:endParaRPr/>
          </a:p>
          <a:p>
            <a:pPr marL="225425" lvl="0" indent="-98425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000"/>
          </a:p>
          <a:p>
            <a:pPr marL="225425" lvl="0" indent="-225425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/>
              <a:t>P(Alarm, Burglary) =</a:t>
            </a:r>
            <a:endParaRPr/>
          </a:p>
        </p:txBody>
      </p:sp>
      <p:graphicFrame>
        <p:nvGraphicFramePr>
          <p:cNvPr id="104" name="Google Shape;104;p5"/>
          <p:cNvGraphicFramePr/>
          <p:nvPr/>
        </p:nvGraphicFramePr>
        <p:xfrm>
          <a:off x="4876800" y="5359400"/>
          <a:ext cx="3429000" cy="1193825"/>
        </p:xfrm>
        <a:graphic>
          <a:graphicData uri="http://schemas.openxmlformats.org/drawingml/2006/table">
            <a:tbl>
              <a:tblPr>
                <a:noFill/>
                <a:tableStyleId>{97C63656-7E65-4348-B9EE-2416DE781A1D}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alarm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¬alarm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burglary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.09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.01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¬burglary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11" name="Google Shape;111;p6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Probability Theory: Definitions</a:t>
            </a:r>
            <a:endParaRPr/>
          </a:p>
        </p:txBody>
      </p:sp>
      <p:sp>
        <p:nvSpPr>
          <p:cNvPr id="112" name="Google Shape;112;p6"/>
          <p:cNvSpPr txBox="1">
            <a:spLocks noGrp="1"/>
          </p:cNvSpPr>
          <p:nvPr>
            <p:ph type="body" idx="1"/>
          </p:nvPr>
        </p:nvSpPr>
        <p:spPr>
          <a:xfrm>
            <a:off x="228600" y="22098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225425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1">
                <a:solidFill>
                  <a:schemeClr val="accent2"/>
                </a:solidFill>
              </a:rPr>
              <a:t>Computing conditional prob</a:t>
            </a:r>
            <a:r>
              <a:rPr lang="en-US" sz="2000"/>
              <a:t>:</a:t>
            </a:r>
            <a:endParaRPr/>
          </a:p>
          <a:p>
            <a:pPr marL="566738" lvl="1" indent="-22701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/>
              <a:t>P(a | b) = P(a </a:t>
            </a:r>
            <a:r>
              <a:rPr lang="en-US" sz="1800">
                <a:latin typeface="MS PGothic"/>
                <a:ea typeface="MS PGothic"/>
                <a:cs typeface="MS PGothic"/>
                <a:sym typeface="MS PGothic"/>
              </a:rPr>
              <a:t>∧</a:t>
            </a:r>
            <a:r>
              <a:rPr lang="en-US" sz="1800"/>
              <a:t>  b) / P(b)</a:t>
            </a:r>
            <a:endParaRPr/>
          </a:p>
          <a:p>
            <a:pPr marL="566738" lvl="1" indent="-22701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/>
              <a:t>P(b): </a:t>
            </a:r>
            <a:r>
              <a:rPr lang="en-US" sz="1800" b="1">
                <a:solidFill>
                  <a:schemeClr val="accent2"/>
                </a:solidFill>
              </a:rPr>
              <a:t>normalizing</a:t>
            </a:r>
            <a:r>
              <a:rPr lang="en-US" sz="1800"/>
              <a:t> constant</a:t>
            </a:r>
            <a:endParaRPr/>
          </a:p>
          <a:p>
            <a:pPr marL="225425" lvl="0" indent="-225425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1">
                <a:solidFill>
                  <a:schemeClr val="accent2"/>
                </a:solidFill>
              </a:rPr>
              <a:t>Product rule</a:t>
            </a:r>
            <a:r>
              <a:rPr lang="en-US" sz="2000"/>
              <a:t>:</a:t>
            </a:r>
            <a:endParaRPr/>
          </a:p>
          <a:p>
            <a:pPr marL="566738" lvl="1" indent="-22701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/>
              <a:t>P(a </a:t>
            </a:r>
            <a:r>
              <a:rPr lang="en-US" sz="1800">
                <a:latin typeface="MS PGothic"/>
                <a:ea typeface="MS PGothic"/>
                <a:cs typeface="MS PGothic"/>
                <a:sym typeface="MS PGothic"/>
              </a:rPr>
              <a:t>∧</a:t>
            </a:r>
            <a:r>
              <a:rPr lang="en-US" sz="1800"/>
              <a:t> b) = P(a | b) P(b)</a:t>
            </a:r>
            <a:endParaRPr/>
          </a:p>
          <a:p>
            <a:pPr marL="225425" lvl="0" indent="-225425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1">
                <a:solidFill>
                  <a:schemeClr val="accent2"/>
                </a:solidFill>
              </a:rPr>
              <a:t>Marginalizing</a:t>
            </a:r>
            <a:r>
              <a:rPr lang="en-US" sz="2000"/>
              <a:t>:</a:t>
            </a:r>
            <a:endParaRPr/>
          </a:p>
          <a:p>
            <a:pPr marL="566738" lvl="1" indent="-22701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/>
              <a:t>P(B) = Σ</a:t>
            </a:r>
            <a:r>
              <a:rPr lang="en-US" sz="1800" baseline="-25000"/>
              <a:t>a</a:t>
            </a:r>
            <a:r>
              <a:rPr lang="en-US" sz="1800"/>
              <a:t>P(B, a)</a:t>
            </a:r>
            <a:endParaRPr sz="1800"/>
          </a:p>
          <a:p>
            <a:pPr marL="566738" lvl="1" indent="-22701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/>
              <a:t>P(B) = Σ</a:t>
            </a:r>
            <a:r>
              <a:rPr lang="en-US" sz="1800" baseline="-25000"/>
              <a:t>a</a:t>
            </a:r>
            <a:r>
              <a:rPr lang="en-US" sz="1800"/>
              <a:t>P(B | a) P(a) (</a:t>
            </a:r>
            <a:r>
              <a:rPr lang="en-US" sz="1800" b="1">
                <a:solidFill>
                  <a:schemeClr val="accent2"/>
                </a:solidFill>
              </a:rPr>
              <a:t>conditioning</a:t>
            </a:r>
            <a:r>
              <a:rPr lang="en-US" sz="1800"/>
              <a:t>)</a:t>
            </a:r>
            <a:endParaRPr/>
          </a:p>
        </p:txBody>
      </p:sp>
      <p:pic>
        <p:nvPicPr>
          <p:cNvPr id="113" name="Google Shape;11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19550" y="2362200"/>
            <a:ext cx="4878388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120" name="Google Shape;120;p7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121" name="Google Shape;121;p7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22" name="Google Shape;12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Try It...</a:t>
            </a:r>
            <a:endParaRPr/>
          </a:p>
        </p:txBody>
      </p:sp>
      <p:sp>
        <p:nvSpPr>
          <p:cNvPr id="128" name="Google Shape;128;p8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aphicFrame>
        <p:nvGraphicFramePr>
          <p:cNvPr id="129" name="Google Shape;129;p8"/>
          <p:cNvGraphicFramePr/>
          <p:nvPr/>
        </p:nvGraphicFramePr>
        <p:xfrm>
          <a:off x="304800" y="1752600"/>
          <a:ext cx="3429000" cy="1193825"/>
        </p:xfrm>
        <a:graphic>
          <a:graphicData uri="http://schemas.openxmlformats.org/drawingml/2006/table">
            <a:tbl>
              <a:tblPr>
                <a:noFill/>
                <a:tableStyleId>{97C63656-7E65-4348-B9EE-2416DE781A1D}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alarm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¬alarm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burglary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.09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.01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¬burglary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0" name="Google Shape;130;p8"/>
          <p:cNvSpPr txBox="1"/>
          <p:nvPr/>
        </p:nvSpPr>
        <p:spPr>
          <a:xfrm>
            <a:off x="381000" y="3200400"/>
            <a:ext cx="3810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marR="0" lvl="0" indent="-225425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1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Computing conditional prob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marL="566738" marR="0" lvl="1" indent="-22701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P(a | b) = P(a ∧  b) / P(b)</a:t>
            </a:r>
            <a:endParaRPr/>
          </a:p>
          <a:p>
            <a:pPr marL="566738" marR="0" lvl="1" indent="-22701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P(b): </a:t>
            </a:r>
            <a:r>
              <a:rPr lang="en-US" sz="1800" b="1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normalizing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constant</a:t>
            </a:r>
            <a:endParaRPr/>
          </a:p>
          <a:p>
            <a:pPr marL="225425" marR="0" lvl="0" indent="-225425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1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rule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marL="566738" marR="0" lvl="1" indent="-22701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P(a ∧ b) = P(a | b) P(b)</a:t>
            </a:r>
            <a:endParaRPr/>
          </a:p>
          <a:p>
            <a:pPr marL="225425" marR="0" lvl="0" indent="-225425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1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Marginalizing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marL="566738" marR="0" lvl="1" indent="-22701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P(B) = Σ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P(B, a)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66738" marR="0" lvl="1" indent="-22701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P(B) = Σ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P(B | a) P(a) (</a:t>
            </a:r>
            <a:r>
              <a:rPr lang="en-US" sz="1800" b="1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conditioning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131" name="Google Shape;131;p8"/>
          <p:cNvSpPr txBox="1"/>
          <p:nvPr/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marR="0" lvl="0" indent="-2254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P(alarm | burglary) = ??</a:t>
            </a:r>
            <a:endParaRPr/>
          </a:p>
          <a:p>
            <a:pPr marL="225425" marR="0" lvl="0" indent="-22542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P(burglary | alarm) = ??</a:t>
            </a:r>
            <a:endParaRPr/>
          </a:p>
          <a:p>
            <a:pPr marL="225425" marR="0" lvl="0" indent="-22542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P(burglary ∧ alarm) = ??</a:t>
            </a:r>
            <a:endParaRPr/>
          </a:p>
          <a:p>
            <a:pPr marL="225425" marR="0" lvl="0" indent="-22542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P(alarm) = ??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38" name="Google Shape;138;p9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Probability Theory (cont.)</a:t>
            </a:r>
            <a:endParaRPr/>
          </a:p>
        </p:txBody>
      </p:sp>
      <p:sp>
        <p:nvSpPr>
          <p:cNvPr id="139" name="Google Shape;139;p9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225425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1">
                <a:solidFill>
                  <a:schemeClr val="accent2"/>
                </a:solidFill>
              </a:rPr>
              <a:t>Conditional probability</a:t>
            </a:r>
            <a:r>
              <a:rPr lang="en-US" sz="2000"/>
              <a:t>: probability of effect given causes</a:t>
            </a:r>
            <a:endParaRPr/>
          </a:p>
          <a:p>
            <a:pPr marL="225425" lvl="0" indent="-225425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1">
                <a:solidFill>
                  <a:schemeClr val="accent2"/>
                </a:solidFill>
              </a:rPr>
              <a:t>Computing conditional probs</a:t>
            </a:r>
            <a:r>
              <a:rPr lang="en-US" sz="2000"/>
              <a:t>:</a:t>
            </a:r>
            <a:endParaRPr/>
          </a:p>
          <a:p>
            <a:pPr marL="566738" lvl="1" indent="-22701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/>
              <a:t>P(a | b) = P(a </a:t>
            </a:r>
            <a:r>
              <a:rPr lang="en-US" sz="1800">
                <a:latin typeface="MS PGothic"/>
                <a:ea typeface="MS PGothic"/>
                <a:cs typeface="MS PGothic"/>
                <a:sym typeface="MS PGothic"/>
              </a:rPr>
              <a:t>∧</a:t>
            </a:r>
            <a:r>
              <a:rPr lang="en-US" sz="1800"/>
              <a:t>  b) / P(b)</a:t>
            </a:r>
            <a:endParaRPr/>
          </a:p>
          <a:p>
            <a:pPr marL="566738" lvl="1" indent="-22701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/>
              <a:t>P(b): </a:t>
            </a:r>
            <a:r>
              <a:rPr lang="en-US" sz="1800" b="1">
                <a:solidFill>
                  <a:schemeClr val="accent2"/>
                </a:solidFill>
              </a:rPr>
              <a:t>normalizing</a:t>
            </a:r>
            <a:r>
              <a:rPr lang="en-US" sz="1800"/>
              <a:t> constant</a:t>
            </a:r>
            <a:endParaRPr/>
          </a:p>
          <a:p>
            <a:pPr marL="225425" lvl="0" indent="-225425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1">
                <a:solidFill>
                  <a:schemeClr val="accent2"/>
                </a:solidFill>
              </a:rPr>
              <a:t>Product rule</a:t>
            </a:r>
            <a:r>
              <a:rPr lang="en-US" sz="2000"/>
              <a:t>:</a:t>
            </a:r>
            <a:endParaRPr/>
          </a:p>
          <a:p>
            <a:pPr marL="566738" lvl="1" indent="-22701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/>
              <a:t>P(a </a:t>
            </a:r>
            <a:r>
              <a:rPr lang="en-US" sz="1800">
                <a:latin typeface="MS PGothic"/>
                <a:ea typeface="MS PGothic"/>
                <a:cs typeface="MS PGothic"/>
                <a:sym typeface="MS PGothic"/>
              </a:rPr>
              <a:t>∧</a:t>
            </a:r>
            <a:r>
              <a:rPr lang="en-US" sz="1800"/>
              <a:t> b) = P(a | b) P(b)</a:t>
            </a:r>
            <a:endParaRPr/>
          </a:p>
          <a:p>
            <a:pPr marL="225425" lvl="0" indent="-225425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Char char="•"/>
            </a:pPr>
            <a:r>
              <a:rPr lang="en-US" sz="2000" b="1">
                <a:solidFill>
                  <a:schemeClr val="accent2"/>
                </a:solidFill>
              </a:rPr>
              <a:t>Marginalizing</a:t>
            </a:r>
            <a:r>
              <a:rPr lang="en-US" sz="2000"/>
              <a:t>:</a:t>
            </a:r>
            <a:endParaRPr/>
          </a:p>
          <a:p>
            <a:pPr marL="566738" lvl="1" indent="-22701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/>
              <a:t>P(B) = Σ</a:t>
            </a:r>
            <a:r>
              <a:rPr lang="en-US" sz="1800" baseline="-25000"/>
              <a:t>a</a:t>
            </a:r>
            <a:r>
              <a:rPr lang="en-US" sz="1800"/>
              <a:t>P(B, a)</a:t>
            </a:r>
            <a:endParaRPr sz="1800"/>
          </a:p>
          <a:p>
            <a:pPr marL="566738" lvl="1" indent="-22701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/>
              <a:t>P(B) = Σ</a:t>
            </a:r>
            <a:r>
              <a:rPr lang="en-US" sz="1800" baseline="-25000"/>
              <a:t>a</a:t>
            </a:r>
            <a:r>
              <a:rPr lang="en-US" sz="1800"/>
              <a:t>P(B | a) P(a) (</a:t>
            </a:r>
            <a:r>
              <a:rPr lang="en-US" sz="1800" b="1">
                <a:solidFill>
                  <a:schemeClr val="accent2"/>
                </a:solidFill>
              </a:rPr>
              <a:t>conditioning</a:t>
            </a:r>
            <a:r>
              <a:rPr lang="en-US" sz="1800"/>
              <a:t>)</a:t>
            </a:r>
            <a:endParaRPr/>
          </a:p>
        </p:txBody>
      </p:sp>
      <p:sp>
        <p:nvSpPr>
          <p:cNvPr id="140" name="Google Shape;140;p9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2254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/>
              <a:t>P(burglary | alarm) = .47</a:t>
            </a:r>
            <a:br>
              <a:rPr lang="en-US" sz="2000"/>
            </a:br>
            <a:r>
              <a:rPr lang="en-US" sz="2000"/>
              <a:t>P(alarm | burglary) = .9</a:t>
            </a:r>
            <a:endParaRPr/>
          </a:p>
          <a:p>
            <a:pPr marL="225425" lvl="0" indent="-22542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/>
              <a:t>P(burglary | alarm) =</a:t>
            </a:r>
            <a:br>
              <a:rPr lang="en-US" sz="2000"/>
            </a:br>
            <a:r>
              <a:rPr lang="en-US" sz="2000"/>
              <a:t>  P(burglary </a:t>
            </a:r>
            <a:r>
              <a:rPr lang="en-US" sz="2000">
                <a:latin typeface="MS PGothic"/>
                <a:ea typeface="MS PGothic"/>
                <a:cs typeface="MS PGothic"/>
                <a:sym typeface="MS PGothic"/>
              </a:rPr>
              <a:t>∧</a:t>
            </a:r>
            <a:r>
              <a:rPr lang="en-US" sz="2000"/>
              <a:t> alarm) / P(alarm)</a:t>
            </a:r>
            <a:br>
              <a:rPr lang="en-US" sz="2000"/>
            </a:br>
            <a:r>
              <a:rPr lang="en-US" sz="2000"/>
              <a:t>  = .09 / .19 = .47</a:t>
            </a:r>
            <a:endParaRPr/>
          </a:p>
          <a:p>
            <a:pPr marL="225425" lvl="0" indent="-22542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/>
              <a:t>P(burglary </a:t>
            </a:r>
            <a:r>
              <a:rPr lang="en-US" sz="2000">
                <a:latin typeface="MS PGothic"/>
                <a:ea typeface="MS PGothic"/>
                <a:cs typeface="MS PGothic"/>
                <a:sym typeface="MS PGothic"/>
              </a:rPr>
              <a:t>∧</a:t>
            </a:r>
            <a:r>
              <a:rPr lang="en-US" sz="2000"/>
              <a:t> alarm) = </a:t>
            </a:r>
            <a:br>
              <a:rPr lang="en-US" sz="2000"/>
            </a:br>
            <a:r>
              <a:rPr lang="en-US" sz="2000"/>
              <a:t>  P(burglary | alarm) P(alarm) =</a:t>
            </a:r>
            <a:br>
              <a:rPr lang="en-US" sz="2000"/>
            </a:br>
            <a:r>
              <a:rPr lang="en-US" sz="2000"/>
              <a:t>  .47 * .19 = .09</a:t>
            </a:r>
            <a:endParaRPr/>
          </a:p>
          <a:p>
            <a:pPr marL="225425" lvl="0" indent="-22542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/>
              <a:t>P(alarm) =</a:t>
            </a:r>
            <a:br>
              <a:rPr lang="en-US" sz="2000"/>
            </a:br>
            <a:r>
              <a:rPr lang="en-US" sz="2000"/>
              <a:t>   P(alarm </a:t>
            </a:r>
            <a:r>
              <a:rPr lang="en-US" sz="2000">
                <a:latin typeface="MS PGothic"/>
                <a:ea typeface="MS PGothic"/>
                <a:cs typeface="MS PGothic"/>
                <a:sym typeface="MS PGothic"/>
              </a:rPr>
              <a:t>∧</a:t>
            </a:r>
            <a:r>
              <a:rPr lang="en-US" sz="2000"/>
              <a:t> burglary) +</a:t>
            </a:r>
            <a:br>
              <a:rPr lang="en-US" sz="2000"/>
            </a:br>
            <a:r>
              <a:rPr lang="en-US" sz="2000"/>
              <a:t>   P(alarm </a:t>
            </a:r>
            <a:r>
              <a:rPr lang="en-US" sz="2000">
                <a:latin typeface="MS PGothic"/>
                <a:ea typeface="MS PGothic"/>
                <a:cs typeface="MS PGothic"/>
                <a:sym typeface="MS PGothic"/>
              </a:rPr>
              <a:t>∧</a:t>
            </a:r>
            <a:r>
              <a:rPr lang="en-US" sz="2000"/>
              <a:t> ¬burglary) =</a:t>
            </a:r>
            <a:br>
              <a:rPr lang="en-US" sz="2000"/>
            </a:br>
            <a:r>
              <a:rPr lang="en-US" sz="2000"/>
              <a:t>   .09+.1 = .19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0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47" name="Google Shape;14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54" name="Google Shape;15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02125" y="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61" name="Google Shape;16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68" name="Google Shape;16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175" name="Google Shape;175;p14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176" name="Google Shape;176;p14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77" name="Google Shape;17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184" name="Google Shape;184;p15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185" name="Google Shape;185;p15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86" name="Google Shape;186;p15"/>
          <p:cNvPicPr preferRelativeResize="0"/>
          <p:nvPr/>
        </p:nvPicPr>
        <p:blipFill rotWithShape="1">
          <a:blip r:embed="rId3">
            <a:alphaModFix/>
          </a:blip>
          <a:srcRect r="29501" b="9375"/>
          <a:stretch/>
        </p:blipFill>
        <p:spPr>
          <a:xfrm>
            <a:off x="0" y="-76200"/>
            <a:ext cx="9172575" cy="66294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193" name="Google Shape;193;p16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194" name="Google Shape;194;p16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95" name="Google Shape;195;p16"/>
          <p:cNvPicPr preferRelativeResize="0"/>
          <p:nvPr/>
        </p:nvPicPr>
        <p:blipFill rotWithShape="1">
          <a:blip r:embed="rId3">
            <a:alphaModFix/>
          </a:blip>
          <a:srcRect t="8334" r="14274" b="17707"/>
          <a:stretch/>
        </p:blipFill>
        <p:spPr>
          <a:xfrm>
            <a:off x="112713" y="990600"/>
            <a:ext cx="8766175" cy="4252913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202" name="Google Shape;202;p17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04" name="Google Shape;204;p17"/>
          <p:cNvPicPr preferRelativeResize="0"/>
          <p:nvPr/>
        </p:nvPicPr>
        <p:blipFill rotWithShape="1">
          <a:blip r:embed="rId3">
            <a:alphaModFix/>
          </a:blip>
          <a:srcRect l="19547" t="18749" r="18374" b="8333"/>
          <a:stretch/>
        </p:blipFill>
        <p:spPr>
          <a:xfrm>
            <a:off x="168275" y="384175"/>
            <a:ext cx="865505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13" name="Google Shape;21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220" name="Google Shape;220;p19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221" name="Google Shape;221;p19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222" name="Google Shape;22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0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229" name="Google Shape;229;p20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230" name="Google Shape;230;p20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231" name="Google Shape;23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238" name="Google Shape;238;p21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239" name="Google Shape;239;p21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240" name="Google Shape;24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2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247" name="Google Shape;247;p22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248" name="Google Shape;248;p22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249" name="Google Shape;24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3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256" name="Google Shape;256;p23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257" name="Google Shape;257;p23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258" name="Google Shape;258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4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265" name="Google Shape;265;p24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47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/>
          </a:p>
        </p:txBody>
      </p:sp>
      <p:sp>
        <p:nvSpPr>
          <p:cNvPr id="266" name="Google Shape;266;p24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267" name="Google Shape;26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73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/>
          </a:p>
        </p:txBody>
      </p:sp>
      <p:sp>
        <p:nvSpPr>
          <p:cNvPr id="274" name="Google Shape;274;p25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25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5" name="Google Shape;27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26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6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Conditional Independence</a:t>
            </a:r>
            <a:endParaRPr/>
          </a:p>
        </p:txBody>
      </p:sp>
      <p:sp>
        <p:nvSpPr>
          <p:cNvPr id="283" name="Google Shape;283;p26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2254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/>
              <a:t>Absolute independence:</a:t>
            </a:r>
            <a:endParaRPr/>
          </a:p>
          <a:p>
            <a:pPr marL="566738" lvl="1" indent="-22701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lang="en-US"/>
              <a:t>A and B are </a:t>
            </a:r>
            <a:r>
              <a:rPr lang="en-US" b="1">
                <a:solidFill>
                  <a:schemeClr val="accent2"/>
                </a:solidFill>
              </a:rPr>
              <a:t>independent</a:t>
            </a:r>
            <a:r>
              <a:rPr lang="en-US"/>
              <a:t> if P(A ∧ B) = P(A) P(B); equivalently, P(A) = P(A | B) and P(B)  = P(B | A)</a:t>
            </a:r>
            <a:endParaRPr/>
          </a:p>
          <a:p>
            <a:pPr marL="225425" lvl="0" indent="-2254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/>
              <a:t>A and B are </a:t>
            </a:r>
            <a:r>
              <a:rPr lang="en-US" b="1">
                <a:solidFill>
                  <a:schemeClr val="accent2"/>
                </a:solidFill>
              </a:rPr>
              <a:t>conditionally independent</a:t>
            </a:r>
            <a:r>
              <a:rPr lang="en-US"/>
              <a:t> given C if</a:t>
            </a:r>
            <a:endParaRPr/>
          </a:p>
          <a:p>
            <a:pPr marL="566738" lvl="1" indent="-22701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lang="en-US"/>
              <a:t>P(A ∧ B | C) = P(A | C) P(B | C)</a:t>
            </a:r>
            <a:endParaRPr/>
          </a:p>
          <a:p>
            <a:pPr marL="225425" lvl="0" indent="-2254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/>
              <a:t>This lets us decompose the joint distribution:</a:t>
            </a:r>
            <a:endParaRPr/>
          </a:p>
          <a:p>
            <a:pPr marL="566738" lvl="1" indent="-22701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lang="en-US"/>
              <a:t>P(A ∧ B ∧ C) = P(A | C) P(B | C) P(C)</a:t>
            </a:r>
            <a:endParaRPr/>
          </a:p>
          <a:p>
            <a:pPr marL="225425" lvl="0" indent="-2254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/>
              <a:t>Moon-Phase and Burglary are </a:t>
            </a:r>
            <a:r>
              <a:rPr lang="en-US" b="1" i="1">
                <a:solidFill>
                  <a:schemeClr val="accent2"/>
                </a:solidFill>
              </a:rPr>
              <a:t>conditionally independent given</a:t>
            </a:r>
            <a:r>
              <a:rPr lang="en-US"/>
              <a:t> Light-Level</a:t>
            </a:r>
            <a:endParaRPr/>
          </a:p>
          <a:p>
            <a:pPr marL="225425" lvl="0" indent="-2254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/>
              <a:t>Conditional independence is weaker than absolute independence, but still useful in decomposing the full joint probability distribution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27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0" name="Google Shape;29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8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28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7" name="Google Shape;29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9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9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73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/>
          </a:p>
        </p:txBody>
      </p:sp>
      <p:sp>
        <p:nvSpPr>
          <p:cNvPr id="304" name="Google Shape;304;p29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29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5" name="Google Shape;30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0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73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/>
          </a:p>
        </p:txBody>
      </p:sp>
      <p:sp>
        <p:nvSpPr>
          <p:cNvPr id="312" name="Google Shape;312;p30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30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3" name="Google Shape;31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1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73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/>
          </a:p>
        </p:txBody>
      </p:sp>
      <p:sp>
        <p:nvSpPr>
          <p:cNvPr id="320" name="Google Shape;320;p31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31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1" name="Google Shape;321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2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2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73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/>
          </a:p>
        </p:txBody>
      </p:sp>
      <p:sp>
        <p:nvSpPr>
          <p:cNvPr id="328" name="Google Shape;328;p32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32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9" name="Google Shape;32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3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3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73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/>
          </a:p>
        </p:txBody>
      </p:sp>
      <p:sp>
        <p:nvSpPr>
          <p:cNvPr id="336" name="Google Shape;336;p33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33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7" name="Google Shape;33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730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/>
          </a:p>
        </p:txBody>
      </p:sp>
      <p:sp>
        <p:nvSpPr>
          <p:cNvPr id="344" name="Google Shape;344;p34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34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5" name="Google Shape;34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33575" y="-228600"/>
            <a:ext cx="1301115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35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p35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Inference from the Joint</a:t>
            </a:r>
            <a:endParaRPr/>
          </a:p>
        </p:txBody>
      </p:sp>
      <p:sp>
        <p:nvSpPr>
          <p:cNvPr id="353" name="Google Shape;353;p35"/>
          <p:cNvSpPr txBox="1">
            <a:spLocks noGrp="1"/>
          </p:cNvSpPr>
          <p:nvPr>
            <p:ph type="body" idx="1"/>
          </p:nvPr>
        </p:nvSpPr>
        <p:spPr>
          <a:xfrm>
            <a:off x="685800" y="3962400"/>
            <a:ext cx="77724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lvl="0" indent="-2254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b="1"/>
              <a:t>Queries:</a:t>
            </a:r>
            <a:endParaRPr/>
          </a:p>
          <a:p>
            <a:pPr marL="566738" lvl="1" indent="-22701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 b="1"/>
              <a:t>What is the prior probability of </a:t>
            </a:r>
            <a:r>
              <a:rPr lang="en-US" sz="2400" b="1" i="1"/>
              <a:t>smart</a:t>
            </a:r>
            <a:r>
              <a:rPr lang="en-US" sz="2400" b="1"/>
              <a:t>?</a:t>
            </a:r>
            <a:endParaRPr/>
          </a:p>
          <a:p>
            <a:pPr marL="566738" lvl="1" indent="-22701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 b="1"/>
              <a:t>What is the prior probability of </a:t>
            </a:r>
            <a:r>
              <a:rPr lang="en-US" sz="2400" b="1" i="1"/>
              <a:t>study</a:t>
            </a:r>
            <a:r>
              <a:rPr lang="en-US" sz="2400" b="1"/>
              <a:t>?</a:t>
            </a:r>
            <a:endParaRPr/>
          </a:p>
          <a:p>
            <a:pPr marL="566738" lvl="1" indent="-22701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 b="1"/>
              <a:t>What is the conditional probability of </a:t>
            </a:r>
            <a:r>
              <a:rPr lang="en-US" sz="2400" b="1" i="1"/>
              <a:t>prepared</a:t>
            </a:r>
            <a:r>
              <a:rPr lang="en-US" sz="2400" b="1"/>
              <a:t>, given </a:t>
            </a:r>
            <a:r>
              <a:rPr lang="en-US" sz="2400" b="1" i="1"/>
              <a:t>study</a:t>
            </a:r>
            <a:r>
              <a:rPr lang="en-US" sz="2400" b="1"/>
              <a:t> and </a:t>
            </a:r>
            <a:r>
              <a:rPr lang="en-US" sz="2400" b="1" i="1"/>
              <a:t>smart</a:t>
            </a:r>
            <a:r>
              <a:rPr lang="en-US" sz="2400" b="1"/>
              <a:t>?</a:t>
            </a:r>
            <a:endParaRPr/>
          </a:p>
          <a:p>
            <a:pPr marL="225425" lvl="0" indent="-225425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1"/>
              <a:t>Save these answers for later! ☺ </a:t>
            </a:r>
            <a:endParaRPr sz="2800" b="1"/>
          </a:p>
        </p:txBody>
      </p:sp>
      <p:graphicFrame>
        <p:nvGraphicFramePr>
          <p:cNvPr id="354" name="Google Shape;354;p35"/>
          <p:cNvGraphicFramePr/>
          <p:nvPr/>
        </p:nvGraphicFramePr>
        <p:xfrm>
          <a:off x="16764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{97C63656-7E65-4348-B9EE-2416DE781A1D}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p(smart ∧</a:t>
                      </a:r>
                      <a:b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study ∧ prep)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smart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¬smart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study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¬study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study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¬study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prepared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.432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.16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.084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.008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¬prepared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.048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.16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.036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.072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36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36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Independence</a:t>
            </a:r>
            <a:endParaRPr/>
          </a:p>
        </p:txBody>
      </p:sp>
      <p:sp>
        <p:nvSpPr>
          <p:cNvPr id="362" name="Google Shape;362;p36"/>
          <p:cNvSpPr/>
          <p:nvPr/>
        </p:nvSpPr>
        <p:spPr>
          <a:xfrm>
            <a:off x="685800" y="3962400"/>
            <a:ext cx="77724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marR="0" lvl="0" indent="-2254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Queries:</a:t>
            </a:r>
            <a:endParaRPr/>
          </a:p>
          <a:p>
            <a:pPr marL="566738" marR="0" lvl="1" indent="-22701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independent of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  <a:p>
            <a:pPr marL="566738" marR="0" lvl="1" indent="-22701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independent of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 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63" name="Google Shape;363;p36"/>
          <p:cNvGraphicFramePr/>
          <p:nvPr/>
        </p:nvGraphicFramePr>
        <p:xfrm>
          <a:off x="16764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{97C63656-7E65-4348-B9EE-2416DE781A1D}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p(smart ∧</a:t>
                      </a:r>
                      <a:b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study ∧ prep)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smart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¬smart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study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¬study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study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¬study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prepared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.432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.16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.084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.008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¬prepared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.048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.16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.036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.072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7"/>
          <p:cNvSpPr txBox="1">
            <a:spLocks noGrp="1"/>
          </p:cNvSpPr>
          <p:nvPr>
            <p:ph type="sldNum" idx="12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37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37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Exercise: Conditional Independence</a:t>
            </a:r>
            <a:endParaRPr/>
          </a:p>
        </p:txBody>
      </p:sp>
      <p:sp>
        <p:nvSpPr>
          <p:cNvPr id="371" name="Google Shape;371;p37"/>
          <p:cNvSpPr/>
          <p:nvPr/>
        </p:nvSpPr>
        <p:spPr>
          <a:xfrm>
            <a:off x="685800" y="3962400"/>
            <a:ext cx="77724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5425" marR="0" lvl="0" indent="-2254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Queries:</a:t>
            </a:r>
            <a:endParaRPr/>
          </a:p>
          <a:p>
            <a:pPr marL="566738" marR="0" lvl="1" indent="-22701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conditionally independent of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given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  <a:p>
            <a:pPr marL="566738" marR="0" lvl="1" indent="-22701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conditionally independent of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given </a:t>
            </a:r>
            <a:r>
              <a:rPr lang="en-US" sz="2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</p:txBody>
      </p:sp>
      <p:graphicFrame>
        <p:nvGraphicFramePr>
          <p:cNvPr id="372" name="Google Shape;372;p37"/>
          <p:cNvGraphicFramePr/>
          <p:nvPr/>
        </p:nvGraphicFramePr>
        <p:xfrm>
          <a:off x="16764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{97C63656-7E65-4348-B9EE-2416DE781A1D}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p(smart ∧</a:t>
                      </a:r>
                      <a:b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study ∧ prep)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smart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¬smart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 vMerge="1">
                  <a:txBody>
                    <a:bodyPr/>
                    <a:lstStyle/>
                    <a:p>
                      <a:endParaRPr lang="en-B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study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¬study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study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¬study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prepared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.432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.16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.084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.008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¬prepared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.048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.16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.036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.072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21_bayes_nets">
  <a:themeElements>
    <a:clrScheme name="c21_bayes_n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898</Words>
  <Application>Microsoft Macintosh PowerPoint</Application>
  <PresentationFormat>On-screen Show (4:3)</PresentationFormat>
  <Paragraphs>187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MS PGothic</vt:lpstr>
      <vt:lpstr>Arial</vt:lpstr>
      <vt:lpstr>Times New Roman</vt:lpstr>
      <vt:lpstr>c21_bayes_nets</vt:lpstr>
      <vt:lpstr>Probability Theory for Inference</vt:lpstr>
      <vt:lpstr> </vt:lpstr>
      <vt:lpstr>PowerPoint Presentation</vt:lpstr>
      <vt:lpstr>PowerPoint Presentation</vt:lpstr>
      <vt:lpstr>Probability Theory</vt:lpstr>
      <vt:lpstr>Probability Theory: Definitions</vt:lpstr>
      <vt:lpstr>PowerPoint Presentation</vt:lpstr>
      <vt:lpstr>Try It...</vt:lpstr>
      <vt:lpstr>Probability Theory (cont.)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Conditional Independence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Exercise: Inference from the Joint</vt:lpstr>
      <vt:lpstr>Exercise: Independence</vt:lpstr>
      <vt:lpstr>Exercise: Conditional Independence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COGITO</dc:creator>
  <cp:lastModifiedBy>Mehedi Hasan</cp:lastModifiedBy>
  <cp:revision>1</cp:revision>
  <dcterms:created xsi:type="dcterms:W3CDTF">2014-02-27T15:28:17Z</dcterms:created>
  <dcterms:modified xsi:type="dcterms:W3CDTF">2026-05-17T18:25:25Z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2</vt:i4>
  </property>
  <property fmtid="{D5CDD505-2E9C-101B-9397-08002B2CF9AE}" pid="7" name="MailAddress">
    <vt:lpwstr>finin@umbc.edu</vt:lpwstr>
  </property>
  <property fmtid="{D5CDD505-2E9C-101B-9397-08002B2CF9AE}" pid="8" name="HomePage">
    <vt:lpwstr>http://umbc.edu/~finin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C:\Users\finin\teaching\AI\RN\</vt:lpwstr>
  </property>
  <property fmtid="{D5CDD505-2E9C-101B-9397-08002B2CF9AE}" pid="22" name="MSIP_Label_defa4170-0d19-0005-0004-bc88714345d2_Enabled">
    <vt:lpwstr>true</vt:lpwstr>
  </property>
  <property fmtid="{D5CDD505-2E9C-101B-9397-08002B2CF9AE}" pid="23" name="MSIP_Label_defa4170-0d19-0005-0004-bc88714345d2_SetDate">
    <vt:lpwstr>2026-05-17T18:25:25Z</vt:lpwstr>
  </property>
  <property fmtid="{D5CDD505-2E9C-101B-9397-08002B2CF9AE}" pid="24" name="MSIP_Label_defa4170-0d19-0005-0004-bc88714345d2_Method">
    <vt:lpwstr>Standard</vt:lpwstr>
  </property>
  <property fmtid="{D5CDD505-2E9C-101B-9397-08002B2CF9AE}" pid="25" name="MSIP_Label_defa4170-0d19-0005-0004-bc88714345d2_Name">
    <vt:lpwstr>defa4170-0d19-0005-0004-bc88714345d2</vt:lpwstr>
  </property>
  <property fmtid="{D5CDD505-2E9C-101B-9397-08002B2CF9AE}" pid="26" name="MSIP_Label_defa4170-0d19-0005-0004-bc88714345d2_SiteId">
    <vt:lpwstr>bc1e5976-f887-41cf-87d7-138b8da14090</vt:lpwstr>
  </property>
  <property fmtid="{D5CDD505-2E9C-101B-9397-08002B2CF9AE}" pid="27" name="MSIP_Label_defa4170-0d19-0005-0004-bc88714345d2_ActionId">
    <vt:lpwstr>bb287d80-c8a9-4afa-b7d0-3018c170b235</vt:lpwstr>
  </property>
  <property fmtid="{D5CDD505-2E9C-101B-9397-08002B2CF9AE}" pid="28" name="MSIP_Label_defa4170-0d19-0005-0004-bc88714345d2_ContentBits">
    <vt:lpwstr>0</vt:lpwstr>
  </property>
  <property fmtid="{D5CDD505-2E9C-101B-9397-08002B2CF9AE}" pid="29" name="MSIP_Label_defa4170-0d19-0005-0004-bc88714345d2_Tag">
    <vt:lpwstr>50, 3, 0, 1</vt:lpwstr>
  </property>
</Properties>
</file>