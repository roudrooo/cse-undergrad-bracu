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Libre Franklin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nHOmNRnhlM3TrROdeHvCWx3d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ibreFranklin-regular.fntdata"/><Relationship Id="rId25" Type="http://schemas.openxmlformats.org/officeDocument/2006/relationships/slide" Target="slides/slide20.xml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/>
          <p:nvPr>
            <p:ph idx="2" type="sldImg"/>
          </p:nvPr>
        </p:nvSpPr>
        <p:spPr>
          <a:xfrm>
            <a:off x="458788" y="720725"/>
            <a:ext cx="63993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731838" y="4560888"/>
            <a:ext cx="5851500" cy="43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2" name="Google Shape;2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/>
          <p:nvPr>
            <p:ph idx="2" type="sldImg"/>
          </p:nvPr>
        </p:nvSpPr>
        <p:spPr>
          <a:xfrm>
            <a:off x="458788" y="720725"/>
            <a:ext cx="6399212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8929ff03b0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8929ff03b0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2bc655d57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2bc655d575_1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2bc655d575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2bc655d575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2bc655d575_1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2bc655d57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2bc655d575_1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bc655d57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2bc655d575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2bc655d575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2bc655d575_1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3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3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3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3" name="Google Shape;23;p23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3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3"/>
          <p:cNvSpPr txBox="1"/>
          <p:nvPr>
            <p:ph type="ctrTitle"/>
          </p:nvPr>
        </p:nvSpPr>
        <p:spPr>
          <a:xfrm>
            <a:off x="1051560" y="1432223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ockwell"/>
              <a:buNone/>
              <a:defRPr sz="9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subTitle"/>
          </p:nvPr>
        </p:nvSpPr>
        <p:spPr>
          <a:xfrm>
            <a:off x="1069848" y="4389120"/>
            <a:ext cx="7891272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7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7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7" name="Google Shape;27;p2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9592733" y="4289334"/>
            <a:ext cx="119386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7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7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7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8593667" y="6272784"/>
            <a:ext cx="2644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2182708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" name="Google Shape;48;p3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49" name="Google Shape;49;p37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7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37"/>
          <p:cNvSpPr txBox="1"/>
          <p:nvPr>
            <p:ph idx="12" type="sldNum"/>
          </p:nvPr>
        </p:nvSpPr>
        <p:spPr>
          <a:xfrm>
            <a:off x="843702" y="2506133"/>
            <a:ext cx="1188298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8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" type="body"/>
          </p:nvPr>
        </p:nvSpPr>
        <p:spPr>
          <a:xfrm>
            <a:off x="1069848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8" name="Google Shape;58;p38"/>
          <p:cNvSpPr txBox="1"/>
          <p:nvPr>
            <p:ph idx="2" type="body"/>
          </p:nvPr>
        </p:nvSpPr>
        <p:spPr>
          <a:xfrm>
            <a:off x="6364224" y="2194560"/>
            <a:ext cx="475488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59" name="Google Shape;59;p38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body"/>
          </p:nvPr>
        </p:nvSpPr>
        <p:spPr>
          <a:xfrm>
            <a:off x="1066800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68" name="Google Shape;68;p39"/>
          <p:cNvSpPr txBox="1"/>
          <p:nvPr>
            <p:ph idx="2" type="body"/>
          </p:nvPr>
        </p:nvSpPr>
        <p:spPr>
          <a:xfrm>
            <a:off x="1069848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9" name="Google Shape;69;p39"/>
          <p:cNvSpPr txBox="1"/>
          <p:nvPr>
            <p:ph idx="3" type="body"/>
          </p:nvPr>
        </p:nvSpPr>
        <p:spPr>
          <a:xfrm>
            <a:off x="6364224" y="2048256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70" name="Google Shape;70;p39"/>
          <p:cNvSpPr txBox="1"/>
          <p:nvPr>
            <p:ph idx="4" type="body"/>
          </p:nvPr>
        </p:nvSpPr>
        <p:spPr>
          <a:xfrm>
            <a:off x="6364224" y="274320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71" name="Google Shape;71;p39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1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2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2"/>
          <p:cNvSpPr txBox="1"/>
          <p:nvPr>
            <p:ph idx="1" type="body"/>
          </p:nvPr>
        </p:nvSpPr>
        <p:spPr>
          <a:xfrm>
            <a:off x="838200" y="685800"/>
            <a:ext cx="6711696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96" name="Google Shape;96;p42"/>
          <p:cNvSpPr txBox="1"/>
          <p:nvPr>
            <p:ph idx="2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97" name="Google Shape;97;p4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4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0" name="Google Shape;100;p4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4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3" name="Google Shape;10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3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3"/>
          <p:cNvSpPr txBox="1"/>
          <p:nvPr>
            <p:ph type="title"/>
          </p:nvPr>
        </p:nvSpPr>
        <p:spPr>
          <a:xfrm>
            <a:off x="8549640" y="68580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Rockwel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3"/>
          <p:cNvSpPr/>
          <p:nvPr>
            <p:ph idx="2" type="pic"/>
          </p:nvPr>
        </p:nvSpPr>
        <p:spPr>
          <a:xfrm>
            <a:off x="0" y="0"/>
            <a:ext cx="8303740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110" name="Google Shape;110;p43"/>
          <p:cNvSpPr txBox="1"/>
          <p:nvPr>
            <p:ph idx="1" type="body"/>
          </p:nvPr>
        </p:nvSpPr>
        <p:spPr>
          <a:xfrm>
            <a:off x="8549640" y="2423160"/>
            <a:ext cx="32004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sp>
        <p:nvSpPr>
          <p:cNvPr id="111" name="Google Shape;111;p43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2" name="Google Shape;112;p43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3" name="Google Shape;113;p4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3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3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6" name="Google Shape;11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4"/>
          <p:cNvSpPr txBox="1"/>
          <p:nvPr>
            <p:ph idx="1" type="body"/>
          </p:nvPr>
        </p:nvSpPr>
        <p:spPr>
          <a:xfrm rot="5400000">
            <a:off x="4073652" y="-882396"/>
            <a:ext cx="4050792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4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5"/>
          <p:cNvSpPr txBox="1"/>
          <p:nvPr>
            <p:ph type="title"/>
          </p:nvPr>
        </p:nvSpPr>
        <p:spPr>
          <a:xfrm rot="5400000">
            <a:off x="7181850" y="2076450"/>
            <a:ext cx="5638800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1" type="body"/>
          </p:nvPr>
        </p:nvSpPr>
        <p:spPr>
          <a:xfrm rot="5400000">
            <a:off x="2000250" y="-400050"/>
            <a:ext cx="56388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5" name="Google Shape;1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3" name="Google Shape;183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5" name="Google Shape;185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0" name="Google Shape;210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1" name="Google Shape;21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4" name="Google Shape;224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  <a:defRPr b="0" i="0" sz="54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14" name="Google Shape;14;p22"/>
          <p:cNvGrpSpPr/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5" name="Google Shape;15;p2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2"/>
          <p:cNvSpPr txBox="1"/>
          <p:nvPr>
            <p:ph idx="12" type="sldNum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Relationship Id="rId5" Type="http://schemas.openxmlformats.org/officeDocument/2006/relationships/image" Target="../media/image3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g"/><Relationship Id="rId4" Type="http://schemas.openxmlformats.org/officeDocument/2006/relationships/image" Target="../media/image14.jpg"/><Relationship Id="rId5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"/>
          <p:cNvSpPr txBox="1"/>
          <p:nvPr>
            <p:ph type="ctrTitle"/>
          </p:nvPr>
        </p:nvSpPr>
        <p:spPr>
          <a:xfrm>
            <a:off x="895600" y="1427175"/>
            <a:ext cx="9613800" cy="22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ibre Franklin Thin"/>
              <a:buNone/>
            </a:pPr>
            <a:r>
              <a:rPr b="1" lang="en-US" sz="6000">
                <a:latin typeface="Libre Franklin"/>
                <a:ea typeface="Libre Franklin"/>
                <a:cs typeface="Libre Franklin"/>
                <a:sym typeface="Libre Franklin"/>
              </a:rPr>
              <a:t>INTRODUCTION TO COMPUTER GRAPHICS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56" name="Google Shape;256;p2"/>
          <p:cNvSpPr txBox="1"/>
          <p:nvPr>
            <p:ph idx="1" type="body"/>
          </p:nvPr>
        </p:nvSpPr>
        <p:spPr>
          <a:xfrm>
            <a:off x="838200" y="1749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Computer graphics generally means creation, storage and manipulation of models and images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Such models come from diverse and expanding set of fields including physical, biological, mathematical, artistic, and conceptual/abstract structures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7" name="Google Shape;257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"/>
          <p:cNvSpPr txBox="1"/>
          <p:nvPr/>
        </p:nvSpPr>
        <p:spPr>
          <a:xfrm>
            <a:off x="2154438" y="5099937"/>
            <a:ext cx="62619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from animation by William Latham, shown at </a:t>
            </a:r>
            <a:r>
              <a:rPr b="1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SIGGRAPH 1992</a:t>
            </a:r>
            <a:r>
              <a:rPr b="0" i="0" lang="en-US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Latham creates his artwork using rules that govern patterns of natural forms.</a:t>
            </a:r>
            <a:endParaRPr/>
          </a:p>
        </p:txBody>
      </p:sp>
      <p:pic>
        <p:nvPicPr>
          <p:cNvPr descr="Lathan" id="259" name="Google Shape;25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6340" y="3679115"/>
            <a:ext cx="3080919" cy="256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tter_boeing" id="265" name="Google Shape;2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1563654"/>
            <a:ext cx="2961641" cy="242587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Computer Graphics?</a:t>
            </a:r>
            <a:endParaRPr/>
          </a:p>
        </p:txBody>
      </p:sp>
      <p:sp>
        <p:nvSpPr>
          <p:cNvPr id="267" name="Google Shape;267;p3"/>
          <p:cNvSpPr txBox="1"/>
          <p:nvPr>
            <p:ph idx="1" type="body"/>
          </p:nvPr>
        </p:nvSpPr>
        <p:spPr>
          <a:xfrm>
            <a:off x="838200" y="1825625"/>
            <a:ext cx="859028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William Fetter coined term “computer graphics” in 1960 to describe new design methods he was pursuing at Boeing for cockpit ergonomics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Created a series of widely reproduced images on “pen plotter” exploring cockpit design, using 3D model of human body.  </a:t>
            </a:r>
            <a:endParaRPr/>
          </a:p>
        </p:txBody>
      </p:sp>
      <p:sp>
        <p:nvSpPr>
          <p:cNvPr id="268" name="Google Shape;26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"/>
          <p:cNvSpPr txBox="1"/>
          <p:nvPr/>
        </p:nvSpPr>
        <p:spPr>
          <a:xfrm>
            <a:off x="1118501" y="3842170"/>
            <a:ext cx="830997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Perhaps the best way to define computer graphics is to find out what it is not. It is not a machine. It is not a computer, nor a group of computer programs. It is not the know-how of a graphic designer, a programmer, a writer, a motion picture specialist, or a reproduction specialist.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 is all these – a consciously managed and documented technology directed toward </a:t>
            </a:r>
            <a:r>
              <a:rPr b="0" i="1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communicating information 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accurately and descriptively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by William A. Fetter, 1966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/>
          <p:nvPr>
            <p:ph type="ctrTitle"/>
          </p:nvPr>
        </p:nvSpPr>
        <p:spPr>
          <a:xfrm>
            <a:off x="1524000" y="508466"/>
            <a:ext cx="9144000" cy="102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663C4E"/>
              </a:buClr>
              <a:buSzPts val="4400"/>
              <a:buFont typeface="Century Schoolbook"/>
              <a:buNone/>
            </a:pPr>
            <a:r>
              <a:rPr lang="en-US" sz="4400"/>
              <a:t>Differences</a:t>
            </a:r>
            <a:endParaRPr sz="4400"/>
          </a:p>
        </p:txBody>
      </p:sp>
      <p:grpSp>
        <p:nvGrpSpPr>
          <p:cNvPr id="275" name="Google Shape;275;p4"/>
          <p:cNvGrpSpPr/>
          <p:nvPr/>
        </p:nvGrpSpPr>
        <p:grpSpPr>
          <a:xfrm>
            <a:off x="1924878" y="1712842"/>
            <a:ext cx="8179904" cy="4280453"/>
            <a:chOff x="1646154" y="0"/>
            <a:chExt cx="5478629" cy="3651250"/>
          </a:xfrm>
        </p:grpSpPr>
        <p:sp>
          <p:nvSpPr>
            <p:cNvPr id="276" name="Google Shape;276;p4"/>
            <p:cNvSpPr/>
            <p:nvPr/>
          </p:nvSpPr>
          <p:spPr>
            <a:xfrm>
              <a:off x="1646154" y="0"/>
              <a:ext cx="1825625" cy="182562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7" name="Google Shape;277;p4"/>
            <p:cNvCxnSpPr/>
            <p:nvPr/>
          </p:nvCxnSpPr>
          <p:spPr>
            <a:xfrm>
              <a:off x="1646154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8" name="Google Shape;278;p4"/>
            <p:cNvSpPr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4"/>
            <p:cNvSpPr txBox="1"/>
            <p:nvPr/>
          </p:nvSpPr>
          <p:spPr>
            <a:xfrm>
              <a:off x="1646154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vision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Extracting information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from the contents of an input image or video frame.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Face Recognition, Autonomous Driving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3472656" y="0"/>
              <a:ext cx="1825625" cy="182562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1" name="Google Shape;281;p4"/>
            <p:cNvCxnSpPr/>
            <p:nvPr/>
          </p:nvCxnSpPr>
          <p:spPr>
            <a:xfrm>
              <a:off x="3472656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2" name="Google Shape;282;p4"/>
            <p:cNvSpPr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4"/>
            <p:cNvSpPr txBox="1"/>
            <p:nvPr/>
          </p:nvSpPr>
          <p:spPr>
            <a:xfrm>
              <a:off x="3472656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Computer graphics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Creating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 image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from scratch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computer.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Animated Movies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5299158" y="0"/>
              <a:ext cx="1825625" cy="182562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rgbClr val="7847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5" name="Google Shape;285;p4"/>
            <p:cNvCxnSpPr/>
            <p:nvPr/>
          </p:nvCxnSpPr>
          <p:spPr>
            <a:xfrm>
              <a:off x="5299158" y="0"/>
              <a:ext cx="182" cy="3651250"/>
            </a:xfrm>
            <a:prstGeom prst="straightConnector1">
              <a:avLst/>
            </a:prstGeom>
            <a:noFill/>
            <a:ln cap="flat" cmpd="sng" w="12700">
              <a:solidFill>
                <a:srgbClr val="5F384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" name="Google Shape;286;p4"/>
            <p:cNvSpPr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4"/>
            <p:cNvSpPr txBox="1"/>
            <p:nvPr/>
          </p:nvSpPr>
          <p:spPr>
            <a:xfrm>
              <a:off x="5299158" y="1825625"/>
              <a:ext cx="1825625" cy="1825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57150" spcFirstLastPara="1" rIns="57150" wrap="square" tIns="5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Digital image processing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Processing raw input </a:t>
              </a:r>
              <a:r>
                <a:rPr b="1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images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perform different operations.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Ex: Apply Filter on an Image, Noise Reduction, Compression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8" name="Google Shape;288;p4"/>
          <p:cNvCxnSpPr/>
          <p:nvPr/>
        </p:nvCxnSpPr>
        <p:spPr>
          <a:xfrm>
            <a:off x="1924878" y="5993295"/>
            <a:ext cx="817990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9" name="Google Shape;289;p4"/>
          <p:cNvCxnSpPr/>
          <p:nvPr/>
        </p:nvCxnSpPr>
        <p:spPr>
          <a:xfrm>
            <a:off x="10104782" y="3853070"/>
            <a:ext cx="0" cy="21402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0" name="Google Shape;290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Applications of CG</a:t>
            </a:r>
            <a:endParaRPr/>
          </a:p>
        </p:txBody>
      </p:sp>
      <p:sp>
        <p:nvSpPr>
          <p:cNvPr id="296" name="Google Shape;296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Entertainment &amp; Gaming: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Visual Effects, Animation, Video Games, VR/AR Experiences.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Design &amp; Engineering: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CAD Modeling, Architectural Visualization, Product prototyping.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Education &amp; Training: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Virtual Labs, Interactive simulations, VR-based Learning.</a:t>
            </a:r>
            <a:endParaRPr i="1"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Medical &amp; Scientific Visualization: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MRI/CT Imaging, Surgery Simulation, Data and Astrophysical Visualization.</a:t>
            </a:r>
            <a:endParaRPr i="1" sz="20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2000"/>
              <a:t>User Interfaces &amp; Marketing:</a:t>
            </a:r>
            <a:br>
              <a:rPr b="1" lang="en-US" sz="2000"/>
            </a:br>
            <a:r>
              <a:rPr lang="en-US" sz="2000"/>
              <a:t> </a:t>
            </a:r>
            <a:r>
              <a:rPr i="1" lang="en-US" sz="2000"/>
              <a:t>GUIs, Graphic Design, 3D Product Visualization, Digital Ads.</a:t>
            </a:r>
            <a:br>
              <a:rPr i="1" lang="en-US" sz="1800"/>
            </a:b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297" name="Google Shape;29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Input Methods in Computer Graphics</a:t>
            </a:r>
            <a:endParaRPr/>
          </a:p>
        </p:txBody>
      </p:sp>
      <p:sp>
        <p:nvSpPr>
          <p:cNvPr id="303" name="Google Shape;30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Keyboard and Mouse</a:t>
            </a:r>
            <a:r>
              <a:rPr lang="en-US" sz="2000"/>
              <a:t>: Traditional devices for controlling software, navigation, and object manipulation.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Graphics Tablets</a:t>
            </a:r>
            <a:r>
              <a:rPr lang="en-US" sz="2000"/>
              <a:t>: Used for digital drawing and illustration.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Touchscreens</a:t>
            </a:r>
            <a:r>
              <a:rPr lang="en-US" sz="2000"/>
              <a:t>: For direct interaction with graphical elements.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3D Scanners</a:t>
            </a:r>
            <a:r>
              <a:rPr lang="en-US" sz="2000"/>
              <a:t>: Capture the 3D structure of objects to create digital models.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/>
              <a:t>Body as Interaction Device</a:t>
            </a:r>
            <a:r>
              <a:rPr lang="en-US" sz="2000"/>
              <a:t>: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04" name="Google Shape;30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5" name="Google Shape;305;p7"/>
          <p:cNvGrpSpPr/>
          <p:nvPr/>
        </p:nvGrpSpPr>
        <p:grpSpPr>
          <a:xfrm>
            <a:off x="2162829" y="4526115"/>
            <a:ext cx="2669151" cy="1842631"/>
            <a:chOff x="629919" y="2929354"/>
            <a:chExt cx="2562481" cy="1717352"/>
          </a:xfrm>
        </p:grpSpPr>
        <p:pic>
          <p:nvPicPr>
            <p:cNvPr id="306" name="Google Shape;306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9919" y="2929354"/>
              <a:ext cx="2562481" cy="14394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7"/>
            <p:cNvSpPr txBox="1"/>
            <p:nvPr/>
          </p:nvSpPr>
          <p:spPr>
            <a:xfrm>
              <a:off x="62991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Xbox Kinect</a:t>
              </a:r>
              <a:endPara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308" name="Google Shape;308;p7"/>
          <p:cNvGrpSpPr/>
          <p:nvPr/>
        </p:nvGrpSpPr>
        <p:grpSpPr>
          <a:xfrm>
            <a:off x="4903490" y="4533020"/>
            <a:ext cx="2727960" cy="1849536"/>
            <a:chOff x="3291839" y="2922904"/>
            <a:chExt cx="2580643" cy="1723802"/>
          </a:xfrm>
        </p:grpSpPr>
        <p:pic>
          <p:nvPicPr>
            <p:cNvPr id="309" name="Google Shape;30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02000" y="2922904"/>
              <a:ext cx="2570482" cy="14458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7"/>
            <p:cNvSpPr txBox="1"/>
            <p:nvPr/>
          </p:nvSpPr>
          <p:spPr>
            <a:xfrm>
              <a:off x="329183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Leap Motion</a:t>
              </a:r>
              <a:endParaRPr/>
            </a:p>
          </p:txBody>
        </p:sp>
      </p:grpSp>
      <p:grpSp>
        <p:nvGrpSpPr>
          <p:cNvPr id="311" name="Google Shape;311;p7"/>
          <p:cNvGrpSpPr/>
          <p:nvPr/>
        </p:nvGrpSpPr>
        <p:grpSpPr>
          <a:xfrm>
            <a:off x="7533440" y="4533020"/>
            <a:ext cx="2727960" cy="1842631"/>
            <a:chOff x="5892799" y="2922956"/>
            <a:chExt cx="2560321" cy="1723750"/>
          </a:xfrm>
        </p:grpSpPr>
        <p:pic>
          <p:nvPicPr>
            <p:cNvPr id="312" name="Google Shape;31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76772" y="2922956"/>
              <a:ext cx="2193467" cy="1452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7"/>
            <p:cNvSpPr txBox="1"/>
            <p:nvPr/>
          </p:nvSpPr>
          <p:spPr>
            <a:xfrm>
              <a:off x="5892799" y="4338929"/>
              <a:ext cx="25603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Nimble UX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Devices in Computer Graphics</a:t>
            </a:r>
            <a:br>
              <a:rPr lang="en-US"/>
            </a:br>
            <a:endParaRPr/>
          </a:p>
        </p:txBody>
      </p:sp>
      <p:sp>
        <p:nvSpPr>
          <p:cNvPr id="319" name="Google Shape;3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Monitors and Screens</a:t>
            </a:r>
            <a:r>
              <a:rPr lang="en-US" sz="2000"/>
              <a:t>: The most common output devices, used to display images and videos.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Printers</a:t>
            </a:r>
            <a:r>
              <a:rPr lang="en-US" sz="2000"/>
              <a:t>: For generating hard copies of graphics (2D or 3D).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Projectors</a:t>
            </a:r>
            <a:r>
              <a:rPr lang="en-US" sz="2000"/>
              <a:t>: Used in large-scale displays for presentations and entertainment.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VR/AR Headsets</a:t>
            </a:r>
            <a:r>
              <a:rPr lang="en-US" sz="2000"/>
              <a:t>: Immersive displays for virtual and augmented reality applications.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20" name="Google Shape;3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amsung Odyssey OLED G9 G93SC" id="321" name="Google Shape;3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876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Epson Expression Photo Printer Brings Professional-Quality Printing To  Busy Families | Epson US" id="322" name="Google Shape;3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60" y="4049959"/>
            <a:ext cx="3500120" cy="19688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s Virtual Reality Bad for Our Health? Studies Point to Physical and Mental  Impacts of VR Usage | Research Communities by Springer Nature" id="323" name="Google Shape;3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9791" y="4001293"/>
            <a:ext cx="2898333" cy="19292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Graphics Display Hardware</a:t>
            </a:r>
            <a:endParaRPr/>
          </a:p>
        </p:txBody>
      </p:sp>
      <p:sp>
        <p:nvSpPr>
          <p:cNvPr id="330" name="Google Shape;330;p9"/>
          <p:cNvSpPr txBox="1"/>
          <p:nvPr>
            <p:ph idx="1" type="body"/>
          </p:nvPr>
        </p:nvSpPr>
        <p:spPr>
          <a:xfrm>
            <a:off x="838200" y="2692399"/>
            <a:ext cx="5181600" cy="348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display commands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(move (x, y), char(“A”) , line(x, y)…)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Survives as “scalable vector graphics”</a:t>
            </a:r>
            <a:endParaRPr/>
          </a:p>
        </p:txBody>
      </p:sp>
      <p:sp>
        <p:nvSpPr>
          <p:cNvPr id="331" name="Google Shape;331;p9"/>
          <p:cNvSpPr txBox="1"/>
          <p:nvPr>
            <p:ph idx="2" type="body"/>
          </p:nvPr>
        </p:nvSpPr>
        <p:spPr>
          <a:xfrm>
            <a:off x="6172200" y="2692399"/>
            <a:ext cx="5181600" cy="3484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Driven by array of pixels (no semantics, lowest form of representation)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Note “jaggies” (aliasing errors) due to discrete sampling of continuous primitives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32" name="Google Shape;3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9"/>
          <p:cNvSpPr txBox="1"/>
          <p:nvPr>
            <p:ph idx="4294967295" type="body"/>
          </p:nvPr>
        </p:nvSpPr>
        <p:spPr>
          <a:xfrm>
            <a:off x="876652" y="1808161"/>
            <a:ext cx="4995827" cy="772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Vector Display</a:t>
            </a:r>
            <a:r>
              <a:rPr lang="en-US" sz="2400"/>
              <a:t> (calligraphic, stroke, random-scan)</a:t>
            </a:r>
            <a:endParaRPr/>
          </a:p>
        </p:txBody>
      </p:sp>
      <p:sp>
        <p:nvSpPr>
          <p:cNvPr id="334" name="Google Shape;334;p9"/>
          <p:cNvSpPr txBox="1"/>
          <p:nvPr>
            <p:ph idx="4294967295" type="body"/>
          </p:nvPr>
        </p:nvSpPr>
        <p:spPr>
          <a:xfrm>
            <a:off x="6172200" y="1808161"/>
            <a:ext cx="5565775" cy="763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Raster Display</a:t>
            </a:r>
            <a:r>
              <a:rPr lang="en-US" sz="2400"/>
              <a:t> (TV, bitmap, pixmap) used in displays and laser printers</a:t>
            </a:r>
            <a:endParaRPr/>
          </a:p>
        </p:txBody>
      </p:sp>
      <p:grpSp>
        <p:nvGrpSpPr>
          <p:cNvPr id="335" name="Google Shape;335;p9"/>
          <p:cNvGrpSpPr/>
          <p:nvPr/>
        </p:nvGrpSpPr>
        <p:grpSpPr>
          <a:xfrm>
            <a:off x="1307356" y="4014665"/>
            <a:ext cx="3989288" cy="2163365"/>
            <a:chOff x="298" y="1344"/>
            <a:chExt cx="2830" cy="1817"/>
          </a:xfrm>
        </p:grpSpPr>
        <p:pic>
          <p:nvPicPr>
            <p:cNvPr descr="022" id="336" name="Google Shape;33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6" y="1344"/>
              <a:ext cx="2792" cy="14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9"/>
            <p:cNvSpPr txBox="1"/>
            <p:nvPr/>
          </p:nvSpPr>
          <p:spPr>
            <a:xfrm>
              <a:off x="298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Ideal Drawing</a:t>
              </a:r>
              <a:endParaRPr/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1977" y="2601"/>
              <a:ext cx="987" cy="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67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Vector Drawing</a:t>
              </a:r>
              <a:endParaRPr/>
            </a:p>
          </p:txBody>
        </p:sp>
      </p:grpSp>
      <p:cxnSp>
        <p:nvCxnSpPr>
          <p:cNvPr id="339" name="Google Shape;339;p9"/>
          <p:cNvCxnSpPr/>
          <p:nvPr/>
        </p:nvCxnSpPr>
        <p:spPr>
          <a:xfrm rot="10800000">
            <a:off x="5907742" y="1895385"/>
            <a:ext cx="0" cy="4659291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40" name="Google Shape;340;p9"/>
          <p:cNvGrpSpPr/>
          <p:nvPr/>
        </p:nvGrpSpPr>
        <p:grpSpPr>
          <a:xfrm>
            <a:off x="7223760" y="4014665"/>
            <a:ext cx="3560233" cy="2181559"/>
            <a:chOff x="5276753" y="2719016"/>
            <a:chExt cx="2804145" cy="1636169"/>
          </a:xfrm>
        </p:grpSpPr>
        <p:grpSp>
          <p:nvGrpSpPr>
            <p:cNvPr id="341" name="Google Shape;341;p9"/>
            <p:cNvGrpSpPr/>
            <p:nvPr/>
          </p:nvGrpSpPr>
          <p:grpSpPr>
            <a:xfrm>
              <a:off x="5276753" y="2719016"/>
              <a:ext cx="2804145" cy="1616963"/>
              <a:chOff x="3105151" y="4280296"/>
              <a:chExt cx="4975014" cy="1894486"/>
            </a:xfrm>
          </p:grpSpPr>
          <p:pic>
            <p:nvPicPr>
              <p:cNvPr descr="raster_house1.png" id="342" name="Google Shape;342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105151" y="4280296"/>
                <a:ext cx="2238889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raster_house2.png" id="343" name="Google Shape;343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884334" y="4280296"/>
                <a:ext cx="2195831" cy="18944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4" name="Google Shape;344;p9"/>
            <p:cNvSpPr txBox="1"/>
            <p:nvPr/>
          </p:nvSpPr>
          <p:spPr>
            <a:xfrm>
              <a:off x="5408983" y="4039762"/>
              <a:ext cx="1035851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Outline</a:t>
              </a:r>
              <a:endParaRPr/>
            </a:p>
          </p:txBody>
        </p:sp>
        <p:sp>
          <p:nvSpPr>
            <p:cNvPr id="345" name="Google Shape;345;p9"/>
            <p:cNvSpPr txBox="1"/>
            <p:nvPr/>
          </p:nvSpPr>
          <p:spPr>
            <a:xfrm>
              <a:off x="7130411" y="4028803"/>
              <a:ext cx="896014" cy="31542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33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Filled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 txBox="1"/>
          <p:nvPr>
            <p:ph type="title"/>
          </p:nvPr>
        </p:nvSpPr>
        <p:spPr>
          <a:xfrm>
            <a:off x="838200" y="365125"/>
            <a:ext cx="10515600" cy="18395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Vector Displays</a:t>
            </a:r>
            <a:br>
              <a:rPr lang="en-US"/>
            </a:br>
            <a:endParaRPr/>
          </a:p>
        </p:txBody>
      </p:sp>
      <p:sp>
        <p:nvSpPr>
          <p:cNvPr id="351" name="Google Shape;351;p10"/>
          <p:cNvSpPr txBox="1"/>
          <p:nvPr>
            <p:ph idx="1" type="body"/>
          </p:nvPr>
        </p:nvSpPr>
        <p:spPr>
          <a:xfrm>
            <a:off x="690880" y="1774825"/>
            <a:ext cx="52324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Also called Calligraphic, Stroke or Line Drawing Graphics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Lines drawn directly on phosphor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isplay processor directs electron beam according to list of lines defined in a "</a:t>
            </a:r>
            <a:r>
              <a:rPr b="1" i="0" lang="en-US" sz="2000"/>
              <a:t>display list</a:t>
            </a:r>
            <a:r>
              <a:rPr i="0" lang="en-US" sz="2000"/>
              <a:t>“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</a:t>
            </a:r>
            <a:r>
              <a:rPr i="0" lang="en-US" sz="2000"/>
              <a:t>hosphors glow for only a few </a:t>
            </a:r>
            <a:r>
              <a:rPr lang="en-US" sz="2000"/>
              <a:t>microseconds</a:t>
            </a:r>
            <a:r>
              <a:rPr i="0" lang="en-US" sz="2000"/>
              <a:t> so lines must be redrawn or </a:t>
            </a:r>
            <a:r>
              <a:rPr b="1" i="0" lang="en-US" sz="2000"/>
              <a:t>refreshed</a:t>
            </a:r>
            <a:r>
              <a:rPr i="0" lang="en-US" sz="2000"/>
              <a:t> constantly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</a:t>
            </a:r>
            <a:r>
              <a:rPr i="0" lang="en-US" sz="2000"/>
              <a:t>eflection speed limits # of lines that can be drawn without flicker.</a:t>
            </a:r>
            <a:endParaRPr i="0" sz="2000"/>
          </a:p>
        </p:txBody>
      </p:sp>
      <p:sp>
        <p:nvSpPr>
          <p:cNvPr id="352" name="Google Shape;35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vectordisplay.jpg" id="353" name="Google Shape;3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926" y="1774825"/>
            <a:ext cx="5232402" cy="371617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7802880" y="5600065"/>
            <a:ext cx="31729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Vector Display Architecture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 Technology: Raster Displays</a:t>
            </a:r>
            <a:endParaRPr/>
          </a:p>
        </p:txBody>
      </p:sp>
      <p:sp>
        <p:nvSpPr>
          <p:cNvPr id="360" name="Google Shape;360;p11"/>
          <p:cNvSpPr txBox="1"/>
          <p:nvPr>
            <p:ph idx="1" type="body"/>
          </p:nvPr>
        </p:nvSpPr>
        <p:spPr>
          <a:xfrm>
            <a:off x="838200" y="1825625"/>
            <a:ext cx="5257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Display </a:t>
            </a:r>
            <a:r>
              <a:rPr b="1" lang="en-US" sz="2400">
                <a:solidFill>
                  <a:srgbClr val="FF3300"/>
                </a:solidFill>
              </a:rPr>
              <a:t>primitives</a:t>
            </a:r>
            <a:r>
              <a:rPr lang="en-US" sz="2400"/>
              <a:t> (lines, shaded regions, characters) stored as pixels in </a:t>
            </a:r>
            <a:r>
              <a:rPr b="1" lang="en-US" sz="2400">
                <a:solidFill>
                  <a:srgbClr val="FF3300"/>
                </a:solidFill>
              </a:rPr>
              <a:t>refresh buffer</a:t>
            </a:r>
            <a:r>
              <a:rPr lang="en-US" sz="2400"/>
              <a:t> (or </a:t>
            </a:r>
            <a:r>
              <a:rPr b="1" lang="en-US" sz="2400">
                <a:solidFill>
                  <a:srgbClr val="FF3300"/>
                </a:solidFill>
              </a:rPr>
              <a:t>frame buffer</a:t>
            </a:r>
            <a:r>
              <a:rPr lang="en-US" sz="2400"/>
              <a:t>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Electron beam scans a regular pattern of horizontal raster lines connected by horizontal </a:t>
            </a:r>
            <a:r>
              <a:rPr lang="en-US" sz="2400"/>
              <a:t>retrace</a:t>
            </a:r>
            <a:r>
              <a:rPr lang="en-US" sz="2400"/>
              <a:t> and vertical retrace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Video controller coordinates the repeated scanning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Pixels are individual dots on a raster line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61" name="Google Shape;36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PICTURE\rasterdisplay.jpg"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1760" y="1825625"/>
            <a:ext cx="5354320" cy="368315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1"/>
          <p:cNvSpPr txBox="1"/>
          <p:nvPr/>
        </p:nvSpPr>
        <p:spPr>
          <a:xfrm>
            <a:off x="7843520" y="5563235"/>
            <a:ext cx="3158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Fig.: Raster Display Architecture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Definitions</a:t>
            </a:r>
            <a:endParaRPr/>
          </a:p>
        </p:txBody>
      </p:sp>
      <p:sp>
        <p:nvSpPr>
          <p:cNvPr id="369" name="Google Shape;369;p12"/>
          <p:cNvSpPr txBox="1"/>
          <p:nvPr>
            <p:ph idx="1" type="body"/>
          </p:nvPr>
        </p:nvSpPr>
        <p:spPr>
          <a:xfrm>
            <a:off x="838200" y="2297114"/>
            <a:ext cx="578972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Raster:</a:t>
            </a:r>
            <a:r>
              <a:rPr lang="en-US" sz="2000"/>
              <a:t>  A rectangular array of points or dots.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(Pel):</a:t>
            </a:r>
            <a:r>
              <a:rPr lang="en-US" sz="2000"/>
              <a:t> One dot or picture element of the raster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Pixel Grid: </a:t>
            </a:r>
            <a:r>
              <a:rPr lang="en-US" sz="2000"/>
              <a:t>Images are arranged in a grid of pixels, where each pixel is stored with specific color information (RGB values)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Scan line:  </a:t>
            </a:r>
            <a:r>
              <a:rPr lang="en-US" sz="2000"/>
              <a:t>A row of pixels</a:t>
            </a:r>
            <a:endParaRPr/>
          </a:p>
        </p:txBody>
      </p:sp>
      <p:sp>
        <p:nvSpPr>
          <p:cNvPr id="370" name="Google Shape;37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1" name="Google Shape;3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3852" y="2297114"/>
            <a:ext cx="3948111" cy="18176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72" name="Google Shape;372;p12"/>
          <p:cNvSpPr txBox="1"/>
          <p:nvPr/>
        </p:nvSpPr>
        <p:spPr>
          <a:xfrm>
            <a:off x="6627929" y="4249738"/>
            <a:ext cx="3994036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raster devices display an image by sequentially drawing out the pixels of the scan lines that form the raster.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6726297" y="3167004"/>
            <a:ext cx="3797300" cy="762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405747" y="2674174"/>
            <a:ext cx="117475" cy="107951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Frame Buffer</a:t>
            </a:r>
            <a:endParaRPr/>
          </a:p>
        </p:txBody>
      </p:sp>
      <p:sp>
        <p:nvSpPr>
          <p:cNvPr id="380" name="Google Shape;380;p14"/>
          <p:cNvSpPr txBox="1"/>
          <p:nvPr>
            <p:ph idx="1" type="body"/>
          </p:nvPr>
        </p:nvSpPr>
        <p:spPr>
          <a:xfrm>
            <a:off x="838200" y="1825625"/>
            <a:ext cx="55219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frame buffer is characterized by its size, x, y, and pixel depth.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/>
              <a:t>resolution</a:t>
            </a:r>
            <a:r>
              <a:rPr lang="en-US" sz="2400"/>
              <a:t> of a frame buffer is the number of pixels in the display. e.g. 1024x1024 pixels.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Bit Planes or Bit Depth is the number of bits corresponding to each pixel. This determines the </a:t>
            </a:r>
            <a:r>
              <a:rPr b="1" lang="en-US" sz="2400"/>
              <a:t>color resolution</a:t>
            </a:r>
            <a:r>
              <a:rPr lang="en-US" sz="2400"/>
              <a:t> of the buffer.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Dual ported (simultaneously writing values and displaying in the monitor)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381" name="Google Shape;38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2" name="Google Shape;3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1" y="1371601"/>
            <a:ext cx="2476500" cy="24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4"/>
          <p:cNvSpPr/>
          <p:nvPr/>
        </p:nvSpPr>
        <p:spPr>
          <a:xfrm>
            <a:off x="7000240" y="3962402"/>
            <a:ext cx="435356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Bilevel or monochrome displays have 1 bit/pixel (128Kbytes of RAM)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8bits/pixel -&gt;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256 simultaneous colors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24bits/pixel -&gt;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million simultaneous colors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Raster vs. Vector Displays</a:t>
            </a:r>
            <a:endParaRPr/>
          </a:p>
        </p:txBody>
      </p:sp>
      <p:sp>
        <p:nvSpPr>
          <p:cNvPr id="389" name="Google Shape;389;p15"/>
          <p:cNvSpPr txBox="1"/>
          <p:nvPr>
            <p:ph idx="1" type="body"/>
          </p:nvPr>
        </p:nvSpPr>
        <p:spPr>
          <a:xfrm>
            <a:off x="838200" y="2611744"/>
            <a:ext cx="10612120" cy="193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Pixel-based, fixed resolution, common in displays. Cheaper. More realistic.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Shape-based, resolution-independent, best for scalable designs.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Cases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Raster is used for photographs and complex images, while vector is used for fonts and logos. </a:t>
            </a:r>
            <a:endParaRPr/>
          </a:p>
        </p:txBody>
      </p:sp>
      <p:sp>
        <p:nvSpPr>
          <p:cNvPr id="390" name="Google Shape;39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396" name="Google Shape;396;p16"/>
          <p:cNvSpPr txBox="1"/>
          <p:nvPr>
            <p:ph idx="1" type="body"/>
          </p:nvPr>
        </p:nvSpPr>
        <p:spPr>
          <a:xfrm>
            <a:off x="838200" y="1453475"/>
            <a:ext cx="10794900" cy="53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i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2000" u="none" cap="none" strike="noStrike">
                <a:solidFill>
                  <a:srgbClr val="0000FF"/>
                </a:solidFill>
              </a:rPr>
              <a:t>The </a:t>
            </a:r>
            <a:r>
              <a:rPr b="1" i="1" lang="en-US" sz="2000" u="none" cap="none" strike="noStrike">
                <a:solidFill>
                  <a:srgbClr val="FF0000"/>
                </a:solidFill>
              </a:rPr>
              <a:t>rendering pipeline</a:t>
            </a:r>
            <a:r>
              <a:rPr b="1" i="1" lang="en-US" sz="2000" u="none" cap="none" strike="noStrike">
                <a:solidFill>
                  <a:srgbClr val="0000FF"/>
                </a:solidFill>
              </a:rPr>
              <a:t> is a sequence of steps used in computer graphics to convert a 3D scene into a 2D image on the screen.</a:t>
            </a:r>
            <a:endParaRPr b="1" i="1" sz="2000" u="none" cap="none" strike="noStrike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1" lang="en-US" sz="2400" u="sng" cap="none" strike="noStrike">
                <a:solidFill>
                  <a:schemeClr val="dk1"/>
                </a:solidFill>
              </a:rPr>
              <a:t>Steps of the Rendering Pipeline:</a:t>
            </a:r>
            <a:endParaRPr b="1" i="1" sz="2400" u="sng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 sz="2000"/>
              <a:t>Vertex Processing &amp; Clipping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Transforms </a:t>
            </a:r>
            <a:r>
              <a:rPr i="1" lang="en-US" sz="1800"/>
              <a:t>object coordinates → world → camera → screen coordinates</a:t>
            </a:r>
            <a:r>
              <a:rPr lang="en-US" sz="1800"/>
              <a:t> using </a:t>
            </a:r>
            <a:r>
              <a:rPr b="1" lang="en-US" sz="1800"/>
              <a:t>model, view, and projection transformations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Performs </a:t>
            </a:r>
            <a:r>
              <a:rPr b="1" lang="en-US" sz="1800"/>
              <a:t>basic lighting calculations</a:t>
            </a:r>
            <a:r>
              <a:rPr lang="en-US" sz="1800"/>
              <a:t> (</a:t>
            </a:r>
            <a:r>
              <a:rPr i="1" lang="en-US" sz="1800"/>
              <a:t>per-vertex lighting</a:t>
            </a:r>
            <a:r>
              <a:rPr lang="en-US" sz="1800"/>
              <a:t> in fixed pipelines).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Clipping:</a:t>
            </a:r>
            <a:r>
              <a:rPr lang="en-US" sz="1800"/>
              <a:t> Removes objects or parts of objects outside the camera can see ( </a:t>
            </a:r>
            <a:r>
              <a:rPr b="1" lang="en-US" sz="1800"/>
              <a:t>view frustum</a:t>
            </a:r>
            <a:r>
              <a:rPr lang="en-US" sz="1800"/>
              <a:t>)</a:t>
            </a:r>
            <a:br>
              <a:rPr lang="en-US" sz="1800"/>
            </a:br>
            <a:endParaRPr sz="18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 sz="2000"/>
              <a:t>Rasterization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Converts 3D primitives (like triangles, lines) into </a:t>
            </a:r>
            <a:r>
              <a:rPr b="1" lang="en-US" sz="1800"/>
              <a:t>2D fragments (potential pixels)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/>
              <a:t>Determines which pixels are covered by each primitive and passes them to the next stage.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397" name="Google Shape;39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8929ff03b0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Rendering Pipeline</a:t>
            </a:r>
            <a:endParaRPr/>
          </a:p>
        </p:txBody>
      </p:sp>
      <p:sp>
        <p:nvSpPr>
          <p:cNvPr id="403" name="Google Shape;403;g38929ff03b0_0_6"/>
          <p:cNvSpPr txBox="1"/>
          <p:nvPr>
            <p:ph idx="1" type="body"/>
          </p:nvPr>
        </p:nvSpPr>
        <p:spPr>
          <a:xfrm>
            <a:off x="838200" y="1453478"/>
            <a:ext cx="10794900" cy="3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3</a:t>
            </a:r>
            <a:r>
              <a:rPr b="1" lang="en-US" sz="2400"/>
              <a:t>. 	</a:t>
            </a:r>
            <a:r>
              <a:rPr b="1" lang="en-US" sz="2000"/>
              <a:t>Fragment (Pixel) Processing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Applies </a:t>
            </a:r>
            <a:r>
              <a:rPr b="1" lang="en-US" sz="1800"/>
              <a:t>shading, textures, and lighting</a:t>
            </a:r>
            <a:r>
              <a:rPr lang="en-US" sz="1800"/>
              <a:t> (</a:t>
            </a:r>
            <a:r>
              <a:rPr i="1" lang="en-US" sz="1800"/>
              <a:t>per-pixel lighting</a:t>
            </a:r>
            <a:r>
              <a:rPr lang="en-US" sz="1800"/>
              <a:t> in modern shader pipelines).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Performs </a:t>
            </a:r>
            <a:r>
              <a:rPr b="1" lang="en-US" sz="1800"/>
              <a:t>depth testing, transparency, reflection, and other pixel-level effects</a:t>
            </a:r>
            <a:r>
              <a:rPr lang="en-US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/>
              <a:t>4. 	</a:t>
            </a:r>
            <a:r>
              <a:rPr b="1" lang="en-US" sz="2000"/>
              <a:t>Image Composition / Output Merging</a:t>
            </a:r>
            <a:endParaRPr b="1" sz="2000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Combines fragments from all objects into the </a:t>
            </a:r>
            <a:r>
              <a:rPr b="1" lang="en-US" sz="1800"/>
              <a:t>final image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Applies </a:t>
            </a:r>
            <a:r>
              <a:rPr b="1" lang="en-US" sz="1800"/>
              <a:t>depth buffering (Z-buffer)</a:t>
            </a:r>
            <a:r>
              <a:rPr lang="en-US" sz="1800"/>
              <a:t>, </a:t>
            </a:r>
            <a:r>
              <a:rPr b="1" lang="en-US" sz="1800"/>
              <a:t>blending</a:t>
            </a:r>
            <a:r>
              <a:rPr lang="en-US" sz="1800"/>
              <a:t>, and </a:t>
            </a:r>
            <a:r>
              <a:rPr b="1" lang="en-US" sz="1800"/>
              <a:t>anti-aliasing</a:t>
            </a:r>
            <a:r>
              <a:rPr lang="en-US" sz="1800"/>
              <a:t>.</a:t>
            </a:r>
            <a:endParaRPr sz="1800"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Outputs the result to the </a:t>
            </a:r>
            <a:r>
              <a:rPr b="1" lang="en-US" sz="1800"/>
              <a:t>framebuffer</a:t>
            </a:r>
            <a:r>
              <a:rPr lang="en-US" sz="1800"/>
              <a:t> for display on the screen.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404" name="Google Shape;404;g38929ff03b0_0_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2bc655d575_1_8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/>
          </a:p>
        </p:txBody>
      </p:sp>
      <p:sp>
        <p:nvSpPr>
          <p:cNvPr id="410" name="Google Shape;410;g32bc655d575_1_8"/>
          <p:cNvSpPr txBox="1"/>
          <p:nvPr>
            <p:ph idx="1" type="body"/>
          </p:nvPr>
        </p:nvSpPr>
        <p:spPr>
          <a:xfrm>
            <a:off x="609600" y="1143000"/>
            <a:ext cx="10972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Aliasing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Approximating a continuous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entity with discrete samples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Jagging / staircasing effect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of an all-or-nothing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approach to scan conversion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Each pixel is either colored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 left unchanged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Antialiasing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application of techniques that reduce or eliminate aliasing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Supersampling 2D anti-aliasing.gif" id="411" name="Google Shape;411;g32bc655d575_1_8"/>
          <p:cNvPicPr preferRelativeResize="0"/>
          <p:nvPr/>
        </p:nvPicPr>
        <p:blipFill rotWithShape="1">
          <a:blip r:embed="rId3">
            <a:alphaModFix/>
          </a:blip>
          <a:srcRect b="24123" l="0" r="50840" t="1283"/>
          <a:stretch/>
        </p:blipFill>
        <p:spPr>
          <a:xfrm>
            <a:off x="7620000" y="1371600"/>
            <a:ext cx="3865654" cy="2947634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32bc655d575_1_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2bc655d575_1_14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Antialiasing Techniques</a:t>
            </a:r>
            <a:endParaRPr/>
          </a:p>
        </p:txBody>
      </p:sp>
      <p:sp>
        <p:nvSpPr>
          <p:cNvPr id="419" name="Google Shape;419;g32bc655d575_1_14"/>
          <p:cNvSpPr txBox="1"/>
          <p:nvPr>
            <p:ph idx="1" type="body"/>
          </p:nvPr>
        </p:nvSpPr>
        <p:spPr>
          <a:xfrm>
            <a:off x="609600" y="1143000"/>
            <a:ext cx="10972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Increase Screen Resolution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Costly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Only diminishes,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does not solve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Higher memory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More time for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scan-conversion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			                                    (a) res. W x H	             (b) res. 2W X 2H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Area Sampling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Weighted Area Sampling</a:t>
            </a:r>
            <a:endParaRPr/>
          </a:p>
        </p:txBody>
      </p:sp>
      <p:pic>
        <p:nvPicPr>
          <p:cNvPr id="420" name="Google Shape;420;g32bc655d575_1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175" y="1862583"/>
            <a:ext cx="4733924" cy="186406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32bc655d575_1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2bc655d575_1_21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</p:txBody>
      </p:sp>
      <p:sp>
        <p:nvSpPr>
          <p:cNvPr id="427" name="Google Shape;427;g32bc655d575_1_21"/>
          <p:cNvSpPr txBox="1"/>
          <p:nvPr>
            <p:ph idx="1" type="body"/>
          </p:nvPr>
        </p:nvSpPr>
        <p:spPr>
          <a:xfrm>
            <a:off x="609600" y="1143000"/>
            <a:ext cx="11379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Basic Idea: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Horizontal or vertical line passes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through one pixel per row or column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Lines at other angles go through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pixels per row or column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line is considered as a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rectangle of a desired thickness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covering a portion of the grid</a:t>
            </a:r>
            <a:endParaRPr/>
          </a:p>
        </p:txBody>
      </p:sp>
      <p:pic>
        <p:nvPicPr>
          <p:cNvPr id="428" name="Google Shape;428;g32bc655d575_1_21"/>
          <p:cNvPicPr preferRelativeResize="0"/>
          <p:nvPr/>
        </p:nvPicPr>
        <p:blipFill rotWithShape="1">
          <a:blip r:embed="rId3">
            <a:alphaModFix/>
          </a:blip>
          <a:srcRect b="34374" l="27526" r="49633" t="31250"/>
          <a:stretch/>
        </p:blipFill>
        <p:spPr>
          <a:xfrm>
            <a:off x="7924800" y="1600200"/>
            <a:ext cx="2641598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32bc655d575_1_21"/>
          <p:cNvPicPr preferRelativeResize="0"/>
          <p:nvPr/>
        </p:nvPicPr>
        <p:blipFill rotWithShape="1">
          <a:blip r:embed="rId4">
            <a:alphaModFix/>
          </a:blip>
          <a:srcRect b="26040" l="52122" r="6295" t="30209"/>
          <a:stretch/>
        </p:blipFill>
        <p:spPr>
          <a:xfrm>
            <a:off x="6502400" y="3509492"/>
            <a:ext cx="5486399" cy="243410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2bc655d575_1_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2bc655d575_1_28"/>
          <p:cNvSpPr txBox="1"/>
          <p:nvPr>
            <p:ph type="title"/>
          </p:nvPr>
        </p:nvSpPr>
        <p:spPr>
          <a:xfrm>
            <a:off x="609600" y="914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Unweighted Area Sampling</a:t>
            </a:r>
            <a:endParaRPr/>
          </a:p>
        </p:txBody>
      </p:sp>
      <p:sp>
        <p:nvSpPr>
          <p:cNvPr id="436" name="Google Shape;436;g32bc655d575_1_28"/>
          <p:cNvSpPr txBox="1"/>
          <p:nvPr>
            <p:ph idx="1" type="body"/>
          </p:nvPr>
        </p:nvSpPr>
        <p:spPr>
          <a:xfrm>
            <a:off x="609600" y="1143000"/>
            <a:ext cx="114807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Basic Idea: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Pixels on the grid overlapped by the rectangle are colored to an appropriate intensity.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rule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A line contributes to each pixel’s intensity an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amount proportional to the percentage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of the pixel’s tile it covers.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g32bc655d575_1_28"/>
          <p:cNvPicPr preferRelativeResize="0"/>
          <p:nvPr/>
        </p:nvPicPr>
        <p:blipFill rotWithShape="1">
          <a:blip r:embed="rId3">
            <a:alphaModFix/>
          </a:blip>
          <a:srcRect b="25000" l="21085" r="29719" t="21876"/>
          <a:stretch/>
        </p:blipFill>
        <p:spPr>
          <a:xfrm>
            <a:off x="1219200" y="3352800"/>
            <a:ext cx="9753599" cy="32766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8" name="Google Shape;438;g32bc655d575_1_28"/>
          <p:cNvCxnSpPr/>
          <p:nvPr/>
        </p:nvCxnSpPr>
        <p:spPr>
          <a:xfrm rot="5400000">
            <a:off x="4532850" y="4762350"/>
            <a:ext cx="686700" cy="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39" name="Google Shape;439;g32bc655d575_1_28"/>
          <p:cNvCxnSpPr/>
          <p:nvPr/>
        </p:nvCxnSpPr>
        <p:spPr>
          <a:xfrm rot="5400000">
            <a:off x="5282150" y="4419450"/>
            <a:ext cx="610500" cy="1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0" name="Google Shape;440;g32bc655d575_1_28"/>
          <p:cNvCxnSpPr/>
          <p:nvPr/>
        </p:nvCxnSpPr>
        <p:spPr>
          <a:xfrm rot="5400000">
            <a:off x="5854709" y="4228844"/>
            <a:ext cx="685800" cy="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1" name="Google Shape;441;g32bc655d575_1_28"/>
          <p:cNvSpPr/>
          <p:nvPr/>
        </p:nvSpPr>
        <p:spPr>
          <a:xfrm>
            <a:off x="4165600" y="4114800"/>
            <a:ext cx="111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95%</a:t>
            </a:r>
            <a:endParaRPr/>
          </a:p>
        </p:txBody>
      </p:sp>
      <p:sp>
        <p:nvSpPr>
          <p:cNvPr id="442" name="Google Shape;442;g32bc655d575_1_28"/>
          <p:cNvSpPr/>
          <p:nvPr/>
        </p:nvSpPr>
        <p:spPr>
          <a:xfrm>
            <a:off x="4978400" y="3733800"/>
            <a:ext cx="111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  <a:endParaRPr/>
          </a:p>
        </p:txBody>
      </p:sp>
      <p:sp>
        <p:nvSpPr>
          <p:cNvPr id="443" name="Google Shape;443;g32bc655d575_1_28"/>
          <p:cNvSpPr/>
          <p:nvPr/>
        </p:nvSpPr>
        <p:spPr>
          <a:xfrm>
            <a:off x="5689600" y="3581400"/>
            <a:ext cx="111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75%</a:t>
            </a:r>
            <a:endParaRPr/>
          </a:p>
        </p:txBody>
      </p:sp>
      <p:sp>
        <p:nvSpPr>
          <p:cNvPr id="444" name="Google Shape;444;g32bc655d575_1_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2bc655d575_1_40"/>
          <p:cNvSpPr txBox="1"/>
          <p:nvPr>
            <p:ph idx="1" type="body"/>
          </p:nvPr>
        </p:nvSpPr>
        <p:spPr>
          <a:xfrm>
            <a:off x="609600" y="1143000"/>
            <a:ext cx="10972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79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Intensity of pixel centered at (x,y) 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max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 dA . Weight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 = area overlap for pixel at (x,y)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Weight = 1 for unweighted area sampling</a:t>
            </a:r>
            <a:endParaRPr/>
          </a:p>
        </p:txBody>
      </p:sp>
      <p:pic>
        <p:nvPicPr>
          <p:cNvPr id="450" name="Google Shape;450;g32bc655d575_1_40"/>
          <p:cNvPicPr preferRelativeResize="0"/>
          <p:nvPr/>
        </p:nvPicPr>
        <p:blipFill rotWithShape="1">
          <a:blip r:embed="rId3">
            <a:alphaModFix/>
          </a:blip>
          <a:srcRect b="25000" l="21085" r="29719" t="21876"/>
          <a:stretch/>
        </p:blipFill>
        <p:spPr>
          <a:xfrm>
            <a:off x="1219200" y="472525"/>
            <a:ext cx="9753599" cy="3276601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2bc655d575_1_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2024-12-29T05:51:07Z</dcterms:created>
  <dc:creator>BRACU</dc:creator>
</cp:coreProperties>
</file>