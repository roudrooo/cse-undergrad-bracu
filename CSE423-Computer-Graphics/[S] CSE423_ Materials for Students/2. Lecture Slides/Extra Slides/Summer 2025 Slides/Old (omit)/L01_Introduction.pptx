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7315200" cy="9601200"/>
  <p:embeddedFontLst>
    <p:embeddedFont>
      <p:font typeface="Oi"/>
      <p:regular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  <p:ext uri="GoogleSlidesCustomDataVersion2">
      <go:slidesCustomData xmlns:go="http://customooxmlschemas.google.com/" r:id="rId38" roundtripDataSignature="AMtx7mjyObcTiEqEJMAW77I+X7FoswB54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30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Oi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customschemas.google.com/relationships/presentationmetadata" Target="meta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10" type="dt"/>
          </p:nvPr>
        </p:nvSpPr>
        <p:spPr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1" type="ftr"/>
          </p:nvPr>
        </p:nvSpPr>
        <p:spPr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" name="Google Shape;6;n"/>
          <p:cNvSpPr txBox="1"/>
          <p:nvPr>
            <p:ph idx="2" type="hdr"/>
          </p:nvPr>
        </p:nvSpPr>
        <p:spPr>
          <a:xfrm>
            <a:off x="0" y="0"/>
            <a:ext cx="3170238" cy="481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7" name="Google Shape;7;n"/>
          <p:cNvSpPr/>
          <p:nvPr>
            <p:ph idx="3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" name="Google Shape;8;n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en.wikipedia.org/wiki/Comparison_of_Nvidia_graphics_processing_units#GeForce_600_Series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en.wikipedia.org/wiki/Comparison_of_Nvidia_graphics_processing_units#GeForce_400_Series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:notes"/>
          <p:cNvSpPr/>
          <p:nvPr>
            <p:ph idx="2" type="sldImg"/>
          </p:nvPr>
        </p:nvSpPr>
        <p:spPr>
          <a:xfrm>
            <a:off x="458788" y="720725"/>
            <a:ext cx="6399212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1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Short clip on multitouch</a:t>
            </a:r>
            <a:endParaRPr/>
          </a:p>
        </p:txBody>
      </p:sp>
      <p:sp>
        <p:nvSpPr>
          <p:cNvPr id="80" name="Google Shape;80;p1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/>
          <p:nvPr>
            <p:ph idx="2" type="sldImg"/>
          </p:nvPr>
        </p:nvSpPr>
        <p:spPr>
          <a:xfrm>
            <a:off x="458788" y="720725"/>
            <a:ext cx="6399212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/>
          <p:nvPr>
            <p:ph idx="2" type="sldImg"/>
          </p:nvPr>
        </p:nvSpPr>
        <p:spPr>
          <a:xfrm>
            <a:off x="458788" y="720725"/>
            <a:ext cx="6399212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/>
          <p:nvPr>
            <p:ph idx="2" type="sldImg"/>
          </p:nvPr>
        </p:nvSpPr>
        <p:spPr>
          <a:xfrm>
            <a:off x="458788" y="720725"/>
            <a:ext cx="6399212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/>
          <p:nvPr>
            <p:ph idx="2" type="sldImg"/>
          </p:nvPr>
        </p:nvSpPr>
        <p:spPr>
          <a:xfrm>
            <a:off x="458788" y="720725"/>
            <a:ext cx="6399212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http://venturebeat.com/2013/04/24/the-making-of-pixars-latest-technological-marvel-monsters-university/</a:t>
            </a:r>
            <a:endParaRPr/>
          </a:p>
        </p:txBody>
      </p:sp>
      <p:sp>
        <p:nvSpPr>
          <p:cNvPr id="119" name="Google Shape;119;p5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/>
          <p:nvPr>
            <p:ph idx="2" type="sldImg"/>
          </p:nvPr>
        </p:nvSpPr>
        <p:spPr>
          <a:xfrm>
            <a:off x="458788" y="720725"/>
            <a:ext cx="6399212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2"/>
              </a:rPr>
              <a:t>http://en.wikipedia.org/wiki/Comparison_of_Nvidia_graphics_processing_units#GeForce_700_Series</a:t>
            </a:r>
            <a:endParaRPr/>
          </a:p>
        </p:txBody>
      </p:sp>
      <p:sp>
        <p:nvSpPr>
          <p:cNvPr id="131" name="Google Shape;131;p6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/>
          <p:nvPr>
            <p:ph idx="2" type="sldImg"/>
          </p:nvPr>
        </p:nvSpPr>
        <p:spPr>
          <a:xfrm>
            <a:off x="458788" y="720725"/>
            <a:ext cx="6399212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2"/>
              </a:rPr>
              <a:t>http://en.wikipedia.org/wiki/Comparison_of_Nvidia_graphics_processing_units#GeForce_400_Series</a:t>
            </a:r>
            <a:endParaRPr/>
          </a:p>
        </p:txBody>
      </p:sp>
      <p:sp>
        <p:nvSpPr>
          <p:cNvPr id="140" name="Google Shape;140;p7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/>
          <p:nvPr>
            <p:ph idx="2" type="sldImg"/>
          </p:nvPr>
        </p:nvSpPr>
        <p:spPr>
          <a:xfrm>
            <a:off x="458788" y="720725"/>
            <a:ext cx="6399212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/>
          <p:nvPr>
            <p:ph idx="2" type="sldImg"/>
          </p:nvPr>
        </p:nvSpPr>
        <p:spPr>
          <a:xfrm>
            <a:off x="458788" y="720725"/>
            <a:ext cx="6399212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" name="Google Shape;164;p9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458788" y="720725"/>
            <a:ext cx="6399212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0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/>
          <p:nvPr>
            <p:ph idx="2" type="sldImg"/>
          </p:nvPr>
        </p:nvSpPr>
        <p:spPr>
          <a:xfrm>
            <a:off x="458788" y="720725"/>
            <a:ext cx="6399212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" name="Google Shape;211;p11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2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3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4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4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5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5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6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1" name="Google Shape;261;p16:notes"/>
          <p:cNvSpPr/>
          <p:nvPr>
            <p:ph idx="2" type="sldImg"/>
          </p:nvPr>
        </p:nvSpPr>
        <p:spPr>
          <a:xfrm>
            <a:off x="379413" y="687388"/>
            <a:ext cx="6094412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62" name="Google Shape;262;p16:notes"/>
          <p:cNvSpPr txBox="1"/>
          <p:nvPr>
            <p:ph idx="1" type="body"/>
          </p:nvPr>
        </p:nvSpPr>
        <p:spPr>
          <a:xfrm>
            <a:off x="914400" y="4343400"/>
            <a:ext cx="5027613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7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7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8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8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9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9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0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0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1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1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2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2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3:notes"/>
          <p:cNvSpPr/>
          <p:nvPr>
            <p:ph idx="2" type="sldImg"/>
          </p:nvPr>
        </p:nvSpPr>
        <p:spPr>
          <a:xfrm>
            <a:off x="458788" y="720725"/>
            <a:ext cx="6399212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7" name="Google Shape;317;p23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3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4:notes"/>
          <p:cNvSpPr/>
          <p:nvPr>
            <p:ph idx="2" type="sldImg"/>
          </p:nvPr>
        </p:nvSpPr>
        <p:spPr>
          <a:xfrm>
            <a:off x="458788" y="720725"/>
            <a:ext cx="6399212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0" name="Google Shape;350;p24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4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5:notes"/>
          <p:cNvSpPr/>
          <p:nvPr>
            <p:ph idx="2" type="sldImg"/>
          </p:nvPr>
        </p:nvSpPr>
        <p:spPr>
          <a:xfrm>
            <a:off x="458788" y="720725"/>
            <a:ext cx="6399212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3" name="Google Shape;363;p25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5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6:notes"/>
          <p:cNvSpPr/>
          <p:nvPr>
            <p:ph idx="2" type="sldImg"/>
          </p:nvPr>
        </p:nvSpPr>
        <p:spPr>
          <a:xfrm>
            <a:off x="458788" y="720725"/>
            <a:ext cx="6399212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3" name="Google Shape;373;p26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6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7:notes"/>
          <p:cNvSpPr/>
          <p:nvPr>
            <p:ph idx="2" type="sldImg"/>
          </p:nvPr>
        </p:nvSpPr>
        <p:spPr>
          <a:xfrm>
            <a:off x="458788" y="720725"/>
            <a:ext cx="6399212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8" name="Google Shape;388;p27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7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8:notes"/>
          <p:cNvSpPr/>
          <p:nvPr>
            <p:ph idx="2" type="sldImg"/>
          </p:nvPr>
        </p:nvSpPr>
        <p:spPr>
          <a:xfrm>
            <a:off x="458788" y="720725"/>
            <a:ext cx="6399212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2" name="Google Shape;402;p28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8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9:notes"/>
          <p:cNvSpPr/>
          <p:nvPr>
            <p:ph idx="2" type="sldImg"/>
          </p:nvPr>
        </p:nvSpPr>
        <p:spPr>
          <a:xfrm>
            <a:off x="458788" y="720725"/>
            <a:ext cx="6399212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p29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9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0:notes"/>
          <p:cNvSpPr/>
          <p:nvPr>
            <p:ph idx="2" type="sldImg"/>
          </p:nvPr>
        </p:nvSpPr>
        <p:spPr>
          <a:xfrm>
            <a:off x="458788" y="720725"/>
            <a:ext cx="6399212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3" name="Google Shape;423;p30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30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1:notes"/>
          <p:cNvSpPr/>
          <p:nvPr>
            <p:ph idx="2" type="sldImg"/>
          </p:nvPr>
        </p:nvSpPr>
        <p:spPr>
          <a:xfrm>
            <a:off x="458788" y="720725"/>
            <a:ext cx="6399212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1" name="Google Shape;431;p31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1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3"/>
          <p:cNvSpPr txBox="1"/>
          <p:nvPr>
            <p:ph type="ctrTitle"/>
          </p:nvPr>
        </p:nvSpPr>
        <p:spPr>
          <a:xfrm>
            <a:off x="457202" y="2736056"/>
            <a:ext cx="8229599" cy="960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i"/>
              <a:buNone/>
              <a:defRPr b="0"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3"/>
          <p:cNvSpPr txBox="1"/>
          <p:nvPr>
            <p:ph idx="1" type="subTitle"/>
          </p:nvPr>
        </p:nvSpPr>
        <p:spPr>
          <a:xfrm>
            <a:off x="457202" y="3786188"/>
            <a:ext cx="82296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600"/>
              </a:spcBef>
              <a:spcAft>
                <a:spcPts val="0"/>
              </a:spcAft>
              <a:buSzPts val="1520"/>
              <a:buNone/>
              <a:defRPr b="0" sz="2000">
                <a:solidFill>
                  <a:schemeClr val="accent2"/>
                </a:solidFill>
                <a:latin typeface="Oi"/>
                <a:ea typeface="Oi"/>
                <a:cs typeface="Oi"/>
                <a:sym typeface="Oi"/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2pPr>
            <a:lvl3pPr lvl="2" algn="ctr"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spcBef>
                <a:spcPts val="300"/>
              </a:spcBef>
              <a:spcAft>
                <a:spcPts val="0"/>
              </a:spcAft>
              <a:buSzPts val="1260"/>
              <a:buNone/>
              <a:defRPr/>
            </a:lvl5pPr>
            <a:lvl6pPr lvl="5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6pPr>
            <a:lvl7pPr lvl="6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7pPr>
            <a:lvl8pPr lvl="7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8pPr>
            <a:lvl9pPr lvl="8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9pPr>
          </a:lstStyle>
          <a:p/>
        </p:txBody>
      </p:sp>
      <p:sp>
        <p:nvSpPr>
          <p:cNvPr id="19" name="Google Shape;19;p33"/>
          <p:cNvSpPr/>
          <p:nvPr/>
        </p:nvSpPr>
        <p:spPr>
          <a:xfrm>
            <a:off x="457201" y="514350"/>
            <a:ext cx="8242300" cy="4000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20" name="Google Shape;20;p33"/>
          <p:cNvCxnSpPr/>
          <p:nvPr/>
        </p:nvCxnSpPr>
        <p:spPr>
          <a:xfrm>
            <a:off x="457200" y="4743450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33"/>
          <p:cNvSpPr txBox="1"/>
          <p:nvPr>
            <p:ph idx="12" type="sldNum"/>
          </p:nvPr>
        </p:nvSpPr>
        <p:spPr>
          <a:xfrm>
            <a:off x="7467600" y="4800600"/>
            <a:ext cx="1219200" cy="23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33"/>
          <p:cNvSpPr txBox="1"/>
          <p:nvPr>
            <p:ph idx="11" type="ftr"/>
          </p:nvPr>
        </p:nvSpPr>
        <p:spPr>
          <a:xfrm>
            <a:off x="2135872" y="4800601"/>
            <a:ext cx="5105400" cy="240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4"/>
          <p:cNvSpPr txBox="1"/>
          <p:nvPr>
            <p:ph idx="1" type="body"/>
          </p:nvPr>
        </p:nvSpPr>
        <p:spPr>
          <a:xfrm>
            <a:off x="457200" y="1085850"/>
            <a:ext cx="82296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120" lvl="0" marL="457200" algn="l">
              <a:spcBef>
                <a:spcPts val="600"/>
              </a:spcBef>
              <a:spcAft>
                <a:spcPts val="0"/>
              </a:spcAft>
              <a:buSzPts val="1520"/>
              <a:buChar char="🞂"/>
              <a:defRPr sz="2000"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 sz="1800"/>
            </a:lvl2pPr>
            <a:lvl3pPr indent="-305816" lvl="2" marL="1371600" algn="l">
              <a:spcBef>
                <a:spcPts val="500"/>
              </a:spcBef>
              <a:spcAft>
                <a:spcPts val="0"/>
              </a:spcAft>
              <a:buSzPts val="1216"/>
              <a:buChar char="🞂"/>
              <a:defRPr sz="1600"/>
            </a:lvl3pPr>
            <a:lvl4pPr indent="-290830" lvl="3" marL="1828800" algn="l">
              <a:spcBef>
                <a:spcPts val="400"/>
              </a:spcBef>
              <a:spcAft>
                <a:spcPts val="0"/>
              </a:spcAft>
              <a:buSzPts val="980"/>
              <a:buChar char="◻"/>
              <a:defRPr sz="1400"/>
            </a:lvl4pPr>
            <a:lvl5pPr indent="-281939" lvl="4" marL="2286000" algn="l">
              <a:spcBef>
                <a:spcPts val="300"/>
              </a:spcBef>
              <a:spcAft>
                <a:spcPts val="0"/>
              </a:spcAft>
              <a:buSzPts val="840"/>
              <a:buChar char="◻"/>
              <a:defRPr sz="1200"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cxnSp>
        <p:nvCxnSpPr>
          <p:cNvPr id="25" name="Google Shape;25;p34"/>
          <p:cNvCxnSpPr/>
          <p:nvPr/>
        </p:nvCxnSpPr>
        <p:spPr>
          <a:xfrm>
            <a:off x="457200" y="4743450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34"/>
          <p:cNvSpPr txBox="1"/>
          <p:nvPr>
            <p:ph idx="12" type="sldNum"/>
          </p:nvPr>
        </p:nvSpPr>
        <p:spPr>
          <a:xfrm>
            <a:off x="7467600" y="4800600"/>
            <a:ext cx="1219200" cy="23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p34"/>
          <p:cNvSpPr txBox="1"/>
          <p:nvPr>
            <p:ph type="title"/>
          </p:nvPr>
        </p:nvSpPr>
        <p:spPr>
          <a:xfrm>
            <a:off x="457200" y="51435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20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4"/>
          <p:cNvSpPr txBox="1"/>
          <p:nvPr>
            <p:ph idx="11" type="ftr"/>
          </p:nvPr>
        </p:nvSpPr>
        <p:spPr>
          <a:xfrm>
            <a:off x="2135872" y="4800601"/>
            <a:ext cx="5105400" cy="240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p35"/>
          <p:cNvCxnSpPr/>
          <p:nvPr/>
        </p:nvCxnSpPr>
        <p:spPr>
          <a:xfrm>
            <a:off x="457200" y="4743450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35"/>
          <p:cNvSpPr txBox="1"/>
          <p:nvPr>
            <p:ph idx="12" type="sldNum"/>
          </p:nvPr>
        </p:nvSpPr>
        <p:spPr>
          <a:xfrm>
            <a:off x="7467600" y="4800600"/>
            <a:ext cx="1219200" cy="23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35"/>
          <p:cNvSpPr txBox="1"/>
          <p:nvPr>
            <p:ph idx="1" type="body"/>
          </p:nvPr>
        </p:nvSpPr>
        <p:spPr>
          <a:xfrm>
            <a:off x="457200" y="1085850"/>
            <a:ext cx="40386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120" lvl="0" marL="457200" algn="l">
              <a:spcBef>
                <a:spcPts val="600"/>
              </a:spcBef>
              <a:spcAft>
                <a:spcPts val="0"/>
              </a:spcAft>
              <a:buSzPts val="1520"/>
              <a:buChar char="🞂"/>
              <a:defRPr sz="2000"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 sz="1800"/>
            </a:lvl2pPr>
            <a:lvl3pPr indent="-305816" lvl="2" marL="1371600" algn="l">
              <a:spcBef>
                <a:spcPts val="500"/>
              </a:spcBef>
              <a:spcAft>
                <a:spcPts val="0"/>
              </a:spcAft>
              <a:buSzPts val="1216"/>
              <a:buChar char="🞂"/>
              <a:defRPr sz="1600"/>
            </a:lvl3pPr>
            <a:lvl4pPr indent="-290830" lvl="3" marL="1828800" algn="l">
              <a:spcBef>
                <a:spcPts val="400"/>
              </a:spcBef>
              <a:spcAft>
                <a:spcPts val="0"/>
              </a:spcAft>
              <a:buSzPts val="980"/>
              <a:buChar char="◻"/>
              <a:defRPr sz="1400"/>
            </a:lvl4pPr>
            <a:lvl5pPr indent="-281939" lvl="4" marL="2286000" algn="l">
              <a:spcBef>
                <a:spcPts val="300"/>
              </a:spcBef>
              <a:spcAft>
                <a:spcPts val="0"/>
              </a:spcAft>
              <a:buSzPts val="840"/>
              <a:buChar char="◻"/>
              <a:defRPr sz="1200"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33" name="Google Shape;33;p35"/>
          <p:cNvSpPr txBox="1"/>
          <p:nvPr>
            <p:ph idx="2" type="body"/>
          </p:nvPr>
        </p:nvSpPr>
        <p:spPr>
          <a:xfrm>
            <a:off x="4648200" y="1085850"/>
            <a:ext cx="40386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120" lvl="0" marL="457200" algn="l">
              <a:spcBef>
                <a:spcPts val="600"/>
              </a:spcBef>
              <a:spcAft>
                <a:spcPts val="0"/>
              </a:spcAft>
              <a:buSzPts val="1520"/>
              <a:buChar char="🞂"/>
              <a:defRPr sz="2000"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 sz="1800"/>
            </a:lvl2pPr>
            <a:lvl3pPr indent="-305816" lvl="2" marL="1371600" algn="l">
              <a:spcBef>
                <a:spcPts val="500"/>
              </a:spcBef>
              <a:spcAft>
                <a:spcPts val="0"/>
              </a:spcAft>
              <a:buSzPts val="1216"/>
              <a:buChar char="🞂"/>
              <a:defRPr sz="1600"/>
            </a:lvl3pPr>
            <a:lvl4pPr indent="-290830" lvl="3" marL="1828800" algn="l">
              <a:spcBef>
                <a:spcPts val="400"/>
              </a:spcBef>
              <a:spcAft>
                <a:spcPts val="0"/>
              </a:spcAft>
              <a:buSzPts val="980"/>
              <a:buChar char="◻"/>
              <a:defRPr sz="1400"/>
            </a:lvl4pPr>
            <a:lvl5pPr indent="-281939" lvl="4" marL="2286000" algn="l">
              <a:spcBef>
                <a:spcPts val="300"/>
              </a:spcBef>
              <a:spcAft>
                <a:spcPts val="0"/>
              </a:spcAft>
              <a:buSzPts val="840"/>
              <a:buChar char="◻"/>
              <a:defRPr sz="1200"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34" name="Google Shape;34;p35"/>
          <p:cNvSpPr txBox="1"/>
          <p:nvPr>
            <p:ph type="title"/>
          </p:nvPr>
        </p:nvSpPr>
        <p:spPr>
          <a:xfrm>
            <a:off x="457200" y="51435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20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5"/>
          <p:cNvSpPr txBox="1"/>
          <p:nvPr>
            <p:ph idx="11" type="ftr"/>
          </p:nvPr>
        </p:nvSpPr>
        <p:spPr>
          <a:xfrm>
            <a:off x="2135872" y="4800601"/>
            <a:ext cx="5105400" cy="240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>
  <p:cSld name="Comparis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6"/>
          <p:cNvSpPr txBox="1"/>
          <p:nvPr>
            <p:ph idx="1" type="body"/>
          </p:nvPr>
        </p:nvSpPr>
        <p:spPr>
          <a:xfrm>
            <a:off x="457200" y="1085850"/>
            <a:ext cx="40386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520"/>
              <a:buNone/>
              <a:defRPr b="0" sz="20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38" name="Google Shape;38;p36"/>
          <p:cNvSpPr txBox="1"/>
          <p:nvPr>
            <p:ph idx="2" type="body"/>
          </p:nvPr>
        </p:nvSpPr>
        <p:spPr>
          <a:xfrm>
            <a:off x="4648202" y="1085850"/>
            <a:ext cx="4041777" cy="2857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520"/>
              <a:buNone/>
              <a:defRPr b="0" sz="20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cxnSp>
        <p:nvCxnSpPr>
          <p:cNvPr id="39" name="Google Shape;39;p36"/>
          <p:cNvCxnSpPr/>
          <p:nvPr/>
        </p:nvCxnSpPr>
        <p:spPr>
          <a:xfrm>
            <a:off x="457200" y="4743450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36"/>
          <p:cNvSpPr txBox="1"/>
          <p:nvPr>
            <p:ph idx="12" type="sldNum"/>
          </p:nvPr>
        </p:nvSpPr>
        <p:spPr>
          <a:xfrm>
            <a:off x="7467600" y="4800600"/>
            <a:ext cx="1219200" cy="23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" name="Google Shape;41;p36"/>
          <p:cNvSpPr txBox="1"/>
          <p:nvPr>
            <p:ph idx="3" type="body"/>
          </p:nvPr>
        </p:nvSpPr>
        <p:spPr>
          <a:xfrm>
            <a:off x="457200" y="1428750"/>
            <a:ext cx="4038600" cy="3257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120" lvl="0" marL="457200" algn="l">
              <a:spcBef>
                <a:spcPts val="600"/>
              </a:spcBef>
              <a:spcAft>
                <a:spcPts val="0"/>
              </a:spcAft>
              <a:buSzPts val="1520"/>
              <a:buChar char="🞂"/>
              <a:defRPr sz="2000"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 sz="1800"/>
            </a:lvl2pPr>
            <a:lvl3pPr indent="-305816" lvl="2" marL="1371600" algn="l">
              <a:spcBef>
                <a:spcPts val="500"/>
              </a:spcBef>
              <a:spcAft>
                <a:spcPts val="0"/>
              </a:spcAft>
              <a:buSzPts val="1216"/>
              <a:buChar char="🞂"/>
              <a:defRPr sz="1600"/>
            </a:lvl3pPr>
            <a:lvl4pPr indent="-290830" lvl="3" marL="1828800" algn="l">
              <a:spcBef>
                <a:spcPts val="400"/>
              </a:spcBef>
              <a:spcAft>
                <a:spcPts val="0"/>
              </a:spcAft>
              <a:buSzPts val="980"/>
              <a:buChar char="◻"/>
              <a:defRPr sz="1400"/>
            </a:lvl4pPr>
            <a:lvl5pPr indent="-281939" lvl="4" marL="2286000" algn="l">
              <a:spcBef>
                <a:spcPts val="300"/>
              </a:spcBef>
              <a:spcAft>
                <a:spcPts val="0"/>
              </a:spcAft>
              <a:buSzPts val="840"/>
              <a:buChar char="◻"/>
              <a:defRPr sz="1200"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42" name="Google Shape;42;p36"/>
          <p:cNvSpPr txBox="1"/>
          <p:nvPr>
            <p:ph idx="4" type="body"/>
          </p:nvPr>
        </p:nvSpPr>
        <p:spPr>
          <a:xfrm>
            <a:off x="4648200" y="1428750"/>
            <a:ext cx="4038600" cy="3257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120" lvl="0" marL="457200" algn="l">
              <a:spcBef>
                <a:spcPts val="600"/>
              </a:spcBef>
              <a:spcAft>
                <a:spcPts val="0"/>
              </a:spcAft>
              <a:buSzPts val="1520"/>
              <a:buChar char="🞂"/>
              <a:defRPr sz="2000"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 sz="1800"/>
            </a:lvl2pPr>
            <a:lvl3pPr indent="-305816" lvl="2" marL="1371600" algn="l">
              <a:spcBef>
                <a:spcPts val="500"/>
              </a:spcBef>
              <a:spcAft>
                <a:spcPts val="0"/>
              </a:spcAft>
              <a:buSzPts val="1216"/>
              <a:buChar char="🞂"/>
              <a:defRPr sz="1600"/>
            </a:lvl3pPr>
            <a:lvl4pPr indent="-290830" lvl="3" marL="1828800" algn="l">
              <a:spcBef>
                <a:spcPts val="400"/>
              </a:spcBef>
              <a:spcAft>
                <a:spcPts val="0"/>
              </a:spcAft>
              <a:buSzPts val="980"/>
              <a:buChar char="◻"/>
              <a:defRPr sz="1400"/>
            </a:lvl4pPr>
            <a:lvl5pPr indent="-281939" lvl="4" marL="2286000" algn="l">
              <a:spcBef>
                <a:spcPts val="300"/>
              </a:spcBef>
              <a:spcAft>
                <a:spcPts val="0"/>
              </a:spcAft>
              <a:buSzPts val="840"/>
              <a:buChar char="◻"/>
              <a:defRPr sz="1200"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43" name="Google Shape;43;p36"/>
          <p:cNvSpPr txBox="1"/>
          <p:nvPr>
            <p:ph type="title"/>
          </p:nvPr>
        </p:nvSpPr>
        <p:spPr>
          <a:xfrm>
            <a:off x="457200" y="51435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20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6"/>
          <p:cNvSpPr txBox="1"/>
          <p:nvPr>
            <p:ph idx="11" type="ftr"/>
          </p:nvPr>
        </p:nvSpPr>
        <p:spPr>
          <a:xfrm>
            <a:off x="2135872" y="4800601"/>
            <a:ext cx="5105400" cy="240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Google Shape;46;p37"/>
          <p:cNvCxnSpPr/>
          <p:nvPr/>
        </p:nvCxnSpPr>
        <p:spPr>
          <a:xfrm>
            <a:off x="457200" y="4743450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" name="Google Shape;47;p37"/>
          <p:cNvSpPr txBox="1"/>
          <p:nvPr>
            <p:ph idx="12" type="sldNum"/>
          </p:nvPr>
        </p:nvSpPr>
        <p:spPr>
          <a:xfrm>
            <a:off x="7467600" y="4800600"/>
            <a:ext cx="1219200" cy="23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37"/>
          <p:cNvSpPr txBox="1"/>
          <p:nvPr>
            <p:ph type="title"/>
          </p:nvPr>
        </p:nvSpPr>
        <p:spPr>
          <a:xfrm>
            <a:off x="457200" y="51435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20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7"/>
          <p:cNvSpPr txBox="1"/>
          <p:nvPr>
            <p:ph idx="11" type="ftr"/>
          </p:nvPr>
        </p:nvSpPr>
        <p:spPr>
          <a:xfrm>
            <a:off x="2135872" y="4800601"/>
            <a:ext cx="5105400" cy="240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8"/>
          <p:cNvSpPr txBox="1"/>
          <p:nvPr>
            <p:ph type="title"/>
          </p:nvPr>
        </p:nvSpPr>
        <p:spPr>
          <a:xfrm>
            <a:off x="1219200" y="2228850"/>
            <a:ext cx="6858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i"/>
              <a:buNone/>
              <a:defRPr b="0" sz="32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8"/>
          <p:cNvSpPr txBox="1"/>
          <p:nvPr>
            <p:ph idx="1" type="body"/>
          </p:nvPr>
        </p:nvSpPr>
        <p:spPr>
          <a:xfrm>
            <a:off x="1295400" y="3200400"/>
            <a:ext cx="67818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368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216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53" name="Google Shape;53;p38"/>
          <p:cNvSpPr txBox="1"/>
          <p:nvPr>
            <p:ph idx="10" type="dt"/>
          </p:nvPr>
        </p:nvSpPr>
        <p:spPr>
          <a:xfrm>
            <a:off x="6400800" y="476631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4" name="Google Shape;54;p38"/>
          <p:cNvSpPr txBox="1"/>
          <p:nvPr>
            <p:ph idx="11" type="ftr"/>
          </p:nvPr>
        </p:nvSpPr>
        <p:spPr>
          <a:xfrm>
            <a:off x="2898648" y="476631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8"/>
          <p:cNvSpPr txBox="1"/>
          <p:nvPr>
            <p:ph idx="12" type="sldNum"/>
          </p:nvPr>
        </p:nvSpPr>
        <p:spPr>
          <a:xfrm>
            <a:off x="1069848" y="4766310"/>
            <a:ext cx="15209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38"/>
          <p:cNvSpPr/>
          <p:nvPr/>
        </p:nvSpPr>
        <p:spPr>
          <a:xfrm>
            <a:off x="914400" y="2114550"/>
            <a:ext cx="7315200" cy="96012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7" name="Google Shape;57;p38"/>
          <p:cNvSpPr/>
          <p:nvPr/>
        </p:nvSpPr>
        <p:spPr>
          <a:xfrm>
            <a:off x="914400" y="2114550"/>
            <a:ext cx="228600" cy="9601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Google Shape;59;p39"/>
          <p:cNvCxnSpPr/>
          <p:nvPr/>
        </p:nvCxnSpPr>
        <p:spPr>
          <a:xfrm>
            <a:off x="457200" y="4743450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" name="Google Shape;60;p39"/>
          <p:cNvSpPr txBox="1"/>
          <p:nvPr>
            <p:ph idx="12" type="sldNum"/>
          </p:nvPr>
        </p:nvSpPr>
        <p:spPr>
          <a:xfrm>
            <a:off x="7467600" y="4800600"/>
            <a:ext cx="1219200" cy="23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" name="Google Shape;61;p39"/>
          <p:cNvSpPr txBox="1"/>
          <p:nvPr>
            <p:ph idx="11" type="ftr"/>
          </p:nvPr>
        </p:nvSpPr>
        <p:spPr>
          <a:xfrm>
            <a:off x="457200" y="4800601"/>
            <a:ext cx="6934200" cy="240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0"/>
          <p:cNvSpPr txBox="1"/>
          <p:nvPr>
            <p:ph type="title"/>
          </p:nvPr>
        </p:nvSpPr>
        <p:spPr>
          <a:xfrm>
            <a:off x="6324600" y="228600"/>
            <a:ext cx="23622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Cambria"/>
              <a:buNone/>
              <a:defRPr b="0" sz="20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0"/>
          <p:cNvSpPr txBox="1"/>
          <p:nvPr>
            <p:ph idx="1" type="body"/>
          </p:nvPr>
        </p:nvSpPr>
        <p:spPr>
          <a:xfrm>
            <a:off x="6324600" y="914402"/>
            <a:ext cx="2362200" cy="3771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37500"/>
              </a:lnSpc>
              <a:spcBef>
                <a:spcPts val="600"/>
              </a:spcBef>
              <a:spcAft>
                <a:spcPts val="0"/>
              </a:spcAft>
              <a:buSzPts val="1216"/>
              <a:buNone/>
              <a:defRPr sz="16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12"/>
              <a:buNone/>
              <a:defRPr sz="12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760"/>
              <a:buNone/>
              <a:defRPr sz="10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630"/>
              <a:buNone/>
              <a:defRPr sz="900"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cxnSp>
        <p:nvCxnSpPr>
          <p:cNvPr id="65" name="Google Shape;65;p40"/>
          <p:cNvCxnSpPr/>
          <p:nvPr/>
        </p:nvCxnSpPr>
        <p:spPr>
          <a:xfrm>
            <a:off x="457200" y="4743450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" name="Google Shape;66;p40"/>
          <p:cNvCxnSpPr/>
          <p:nvPr/>
        </p:nvCxnSpPr>
        <p:spPr>
          <a:xfrm rot="5400000">
            <a:off x="3915025" y="2480310"/>
            <a:ext cx="452628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40"/>
          <p:cNvSpPr txBox="1"/>
          <p:nvPr>
            <p:ph idx="2" type="body"/>
          </p:nvPr>
        </p:nvSpPr>
        <p:spPr>
          <a:xfrm>
            <a:off x="457200" y="228600"/>
            <a:ext cx="5562600" cy="44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68" name="Google Shape;68;p40"/>
          <p:cNvSpPr txBox="1"/>
          <p:nvPr>
            <p:ph idx="11" type="ftr"/>
          </p:nvPr>
        </p:nvSpPr>
        <p:spPr>
          <a:xfrm>
            <a:off x="457200" y="4800601"/>
            <a:ext cx="6934200" cy="240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40"/>
          <p:cNvSpPr txBox="1"/>
          <p:nvPr>
            <p:ph idx="12" type="sldNum"/>
          </p:nvPr>
        </p:nvSpPr>
        <p:spPr>
          <a:xfrm>
            <a:off x="7467600" y="4800600"/>
            <a:ext cx="1219200" cy="23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1"/>
          <p:cNvSpPr txBox="1"/>
          <p:nvPr>
            <p:ph type="title"/>
          </p:nvPr>
        </p:nvSpPr>
        <p:spPr>
          <a:xfrm>
            <a:off x="457200" y="375642"/>
            <a:ext cx="8229600" cy="506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300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i"/>
              <a:buNone/>
              <a:defRPr b="0" sz="20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1"/>
          <p:cNvSpPr/>
          <p:nvPr>
            <p:ph idx="2" type="pic"/>
          </p:nvPr>
        </p:nvSpPr>
        <p:spPr>
          <a:xfrm>
            <a:off x="457200" y="1428750"/>
            <a:ext cx="8229600" cy="3202686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73" name="Google Shape;73;p41"/>
          <p:cNvSpPr txBox="1"/>
          <p:nvPr>
            <p:ph idx="1" type="body"/>
          </p:nvPr>
        </p:nvSpPr>
        <p:spPr>
          <a:xfrm>
            <a:off x="457200" y="914400"/>
            <a:ext cx="82296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064"/>
              <a:buFont typeface="Cambria"/>
              <a:buNone/>
              <a:defRPr sz="1400"/>
            </a:lvl1pPr>
            <a:lvl2pPr indent="-286512" lvl="1" marL="914400" algn="l">
              <a:spcBef>
                <a:spcPts val="500"/>
              </a:spcBef>
              <a:spcAft>
                <a:spcPts val="0"/>
              </a:spcAft>
              <a:buSzPts val="912"/>
              <a:buChar char="🞂"/>
              <a:defRPr sz="1200"/>
            </a:lvl2pPr>
            <a:lvl3pPr indent="-276860" lvl="2" marL="1371600" algn="l">
              <a:spcBef>
                <a:spcPts val="500"/>
              </a:spcBef>
              <a:spcAft>
                <a:spcPts val="0"/>
              </a:spcAft>
              <a:buSzPts val="760"/>
              <a:buChar char="🞂"/>
              <a:defRPr sz="1000"/>
            </a:lvl3pPr>
            <a:lvl4pPr indent="-268605" lvl="3" marL="1828800" algn="l">
              <a:spcBef>
                <a:spcPts val="400"/>
              </a:spcBef>
              <a:spcAft>
                <a:spcPts val="0"/>
              </a:spcAft>
              <a:buSzPts val="630"/>
              <a:buChar char="◻"/>
              <a:defRPr sz="900"/>
            </a:lvl4pPr>
            <a:lvl5pPr indent="-268604" lvl="4" marL="2286000" algn="l">
              <a:spcBef>
                <a:spcPts val="300"/>
              </a:spcBef>
              <a:spcAft>
                <a:spcPts val="0"/>
              </a:spcAft>
              <a:buSzPts val="630"/>
              <a:buChar char="◻"/>
              <a:defRPr sz="900"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74" name="Google Shape;74;p41"/>
          <p:cNvSpPr txBox="1"/>
          <p:nvPr>
            <p:ph idx="11" type="ftr"/>
          </p:nvPr>
        </p:nvSpPr>
        <p:spPr>
          <a:xfrm>
            <a:off x="457200" y="4767263"/>
            <a:ext cx="541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1"/>
          <p:cNvSpPr txBox="1"/>
          <p:nvPr>
            <p:ph idx="12" type="sldNum"/>
          </p:nvPr>
        </p:nvSpPr>
        <p:spPr>
          <a:xfrm>
            <a:off x="5943600" y="4764881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6" name="Google Shape;76;p41"/>
          <p:cNvCxnSpPr/>
          <p:nvPr/>
        </p:nvCxnSpPr>
        <p:spPr>
          <a:xfrm>
            <a:off x="457200" y="4764881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/>
          <p:nvPr>
            <p:ph idx="1" type="body"/>
          </p:nvPr>
        </p:nvSpPr>
        <p:spPr>
          <a:xfrm>
            <a:off x="457200" y="1028700"/>
            <a:ext cx="82296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4424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Char char="🞂"/>
              <a:defRPr b="0" i="0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339597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🞂"/>
              <a:defRPr b="0" i="0" sz="23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-325119" lvl="2" marL="1371600" marR="0" rtl="0" algn="l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 Symbols"/>
              <a:buChar char="🞂"/>
              <a:defRPr b="0" i="0" sz="2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-30861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A84643"/>
              </a:buClr>
              <a:buSzPts val="1260"/>
              <a:buFont typeface="Noto Sans Symbols"/>
              <a:buChar char="◻"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-29972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◻"/>
              <a:defRPr b="0" i="0" sz="16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-304800" lvl="5" marL="2743200" marR="0" rtl="0" algn="l"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🞂"/>
              <a:defRPr b="0" i="0" sz="16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-295275" lvl="6" marL="3200400" marR="0" rtl="0" algn="l"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-295275" lvl="7" marL="3657600" marR="0" rtl="0" algn="l"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-285750" lvl="8" marL="4114800" marR="0" rtl="0" algn="l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🞂"/>
              <a:defRPr b="0" i="0" sz="12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11" name="Google Shape;11;p32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7F7F7F"/>
                </a:solidFill>
                <a:latin typeface="Oi"/>
                <a:ea typeface="Oi"/>
                <a:cs typeface="Oi"/>
                <a:sym typeface="Oi"/>
              </a:rPr>
              <a:t>CS123 | INTRODUCTION TO COMPUTER GRAPHICS</a:t>
            </a:r>
            <a:endParaRPr b="0" i="0" sz="1400" u="none" cap="none" strike="noStrike">
              <a:solidFill>
                <a:srgbClr val="7F7F7F"/>
              </a:solidFill>
              <a:latin typeface="Oi"/>
              <a:ea typeface="Oi"/>
              <a:cs typeface="Oi"/>
              <a:sym typeface="Oi"/>
            </a:endParaRPr>
          </a:p>
        </p:txBody>
      </p:sp>
      <p:sp>
        <p:nvSpPr>
          <p:cNvPr id="12" name="Google Shape;12;p32"/>
          <p:cNvSpPr txBox="1"/>
          <p:nvPr>
            <p:ph idx="11" type="ftr"/>
          </p:nvPr>
        </p:nvSpPr>
        <p:spPr>
          <a:xfrm>
            <a:off x="2135872" y="4800601"/>
            <a:ext cx="5105400" cy="240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3" name="Google Shape;13;p32"/>
          <p:cNvSpPr txBox="1"/>
          <p:nvPr>
            <p:ph idx="12" type="sldNum"/>
          </p:nvPr>
        </p:nvSpPr>
        <p:spPr>
          <a:xfrm>
            <a:off x="7467600" y="4800600"/>
            <a:ext cx="1219200" cy="23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32"/>
          <p:cNvSpPr/>
          <p:nvPr/>
        </p:nvSpPr>
        <p:spPr>
          <a:xfrm>
            <a:off x="457200" y="4800601"/>
            <a:ext cx="1752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7F7F7F"/>
                </a:solidFill>
                <a:latin typeface="Oi"/>
                <a:ea typeface="Oi"/>
                <a:cs typeface="Oi"/>
                <a:sym typeface="Oi"/>
              </a:rPr>
              <a:t>Andries van Dam</a:t>
            </a:r>
            <a:endParaRPr b="0" sz="1400">
              <a:solidFill>
                <a:srgbClr val="7F7F7F"/>
              </a:solidFill>
              <a:latin typeface="Oi"/>
              <a:ea typeface="Oi"/>
              <a:cs typeface="Oi"/>
              <a:sym typeface="Oi"/>
            </a:endParaRPr>
          </a:p>
        </p:txBody>
      </p:sp>
      <p:sp>
        <p:nvSpPr>
          <p:cNvPr id="15" name="Google Shape;15;p32"/>
          <p:cNvSpPr txBox="1"/>
          <p:nvPr>
            <p:ph type="title"/>
          </p:nvPr>
        </p:nvSpPr>
        <p:spPr>
          <a:xfrm>
            <a:off x="457200" y="51435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920000"/>
              </a:buClr>
              <a:buSzPts val="2800"/>
              <a:buFont typeface="Oi"/>
              <a:buNone/>
              <a:defRPr b="0" i="0" sz="2800" u="none" cap="none" strike="noStrike">
                <a:solidFill>
                  <a:srgbClr val="920000"/>
                </a:solidFill>
                <a:latin typeface="Oi"/>
                <a:ea typeface="Oi"/>
                <a:cs typeface="Oi"/>
                <a:sym typeface="O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4.png"/><Relationship Id="rId10" Type="http://schemas.openxmlformats.org/officeDocument/2006/relationships/image" Target="../media/image1.png"/><Relationship Id="rId13" Type="http://schemas.openxmlformats.org/officeDocument/2006/relationships/image" Target="../media/image27.png"/><Relationship Id="rId1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vimeo.com/102459431#t=45s" TargetMode="External"/><Relationship Id="rId4" Type="http://schemas.openxmlformats.org/officeDocument/2006/relationships/image" Target="../media/image20.jpg"/><Relationship Id="rId9" Type="http://schemas.openxmlformats.org/officeDocument/2006/relationships/image" Target="../media/image9.png"/><Relationship Id="rId5" Type="http://schemas.openxmlformats.org/officeDocument/2006/relationships/image" Target="../media/image3.jpg"/><Relationship Id="rId6" Type="http://schemas.openxmlformats.org/officeDocument/2006/relationships/image" Target="../media/image13.png"/><Relationship Id="rId7" Type="http://schemas.openxmlformats.org/officeDocument/2006/relationships/image" Target="../media/image25.png"/><Relationship Id="rId8" Type="http://schemas.openxmlformats.org/officeDocument/2006/relationships/image" Target="../media/image3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Relationship Id="rId4" Type="http://schemas.openxmlformats.org/officeDocument/2006/relationships/image" Target="../media/image15.png"/><Relationship Id="rId5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1.jpg"/><Relationship Id="rId4" Type="http://schemas.openxmlformats.org/officeDocument/2006/relationships/image" Target="../media/image22.png"/><Relationship Id="rId5" Type="http://schemas.openxmlformats.org/officeDocument/2006/relationships/image" Target="../media/image18.png"/><Relationship Id="rId6" Type="http://schemas.openxmlformats.org/officeDocument/2006/relationships/image" Target="../media/image21.jpg"/><Relationship Id="rId7" Type="http://schemas.openxmlformats.org/officeDocument/2006/relationships/image" Target="../media/image3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2.png"/><Relationship Id="rId4" Type="http://schemas.openxmlformats.org/officeDocument/2006/relationships/image" Target="../media/image3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2.png"/><Relationship Id="rId4" Type="http://schemas.openxmlformats.org/officeDocument/2006/relationships/image" Target="../media/image28.png"/><Relationship Id="rId5" Type="http://schemas.openxmlformats.org/officeDocument/2006/relationships/image" Target="../media/image43.png"/><Relationship Id="rId6" Type="http://schemas.openxmlformats.org/officeDocument/2006/relationships/image" Target="../media/image3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6.png"/><Relationship Id="rId4" Type="http://schemas.openxmlformats.org/officeDocument/2006/relationships/image" Target="../media/image42.png"/><Relationship Id="rId5" Type="http://schemas.openxmlformats.org/officeDocument/2006/relationships/image" Target="../media/image3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6.jpg"/><Relationship Id="rId4" Type="http://schemas.openxmlformats.org/officeDocument/2006/relationships/image" Target="../media/image3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5.png"/><Relationship Id="rId4" Type="http://schemas.openxmlformats.org/officeDocument/2006/relationships/image" Target="../media/image44.png"/><Relationship Id="rId9" Type="http://schemas.openxmlformats.org/officeDocument/2006/relationships/image" Target="../media/image55.jpg"/><Relationship Id="rId5" Type="http://schemas.openxmlformats.org/officeDocument/2006/relationships/image" Target="../media/image52.png"/><Relationship Id="rId6" Type="http://schemas.openxmlformats.org/officeDocument/2006/relationships/image" Target="../media/image50.png"/><Relationship Id="rId7" Type="http://schemas.openxmlformats.org/officeDocument/2006/relationships/image" Target="../media/image54.png"/><Relationship Id="rId8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5917" y="645583"/>
            <a:ext cx="5408083" cy="3043979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"/>
          <p:cNvSpPr txBox="1"/>
          <p:nvPr>
            <p:ph type="ctrTitle"/>
          </p:nvPr>
        </p:nvSpPr>
        <p:spPr>
          <a:xfrm>
            <a:off x="457202" y="2736056"/>
            <a:ext cx="8229599" cy="960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i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84" name="Google Shape;84;p1"/>
          <p:cNvSpPr txBox="1"/>
          <p:nvPr>
            <p:ph idx="1" type="subTitle"/>
          </p:nvPr>
        </p:nvSpPr>
        <p:spPr>
          <a:xfrm>
            <a:off x="457202" y="3786188"/>
            <a:ext cx="82296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US"/>
              <a:t>CS423: Computer Graphics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5102154" y="3832159"/>
            <a:ext cx="35857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Still from Pixar’s Inside Out, 2015</a:t>
            </a:r>
            <a:endParaRPr b="0" sz="1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idx="1" type="body"/>
          </p:nvPr>
        </p:nvSpPr>
        <p:spPr>
          <a:xfrm>
            <a:off x="457200" y="1085850"/>
            <a:ext cx="82296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520"/>
              <a:buChar char="🞂"/>
            </a:pPr>
            <a:r>
              <a:rPr lang="en-US"/>
              <a:t>Computer graphics generally means creation, storage and manipulation of models and images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520"/>
              <a:buChar char="🞂"/>
            </a:pPr>
            <a:r>
              <a:rPr lang="en-US"/>
              <a:t>Such models come from diverse and expanding set of fields including physical, biological, mathematical, artistic, and conceptual/abstract structures</a:t>
            </a:r>
            <a:endParaRPr/>
          </a:p>
          <a:p>
            <a:pPr indent="-177800" lvl="0" marL="274320" rtl="0" algn="l">
              <a:spcBef>
                <a:spcPts val="6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/>
          </a:p>
        </p:txBody>
      </p:sp>
      <p:sp>
        <p:nvSpPr>
          <p:cNvPr id="92" name="Google Shape;92;p2"/>
          <p:cNvSpPr txBox="1"/>
          <p:nvPr>
            <p:ph type="title"/>
          </p:nvPr>
        </p:nvSpPr>
        <p:spPr>
          <a:xfrm>
            <a:off x="457200" y="51435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20000"/>
              </a:buClr>
              <a:buSzPct val="100000"/>
              <a:buFont typeface="Oi"/>
              <a:buNone/>
            </a:pPr>
            <a:r>
              <a:rPr lang="en-US"/>
              <a:t>What is Computer Graphics? (1/2)</a:t>
            </a:r>
            <a:endParaRPr/>
          </a:p>
        </p:txBody>
      </p:sp>
      <p:sp>
        <p:nvSpPr>
          <p:cNvPr id="93" name="Google Shape;93;p2"/>
          <p:cNvSpPr txBox="1"/>
          <p:nvPr/>
        </p:nvSpPr>
        <p:spPr>
          <a:xfrm>
            <a:off x="1596436" y="3602358"/>
            <a:ext cx="36068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Frame from animation by William Latham, shown at </a:t>
            </a:r>
            <a:r>
              <a:rPr b="1" lang="en-US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SIGGRAPH 1992</a:t>
            </a:r>
            <a:r>
              <a:rPr b="0" lang="en-US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 Latham creates his artwork using rules that govern patterns of natural forms.</a:t>
            </a:r>
            <a:endParaRPr b="0"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descr="Lathan" id="94" name="Google Shape;9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877" y="2759336"/>
            <a:ext cx="2310689" cy="192024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"/>
          <p:cNvSpPr txBox="1"/>
          <p:nvPr>
            <p:ph idx="12" type="sldNum"/>
          </p:nvPr>
        </p:nvSpPr>
        <p:spPr>
          <a:xfrm>
            <a:off x="7467600" y="4800600"/>
            <a:ext cx="1219200" cy="23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etter_boeing" id="101" name="Google Shape;10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70261" y="633715"/>
            <a:ext cx="2496105" cy="2091182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"/>
          <p:cNvSpPr txBox="1"/>
          <p:nvPr>
            <p:ph idx="1" type="body"/>
          </p:nvPr>
        </p:nvSpPr>
        <p:spPr>
          <a:xfrm>
            <a:off x="457200" y="1085850"/>
            <a:ext cx="6418162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520"/>
              <a:buChar char="🞂"/>
            </a:pPr>
            <a:r>
              <a:rPr lang="en-US"/>
              <a:t>William Fetter coined term “computer graphics” in 1960 to describe new design methods he was pursuing at Boeing for cockpit ergonomics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520"/>
              <a:buChar char="🞂"/>
            </a:pPr>
            <a:r>
              <a:rPr lang="en-US"/>
              <a:t>Created a series of widely reproduced images on “pen plotter” exploring cockpit design, using 3D model of human body.  </a:t>
            </a:r>
            <a:endParaRPr/>
          </a:p>
        </p:txBody>
      </p:sp>
      <p:sp>
        <p:nvSpPr>
          <p:cNvPr id="103" name="Google Shape;103;p3"/>
          <p:cNvSpPr txBox="1"/>
          <p:nvPr>
            <p:ph type="title"/>
          </p:nvPr>
        </p:nvSpPr>
        <p:spPr>
          <a:xfrm>
            <a:off x="457200" y="51435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20000"/>
              </a:buClr>
              <a:buSzPct val="100000"/>
              <a:buFont typeface="Oi"/>
              <a:buNone/>
            </a:pPr>
            <a:r>
              <a:rPr lang="en-US"/>
              <a:t>What is Computer Graphics? (2/2)</a:t>
            </a:r>
            <a:endParaRPr/>
          </a:p>
        </p:txBody>
      </p:sp>
      <p:sp>
        <p:nvSpPr>
          <p:cNvPr id="104" name="Google Shape;104;p3"/>
          <p:cNvSpPr txBox="1"/>
          <p:nvPr/>
        </p:nvSpPr>
        <p:spPr>
          <a:xfrm>
            <a:off x="2606716" y="2725839"/>
            <a:ext cx="6232484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“Perhaps the best way to define computer graphics is to find out what it is not. It is not a machine. It is not a computer, nor a group of computer programs. It is not the know-how of a graphic designer, a programmer, a writer, a motion picture specialist, or a reproduction specialist.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Computer graphics is all these – a consciously managed and documented technology directed toward </a:t>
            </a:r>
            <a:r>
              <a:rPr b="0" lang="en-US" sz="1400">
                <a:solidFill>
                  <a:schemeClr val="accent2"/>
                </a:solidFill>
                <a:latin typeface="Cambria"/>
                <a:ea typeface="Cambria"/>
                <a:cs typeface="Cambria"/>
                <a:sym typeface="Cambria"/>
              </a:rPr>
              <a:t>communicating information </a:t>
            </a:r>
            <a:r>
              <a:rPr b="0" lang="en-US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accurately and descriptively.”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1" i="1" lang="en-US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Computer Graphics</a:t>
            </a:r>
            <a:r>
              <a:rPr b="0" lang="en-US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by William A. Fetter, 1966</a:t>
            </a:r>
            <a:endParaRPr/>
          </a:p>
        </p:txBody>
      </p:sp>
      <p:sp>
        <p:nvSpPr>
          <p:cNvPr id="105" name="Google Shape;105;p3"/>
          <p:cNvSpPr txBox="1"/>
          <p:nvPr>
            <p:ph idx="12" type="sldNum"/>
          </p:nvPr>
        </p:nvSpPr>
        <p:spPr>
          <a:xfrm>
            <a:off x="7467600" y="4800600"/>
            <a:ext cx="1219200" cy="23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>
            <p:ph idx="1" type="body"/>
          </p:nvPr>
        </p:nvSpPr>
        <p:spPr>
          <a:xfrm>
            <a:off x="300784" y="1027062"/>
            <a:ext cx="8212827" cy="385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76000"/>
              <a:buChar char="🞂"/>
            </a:pPr>
            <a:r>
              <a:rPr lang="en-US"/>
              <a:t>User controls content, structure, and appearance of objects and their displayed images via rapid visual feedback</a:t>
            </a:r>
            <a:endParaRPr/>
          </a:p>
          <a:p>
            <a:pPr indent="-274320" lvl="0" marL="274320" rtl="0" algn="l">
              <a:spcBef>
                <a:spcPts val="1200"/>
              </a:spcBef>
              <a:spcAft>
                <a:spcPts val="0"/>
              </a:spcAft>
              <a:buSzPct val="76000"/>
              <a:buChar char="🞂"/>
            </a:pPr>
            <a:r>
              <a:rPr lang="en-US"/>
              <a:t>Basic components of an interactive graphics system</a:t>
            </a:r>
            <a:endParaRPr/>
          </a:p>
          <a:p>
            <a:pPr indent="-274320" lvl="1" marL="54864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ct val="76000"/>
              <a:buChar char="🞂"/>
            </a:pPr>
            <a:r>
              <a:rPr lang="en-US"/>
              <a:t>input (e.g., mouse, stylus, multi-touch, in-air fingers…)</a:t>
            </a:r>
            <a:endParaRPr/>
          </a:p>
          <a:p>
            <a:pPr indent="-274320" lvl="1" marL="54864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ct val="76000"/>
              <a:buChar char="🞂"/>
            </a:pPr>
            <a:r>
              <a:rPr lang="en-US"/>
              <a:t>processing (and storage of the underlying representation/</a:t>
            </a:r>
            <a:r>
              <a:rPr b="1" lang="en-US"/>
              <a:t>model</a:t>
            </a:r>
            <a:r>
              <a:rPr lang="en-US"/>
              <a:t>)</a:t>
            </a:r>
            <a:endParaRPr/>
          </a:p>
          <a:p>
            <a:pPr indent="-274320" lvl="1" marL="54864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ct val="76000"/>
              <a:buChar char="🞂"/>
            </a:pPr>
            <a:r>
              <a:rPr lang="en-US"/>
              <a:t>display/output (e.g., screen, paper-based printer, </a:t>
            </a:r>
            <a:br>
              <a:rPr lang="en-US"/>
            </a:br>
            <a:r>
              <a:rPr lang="en-US"/>
              <a:t>video recorder…)</a:t>
            </a:r>
            <a:endParaRPr/>
          </a:p>
          <a:p>
            <a:pPr indent="-274320" lvl="0" marL="274320" rtl="0" algn="l">
              <a:spcBef>
                <a:spcPts val="1200"/>
              </a:spcBef>
              <a:spcAft>
                <a:spcPts val="0"/>
              </a:spcAft>
              <a:buSzPct val="76000"/>
              <a:buChar char="🞂"/>
            </a:pPr>
            <a:r>
              <a:rPr lang="en-US"/>
              <a:t>First truly interactive graphics system, </a:t>
            </a:r>
            <a:br>
              <a:rPr lang="en-US"/>
            </a:br>
            <a:r>
              <a:rPr b="1" lang="en-US"/>
              <a:t>Sketchpad</a:t>
            </a:r>
            <a:r>
              <a:rPr lang="en-US"/>
              <a:t>, pioneered by Ivan  Sutherland 1963 Ph.D. thesis                                                                                 </a:t>
            </a:r>
            <a:r>
              <a:rPr i="1" lang="en-US"/>
              <a:t>Sketchpad, A Man-Machine Graphical Communication System</a:t>
            </a:r>
            <a:endParaRPr/>
          </a:p>
          <a:p>
            <a:pPr indent="-274320" lvl="0" marL="274320" rtl="0" algn="l">
              <a:spcBef>
                <a:spcPts val="1200"/>
              </a:spcBef>
              <a:spcAft>
                <a:spcPts val="0"/>
              </a:spcAft>
              <a:buSzPct val="76000"/>
              <a:buChar char="🞂"/>
            </a:pPr>
            <a:r>
              <a:rPr lang="en-US"/>
              <a:t>Used TX-2 transistorized “mainframe”  </a:t>
            </a:r>
            <a:br>
              <a:rPr lang="en-US"/>
            </a:br>
            <a:r>
              <a:rPr lang="en-US"/>
              <a:t>at MIT Lincoln Lab</a:t>
            </a:r>
            <a:endParaRPr/>
          </a:p>
        </p:txBody>
      </p:sp>
      <p:sp>
        <p:nvSpPr>
          <p:cNvPr id="112" name="Google Shape;112;p4"/>
          <p:cNvSpPr txBox="1"/>
          <p:nvPr>
            <p:ph type="title"/>
          </p:nvPr>
        </p:nvSpPr>
        <p:spPr>
          <a:xfrm>
            <a:off x="457200" y="51435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20000"/>
              </a:buClr>
              <a:buSzPct val="100000"/>
              <a:buFont typeface="Oi"/>
              <a:buNone/>
            </a:pPr>
            <a:r>
              <a:rPr lang="en-US"/>
              <a:t>What is </a:t>
            </a:r>
            <a:r>
              <a:rPr b="1" lang="en-US"/>
              <a:t>Interactive</a:t>
            </a:r>
            <a:r>
              <a:rPr lang="en-US"/>
              <a:t> Computer Graphics? </a:t>
            </a:r>
            <a:endParaRPr/>
          </a:p>
        </p:txBody>
      </p:sp>
      <p:sp>
        <p:nvSpPr>
          <p:cNvPr id="113" name="Google Shape;113;p4"/>
          <p:cNvSpPr txBox="1"/>
          <p:nvPr/>
        </p:nvSpPr>
        <p:spPr>
          <a:xfrm>
            <a:off x="7024593" y="3620235"/>
            <a:ext cx="210737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Note CRT monitor, light pen, and function-key panels – the “organ console” showing bi-manual operation</a:t>
            </a:r>
            <a:endParaRPr b="0"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descr="sutherland" id="114" name="Google Shape;11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87998" y="1494304"/>
            <a:ext cx="2846151" cy="2064842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>
            <p:ph idx="12" type="sldNum"/>
          </p:nvPr>
        </p:nvSpPr>
        <p:spPr>
          <a:xfrm>
            <a:off x="7467600" y="4800600"/>
            <a:ext cx="1219200" cy="23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/>
          <p:nvPr>
            <p:ph idx="1" type="body"/>
          </p:nvPr>
        </p:nvSpPr>
        <p:spPr>
          <a:xfrm>
            <a:off x="293158" y="964704"/>
            <a:ext cx="7973483" cy="3386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68"/>
              <a:buChar char="🞂"/>
            </a:pPr>
            <a:r>
              <a:rPr lang="en-US" sz="1800"/>
              <a:t>Today, still use non-interactive </a:t>
            </a:r>
            <a:r>
              <a:rPr i="1" lang="en-US" sz="1800"/>
              <a:t>batch mode </a:t>
            </a:r>
            <a:r>
              <a:rPr lang="en-US" sz="1800"/>
              <a:t>for final production-quality video and film (special effects – FX). Rendering a single frame of Monsters University (a 24 fps movie) averaged 29 hours on a 24,000-core render farm!</a:t>
            </a:r>
            <a:endParaRPr/>
          </a:p>
        </p:txBody>
      </p:sp>
      <p:sp>
        <p:nvSpPr>
          <p:cNvPr id="122" name="Google Shape;122;p5"/>
          <p:cNvSpPr txBox="1"/>
          <p:nvPr/>
        </p:nvSpPr>
        <p:spPr>
          <a:xfrm>
            <a:off x="5854185" y="4235874"/>
            <a:ext cx="16340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Render farm</a:t>
            </a:r>
            <a:endParaRPr/>
          </a:p>
        </p:txBody>
      </p:sp>
      <p:sp>
        <p:nvSpPr>
          <p:cNvPr id="123" name="Google Shape;123;p5"/>
          <p:cNvSpPr txBox="1"/>
          <p:nvPr>
            <p:ph type="title"/>
          </p:nvPr>
        </p:nvSpPr>
        <p:spPr>
          <a:xfrm>
            <a:off x="457200" y="51435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20000"/>
              </a:buClr>
              <a:buSzPct val="100000"/>
              <a:buFont typeface="Oi"/>
              <a:buNone/>
            </a:pPr>
            <a:r>
              <a:rPr lang="en-US"/>
              <a:t>What is </a:t>
            </a:r>
            <a:r>
              <a:rPr b="1" lang="en-US"/>
              <a:t>Batch</a:t>
            </a:r>
            <a:r>
              <a:rPr lang="en-US"/>
              <a:t> Computer Graphics?  </a:t>
            </a:r>
            <a:endParaRPr/>
          </a:p>
        </p:txBody>
      </p:sp>
      <p:sp>
        <p:nvSpPr>
          <p:cNvPr id="124" name="Google Shape;124;p5"/>
          <p:cNvSpPr txBox="1"/>
          <p:nvPr/>
        </p:nvSpPr>
        <p:spPr>
          <a:xfrm>
            <a:off x="457609" y="4227169"/>
            <a:ext cx="398080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Still from Monsters University</a:t>
            </a:r>
            <a:endParaRPr b="0"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5" name="Google Shape;12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6625" y="1975556"/>
            <a:ext cx="4035778" cy="2260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4815" y="1973423"/>
            <a:ext cx="4012165" cy="2256843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5"/>
          <p:cNvSpPr txBox="1"/>
          <p:nvPr>
            <p:ph idx="12" type="sldNum"/>
          </p:nvPr>
        </p:nvSpPr>
        <p:spPr>
          <a:xfrm>
            <a:off x="7467600" y="4800600"/>
            <a:ext cx="1219200" cy="23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 txBox="1"/>
          <p:nvPr>
            <p:ph idx="1" type="body"/>
          </p:nvPr>
        </p:nvSpPr>
        <p:spPr>
          <a:xfrm>
            <a:off x="457199" y="1085850"/>
            <a:ext cx="6845301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824"/>
              <a:buChar char="🞂"/>
            </a:pPr>
            <a:r>
              <a:rPr lang="en-US" sz="2400"/>
              <a:t>Hardware revolution</a:t>
            </a:r>
            <a:endParaRPr/>
          </a:p>
          <a:p>
            <a:pPr indent="-274320" lvl="1" marL="548640" rtl="0" algn="l">
              <a:spcBef>
                <a:spcPts val="800"/>
              </a:spcBef>
              <a:spcAft>
                <a:spcPts val="0"/>
              </a:spcAft>
              <a:buSzPts val="1520"/>
              <a:buChar char="🞂"/>
            </a:pPr>
            <a:r>
              <a:rPr b="1" lang="en-US" sz="2000">
                <a:solidFill>
                  <a:srgbClr val="FF0000"/>
                </a:solidFill>
              </a:rPr>
              <a:t>Moore’s Law: </a:t>
            </a:r>
            <a:r>
              <a:rPr lang="en-US" sz="1900"/>
              <a:t>every 12-18 months, computer power improves by factor of 2 in price / performance as size shrinks</a:t>
            </a:r>
            <a:endParaRPr/>
          </a:p>
          <a:p>
            <a:pPr indent="-274320" lvl="1" marL="548640" rtl="0" algn="l">
              <a:spcBef>
                <a:spcPts val="800"/>
              </a:spcBef>
              <a:spcAft>
                <a:spcPts val="0"/>
              </a:spcAft>
              <a:buSzPts val="1444"/>
              <a:buChar char="🞂"/>
            </a:pPr>
            <a:r>
              <a:rPr lang="en-US" sz="1900"/>
              <a:t>Newest CPUs are 64-bit with 2, 4, 6, 8, even up to 18 cores</a:t>
            </a:r>
            <a:endParaRPr/>
          </a:p>
          <a:p>
            <a:pPr indent="-274320" lvl="1" marL="548640" rtl="0" algn="l">
              <a:spcBef>
                <a:spcPts val="800"/>
              </a:spcBef>
              <a:spcAft>
                <a:spcPts val="0"/>
              </a:spcAft>
              <a:buSzPts val="1444"/>
              <a:buChar char="🞂"/>
            </a:pPr>
            <a:r>
              <a:rPr lang="en-US" sz="1900"/>
              <a:t>Intel Skylake – consumer processor with 4 cores, 8 threads, and a fully featured graphics chip built in to the processor</a:t>
            </a:r>
            <a:endParaRPr/>
          </a:p>
          <a:p>
            <a:pPr indent="-274320" lvl="1" marL="548640" rtl="0" algn="l">
              <a:spcBef>
                <a:spcPts val="800"/>
              </a:spcBef>
              <a:spcAft>
                <a:spcPts val="0"/>
              </a:spcAft>
              <a:buSzPts val="1444"/>
              <a:buChar char="🞂"/>
            </a:pPr>
            <a:r>
              <a:rPr lang="en-US" sz="1900"/>
              <a:t>Significant advances in commodity graphics chips every 6 months vs. several years for general purpose CPUs</a:t>
            </a:r>
            <a:endParaRPr/>
          </a:p>
          <a:p>
            <a:pPr indent="-228600" lvl="2" marL="822960" rtl="0" algn="l">
              <a:spcBef>
                <a:spcPts val="800"/>
              </a:spcBef>
              <a:spcAft>
                <a:spcPts val="0"/>
              </a:spcAft>
              <a:buSzPts val="1368"/>
              <a:buChar char="🞂"/>
            </a:pPr>
            <a:r>
              <a:rPr lang="en-US" sz="1800"/>
              <a:t>NVIDIA GeForce GTX Titan X… 3072 cores, 12GB memory,  and 7 teraflops of processing power in a single chip</a:t>
            </a:r>
            <a:endParaRPr sz="1800"/>
          </a:p>
          <a:p>
            <a:pPr indent="-141732" lvl="2" marL="822960" rtl="0" algn="l">
              <a:spcBef>
                <a:spcPts val="80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sp>
        <p:nvSpPr>
          <p:cNvPr id="134" name="Google Shape;134;p6"/>
          <p:cNvSpPr txBox="1"/>
          <p:nvPr>
            <p:ph type="title"/>
          </p:nvPr>
        </p:nvSpPr>
        <p:spPr>
          <a:xfrm>
            <a:off x="457200" y="51435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20000"/>
              </a:buClr>
              <a:buSzPct val="100000"/>
              <a:buFont typeface="Oi"/>
              <a:buNone/>
            </a:pPr>
            <a:r>
              <a:rPr lang="en-US"/>
              <a:t>Enabling Modern Computer Graphics (1/5) </a:t>
            </a:r>
            <a:endParaRPr/>
          </a:p>
        </p:txBody>
      </p:sp>
      <p:pic>
        <p:nvPicPr>
          <p:cNvPr id="135" name="Google Shape;135;p6"/>
          <p:cNvPicPr preferRelativeResize="0"/>
          <p:nvPr/>
        </p:nvPicPr>
        <p:blipFill rotWithShape="1">
          <a:blip r:embed="rId3">
            <a:alphaModFix/>
          </a:blip>
          <a:srcRect b="7990" l="19487" r="29744" t="7992"/>
          <a:stretch/>
        </p:blipFill>
        <p:spPr>
          <a:xfrm>
            <a:off x="7173773" y="2741088"/>
            <a:ext cx="1970227" cy="1830918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6"/>
          <p:cNvSpPr txBox="1"/>
          <p:nvPr>
            <p:ph idx="12" type="sldNum"/>
          </p:nvPr>
        </p:nvSpPr>
        <p:spPr>
          <a:xfrm>
            <a:off x="7467600" y="4800600"/>
            <a:ext cx="1219200" cy="23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 txBox="1"/>
          <p:nvPr>
            <p:ph idx="1" type="body"/>
          </p:nvPr>
        </p:nvSpPr>
        <p:spPr>
          <a:xfrm>
            <a:off x="457200" y="1085850"/>
            <a:ext cx="82296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76000"/>
              <a:buChar char="🞂"/>
            </a:pPr>
            <a:r>
              <a:rPr lang="en-US"/>
              <a:t>Graphic subsystems </a:t>
            </a:r>
            <a:endParaRPr/>
          </a:p>
          <a:p>
            <a:pPr indent="-274320" lvl="1" marL="548640" rtl="0" algn="l">
              <a:spcBef>
                <a:spcPts val="800"/>
              </a:spcBef>
              <a:spcAft>
                <a:spcPts val="0"/>
              </a:spcAft>
              <a:buSzPct val="76000"/>
              <a:buChar char="🞂"/>
            </a:pPr>
            <a:r>
              <a:rPr lang="en-US"/>
              <a:t>Offloads graphics processing from CPU to chip designed for doing graphics operations quickly</a:t>
            </a:r>
            <a:endParaRPr/>
          </a:p>
          <a:p>
            <a:pPr indent="-274320" lvl="1" marL="548640" rtl="0" algn="l">
              <a:spcBef>
                <a:spcPts val="800"/>
              </a:spcBef>
              <a:spcAft>
                <a:spcPts val="0"/>
              </a:spcAft>
              <a:buSzPct val="76000"/>
              <a:buChar char="🞂"/>
            </a:pPr>
            <a:r>
              <a:rPr lang="en-US"/>
              <a:t>nVidia GeForce™, AMD Radeon™, and Intel HD and Iris Pro Graphics</a:t>
            </a:r>
            <a:endParaRPr/>
          </a:p>
          <a:p>
            <a:pPr indent="-274320" lvl="1" marL="548640" rtl="0" algn="l">
              <a:spcBef>
                <a:spcPts val="800"/>
              </a:spcBef>
              <a:spcAft>
                <a:spcPts val="0"/>
              </a:spcAft>
              <a:buSzPct val="76000"/>
              <a:buChar char="🞂"/>
            </a:pPr>
            <a:r>
              <a:rPr lang="en-US"/>
              <a:t>GPUs originally designed to handle special-purpose graphics computations</a:t>
            </a:r>
            <a:endParaRPr/>
          </a:p>
          <a:p>
            <a:pPr indent="-274320" lvl="1" marL="548640" rtl="0" algn="l">
              <a:spcBef>
                <a:spcPts val="800"/>
              </a:spcBef>
              <a:spcAft>
                <a:spcPts val="0"/>
              </a:spcAft>
              <a:buSzPct val="76000"/>
              <a:buChar char="🞂"/>
            </a:pPr>
            <a:r>
              <a:rPr lang="en-US"/>
              <a:t>Increasingly, GPUs used to parallelize other types of computation (known as </a:t>
            </a:r>
            <a:r>
              <a:rPr b="1" lang="en-US"/>
              <a:t>GPGPU</a:t>
            </a:r>
            <a:r>
              <a:rPr lang="en-US"/>
              <a:t>, or General-Purpose Computing on the Graphics Processing Unit)</a:t>
            </a:r>
            <a:endParaRPr/>
          </a:p>
          <a:p>
            <a:pPr indent="-274320" lvl="0" marL="274320" rtl="0" algn="l">
              <a:spcBef>
                <a:spcPts val="800"/>
              </a:spcBef>
              <a:spcAft>
                <a:spcPts val="0"/>
              </a:spcAft>
              <a:buSzPct val="76000"/>
              <a:buChar char="🞂"/>
            </a:pPr>
            <a:r>
              <a:rPr lang="en-US"/>
              <a:t>Hardware show and tell: Dept’s NVIDIA GeForce GTX 460s</a:t>
            </a:r>
            <a:endParaRPr/>
          </a:p>
          <a:p>
            <a:pPr indent="-274320" lvl="1" marL="548640" rtl="0" algn="l">
              <a:spcBef>
                <a:spcPts val="800"/>
              </a:spcBef>
              <a:spcAft>
                <a:spcPts val="0"/>
              </a:spcAft>
              <a:buSzPct val="76000"/>
              <a:buChar char="🞂"/>
            </a:pPr>
            <a:r>
              <a:rPr lang="en-US"/>
              <a:t>1.35 GHz clock, 1GB memory, 37.8 billion pixels/second fill rate</a:t>
            </a:r>
            <a:endParaRPr/>
          </a:p>
          <a:p>
            <a:pPr indent="-274320" lvl="1" marL="548640" rtl="0" algn="l">
              <a:spcBef>
                <a:spcPts val="800"/>
              </a:spcBef>
              <a:spcAft>
                <a:spcPts val="0"/>
              </a:spcAft>
              <a:buSzPct val="76000"/>
              <a:buChar char="🞂"/>
            </a:pPr>
            <a:r>
              <a:rPr lang="en-US"/>
              <a:t>Old cards:  GeForce 7300 GT:   350 MHz clock, 256 MB memory, 2.8 billion </a:t>
            </a:r>
            <a:br>
              <a:rPr lang="en-US"/>
            </a:br>
            <a:r>
              <a:rPr lang="en-US"/>
              <a:t>fill rate</a:t>
            </a:r>
            <a:endParaRPr/>
          </a:p>
          <a:p>
            <a:pPr indent="-193967" lvl="1" marL="548640" rtl="0" algn="l">
              <a:spcBef>
                <a:spcPts val="90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 txBox="1"/>
          <p:nvPr>
            <p:ph type="title"/>
          </p:nvPr>
        </p:nvSpPr>
        <p:spPr>
          <a:xfrm>
            <a:off x="457200" y="51435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20000"/>
              </a:buClr>
              <a:buSzPct val="100000"/>
              <a:buFont typeface="Oi"/>
              <a:buNone/>
            </a:pPr>
            <a:r>
              <a:rPr lang="en-US"/>
              <a:t>Enabling Modern Computer Graphics (2/5) </a:t>
            </a:r>
            <a:endParaRPr/>
          </a:p>
        </p:txBody>
      </p:sp>
      <p:sp>
        <p:nvSpPr>
          <p:cNvPr id="144" name="Google Shape;144;p7"/>
          <p:cNvSpPr txBox="1"/>
          <p:nvPr>
            <p:ph idx="12" type="sldNum"/>
          </p:nvPr>
        </p:nvSpPr>
        <p:spPr>
          <a:xfrm>
            <a:off x="7467600" y="4800600"/>
            <a:ext cx="1219200" cy="23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 txBox="1"/>
          <p:nvPr>
            <p:ph idx="1" type="body"/>
          </p:nvPr>
        </p:nvSpPr>
        <p:spPr>
          <a:xfrm>
            <a:off x="457200" y="1085850"/>
            <a:ext cx="8214510" cy="2774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520"/>
              <a:buChar char="🞂"/>
            </a:pPr>
            <a:r>
              <a:rPr lang="en-US"/>
              <a:t>Input Devices</a:t>
            </a:r>
            <a:endParaRPr/>
          </a:p>
          <a:p>
            <a:pPr indent="-274320" lvl="1" marL="548640" rtl="0" algn="l">
              <a:spcBef>
                <a:spcPts val="500"/>
              </a:spcBef>
              <a:spcAft>
                <a:spcPts val="0"/>
              </a:spcAft>
              <a:buSzPts val="1368"/>
              <a:buChar char="🞂"/>
            </a:pPr>
            <a:r>
              <a:rPr lang="en-US"/>
              <a:t>Mouse, tablet &amp; stylus, multi-touch, force feedback, and other game controllers (e.g., Wii), scanner, digital camera (images, computer vision), etc.</a:t>
            </a:r>
            <a:endParaRPr/>
          </a:p>
          <a:p>
            <a:pPr indent="-274320" lvl="1" marL="548640" rtl="0" algn="l">
              <a:spcBef>
                <a:spcPts val="500"/>
              </a:spcBef>
              <a:spcAft>
                <a:spcPts val="0"/>
              </a:spcAft>
              <a:buSzPts val="1368"/>
              <a:buChar char="🞂"/>
            </a:pPr>
            <a:r>
              <a:rPr lang="en-US"/>
              <a:t>Body as interaction device</a:t>
            </a:r>
            <a:endParaRPr/>
          </a:p>
        </p:txBody>
      </p:sp>
      <p:sp>
        <p:nvSpPr>
          <p:cNvPr id="151" name="Google Shape;151;p8"/>
          <p:cNvSpPr txBox="1"/>
          <p:nvPr>
            <p:ph type="title"/>
          </p:nvPr>
        </p:nvSpPr>
        <p:spPr>
          <a:xfrm>
            <a:off x="457200" y="51435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20000"/>
              </a:buClr>
              <a:buSzPct val="100000"/>
              <a:buFont typeface="Oi"/>
              <a:buNone/>
            </a:pPr>
            <a:r>
              <a:rPr lang="en-US"/>
              <a:t>Enabling Modern Computer Graphics (3/5) </a:t>
            </a:r>
            <a:endParaRPr/>
          </a:p>
        </p:txBody>
      </p:sp>
      <p:grpSp>
        <p:nvGrpSpPr>
          <p:cNvPr id="152" name="Google Shape;152;p8"/>
          <p:cNvGrpSpPr/>
          <p:nvPr/>
        </p:nvGrpSpPr>
        <p:grpSpPr>
          <a:xfrm>
            <a:off x="629919" y="2868394"/>
            <a:ext cx="2562481" cy="1717352"/>
            <a:chOff x="629919" y="2929354"/>
            <a:chExt cx="2562481" cy="1717352"/>
          </a:xfrm>
        </p:grpSpPr>
        <p:pic>
          <p:nvPicPr>
            <p:cNvPr id="153" name="Google Shape;153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29919" y="2929354"/>
              <a:ext cx="2562481" cy="14394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" name="Google Shape;154;p8"/>
            <p:cNvSpPr txBox="1"/>
            <p:nvPr/>
          </p:nvSpPr>
          <p:spPr>
            <a:xfrm>
              <a:off x="629919" y="4338929"/>
              <a:ext cx="256032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Xbox Kinect</a:t>
              </a:r>
              <a:endParaRPr b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55" name="Google Shape;155;p8"/>
          <p:cNvGrpSpPr/>
          <p:nvPr/>
        </p:nvGrpSpPr>
        <p:grpSpPr>
          <a:xfrm>
            <a:off x="3291839" y="2861944"/>
            <a:ext cx="2580643" cy="1723802"/>
            <a:chOff x="3291839" y="2922904"/>
            <a:chExt cx="2580643" cy="1723802"/>
          </a:xfrm>
        </p:grpSpPr>
        <p:pic>
          <p:nvPicPr>
            <p:cNvPr id="156" name="Google Shape;156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02000" y="2922904"/>
              <a:ext cx="2570482" cy="14458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" name="Google Shape;157;p8"/>
            <p:cNvSpPr txBox="1"/>
            <p:nvPr/>
          </p:nvSpPr>
          <p:spPr>
            <a:xfrm>
              <a:off x="3291839" y="4338929"/>
              <a:ext cx="256032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Leap Motion</a:t>
              </a:r>
              <a:endParaRPr b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58" name="Google Shape;158;p8"/>
          <p:cNvGrpSpPr/>
          <p:nvPr/>
        </p:nvGrpSpPr>
        <p:grpSpPr>
          <a:xfrm>
            <a:off x="5892799" y="2861996"/>
            <a:ext cx="2560321" cy="1723750"/>
            <a:chOff x="5892799" y="2922956"/>
            <a:chExt cx="2560321" cy="1723750"/>
          </a:xfrm>
        </p:grpSpPr>
        <p:pic>
          <p:nvPicPr>
            <p:cNvPr id="159" name="Google Shape;159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076772" y="2922956"/>
              <a:ext cx="2193467" cy="1452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" name="Google Shape;160;p8"/>
            <p:cNvSpPr txBox="1"/>
            <p:nvPr/>
          </p:nvSpPr>
          <p:spPr>
            <a:xfrm>
              <a:off x="5892799" y="4338929"/>
              <a:ext cx="256032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Nimble UX</a:t>
              </a:r>
              <a:endParaRPr b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161" name="Google Shape;161;p8"/>
          <p:cNvSpPr txBox="1"/>
          <p:nvPr>
            <p:ph idx="12" type="sldNum"/>
          </p:nvPr>
        </p:nvSpPr>
        <p:spPr>
          <a:xfrm>
            <a:off x="7467600" y="4800600"/>
            <a:ext cx="1219200" cy="23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 txBox="1"/>
          <p:nvPr>
            <p:ph idx="1" type="body"/>
          </p:nvPr>
        </p:nvSpPr>
        <p:spPr>
          <a:xfrm>
            <a:off x="444501" y="1012227"/>
            <a:ext cx="4768590" cy="35311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520"/>
              <a:buChar char="🞂"/>
            </a:pPr>
            <a:r>
              <a:rPr lang="en-US"/>
              <a:t>Many form factors</a:t>
            </a:r>
            <a:endParaRPr/>
          </a:p>
          <a:p>
            <a:pPr indent="-274320" lvl="1" marL="548640" rtl="0" algn="l">
              <a:spcBef>
                <a:spcPts val="500"/>
              </a:spcBef>
              <a:spcAft>
                <a:spcPts val="0"/>
              </a:spcAft>
              <a:buSzPts val="1368"/>
              <a:buChar char="🞂"/>
            </a:pPr>
            <a:r>
              <a:rPr lang="en-US"/>
              <a:t>Smartphones/laptops/desktops/tablets</a:t>
            </a:r>
            <a:endParaRPr/>
          </a:p>
          <a:p>
            <a:pPr indent="-274320" lvl="1" marL="548640" rtl="0" algn="l">
              <a:spcBef>
                <a:spcPts val="500"/>
              </a:spcBef>
              <a:spcAft>
                <a:spcPts val="0"/>
              </a:spcAft>
              <a:buSzPts val="1368"/>
              <a:buChar char="🞂"/>
            </a:pPr>
            <a:r>
              <a:rPr lang="en-US"/>
              <a:t>Smart watches</a:t>
            </a:r>
            <a:endParaRPr/>
          </a:p>
          <a:p>
            <a:pPr indent="-274320" lvl="1" marL="548640" rtl="0" algn="l">
              <a:spcBef>
                <a:spcPts val="500"/>
              </a:spcBef>
              <a:spcAft>
                <a:spcPts val="0"/>
              </a:spcAft>
              <a:buSzPts val="1368"/>
              <a:buChar char="🞂"/>
            </a:pPr>
            <a:r>
              <a:rPr lang="en-US"/>
              <a:t>Head-mounted displays (HMDs)</a:t>
            </a:r>
            <a:endParaRPr/>
          </a:p>
          <a:p>
            <a:pPr indent="-228600" lvl="2" marL="822960" rtl="0" algn="l">
              <a:spcBef>
                <a:spcPts val="500"/>
              </a:spcBef>
              <a:spcAft>
                <a:spcPts val="0"/>
              </a:spcAft>
              <a:buSzPts val="1216"/>
              <a:buChar char="🞂"/>
            </a:pPr>
            <a:r>
              <a:rPr lang="en-US" u="sng">
                <a:solidFill>
                  <a:schemeClr val="hlink"/>
                </a:solidFill>
                <a:hlinkClick r:id="rId3"/>
              </a:rPr>
              <a:t>Oculus bird simulator video</a:t>
            </a:r>
            <a:endParaRPr/>
          </a:p>
          <a:p>
            <a:pPr indent="-274320" lvl="1" marL="548640" rtl="0" algn="l">
              <a:spcBef>
                <a:spcPts val="500"/>
              </a:spcBef>
              <a:spcAft>
                <a:spcPts val="0"/>
              </a:spcAft>
              <a:buSzPts val="1368"/>
              <a:buChar char="🞂"/>
            </a:pPr>
            <a:r>
              <a:rPr lang="en-US"/>
              <a:t>3D immersive virtual reality spaces</a:t>
            </a:r>
            <a:endParaRPr/>
          </a:p>
        </p:txBody>
      </p:sp>
      <p:sp>
        <p:nvSpPr>
          <p:cNvPr id="168" name="Google Shape;168;p9"/>
          <p:cNvSpPr txBox="1"/>
          <p:nvPr>
            <p:ph type="title"/>
          </p:nvPr>
        </p:nvSpPr>
        <p:spPr>
          <a:xfrm>
            <a:off x="457200" y="51435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20000"/>
              </a:buClr>
              <a:buSzPct val="100000"/>
              <a:buFont typeface="Oi"/>
              <a:buNone/>
            </a:pPr>
            <a:r>
              <a:rPr lang="en-US"/>
              <a:t>Enabling Modern Computer Graphics (4/5) </a:t>
            </a:r>
            <a:endParaRPr/>
          </a:p>
        </p:txBody>
      </p:sp>
      <p:grpSp>
        <p:nvGrpSpPr>
          <p:cNvPr id="169" name="Google Shape;169;p9"/>
          <p:cNvGrpSpPr/>
          <p:nvPr/>
        </p:nvGrpSpPr>
        <p:grpSpPr>
          <a:xfrm>
            <a:off x="1645920" y="3413760"/>
            <a:ext cx="1510156" cy="1276239"/>
            <a:chOff x="3971193" y="3028193"/>
            <a:chExt cx="2331752" cy="3034641"/>
          </a:xfrm>
        </p:grpSpPr>
        <p:pic>
          <p:nvPicPr>
            <p:cNvPr descr="CaveImage" id="170" name="Google Shape;170;p9"/>
            <p:cNvPicPr preferRelativeResize="0"/>
            <p:nvPr/>
          </p:nvPicPr>
          <p:blipFill rotWithShape="1">
            <a:blip r:embed="rId4">
              <a:alphaModFix/>
            </a:blip>
            <a:srcRect b="8544" l="8142" r="10849" t="14466"/>
            <a:stretch/>
          </p:blipFill>
          <p:spPr>
            <a:xfrm>
              <a:off x="4334819" y="3028193"/>
              <a:ext cx="1695364" cy="24897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" name="Google Shape;171;p9"/>
            <p:cNvSpPr txBox="1"/>
            <p:nvPr/>
          </p:nvSpPr>
          <p:spPr>
            <a:xfrm>
              <a:off x="3971193" y="5510244"/>
              <a:ext cx="2331752" cy="5525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Brown’s old Cave</a:t>
              </a:r>
              <a:endParaRPr b="1" sz="9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72" name="Google Shape;172;p9"/>
          <p:cNvGrpSpPr/>
          <p:nvPr/>
        </p:nvGrpSpPr>
        <p:grpSpPr>
          <a:xfrm>
            <a:off x="4680890" y="2193860"/>
            <a:ext cx="1511320" cy="1166258"/>
            <a:chOff x="5655821" y="2174346"/>
            <a:chExt cx="1827782" cy="1410469"/>
          </a:xfrm>
        </p:grpSpPr>
        <p:pic>
          <p:nvPicPr>
            <p:cNvPr descr="http://thefutureofthings.com/upload/items_icons/Microsoft-Surface-Computing_large.jpg" id="173" name="Google Shape;173;p9"/>
            <p:cNvPicPr preferRelativeResize="0"/>
            <p:nvPr/>
          </p:nvPicPr>
          <p:blipFill rotWithShape="1">
            <a:blip r:embed="rId5">
              <a:alphaModFix/>
            </a:blip>
            <a:srcRect b="0" l="12543" r="0" t="9566"/>
            <a:stretch/>
          </p:blipFill>
          <p:spPr>
            <a:xfrm>
              <a:off x="5858285" y="2174346"/>
              <a:ext cx="1356638" cy="9802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" name="Google Shape;174;p9"/>
            <p:cNvSpPr txBox="1"/>
            <p:nvPr/>
          </p:nvSpPr>
          <p:spPr>
            <a:xfrm>
              <a:off x="5655821" y="3138146"/>
              <a:ext cx="1827782" cy="4466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Microsoft’s first Surface</a:t>
              </a:r>
              <a:endParaRPr b="1" sz="9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75" name="Google Shape;175;p9"/>
          <p:cNvGrpSpPr/>
          <p:nvPr/>
        </p:nvGrpSpPr>
        <p:grpSpPr>
          <a:xfrm>
            <a:off x="5232038" y="913471"/>
            <a:ext cx="1405293" cy="1136975"/>
            <a:chOff x="6427385" y="526845"/>
            <a:chExt cx="1547474" cy="1252008"/>
          </a:xfrm>
        </p:grpSpPr>
        <p:pic>
          <p:nvPicPr>
            <p:cNvPr id="176" name="Google Shape;176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657736" y="526845"/>
              <a:ext cx="1040705" cy="11642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" name="Google Shape;177;p9"/>
            <p:cNvSpPr txBox="1"/>
            <p:nvPr/>
          </p:nvSpPr>
          <p:spPr>
            <a:xfrm>
              <a:off x="6427385" y="1524667"/>
              <a:ext cx="1547474" cy="2541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Apple iPhone</a:t>
              </a:r>
              <a:endParaRPr b="1" sz="9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78" name="Google Shape;178;p9"/>
          <p:cNvGrpSpPr/>
          <p:nvPr/>
        </p:nvGrpSpPr>
        <p:grpSpPr>
          <a:xfrm>
            <a:off x="6554072" y="787270"/>
            <a:ext cx="1208632" cy="1139333"/>
            <a:chOff x="7661369" y="660677"/>
            <a:chExt cx="1208632" cy="1139333"/>
          </a:xfrm>
        </p:grpSpPr>
        <p:sp>
          <p:nvSpPr>
            <p:cNvPr id="179" name="Google Shape;179;p9"/>
            <p:cNvSpPr txBox="1"/>
            <p:nvPr/>
          </p:nvSpPr>
          <p:spPr>
            <a:xfrm>
              <a:off x="7661369" y="1569178"/>
              <a:ext cx="1208632" cy="230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Android Phones</a:t>
              </a:r>
              <a:endParaRPr b="1" sz="9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pic>
          <p:nvPicPr>
            <p:cNvPr id="180" name="Google Shape;180;p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900314" y="660677"/>
              <a:ext cx="756303" cy="98402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1" name="Google Shape;181;p9"/>
          <p:cNvGrpSpPr/>
          <p:nvPr/>
        </p:nvGrpSpPr>
        <p:grpSpPr>
          <a:xfrm>
            <a:off x="5152144" y="3567036"/>
            <a:ext cx="1677624" cy="1028197"/>
            <a:chOff x="5165566" y="2786161"/>
            <a:chExt cx="1289234" cy="812952"/>
          </a:xfrm>
        </p:grpSpPr>
        <p:pic>
          <p:nvPicPr>
            <p:cNvPr id="182" name="Google Shape;182;p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168672" y="2786161"/>
              <a:ext cx="1286128" cy="7202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" name="Google Shape;183;p9"/>
            <p:cNvSpPr txBox="1"/>
            <p:nvPr/>
          </p:nvSpPr>
          <p:spPr>
            <a:xfrm>
              <a:off x="5165566" y="3416604"/>
              <a:ext cx="1289022" cy="1825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Oculus Rift</a:t>
              </a:r>
              <a:endParaRPr/>
            </a:p>
          </p:txBody>
        </p:sp>
      </p:grpSp>
      <p:grpSp>
        <p:nvGrpSpPr>
          <p:cNvPr id="184" name="Google Shape;184;p9"/>
          <p:cNvGrpSpPr/>
          <p:nvPr/>
        </p:nvGrpSpPr>
        <p:grpSpPr>
          <a:xfrm>
            <a:off x="7132384" y="3484905"/>
            <a:ext cx="1351076" cy="1064789"/>
            <a:chOff x="4291299" y="3487440"/>
            <a:chExt cx="1674929" cy="1314121"/>
          </a:xfrm>
        </p:grpSpPr>
        <p:pic>
          <p:nvPicPr>
            <p:cNvPr id="185" name="Google Shape;185;p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356889" y="3487440"/>
              <a:ext cx="1537976" cy="10234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" name="Google Shape;186;p9"/>
            <p:cNvSpPr txBox="1"/>
            <p:nvPr/>
          </p:nvSpPr>
          <p:spPr>
            <a:xfrm>
              <a:off x="4291299" y="4516677"/>
              <a:ext cx="1674929" cy="2848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Google Cardboard</a:t>
              </a:r>
              <a:endParaRPr/>
            </a:p>
          </p:txBody>
        </p:sp>
      </p:grpSp>
      <p:grpSp>
        <p:nvGrpSpPr>
          <p:cNvPr id="187" name="Google Shape;187;p9"/>
          <p:cNvGrpSpPr/>
          <p:nvPr/>
        </p:nvGrpSpPr>
        <p:grpSpPr>
          <a:xfrm>
            <a:off x="7787485" y="524847"/>
            <a:ext cx="1208632" cy="1512168"/>
            <a:chOff x="7787485" y="524847"/>
            <a:chExt cx="1208632" cy="1512168"/>
          </a:xfrm>
        </p:grpSpPr>
        <p:pic>
          <p:nvPicPr>
            <p:cNvPr id="188" name="Google Shape;188;p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866219" y="524847"/>
              <a:ext cx="982710" cy="12414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" name="Google Shape;189;p9"/>
            <p:cNvSpPr txBox="1"/>
            <p:nvPr/>
          </p:nvSpPr>
          <p:spPr>
            <a:xfrm>
              <a:off x="7787485" y="1806183"/>
              <a:ext cx="1208632" cy="230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Tablets</a:t>
              </a:r>
              <a:endParaRPr b="1" sz="9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90" name="Google Shape;190;p9"/>
          <p:cNvGrpSpPr/>
          <p:nvPr/>
        </p:nvGrpSpPr>
        <p:grpSpPr>
          <a:xfrm>
            <a:off x="3277784" y="3432128"/>
            <a:ext cx="1634085" cy="1170771"/>
            <a:chOff x="6084788" y="2291599"/>
            <a:chExt cx="1634085" cy="1170771"/>
          </a:xfrm>
        </p:grpSpPr>
        <p:sp>
          <p:nvSpPr>
            <p:cNvPr id="191" name="Google Shape;191;p9"/>
            <p:cNvSpPr txBox="1"/>
            <p:nvPr/>
          </p:nvSpPr>
          <p:spPr>
            <a:xfrm>
              <a:off x="6084788" y="3231538"/>
              <a:ext cx="1634085" cy="230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Microsoft Hololens</a:t>
              </a:r>
              <a:endParaRPr b="1" sz="9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pic>
          <p:nvPicPr>
            <p:cNvPr id="192" name="Google Shape;192;p9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6172175" y="2291599"/>
              <a:ext cx="1398460" cy="78494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3" name="Google Shape;193;p9"/>
          <p:cNvGrpSpPr/>
          <p:nvPr/>
        </p:nvGrpSpPr>
        <p:grpSpPr>
          <a:xfrm>
            <a:off x="6022425" y="2014125"/>
            <a:ext cx="2780564" cy="1326377"/>
            <a:chOff x="6022425" y="2014125"/>
            <a:chExt cx="2780564" cy="1326377"/>
          </a:xfrm>
        </p:grpSpPr>
        <p:grpSp>
          <p:nvGrpSpPr>
            <p:cNvPr id="194" name="Google Shape;194;p9"/>
            <p:cNvGrpSpPr/>
            <p:nvPr/>
          </p:nvGrpSpPr>
          <p:grpSpPr>
            <a:xfrm>
              <a:off x="7663426" y="2313725"/>
              <a:ext cx="1139563" cy="1026777"/>
              <a:chOff x="3723024" y="1785300"/>
              <a:chExt cx="1563662" cy="1408902"/>
            </a:xfrm>
          </p:grpSpPr>
          <p:pic>
            <p:nvPicPr>
              <p:cNvPr id="195" name="Google Shape;195;p9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3738860" y="1785300"/>
                <a:ext cx="1547826" cy="11593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6" name="Google Shape;196;p9"/>
              <p:cNvSpPr txBox="1"/>
              <p:nvPr/>
            </p:nvSpPr>
            <p:spPr>
              <a:xfrm>
                <a:off x="3723024" y="2908952"/>
                <a:ext cx="1548010" cy="285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Android Wear</a:t>
                </a:r>
                <a:endParaRPr/>
              </a:p>
            </p:txBody>
          </p:sp>
        </p:grpSp>
        <p:grpSp>
          <p:nvGrpSpPr>
            <p:cNvPr id="197" name="Google Shape;197;p9"/>
            <p:cNvGrpSpPr/>
            <p:nvPr/>
          </p:nvGrpSpPr>
          <p:grpSpPr>
            <a:xfrm>
              <a:off x="6022425" y="2014125"/>
              <a:ext cx="1511320" cy="1311360"/>
              <a:chOff x="6022425" y="2014125"/>
              <a:chExt cx="1511320" cy="1311360"/>
            </a:xfrm>
          </p:grpSpPr>
          <p:pic>
            <p:nvPicPr>
              <p:cNvPr id="198" name="Google Shape;198;p9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6159673" y="2014125"/>
                <a:ext cx="1188050" cy="11880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9" name="Google Shape;199;p9"/>
              <p:cNvSpPr txBox="1"/>
              <p:nvPr/>
            </p:nvSpPr>
            <p:spPr>
              <a:xfrm>
                <a:off x="6022425" y="3094653"/>
                <a:ext cx="1511320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Apple Watch</a:t>
                </a:r>
                <a:endParaRPr b="1" sz="9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</p:grpSp>
      <p:sp>
        <p:nvSpPr>
          <p:cNvPr id="200" name="Google Shape;200;p9"/>
          <p:cNvSpPr txBox="1"/>
          <p:nvPr>
            <p:ph idx="12" type="sldNum"/>
          </p:nvPr>
        </p:nvSpPr>
        <p:spPr>
          <a:xfrm>
            <a:off x="7467600" y="4800600"/>
            <a:ext cx="1219200" cy="23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 txBox="1"/>
          <p:nvPr>
            <p:ph idx="1" type="body"/>
          </p:nvPr>
        </p:nvSpPr>
        <p:spPr>
          <a:xfrm>
            <a:off x="457200" y="1085850"/>
            <a:ext cx="82296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76000"/>
              <a:buChar char="🞂"/>
            </a:pPr>
            <a:r>
              <a:rPr lang="en-US" sz="2400"/>
              <a:t>Software Improvements</a:t>
            </a:r>
            <a:endParaRPr/>
          </a:p>
          <a:p>
            <a:pPr indent="-274320" lvl="1" marL="548640" rtl="0" algn="l">
              <a:spcBef>
                <a:spcPts val="500"/>
              </a:spcBef>
              <a:spcAft>
                <a:spcPts val="0"/>
              </a:spcAft>
              <a:buSzPct val="76000"/>
              <a:buChar char="🞂"/>
            </a:pPr>
            <a:r>
              <a:rPr lang="en-US" sz="2000"/>
              <a:t>Algorithms and data structures</a:t>
            </a:r>
            <a:endParaRPr/>
          </a:p>
          <a:p>
            <a:pPr indent="-228600" lvl="2" marL="822960" rtl="0" algn="l">
              <a:spcBef>
                <a:spcPts val="500"/>
              </a:spcBef>
              <a:spcAft>
                <a:spcPts val="0"/>
              </a:spcAft>
              <a:buSzPct val="76000"/>
              <a:buChar char="🞂"/>
            </a:pPr>
            <a:r>
              <a:rPr lang="en-US" sz="2000"/>
              <a:t>Modeling of materials</a:t>
            </a:r>
            <a:endParaRPr/>
          </a:p>
          <a:p>
            <a:pPr indent="-228600" lvl="2" marL="822960" rtl="0" algn="l">
              <a:spcBef>
                <a:spcPts val="500"/>
              </a:spcBef>
              <a:spcAft>
                <a:spcPts val="0"/>
              </a:spcAft>
              <a:buSzPct val="76000"/>
              <a:buChar char="🞂"/>
            </a:pPr>
            <a:r>
              <a:rPr lang="en-US" sz="2000"/>
              <a:t>Rendering of natural phenomena</a:t>
            </a:r>
            <a:endParaRPr/>
          </a:p>
          <a:p>
            <a:pPr indent="-228600" lvl="2" marL="822960" rtl="0" algn="l">
              <a:spcBef>
                <a:spcPts val="500"/>
              </a:spcBef>
              <a:spcAft>
                <a:spcPts val="0"/>
              </a:spcAft>
              <a:buSzPct val="76000"/>
              <a:buChar char="🞂"/>
            </a:pPr>
            <a:r>
              <a:rPr lang="en-US" sz="2000"/>
              <a:t>“Acceleration data structures” for ray tracing and other renderers</a:t>
            </a:r>
            <a:endParaRPr sz="2000"/>
          </a:p>
          <a:p>
            <a:pPr indent="-274320" lvl="1" marL="548640" rtl="0" algn="l">
              <a:spcBef>
                <a:spcPts val="500"/>
              </a:spcBef>
              <a:spcAft>
                <a:spcPts val="0"/>
              </a:spcAft>
              <a:buSzPct val="76000"/>
              <a:buChar char="🞂"/>
            </a:pPr>
            <a:r>
              <a:rPr lang="en-US" sz="2000"/>
              <a:t>Parallelization</a:t>
            </a:r>
            <a:endParaRPr/>
          </a:p>
          <a:p>
            <a:pPr indent="-228600" lvl="2" marL="822960" rtl="0" algn="l">
              <a:spcBef>
                <a:spcPts val="500"/>
              </a:spcBef>
              <a:spcAft>
                <a:spcPts val="0"/>
              </a:spcAft>
              <a:buSzPct val="76000"/>
              <a:buChar char="🞂"/>
            </a:pPr>
            <a:r>
              <a:rPr lang="en-US" sz="2000"/>
              <a:t>Most operations are embarrassingly parallel:  changing value of one pixel is often independent of other pixels</a:t>
            </a:r>
            <a:endParaRPr/>
          </a:p>
          <a:p>
            <a:pPr indent="-274320" lvl="1" marL="548640" rtl="0" algn="l">
              <a:spcBef>
                <a:spcPts val="500"/>
              </a:spcBef>
              <a:spcAft>
                <a:spcPts val="0"/>
              </a:spcAft>
              <a:buSzPct val="76000"/>
              <a:buChar char="🞂"/>
            </a:pPr>
            <a:r>
              <a:rPr lang="en-US" sz="2000"/>
              <a:t>Distributed and Cloud computing</a:t>
            </a:r>
            <a:endParaRPr/>
          </a:p>
          <a:p>
            <a:pPr indent="-228600" lvl="2" marL="822960" rtl="0" algn="l">
              <a:spcBef>
                <a:spcPts val="500"/>
              </a:spcBef>
              <a:spcAft>
                <a:spcPts val="0"/>
              </a:spcAft>
              <a:buSzPct val="76000"/>
              <a:buChar char="🞂"/>
            </a:pPr>
            <a:r>
              <a:rPr lang="en-US" sz="2000"/>
              <a:t>Send operations into ‘cloud’, get back results,  don’t care how</a:t>
            </a:r>
            <a:endParaRPr/>
          </a:p>
          <a:p>
            <a:pPr indent="-228600" lvl="2" marL="822960" rtl="0" algn="l">
              <a:spcBef>
                <a:spcPts val="500"/>
              </a:spcBef>
              <a:spcAft>
                <a:spcPts val="0"/>
              </a:spcAft>
              <a:buSzPct val="76000"/>
              <a:buChar char="🞂"/>
            </a:pPr>
            <a:r>
              <a:rPr lang="en-US" sz="2000"/>
              <a:t>Rendering even available as internet service!</a:t>
            </a:r>
            <a:endParaRPr/>
          </a:p>
          <a:p>
            <a:pPr indent="-185039" lvl="0" marL="274320" rtl="0" algn="l">
              <a:spcBef>
                <a:spcPts val="60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 txBox="1"/>
          <p:nvPr>
            <p:ph type="title"/>
          </p:nvPr>
        </p:nvSpPr>
        <p:spPr>
          <a:xfrm>
            <a:off x="457200" y="51435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20000"/>
              </a:buClr>
              <a:buSzPct val="100000"/>
              <a:buFont typeface="Oi"/>
              <a:buNone/>
            </a:pPr>
            <a:r>
              <a:rPr lang="en-US"/>
              <a:t>Enabling Modern Computer Graphics (5/5)</a:t>
            </a:r>
            <a:endParaRPr/>
          </a:p>
        </p:txBody>
      </p:sp>
      <p:sp>
        <p:nvSpPr>
          <p:cNvPr id="208" name="Google Shape;208;p10"/>
          <p:cNvSpPr txBox="1"/>
          <p:nvPr>
            <p:ph idx="12" type="sldNum"/>
          </p:nvPr>
        </p:nvSpPr>
        <p:spPr>
          <a:xfrm>
            <a:off x="7467600" y="4800600"/>
            <a:ext cx="1219200" cy="23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/>
          <p:cNvSpPr txBox="1"/>
          <p:nvPr>
            <p:ph idx="1" type="body"/>
          </p:nvPr>
        </p:nvSpPr>
        <p:spPr>
          <a:xfrm>
            <a:off x="457200" y="1180620"/>
            <a:ext cx="4038600" cy="520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lang="en-US"/>
              <a:t>Vector</a:t>
            </a:r>
            <a:r>
              <a:rPr lang="en-US"/>
              <a:t> (calligraphic, stroke, random-scan)</a:t>
            </a:r>
            <a:endParaRPr/>
          </a:p>
        </p:txBody>
      </p:sp>
      <p:sp>
        <p:nvSpPr>
          <p:cNvPr id="215" name="Google Shape;215;p11"/>
          <p:cNvSpPr txBox="1"/>
          <p:nvPr>
            <p:ph idx="2" type="body"/>
          </p:nvPr>
        </p:nvSpPr>
        <p:spPr>
          <a:xfrm>
            <a:off x="4648202" y="1163257"/>
            <a:ext cx="4041777" cy="5461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lang="en-US"/>
              <a:t>Raster</a:t>
            </a:r>
            <a:r>
              <a:rPr lang="en-US"/>
              <a:t> (TV, bitmap, pixmap) used in displays and laser printers</a:t>
            </a:r>
            <a:endParaRPr/>
          </a:p>
        </p:txBody>
      </p:sp>
      <p:sp>
        <p:nvSpPr>
          <p:cNvPr id="216" name="Google Shape;216;p11"/>
          <p:cNvSpPr txBox="1"/>
          <p:nvPr>
            <p:ph idx="3" type="body"/>
          </p:nvPr>
        </p:nvSpPr>
        <p:spPr>
          <a:xfrm>
            <a:off x="457200" y="1735482"/>
            <a:ext cx="4038600" cy="1093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76000"/>
              <a:buChar char="🞂"/>
            </a:pPr>
            <a:r>
              <a:rPr lang="en-US"/>
              <a:t>Driven by display commands</a:t>
            </a:r>
            <a:endParaRPr/>
          </a:p>
          <a:p>
            <a:pPr indent="-274319" lvl="1" marL="548640" rtl="0" algn="l">
              <a:spcBef>
                <a:spcPts val="500"/>
              </a:spcBef>
              <a:spcAft>
                <a:spcPts val="0"/>
              </a:spcAft>
              <a:buSzPct val="76000"/>
              <a:buChar char="🞂"/>
            </a:pPr>
            <a:r>
              <a:rPr lang="en-US"/>
              <a:t>(move (x, y), char(“A”) , line(x, y)…)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6000"/>
              <a:buChar char="🞂"/>
            </a:pPr>
            <a:r>
              <a:rPr lang="en-US"/>
              <a:t>Survives as “scalable vector graphics”</a:t>
            </a:r>
            <a:endParaRPr/>
          </a:p>
        </p:txBody>
      </p:sp>
      <p:sp>
        <p:nvSpPr>
          <p:cNvPr id="217" name="Google Shape;217;p11"/>
          <p:cNvSpPr txBox="1"/>
          <p:nvPr>
            <p:ph idx="4" type="body"/>
          </p:nvPr>
        </p:nvSpPr>
        <p:spPr>
          <a:xfrm>
            <a:off x="4648200" y="1735481"/>
            <a:ext cx="4343400" cy="1137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74344" lvl="0" marL="274320" rtl="0" algn="l">
              <a:spcBef>
                <a:spcPts val="0"/>
              </a:spcBef>
              <a:spcAft>
                <a:spcPts val="0"/>
              </a:spcAft>
              <a:buSzPct val="76000"/>
              <a:buChar char="🞂"/>
            </a:pPr>
            <a:r>
              <a:rPr lang="en-US" sz="2100"/>
              <a:t>Driven by array of pixels (no semantics, lowest form of representation)</a:t>
            </a:r>
            <a:endParaRPr/>
          </a:p>
          <a:p>
            <a:pPr indent="-274344" lvl="0" marL="274320" rtl="0" algn="l">
              <a:spcBef>
                <a:spcPts val="600"/>
              </a:spcBef>
              <a:spcAft>
                <a:spcPts val="0"/>
              </a:spcAft>
              <a:buSzPct val="76000"/>
              <a:buChar char="🞂"/>
            </a:pPr>
            <a:r>
              <a:rPr lang="en-US" sz="2100"/>
              <a:t>Note “jaggies” (aliasing errors) due to discrete sampling of continuous primitives</a:t>
            </a:r>
            <a:endParaRPr/>
          </a:p>
          <a:p>
            <a:pPr indent="-199517" lvl="0" marL="274320" rtl="0" algn="l">
              <a:spcBef>
                <a:spcPts val="60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  <a:p>
            <a:pPr indent="-199517" lvl="0" marL="274320" rtl="0" algn="l">
              <a:spcBef>
                <a:spcPts val="60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</p:txBody>
      </p:sp>
      <p:sp>
        <p:nvSpPr>
          <p:cNvPr id="218" name="Google Shape;218;p11"/>
          <p:cNvSpPr txBox="1"/>
          <p:nvPr>
            <p:ph type="title"/>
          </p:nvPr>
        </p:nvSpPr>
        <p:spPr>
          <a:xfrm>
            <a:off x="457200" y="51435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20000"/>
              </a:buClr>
              <a:buSzPct val="100000"/>
              <a:buFont typeface="Oi"/>
              <a:buNone/>
            </a:pPr>
            <a:r>
              <a:rPr lang="en-US"/>
              <a:t>Graphics Display Hardware</a:t>
            </a:r>
            <a:endParaRPr/>
          </a:p>
        </p:txBody>
      </p:sp>
      <p:grpSp>
        <p:nvGrpSpPr>
          <p:cNvPr id="219" name="Google Shape;219;p11"/>
          <p:cNvGrpSpPr/>
          <p:nvPr/>
        </p:nvGrpSpPr>
        <p:grpSpPr>
          <a:xfrm>
            <a:off x="970055" y="2838234"/>
            <a:ext cx="2991966" cy="1645741"/>
            <a:chOff x="298" y="1344"/>
            <a:chExt cx="2830" cy="1843"/>
          </a:xfrm>
        </p:grpSpPr>
        <p:pic>
          <p:nvPicPr>
            <p:cNvPr descr="022" id="220" name="Google Shape;220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36" y="1344"/>
              <a:ext cx="2792" cy="14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1" name="Google Shape;221;p11"/>
            <p:cNvSpPr txBox="1"/>
            <p:nvPr/>
          </p:nvSpPr>
          <p:spPr>
            <a:xfrm>
              <a:off x="298" y="2601"/>
              <a:ext cx="987" cy="58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Ideal Drawing</a:t>
              </a:r>
              <a:endParaRPr/>
            </a:p>
          </p:txBody>
        </p:sp>
        <p:sp>
          <p:nvSpPr>
            <p:cNvPr id="222" name="Google Shape;222;p11"/>
            <p:cNvSpPr txBox="1"/>
            <p:nvPr/>
          </p:nvSpPr>
          <p:spPr>
            <a:xfrm>
              <a:off x="1977" y="2601"/>
              <a:ext cx="987" cy="58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Vector Drawing</a:t>
              </a:r>
              <a:endParaRPr/>
            </a:p>
          </p:txBody>
        </p:sp>
      </p:grpSp>
      <p:cxnSp>
        <p:nvCxnSpPr>
          <p:cNvPr id="223" name="Google Shape;223;p11"/>
          <p:cNvCxnSpPr/>
          <p:nvPr/>
        </p:nvCxnSpPr>
        <p:spPr>
          <a:xfrm rot="10800000">
            <a:off x="4548917" y="1139599"/>
            <a:ext cx="0" cy="3494468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24" name="Google Shape;224;p11"/>
          <p:cNvGrpSpPr/>
          <p:nvPr/>
        </p:nvGrpSpPr>
        <p:grpSpPr>
          <a:xfrm>
            <a:off x="5276753" y="2813786"/>
            <a:ext cx="2804145" cy="1659300"/>
            <a:chOff x="5276753" y="2719016"/>
            <a:chExt cx="2804145" cy="1659300"/>
          </a:xfrm>
        </p:grpSpPr>
        <p:grpSp>
          <p:nvGrpSpPr>
            <p:cNvPr id="225" name="Google Shape;225;p11"/>
            <p:cNvGrpSpPr/>
            <p:nvPr/>
          </p:nvGrpSpPr>
          <p:grpSpPr>
            <a:xfrm>
              <a:off x="5276753" y="2719016"/>
              <a:ext cx="2804145" cy="1616963"/>
              <a:chOff x="3105151" y="4280296"/>
              <a:chExt cx="4975014" cy="1894486"/>
            </a:xfrm>
          </p:grpSpPr>
          <p:pic>
            <p:nvPicPr>
              <p:cNvPr descr="raster_house1.png" id="226" name="Google Shape;226;p1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105151" y="4280296"/>
                <a:ext cx="2238889" cy="189448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raster_house2.png" id="227" name="Google Shape;227;p1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884334" y="4280296"/>
                <a:ext cx="2195831" cy="189448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28" name="Google Shape;228;p11"/>
            <p:cNvSpPr txBox="1"/>
            <p:nvPr/>
          </p:nvSpPr>
          <p:spPr>
            <a:xfrm>
              <a:off x="5408983" y="4039762"/>
              <a:ext cx="1035851" cy="33855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Outline</a:t>
              </a:r>
              <a:endParaRPr b="0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29" name="Google Shape;229;p11"/>
            <p:cNvSpPr txBox="1"/>
            <p:nvPr/>
          </p:nvSpPr>
          <p:spPr>
            <a:xfrm>
              <a:off x="7130411" y="4028803"/>
              <a:ext cx="896014" cy="33855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Filled</a:t>
              </a:r>
              <a:endParaRPr b="0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230" name="Google Shape;230;p11"/>
          <p:cNvSpPr txBox="1"/>
          <p:nvPr>
            <p:ph idx="12" type="sldNum"/>
          </p:nvPr>
        </p:nvSpPr>
        <p:spPr>
          <a:xfrm>
            <a:off x="7467600" y="4800600"/>
            <a:ext cx="1219200" cy="23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"/>
          <p:cNvSpPr txBox="1"/>
          <p:nvPr>
            <p:ph idx="4294967295" type="sldNum"/>
          </p:nvPr>
        </p:nvSpPr>
        <p:spPr>
          <a:xfrm>
            <a:off x="7658100" y="4800600"/>
            <a:ext cx="6286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6" name="Google Shape;236;p12"/>
          <p:cNvSpPr txBox="1"/>
          <p:nvPr>
            <p:ph type="title"/>
          </p:nvPr>
        </p:nvSpPr>
        <p:spPr>
          <a:xfrm>
            <a:off x="457200" y="51435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20000"/>
              </a:buClr>
              <a:buSzPct val="100000"/>
              <a:buFont typeface="Oi"/>
              <a:buNone/>
            </a:pPr>
            <a:r>
              <a:rPr lang="en-US"/>
              <a:t>Output Technology (1/3)</a:t>
            </a:r>
            <a:endParaRPr/>
          </a:p>
        </p:txBody>
      </p:sp>
      <p:sp>
        <p:nvSpPr>
          <p:cNvPr id="237" name="Google Shape;237;p12"/>
          <p:cNvSpPr txBox="1"/>
          <p:nvPr>
            <p:ph idx="1" type="body"/>
          </p:nvPr>
        </p:nvSpPr>
        <p:spPr>
          <a:xfrm>
            <a:off x="457200" y="1085850"/>
            <a:ext cx="82296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520"/>
              <a:buChar char="🞂"/>
            </a:pPr>
            <a:r>
              <a:rPr lang="en-US"/>
              <a:t>Calligraphic Displays</a:t>
            </a:r>
            <a:endParaRPr/>
          </a:p>
          <a:p>
            <a:pPr indent="-274320" lvl="1" marL="548640" rtl="0" algn="l">
              <a:spcBef>
                <a:spcPts val="500"/>
              </a:spcBef>
              <a:spcAft>
                <a:spcPts val="0"/>
              </a:spcAft>
              <a:buSzPts val="1368"/>
              <a:buChar char="🞂"/>
            </a:pPr>
            <a:r>
              <a:rPr lang="en-US"/>
              <a:t>also called vector, stroke or line drawing graphics</a:t>
            </a:r>
            <a:endParaRPr/>
          </a:p>
          <a:p>
            <a:pPr indent="-274320" lvl="1" marL="548640" rtl="0" algn="l">
              <a:spcBef>
                <a:spcPts val="500"/>
              </a:spcBef>
              <a:spcAft>
                <a:spcPts val="0"/>
              </a:spcAft>
              <a:buSzPts val="1368"/>
              <a:buChar char="🞂"/>
            </a:pPr>
            <a:r>
              <a:rPr lang="en-US"/>
              <a:t>lines drawn directly on phosphor</a:t>
            </a:r>
            <a:endParaRPr/>
          </a:p>
          <a:p>
            <a:pPr indent="-228600" lvl="2" marL="822960" rtl="0" algn="l">
              <a:spcBef>
                <a:spcPts val="500"/>
              </a:spcBef>
              <a:spcAft>
                <a:spcPts val="0"/>
              </a:spcAft>
              <a:buSzPts val="1216"/>
              <a:buChar char="🞂"/>
            </a:pPr>
            <a:r>
              <a:rPr lang="en-US"/>
              <a:t>display processor directs electron beam according to list of lines defined in a "</a:t>
            </a:r>
            <a:r>
              <a:rPr b="1" lang="en-US"/>
              <a:t>display list</a:t>
            </a:r>
            <a:r>
              <a:rPr lang="en-US"/>
              <a:t>“</a:t>
            </a:r>
            <a:endParaRPr/>
          </a:p>
          <a:p>
            <a:pPr indent="-228600" lvl="2" marL="822960" rtl="0" algn="l">
              <a:spcBef>
                <a:spcPts val="500"/>
              </a:spcBef>
              <a:spcAft>
                <a:spcPts val="0"/>
              </a:spcAft>
              <a:buSzPts val="1216"/>
              <a:buChar char="🞂"/>
            </a:pPr>
            <a:r>
              <a:rPr lang="en-US"/>
              <a:t>phosphors glow for only a few micro-seconds so lines must be redrawn or </a:t>
            </a:r>
            <a:r>
              <a:rPr b="1" lang="en-US"/>
              <a:t>refreshed</a:t>
            </a:r>
            <a:r>
              <a:rPr lang="en-US"/>
              <a:t> constantly</a:t>
            </a:r>
            <a:endParaRPr/>
          </a:p>
          <a:p>
            <a:pPr indent="-228600" lvl="2" marL="822960" rtl="0" algn="l">
              <a:spcBef>
                <a:spcPts val="500"/>
              </a:spcBef>
              <a:spcAft>
                <a:spcPts val="0"/>
              </a:spcAft>
              <a:buSzPts val="1216"/>
              <a:buChar char="🞂"/>
            </a:pPr>
            <a:r>
              <a:rPr lang="en-US"/>
              <a:t>deflection speed limits # of lines that can be drawn without flicker.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3"/>
          <p:cNvSpPr txBox="1"/>
          <p:nvPr>
            <p:ph idx="4294967295" type="sldNum"/>
          </p:nvPr>
        </p:nvSpPr>
        <p:spPr>
          <a:xfrm>
            <a:off x="7658100" y="4800600"/>
            <a:ext cx="6286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3" name="Google Shape;243;p13"/>
          <p:cNvSpPr txBox="1"/>
          <p:nvPr>
            <p:ph type="title"/>
          </p:nvPr>
        </p:nvSpPr>
        <p:spPr>
          <a:xfrm>
            <a:off x="457200" y="51435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20000"/>
              </a:buClr>
              <a:buSzPct val="100000"/>
              <a:buFont typeface="Oi"/>
              <a:buNone/>
            </a:pPr>
            <a:r>
              <a:rPr lang="en-US"/>
              <a:t>Vector Display Architecture</a:t>
            </a:r>
            <a:endParaRPr/>
          </a:p>
        </p:txBody>
      </p:sp>
      <p:pic>
        <p:nvPicPr>
          <p:cNvPr descr="D:\PICTURE\vectordisplay.jpg" id="244" name="Google Shape;24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4550" y="1143001"/>
            <a:ext cx="4800600" cy="3212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4"/>
          <p:cNvSpPr txBox="1"/>
          <p:nvPr>
            <p:ph idx="4294967295" type="sldNum"/>
          </p:nvPr>
        </p:nvSpPr>
        <p:spPr>
          <a:xfrm>
            <a:off x="7658100" y="4800600"/>
            <a:ext cx="6286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0" name="Google Shape;250;p14"/>
          <p:cNvSpPr txBox="1"/>
          <p:nvPr>
            <p:ph type="title"/>
          </p:nvPr>
        </p:nvSpPr>
        <p:spPr>
          <a:xfrm>
            <a:off x="457200" y="51435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20000"/>
              </a:buClr>
              <a:buSzPct val="100000"/>
              <a:buFont typeface="Oi"/>
              <a:buNone/>
            </a:pPr>
            <a:r>
              <a:rPr lang="en-US"/>
              <a:t>Output Technology (2/3)</a:t>
            </a:r>
            <a:endParaRPr/>
          </a:p>
        </p:txBody>
      </p:sp>
      <p:sp>
        <p:nvSpPr>
          <p:cNvPr id="251" name="Google Shape;251;p14"/>
          <p:cNvSpPr txBox="1"/>
          <p:nvPr>
            <p:ph idx="1" type="body"/>
          </p:nvPr>
        </p:nvSpPr>
        <p:spPr>
          <a:xfrm>
            <a:off x="457200" y="1085850"/>
            <a:ext cx="82296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20"/>
              <a:buChar char="🞂"/>
            </a:pPr>
            <a:r>
              <a:rPr lang="en-US"/>
              <a:t>Raster Display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68"/>
              <a:buChar char="🞂"/>
            </a:pPr>
            <a:r>
              <a:rPr lang="en-US"/>
              <a:t>Display </a:t>
            </a:r>
            <a:r>
              <a:rPr b="1" lang="en-US">
                <a:solidFill>
                  <a:srgbClr val="FF3300"/>
                </a:solidFill>
              </a:rPr>
              <a:t>primitives</a:t>
            </a:r>
            <a:r>
              <a:rPr lang="en-US"/>
              <a:t> (lines, shaded regions, characters) stored as pixels in </a:t>
            </a:r>
            <a:r>
              <a:rPr b="1" lang="en-US">
                <a:solidFill>
                  <a:srgbClr val="FF3300"/>
                </a:solidFill>
              </a:rPr>
              <a:t>refresh buffer</a:t>
            </a:r>
            <a:r>
              <a:rPr lang="en-US"/>
              <a:t> (or </a:t>
            </a:r>
            <a:r>
              <a:rPr b="1" lang="en-US">
                <a:solidFill>
                  <a:srgbClr val="FF3300"/>
                </a:solidFill>
              </a:rPr>
              <a:t>frame buffer</a:t>
            </a:r>
            <a:r>
              <a:rPr lang="en-US"/>
              <a:t>) 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68"/>
              <a:buChar char="🞂"/>
            </a:pPr>
            <a:r>
              <a:rPr lang="en-US"/>
              <a:t>Electron beam scans a regular pattern of horizontal raster lines connected by horizontal retraces and vertical retrace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68"/>
              <a:buChar char="🞂"/>
            </a:pPr>
            <a:r>
              <a:rPr lang="en-US"/>
              <a:t>Video controller coordinates the repeated scanning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68"/>
              <a:buChar char="🞂"/>
            </a:pPr>
            <a:r>
              <a:rPr lang="en-US"/>
              <a:t>Pixels are individual dots on a raster line</a:t>
            </a:r>
            <a:endParaRPr/>
          </a:p>
          <a:p>
            <a:pPr indent="-187452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5"/>
          <p:cNvSpPr txBox="1"/>
          <p:nvPr>
            <p:ph idx="4294967295" type="sldNum"/>
          </p:nvPr>
        </p:nvSpPr>
        <p:spPr>
          <a:xfrm>
            <a:off x="7658100" y="4800600"/>
            <a:ext cx="6286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7" name="Google Shape;257;p15"/>
          <p:cNvSpPr txBox="1"/>
          <p:nvPr>
            <p:ph type="title"/>
          </p:nvPr>
        </p:nvSpPr>
        <p:spPr>
          <a:xfrm>
            <a:off x="457200" y="51435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20000"/>
              </a:buClr>
              <a:buSzPct val="100000"/>
              <a:buFont typeface="Oi"/>
              <a:buNone/>
            </a:pPr>
            <a:r>
              <a:rPr lang="en-US"/>
              <a:t>Raster displays Architecture</a:t>
            </a:r>
            <a:endParaRPr/>
          </a:p>
        </p:txBody>
      </p:sp>
      <p:pic>
        <p:nvPicPr>
          <p:cNvPr descr="D:\PICTURE\rasterdisplay.jpg" id="258" name="Google Shape;25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1200151"/>
            <a:ext cx="4743450" cy="3117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6"/>
          <p:cNvSpPr txBox="1"/>
          <p:nvPr>
            <p:ph idx="4294967295" type="sldNum"/>
          </p:nvPr>
        </p:nvSpPr>
        <p:spPr>
          <a:xfrm>
            <a:off x="7658100" y="4800600"/>
            <a:ext cx="6286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5" name="Google Shape;265;p16"/>
          <p:cNvSpPr txBox="1"/>
          <p:nvPr>
            <p:ph type="title"/>
          </p:nvPr>
        </p:nvSpPr>
        <p:spPr>
          <a:xfrm>
            <a:off x="1657350" y="289323"/>
            <a:ext cx="6446044" cy="335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3325" lIns="67850" spcFirstLastPara="1" rIns="67850" wrap="square" tIns="333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20000"/>
              </a:buClr>
              <a:buSzPct val="100000"/>
              <a:buFont typeface="Oi"/>
              <a:buNone/>
            </a:pPr>
            <a:r>
              <a:rPr lang="en-US"/>
              <a:t>Output Technology (cont)</a:t>
            </a:r>
            <a:endParaRPr/>
          </a:p>
        </p:txBody>
      </p:sp>
      <p:sp>
        <p:nvSpPr>
          <p:cNvPr id="266" name="Google Shape;266;p16"/>
          <p:cNvSpPr txBox="1"/>
          <p:nvPr>
            <p:ph idx="1" type="body"/>
          </p:nvPr>
        </p:nvSpPr>
        <p:spPr>
          <a:xfrm>
            <a:off x="457200" y="1085850"/>
            <a:ext cx="82296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33325" lIns="67850" spcFirstLastPara="1" rIns="67850" wrap="square" tIns="33325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96"/>
              <a:buChar char="🞂"/>
            </a:pPr>
            <a:r>
              <a:rPr lang="en-US" sz="2100"/>
              <a:t>Bitmap is the collection of pixels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96"/>
              <a:buChar char="🞂"/>
            </a:pPr>
            <a:r>
              <a:rPr lang="en-US" sz="2100"/>
              <a:t>Frame buffer stores the bitmap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96"/>
              <a:buChar char="🞂"/>
            </a:pPr>
            <a:r>
              <a:rPr lang="en-US" sz="2100"/>
              <a:t>Raster display store the display primitives (line, characters, and solid shaded or patterned area)</a:t>
            </a:r>
            <a:endParaRPr sz="2100"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96"/>
              <a:buChar char="🞂"/>
            </a:pPr>
            <a:r>
              <a:rPr lang="en-US" sz="2100"/>
              <a:t>Frame buffers 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68"/>
              <a:buChar char="🞂"/>
            </a:pPr>
            <a:r>
              <a:rPr lang="en-US"/>
              <a:t>are composed of </a:t>
            </a:r>
            <a:r>
              <a:rPr b="1" lang="en-US"/>
              <a:t>VRAM</a:t>
            </a:r>
            <a:r>
              <a:rPr lang="en-US"/>
              <a:t> (video RAM). 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96"/>
              <a:buChar char="🞂"/>
            </a:pPr>
            <a:r>
              <a:rPr lang="en-US" sz="2100"/>
              <a:t>VRAM is dual-ported memory capable of 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68"/>
              <a:buChar char="🞂"/>
            </a:pPr>
            <a:r>
              <a:rPr lang="en-US"/>
              <a:t>Random access 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68"/>
              <a:buChar char="🞂"/>
            </a:pPr>
            <a:r>
              <a:rPr lang="en-US"/>
              <a:t>Simultaneous high-speed serial output: built-in </a:t>
            </a:r>
            <a:r>
              <a:rPr b="1" lang="en-US"/>
              <a:t>serial shift register</a:t>
            </a:r>
            <a:r>
              <a:rPr lang="en-US"/>
              <a:t> can output entire </a:t>
            </a:r>
            <a:r>
              <a:rPr i="1" lang="en-US"/>
              <a:t>scanline</a:t>
            </a:r>
            <a:r>
              <a:rPr lang="en-US"/>
              <a:t> at high rate synchronized to </a:t>
            </a:r>
            <a:r>
              <a:rPr b="1" lang="en-US"/>
              <a:t>pixel clock.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7"/>
          <p:cNvSpPr txBox="1"/>
          <p:nvPr>
            <p:ph idx="4294967295" type="sldNum"/>
          </p:nvPr>
        </p:nvSpPr>
        <p:spPr>
          <a:xfrm>
            <a:off x="7658100" y="4800600"/>
            <a:ext cx="6286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2" name="Google Shape;272;p17"/>
          <p:cNvSpPr txBox="1"/>
          <p:nvPr>
            <p:ph type="title"/>
          </p:nvPr>
        </p:nvSpPr>
        <p:spPr>
          <a:xfrm>
            <a:off x="457200" y="51435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20000"/>
              </a:buClr>
              <a:buSzPct val="100000"/>
              <a:buFont typeface="Oi"/>
              <a:buNone/>
            </a:pPr>
            <a:r>
              <a:rPr lang="en-US"/>
              <a:t>Pros and Cons</a:t>
            </a:r>
            <a:endParaRPr/>
          </a:p>
        </p:txBody>
      </p:sp>
      <p:sp>
        <p:nvSpPr>
          <p:cNvPr id="273" name="Google Shape;273;p17"/>
          <p:cNvSpPr txBox="1"/>
          <p:nvPr>
            <p:ph idx="1" type="body"/>
          </p:nvPr>
        </p:nvSpPr>
        <p:spPr>
          <a:xfrm>
            <a:off x="457200" y="1085850"/>
            <a:ext cx="82296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20"/>
              <a:buChar char="🞂"/>
            </a:pPr>
            <a:r>
              <a:rPr lang="en-US"/>
              <a:t>Advantages to Raster Displays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68"/>
              <a:buChar char="🞂"/>
            </a:pPr>
            <a:r>
              <a:rPr lang="en-US"/>
              <a:t>lower cost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68"/>
              <a:buChar char="🞂"/>
            </a:pPr>
            <a:r>
              <a:rPr lang="en-US"/>
              <a:t>filled regions/shaded images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20"/>
              <a:buChar char="🞂"/>
            </a:pPr>
            <a:r>
              <a:rPr lang="en-US"/>
              <a:t>Disadvantages to Raster Displays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68"/>
              <a:buChar char="🞂"/>
            </a:pPr>
            <a:r>
              <a:rPr lang="en-US"/>
              <a:t>a discrete representation, continuous primitives must be </a:t>
            </a:r>
            <a:r>
              <a:rPr b="1" lang="en-US"/>
              <a:t>scan-converted</a:t>
            </a:r>
            <a:r>
              <a:rPr lang="en-US"/>
              <a:t> (i.e. fill in the appropriate scan lines)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68"/>
              <a:buChar char="🞂"/>
            </a:pPr>
            <a:r>
              <a:rPr b="1" lang="en-US"/>
              <a:t>Aliasing</a:t>
            </a:r>
            <a:r>
              <a:rPr lang="en-US"/>
              <a:t> or "</a:t>
            </a:r>
            <a:r>
              <a:rPr b="1" lang="en-US"/>
              <a:t>jaggies</a:t>
            </a:r>
            <a:r>
              <a:rPr lang="en-US"/>
              <a:t>" Arises due to sampling error when converting from a continuous to a discrete representation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 txBox="1"/>
          <p:nvPr>
            <p:ph idx="4294967295" type="sldNum"/>
          </p:nvPr>
        </p:nvSpPr>
        <p:spPr>
          <a:xfrm>
            <a:off x="7658100" y="4800600"/>
            <a:ext cx="6286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9" name="Google Shape;279;p18"/>
          <p:cNvSpPr txBox="1"/>
          <p:nvPr>
            <p:ph type="title"/>
          </p:nvPr>
        </p:nvSpPr>
        <p:spPr>
          <a:xfrm>
            <a:off x="457200" y="51435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20000"/>
              </a:buClr>
              <a:buSzPct val="100000"/>
              <a:buFont typeface="Oi"/>
              <a:buNone/>
            </a:pPr>
            <a:r>
              <a:rPr lang="en-US"/>
              <a:t>Basic Definitions</a:t>
            </a:r>
            <a:endParaRPr/>
          </a:p>
        </p:txBody>
      </p:sp>
      <p:sp>
        <p:nvSpPr>
          <p:cNvPr id="280" name="Google Shape;280;p18"/>
          <p:cNvSpPr txBox="1"/>
          <p:nvPr>
            <p:ph idx="1" type="body"/>
          </p:nvPr>
        </p:nvSpPr>
        <p:spPr>
          <a:xfrm>
            <a:off x="1075135" y="1257300"/>
            <a:ext cx="3744515" cy="3486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520"/>
              <a:buChar char="🞂"/>
            </a:pPr>
            <a:r>
              <a:rPr lang="en-US"/>
              <a:t>Raster:  A rectangular array of points or dots.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520"/>
              <a:buChar char="🞂"/>
            </a:pPr>
            <a:r>
              <a:rPr lang="en-US"/>
              <a:t>Pixel (Pel): One dot or picture element of the raster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520"/>
              <a:buChar char="🞂"/>
            </a:pPr>
            <a:r>
              <a:rPr lang="en-US"/>
              <a:t>Scan line:  A row of pixels</a:t>
            </a:r>
            <a:endParaRPr/>
          </a:p>
        </p:txBody>
      </p:sp>
      <p:pic>
        <p:nvPicPr>
          <p:cNvPr id="281" name="Google Shape;28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5388" y="1722835"/>
            <a:ext cx="2961085" cy="136326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282" name="Google Shape;282;p18"/>
          <p:cNvSpPr txBox="1"/>
          <p:nvPr/>
        </p:nvSpPr>
        <p:spPr>
          <a:xfrm>
            <a:off x="5067300" y="3418285"/>
            <a:ext cx="2847975" cy="1269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Video raster devices display an image by sequentially drawing out the pixels of the scan lines that form the raster.</a:t>
            </a:r>
            <a:endParaRPr b="1" sz="10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3" name="Google Shape;283;p18"/>
          <p:cNvSpPr/>
          <p:nvPr/>
        </p:nvSpPr>
        <p:spPr>
          <a:xfrm>
            <a:off x="5044722" y="2375253"/>
            <a:ext cx="2847975" cy="57150"/>
          </a:xfrm>
          <a:prstGeom prst="rect">
            <a:avLst/>
          </a:prstGeom>
          <a:solidFill>
            <a:schemeClr val="fol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4" name="Google Shape;284;p18"/>
          <p:cNvSpPr/>
          <p:nvPr/>
        </p:nvSpPr>
        <p:spPr>
          <a:xfrm>
            <a:off x="5554310" y="2005630"/>
            <a:ext cx="88106" cy="80963"/>
          </a:xfrm>
          <a:prstGeom prst="rect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9"/>
          <p:cNvSpPr txBox="1"/>
          <p:nvPr>
            <p:ph idx="4294967295" type="sldNum"/>
          </p:nvPr>
        </p:nvSpPr>
        <p:spPr>
          <a:xfrm>
            <a:off x="7658100" y="4800600"/>
            <a:ext cx="6286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0" name="Google Shape;290;p19"/>
          <p:cNvSpPr txBox="1"/>
          <p:nvPr>
            <p:ph type="title"/>
          </p:nvPr>
        </p:nvSpPr>
        <p:spPr>
          <a:xfrm>
            <a:off x="457200" y="51435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20000"/>
              </a:buClr>
              <a:buSzPct val="100000"/>
              <a:buFont typeface="Oi"/>
              <a:buNone/>
            </a:pPr>
            <a:r>
              <a:rPr lang="en-US"/>
              <a:t>Example </a:t>
            </a:r>
            <a:endParaRPr/>
          </a:p>
        </p:txBody>
      </p:sp>
      <p:sp>
        <p:nvSpPr>
          <p:cNvPr id="291" name="Google Shape;291;p19"/>
          <p:cNvSpPr txBox="1"/>
          <p:nvPr>
            <p:ph idx="1" type="body"/>
          </p:nvPr>
        </p:nvSpPr>
        <p:spPr>
          <a:xfrm>
            <a:off x="457200" y="1085850"/>
            <a:ext cx="82296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68"/>
              <a:buChar char="🞂"/>
            </a:pPr>
            <a:r>
              <a:rPr b="1" lang="en-US" sz="1800"/>
              <a:t>Television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40"/>
              <a:buChar char="🞂"/>
            </a:pPr>
            <a:r>
              <a:rPr b="1" lang="en-US" sz="1500"/>
              <a:t>NTSC 			640x480x8b 		1/4 MB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40"/>
              <a:buChar char="🞂"/>
            </a:pPr>
            <a:r>
              <a:rPr b="1" lang="en-US" sz="1500"/>
              <a:t>GA-HDTV 		1920x1080x8b		 ~2 MB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68"/>
              <a:buChar char="🞂"/>
            </a:pPr>
            <a:r>
              <a:rPr b="1" lang="en-US" sz="1800"/>
              <a:t>Workstations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40"/>
              <a:buChar char="🞂"/>
            </a:pPr>
            <a:r>
              <a:rPr b="1" lang="en-US" sz="1500"/>
              <a:t>Bitmapped display	 960x1152x1b 		~1 Mb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40"/>
              <a:buChar char="🞂"/>
            </a:pPr>
            <a:r>
              <a:rPr b="1" lang="en-US" sz="1500"/>
              <a:t>Color workstation 	1280x1024x24b 	  5 MB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68"/>
              <a:buChar char="🞂"/>
            </a:pPr>
            <a:r>
              <a:rPr b="1" lang="en-US" sz="1800"/>
              <a:t>Laserprinters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40"/>
              <a:buChar char="🞂"/>
            </a:pPr>
            <a:r>
              <a:rPr b="1" lang="en-US" sz="1500"/>
              <a:t>300 dpi 			(8.5”x300)(11”x300)    1.05 MB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40"/>
              <a:buChar char="🞂"/>
            </a:pPr>
            <a:r>
              <a:rPr b="1" lang="en-US" sz="1500"/>
              <a:t>2400 dpi 		(8.5”x2400)(11”x2400) ~64 MB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68"/>
              <a:buChar char="🞂"/>
            </a:pPr>
            <a:r>
              <a:rPr b="1" lang="en-US" sz="1800"/>
              <a:t>Film (line pairs/mm)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40"/>
              <a:buChar char="🞂"/>
            </a:pPr>
            <a:r>
              <a:rPr b="1" lang="en-US" sz="1500"/>
              <a:t>35mm (diagonal) slide (ASA25~125 lp/mm) = 3000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40"/>
              <a:buFont typeface="Noto Sans Symbols"/>
              <a:buNone/>
            </a:pPr>
            <a:r>
              <a:rPr b="1" lang="en-US" sz="1500"/>
              <a:t>					3000 x 2000 x 3 x 12b ~27 MB</a:t>
            </a:r>
            <a:endParaRPr sz="1500"/>
          </a:p>
          <a:p>
            <a:pPr indent="-187452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0"/>
          <p:cNvSpPr txBox="1"/>
          <p:nvPr>
            <p:ph idx="4294967295" type="sldNum"/>
          </p:nvPr>
        </p:nvSpPr>
        <p:spPr>
          <a:xfrm>
            <a:off x="7658100" y="4800600"/>
            <a:ext cx="6286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7" name="Google Shape;297;p20"/>
          <p:cNvSpPr txBox="1"/>
          <p:nvPr>
            <p:ph type="title"/>
          </p:nvPr>
        </p:nvSpPr>
        <p:spPr>
          <a:xfrm>
            <a:off x="457200" y="51435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20000"/>
              </a:buClr>
              <a:buSzPct val="100000"/>
              <a:buFont typeface="Oi"/>
              <a:buNone/>
            </a:pPr>
            <a:r>
              <a:rPr lang="en-US"/>
              <a:t>Frame Buffer</a:t>
            </a:r>
            <a:endParaRPr/>
          </a:p>
        </p:txBody>
      </p:sp>
      <p:sp>
        <p:nvSpPr>
          <p:cNvPr id="298" name="Google Shape;298;p20"/>
          <p:cNvSpPr txBox="1"/>
          <p:nvPr>
            <p:ph idx="1" type="body"/>
          </p:nvPr>
        </p:nvSpPr>
        <p:spPr>
          <a:xfrm>
            <a:off x="1143000" y="1143000"/>
            <a:ext cx="3486150" cy="339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68"/>
              <a:buChar char="🞂"/>
            </a:pPr>
            <a:r>
              <a:rPr lang="en-US" sz="1800"/>
              <a:t>A frame buffer is characterized by its size, x, y, and pixel depth.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68"/>
              <a:buChar char="🞂"/>
            </a:pPr>
            <a:r>
              <a:rPr lang="en-US" sz="1800"/>
              <a:t>the </a:t>
            </a:r>
            <a:r>
              <a:rPr b="1" lang="en-US" sz="1800"/>
              <a:t>resolution</a:t>
            </a:r>
            <a:r>
              <a:rPr lang="en-US" sz="1800"/>
              <a:t> of a frame buffer is the number of pixels in the display. e.g. 1024x1024 pixels.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68"/>
              <a:buChar char="🞂"/>
            </a:pPr>
            <a:r>
              <a:rPr lang="en-US" sz="1800"/>
              <a:t>Bit Planes or Bit Depth is the number of bits corresponding to each pixel. This determines the </a:t>
            </a:r>
            <a:r>
              <a:rPr b="1" lang="en-US" sz="1800"/>
              <a:t>color resolution</a:t>
            </a:r>
            <a:r>
              <a:rPr lang="en-US" sz="1800"/>
              <a:t> of the buffer.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68"/>
              <a:buChar char="🞂"/>
            </a:pPr>
            <a:r>
              <a:rPr lang="en-US" sz="1800"/>
              <a:t>Dual ported (simultaneously writing values and displaying in the monitor)</a:t>
            </a:r>
            <a:endParaRPr sz="1800"/>
          </a:p>
          <a:p>
            <a:pPr indent="-187452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68"/>
              <a:buFont typeface="Noto Sans Symbols"/>
              <a:buNone/>
            </a:pPr>
            <a:r>
              <a:t/>
            </a:r>
            <a:endParaRPr sz="1800"/>
          </a:p>
        </p:txBody>
      </p:sp>
      <p:pic>
        <p:nvPicPr>
          <p:cNvPr id="299" name="Google Shape;29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9250" y="1028700"/>
            <a:ext cx="1857375" cy="181927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0"/>
          <p:cNvSpPr/>
          <p:nvPr/>
        </p:nvSpPr>
        <p:spPr>
          <a:xfrm>
            <a:off x="4857750" y="2971801"/>
            <a:ext cx="3257550" cy="15465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Bilevel or monochrome displays have 1 bit/pixel (128Kbytes of RAM)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8bits/pixel -&gt;</a:t>
            </a:r>
            <a:r>
              <a:rPr b="1" lang="en-US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b="1" lang="en-US"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256 simultaneous colors</a:t>
            </a:r>
            <a:br>
              <a:rPr b="1" lang="en-US"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24bits/pixel -&gt;</a:t>
            </a:r>
            <a:r>
              <a:rPr b="1" lang="en-US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b="1" lang="en-US"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 million simultaneous colors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1"/>
          <p:cNvSpPr txBox="1"/>
          <p:nvPr>
            <p:ph idx="4294967295" type="sldNum"/>
          </p:nvPr>
        </p:nvSpPr>
        <p:spPr>
          <a:xfrm>
            <a:off x="7658100" y="4800600"/>
            <a:ext cx="6286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6" name="Google Shape;306;p21"/>
          <p:cNvSpPr txBox="1"/>
          <p:nvPr>
            <p:ph type="title"/>
          </p:nvPr>
        </p:nvSpPr>
        <p:spPr>
          <a:xfrm>
            <a:off x="457200" y="51435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20000"/>
              </a:buClr>
              <a:buSzPct val="100000"/>
              <a:buFont typeface="Oi"/>
              <a:buNone/>
            </a:pPr>
            <a:r>
              <a:rPr lang="en-US"/>
              <a:t>Comparing Raster and Vector (1/2)</a:t>
            </a:r>
            <a:endParaRPr/>
          </a:p>
        </p:txBody>
      </p:sp>
      <p:sp>
        <p:nvSpPr>
          <p:cNvPr id="307" name="Google Shape;307;p21"/>
          <p:cNvSpPr txBox="1"/>
          <p:nvPr>
            <p:ph idx="1" type="body"/>
          </p:nvPr>
        </p:nvSpPr>
        <p:spPr>
          <a:xfrm>
            <a:off x="457200" y="1085850"/>
            <a:ext cx="82296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596"/>
              <a:buChar char="🞂"/>
            </a:pPr>
            <a:r>
              <a:rPr lang="en-US" sz="2100"/>
              <a:t>advantages of vector: </a:t>
            </a:r>
            <a:endParaRPr/>
          </a:p>
          <a:p>
            <a:pPr indent="-274320" lvl="1" marL="548640" rtl="0" algn="l">
              <a:spcBef>
                <a:spcPts val="750"/>
              </a:spcBef>
              <a:spcAft>
                <a:spcPts val="0"/>
              </a:spcAft>
              <a:buSzPts val="1368"/>
              <a:buChar char="🞂"/>
            </a:pPr>
            <a:r>
              <a:rPr lang="en-US"/>
              <a:t>very fine detail of line drawings (sometimes curves), whereas raster suffers from jagged edge problem due to pixels (aliasing, quantization errors) </a:t>
            </a:r>
            <a:endParaRPr/>
          </a:p>
          <a:p>
            <a:pPr indent="-274320" lvl="1" marL="548640" rtl="0" algn="l">
              <a:spcBef>
                <a:spcPts val="750"/>
              </a:spcBef>
              <a:spcAft>
                <a:spcPts val="0"/>
              </a:spcAft>
              <a:buSzPts val="1368"/>
              <a:buChar char="🞂"/>
            </a:pPr>
            <a:r>
              <a:rPr lang="en-US"/>
              <a:t>geometry objects (lines) whereas raster only handles pixels </a:t>
            </a:r>
            <a:endParaRPr/>
          </a:p>
          <a:p>
            <a:pPr indent="-274320" lvl="1" marL="548640" rtl="0" algn="l">
              <a:spcBef>
                <a:spcPts val="750"/>
              </a:spcBef>
              <a:spcAft>
                <a:spcPts val="0"/>
              </a:spcAft>
              <a:buSzPts val="1368"/>
              <a:buChar char="🞂"/>
            </a:pPr>
            <a:r>
              <a:rPr lang="en-US"/>
              <a:t>eg. 1000 line plot: vector disply computes 2000 endpoints </a:t>
            </a:r>
            <a:endParaRPr/>
          </a:p>
          <a:p>
            <a:pPr indent="-274320" lvl="1" marL="548640" rtl="0" algn="l">
              <a:spcBef>
                <a:spcPts val="750"/>
              </a:spcBef>
              <a:spcAft>
                <a:spcPts val="0"/>
              </a:spcAft>
              <a:buSzPts val="1368"/>
              <a:buChar char="🞂"/>
            </a:pPr>
            <a:r>
              <a:rPr lang="en-US"/>
              <a:t>raster display computes all pixels on each line </a:t>
            </a:r>
            <a:endParaRPr/>
          </a:p>
          <a:p>
            <a:pPr indent="-172974" lvl="0" marL="274320" rtl="0" algn="l">
              <a:spcBef>
                <a:spcPts val="975"/>
              </a:spcBef>
              <a:spcAft>
                <a:spcPts val="0"/>
              </a:spcAft>
              <a:buSzPts val="1596"/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2"/>
          <p:cNvSpPr txBox="1"/>
          <p:nvPr>
            <p:ph idx="4294967295" type="sldNum"/>
          </p:nvPr>
        </p:nvSpPr>
        <p:spPr>
          <a:xfrm>
            <a:off x="7658100" y="4800600"/>
            <a:ext cx="6286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3" name="Google Shape;313;p22"/>
          <p:cNvSpPr txBox="1"/>
          <p:nvPr>
            <p:ph type="title"/>
          </p:nvPr>
        </p:nvSpPr>
        <p:spPr>
          <a:xfrm>
            <a:off x="457200" y="51435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20000"/>
              </a:buClr>
              <a:buSzPct val="100000"/>
              <a:buFont typeface="Oi"/>
              <a:buNone/>
            </a:pPr>
            <a:r>
              <a:rPr lang="en-US"/>
              <a:t>Comparing Raster and Vector (2/2)</a:t>
            </a:r>
            <a:endParaRPr/>
          </a:p>
        </p:txBody>
      </p:sp>
      <p:sp>
        <p:nvSpPr>
          <p:cNvPr id="314" name="Google Shape;314;p22"/>
          <p:cNvSpPr txBox="1"/>
          <p:nvPr>
            <p:ph idx="1" type="body"/>
          </p:nvPr>
        </p:nvSpPr>
        <p:spPr>
          <a:xfrm>
            <a:off x="457200" y="1085850"/>
            <a:ext cx="82296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520"/>
              <a:buChar char="🞂"/>
            </a:pPr>
            <a:r>
              <a:rPr lang="en-US"/>
              <a:t>advantages of raster: </a:t>
            </a:r>
            <a:endParaRPr/>
          </a:p>
          <a:p>
            <a:pPr indent="-274320" lvl="1" marL="548640" rtl="0" algn="l">
              <a:spcBef>
                <a:spcPts val="750"/>
              </a:spcBef>
              <a:spcAft>
                <a:spcPts val="0"/>
              </a:spcAft>
              <a:buSzPts val="1368"/>
              <a:buChar char="🞂"/>
            </a:pPr>
            <a:r>
              <a:rPr lang="en-US"/>
              <a:t>cheaper </a:t>
            </a:r>
            <a:endParaRPr/>
          </a:p>
          <a:p>
            <a:pPr indent="-274320" lvl="1" marL="548640" rtl="0" algn="l">
              <a:spcBef>
                <a:spcPts val="750"/>
              </a:spcBef>
              <a:spcAft>
                <a:spcPts val="0"/>
              </a:spcAft>
              <a:buSzPts val="1368"/>
              <a:buChar char="🞂"/>
            </a:pPr>
            <a:r>
              <a:rPr lang="en-US"/>
              <a:t>colours, textures, realism </a:t>
            </a:r>
            <a:endParaRPr/>
          </a:p>
          <a:p>
            <a:pPr indent="-274320" lvl="1" marL="548640" rtl="0" algn="l">
              <a:spcBef>
                <a:spcPts val="750"/>
              </a:spcBef>
              <a:spcAft>
                <a:spcPts val="0"/>
              </a:spcAft>
              <a:buSzPts val="1368"/>
              <a:buChar char="🞂"/>
            </a:pPr>
            <a:r>
              <a:rPr lang="en-US"/>
              <a:t>unlimited complexity of picture: whatever you put in refresh buffer, whereas vector complexity limited by refresh rate </a:t>
            </a:r>
            <a:endParaRPr/>
          </a:p>
          <a:p>
            <a:pPr indent="-274320" lvl="1" marL="548640" rtl="0" algn="l">
              <a:spcBef>
                <a:spcPts val="750"/>
              </a:spcBef>
              <a:spcAft>
                <a:spcPts val="0"/>
              </a:spcAft>
              <a:buSzPts val="1368"/>
              <a:buChar char="🞂"/>
            </a:pPr>
            <a:r>
              <a:rPr lang="en-US"/>
              <a:t>HYBRIDS?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3"/>
          <p:cNvSpPr txBox="1"/>
          <p:nvPr>
            <p:ph idx="1" type="body"/>
          </p:nvPr>
        </p:nvSpPr>
        <p:spPr>
          <a:xfrm>
            <a:off x="457200" y="1018687"/>
            <a:ext cx="8229600" cy="2027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76000"/>
              <a:buChar char="🞂"/>
            </a:pPr>
            <a:r>
              <a:rPr lang="en-US"/>
              <a:t>Graphics library/package is </a:t>
            </a:r>
            <a:r>
              <a:rPr b="1" lang="en-US" sz="16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intermediary</a:t>
            </a:r>
            <a:r>
              <a:rPr lang="en-US"/>
              <a:t> between application and display hardware (Graphics System)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6000"/>
              <a:buChar char="🞂"/>
            </a:pPr>
            <a:r>
              <a:rPr lang="en-US"/>
              <a:t>Application program maps application objects to views (images) of those objects by calling on graphics library.  Application model may contain lots of non-graphical data (e.g., non-geometric object properties)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6000"/>
              <a:buChar char="🞂"/>
            </a:pPr>
            <a:r>
              <a:rPr lang="en-US"/>
              <a:t>User interaction results in modification of image and/or model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6000"/>
              <a:buChar char="🞂"/>
            </a:pPr>
            <a:r>
              <a:rPr lang="en-US"/>
              <a:t>This hardware and software framework is 5 decades old but is still useful</a:t>
            </a:r>
            <a:endParaRPr/>
          </a:p>
        </p:txBody>
      </p:sp>
      <p:sp>
        <p:nvSpPr>
          <p:cNvPr id="321" name="Google Shape;321;p23"/>
          <p:cNvSpPr txBox="1"/>
          <p:nvPr>
            <p:ph type="title"/>
          </p:nvPr>
        </p:nvSpPr>
        <p:spPr>
          <a:xfrm>
            <a:off x="457200" y="51435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20000"/>
              </a:buClr>
              <a:buSzPct val="100000"/>
              <a:buFont typeface="Oi"/>
              <a:buNone/>
            </a:pPr>
            <a:r>
              <a:rPr lang="en-US"/>
              <a:t>Conceptual Framework for Interactive Graphics</a:t>
            </a:r>
            <a:endParaRPr/>
          </a:p>
        </p:txBody>
      </p:sp>
      <p:grpSp>
        <p:nvGrpSpPr>
          <p:cNvPr id="322" name="Google Shape;322;p23"/>
          <p:cNvGrpSpPr/>
          <p:nvPr/>
        </p:nvGrpSpPr>
        <p:grpSpPr>
          <a:xfrm>
            <a:off x="596686" y="3033813"/>
            <a:ext cx="8045667" cy="1684897"/>
            <a:chOff x="596685" y="4181566"/>
            <a:chExt cx="8045667" cy="1722834"/>
          </a:xfrm>
        </p:grpSpPr>
        <p:pic>
          <p:nvPicPr>
            <p:cNvPr descr="021" id="323" name="Google Shape;323;p23"/>
            <p:cNvPicPr preferRelativeResize="0"/>
            <p:nvPr/>
          </p:nvPicPr>
          <p:blipFill rotWithShape="1">
            <a:blip r:embed="rId3">
              <a:alphaModFix/>
            </a:blip>
            <a:srcRect b="0" l="53542" r="0" t="0"/>
            <a:stretch/>
          </p:blipFill>
          <p:spPr>
            <a:xfrm>
              <a:off x="6267452" y="4445885"/>
              <a:ext cx="2374900" cy="14585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4" name="Google Shape;324;p23"/>
            <p:cNvSpPr txBox="1"/>
            <p:nvPr/>
          </p:nvSpPr>
          <p:spPr>
            <a:xfrm>
              <a:off x="2311400" y="4932518"/>
              <a:ext cx="1016000" cy="32597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25" name="Google Shape;325;p23"/>
            <p:cNvSpPr txBox="1"/>
            <p:nvPr/>
          </p:nvSpPr>
          <p:spPr>
            <a:xfrm>
              <a:off x="3816351" y="4899512"/>
              <a:ext cx="1100667" cy="32002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326" name="Google Shape;326;p23"/>
            <p:cNvGrpSpPr/>
            <p:nvPr/>
          </p:nvGrpSpPr>
          <p:grpSpPr>
            <a:xfrm>
              <a:off x="5278967" y="4609000"/>
              <a:ext cx="1037167" cy="1143000"/>
              <a:chOff x="2112" y="3792"/>
              <a:chExt cx="432" cy="960"/>
            </a:xfrm>
          </p:grpSpPr>
          <p:sp>
            <p:nvSpPr>
              <p:cNvPr id="327" name="Google Shape;327;p23"/>
              <p:cNvSpPr/>
              <p:nvPr/>
            </p:nvSpPr>
            <p:spPr>
              <a:xfrm>
                <a:off x="2112" y="3792"/>
                <a:ext cx="432" cy="96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4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328" name="Google Shape;328;p23"/>
              <p:cNvSpPr txBox="1"/>
              <p:nvPr/>
            </p:nvSpPr>
            <p:spPr>
              <a:xfrm>
                <a:off x="2170" y="3968"/>
                <a:ext cx="336" cy="634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0" spcFirstLastPara="1" rIns="0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4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Graphics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4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System/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4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GPU</a:t>
                </a:r>
                <a:endParaRPr b="0" sz="14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  <p:sp>
          <p:nvSpPr>
            <p:cNvPr id="329" name="Google Shape;329;p23"/>
            <p:cNvSpPr/>
            <p:nvPr/>
          </p:nvSpPr>
          <p:spPr>
            <a:xfrm>
              <a:off x="6267451" y="4674485"/>
              <a:ext cx="914400" cy="121444"/>
            </a:xfrm>
            <a:prstGeom prst="rightArrow">
              <a:avLst>
                <a:gd fmla="val 50000" name="adj1"/>
                <a:gd fmla="val 105882" name="adj2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30" name="Google Shape;330;p23"/>
            <p:cNvSpPr/>
            <p:nvPr/>
          </p:nvSpPr>
          <p:spPr>
            <a:xfrm>
              <a:off x="6267451" y="4960235"/>
              <a:ext cx="880533" cy="123825"/>
            </a:xfrm>
            <a:prstGeom prst="leftArrow">
              <a:avLst>
                <a:gd fmla="val 50000" name="adj1"/>
                <a:gd fmla="val 100000" name="adj2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31" name="Google Shape;331;p23"/>
            <p:cNvSpPr/>
            <p:nvPr/>
          </p:nvSpPr>
          <p:spPr>
            <a:xfrm>
              <a:off x="6267451" y="5417435"/>
              <a:ext cx="372533" cy="114300"/>
            </a:xfrm>
            <a:prstGeom prst="leftArrow">
              <a:avLst>
                <a:gd fmla="val 50000" name="adj1"/>
                <a:gd fmla="val 45833" name="adj2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32" name="Google Shape;332;p23"/>
            <p:cNvSpPr/>
            <p:nvPr/>
          </p:nvSpPr>
          <p:spPr>
            <a:xfrm>
              <a:off x="3306233" y="4967406"/>
              <a:ext cx="508000" cy="57150"/>
            </a:xfrm>
            <a:prstGeom prst="leftArrow">
              <a:avLst>
                <a:gd fmla="val 50000" name="adj1"/>
                <a:gd fmla="val 125000" name="adj2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33" name="Google Shape;333;p23"/>
            <p:cNvSpPr/>
            <p:nvPr/>
          </p:nvSpPr>
          <p:spPr>
            <a:xfrm>
              <a:off x="1795390" y="5106394"/>
              <a:ext cx="516010" cy="56381"/>
            </a:xfrm>
            <a:prstGeom prst="leftArrow">
              <a:avLst>
                <a:gd fmla="val 50000" name="adj1"/>
                <a:gd fmla="val 125000" name="adj2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34" name="Google Shape;334;p23"/>
            <p:cNvSpPr/>
            <p:nvPr/>
          </p:nvSpPr>
          <p:spPr>
            <a:xfrm>
              <a:off x="1785189" y="4969759"/>
              <a:ext cx="551611" cy="67858"/>
            </a:xfrm>
            <a:prstGeom prst="rightArrow">
              <a:avLst>
                <a:gd fmla="val 50000" name="adj1"/>
                <a:gd fmla="val 124802" name="adj2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35" name="Google Shape;335;p23"/>
            <p:cNvSpPr/>
            <p:nvPr/>
          </p:nvSpPr>
          <p:spPr>
            <a:xfrm>
              <a:off x="3316817" y="5099558"/>
              <a:ext cx="508000" cy="57150"/>
            </a:xfrm>
            <a:prstGeom prst="rightArrow">
              <a:avLst>
                <a:gd fmla="val 50000" name="adj1"/>
                <a:gd fmla="val 125000" name="adj2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336" name="Google Shape;336;p23"/>
            <p:cNvGrpSpPr/>
            <p:nvPr/>
          </p:nvGrpSpPr>
          <p:grpSpPr>
            <a:xfrm>
              <a:off x="596685" y="4748224"/>
              <a:ext cx="1642820" cy="1138287"/>
              <a:chOff x="110168" y="6888480"/>
              <a:chExt cx="1232809" cy="1518333"/>
            </a:xfrm>
          </p:grpSpPr>
          <p:sp>
            <p:nvSpPr>
              <p:cNvPr id="337" name="Google Shape;337;p23"/>
              <p:cNvSpPr txBox="1"/>
              <p:nvPr/>
            </p:nvSpPr>
            <p:spPr>
              <a:xfrm>
                <a:off x="110168" y="7693189"/>
                <a:ext cx="1232809" cy="713624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0" spcFirstLastPara="1" rIns="0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4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Application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4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Model / database</a:t>
                </a:r>
                <a:endParaRPr b="0" sz="14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338" name="Google Shape;338;p23"/>
              <p:cNvSpPr/>
              <p:nvPr/>
            </p:nvSpPr>
            <p:spPr>
              <a:xfrm>
                <a:off x="471496" y="6888480"/>
                <a:ext cx="525977" cy="805178"/>
              </a:xfrm>
              <a:prstGeom prst="flowChartMagneticDisk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4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  <p:cxnSp>
          <p:nvCxnSpPr>
            <p:cNvPr id="339" name="Google Shape;339;p23"/>
            <p:cNvCxnSpPr/>
            <p:nvPr/>
          </p:nvCxnSpPr>
          <p:spPr>
            <a:xfrm rot="5400000">
              <a:off x="4298951" y="5081678"/>
              <a:ext cx="16002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</p:cxnSp>
        <p:sp>
          <p:nvSpPr>
            <p:cNvPr id="340" name="Google Shape;340;p23"/>
            <p:cNvSpPr txBox="1"/>
            <p:nvPr/>
          </p:nvSpPr>
          <p:spPr>
            <a:xfrm>
              <a:off x="1839384" y="4181566"/>
              <a:ext cx="1665816" cy="3461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Software</a:t>
              </a:r>
              <a:endParaRPr/>
            </a:p>
          </p:txBody>
        </p:sp>
        <p:sp>
          <p:nvSpPr>
            <p:cNvPr id="341" name="Google Shape;341;p23"/>
            <p:cNvSpPr txBox="1"/>
            <p:nvPr/>
          </p:nvSpPr>
          <p:spPr>
            <a:xfrm>
              <a:off x="6798734" y="4181566"/>
              <a:ext cx="1843617" cy="3461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Hardware</a:t>
              </a:r>
              <a:endParaRPr/>
            </a:p>
          </p:txBody>
        </p:sp>
        <p:sp>
          <p:nvSpPr>
            <p:cNvPr id="342" name="Google Shape;342;p23"/>
            <p:cNvSpPr/>
            <p:nvPr/>
          </p:nvSpPr>
          <p:spPr>
            <a:xfrm>
              <a:off x="4912784" y="5047150"/>
              <a:ext cx="472016" cy="61913"/>
            </a:xfrm>
            <a:prstGeom prst="rightArrow">
              <a:avLst>
                <a:gd fmla="val 50000" name="adj1"/>
                <a:gd fmla="val 124802" name="adj2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43" name="Google Shape;343;p23"/>
            <p:cNvSpPr/>
            <p:nvPr/>
          </p:nvSpPr>
          <p:spPr>
            <a:xfrm>
              <a:off x="3619501" y="4189900"/>
              <a:ext cx="1301751" cy="255985"/>
            </a:xfrm>
            <a:prstGeom prst="leftArrow">
              <a:avLst>
                <a:gd fmla="val 50000" name="adj1"/>
                <a:gd fmla="val 5000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44" name="Google Shape;344;p23"/>
            <p:cNvSpPr/>
            <p:nvPr/>
          </p:nvSpPr>
          <p:spPr>
            <a:xfrm flipH="1">
              <a:off x="5270501" y="4189900"/>
              <a:ext cx="1299633" cy="255985"/>
            </a:xfrm>
            <a:prstGeom prst="leftArrow">
              <a:avLst>
                <a:gd fmla="val 50000" name="adj1"/>
                <a:gd fmla="val 5000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345" name="Google Shape;345;p23"/>
          <p:cNvSpPr/>
          <p:nvPr/>
        </p:nvSpPr>
        <p:spPr>
          <a:xfrm>
            <a:off x="533400" y="4090043"/>
            <a:ext cx="4572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Application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program</a:t>
            </a:r>
            <a:endParaRPr/>
          </a:p>
        </p:txBody>
      </p:sp>
      <p:sp>
        <p:nvSpPr>
          <p:cNvPr id="346" name="Google Shape;346;p23"/>
          <p:cNvSpPr/>
          <p:nvPr/>
        </p:nvSpPr>
        <p:spPr>
          <a:xfrm>
            <a:off x="2057400" y="4070993"/>
            <a:ext cx="4572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Graphics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Library </a:t>
            </a:r>
            <a:endParaRPr/>
          </a:p>
        </p:txBody>
      </p:sp>
      <p:sp>
        <p:nvSpPr>
          <p:cNvPr id="347" name="Google Shape;347;p23"/>
          <p:cNvSpPr txBox="1"/>
          <p:nvPr>
            <p:ph idx="12" type="sldNum"/>
          </p:nvPr>
        </p:nvSpPr>
        <p:spPr>
          <a:xfrm>
            <a:off x="7467600" y="4800600"/>
            <a:ext cx="1219200" cy="23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4"/>
          <p:cNvSpPr txBox="1"/>
          <p:nvPr>
            <p:ph idx="1" type="body"/>
          </p:nvPr>
        </p:nvSpPr>
        <p:spPr>
          <a:xfrm>
            <a:off x="465826" y="909935"/>
            <a:ext cx="6452559" cy="3830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216"/>
              <a:buChar char="🞂"/>
            </a:pPr>
            <a:r>
              <a:rPr lang="en-US" sz="1600"/>
              <a:t>Examples: OpenGL™, DirectX™, Windows Presentation Foundation™ (WPF), RenderMan™, HTML5 + WebGL™</a:t>
            </a:r>
            <a:endParaRPr sz="1600"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216"/>
              <a:buChar char="🞂"/>
            </a:pPr>
            <a:r>
              <a:rPr lang="en-US" sz="1600"/>
              <a:t>Primitives (characters, lines, polygons, meshes,…)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216"/>
              <a:buChar char="🞂"/>
            </a:pPr>
            <a:r>
              <a:rPr lang="en-US" sz="1600"/>
              <a:t>Attributes</a:t>
            </a:r>
            <a:endParaRPr/>
          </a:p>
          <a:p>
            <a:pPr indent="-274320" lvl="1" marL="548640" rtl="0" algn="l">
              <a:spcBef>
                <a:spcPts val="500"/>
              </a:spcBef>
              <a:spcAft>
                <a:spcPts val="0"/>
              </a:spcAft>
              <a:buSzPts val="1216"/>
              <a:buChar char="🞂"/>
            </a:pPr>
            <a:r>
              <a:rPr lang="en-US" sz="1600"/>
              <a:t>Color, line style, material properties for 3D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216"/>
              <a:buChar char="🞂"/>
            </a:pPr>
            <a:r>
              <a:rPr lang="en-US" sz="1600"/>
              <a:t>Lights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216"/>
              <a:buChar char="🞂"/>
            </a:pPr>
            <a:r>
              <a:rPr lang="en-US" sz="1600"/>
              <a:t>Transformations</a:t>
            </a:r>
            <a:endParaRPr/>
          </a:p>
        </p:txBody>
      </p:sp>
      <p:sp>
        <p:nvSpPr>
          <p:cNvPr id="354" name="Google Shape;354;p24"/>
          <p:cNvSpPr txBox="1"/>
          <p:nvPr>
            <p:ph type="title"/>
          </p:nvPr>
        </p:nvSpPr>
        <p:spPr>
          <a:xfrm>
            <a:off x="457200" y="51435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20000"/>
              </a:buClr>
              <a:buSzPct val="100000"/>
              <a:buFont typeface="Oi"/>
              <a:buNone/>
            </a:pPr>
            <a:r>
              <a:rPr lang="en-US"/>
              <a:t>Graphics Library</a:t>
            </a:r>
            <a:endParaRPr/>
          </a:p>
        </p:txBody>
      </p:sp>
      <p:pic>
        <p:nvPicPr>
          <p:cNvPr descr="OpenGL" id="355" name="Google Shape;35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2577" y="499606"/>
            <a:ext cx="1256157" cy="648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53612" y="1971442"/>
            <a:ext cx="1074085" cy="596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14828" y="2707519"/>
            <a:ext cx="951653" cy="6827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www.microsoft.com/games/en-US/PublishingImages/aboutGFW/direcX11Logo_highres.jpg" id="358" name="Google Shape;35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33404" y="1306885"/>
            <a:ext cx="1714500" cy="4972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www.w3.org/html/logo/downloads/HTML5_Logo_512.png" id="359" name="Google Shape;359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14828" y="3659221"/>
            <a:ext cx="965199" cy="965199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24"/>
          <p:cNvSpPr txBox="1"/>
          <p:nvPr>
            <p:ph idx="12" type="sldNum"/>
          </p:nvPr>
        </p:nvSpPr>
        <p:spPr>
          <a:xfrm>
            <a:off x="7467600" y="4800600"/>
            <a:ext cx="1219200" cy="23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5"/>
          <p:cNvSpPr txBox="1"/>
          <p:nvPr>
            <p:ph idx="1" type="body"/>
          </p:nvPr>
        </p:nvSpPr>
        <p:spPr>
          <a:xfrm>
            <a:off x="457200" y="1085850"/>
            <a:ext cx="8234221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128"/>
              <a:buNone/>
            </a:pPr>
            <a:r>
              <a:rPr lang="en-US" sz="2800"/>
              <a:t>Sample-based graphics </a:t>
            </a:r>
            <a:r>
              <a:rPr i="1" lang="en-US" sz="2800"/>
              <a:t>v/s</a:t>
            </a:r>
            <a:r>
              <a:rPr lang="en-US" sz="2800"/>
              <a:t> Geometry-based graphics</a:t>
            </a:r>
            <a:endParaRPr/>
          </a:p>
        </p:txBody>
      </p:sp>
      <p:sp>
        <p:nvSpPr>
          <p:cNvPr id="367" name="Google Shape;367;p25"/>
          <p:cNvSpPr txBox="1"/>
          <p:nvPr>
            <p:ph type="title"/>
          </p:nvPr>
        </p:nvSpPr>
        <p:spPr>
          <a:xfrm>
            <a:off x="457200" y="51435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20000"/>
              </a:buClr>
              <a:buSzPct val="100000"/>
              <a:buFont typeface="Oi"/>
              <a:buNone/>
            </a:pPr>
            <a:r>
              <a:rPr lang="en-US"/>
              <a:t>Application Distinctions: Two Basic Paradigms</a:t>
            </a:r>
            <a:endParaRPr/>
          </a:p>
        </p:txBody>
      </p:sp>
      <p:pic>
        <p:nvPicPr>
          <p:cNvPr descr="CIT_detail_squares" id="368" name="Google Shape;36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47" y="1914413"/>
            <a:ext cx="2830466" cy="20405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74473" y="1918814"/>
            <a:ext cx="2176076" cy="2031004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5"/>
          <p:cNvSpPr txBox="1"/>
          <p:nvPr>
            <p:ph idx="12" type="sldNum"/>
          </p:nvPr>
        </p:nvSpPr>
        <p:spPr>
          <a:xfrm>
            <a:off x="7467600" y="4800600"/>
            <a:ext cx="1219200" cy="23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6"/>
          <p:cNvSpPr txBox="1"/>
          <p:nvPr>
            <p:ph idx="1" type="body"/>
          </p:nvPr>
        </p:nvSpPr>
        <p:spPr>
          <a:xfrm>
            <a:off x="457200" y="885825"/>
            <a:ext cx="8229600" cy="3857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368"/>
              <a:buChar char="🞂"/>
            </a:pPr>
            <a:r>
              <a:rPr lang="en-US" sz="1800"/>
              <a:t>Lets do some sampling of a building</a:t>
            </a:r>
            <a:endParaRPr/>
          </a:p>
          <a:p>
            <a:pPr indent="-187452" lvl="0" marL="274320" rtl="0" algn="l">
              <a:spcBef>
                <a:spcPts val="60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187452" lvl="0" marL="274320" rtl="0" algn="l">
              <a:spcBef>
                <a:spcPts val="60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187452" lvl="0" marL="274320" rtl="0" algn="l">
              <a:spcBef>
                <a:spcPts val="60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368"/>
              <a:buChar char="🞂"/>
            </a:pPr>
            <a:r>
              <a:rPr lang="en-US" sz="1800"/>
              <a:t>A color value is measured at every grid point and used to color corresponding grid square</a:t>
            </a:r>
            <a:endParaRPr/>
          </a:p>
          <a:p>
            <a:pPr indent="-187452" lvl="0" marL="274320" rtl="0" algn="l">
              <a:spcBef>
                <a:spcPts val="60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187452" lvl="0" marL="274320" rtl="0" algn="l">
              <a:spcBef>
                <a:spcPts val="60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187452" lvl="0" marL="274320" rtl="0" algn="l">
              <a:spcBef>
                <a:spcPts val="60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368"/>
              <a:buChar char="🞂"/>
            </a:pPr>
            <a:r>
              <a:rPr lang="en-US" sz="1800"/>
              <a:t>Crude sampling and image reconstruction method creates blocky image</a:t>
            </a:r>
            <a:endParaRPr/>
          </a:p>
        </p:txBody>
      </p:sp>
      <p:pic>
        <p:nvPicPr>
          <p:cNvPr descr="CIT_detail" id="377" name="Google Shape;37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2801" y="2879480"/>
            <a:ext cx="2025110" cy="1459962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6"/>
          <p:cNvSpPr txBox="1"/>
          <p:nvPr>
            <p:ph type="title"/>
          </p:nvPr>
        </p:nvSpPr>
        <p:spPr>
          <a:xfrm>
            <a:off x="457200" y="43815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20000"/>
              </a:buClr>
              <a:buSzPct val="100000"/>
              <a:buFont typeface="Oi"/>
              <a:buNone/>
            </a:pPr>
            <a:r>
              <a:rPr lang="en-US"/>
              <a:t>Sampling an Image</a:t>
            </a:r>
            <a:endParaRPr/>
          </a:p>
        </p:txBody>
      </p:sp>
      <p:pic>
        <p:nvPicPr>
          <p:cNvPr descr="CIT" id="379" name="Google Shape;37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80471" y="283774"/>
            <a:ext cx="2195622" cy="1965676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26"/>
          <p:cNvSpPr txBox="1"/>
          <p:nvPr/>
        </p:nvSpPr>
        <p:spPr>
          <a:xfrm>
            <a:off x="4664238" y="1941672"/>
            <a:ext cx="1016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rPr>
              <a:t>3D scene</a:t>
            </a:r>
            <a:endParaRPr/>
          </a:p>
        </p:txBody>
      </p:sp>
      <p:pic>
        <p:nvPicPr>
          <p:cNvPr descr="CIT_detail" id="381" name="Google Shape;38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202" y="2895132"/>
            <a:ext cx="1926645" cy="1388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IT_detail_grid" id="382" name="Google Shape;382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52801" y="2895132"/>
            <a:ext cx="1981692" cy="14286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IT_detail_squares" id="383" name="Google Shape;383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94401" y="2895131"/>
            <a:ext cx="1981692" cy="1428661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6"/>
          <p:cNvSpPr txBox="1"/>
          <p:nvPr/>
        </p:nvSpPr>
        <p:spPr>
          <a:xfrm>
            <a:off x="2946400" y="2594718"/>
            <a:ext cx="42037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rPr>
              <a:t>0 = white, 5 = gray, 10 = black</a:t>
            </a:r>
            <a:endParaRPr/>
          </a:p>
        </p:txBody>
      </p:sp>
      <p:sp>
        <p:nvSpPr>
          <p:cNvPr id="385" name="Google Shape;385;p26"/>
          <p:cNvSpPr txBox="1"/>
          <p:nvPr>
            <p:ph idx="12" type="sldNum"/>
          </p:nvPr>
        </p:nvSpPr>
        <p:spPr>
          <a:xfrm>
            <a:off x="7467600" y="4800600"/>
            <a:ext cx="1219200" cy="23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10" id="391" name="Google Shape;391;p27"/>
          <p:cNvPicPr preferRelativeResize="0"/>
          <p:nvPr/>
        </p:nvPicPr>
        <p:blipFill rotWithShape="1">
          <a:blip r:embed="rId3">
            <a:alphaModFix/>
          </a:blip>
          <a:srcRect b="0" l="0" r="69014" t="10226"/>
          <a:stretch/>
        </p:blipFill>
        <p:spPr>
          <a:xfrm>
            <a:off x="1953878" y="3519055"/>
            <a:ext cx="1170821" cy="11287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010" id="392" name="Google Shape;392;p27"/>
          <p:cNvPicPr preferRelativeResize="0"/>
          <p:nvPr/>
        </p:nvPicPr>
        <p:blipFill rotWithShape="1">
          <a:blip r:embed="rId3">
            <a:alphaModFix/>
          </a:blip>
          <a:srcRect b="0" l="0" r="69014" t="10226"/>
          <a:stretch/>
        </p:blipFill>
        <p:spPr>
          <a:xfrm rot="504268">
            <a:off x="5947459" y="3276670"/>
            <a:ext cx="1071734" cy="1035906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27"/>
          <p:cNvSpPr txBox="1"/>
          <p:nvPr>
            <p:ph type="title"/>
          </p:nvPr>
        </p:nvSpPr>
        <p:spPr>
          <a:xfrm>
            <a:off x="457200" y="51435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20000"/>
              </a:buClr>
              <a:buSzPct val="100000"/>
              <a:buFont typeface="Oi"/>
              <a:buNone/>
            </a:pPr>
            <a:r>
              <a:rPr lang="en-US"/>
              <a:t>What’s the Advantage?</a:t>
            </a:r>
            <a:endParaRPr/>
          </a:p>
        </p:txBody>
      </p:sp>
      <p:pic>
        <p:nvPicPr>
          <p:cNvPr descr="CIT_detail" id="394" name="Google Shape;39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9323" y="938197"/>
            <a:ext cx="2068163" cy="149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IT_detail_inverted" id="395" name="Google Shape;395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43995" y="938197"/>
            <a:ext cx="2068163" cy="14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7"/>
          <p:cNvSpPr txBox="1"/>
          <p:nvPr>
            <p:ph idx="1" type="body"/>
          </p:nvPr>
        </p:nvSpPr>
        <p:spPr>
          <a:xfrm>
            <a:off x="457199" y="1010037"/>
            <a:ext cx="5115925" cy="27697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76000"/>
              <a:buChar char="🞂"/>
            </a:pPr>
            <a:r>
              <a:rPr lang="en-US" sz="2300"/>
              <a:t>Once image is defined in terms of colors at (x, y) locations on grid, can change image easily by altering location or color values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6000"/>
              <a:buChar char="🞂"/>
            </a:pPr>
            <a:r>
              <a:rPr lang="en-US" sz="2300"/>
              <a:t>E.g., if we reverse our mapping above and make 10 = white and 0 = black, the image would look like this: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6000"/>
              <a:buChar char="🞂"/>
            </a:pPr>
            <a:r>
              <a:rPr lang="en-US" sz="2400"/>
              <a:t>Pixel information from one image can be copied and pasted into another, replacing or combining with previously stored pixels</a:t>
            </a:r>
            <a:endParaRPr/>
          </a:p>
        </p:txBody>
      </p:sp>
      <p:sp>
        <p:nvSpPr>
          <p:cNvPr id="397" name="Google Shape;397;p27"/>
          <p:cNvSpPr/>
          <p:nvPr/>
        </p:nvSpPr>
        <p:spPr>
          <a:xfrm>
            <a:off x="3403668" y="3927944"/>
            <a:ext cx="1873355" cy="12114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descr="010" id="398" name="Google Shape;398;p27"/>
          <p:cNvPicPr preferRelativeResize="0"/>
          <p:nvPr/>
        </p:nvPicPr>
        <p:blipFill rotWithShape="1">
          <a:blip r:embed="rId3">
            <a:alphaModFix/>
          </a:blip>
          <a:srcRect b="0" l="44993" r="0" t="6817"/>
          <a:stretch/>
        </p:blipFill>
        <p:spPr>
          <a:xfrm>
            <a:off x="5650921" y="3247593"/>
            <a:ext cx="1983783" cy="1496591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27"/>
          <p:cNvSpPr txBox="1"/>
          <p:nvPr>
            <p:ph idx="12" type="sldNum"/>
          </p:nvPr>
        </p:nvSpPr>
        <p:spPr>
          <a:xfrm>
            <a:off x="7467600" y="4800600"/>
            <a:ext cx="1219200" cy="23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8"/>
          <p:cNvSpPr txBox="1"/>
          <p:nvPr>
            <p:ph idx="1" type="body"/>
          </p:nvPr>
        </p:nvSpPr>
        <p:spPr>
          <a:xfrm>
            <a:off x="259428" y="1099928"/>
            <a:ext cx="5112670" cy="3150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216"/>
              <a:buChar char="🞂"/>
            </a:pPr>
            <a:r>
              <a:rPr lang="en-US" sz="1600"/>
              <a:t>WYSIAYG (What You See Is All You Get): No additional information</a:t>
            </a:r>
            <a:endParaRPr/>
          </a:p>
          <a:p>
            <a:pPr indent="-274320" lvl="1" marL="548640" rtl="0" algn="l">
              <a:spcBef>
                <a:spcPts val="500"/>
              </a:spcBef>
              <a:spcAft>
                <a:spcPts val="0"/>
              </a:spcAft>
              <a:buSzPts val="1064"/>
              <a:buChar char="🞂"/>
            </a:pPr>
            <a:r>
              <a:rPr lang="en-US" sz="1400"/>
              <a:t>no depth information</a:t>
            </a:r>
            <a:endParaRPr/>
          </a:p>
          <a:p>
            <a:pPr indent="-274320" lvl="1" marL="548640" rtl="0" algn="l">
              <a:spcBef>
                <a:spcPts val="500"/>
              </a:spcBef>
              <a:spcAft>
                <a:spcPts val="0"/>
              </a:spcAft>
              <a:buSzPts val="1064"/>
              <a:buChar char="🞂"/>
            </a:pPr>
            <a:r>
              <a:rPr lang="en-US" sz="1400"/>
              <a:t>can’t examine scene from different point of view</a:t>
            </a:r>
            <a:endParaRPr/>
          </a:p>
          <a:p>
            <a:pPr indent="-274320" lvl="1" marL="548640" rtl="0" algn="l">
              <a:spcBef>
                <a:spcPts val="500"/>
              </a:spcBef>
              <a:spcAft>
                <a:spcPts val="0"/>
              </a:spcAft>
              <a:buSzPts val="1064"/>
              <a:buChar char="🞂"/>
            </a:pPr>
            <a:r>
              <a:rPr lang="en-US" sz="1400"/>
              <a:t>at most can play with the individual pixels or groups of pixels to change colors, enhance contrast, find edges, etc.</a:t>
            </a:r>
            <a:endParaRPr/>
          </a:p>
          <a:p>
            <a:pPr indent="-274320" lvl="1" marL="548640" rtl="0" algn="l">
              <a:spcBef>
                <a:spcPts val="500"/>
              </a:spcBef>
              <a:spcAft>
                <a:spcPts val="0"/>
              </a:spcAft>
              <a:buSzPts val="1064"/>
              <a:buChar char="🞂"/>
            </a:pPr>
            <a:r>
              <a:rPr lang="en-US" sz="1400"/>
              <a:t>But increasingly great success in image-based rendering to fake 3D scenes and arbitrary camera positions.  New images constructed by interpolation, composition, warping and other operations.</a:t>
            </a:r>
            <a:endParaRPr/>
          </a:p>
          <a:p>
            <a:pPr indent="-274320" lvl="1" marL="548640" rtl="0" algn="l">
              <a:spcBef>
                <a:spcPts val="500"/>
              </a:spcBef>
              <a:spcAft>
                <a:spcPts val="0"/>
              </a:spcAft>
              <a:buSzPts val="1064"/>
              <a:buChar char="🞂"/>
            </a:pPr>
            <a:r>
              <a:rPr lang="en-US" sz="1400"/>
              <a:t>For a computational and cognitive science perspective, Take Thomas Serre’s </a:t>
            </a:r>
            <a:r>
              <a:rPr i="1" lang="en-US" sz="1400"/>
              <a:t>Computational Vision </a:t>
            </a:r>
            <a:r>
              <a:rPr lang="en-US" sz="1400"/>
              <a:t>(CLPS1520)</a:t>
            </a:r>
            <a:endParaRPr i="1" sz="1400"/>
          </a:p>
          <a:p>
            <a:pPr indent="-206756" lvl="1" marL="548640" rtl="0" algn="l">
              <a:spcBef>
                <a:spcPts val="500"/>
              </a:spcBef>
              <a:spcAft>
                <a:spcPts val="0"/>
              </a:spcAft>
              <a:buSzPts val="1064"/>
              <a:buNone/>
            </a:pPr>
            <a:r>
              <a:t/>
            </a:r>
            <a:endParaRPr sz="1400"/>
          </a:p>
        </p:txBody>
      </p:sp>
      <p:sp>
        <p:nvSpPr>
          <p:cNvPr id="406" name="Google Shape;406;p28"/>
          <p:cNvSpPr txBox="1"/>
          <p:nvPr>
            <p:ph type="title"/>
          </p:nvPr>
        </p:nvSpPr>
        <p:spPr>
          <a:xfrm>
            <a:off x="457200" y="51435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20000"/>
              </a:buClr>
              <a:buSzPct val="100000"/>
              <a:buFont typeface="Oi"/>
              <a:buNone/>
            </a:pPr>
            <a:r>
              <a:rPr lang="en-US"/>
              <a:t>What’s the Disadvantage?</a:t>
            </a:r>
            <a:endParaRPr/>
          </a:p>
        </p:txBody>
      </p:sp>
      <p:sp>
        <p:nvSpPr>
          <p:cNvPr id="407" name="Google Shape;407;p28"/>
          <p:cNvSpPr txBox="1"/>
          <p:nvPr/>
        </p:nvSpPr>
        <p:spPr>
          <a:xfrm>
            <a:off x="423333" y="4101407"/>
            <a:ext cx="824018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08" name="Google Shape;408;p28"/>
          <p:cNvSpPr txBox="1"/>
          <p:nvPr/>
        </p:nvSpPr>
        <p:spPr>
          <a:xfrm>
            <a:off x="4283785" y="4042367"/>
            <a:ext cx="486021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“Scene Reconstruction from High Spatio-Angular Resolution Light Fields” </a:t>
            </a:r>
            <a:r>
              <a:rPr b="0" lang="en-US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by Kim, Zimmer et al</a:t>
            </a:r>
            <a:r>
              <a:rPr b="0" i="1" lang="en-US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r>
              <a:rPr b="0" lang="en-US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2013</a:t>
            </a:r>
            <a:endParaRPr b="0"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09" name="Google Shape;40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5437" y="462558"/>
            <a:ext cx="3590925" cy="3514725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28"/>
          <p:cNvSpPr txBox="1"/>
          <p:nvPr>
            <p:ph idx="12" type="sldNum"/>
          </p:nvPr>
        </p:nvSpPr>
        <p:spPr>
          <a:xfrm>
            <a:off x="7467600" y="4800600"/>
            <a:ext cx="1219200" cy="23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9"/>
          <p:cNvSpPr txBox="1"/>
          <p:nvPr>
            <p:ph idx="1" type="body"/>
          </p:nvPr>
        </p:nvSpPr>
        <p:spPr>
          <a:xfrm>
            <a:off x="457200" y="1085849"/>
            <a:ext cx="5861050" cy="3718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520"/>
              <a:buChar char="🞂"/>
            </a:pPr>
            <a:r>
              <a:rPr b="1" lang="en-US"/>
              <a:t>Geometry-based graphics </a:t>
            </a:r>
            <a:r>
              <a:rPr lang="en-US"/>
              <a:t>(also called scalable vector graphics or object-oriented graphics):  geometrical model is created, along with various appearance attributes, and is then sampled for visualization (rendering, a.k.a image synthesis)</a:t>
            </a:r>
            <a:endParaRPr/>
          </a:p>
          <a:p>
            <a:pPr indent="-274320" lvl="1" marL="548640" rtl="0" algn="l">
              <a:spcBef>
                <a:spcPts val="500"/>
              </a:spcBef>
              <a:spcAft>
                <a:spcPts val="0"/>
              </a:spcAft>
              <a:buSzPts val="1368"/>
              <a:buChar char="🞂"/>
            </a:pPr>
            <a:r>
              <a:rPr lang="en-US"/>
              <a:t>often some aspect of physical world is visually simulated, or “synthesized”</a:t>
            </a:r>
            <a:endParaRPr/>
          </a:p>
          <a:p>
            <a:pPr indent="-274320" lvl="1" marL="548640" rtl="0" algn="l">
              <a:spcBef>
                <a:spcPts val="500"/>
              </a:spcBef>
              <a:spcAft>
                <a:spcPts val="0"/>
              </a:spcAft>
              <a:buSzPts val="1368"/>
              <a:buChar char="🞂"/>
            </a:pPr>
            <a:r>
              <a:rPr lang="en-US"/>
              <a:t>examples of 2D apps: Adobe Illustrator™, Adobe Freehand™, Corel CorelDRAW™</a:t>
            </a:r>
            <a:endParaRPr/>
          </a:p>
          <a:p>
            <a:pPr indent="-274320" lvl="1" marL="548640" rtl="0" algn="l">
              <a:spcBef>
                <a:spcPts val="500"/>
              </a:spcBef>
              <a:spcAft>
                <a:spcPts val="0"/>
              </a:spcAft>
              <a:buSzPts val="1368"/>
              <a:buChar char="🞂"/>
            </a:pPr>
            <a:r>
              <a:rPr lang="en-US"/>
              <a:t>examples of 3D apps: Autodesk’s AutoCAD™, Autodesk’s (formerly Alias|Wavefront’s) Maya™, Autodesk’s 3D Studio Max™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/>
          </a:p>
        </p:txBody>
      </p:sp>
      <p:sp>
        <p:nvSpPr>
          <p:cNvPr id="417" name="Google Shape;417;p29"/>
          <p:cNvSpPr txBox="1"/>
          <p:nvPr>
            <p:ph type="title"/>
          </p:nvPr>
        </p:nvSpPr>
        <p:spPr>
          <a:xfrm>
            <a:off x="457200" y="51435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20000"/>
              </a:buClr>
              <a:buSzPct val="100000"/>
              <a:buFont typeface="Oi"/>
              <a:buNone/>
            </a:pPr>
            <a:r>
              <a:rPr lang="en-US"/>
              <a:t>Geometry-Based Graphics </a:t>
            </a:r>
            <a:endParaRPr/>
          </a:p>
        </p:txBody>
      </p:sp>
      <p:pic>
        <p:nvPicPr>
          <p:cNvPr descr="Wireframe" id="418" name="Google Shape;41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1952" y="1143649"/>
            <a:ext cx="2113280" cy="1380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43582" y="2762249"/>
            <a:ext cx="1771650" cy="165354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29"/>
          <p:cNvSpPr txBox="1"/>
          <p:nvPr>
            <p:ph idx="12" type="sldNum"/>
          </p:nvPr>
        </p:nvSpPr>
        <p:spPr>
          <a:xfrm>
            <a:off x="7467600" y="4800600"/>
            <a:ext cx="1219200" cy="23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0"/>
          <p:cNvSpPr txBox="1"/>
          <p:nvPr>
            <p:ph idx="1" type="body"/>
          </p:nvPr>
        </p:nvSpPr>
        <p:spPr>
          <a:xfrm>
            <a:off x="457200" y="923924"/>
            <a:ext cx="8229600" cy="3811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76000"/>
              <a:buChar char="🞂"/>
            </a:pPr>
            <a:r>
              <a:rPr lang="en-US" sz="2400"/>
              <a:t>What is a model?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6000"/>
              <a:buChar char="🞂"/>
            </a:pPr>
            <a:r>
              <a:rPr lang="en-US" sz="2400"/>
              <a:t>Captures salient features (data, behavior) of object/phenomenon being modeled</a:t>
            </a:r>
            <a:endParaRPr/>
          </a:p>
          <a:p>
            <a:pPr indent="-274344" lvl="1" marL="548640" rtl="0" algn="l">
              <a:spcBef>
                <a:spcPts val="500"/>
              </a:spcBef>
              <a:spcAft>
                <a:spcPts val="0"/>
              </a:spcAft>
              <a:buSzPct val="76000"/>
              <a:buChar char="🞂"/>
            </a:pPr>
            <a:r>
              <a:rPr lang="en-US" sz="2100"/>
              <a:t>data includes geometry, appearance, attributes…</a:t>
            </a:r>
            <a:endParaRPr/>
          </a:p>
          <a:p>
            <a:pPr indent="-274344" lvl="1" marL="548640" rtl="0" algn="l">
              <a:spcBef>
                <a:spcPts val="500"/>
              </a:spcBef>
              <a:spcAft>
                <a:spcPts val="0"/>
              </a:spcAft>
              <a:buSzPct val="76000"/>
              <a:buChar char="🞂"/>
            </a:pPr>
            <a:r>
              <a:rPr lang="en-US" sz="2100"/>
              <a:t>note similarity to OOP ideas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6000"/>
              <a:buChar char="🞂"/>
            </a:pPr>
            <a:r>
              <a:rPr lang="en-US" sz="2400"/>
              <a:t>Modeling allows us to cope with complexity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6000"/>
              <a:buChar char="🞂"/>
            </a:pPr>
            <a:r>
              <a:rPr lang="en-US" sz="2400"/>
              <a:t>Our focus: modeling and viewing simple everyday objects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6000"/>
              <a:buChar char="🞂"/>
            </a:pPr>
            <a:r>
              <a:rPr lang="en-US" sz="2400"/>
              <a:t>Consider this:</a:t>
            </a:r>
            <a:endParaRPr/>
          </a:p>
          <a:p>
            <a:pPr indent="-274344" lvl="1" marL="548640" rtl="0" algn="l">
              <a:spcBef>
                <a:spcPts val="500"/>
              </a:spcBef>
              <a:spcAft>
                <a:spcPts val="0"/>
              </a:spcAft>
              <a:buSzPct val="76000"/>
              <a:buChar char="🞂"/>
            </a:pPr>
            <a:r>
              <a:rPr lang="en-US" sz="2100"/>
              <a:t>Through 3D computer graphics, we have abstract, easily changeable 3D forms, for the first time in human history  	</a:t>
            </a:r>
            <a:endParaRPr sz="2100"/>
          </a:p>
          <a:p>
            <a:pPr indent="-228624" lvl="2" marL="822960" rtl="0" algn="l">
              <a:spcBef>
                <a:spcPts val="500"/>
              </a:spcBef>
              <a:spcAft>
                <a:spcPts val="0"/>
              </a:spcAft>
              <a:buSzPct val="76000"/>
              <a:buChar char="🞂"/>
            </a:pPr>
            <a:r>
              <a:rPr lang="en-US" sz="1900"/>
              <a:t>Has revolutionized working process of many fields – science, engineering, industrial design, architecture, commerce, entertainment, etc.  Profound implications for visual thinking and visual literacy  </a:t>
            </a:r>
            <a:endParaRPr/>
          </a:p>
          <a:p>
            <a:pPr indent="-228624" lvl="2" marL="822960" rtl="0" algn="l">
              <a:spcBef>
                <a:spcPts val="500"/>
              </a:spcBef>
              <a:spcAft>
                <a:spcPts val="0"/>
              </a:spcAft>
              <a:buSzPct val="76000"/>
              <a:buChar char="🞂"/>
            </a:pPr>
            <a:r>
              <a:rPr lang="en-US" sz="1900"/>
              <a:t>“Visual truth” is gone in the Photoshop and FX-saturated world (but consider painting and photography…) – seeing no longer is believing…(or shouldn’t be!)</a:t>
            </a:r>
            <a:endParaRPr sz="1900"/>
          </a:p>
        </p:txBody>
      </p:sp>
      <p:sp>
        <p:nvSpPr>
          <p:cNvPr id="427" name="Google Shape;427;p30"/>
          <p:cNvSpPr txBox="1"/>
          <p:nvPr>
            <p:ph type="title"/>
          </p:nvPr>
        </p:nvSpPr>
        <p:spPr>
          <a:xfrm>
            <a:off x="457200" y="51435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20000"/>
              </a:buClr>
              <a:buSzPct val="100000"/>
              <a:buFont typeface="Oi"/>
              <a:buNone/>
            </a:pPr>
            <a:r>
              <a:rPr lang="en-US"/>
              <a:t>What is Geometric Modeling?</a:t>
            </a:r>
            <a:endParaRPr/>
          </a:p>
        </p:txBody>
      </p:sp>
      <p:sp>
        <p:nvSpPr>
          <p:cNvPr id="428" name="Google Shape;428;p30"/>
          <p:cNvSpPr txBox="1"/>
          <p:nvPr>
            <p:ph idx="12" type="sldNum"/>
          </p:nvPr>
        </p:nvSpPr>
        <p:spPr>
          <a:xfrm>
            <a:off x="7467600" y="4800600"/>
            <a:ext cx="1219200" cy="23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1"/>
          <p:cNvSpPr txBox="1"/>
          <p:nvPr>
            <p:ph idx="1" type="body"/>
          </p:nvPr>
        </p:nvSpPr>
        <p:spPr>
          <a:xfrm>
            <a:off x="439838" y="785813"/>
            <a:ext cx="3877520" cy="12760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76000"/>
              <a:buChar char="🞂"/>
            </a:pPr>
            <a:r>
              <a:rPr b="1" lang="en-US"/>
              <a:t>Modeling</a:t>
            </a:r>
            <a:endParaRPr/>
          </a:p>
          <a:p>
            <a:pPr indent="-274319" lvl="1" marL="548640" rtl="0" algn="l">
              <a:spcBef>
                <a:spcPts val="0"/>
              </a:spcBef>
              <a:spcAft>
                <a:spcPts val="0"/>
              </a:spcAft>
              <a:buSzPct val="76000"/>
              <a:buChar char="🞂"/>
            </a:pPr>
            <a:r>
              <a:rPr lang="en-US"/>
              <a:t>Create models</a:t>
            </a:r>
            <a:endParaRPr/>
          </a:p>
          <a:p>
            <a:pPr indent="-274319" lvl="1" marL="548640" rtl="0" algn="l">
              <a:spcBef>
                <a:spcPts val="0"/>
              </a:spcBef>
              <a:spcAft>
                <a:spcPts val="0"/>
              </a:spcAft>
              <a:buSzPct val="76000"/>
              <a:buChar char="🞂"/>
            </a:pPr>
            <a:r>
              <a:rPr lang="en-US"/>
              <a:t>Apply materials to models</a:t>
            </a:r>
            <a:endParaRPr/>
          </a:p>
          <a:p>
            <a:pPr indent="-274319" lvl="1" marL="548640" rtl="0" algn="l">
              <a:spcBef>
                <a:spcPts val="0"/>
              </a:spcBef>
              <a:spcAft>
                <a:spcPts val="0"/>
              </a:spcAft>
              <a:buSzPct val="76000"/>
              <a:buChar char="🞂"/>
            </a:pPr>
            <a:r>
              <a:rPr lang="en-US"/>
              <a:t>Place models around scene</a:t>
            </a:r>
            <a:endParaRPr/>
          </a:p>
          <a:p>
            <a:pPr indent="-274319" lvl="1" marL="548640" rtl="0" algn="l">
              <a:spcBef>
                <a:spcPts val="0"/>
              </a:spcBef>
              <a:spcAft>
                <a:spcPts val="0"/>
              </a:spcAft>
              <a:buSzPct val="76000"/>
              <a:buChar char="🞂"/>
            </a:pPr>
            <a:r>
              <a:rPr lang="en-US"/>
              <a:t>Place lights in scene </a:t>
            </a:r>
            <a:endParaRPr/>
          </a:p>
          <a:p>
            <a:pPr indent="-274319" lvl="1" marL="548640" rtl="0" algn="l">
              <a:spcBef>
                <a:spcPts val="0"/>
              </a:spcBef>
              <a:spcAft>
                <a:spcPts val="0"/>
              </a:spcAft>
              <a:buSzPct val="76000"/>
              <a:buChar char="🞂"/>
            </a:pPr>
            <a:r>
              <a:rPr lang="en-US"/>
              <a:t>Place the camera</a:t>
            </a:r>
            <a:endParaRPr/>
          </a:p>
        </p:txBody>
      </p:sp>
      <p:sp>
        <p:nvSpPr>
          <p:cNvPr id="435" name="Google Shape;435;p31"/>
          <p:cNvSpPr txBox="1"/>
          <p:nvPr>
            <p:ph type="title"/>
          </p:nvPr>
        </p:nvSpPr>
        <p:spPr>
          <a:xfrm>
            <a:off x="406400" y="458095"/>
            <a:ext cx="8229600" cy="2937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20000"/>
              </a:buClr>
              <a:buSzPct val="100000"/>
              <a:buFont typeface="Oi"/>
              <a:buNone/>
            </a:pPr>
            <a:r>
              <a:rPr lang="en-US" sz="2800"/>
              <a:t>Modeling vs. Rendering</a:t>
            </a:r>
            <a:endParaRPr/>
          </a:p>
        </p:txBody>
      </p:sp>
      <p:pic>
        <p:nvPicPr>
          <p:cNvPr descr="modelrendering_01.png" id="436" name="Google Shape;43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7348" y="2066330"/>
            <a:ext cx="2715984" cy="20779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odelrendering_01.png" id="437" name="Google Shape;43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2748" y="2077938"/>
            <a:ext cx="2690585" cy="20618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odelrendering_02.png" id="438" name="Google Shape;438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81301" y="2067223"/>
            <a:ext cx="2862032" cy="20770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odelrendering_03-2.png" id="439" name="Google Shape;439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70715" y="2061865"/>
            <a:ext cx="2872617" cy="20850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0" name="Google Shape;440;p31"/>
          <p:cNvCxnSpPr>
            <a:stCxn id="441" idx="1"/>
          </p:cNvCxnSpPr>
          <p:nvPr/>
        </p:nvCxnSpPr>
        <p:spPr>
          <a:xfrm rot="10800000">
            <a:off x="4723030" y="3207735"/>
            <a:ext cx="1488600" cy="2931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med" w="med" type="stealth"/>
          </a:ln>
        </p:spPr>
      </p:cxnSp>
      <p:pic>
        <p:nvPicPr>
          <p:cNvPr descr="modelrendering_03.png" id="442" name="Google Shape;442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64365" y="2060079"/>
            <a:ext cx="2878967" cy="2095798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31"/>
          <p:cNvSpPr txBox="1"/>
          <p:nvPr/>
        </p:nvSpPr>
        <p:spPr>
          <a:xfrm>
            <a:off x="6211630" y="3331558"/>
            <a:ext cx="221794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Directional Light</a:t>
            </a:r>
            <a:endParaRPr b="0" sz="1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43" name="Google Shape;443;p31"/>
          <p:cNvSpPr txBox="1"/>
          <p:nvPr/>
        </p:nvSpPr>
        <p:spPr>
          <a:xfrm>
            <a:off x="711248" y="3564731"/>
            <a:ext cx="115293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Ambient Light</a:t>
            </a:r>
            <a:endParaRPr/>
          </a:p>
        </p:txBody>
      </p:sp>
      <p:sp>
        <p:nvSpPr>
          <p:cNvPr id="444" name="Google Shape;444;p31"/>
          <p:cNvSpPr txBox="1"/>
          <p:nvPr/>
        </p:nvSpPr>
        <p:spPr>
          <a:xfrm>
            <a:off x="6537835" y="2551610"/>
            <a:ext cx="13948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Point Light</a:t>
            </a:r>
            <a:endParaRPr b="0" sz="1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45" name="Google Shape;445;p31"/>
          <p:cNvSpPr txBox="1"/>
          <p:nvPr/>
        </p:nvSpPr>
        <p:spPr>
          <a:xfrm>
            <a:off x="990649" y="2798564"/>
            <a:ext cx="86369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Spot Light</a:t>
            </a:r>
            <a:endParaRPr/>
          </a:p>
        </p:txBody>
      </p:sp>
      <p:pic>
        <p:nvPicPr>
          <p:cNvPr descr="modelrendering_04.png" id="446" name="Google Shape;446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358015" y="2069901"/>
            <a:ext cx="2885317" cy="20699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7" name="Google Shape;447;p31"/>
          <p:cNvCxnSpPr>
            <a:stCxn id="441" idx="1"/>
          </p:cNvCxnSpPr>
          <p:nvPr/>
        </p:nvCxnSpPr>
        <p:spPr>
          <a:xfrm rot="10800000">
            <a:off x="5080030" y="3241335"/>
            <a:ext cx="1131600" cy="2595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48" name="Google Shape;448;p31"/>
          <p:cNvCxnSpPr>
            <a:stCxn id="445" idx="3"/>
          </p:cNvCxnSpPr>
          <p:nvPr/>
        </p:nvCxnSpPr>
        <p:spPr>
          <a:xfrm>
            <a:off x="1854342" y="3090952"/>
            <a:ext cx="958200" cy="435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49" name="Google Shape;449;p31"/>
          <p:cNvCxnSpPr>
            <a:stCxn id="443" idx="3"/>
          </p:cNvCxnSpPr>
          <p:nvPr/>
        </p:nvCxnSpPr>
        <p:spPr>
          <a:xfrm flipH="1" rot="10800000">
            <a:off x="1864185" y="3639018"/>
            <a:ext cx="2837100" cy="2181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50" name="Google Shape;450;p31"/>
          <p:cNvSpPr txBox="1"/>
          <p:nvPr/>
        </p:nvSpPr>
        <p:spPr>
          <a:xfrm>
            <a:off x="3916723" y="652255"/>
            <a:ext cx="5736682" cy="1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1292"/>
              <a:buFont typeface="Noto Sans Symbols"/>
              <a:buChar char="🞂"/>
            </a:pPr>
            <a:r>
              <a:rPr b="1" lang="en-US" sz="1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Rendering</a:t>
            </a:r>
            <a:endParaRPr/>
          </a:p>
          <a:p>
            <a:pPr indent="0" lvl="1" marL="274320" marR="0" rtl="0" algn="l">
              <a:spcBef>
                <a:spcPts val="500"/>
              </a:spcBef>
              <a:spcAft>
                <a:spcPts val="0"/>
              </a:spcAft>
              <a:buClr>
                <a:srgbClr val="C0504D"/>
              </a:buClr>
              <a:buSzPts val="1292"/>
              <a:buFont typeface="Noto Sans Symbols"/>
              <a:buNone/>
            </a:pPr>
            <a:r>
              <a:rPr b="0" i="0" lang="en-US" sz="1700" u="none" cap="none" strike="noStrike">
                <a:solidFill>
                  <a:srgbClr val="1F497D"/>
                </a:solidFill>
                <a:latin typeface="Cambria"/>
                <a:ea typeface="Cambria"/>
                <a:cs typeface="Cambria"/>
                <a:sym typeface="Cambria"/>
              </a:rPr>
              <a:t>Take “picture” with camera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rgbClr val="4F81BD"/>
              </a:buClr>
              <a:buSzPts val="1292"/>
              <a:buFont typeface="Noto Sans Symbols"/>
              <a:buChar char="🞂"/>
            </a:pPr>
            <a:r>
              <a:rPr b="0" lang="en-US" sz="1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Both can be done with commercial software:</a:t>
            </a:r>
            <a:endParaRPr/>
          </a:p>
          <a:p>
            <a:pPr indent="0" lvl="1" marL="274320" marR="0" rtl="0" algn="l">
              <a:spcBef>
                <a:spcPts val="500"/>
              </a:spcBef>
              <a:spcAft>
                <a:spcPts val="0"/>
              </a:spcAft>
              <a:buClr>
                <a:srgbClr val="C0504D"/>
              </a:buClr>
              <a:buSzPts val="1292"/>
              <a:buFont typeface="Noto Sans Symbols"/>
              <a:buNone/>
            </a:pPr>
            <a:r>
              <a:rPr b="0" i="0" lang="en-US" sz="1700" u="none" cap="none" strike="noStrike">
                <a:solidFill>
                  <a:srgbClr val="1F497D"/>
                </a:solidFill>
                <a:latin typeface="Cambria"/>
                <a:ea typeface="Cambria"/>
                <a:cs typeface="Cambria"/>
                <a:sym typeface="Cambria"/>
              </a:rPr>
              <a:t>Autodesk Maya</a:t>
            </a:r>
            <a:r>
              <a:rPr b="0" baseline="30000" i="0" lang="en-US" sz="1700" u="none" cap="none" strike="noStrike">
                <a:solidFill>
                  <a:srgbClr val="1F497D"/>
                </a:solidFill>
                <a:latin typeface="Cambria"/>
                <a:ea typeface="Cambria"/>
                <a:cs typeface="Cambria"/>
                <a:sym typeface="Cambria"/>
              </a:rPr>
              <a:t>TM </a:t>
            </a:r>
            <a:r>
              <a:rPr b="0" i="0" lang="en-US" sz="1700" u="none" cap="none" strike="noStrike">
                <a:solidFill>
                  <a:srgbClr val="1F497D"/>
                </a:solidFill>
                <a:latin typeface="Cambria"/>
                <a:ea typeface="Cambria"/>
                <a:cs typeface="Cambria"/>
                <a:sym typeface="Cambria"/>
              </a:rPr>
              <a:t>,3D Studio Max</a:t>
            </a:r>
            <a:r>
              <a:rPr b="0" baseline="30000" i="0" lang="en-US" sz="1700" u="none" cap="none" strike="noStrike">
                <a:solidFill>
                  <a:srgbClr val="1F497D"/>
                </a:solidFill>
                <a:latin typeface="Cambria"/>
                <a:ea typeface="Cambria"/>
                <a:cs typeface="Cambria"/>
                <a:sym typeface="Cambria"/>
              </a:rPr>
              <a:t>TM</a:t>
            </a:r>
            <a:r>
              <a:rPr b="0" i="0" lang="en-US" sz="1700" u="none" cap="none" strike="noStrike">
                <a:solidFill>
                  <a:srgbClr val="1F497D"/>
                </a:solidFill>
                <a:latin typeface="Cambria"/>
                <a:ea typeface="Cambria"/>
                <a:cs typeface="Cambria"/>
                <a:sym typeface="Cambria"/>
              </a:rPr>
              <a:t>,  Blender</a:t>
            </a:r>
            <a:r>
              <a:rPr b="0" baseline="30000" i="0" lang="en-US" sz="1700" u="none" cap="none" strike="noStrike">
                <a:solidFill>
                  <a:srgbClr val="1F497D"/>
                </a:solidFill>
                <a:latin typeface="Cambria"/>
                <a:ea typeface="Cambria"/>
                <a:cs typeface="Cambria"/>
                <a:sym typeface="Cambria"/>
              </a:rPr>
              <a:t>TM</a:t>
            </a:r>
            <a:r>
              <a:rPr b="0" i="0" lang="en-US" sz="1700" u="none" cap="none" strike="noStrike">
                <a:solidFill>
                  <a:srgbClr val="1F497D"/>
                </a:solidFill>
                <a:latin typeface="Cambria"/>
                <a:ea typeface="Cambria"/>
                <a:cs typeface="Cambria"/>
                <a:sym typeface="Cambria"/>
              </a:rPr>
              <a:t>, etc.</a:t>
            </a:r>
            <a:endParaRPr/>
          </a:p>
        </p:txBody>
      </p:sp>
      <p:cxnSp>
        <p:nvCxnSpPr>
          <p:cNvPr id="451" name="Google Shape;451;p31"/>
          <p:cNvCxnSpPr>
            <a:stCxn id="443" idx="3"/>
          </p:cNvCxnSpPr>
          <p:nvPr/>
        </p:nvCxnSpPr>
        <p:spPr>
          <a:xfrm flipH="1" rot="10800000">
            <a:off x="1864185" y="3491418"/>
            <a:ext cx="1228800" cy="3657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52" name="Google Shape;452;p31"/>
          <p:cNvCxnSpPr>
            <a:stCxn id="445" idx="3"/>
          </p:cNvCxnSpPr>
          <p:nvPr/>
        </p:nvCxnSpPr>
        <p:spPr>
          <a:xfrm flipH="1" rot="10800000">
            <a:off x="1854342" y="2972752"/>
            <a:ext cx="1095600" cy="1182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53" name="Google Shape;453;p31"/>
          <p:cNvCxnSpPr>
            <a:stCxn id="444" idx="1"/>
          </p:cNvCxnSpPr>
          <p:nvPr/>
        </p:nvCxnSpPr>
        <p:spPr>
          <a:xfrm rot="10800000">
            <a:off x="3975535" y="2467687"/>
            <a:ext cx="2562300" cy="2532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54" name="Google Shape;454;p31"/>
          <p:cNvCxnSpPr>
            <a:stCxn id="444" idx="1"/>
          </p:cNvCxnSpPr>
          <p:nvPr/>
        </p:nvCxnSpPr>
        <p:spPr>
          <a:xfrm flipH="1">
            <a:off x="4049635" y="2720887"/>
            <a:ext cx="2488200" cy="2277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med" w="med" type="stealth"/>
          </a:ln>
        </p:spPr>
      </p:cxnSp>
      <p:pic>
        <p:nvPicPr>
          <p:cNvPr descr="pdoran_lighting_final.tif" id="455" name="Google Shape;455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311449" y="2024360"/>
            <a:ext cx="2931884" cy="2434233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31"/>
          <p:cNvSpPr txBox="1"/>
          <p:nvPr>
            <p:ph idx="12" type="sldNum"/>
          </p:nvPr>
        </p:nvSpPr>
        <p:spPr>
          <a:xfrm>
            <a:off x="7467600" y="4800600"/>
            <a:ext cx="1219200" cy="23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CS123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2000-04-18T19:42:54Z</dcterms:created>
  <dc:creator>Casey Johnson;ben@herila.net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Undo10Write">
    <vt:lpwstr/>
  </property>
  <property fmtid="{D5CDD505-2E9C-101B-9397-08002B2CF9AE}" pid="3" name="Google.Documents.Tracking">
    <vt:lpwstr>true</vt:lpwstr>
  </property>
  <property fmtid="{D5CDD505-2E9C-101B-9397-08002B2CF9AE}" pid="4" name="Google.Documents.DocumentId">
    <vt:lpwstr>1BKdNJSdFgFpTSl_LRe8acMJDNPMnw3VO8bAtx0pq1M0</vt:lpwstr>
  </property>
  <property fmtid="{D5CDD505-2E9C-101B-9397-08002B2CF9AE}" pid="5" name="Google.Documents.RevisionId">
    <vt:lpwstr>03259983960798500812</vt:lpwstr>
  </property>
  <property fmtid="{D5CDD505-2E9C-101B-9397-08002B2CF9AE}" pid="6" name="Google.Documents.PluginVersion">
    <vt:lpwstr>2.0.2026.3768</vt:lpwstr>
  </property>
  <property fmtid="{D5CDD505-2E9C-101B-9397-08002B2CF9AE}" pid="7" name="Google.Documents.MergeIncapabilityFlags">
    <vt:i4>0</vt:i4>
  </property>
</Properties>
</file>