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472">
          <p15:clr>
            <a:srgbClr val="A4A3A4"/>
          </p15:clr>
        </p15:guide>
        <p15:guide id="2" pos="2886">
          <p15:clr>
            <a:srgbClr val="A4A3A4"/>
          </p15:clr>
        </p15:guide>
      </p15:sldGuideLst>
    </p:ext>
    <p:ext uri="GoogleSlidesCustomDataVersion2">
      <go:slidesCustomData xmlns:go="http://customooxmlschemas.google.com/" r:id="rId40" roundtripDataSignature="AMtx7mgmAw4oNdjH4XUIGZum8LKaUxHW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29D0584-478C-42B4-80EA-1FC0C94138CF}">
  <a:tblStyle styleId="{129D0584-478C-42B4-80EA-1FC0C94138CF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472" orient="horz"/>
        <p:guide pos="288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E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E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1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1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1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2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2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2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3" name="Google Shape;863;p2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2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2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2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2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09" name="Google Shape;909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2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2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3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60" name="Google Shape;960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E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3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3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3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www.comp.dit.ie/bmacnamee" TargetMode="Externa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5"/>
          <p:cNvSpPr txBox="1"/>
          <p:nvPr/>
        </p:nvSpPr>
        <p:spPr>
          <a:xfrm>
            <a:off x="0" y="6465888"/>
            <a:ext cx="9144000" cy="392112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E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Course Website:</a:t>
            </a:r>
            <a:r>
              <a:rPr b="0" i="0" lang="en-IE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IE" sz="18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http://www.comp.dit.ie/bmacnamee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3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5"/>
          <p:cNvSpPr txBox="1"/>
          <p:nvPr>
            <p:ph idx="1" type="subTitle"/>
          </p:nvPr>
        </p:nvSpPr>
        <p:spPr>
          <a:xfrm>
            <a:off x="2057400" y="4400550"/>
            <a:ext cx="640080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64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6"/>
          <p:cNvSpPr txBox="1"/>
          <p:nvPr>
            <p:ph type="title"/>
          </p:nvPr>
        </p:nvSpPr>
        <p:spPr>
          <a:xfrm>
            <a:off x="638175" y="0"/>
            <a:ext cx="8505825" cy="1231900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6"/>
          <p:cNvSpPr txBox="1"/>
          <p:nvPr>
            <p:ph idx="1" type="body"/>
          </p:nvPr>
        </p:nvSpPr>
        <p:spPr>
          <a:xfrm>
            <a:off x="457200" y="1333500"/>
            <a:ext cx="8229600" cy="55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7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7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8"/>
          <p:cNvSpPr txBox="1"/>
          <p:nvPr>
            <p:ph type="title"/>
          </p:nvPr>
        </p:nvSpPr>
        <p:spPr>
          <a:xfrm>
            <a:off x="638175" y="0"/>
            <a:ext cx="8505825" cy="1231900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8"/>
          <p:cNvSpPr txBox="1"/>
          <p:nvPr>
            <p:ph idx="1" type="body"/>
          </p:nvPr>
        </p:nvSpPr>
        <p:spPr>
          <a:xfrm>
            <a:off x="457200" y="1333500"/>
            <a:ext cx="4038600" cy="55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38"/>
          <p:cNvSpPr txBox="1"/>
          <p:nvPr>
            <p:ph idx="2" type="body"/>
          </p:nvPr>
        </p:nvSpPr>
        <p:spPr>
          <a:xfrm>
            <a:off x="4648200" y="1333500"/>
            <a:ext cx="4038600" cy="55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9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9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0" name="Google Shape;30;p39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39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2" name="Google Shape;32;p39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0"/>
          <p:cNvSpPr txBox="1"/>
          <p:nvPr>
            <p:ph type="title"/>
          </p:nvPr>
        </p:nvSpPr>
        <p:spPr>
          <a:xfrm>
            <a:off x="638175" y="0"/>
            <a:ext cx="8505825" cy="1231900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2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2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SzPts val="1400"/>
              <a:buNone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39" name="Google Shape;39;p42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3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3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43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4"/>
          <p:cNvSpPr txBox="1"/>
          <p:nvPr>
            <p:ph type="title"/>
          </p:nvPr>
        </p:nvSpPr>
        <p:spPr>
          <a:xfrm>
            <a:off x="638175" y="0"/>
            <a:ext cx="8505825" cy="1231900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4"/>
          <p:cNvSpPr txBox="1"/>
          <p:nvPr>
            <p:ph idx="1" type="body"/>
          </p:nvPr>
        </p:nvSpPr>
        <p:spPr>
          <a:xfrm rot="5400000">
            <a:off x="1809750" y="-19050"/>
            <a:ext cx="55245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5"/>
          <p:cNvSpPr txBox="1"/>
          <p:nvPr>
            <p:ph type="title"/>
          </p:nvPr>
        </p:nvSpPr>
        <p:spPr>
          <a:xfrm rot="5400000">
            <a:off x="4629150" y="2343150"/>
            <a:ext cx="6858000" cy="2171700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5"/>
          <p:cNvSpPr txBox="1"/>
          <p:nvPr>
            <p:ph idx="1" type="body"/>
          </p:nvPr>
        </p:nvSpPr>
        <p:spPr>
          <a:xfrm rot="5400000">
            <a:off x="209550" y="247650"/>
            <a:ext cx="6858000" cy="63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4"/>
          <p:cNvSpPr txBox="1"/>
          <p:nvPr>
            <p:ph type="title"/>
          </p:nvPr>
        </p:nvSpPr>
        <p:spPr>
          <a:xfrm>
            <a:off x="638175" y="0"/>
            <a:ext cx="8505825" cy="1231900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4"/>
          <p:cNvSpPr txBox="1"/>
          <p:nvPr>
            <p:ph idx="1" type="body"/>
          </p:nvPr>
        </p:nvSpPr>
        <p:spPr>
          <a:xfrm>
            <a:off x="457200" y="1333500"/>
            <a:ext cx="8229600" cy="55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64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34"/>
          <p:cNvSpPr txBox="1"/>
          <p:nvPr/>
        </p:nvSpPr>
        <p:spPr>
          <a:xfrm>
            <a:off x="0" y="0"/>
            <a:ext cx="657225" cy="1228725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E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br>
              <a:rPr b="0" i="0" lang="en-IE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IE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of</a:t>
            </a:r>
            <a:br>
              <a:rPr b="0" i="0" lang="en-IE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IE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3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7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Relationship Id="rId4" Type="http://schemas.openxmlformats.org/officeDocument/2006/relationships/image" Target="../media/image11.png"/><Relationship Id="rId5" Type="http://schemas.openxmlformats.org/officeDocument/2006/relationships/image" Target="../media/image22.png"/><Relationship Id="rId6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hyperlink" Target="http://scoter2.union.edu/~hemmendd/Encyc/Articles/Difanal/difanal.html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3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3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3.png"/><Relationship Id="rId4" Type="http://schemas.openxmlformats.org/officeDocument/2006/relationships/image" Target="../media/image2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1" Type="http://schemas.openxmlformats.org/officeDocument/2006/relationships/image" Target="../media/image36.png"/><Relationship Id="rId10" Type="http://schemas.openxmlformats.org/officeDocument/2006/relationships/image" Target="../media/image34.png"/><Relationship Id="rId13" Type="http://schemas.openxmlformats.org/officeDocument/2006/relationships/image" Target="../media/image44.png"/><Relationship Id="rId1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7.png"/><Relationship Id="rId4" Type="http://schemas.openxmlformats.org/officeDocument/2006/relationships/image" Target="../media/image31.png"/><Relationship Id="rId9" Type="http://schemas.openxmlformats.org/officeDocument/2006/relationships/image" Target="../media/image46.png"/><Relationship Id="rId14" Type="http://schemas.openxmlformats.org/officeDocument/2006/relationships/image" Target="../media/image30.png"/><Relationship Id="rId5" Type="http://schemas.openxmlformats.org/officeDocument/2006/relationships/image" Target="../media/image26.png"/><Relationship Id="rId6" Type="http://schemas.openxmlformats.org/officeDocument/2006/relationships/image" Target="../media/image37.png"/><Relationship Id="rId7" Type="http://schemas.openxmlformats.org/officeDocument/2006/relationships/image" Target="../media/image43.png"/><Relationship Id="rId8" Type="http://schemas.openxmlformats.org/officeDocument/2006/relationships/image" Target="../media/image2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5.png"/><Relationship Id="rId4" Type="http://schemas.openxmlformats.org/officeDocument/2006/relationships/image" Target="../media/image3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2.png"/><Relationship Id="rId4" Type="http://schemas.openxmlformats.org/officeDocument/2006/relationships/image" Target="../media/image45.png"/><Relationship Id="rId5" Type="http://schemas.openxmlformats.org/officeDocument/2006/relationships/image" Target="../media/image4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Computer Graphics:</a:t>
            </a:r>
            <a:br>
              <a:rPr lang="en-IE"/>
            </a:br>
            <a:r>
              <a:rPr lang="en-IE"/>
              <a:t>Line Drawing Algorithms</a:t>
            </a:r>
            <a:endParaRPr/>
          </a:p>
        </p:txBody>
      </p:sp>
      <p:sp>
        <p:nvSpPr>
          <p:cNvPr id="56" name="Google Shape;56;p1"/>
          <p:cNvSpPr txBox="1"/>
          <p:nvPr>
            <p:ph idx="1" type="subTitle"/>
          </p:nvPr>
        </p:nvSpPr>
        <p:spPr>
          <a:xfrm>
            <a:off x="2057400" y="4400550"/>
            <a:ext cx="640080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Scan Conversion Algorithms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"/>
          <p:cNvSpPr txBox="1"/>
          <p:nvPr>
            <p:ph type="title"/>
          </p:nvPr>
        </p:nvSpPr>
        <p:spPr>
          <a:xfrm>
            <a:off x="638175" y="0"/>
            <a:ext cx="8505825" cy="1231900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Contents</a:t>
            </a:r>
            <a:endParaRPr/>
          </a:p>
        </p:txBody>
      </p:sp>
      <p:sp>
        <p:nvSpPr>
          <p:cNvPr id="62" name="Google Shape;62;p2"/>
          <p:cNvSpPr txBox="1"/>
          <p:nvPr>
            <p:ph idx="1" type="body"/>
          </p:nvPr>
        </p:nvSpPr>
        <p:spPr>
          <a:xfrm>
            <a:off x="457200" y="1333500"/>
            <a:ext cx="8229600" cy="55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Graphics hardware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IE"/>
              <a:t>The problem of scan conversion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IE"/>
              <a:t>Considerations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IE"/>
              <a:t>Line equations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IE"/>
              <a:t>Scan converting algorithms</a:t>
            </a:r>
            <a:endParaRPr/>
          </a:p>
          <a:p>
            <a:pPr indent="-285750" lvl="1" marL="827088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IE"/>
              <a:t>A very simple solution</a:t>
            </a:r>
            <a:endParaRPr/>
          </a:p>
          <a:p>
            <a:pPr indent="-285750" lvl="1" marL="827088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IE"/>
              <a:t>The DDA algorithm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IE"/>
              <a:t>Conclusion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"/>
          <p:cNvSpPr txBox="1"/>
          <p:nvPr>
            <p:ph type="title"/>
          </p:nvPr>
        </p:nvSpPr>
        <p:spPr>
          <a:xfrm>
            <a:off x="638175" y="0"/>
            <a:ext cx="8505825" cy="1231900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The Problem Of Scan Conversion</a:t>
            </a:r>
            <a:endParaRPr/>
          </a:p>
        </p:txBody>
      </p:sp>
      <p:sp>
        <p:nvSpPr>
          <p:cNvPr id="68" name="Google Shape;68;p3"/>
          <p:cNvSpPr txBox="1"/>
          <p:nvPr>
            <p:ph idx="1" type="body"/>
          </p:nvPr>
        </p:nvSpPr>
        <p:spPr>
          <a:xfrm>
            <a:off x="457200" y="1333500"/>
            <a:ext cx="8229600" cy="55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A line segment in a scene is defined by the coordinate positions of the line end-points</a:t>
            </a:r>
            <a:endParaRPr/>
          </a:p>
        </p:txBody>
      </p:sp>
      <p:grpSp>
        <p:nvGrpSpPr>
          <p:cNvPr id="69" name="Google Shape;69;p3"/>
          <p:cNvGrpSpPr/>
          <p:nvPr/>
        </p:nvGrpSpPr>
        <p:grpSpPr>
          <a:xfrm>
            <a:off x="2601913" y="2676525"/>
            <a:ext cx="3605212" cy="3503613"/>
            <a:chOff x="1499" y="1666"/>
            <a:chExt cx="2271" cy="2207"/>
          </a:xfrm>
        </p:grpSpPr>
        <p:cxnSp>
          <p:nvCxnSpPr>
            <p:cNvPr id="70" name="Google Shape;70;p3"/>
            <p:cNvCxnSpPr/>
            <p:nvPr/>
          </p:nvCxnSpPr>
          <p:spPr>
            <a:xfrm rot="10800000">
              <a:off x="1727" y="1727"/>
              <a:ext cx="0" cy="2026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71" name="Google Shape;71;p3"/>
            <p:cNvCxnSpPr/>
            <p:nvPr/>
          </p:nvCxnSpPr>
          <p:spPr>
            <a:xfrm rot="10800000">
              <a:off x="2670" y="2660"/>
              <a:ext cx="0" cy="2026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2" name="Google Shape;72;p3"/>
            <p:cNvSpPr txBox="1"/>
            <p:nvPr/>
          </p:nvSpPr>
          <p:spPr>
            <a:xfrm>
              <a:off x="3590" y="3642"/>
              <a:ext cx="18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IE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b="0" i="1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73" name="Google Shape;73;p3"/>
            <p:cNvSpPr txBox="1"/>
            <p:nvPr/>
          </p:nvSpPr>
          <p:spPr>
            <a:xfrm>
              <a:off x="1499" y="1666"/>
              <a:ext cx="18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IE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endParaRPr b="0" i="1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74" name="Google Shape;74;p3"/>
          <p:cNvCxnSpPr/>
          <p:nvPr/>
        </p:nvCxnSpPr>
        <p:spPr>
          <a:xfrm flipH="1" rot="10800000">
            <a:off x="3738563" y="3886200"/>
            <a:ext cx="1906587" cy="1249363"/>
          </a:xfrm>
          <a:prstGeom prst="straightConnector1">
            <a:avLst/>
          </a:prstGeom>
          <a:noFill/>
          <a:ln cap="flat" cmpd="sng" w="31750">
            <a:solidFill>
              <a:schemeClr val="accent2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75" name="Google Shape;75;p3"/>
          <p:cNvSpPr txBox="1"/>
          <p:nvPr/>
        </p:nvSpPr>
        <p:spPr>
          <a:xfrm>
            <a:off x="3214688" y="5156200"/>
            <a:ext cx="7747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20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(2, 2)</a:t>
            </a:r>
            <a:endParaRPr b="1" i="0" sz="2000" u="none" cap="none" strike="noStrike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"/>
          <p:cNvSpPr txBox="1"/>
          <p:nvPr/>
        </p:nvSpPr>
        <p:spPr>
          <a:xfrm>
            <a:off x="5611813" y="3498850"/>
            <a:ext cx="77470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20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(7, 5)</a:t>
            </a:r>
            <a:endParaRPr b="1" i="0" sz="2000" u="none" cap="none" strike="noStrike">
              <a:solidFill>
                <a:srgbClr val="00009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"/>
          <p:cNvSpPr txBox="1"/>
          <p:nvPr>
            <p:ph type="title"/>
          </p:nvPr>
        </p:nvSpPr>
        <p:spPr>
          <a:xfrm>
            <a:off x="638175" y="0"/>
            <a:ext cx="8505825" cy="1231900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The Problem (cont…)</a:t>
            </a:r>
            <a:endParaRPr/>
          </a:p>
        </p:txBody>
      </p:sp>
      <p:sp>
        <p:nvSpPr>
          <p:cNvPr id="82" name="Google Shape;82;p4"/>
          <p:cNvSpPr txBox="1"/>
          <p:nvPr>
            <p:ph idx="1" type="body"/>
          </p:nvPr>
        </p:nvSpPr>
        <p:spPr>
          <a:xfrm>
            <a:off x="457200" y="1333500"/>
            <a:ext cx="822960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But what happens when we try to draw this on a pixel based display?</a:t>
            </a:r>
            <a:endParaRPr/>
          </a:p>
        </p:txBody>
      </p:sp>
      <p:cxnSp>
        <p:nvCxnSpPr>
          <p:cNvPr id="83" name="Google Shape;83;p4"/>
          <p:cNvCxnSpPr/>
          <p:nvPr/>
        </p:nvCxnSpPr>
        <p:spPr>
          <a:xfrm rot="10800000">
            <a:off x="3351213" y="2511425"/>
            <a:ext cx="0" cy="326231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" name="Google Shape;84;p4"/>
          <p:cNvCxnSpPr/>
          <p:nvPr/>
        </p:nvCxnSpPr>
        <p:spPr>
          <a:xfrm rot="10800000">
            <a:off x="3736975" y="2511425"/>
            <a:ext cx="0" cy="326231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" name="Google Shape;85;p4"/>
          <p:cNvCxnSpPr/>
          <p:nvPr/>
        </p:nvCxnSpPr>
        <p:spPr>
          <a:xfrm rot="10800000">
            <a:off x="4121150" y="2511425"/>
            <a:ext cx="0" cy="326231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" name="Google Shape;86;p4"/>
          <p:cNvCxnSpPr/>
          <p:nvPr/>
        </p:nvCxnSpPr>
        <p:spPr>
          <a:xfrm rot="10800000">
            <a:off x="4500563" y="2511425"/>
            <a:ext cx="0" cy="326231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" name="Google Shape;87;p4"/>
          <p:cNvCxnSpPr/>
          <p:nvPr/>
        </p:nvCxnSpPr>
        <p:spPr>
          <a:xfrm rot="10800000">
            <a:off x="4884738" y="2511425"/>
            <a:ext cx="0" cy="326231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" name="Google Shape;88;p4"/>
          <p:cNvCxnSpPr/>
          <p:nvPr/>
        </p:nvCxnSpPr>
        <p:spPr>
          <a:xfrm rot="10800000">
            <a:off x="5264150" y="2511425"/>
            <a:ext cx="0" cy="326231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" name="Google Shape;89;p4"/>
          <p:cNvCxnSpPr/>
          <p:nvPr/>
        </p:nvCxnSpPr>
        <p:spPr>
          <a:xfrm rot="10800000">
            <a:off x="5648325" y="2511425"/>
            <a:ext cx="0" cy="326231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" name="Google Shape;90;p4"/>
          <p:cNvCxnSpPr/>
          <p:nvPr/>
        </p:nvCxnSpPr>
        <p:spPr>
          <a:xfrm rot="10800000">
            <a:off x="6027738" y="2511425"/>
            <a:ext cx="0" cy="326231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" name="Google Shape;91;p4"/>
          <p:cNvCxnSpPr/>
          <p:nvPr/>
        </p:nvCxnSpPr>
        <p:spPr>
          <a:xfrm rot="10800000">
            <a:off x="4499769" y="1016794"/>
            <a:ext cx="0" cy="362743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" name="Google Shape;92;p4"/>
          <p:cNvCxnSpPr/>
          <p:nvPr/>
        </p:nvCxnSpPr>
        <p:spPr>
          <a:xfrm rot="10800000">
            <a:off x="4499769" y="1402556"/>
            <a:ext cx="0" cy="362743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" name="Google Shape;93;p4"/>
          <p:cNvCxnSpPr/>
          <p:nvPr/>
        </p:nvCxnSpPr>
        <p:spPr>
          <a:xfrm rot="10800000">
            <a:off x="4499769" y="1786731"/>
            <a:ext cx="0" cy="362743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" name="Google Shape;94;p4"/>
          <p:cNvCxnSpPr/>
          <p:nvPr/>
        </p:nvCxnSpPr>
        <p:spPr>
          <a:xfrm rot="10800000">
            <a:off x="4499769" y="2166144"/>
            <a:ext cx="0" cy="362743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" name="Google Shape;95;p4"/>
          <p:cNvCxnSpPr/>
          <p:nvPr/>
        </p:nvCxnSpPr>
        <p:spPr>
          <a:xfrm rot="10800000">
            <a:off x="4499769" y="2550319"/>
            <a:ext cx="0" cy="362743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" name="Google Shape;96;p4"/>
          <p:cNvCxnSpPr/>
          <p:nvPr/>
        </p:nvCxnSpPr>
        <p:spPr>
          <a:xfrm rot="10800000">
            <a:off x="4499769" y="2929731"/>
            <a:ext cx="0" cy="362743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" name="Google Shape;97;p4"/>
          <p:cNvCxnSpPr/>
          <p:nvPr/>
        </p:nvCxnSpPr>
        <p:spPr>
          <a:xfrm rot="10800000">
            <a:off x="4499769" y="3313906"/>
            <a:ext cx="0" cy="362743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" name="Google Shape;98;p4"/>
          <p:cNvCxnSpPr/>
          <p:nvPr/>
        </p:nvCxnSpPr>
        <p:spPr>
          <a:xfrm rot="10800000">
            <a:off x="4499769" y="3693319"/>
            <a:ext cx="0" cy="362743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" name="Google Shape;99;p4"/>
          <p:cNvSpPr/>
          <p:nvPr/>
        </p:nvSpPr>
        <p:spPr>
          <a:xfrm>
            <a:off x="3559175" y="4583113"/>
            <a:ext cx="319088" cy="319087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3957638" y="4583113"/>
            <a:ext cx="319087" cy="31908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5854700" y="4583113"/>
            <a:ext cx="319088" cy="31908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3176588" y="4581525"/>
            <a:ext cx="319087" cy="31908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4324350" y="4583113"/>
            <a:ext cx="319088" cy="31908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4722813" y="4581525"/>
            <a:ext cx="319087" cy="31908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5105400" y="4581525"/>
            <a:ext cx="319088" cy="31908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5487988" y="4581525"/>
            <a:ext cx="319087" cy="31908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3567113" y="4203700"/>
            <a:ext cx="319087" cy="31908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3965575" y="4203700"/>
            <a:ext cx="319088" cy="31908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5862638" y="4203700"/>
            <a:ext cx="319087" cy="31908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3184525" y="4202113"/>
            <a:ext cx="319088" cy="31908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4332288" y="4203700"/>
            <a:ext cx="319087" cy="31908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4730750" y="4202113"/>
            <a:ext cx="319088" cy="31908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5113338" y="4202113"/>
            <a:ext cx="319087" cy="31908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5495925" y="4202113"/>
            <a:ext cx="319088" cy="31908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3562350" y="3824288"/>
            <a:ext cx="319088" cy="31908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3960813" y="3824288"/>
            <a:ext cx="319087" cy="31908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5857875" y="3824288"/>
            <a:ext cx="319088" cy="31908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3179763" y="3822700"/>
            <a:ext cx="319087" cy="31908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4327525" y="3824288"/>
            <a:ext cx="319088" cy="31908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4725988" y="3822700"/>
            <a:ext cx="319087" cy="31908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5108575" y="3822700"/>
            <a:ext cx="319088" cy="31908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5491163" y="3822700"/>
            <a:ext cx="319087" cy="31908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3570288" y="3444875"/>
            <a:ext cx="319087" cy="31908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3968750" y="3444875"/>
            <a:ext cx="319088" cy="31908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5865813" y="3444875"/>
            <a:ext cx="319087" cy="31908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3187700" y="3443288"/>
            <a:ext cx="319088" cy="31908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4335463" y="3444875"/>
            <a:ext cx="319087" cy="31908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4733925" y="3443288"/>
            <a:ext cx="319088" cy="31908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5116513" y="3443288"/>
            <a:ext cx="319087" cy="31908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5499100" y="3443288"/>
            <a:ext cx="319088" cy="319087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3582988" y="3044825"/>
            <a:ext cx="319087" cy="31908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3981450" y="3044825"/>
            <a:ext cx="319088" cy="31908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5878513" y="3044825"/>
            <a:ext cx="319087" cy="31908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3200400" y="3043238"/>
            <a:ext cx="319088" cy="31908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4348163" y="3044825"/>
            <a:ext cx="319087" cy="31908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4746625" y="3043238"/>
            <a:ext cx="319088" cy="31908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5129213" y="3043238"/>
            <a:ext cx="319087" cy="31908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5511800" y="3043238"/>
            <a:ext cx="319088" cy="31908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3590925" y="2665413"/>
            <a:ext cx="319088" cy="31908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3989388" y="2665413"/>
            <a:ext cx="319087" cy="31908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5886450" y="2665413"/>
            <a:ext cx="319088" cy="31908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3208338" y="2663825"/>
            <a:ext cx="319087" cy="31908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4356100" y="2665413"/>
            <a:ext cx="319088" cy="31908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4754563" y="2663825"/>
            <a:ext cx="319087" cy="31908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5137150" y="2663825"/>
            <a:ext cx="319088" cy="31908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5519738" y="2663825"/>
            <a:ext cx="319087" cy="31908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3551238" y="5351463"/>
            <a:ext cx="319087" cy="31908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3949700" y="5351463"/>
            <a:ext cx="319088" cy="31908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5846763" y="5351463"/>
            <a:ext cx="319087" cy="31908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3168650" y="5349875"/>
            <a:ext cx="319088" cy="31908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4316413" y="5351463"/>
            <a:ext cx="319087" cy="31908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4714875" y="5349875"/>
            <a:ext cx="319088" cy="31908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5097463" y="5349875"/>
            <a:ext cx="319087" cy="31908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5480050" y="5349875"/>
            <a:ext cx="319088" cy="31908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3559175" y="4972050"/>
            <a:ext cx="319088" cy="31908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3957638" y="4972050"/>
            <a:ext cx="319087" cy="31908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5854700" y="4972050"/>
            <a:ext cx="319088" cy="31908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3176588" y="4970463"/>
            <a:ext cx="319087" cy="31908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4324350" y="4972050"/>
            <a:ext cx="319088" cy="31908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4722813" y="4970463"/>
            <a:ext cx="319087" cy="31908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5105400" y="4970463"/>
            <a:ext cx="319088" cy="31908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5487988" y="4970463"/>
            <a:ext cx="319087" cy="31908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457200" y="5970588"/>
            <a:ext cx="8229600" cy="692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E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do we choose which pixels to turn on?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4" name="Google Shape;164;p4"/>
          <p:cNvCxnSpPr/>
          <p:nvPr/>
        </p:nvCxnSpPr>
        <p:spPr>
          <a:xfrm rot="10800000">
            <a:off x="2973388" y="2500313"/>
            <a:ext cx="0" cy="326231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" name="Google Shape;165;p4"/>
          <p:cNvSpPr/>
          <p:nvPr/>
        </p:nvSpPr>
        <p:spPr>
          <a:xfrm>
            <a:off x="2798763" y="4570413"/>
            <a:ext cx="319087" cy="31908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2806700" y="4191000"/>
            <a:ext cx="319088" cy="31908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2801938" y="3811588"/>
            <a:ext cx="319087" cy="31908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2809875" y="3432175"/>
            <a:ext cx="319088" cy="31908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2822575" y="3032125"/>
            <a:ext cx="319088" cy="31908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2830513" y="2652713"/>
            <a:ext cx="319087" cy="31908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2790825" y="5338763"/>
            <a:ext cx="319088" cy="31908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4"/>
          <p:cNvSpPr/>
          <p:nvPr/>
        </p:nvSpPr>
        <p:spPr>
          <a:xfrm>
            <a:off x="2798763" y="4959350"/>
            <a:ext cx="319087" cy="31908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3" name="Google Shape;173;p4"/>
          <p:cNvCxnSpPr/>
          <p:nvPr/>
        </p:nvCxnSpPr>
        <p:spPr>
          <a:xfrm flipH="1" rot="10800000">
            <a:off x="3721100" y="3268663"/>
            <a:ext cx="1879600" cy="1471612"/>
          </a:xfrm>
          <a:prstGeom prst="straightConnector1">
            <a:avLst/>
          </a:prstGeom>
          <a:noFill/>
          <a:ln cap="flat" cmpd="sng" w="31750">
            <a:solidFill>
              <a:schemeClr val="accent2"/>
            </a:solidFill>
            <a:prstDash val="solid"/>
            <a:round/>
            <a:headEnd len="med" w="med" type="oval"/>
            <a:tailEnd len="med" w="med" type="oval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"/>
          <p:cNvSpPr txBox="1"/>
          <p:nvPr>
            <p:ph type="title"/>
          </p:nvPr>
        </p:nvSpPr>
        <p:spPr>
          <a:xfrm>
            <a:off x="638175" y="0"/>
            <a:ext cx="8505825" cy="1231900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Considerations</a:t>
            </a:r>
            <a:endParaRPr/>
          </a:p>
        </p:txBody>
      </p:sp>
      <p:sp>
        <p:nvSpPr>
          <p:cNvPr id="179" name="Google Shape;179;p5"/>
          <p:cNvSpPr txBox="1"/>
          <p:nvPr>
            <p:ph idx="1" type="body"/>
          </p:nvPr>
        </p:nvSpPr>
        <p:spPr>
          <a:xfrm>
            <a:off x="457200" y="1333500"/>
            <a:ext cx="8229600" cy="55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Considerations to keep in mind:</a:t>
            </a:r>
            <a:endParaRPr/>
          </a:p>
          <a:p>
            <a:pPr indent="-285750" lvl="1" marL="827088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IE"/>
              <a:t>The line has to look good</a:t>
            </a:r>
            <a:endParaRPr/>
          </a:p>
          <a:p>
            <a:pPr indent="-228600" lvl="2" marL="123507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E"/>
              <a:t>Avoid </a:t>
            </a:r>
            <a:r>
              <a:rPr i="1" lang="en-IE"/>
              <a:t>jaggies</a:t>
            </a:r>
            <a:endParaRPr/>
          </a:p>
          <a:p>
            <a:pPr indent="-285750" lvl="1" marL="827088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IE"/>
              <a:t>It has to be lightening fast!</a:t>
            </a:r>
            <a:endParaRPr/>
          </a:p>
          <a:p>
            <a:pPr indent="-228600" lvl="2" marL="123507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E"/>
              <a:t>How many lines need to be drawn in a typical scene?</a:t>
            </a:r>
            <a:endParaRPr/>
          </a:p>
          <a:p>
            <a:pPr indent="-228600" lvl="2" marL="123507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E"/>
              <a:t>This is going to come back to bite us again and again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"/>
          <p:cNvSpPr txBox="1"/>
          <p:nvPr>
            <p:ph type="title"/>
          </p:nvPr>
        </p:nvSpPr>
        <p:spPr>
          <a:xfrm>
            <a:off x="638175" y="0"/>
            <a:ext cx="8505825" cy="1231900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Line Equations</a:t>
            </a:r>
            <a:endParaRPr/>
          </a:p>
        </p:txBody>
      </p:sp>
      <p:sp>
        <p:nvSpPr>
          <p:cNvPr id="185" name="Google Shape;185;p6"/>
          <p:cNvSpPr txBox="1"/>
          <p:nvPr>
            <p:ph idx="1" type="body"/>
          </p:nvPr>
        </p:nvSpPr>
        <p:spPr>
          <a:xfrm>
            <a:off x="457200" y="1333500"/>
            <a:ext cx="8229600" cy="55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Let’s quickly review the equations involved in drawing lines</a:t>
            </a:r>
            <a:endParaRPr/>
          </a:p>
        </p:txBody>
      </p:sp>
      <p:grpSp>
        <p:nvGrpSpPr>
          <p:cNvPr id="186" name="Google Shape;186;p6"/>
          <p:cNvGrpSpPr/>
          <p:nvPr/>
        </p:nvGrpSpPr>
        <p:grpSpPr>
          <a:xfrm>
            <a:off x="530225" y="2605088"/>
            <a:ext cx="3948113" cy="3709987"/>
            <a:chOff x="484" y="1611"/>
            <a:chExt cx="2487" cy="2337"/>
          </a:xfrm>
        </p:grpSpPr>
        <p:grpSp>
          <p:nvGrpSpPr>
            <p:cNvPr id="187" name="Google Shape;187;p6"/>
            <p:cNvGrpSpPr/>
            <p:nvPr/>
          </p:nvGrpSpPr>
          <p:grpSpPr>
            <a:xfrm>
              <a:off x="700" y="1611"/>
              <a:ext cx="2271" cy="2207"/>
              <a:chOff x="1499" y="1666"/>
              <a:chExt cx="2271" cy="2207"/>
            </a:xfrm>
          </p:grpSpPr>
          <p:cxnSp>
            <p:nvCxnSpPr>
              <p:cNvPr id="188" name="Google Shape;188;p6"/>
              <p:cNvCxnSpPr/>
              <p:nvPr/>
            </p:nvCxnSpPr>
            <p:spPr>
              <a:xfrm rot="10800000">
                <a:off x="1727" y="1727"/>
                <a:ext cx="0" cy="2026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189" name="Google Shape;189;p6"/>
              <p:cNvCxnSpPr/>
              <p:nvPr/>
            </p:nvCxnSpPr>
            <p:spPr>
              <a:xfrm rot="10800000">
                <a:off x="2670" y="2660"/>
                <a:ext cx="0" cy="2026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90" name="Google Shape;190;p6"/>
              <p:cNvSpPr txBox="1"/>
              <p:nvPr/>
            </p:nvSpPr>
            <p:spPr>
              <a:xfrm>
                <a:off x="3590" y="3642"/>
                <a:ext cx="18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1" lang="en-IE" sz="1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x</a:t>
                </a:r>
                <a:endParaRPr b="0" i="1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91" name="Google Shape;191;p6"/>
              <p:cNvSpPr txBox="1"/>
              <p:nvPr/>
            </p:nvSpPr>
            <p:spPr>
              <a:xfrm>
                <a:off x="1499" y="1666"/>
                <a:ext cx="18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1" lang="en-IE" sz="1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y</a:t>
                </a:r>
                <a:endParaRPr b="0" i="1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192" name="Google Shape;192;p6"/>
            <p:cNvCxnSpPr/>
            <p:nvPr/>
          </p:nvCxnSpPr>
          <p:spPr>
            <a:xfrm>
              <a:off x="800" y="3149"/>
              <a:ext cx="2025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93" name="Google Shape;193;p6"/>
            <p:cNvCxnSpPr/>
            <p:nvPr/>
          </p:nvCxnSpPr>
          <p:spPr>
            <a:xfrm>
              <a:off x="800" y="2371"/>
              <a:ext cx="1977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94" name="Google Shape;194;p6"/>
            <p:cNvCxnSpPr/>
            <p:nvPr/>
          </p:nvCxnSpPr>
          <p:spPr>
            <a:xfrm rot="5400000">
              <a:off x="701" y="2994"/>
              <a:ext cx="1439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95" name="Google Shape;195;p6"/>
            <p:cNvCxnSpPr/>
            <p:nvPr/>
          </p:nvCxnSpPr>
          <p:spPr>
            <a:xfrm rot="5400000">
              <a:off x="1891" y="2986"/>
              <a:ext cx="1459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196" name="Google Shape;196;p6"/>
            <p:cNvSpPr txBox="1"/>
            <p:nvPr/>
          </p:nvSpPr>
          <p:spPr>
            <a:xfrm>
              <a:off x="558" y="2991"/>
              <a:ext cx="265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IE" sz="2400" u="none" cap="none" strike="noStrike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b="1" baseline="-25000" i="0" lang="en-IE" sz="2400" u="none" cap="none" strike="noStrike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b="1" i="0" sz="2400" u="none" cap="none" strike="noStrike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7" name="Google Shape;197;p6"/>
            <p:cNvSpPr txBox="1"/>
            <p:nvPr/>
          </p:nvSpPr>
          <p:spPr>
            <a:xfrm>
              <a:off x="484" y="2236"/>
              <a:ext cx="267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IE" sz="2400" u="none" cap="none" strike="noStrike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b="1" baseline="-25000" i="0" lang="en-IE" sz="2400" u="none" cap="none" strike="noStrike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1" i="0" sz="2400" u="none" cap="none" strike="noStrike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8" name="Google Shape;198;p6"/>
            <p:cNvSpPr txBox="1"/>
            <p:nvPr/>
          </p:nvSpPr>
          <p:spPr>
            <a:xfrm>
              <a:off x="2424" y="3657"/>
              <a:ext cx="278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IE" sz="2400" u="none" cap="none" strike="noStrike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b="1" baseline="-25000" i="0" lang="en-IE" sz="2400" u="none" cap="none" strike="noStrike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 b="1" i="0" sz="2400" u="none" cap="none" strike="noStrike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9" name="Google Shape;199;p6"/>
            <p:cNvSpPr txBox="1"/>
            <p:nvPr/>
          </p:nvSpPr>
          <p:spPr>
            <a:xfrm>
              <a:off x="1306" y="3660"/>
              <a:ext cx="276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IE" sz="2400" u="none" cap="none" strike="noStrike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b="1" baseline="-25000" i="0" lang="en-IE" sz="2400" u="none" cap="none" strike="noStrike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b="1" i="0" sz="2400" u="none" cap="none" strike="noStrike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00" name="Google Shape;200;p6"/>
            <p:cNvCxnSpPr/>
            <p:nvPr/>
          </p:nvCxnSpPr>
          <p:spPr>
            <a:xfrm flipH="1" rot="10800000">
              <a:off x="1416" y="2373"/>
              <a:ext cx="1201" cy="787"/>
            </a:xfrm>
            <a:prstGeom prst="straightConnector1">
              <a:avLst/>
            </a:prstGeom>
            <a:noFill/>
            <a:ln cap="flat" cmpd="sng" w="31750">
              <a:solidFill>
                <a:schemeClr val="accent2"/>
              </a:solidFill>
              <a:prstDash val="solid"/>
              <a:round/>
              <a:headEnd len="med" w="med" type="oval"/>
              <a:tailEnd len="med" w="med" type="oval"/>
            </a:ln>
          </p:spPr>
        </p:cxnSp>
      </p:grpSp>
      <p:sp>
        <p:nvSpPr>
          <p:cNvPr id="201" name="Google Shape;201;p6"/>
          <p:cNvSpPr/>
          <p:nvPr/>
        </p:nvSpPr>
        <p:spPr>
          <a:xfrm>
            <a:off x="4643438" y="2401888"/>
            <a:ext cx="3914775" cy="1149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E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Slope-intercept line equation: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2" name="Google Shape;20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18125" y="3449638"/>
            <a:ext cx="2303463" cy="614362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6"/>
          <p:cNvSpPr/>
          <p:nvPr/>
        </p:nvSpPr>
        <p:spPr>
          <a:xfrm>
            <a:off x="4643438" y="4005263"/>
            <a:ext cx="3914775" cy="1149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E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where: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4" name="Google Shape;20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08613" y="4456113"/>
            <a:ext cx="2265362" cy="130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65750" y="5794375"/>
            <a:ext cx="2611438" cy="690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54625" y="4456113"/>
            <a:ext cx="3417888" cy="119062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7"/>
          <p:cNvSpPr txBox="1"/>
          <p:nvPr>
            <p:ph type="title"/>
          </p:nvPr>
        </p:nvSpPr>
        <p:spPr>
          <a:xfrm>
            <a:off x="638175" y="0"/>
            <a:ext cx="8505825" cy="1231900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Line Equations</a:t>
            </a:r>
            <a:endParaRPr/>
          </a:p>
        </p:txBody>
      </p:sp>
      <p:sp>
        <p:nvSpPr>
          <p:cNvPr id="212" name="Google Shape;212;p7"/>
          <p:cNvSpPr txBox="1"/>
          <p:nvPr>
            <p:ph idx="1" type="body"/>
          </p:nvPr>
        </p:nvSpPr>
        <p:spPr>
          <a:xfrm>
            <a:off x="457200" y="1333500"/>
            <a:ext cx="8229600" cy="55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Let’s quickly review the equations involved in drawing lines</a:t>
            </a:r>
            <a:endParaRPr/>
          </a:p>
        </p:txBody>
      </p:sp>
      <p:grpSp>
        <p:nvGrpSpPr>
          <p:cNvPr id="213" name="Google Shape;213;p7"/>
          <p:cNvGrpSpPr/>
          <p:nvPr/>
        </p:nvGrpSpPr>
        <p:grpSpPr>
          <a:xfrm>
            <a:off x="647700" y="2605088"/>
            <a:ext cx="3830638" cy="3709987"/>
            <a:chOff x="558" y="1611"/>
            <a:chExt cx="2413" cy="2337"/>
          </a:xfrm>
        </p:grpSpPr>
        <p:grpSp>
          <p:nvGrpSpPr>
            <p:cNvPr id="214" name="Google Shape;214;p7"/>
            <p:cNvGrpSpPr/>
            <p:nvPr/>
          </p:nvGrpSpPr>
          <p:grpSpPr>
            <a:xfrm>
              <a:off x="700" y="1611"/>
              <a:ext cx="2271" cy="2207"/>
              <a:chOff x="1499" y="1666"/>
              <a:chExt cx="2271" cy="2207"/>
            </a:xfrm>
          </p:grpSpPr>
          <p:cxnSp>
            <p:nvCxnSpPr>
              <p:cNvPr id="215" name="Google Shape;215;p7"/>
              <p:cNvCxnSpPr/>
              <p:nvPr/>
            </p:nvCxnSpPr>
            <p:spPr>
              <a:xfrm rot="10800000">
                <a:off x="1727" y="1727"/>
                <a:ext cx="0" cy="2026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216" name="Google Shape;216;p7"/>
              <p:cNvCxnSpPr/>
              <p:nvPr/>
            </p:nvCxnSpPr>
            <p:spPr>
              <a:xfrm rot="10800000">
                <a:off x="2670" y="2660"/>
                <a:ext cx="0" cy="2026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217" name="Google Shape;217;p7"/>
              <p:cNvSpPr txBox="1"/>
              <p:nvPr/>
            </p:nvSpPr>
            <p:spPr>
              <a:xfrm>
                <a:off x="3590" y="3642"/>
                <a:ext cx="18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1" lang="en-IE" sz="1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x</a:t>
                </a:r>
                <a:endParaRPr b="0" i="1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18" name="Google Shape;218;p7"/>
              <p:cNvSpPr txBox="1"/>
              <p:nvPr/>
            </p:nvSpPr>
            <p:spPr>
              <a:xfrm>
                <a:off x="1499" y="1666"/>
                <a:ext cx="18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1" lang="en-IE" sz="1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y</a:t>
                </a:r>
                <a:endParaRPr b="0" i="1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219" name="Google Shape;219;p7"/>
            <p:cNvCxnSpPr/>
            <p:nvPr/>
          </p:nvCxnSpPr>
          <p:spPr>
            <a:xfrm>
              <a:off x="800" y="3149"/>
              <a:ext cx="2025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20" name="Google Shape;220;p7"/>
            <p:cNvCxnSpPr/>
            <p:nvPr/>
          </p:nvCxnSpPr>
          <p:spPr>
            <a:xfrm>
              <a:off x="800" y="2371"/>
              <a:ext cx="1977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21" name="Google Shape;221;p7"/>
            <p:cNvCxnSpPr/>
            <p:nvPr/>
          </p:nvCxnSpPr>
          <p:spPr>
            <a:xfrm rot="5400000">
              <a:off x="701" y="2994"/>
              <a:ext cx="1439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22" name="Google Shape;222;p7"/>
            <p:cNvCxnSpPr/>
            <p:nvPr/>
          </p:nvCxnSpPr>
          <p:spPr>
            <a:xfrm rot="5400000">
              <a:off x="1891" y="2986"/>
              <a:ext cx="1459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223" name="Google Shape;223;p7"/>
            <p:cNvSpPr txBox="1"/>
            <p:nvPr/>
          </p:nvSpPr>
          <p:spPr>
            <a:xfrm>
              <a:off x="558" y="2991"/>
              <a:ext cx="265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IE" sz="2400" u="none" cap="none" strike="noStrike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b="1" baseline="-25000" i="0" lang="en-IE" sz="2400" u="none" cap="none" strike="noStrike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b="1" i="0" sz="2400" u="none" cap="none" strike="noStrike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4" name="Google Shape;224;p7"/>
            <p:cNvSpPr txBox="1"/>
            <p:nvPr/>
          </p:nvSpPr>
          <p:spPr>
            <a:xfrm>
              <a:off x="1306" y="3660"/>
              <a:ext cx="276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IE" sz="2400" u="none" cap="none" strike="noStrike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b="1" baseline="-25000" i="0" lang="en-IE" sz="2400" u="none" cap="none" strike="noStrike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b="1" i="0" sz="2400" u="none" cap="none" strike="noStrike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25" name="Google Shape;225;p7"/>
            <p:cNvCxnSpPr/>
            <p:nvPr/>
          </p:nvCxnSpPr>
          <p:spPr>
            <a:xfrm flipH="1" rot="10800000">
              <a:off x="1416" y="2373"/>
              <a:ext cx="1201" cy="787"/>
            </a:xfrm>
            <a:prstGeom prst="straightConnector1">
              <a:avLst/>
            </a:prstGeom>
            <a:noFill/>
            <a:ln cap="flat" cmpd="sng" w="31750">
              <a:solidFill>
                <a:schemeClr val="accent2"/>
              </a:solidFill>
              <a:prstDash val="solid"/>
              <a:round/>
              <a:headEnd len="med" w="med" type="oval"/>
              <a:tailEnd len="med" w="med" type="oval"/>
            </a:ln>
          </p:spPr>
        </p:cxnSp>
      </p:grpSp>
      <p:sp>
        <p:nvSpPr>
          <p:cNvPr id="226" name="Google Shape;226;p7"/>
          <p:cNvSpPr/>
          <p:nvPr/>
        </p:nvSpPr>
        <p:spPr>
          <a:xfrm>
            <a:off x="4643438" y="2401888"/>
            <a:ext cx="3914775" cy="1149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E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Slope-intercept line equation: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7" name="Google Shape;22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18125" y="3449638"/>
            <a:ext cx="2303463" cy="614362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7"/>
          <p:cNvSpPr/>
          <p:nvPr/>
        </p:nvSpPr>
        <p:spPr>
          <a:xfrm>
            <a:off x="4643438" y="4005263"/>
            <a:ext cx="3914775" cy="1149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E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where: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7"/>
          <p:cNvSpPr txBox="1"/>
          <p:nvPr/>
        </p:nvSpPr>
        <p:spPr>
          <a:xfrm>
            <a:off x="1235075" y="5046663"/>
            <a:ext cx="93345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(3, 2)</a:t>
            </a:r>
            <a:endParaRPr/>
          </a:p>
        </p:txBody>
      </p:sp>
      <p:sp>
        <p:nvSpPr>
          <p:cNvPr id="230" name="Google Shape;230;p7"/>
          <p:cNvSpPr txBox="1"/>
          <p:nvPr/>
        </p:nvSpPr>
        <p:spPr>
          <a:xfrm>
            <a:off x="4011613" y="3387725"/>
            <a:ext cx="933450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(9, 6)</a:t>
            </a:r>
            <a:endParaRPr/>
          </a:p>
        </p:txBody>
      </p:sp>
      <p:sp>
        <p:nvSpPr>
          <p:cNvPr id="231" name="Google Shape;231;p7"/>
          <p:cNvSpPr txBox="1"/>
          <p:nvPr/>
        </p:nvSpPr>
        <p:spPr>
          <a:xfrm>
            <a:off x="530225" y="3597275"/>
            <a:ext cx="423863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IE" sz="2400" u="none" cap="none" strike="noStrike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1" baseline="-25000" i="0" lang="en-IE" sz="2400" u="none" cap="none" strike="noStrike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1" i="0" sz="2400" u="none" cap="none" strike="noStrike">
              <a:solidFill>
                <a:srgbClr val="FF99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" name="Google Shape;232;p7"/>
          <p:cNvSpPr txBox="1"/>
          <p:nvPr/>
        </p:nvSpPr>
        <p:spPr>
          <a:xfrm>
            <a:off x="3609975" y="5853113"/>
            <a:ext cx="44132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IE" sz="2400" u="none" cap="none" strike="noStrike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baseline="-25000" i="0" lang="en-IE" sz="2400" u="none" cap="none" strike="noStrike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1" i="0" sz="2400" u="none" cap="none" strike="noStrike">
              <a:solidFill>
                <a:srgbClr val="FF99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3" name="Google Shape;233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2988" y="5513388"/>
            <a:ext cx="4416425" cy="1189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54625" y="4456113"/>
            <a:ext cx="3417888" cy="119062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8"/>
          <p:cNvSpPr txBox="1"/>
          <p:nvPr>
            <p:ph type="title"/>
          </p:nvPr>
        </p:nvSpPr>
        <p:spPr>
          <a:xfrm>
            <a:off x="638175" y="0"/>
            <a:ext cx="8505825" cy="1231900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Line Equations</a:t>
            </a:r>
            <a:endParaRPr/>
          </a:p>
        </p:txBody>
      </p:sp>
      <p:sp>
        <p:nvSpPr>
          <p:cNvPr id="240" name="Google Shape;240;p8"/>
          <p:cNvSpPr txBox="1"/>
          <p:nvPr>
            <p:ph idx="1" type="body"/>
          </p:nvPr>
        </p:nvSpPr>
        <p:spPr>
          <a:xfrm>
            <a:off x="457200" y="1333500"/>
            <a:ext cx="8229600" cy="55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Let’s quickly review the equations involved in drawing lines</a:t>
            </a:r>
            <a:endParaRPr/>
          </a:p>
        </p:txBody>
      </p:sp>
      <p:grpSp>
        <p:nvGrpSpPr>
          <p:cNvPr id="241" name="Google Shape;241;p8"/>
          <p:cNvGrpSpPr/>
          <p:nvPr/>
        </p:nvGrpSpPr>
        <p:grpSpPr>
          <a:xfrm>
            <a:off x="647700" y="2605088"/>
            <a:ext cx="3830638" cy="3709987"/>
            <a:chOff x="558" y="1611"/>
            <a:chExt cx="2413" cy="2337"/>
          </a:xfrm>
        </p:grpSpPr>
        <p:grpSp>
          <p:nvGrpSpPr>
            <p:cNvPr id="242" name="Google Shape;242;p8"/>
            <p:cNvGrpSpPr/>
            <p:nvPr/>
          </p:nvGrpSpPr>
          <p:grpSpPr>
            <a:xfrm>
              <a:off x="700" y="1611"/>
              <a:ext cx="2271" cy="2207"/>
              <a:chOff x="1499" y="1666"/>
              <a:chExt cx="2271" cy="2207"/>
            </a:xfrm>
          </p:grpSpPr>
          <p:cxnSp>
            <p:nvCxnSpPr>
              <p:cNvPr id="243" name="Google Shape;243;p8"/>
              <p:cNvCxnSpPr/>
              <p:nvPr/>
            </p:nvCxnSpPr>
            <p:spPr>
              <a:xfrm rot="10800000">
                <a:off x="1727" y="1727"/>
                <a:ext cx="0" cy="2026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244" name="Google Shape;244;p8"/>
              <p:cNvCxnSpPr/>
              <p:nvPr/>
            </p:nvCxnSpPr>
            <p:spPr>
              <a:xfrm rot="10800000">
                <a:off x="2670" y="2660"/>
                <a:ext cx="0" cy="2026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245" name="Google Shape;245;p8"/>
              <p:cNvSpPr txBox="1"/>
              <p:nvPr/>
            </p:nvSpPr>
            <p:spPr>
              <a:xfrm>
                <a:off x="3590" y="3642"/>
                <a:ext cx="18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1" lang="en-IE" sz="1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x</a:t>
                </a:r>
                <a:endParaRPr b="0" i="1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46" name="Google Shape;246;p8"/>
              <p:cNvSpPr txBox="1"/>
              <p:nvPr/>
            </p:nvSpPr>
            <p:spPr>
              <a:xfrm>
                <a:off x="1499" y="1666"/>
                <a:ext cx="18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1" lang="en-IE" sz="1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y</a:t>
                </a:r>
                <a:endParaRPr b="0" i="1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247" name="Google Shape;247;p8"/>
            <p:cNvCxnSpPr/>
            <p:nvPr/>
          </p:nvCxnSpPr>
          <p:spPr>
            <a:xfrm>
              <a:off x="800" y="3149"/>
              <a:ext cx="2025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48" name="Google Shape;248;p8"/>
            <p:cNvCxnSpPr/>
            <p:nvPr/>
          </p:nvCxnSpPr>
          <p:spPr>
            <a:xfrm>
              <a:off x="800" y="2371"/>
              <a:ext cx="1977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49" name="Google Shape;249;p8"/>
            <p:cNvCxnSpPr/>
            <p:nvPr/>
          </p:nvCxnSpPr>
          <p:spPr>
            <a:xfrm rot="5400000">
              <a:off x="701" y="2994"/>
              <a:ext cx="1439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50" name="Google Shape;250;p8"/>
            <p:cNvCxnSpPr/>
            <p:nvPr/>
          </p:nvCxnSpPr>
          <p:spPr>
            <a:xfrm rot="5400000">
              <a:off x="1891" y="2986"/>
              <a:ext cx="1459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251" name="Google Shape;251;p8"/>
            <p:cNvSpPr txBox="1"/>
            <p:nvPr/>
          </p:nvSpPr>
          <p:spPr>
            <a:xfrm>
              <a:off x="558" y="2991"/>
              <a:ext cx="265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IE" sz="2400" u="none" cap="none" strike="noStrike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b="1" baseline="-25000" i="0" lang="en-IE" sz="2400" u="none" cap="none" strike="noStrike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b="1" i="0" sz="2400" u="none" cap="none" strike="noStrike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2" name="Google Shape;252;p8"/>
            <p:cNvSpPr txBox="1"/>
            <p:nvPr/>
          </p:nvSpPr>
          <p:spPr>
            <a:xfrm>
              <a:off x="1306" y="3660"/>
              <a:ext cx="276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IE" sz="2400" u="none" cap="none" strike="noStrike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b="1" baseline="-25000" i="0" lang="en-IE" sz="2400" u="none" cap="none" strike="noStrike">
                  <a:solidFill>
                    <a:srgbClr val="FF99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 b="1" i="0" sz="2400" u="none" cap="none" strike="noStrike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53" name="Google Shape;253;p8"/>
            <p:cNvCxnSpPr/>
            <p:nvPr/>
          </p:nvCxnSpPr>
          <p:spPr>
            <a:xfrm flipH="1" rot="10800000">
              <a:off x="1416" y="2373"/>
              <a:ext cx="1201" cy="787"/>
            </a:xfrm>
            <a:prstGeom prst="straightConnector1">
              <a:avLst/>
            </a:prstGeom>
            <a:noFill/>
            <a:ln cap="flat" cmpd="sng" w="31750">
              <a:solidFill>
                <a:schemeClr val="accent2"/>
              </a:solidFill>
              <a:prstDash val="solid"/>
              <a:round/>
              <a:headEnd len="med" w="med" type="oval"/>
              <a:tailEnd len="med" w="med" type="oval"/>
            </a:ln>
          </p:spPr>
        </p:cxnSp>
      </p:grpSp>
      <p:sp>
        <p:nvSpPr>
          <p:cNvPr id="254" name="Google Shape;254;p8"/>
          <p:cNvSpPr/>
          <p:nvPr/>
        </p:nvSpPr>
        <p:spPr>
          <a:xfrm>
            <a:off x="4643438" y="2401888"/>
            <a:ext cx="3914775" cy="1149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E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Slope-intercept line equation: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5" name="Google Shape;25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75275" y="3162300"/>
            <a:ext cx="2187575" cy="1190625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8"/>
          <p:cNvSpPr/>
          <p:nvPr/>
        </p:nvSpPr>
        <p:spPr>
          <a:xfrm>
            <a:off x="4643438" y="4005263"/>
            <a:ext cx="3914775" cy="1149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E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where: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7" name="Google Shape;25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2988" y="5513388"/>
            <a:ext cx="4416425" cy="1189037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8"/>
          <p:cNvSpPr txBox="1"/>
          <p:nvPr/>
        </p:nvSpPr>
        <p:spPr>
          <a:xfrm>
            <a:off x="1235075" y="5046663"/>
            <a:ext cx="93345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(3, 2)</a:t>
            </a:r>
            <a:endParaRPr/>
          </a:p>
        </p:txBody>
      </p:sp>
      <p:sp>
        <p:nvSpPr>
          <p:cNvPr id="259" name="Google Shape;259;p8"/>
          <p:cNvSpPr txBox="1"/>
          <p:nvPr/>
        </p:nvSpPr>
        <p:spPr>
          <a:xfrm>
            <a:off x="4011613" y="3387725"/>
            <a:ext cx="933450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(9, 6)</a:t>
            </a:r>
            <a:endParaRPr/>
          </a:p>
        </p:txBody>
      </p:sp>
      <p:sp>
        <p:nvSpPr>
          <p:cNvPr id="260" name="Google Shape;260;p8"/>
          <p:cNvSpPr txBox="1"/>
          <p:nvPr/>
        </p:nvSpPr>
        <p:spPr>
          <a:xfrm>
            <a:off x="530225" y="3597275"/>
            <a:ext cx="423863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IE" sz="2400" u="none" cap="none" strike="noStrike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1" baseline="-25000" i="0" lang="en-IE" sz="2400" u="none" cap="none" strike="noStrike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1" i="0" sz="2400" u="none" cap="none" strike="noStrike">
              <a:solidFill>
                <a:srgbClr val="FF99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1" name="Google Shape;261;p8"/>
          <p:cNvSpPr txBox="1"/>
          <p:nvPr/>
        </p:nvSpPr>
        <p:spPr>
          <a:xfrm>
            <a:off x="3609975" y="5853113"/>
            <a:ext cx="441325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IE" sz="2400" u="none" cap="none" strike="noStrike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baseline="-25000" i="0" lang="en-IE" sz="2400" u="none" cap="none" strike="noStrike">
                <a:solidFill>
                  <a:srgbClr val="FF99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1" i="0" sz="2400" u="none" cap="none" strike="noStrike">
              <a:solidFill>
                <a:srgbClr val="FF99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9"/>
          <p:cNvSpPr txBox="1"/>
          <p:nvPr>
            <p:ph type="title"/>
          </p:nvPr>
        </p:nvSpPr>
        <p:spPr>
          <a:xfrm>
            <a:off x="638175" y="0"/>
            <a:ext cx="8505825" cy="1231900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A Very Simple Solution</a:t>
            </a:r>
            <a:endParaRPr/>
          </a:p>
        </p:txBody>
      </p:sp>
      <p:sp>
        <p:nvSpPr>
          <p:cNvPr id="267" name="Google Shape;267;p9"/>
          <p:cNvSpPr txBox="1"/>
          <p:nvPr>
            <p:ph idx="1" type="body"/>
          </p:nvPr>
        </p:nvSpPr>
        <p:spPr>
          <a:xfrm>
            <a:off x="457200" y="1333500"/>
            <a:ext cx="8229600" cy="55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We could simply work out the corresponding </a:t>
            </a:r>
            <a:r>
              <a:rPr i="1" lang="en-IE" sz="36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IE"/>
              <a:t> coordinate for each unit </a:t>
            </a:r>
            <a:r>
              <a:rPr i="1" lang="en-IE" sz="36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IE"/>
              <a:t> coordinate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IE"/>
              <a:t>Let’s consider the following example:</a:t>
            </a:r>
            <a:endParaRPr/>
          </a:p>
        </p:txBody>
      </p:sp>
      <p:grpSp>
        <p:nvGrpSpPr>
          <p:cNvPr id="268" name="Google Shape;268;p9"/>
          <p:cNvGrpSpPr/>
          <p:nvPr/>
        </p:nvGrpSpPr>
        <p:grpSpPr>
          <a:xfrm>
            <a:off x="2551113" y="3111500"/>
            <a:ext cx="3852862" cy="3619500"/>
            <a:chOff x="1607" y="1960"/>
            <a:chExt cx="2427" cy="2280"/>
          </a:xfrm>
        </p:grpSpPr>
        <p:grpSp>
          <p:nvGrpSpPr>
            <p:cNvPr id="269" name="Google Shape;269;p9"/>
            <p:cNvGrpSpPr/>
            <p:nvPr/>
          </p:nvGrpSpPr>
          <p:grpSpPr>
            <a:xfrm>
              <a:off x="1664" y="1960"/>
              <a:ext cx="2271" cy="2207"/>
              <a:chOff x="1499" y="1666"/>
              <a:chExt cx="2271" cy="2207"/>
            </a:xfrm>
          </p:grpSpPr>
          <p:cxnSp>
            <p:nvCxnSpPr>
              <p:cNvPr id="270" name="Google Shape;270;p9"/>
              <p:cNvCxnSpPr/>
              <p:nvPr/>
            </p:nvCxnSpPr>
            <p:spPr>
              <a:xfrm rot="10800000">
                <a:off x="1727" y="1727"/>
                <a:ext cx="0" cy="2026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cxnSp>
            <p:nvCxnSpPr>
              <p:cNvPr id="271" name="Google Shape;271;p9"/>
              <p:cNvCxnSpPr/>
              <p:nvPr/>
            </p:nvCxnSpPr>
            <p:spPr>
              <a:xfrm rot="10800000">
                <a:off x="2670" y="2660"/>
                <a:ext cx="0" cy="2026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272" name="Google Shape;272;p9"/>
              <p:cNvSpPr txBox="1"/>
              <p:nvPr/>
            </p:nvSpPr>
            <p:spPr>
              <a:xfrm>
                <a:off x="3590" y="3642"/>
                <a:ext cx="18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1" lang="en-IE" sz="1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x</a:t>
                </a:r>
                <a:endParaRPr b="0" i="1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273" name="Google Shape;273;p9"/>
              <p:cNvSpPr txBox="1"/>
              <p:nvPr/>
            </p:nvSpPr>
            <p:spPr>
              <a:xfrm>
                <a:off x="1499" y="1666"/>
                <a:ext cx="18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1" lang="en-IE" sz="18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y</a:t>
                </a:r>
                <a:endParaRPr b="0" i="1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cxnSp>
          <p:nvCxnSpPr>
            <p:cNvPr id="274" name="Google Shape;274;p9"/>
            <p:cNvCxnSpPr/>
            <p:nvPr/>
          </p:nvCxnSpPr>
          <p:spPr>
            <a:xfrm>
              <a:off x="1764" y="3498"/>
              <a:ext cx="2025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75" name="Google Shape;275;p9"/>
            <p:cNvCxnSpPr/>
            <p:nvPr/>
          </p:nvCxnSpPr>
          <p:spPr>
            <a:xfrm>
              <a:off x="1764" y="2720"/>
              <a:ext cx="1977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76" name="Google Shape;276;p9"/>
            <p:cNvCxnSpPr/>
            <p:nvPr/>
          </p:nvCxnSpPr>
          <p:spPr>
            <a:xfrm rot="5400000">
              <a:off x="1665" y="3325"/>
              <a:ext cx="1439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77" name="Google Shape;277;p9"/>
            <p:cNvCxnSpPr/>
            <p:nvPr/>
          </p:nvCxnSpPr>
          <p:spPr>
            <a:xfrm rot="5400000">
              <a:off x="2855" y="3335"/>
              <a:ext cx="1459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78" name="Google Shape;278;p9"/>
            <p:cNvCxnSpPr/>
            <p:nvPr/>
          </p:nvCxnSpPr>
          <p:spPr>
            <a:xfrm flipH="1" rot="10800000">
              <a:off x="2380" y="2722"/>
              <a:ext cx="1201" cy="787"/>
            </a:xfrm>
            <a:prstGeom prst="straightConnector1">
              <a:avLst/>
            </a:prstGeom>
            <a:noFill/>
            <a:ln cap="flat" cmpd="sng" w="31750">
              <a:solidFill>
                <a:schemeClr val="accent2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279" name="Google Shape;279;p9"/>
            <p:cNvSpPr txBox="1"/>
            <p:nvPr/>
          </p:nvSpPr>
          <p:spPr>
            <a:xfrm>
              <a:off x="1987" y="3490"/>
              <a:ext cx="45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E" sz="18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(2, 2)</a:t>
              </a:r>
              <a:endParaRPr b="1" i="0" sz="18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9"/>
            <p:cNvSpPr txBox="1"/>
            <p:nvPr/>
          </p:nvSpPr>
          <p:spPr>
            <a:xfrm>
              <a:off x="3582" y="2479"/>
              <a:ext cx="45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E" sz="18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(7, 5)</a:t>
              </a:r>
              <a:endParaRPr b="1" i="0" sz="18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9"/>
            <p:cNvSpPr txBox="1"/>
            <p:nvPr/>
          </p:nvSpPr>
          <p:spPr>
            <a:xfrm>
              <a:off x="2295" y="4009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E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9"/>
            <p:cNvSpPr txBox="1"/>
            <p:nvPr/>
          </p:nvSpPr>
          <p:spPr>
            <a:xfrm>
              <a:off x="3492" y="4009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E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9"/>
            <p:cNvSpPr txBox="1"/>
            <p:nvPr/>
          </p:nvSpPr>
          <p:spPr>
            <a:xfrm>
              <a:off x="1607" y="3386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E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9"/>
            <p:cNvSpPr txBox="1"/>
            <p:nvPr/>
          </p:nvSpPr>
          <p:spPr>
            <a:xfrm>
              <a:off x="1616" y="2605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E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9" name="Google Shape;289;p10"/>
          <p:cNvCxnSpPr/>
          <p:nvPr/>
        </p:nvCxnSpPr>
        <p:spPr>
          <a:xfrm>
            <a:off x="4578351" y="879475"/>
            <a:ext cx="0" cy="679132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" name="Google Shape;290;p10"/>
          <p:cNvCxnSpPr/>
          <p:nvPr/>
        </p:nvCxnSpPr>
        <p:spPr>
          <a:xfrm>
            <a:off x="4578351" y="1674812"/>
            <a:ext cx="0" cy="679132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" name="Google Shape;291;p10"/>
          <p:cNvCxnSpPr/>
          <p:nvPr/>
        </p:nvCxnSpPr>
        <p:spPr>
          <a:xfrm>
            <a:off x="4578351" y="2466975"/>
            <a:ext cx="0" cy="679132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" name="Google Shape;292;p10"/>
          <p:cNvCxnSpPr/>
          <p:nvPr/>
        </p:nvCxnSpPr>
        <p:spPr>
          <a:xfrm>
            <a:off x="4578351" y="82550"/>
            <a:ext cx="0" cy="679132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" name="Google Shape;293;p10"/>
          <p:cNvCxnSpPr/>
          <p:nvPr/>
        </p:nvCxnSpPr>
        <p:spPr>
          <a:xfrm>
            <a:off x="1687513" y="1408113"/>
            <a:ext cx="0" cy="498316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4" name="Google Shape;294;p10"/>
          <p:cNvCxnSpPr/>
          <p:nvPr/>
        </p:nvCxnSpPr>
        <p:spPr>
          <a:xfrm>
            <a:off x="2482850" y="1411288"/>
            <a:ext cx="0" cy="497998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5" name="Google Shape;295;p10"/>
          <p:cNvCxnSpPr/>
          <p:nvPr/>
        </p:nvCxnSpPr>
        <p:spPr>
          <a:xfrm>
            <a:off x="3278188" y="1408113"/>
            <a:ext cx="0" cy="498316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6" name="Google Shape;296;p10"/>
          <p:cNvCxnSpPr/>
          <p:nvPr/>
        </p:nvCxnSpPr>
        <p:spPr>
          <a:xfrm>
            <a:off x="4070350" y="1408113"/>
            <a:ext cx="0" cy="498316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" name="Google Shape;297;p10"/>
          <p:cNvCxnSpPr/>
          <p:nvPr/>
        </p:nvCxnSpPr>
        <p:spPr>
          <a:xfrm>
            <a:off x="4895850" y="1408113"/>
            <a:ext cx="0" cy="498316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8" name="Google Shape;298;p10"/>
          <p:cNvCxnSpPr/>
          <p:nvPr/>
        </p:nvCxnSpPr>
        <p:spPr>
          <a:xfrm>
            <a:off x="5691188" y="1411288"/>
            <a:ext cx="0" cy="497998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9" name="Google Shape;299;p10"/>
          <p:cNvCxnSpPr/>
          <p:nvPr/>
        </p:nvCxnSpPr>
        <p:spPr>
          <a:xfrm>
            <a:off x="6486525" y="1408113"/>
            <a:ext cx="0" cy="498316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" name="Google Shape;300;p10"/>
          <p:cNvCxnSpPr/>
          <p:nvPr/>
        </p:nvCxnSpPr>
        <p:spPr>
          <a:xfrm>
            <a:off x="7278688" y="1408113"/>
            <a:ext cx="0" cy="498316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1" name="Google Shape;301;p10"/>
          <p:cNvSpPr txBox="1"/>
          <p:nvPr>
            <p:ph type="title"/>
          </p:nvPr>
        </p:nvSpPr>
        <p:spPr>
          <a:xfrm>
            <a:off x="638175" y="0"/>
            <a:ext cx="8505825" cy="1231900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A Very Simple Solution (cont…)</a:t>
            </a:r>
            <a:endParaRPr/>
          </a:p>
        </p:txBody>
      </p:sp>
      <p:sp>
        <p:nvSpPr>
          <p:cNvPr id="302" name="Google Shape;302;p10"/>
          <p:cNvSpPr/>
          <p:nvPr/>
        </p:nvSpPr>
        <p:spPr>
          <a:xfrm>
            <a:off x="1552575" y="4154488"/>
            <a:ext cx="258763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3948113" y="4154488"/>
            <a:ext cx="258762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2351088" y="4154488"/>
            <a:ext cx="258762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3149600" y="4154488"/>
            <a:ext cx="258763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0"/>
          <p:cNvSpPr/>
          <p:nvPr/>
        </p:nvSpPr>
        <p:spPr>
          <a:xfrm>
            <a:off x="1555750" y="4935538"/>
            <a:ext cx="258763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3951288" y="4935538"/>
            <a:ext cx="258762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0"/>
          <p:cNvSpPr/>
          <p:nvPr/>
        </p:nvSpPr>
        <p:spPr>
          <a:xfrm>
            <a:off x="2354263" y="4935538"/>
            <a:ext cx="258762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3152775" y="4935538"/>
            <a:ext cx="258763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1554163" y="5743575"/>
            <a:ext cx="258762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0"/>
          <p:cNvSpPr/>
          <p:nvPr/>
        </p:nvSpPr>
        <p:spPr>
          <a:xfrm>
            <a:off x="3949700" y="5743575"/>
            <a:ext cx="258763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0"/>
          <p:cNvSpPr/>
          <p:nvPr/>
        </p:nvSpPr>
        <p:spPr>
          <a:xfrm>
            <a:off x="2352675" y="5743575"/>
            <a:ext cx="258763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0"/>
          <p:cNvSpPr/>
          <p:nvPr/>
        </p:nvSpPr>
        <p:spPr>
          <a:xfrm>
            <a:off x="3151188" y="5743575"/>
            <a:ext cx="258762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0"/>
          <p:cNvSpPr/>
          <p:nvPr/>
        </p:nvSpPr>
        <p:spPr>
          <a:xfrm>
            <a:off x="1560513" y="3357563"/>
            <a:ext cx="258762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0"/>
          <p:cNvSpPr/>
          <p:nvPr/>
        </p:nvSpPr>
        <p:spPr>
          <a:xfrm>
            <a:off x="3956050" y="3357563"/>
            <a:ext cx="258763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2359025" y="3357563"/>
            <a:ext cx="258763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3157538" y="3357563"/>
            <a:ext cx="258762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4760913" y="4156075"/>
            <a:ext cx="258762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0"/>
          <p:cNvSpPr/>
          <p:nvPr/>
        </p:nvSpPr>
        <p:spPr>
          <a:xfrm>
            <a:off x="7156450" y="4156075"/>
            <a:ext cx="258763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0"/>
          <p:cNvSpPr/>
          <p:nvPr/>
        </p:nvSpPr>
        <p:spPr>
          <a:xfrm>
            <a:off x="5559425" y="4156075"/>
            <a:ext cx="258763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0"/>
          <p:cNvSpPr/>
          <p:nvPr/>
        </p:nvSpPr>
        <p:spPr>
          <a:xfrm>
            <a:off x="6357938" y="4156075"/>
            <a:ext cx="258762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0"/>
          <p:cNvSpPr/>
          <p:nvPr/>
        </p:nvSpPr>
        <p:spPr>
          <a:xfrm>
            <a:off x="4764088" y="4937125"/>
            <a:ext cx="258762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0"/>
          <p:cNvSpPr/>
          <p:nvPr/>
        </p:nvSpPr>
        <p:spPr>
          <a:xfrm>
            <a:off x="7159625" y="4937125"/>
            <a:ext cx="258763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0"/>
          <p:cNvSpPr/>
          <p:nvPr/>
        </p:nvSpPr>
        <p:spPr>
          <a:xfrm>
            <a:off x="5562600" y="4937125"/>
            <a:ext cx="258763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0"/>
          <p:cNvSpPr/>
          <p:nvPr/>
        </p:nvSpPr>
        <p:spPr>
          <a:xfrm>
            <a:off x="6361113" y="4937125"/>
            <a:ext cx="258762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0"/>
          <p:cNvSpPr/>
          <p:nvPr/>
        </p:nvSpPr>
        <p:spPr>
          <a:xfrm>
            <a:off x="4762500" y="5745163"/>
            <a:ext cx="258763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7158038" y="5745163"/>
            <a:ext cx="258762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5561013" y="5745163"/>
            <a:ext cx="258762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0"/>
          <p:cNvSpPr/>
          <p:nvPr/>
        </p:nvSpPr>
        <p:spPr>
          <a:xfrm>
            <a:off x="6359525" y="5745163"/>
            <a:ext cx="258763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4768850" y="3359150"/>
            <a:ext cx="258763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0"/>
          <p:cNvSpPr/>
          <p:nvPr/>
        </p:nvSpPr>
        <p:spPr>
          <a:xfrm>
            <a:off x="7164388" y="3359150"/>
            <a:ext cx="258762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0"/>
          <p:cNvSpPr/>
          <p:nvPr/>
        </p:nvSpPr>
        <p:spPr>
          <a:xfrm>
            <a:off x="5567363" y="3359150"/>
            <a:ext cx="258762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0"/>
          <p:cNvSpPr/>
          <p:nvPr/>
        </p:nvSpPr>
        <p:spPr>
          <a:xfrm>
            <a:off x="6365875" y="3359150"/>
            <a:ext cx="258763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4" name="Google Shape;334;p10"/>
          <p:cNvCxnSpPr/>
          <p:nvPr/>
        </p:nvCxnSpPr>
        <p:spPr>
          <a:xfrm>
            <a:off x="4578351" y="-704850"/>
            <a:ext cx="0" cy="679132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" name="Google Shape;335;p10"/>
          <p:cNvCxnSpPr/>
          <p:nvPr/>
        </p:nvCxnSpPr>
        <p:spPr>
          <a:xfrm>
            <a:off x="4578351" y="-1501775"/>
            <a:ext cx="0" cy="679132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6" name="Google Shape;336;p10"/>
          <p:cNvSpPr/>
          <p:nvPr/>
        </p:nvSpPr>
        <p:spPr>
          <a:xfrm>
            <a:off x="1550988" y="2570163"/>
            <a:ext cx="258762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0"/>
          <p:cNvSpPr/>
          <p:nvPr/>
        </p:nvSpPr>
        <p:spPr>
          <a:xfrm>
            <a:off x="3946525" y="2570163"/>
            <a:ext cx="258763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2349500" y="2570163"/>
            <a:ext cx="258763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0"/>
          <p:cNvSpPr/>
          <p:nvPr/>
        </p:nvSpPr>
        <p:spPr>
          <a:xfrm>
            <a:off x="3148013" y="2570163"/>
            <a:ext cx="258762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1558925" y="1773238"/>
            <a:ext cx="258763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0"/>
          <p:cNvSpPr/>
          <p:nvPr/>
        </p:nvSpPr>
        <p:spPr>
          <a:xfrm>
            <a:off x="3954463" y="1773238"/>
            <a:ext cx="258762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0"/>
          <p:cNvSpPr/>
          <p:nvPr/>
        </p:nvSpPr>
        <p:spPr>
          <a:xfrm>
            <a:off x="2357438" y="1773238"/>
            <a:ext cx="258762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0"/>
          <p:cNvSpPr/>
          <p:nvPr/>
        </p:nvSpPr>
        <p:spPr>
          <a:xfrm>
            <a:off x="3155950" y="1773238"/>
            <a:ext cx="258763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0"/>
          <p:cNvSpPr/>
          <p:nvPr/>
        </p:nvSpPr>
        <p:spPr>
          <a:xfrm>
            <a:off x="4759325" y="2571750"/>
            <a:ext cx="258763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7154863" y="2571750"/>
            <a:ext cx="258762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0"/>
          <p:cNvSpPr/>
          <p:nvPr/>
        </p:nvSpPr>
        <p:spPr>
          <a:xfrm>
            <a:off x="5557838" y="2571750"/>
            <a:ext cx="258762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0"/>
          <p:cNvSpPr/>
          <p:nvPr/>
        </p:nvSpPr>
        <p:spPr>
          <a:xfrm>
            <a:off x="6356350" y="2571750"/>
            <a:ext cx="258763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4767263" y="1774825"/>
            <a:ext cx="258762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0"/>
          <p:cNvSpPr/>
          <p:nvPr/>
        </p:nvSpPr>
        <p:spPr>
          <a:xfrm>
            <a:off x="7162800" y="1774825"/>
            <a:ext cx="258763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5565775" y="1774825"/>
            <a:ext cx="258763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0"/>
          <p:cNvSpPr/>
          <p:nvPr/>
        </p:nvSpPr>
        <p:spPr>
          <a:xfrm>
            <a:off x="6364288" y="1774825"/>
            <a:ext cx="258762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0"/>
          <p:cNvSpPr txBox="1"/>
          <p:nvPr/>
        </p:nvSpPr>
        <p:spPr>
          <a:xfrm>
            <a:off x="911225" y="4875213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0"/>
          <p:cNvSpPr txBox="1"/>
          <p:nvPr/>
        </p:nvSpPr>
        <p:spPr>
          <a:xfrm>
            <a:off x="911225" y="4084638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0"/>
          <p:cNvSpPr txBox="1"/>
          <p:nvPr/>
        </p:nvSpPr>
        <p:spPr>
          <a:xfrm>
            <a:off x="911225" y="3287713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0"/>
          <p:cNvSpPr txBox="1"/>
          <p:nvPr/>
        </p:nvSpPr>
        <p:spPr>
          <a:xfrm>
            <a:off x="911225" y="2490788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0"/>
          <p:cNvSpPr txBox="1"/>
          <p:nvPr/>
        </p:nvSpPr>
        <p:spPr>
          <a:xfrm>
            <a:off x="911225" y="170815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0"/>
          <p:cNvSpPr txBox="1"/>
          <p:nvPr/>
        </p:nvSpPr>
        <p:spPr>
          <a:xfrm>
            <a:off x="911225" y="566420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0"/>
          <p:cNvSpPr txBox="1"/>
          <p:nvPr/>
        </p:nvSpPr>
        <p:spPr>
          <a:xfrm>
            <a:off x="2328863" y="634365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0"/>
          <p:cNvSpPr txBox="1"/>
          <p:nvPr/>
        </p:nvSpPr>
        <p:spPr>
          <a:xfrm>
            <a:off x="3122613" y="634365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0"/>
          <p:cNvSpPr txBox="1"/>
          <p:nvPr/>
        </p:nvSpPr>
        <p:spPr>
          <a:xfrm>
            <a:off x="3905250" y="634365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0"/>
          <p:cNvSpPr txBox="1"/>
          <p:nvPr/>
        </p:nvSpPr>
        <p:spPr>
          <a:xfrm>
            <a:off x="4738688" y="634365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0"/>
          <p:cNvSpPr txBox="1"/>
          <p:nvPr/>
        </p:nvSpPr>
        <p:spPr>
          <a:xfrm>
            <a:off x="5534025" y="634365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0"/>
          <p:cNvSpPr txBox="1"/>
          <p:nvPr/>
        </p:nvSpPr>
        <p:spPr>
          <a:xfrm>
            <a:off x="6330950" y="634365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0"/>
          <p:cNvSpPr txBox="1"/>
          <p:nvPr/>
        </p:nvSpPr>
        <p:spPr>
          <a:xfrm>
            <a:off x="1535113" y="634365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0"/>
          <p:cNvSpPr txBox="1"/>
          <p:nvPr/>
        </p:nvSpPr>
        <p:spPr>
          <a:xfrm>
            <a:off x="7116763" y="634365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1"/>
          <p:cNvSpPr txBox="1"/>
          <p:nvPr>
            <p:ph type="title"/>
          </p:nvPr>
        </p:nvSpPr>
        <p:spPr>
          <a:xfrm>
            <a:off x="638175" y="0"/>
            <a:ext cx="8505825" cy="1231900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A Very Simple Solution (cont…)</a:t>
            </a:r>
            <a:endParaRPr/>
          </a:p>
        </p:txBody>
      </p:sp>
      <p:grpSp>
        <p:nvGrpSpPr>
          <p:cNvPr id="371" name="Google Shape;371;p11"/>
          <p:cNvGrpSpPr/>
          <p:nvPr/>
        </p:nvGrpSpPr>
        <p:grpSpPr>
          <a:xfrm>
            <a:off x="173038" y="1289050"/>
            <a:ext cx="3852862" cy="2984500"/>
            <a:chOff x="129" y="992"/>
            <a:chExt cx="2427" cy="1880"/>
          </a:xfrm>
        </p:grpSpPr>
        <p:cxnSp>
          <p:nvCxnSpPr>
            <p:cNvPr id="372" name="Google Shape;372;p11"/>
            <p:cNvCxnSpPr/>
            <p:nvPr/>
          </p:nvCxnSpPr>
          <p:spPr>
            <a:xfrm>
              <a:off x="286" y="1978"/>
              <a:ext cx="2025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373" name="Google Shape;373;p11"/>
            <p:cNvCxnSpPr/>
            <p:nvPr/>
          </p:nvCxnSpPr>
          <p:spPr>
            <a:xfrm>
              <a:off x="286" y="1815"/>
              <a:ext cx="2025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374" name="Google Shape;374;p11"/>
            <p:cNvCxnSpPr/>
            <p:nvPr/>
          </p:nvCxnSpPr>
          <p:spPr>
            <a:xfrm>
              <a:off x="286" y="1661"/>
              <a:ext cx="2025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375" name="Google Shape;375;p11"/>
            <p:cNvCxnSpPr/>
            <p:nvPr/>
          </p:nvCxnSpPr>
          <p:spPr>
            <a:xfrm>
              <a:off x="286" y="1517"/>
              <a:ext cx="2025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376" name="Google Shape;376;p11"/>
            <p:cNvCxnSpPr/>
            <p:nvPr/>
          </p:nvCxnSpPr>
          <p:spPr>
            <a:xfrm rot="10800000">
              <a:off x="414" y="1056"/>
              <a:ext cx="0" cy="162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377" name="Google Shape;377;p11"/>
            <p:cNvCxnSpPr/>
            <p:nvPr/>
          </p:nvCxnSpPr>
          <p:spPr>
            <a:xfrm rot="10800000">
              <a:off x="1357" y="1586"/>
              <a:ext cx="0" cy="2026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378" name="Google Shape;378;p11"/>
            <p:cNvSpPr txBox="1"/>
            <p:nvPr/>
          </p:nvSpPr>
          <p:spPr>
            <a:xfrm>
              <a:off x="2277" y="2568"/>
              <a:ext cx="18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IE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b="0" i="1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9" name="Google Shape;379;p11"/>
            <p:cNvSpPr txBox="1"/>
            <p:nvPr/>
          </p:nvSpPr>
          <p:spPr>
            <a:xfrm>
              <a:off x="206" y="992"/>
              <a:ext cx="18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IE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endParaRPr b="0" i="1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80" name="Google Shape;380;p11"/>
            <p:cNvCxnSpPr/>
            <p:nvPr/>
          </p:nvCxnSpPr>
          <p:spPr>
            <a:xfrm>
              <a:off x="286" y="2130"/>
              <a:ext cx="2025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381" name="Google Shape;381;p11"/>
            <p:cNvCxnSpPr/>
            <p:nvPr/>
          </p:nvCxnSpPr>
          <p:spPr>
            <a:xfrm>
              <a:off x="286" y="1352"/>
              <a:ext cx="1977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382" name="Google Shape;382;p11"/>
            <p:cNvCxnSpPr/>
            <p:nvPr/>
          </p:nvCxnSpPr>
          <p:spPr>
            <a:xfrm rot="5400000">
              <a:off x="187" y="1957"/>
              <a:ext cx="1439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383" name="Google Shape;383;p11"/>
            <p:cNvCxnSpPr/>
            <p:nvPr/>
          </p:nvCxnSpPr>
          <p:spPr>
            <a:xfrm rot="5400000">
              <a:off x="1377" y="1967"/>
              <a:ext cx="1459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384" name="Google Shape;384;p11"/>
            <p:cNvCxnSpPr/>
            <p:nvPr/>
          </p:nvCxnSpPr>
          <p:spPr>
            <a:xfrm flipH="1" rot="10800000">
              <a:off x="902" y="1354"/>
              <a:ext cx="1201" cy="787"/>
            </a:xfrm>
            <a:prstGeom prst="straightConnector1">
              <a:avLst/>
            </a:prstGeom>
            <a:noFill/>
            <a:ln cap="flat" cmpd="sng" w="31750">
              <a:solidFill>
                <a:schemeClr val="accent2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385" name="Google Shape;385;p11"/>
            <p:cNvSpPr txBox="1"/>
            <p:nvPr/>
          </p:nvSpPr>
          <p:spPr>
            <a:xfrm>
              <a:off x="509" y="2122"/>
              <a:ext cx="45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E" sz="18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(2, 2)</a:t>
              </a:r>
              <a:endParaRPr b="1" i="0" sz="18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11"/>
            <p:cNvSpPr txBox="1"/>
            <p:nvPr/>
          </p:nvSpPr>
          <p:spPr>
            <a:xfrm>
              <a:off x="2104" y="1111"/>
              <a:ext cx="45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E" sz="18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(7, 5)</a:t>
              </a:r>
              <a:endParaRPr b="1" i="0" sz="18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87" name="Google Shape;387;p11"/>
            <p:cNvCxnSpPr/>
            <p:nvPr/>
          </p:nvCxnSpPr>
          <p:spPr>
            <a:xfrm rot="5400000">
              <a:off x="427" y="1957"/>
              <a:ext cx="1439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388" name="Google Shape;388;p11"/>
            <p:cNvCxnSpPr/>
            <p:nvPr/>
          </p:nvCxnSpPr>
          <p:spPr>
            <a:xfrm rot="5400000">
              <a:off x="1147" y="1957"/>
              <a:ext cx="1439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389" name="Google Shape;389;p11"/>
            <p:cNvCxnSpPr/>
            <p:nvPr/>
          </p:nvCxnSpPr>
          <p:spPr>
            <a:xfrm rot="5400000">
              <a:off x="667" y="1957"/>
              <a:ext cx="1439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390" name="Google Shape;390;p11"/>
            <p:cNvCxnSpPr/>
            <p:nvPr/>
          </p:nvCxnSpPr>
          <p:spPr>
            <a:xfrm rot="5400000">
              <a:off x="907" y="1957"/>
              <a:ext cx="1439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sp>
          <p:nvSpPr>
            <p:cNvPr id="391" name="Google Shape;391;p11"/>
            <p:cNvSpPr txBox="1"/>
            <p:nvPr/>
          </p:nvSpPr>
          <p:spPr>
            <a:xfrm>
              <a:off x="817" y="2641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E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11"/>
            <p:cNvSpPr txBox="1"/>
            <p:nvPr/>
          </p:nvSpPr>
          <p:spPr>
            <a:xfrm>
              <a:off x="1056" y="2641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E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11"/>
            <p:cNvSpPr txBox="1"/>
            <p:nvPr/>
          </p:nvSpPr>
          <p:spPr>
            <a:xfrm>
              <a:off x="1295" y="2641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E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11"/>
            <p:cNvSpPr txBox="1"/>
            <p:nvPr/>
          </p:nvSpPr>
          <p:spPr>
            <a:xfrm>
              <a:off x="1535" y="2641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E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11"/>
            <p:cNvSpPr txBox="1"/>
            <p:nvPr/>
          </p:nvSpPr>
          <p:spPr>
            <a:xfrm>
              <a:off x="1774" y="2641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E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11"/>
            <p:cNvSpPr txBox="1"/>
            <p:nvPr/>
          </p:nvSpPr>
          <p:spPr>
            <a:xfrm>
              <a:off x="2014" y="2641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E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11"/>
            <p:cNvSpPr/>
            <p:nvPr/>
          </p:nvSpPr>
          <p:spPr>
            <a:xfrm>
              <a:off x="1105" y="1937"/>
              <a:ext cx="77" cy="77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11"/>
            <p:cNvSpPr/>
            <p:nvPr/>
          </p:nvSpPr>
          <p:spPr>
            <a:xfrm>
              <a:off x="1346" y="1785"/>
              <a:ext cx="77" cy="77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11"/>
            <p:cNvSpPr/>
            <p:nvPr/>
          </p:nvSpPr>
          <p:spPr>
            <a:xfrm>
              <a:off x="1587" y="1631"/>
              <a:ext cx="77" cy="77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11"/>
            <p:cNvSpPr/>
            <p:nvPr/>
          </p:nvSpPr>
          <p:spPr>
            <a:xfrm>
              <a:off x="1827" y="1478"/>
              <a:ext cx="77" cy="77"/>
            </a:xfrm>
            <a:prstGeom prst="ellipse">
              <a:avLst/>
            </a:prstGeom>
            <a:solidFill>
              <a:schemeClr val="accent1"/>
            </a:solidFill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11"/>
            <p:cNvSpPr txBox="1"/>
            <p:nvPr/>
          </p:nvSpPr>
          <p:spPr>
            <a:xfrm>
              <a:off x="129" y="2018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E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11"/>
            <p:cNvSpPr txBox="1"/>
            <p:nvPr/>
          </p:nvSpPr>
          <p:spPr>
            <a:xfrm>
              <a:off x="138" y="123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E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03" name="Google Shape;40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51463" y="2076450"/>
            <a:ext cx="2262187" cy="103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53063" y="3194050"/>
            <a:ext cx="2662237" cy="1031875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11"/>
          <p:cNvSpPr txBox="1"/>
          <p:nvPr>
            <p:ph idx="1" type="body"/>
          </p:nvPr>
        </p:nvSpPr>
        <p:spPr>
          <a:xfrm>
            <a:off x="4222750" y="1479550"/>
            <a:ext cx="4251325" cy="922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First work out </a:t>
            </a:r>
            <a:r>
              <a:rPr i="1" lang="en-IE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IE"/>
              <a:t> and </a:t>
            </a:r>
            <a:r>
              <a:rPr i="1" lang="en-IE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IE"/>
              <a:t>:</a:t>
            </a:r>
            <a:endParaRPr/>
          </a:p>
        </p:txBody>
      </p:sp>
      <p:sp>
        <p:nvSpPr>
          <p:cNvPr id="406" name="Google Shape;406;p11"/>
          <p:cNvSpPr/>
          <p:nvPr/>
        </p:nvSpPr>
        <p:spPr>
          <a:xfrm>
            <a:off x="212725" y="4278313"/>
            <a:ext cx="8599488" cy="922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E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Now for each </a:t>
            </a:r>
            <a:r>
              <a:rPr b="0" i="1" lang="en-IE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0" i="0" lang="en-IE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value work out the </a:t>
            </a:r>
            <a:r>
              <a:rPr b="0" i="1" lang="en-IE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0" i="0" lang="en-IE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value: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7" name="Google Shape;407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66825" y="4891088"/>
            <a:ext cx="3089275" cy="95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51375" y="4878388"/>
            <a:ext cx="3121025" cy="95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65238" y="5915025"/>
            <a:ext cx="3121025" cy="95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64075" y="5861050"/>
            <a:ext cx="3151188" cy="95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2"/>
          <p:cNvSpPr txBox="1"/>
          <p:nvPr>
            <p:ph type="title"/>
          </p:nvPr>
        </p:nvSpPr>
        <p:spPr>
          <a:xfrm>
            <a:off x="638175" y="0"/>
            <a:ext cx="8505825" cy="1231900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A Very Simple Solution (cont…)</a:t>
            </a:r>
            <a:endParaRPr/>
          </a:p>
        </p:txBody>
      </p:sp>
      <p:sp>
        <p:nvSpPr>
          <p:cNvPr id="416" name="Google Shape;416;p12"/>
          <p:cNvSpPr txBox="1"/>
          <p:nvPr>
            <p:ph idx="1" type="body"/>
          </p:nvPr>
        </p:nvSpPr>
        <p:spPr>
          <a:xfrm>
            <a:off x="457200" y="1333500"/>
            <a:ext cx="8229600" cy="55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Now just round off the results and turn on these pixels to draw our line</a:t>
            </a:r>
            <a:endParaRPr/>
          </a:p>
        </p:txBody>
      </p:sp>
      <p:cxnSp>
        <p:nvCxnSpPr>
          <p:cNvPr id="417" name="Google Shape;417;p12"/>
          <p:cNvCxnSpPr/>
          <p:nvPr/>
        </p:nvCxnSpPr>
        <p:spPr>
          <a:xfrm rot="10800000">
            <a:off x="1612900" y="2593975"/>
            <a:ext cx="0" cy="326231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8" name="Google Shape;418;p12"/>
          <p:cNvCxnSpPr/>
          <p:nvPr/>
        </p:nvCxnSpPr>
        <p:spPr>
          <a:xfrm rot="10800000">
            <a:off x="1998663" y="2593975"/>
            <a:ext cx="0" cy="326231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9" name="Google Shape;419;p12"/>
          <p:cNvCxnSpPr/>
          <p:nvPr/>
        </p:nvCxnSpPr>
        <p:spPr>
          <a:xfrm rot="10800000">
            <a:off x="2382838" y="2593975"/>
            <a:ext cx="0" cy="326231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" name="Google Shape;420;p12"/>
          <p:cNvCxnSpPr/>
          <p:nvPr/>
        </p:nvCxnSpPr>
        <p:spPr>
          <a:xfrm rot="10800000">
            <a:off x="2762250" y="2593975"/>
            <a:ext cx="0" cy="326231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1" name="Google Shape;421;p12"/>
          <p:cNvCxnSpPr/>
          <p:nvPr/>
        </p:nvCxnSpPr>
        <p:spPr>
          <a:xfrm rot="10800000">
            <a:off x="3146425" y="2593975"/>
            <a:ext cx="0" cy="326231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2" name="Google Shape;422;p12"/>
          <p:cNvCxnSpPr/>
          <p:nvPr/>
        </p:nvCxnSpPr>
        <p:spPr>
          <a:xfrm rot="10800000">
            <a:off x="3525838" y="2593975"/>
            <a:ext cx="0" cy="326231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" name="Google Shape;423;p12"/>
          <p:cNvCxnSpPr/>
          <p:nvPr/>
        </p:nvCxnSpPr>
        <p:spPr>
          <a:xfrm rot="10800000">
            <a:off x="3910013" y="2593975"/>
            <a:ext cx="0" cy="326231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4" name="Google Shape;424;p12"/>
          <p:cNvCxnSpPr/>
          <p:nvPr/>
        </p:nvCxnSpPr>
        <p:spPr>
          <a:xfrm rot="10800000">
            <a:off x="4289425" y="2593975"/>
            <a:ext cx="0" cy="3262313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5" name="Google Shape;425;p12"/>
          <p:cNvCxnSpPr/>
          <p:nvPr/>
        </p:nvCxnSpPr>
        <p:spPr>
          <a:xfrm rot="10800000">
            <a:off x="2761457" y="1099344"/>
            <a:ext cx="0" cy="362743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6" name="Google Shape;426;p12"/>
          <p:cNvCxnSpPr/>
          <p:nvPr/>
        </p:nvCxnSpPr>
        <p:spPr>
          <a:xfrm rot="10800000">
            <a:off x="2761457" y="1485106"/>
            <a:ext cx="0" cy="362743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7" name="Google Shape;427;p12"/>
          <p:cNvCxnSpPr/>
          <p:nvPr/>
        </p:nvCxnSpPr>
        <p:spPr>
          <a:xfrm rot="10800000">
            <a:off x="2761457" y="1869281"/>
            <a:ext cx="0" cy="362743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8" name="Google Shape;428;p12"/>
          <p:cNvCxnSpPr/>
          <p:nvPr/>
        </p:nvCxnSpPr>
        <p:spPr>
          <a:xfrm rot="10800000">
            <a:off x="2761457" y="2248694"/>
            <a:ext cx="0" cy="362743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9" name="Google Shape;429;p12"/>
          <p:cNvCxnSpPr/>
          <p:nvPr/>
        </p:nvCxnSpPr>
        <p:spPr>
          <a:xfrm rot="10800000">
            <a:off x="2761457" y="2632869"/>
            <a:ext cx="0" cy="362743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0" name="Google Shape;430;p12"/>
          <p:cNvCxnSpPr/>
          <p:nvPr/>
        </p:nvCxnSpPr>
        <p:spPr>
          <a:xfrm rot="10800000">
            <a:off x="2761457" y="3012281"/>
            <a:ext cx="0" cy="362743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1" name="Google Shape;431;p12"/>
          <p:cNvCxnSpPr/>
          <p:nvPr/>
        </p:nvCxnSpPr>
        <p:spPr>
          <a:xfrm rot="10800000">
            <a:off x="2761457" y="3396456"/>
            <a:ext cx="0" cy="362743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2" name="Google Shape;432;p12"/>
          <p:cNvCxnSpPr/>
          <p:nvPr/>
        </p:nvCxnSpPr>
        <p:spPr>
          <a:xfrm rot="10800000">
            <a:off x="2761457" y="3775869"/>
            <a:ext cx="0" cy="362743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3" name="Google Shape;433;p12"/>
          <p:cNvSpPr/>
          <p:nvPr/>
        </p:nvSpPr>
        <p:spPr>
          <a:xfrm>
            <a:off x="1820863" y="4665663"/>
            <a:ext cx="319087" cy="319087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2"/>
          <p:cNvSpPr/>
          <p:nvPr/>
        </p:nvSpPr>
        <p:spPr>
          <a:xfrm>
            <a:off x="2219325" y="4665663"/>
            <a:ext cx="319088" cy="31908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2"/>
          <p:cNvSpPr/>
          <p:nvPr/>
        </p:nvSpPr>
        <p:spPr>
          <a:xfrm>
            <a:off x="4116388" y="4665663"/>
            <a:ext cx="319087" cy="31908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2"/>
          <p:cNvSpPr/>
          <p:nvPr/>
        </p:nvSpPr>
        <p:spPr>
          <a:xfrm>
            <a:off x="1438275" y="4664075"/>
            <a:ext cx="319088" cy="31908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2"/>
          <p:cNvSpPr/>
          <p:nvPr/>
        </p:nvSpPr>
        <p:spPr>
          <a:xfrm>
            <a:off x="2586038" y="4665663"/>
            <a:ext cx="319087" cy="31908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2"/>
          <p:cNvSpPr/>
          <p:nvPr/>
        </p:nvSpPr>
        <p:spPr>
          <a:xfrm>
            <a:off x="2984500" y="4664075"/>
            <a:ext cx="319088" cy="31908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2"/>
          <p:cNvSpPr/>
          <p:nvPr/>
        </p:nvSpPr>
        <p:spPr>
          <a:xfrm>
            <a:off x="3367088" y="4664075"/>
            <a:ext cx="319087" cy="31908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2"/>
          <p:cNvSpPr/>
          <p:nvPr/>
        </p:nvSpPr>
        <p:spPr>
          <a:xfrm>
            <a:off x="3749675" y="4664075"/>
            <a:ext cx="319088" cy="31908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2"/>
          <p:cNvSpPr/>
          <p:nvPr/>
        </p:nvSpPr>
        <p:spPr>
          <a:xfrm>
            <a:off x="1828800" y="4286250"/>
            <a:ext cx="319088" cy="31908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2"/>
          <p:cNvSpPr/>
          <p:nvPr/>
        </p:nvSpPr>
        <p:spPr>
          <a:xfrm>
            <a:off x="2227263" y="4286250"/>
            <a:ext cx="319087" cy="31908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2"/>
          <p:cNvSpPr/>
          <p:nvPr/>
        </p:nvSpPr>
        <p:spPr>
          <a:xfrm>
            <a:off x="4124325" y="4286250"/>
            <a:ext cx="319088" cy="31908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2"/>
          <p:cNvSpPr/>
          <p:nvPr/>
        </p:nvSpPr>
        <p:spPr>
          <a:xfrm>
            <a:off x="1446213" y="4284663"/>
            <a:ext cx="319087" cy="31908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2"/>
          <p:cNvSpPr/>
          <p:nvPr/>
        </p:nvSpPr>
        <p:spPr>
          <a:xfrm>
            <a:off x="2593975" y="4286250"/>
            <a:ext cx="319088" cy="31908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2"/>
          <p:cNvSpPr/>
          <p:nvPr/>
        </p:nvSpPr>
        <p:spPr>
          <a:xfrm>
            <a:off x="2992438" y="4284663"/>
            <a:ext cx="319087" cy="31908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2"/>
          <p:cNvSpPr/>
          <p:nvPr/>
        </p:nvSpPr>
        <p:spPr>
          <a:xfrm>
            <a:off x="3375025" y="4284663"/>
            <a:ext cx="319088" cy="31908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2"/>
          <p:cNvSpPr/>
          <p:nvPr/>
        </p:nvSpPr>
        <p:spPr>
          <a:xfrm>
            <a:off x="3757613" y="4284663"/>
            <a:ext cx="319087" cy="31908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2"/>
          <p:cNvSpPr/>
          <p:nvPr/>
        </p:nvSpPr>
        <p:spPr>
          <a:xfrm>
            <a:off x="1824038" y="3906838"/>
            <a:ext cx="319087" cy="31908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2"/>
          <p:cNvSpPr/>
          <p:nvPr/>
        </p:nvSpPr>
        <p:spPr>
          <a:xfrm>
            <a:off x="2222500" y="3906838"/>
            <a:ext cx="319088" cy="31908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2"/>
          <p:cNvSpPr/>
          <p:nvPr/>
        </p:nvSpPr>
        <p:spPr>
          <a:xfrm>
            <a:off x="4119563" y="3906838"/>
            <a:ext cx="319087" cy="31908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2"/>
          <p:cNvSpPr/>
          <p:nvPr/>
        </p:nvSpPr>
        <p:spPr>
          <a:xfrm>
            <a:off x="1441450" y="3905250"/>
            <a:ext cx="319088" cy="31908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2"/>
          <p:cNvSpPr/>
          <p:nvPr/>
        </p:nvSpPr>
        <p:spPr>
          <a:xfrm>
            <a:off x="2589213" y="3906838"/>
            <a:ext cx="319087" cy="31908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2"/>
          <p:cNvSpPr/>
          <p:nvPr/>
        </p:nvSpPr>
        <p:spPr>
          <a:xfrm>
            <a:off x="2987675" y="3905250"/>
            <a:ext cx="319088" cy="31908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2"/>
          <p:cNvSpPr/>
          <p:nvPr/>
        </p:nvSpPr>
        <p:spPr>
          <a:xfrm>
            <a:off x="3370263" y="3905250"/>
            <a:ext cx="319087" cy="31908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12"/>
          <p:cNvSpPr/>
          <p:nvPr/>
        </p:nvSpPr>
        <p:spPr>
          <a:xfrm>
            <a:off x="3752850" y="3905250"/>
            <a:ext cx="319088" cy="31908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2"/>
          <p:cNvSpPr/>
          <p:nvPr/>
        </p:nvSpPr>
        <p:spPr>
          <a:xfrm>
            <a:off x="1831975" y="3527425"/>
            <a:ext cx="319088" cy="31908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2"/>
          <p:cNvSpPr/>
          <p:nvPr/>
        </p:nvSpPr>
        <p:spPr>
          <a:xfrm>
            <a:off x="2230438" y="3527425"/>
            <a:ext cx="319087" cy="31908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2"/>
          <p:cNvSpPr/>
          <p:nvPr/>
        </p:nvSpPr>
        <p:spPr>
          <a:xfrm>
            <a:off x="4127500" y="3527425"/>
            <a:ext cx="319088" cy="31908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12"/>
          <p:cNvSpPr/>
          <p:nvPr/>
        </p:nvSpPr>
        <p:spPr>
          <a:xfrm>
            <a:off x="1449388" y="3525838"/>
            <a:ext cx="319087" cy="31908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12"/>
          <p:cNvSpPr/>
          <p:nvPr/>
        </p:nvSpPr>
        <p:spPr>
          <a:xfrm>
            <a:off x="2597150" y="3527425"/>
            <a:ext cx="319088" cy="31908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2"/>
          <p:cNvSpPr/>
          <p:nvPr/>
        </p:nvSpPr>
        <p:spPr>
          <a:xfrm>
            <a:off x="2995613" y="3525838"/>
            <a:ext cx="319087" cy="31908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12"/>
          <p:cNvSpPr/>
          <p:nvPr/>
        </p:nvSpPr>
        <p:spPr>
          <a:xfrm>
            <a:off x="3378200" y="3525838"/>
            <a:ext cx="319088" cy="31908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12"/>
          <p:cNvSpPr/>
          <p:nvPr/>
        </p:nvSpPr>
        <p:spPr>
          <a:xfrm>
            <a:off x="3760788" y="3525838"/>
            <a:ext cx="319087" cy="319087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12"/>
          <p:cNvSpPr/>
          <p:nvPr/>
        </p:nvSpPr>
        <p:spPr>
          <a:xfrm>
            <a:off x="1844675" y="3127375"/>
            <a:ext cx="319088" cy="31908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2"/>
          <p:cNvSpPr/>
          <p:nvPr/>
        </p:nvSpPr>
        <p:spPr>
          <a:xfrm>
            <a:off x="2243138" y="3127375"/>
            <a:ext cx="319087" cy="31908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12"/>
          <p:cNvSpPr/>
          <p:nvPr/>
        </p:nvSpPr>
        <p:spPr>
          <a:xfrm>
            <a:off x="4140200" y="3127375"/>
            <a:ext cx="319088" cy="31908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2"/>
          <p:cNvSpPr/>
          <p:nvPr/>
        </p:nvSpPr>
        <p:spPr>
          <a:xfrm>
            <a:off x="1462088" y="3125788"/>
            <a:ext cx="319087" cy="31908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12"/>
          <p:cNvSpPr/>
          <p:nvPr/>
        </p:nvSpPr>
        <p:spPr>
          <a:xfrm>
            <a:off x="2609850" y="3127375"/>
            <a:ext cx="319088" cy="31908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12"/>
          <p:cNvSpPr/>
          <p:nvPr/>
        </p:nvSpPr>
        <p:spPr>
          <a:xfrm>
            <a:off x="3008313" y="3125788"/>
            <a:ext cx="319087" cy="31908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12"/>
          <p:cNvSpPr/>
          <p:nvPr/>
        </p:nvSpPr>
        <p:spPr>
          <a:xfrm>
            <a:off x="3390900" y="3125788"/>
            <a:ext cx="319088" cy="31908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2"/>
          <p:cNvSpPr/>
          <p:nvPr/>
        </p:nvSpPr>
        <p:spPr>
          <a:xfrm>
            <a:off x="3773488" y="3125788"/>
            <a:ext cx="319087" cy="31908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2"/>
          <p:cNvSpPr/>
          <p:nvPr/>
        </p:nvSpPr>
        <p:spPr>
          <a:xfrm>
            <a:off x="1852613" y="2747963"/>
            <a:ext cx="319087" cy="31908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12"/>
          <p:cNvSpPr/>
          <p:nvPr/>
        </p:nvSpPr>
        <p:spPr>
          <a:xfrm>
            <a:off x="2251075" y="2747963"/>
            <a:ext cx="319088" cy="31908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12"/>
          <p:cNvSpPr/>
          <p:nvPr/>
        </p:nvSpPr>
        <p:spPr>
          <a:xfrm>
            <a:off x="4148138" y="2747963"/>
            <a:ext cx="319087" cy="31908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12"/>
          <p:cNvSpPr/>
          <p:nvPr/>
        </p:nvSpPr>
        <p:spPr>
          <a:xfrm>
            <a:off x="1470025" y="2746375"/>
            <a:ext cx="319088" cy="31908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12"/>
          <p:cNvSpPr/>
          <p:nvPr/>
        </p:nvSpPr>
        <p:spPr>
          <a:xfrm>
            <a:off x="2617788" y="2747963"/>
            <a:ext cx="319087" cy="31908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12"/>
          <p:cNvSpPr/>
          <p:nvPr/>
        </p:nvSpPr>
        <p:spPr>
          <a:xfrm>
            <a:off x="3016250" y="2746375"/>
            <a:ext cx="319088" cy="31908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12"/>
          <p:cNvSpPr/>
          <p:nvPr/>
        </p:nvSpPr>
        <p:spPr>
          <a:xfrm>
            <a:off x="3398838" y="2746375"/>
            <a:ext cx="319087" cy="31908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12"/>
          <p:cNvSpPr/>
          <p:nvPr/>
        </p:nvSpPr>
        <p:spPr>
          <a:xfrm>
            <a:off x="3781425" y="2746375"/>
            <a:ext cx="319088" cy="31908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2"/>
          <p:cNvSpPr/>
          <p:nvPr/>
        </p:nvSpPr>
        <p:spPr>
          <a:xfrm>
            <a:off x="1812925" y="5434013"/>
            <a:ext cx="319088" cy="31908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12"/>
          <p:cNvSpPr/>
          <p:nvPr/>
        </p:nvSpPr>
        <p:spPr>
          <a:xfrm>
            <a:off x="2211388" y="5434013"/>
            <a:ext cx="319087" cy="31908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12"/>
          <p:cNvSpPr/>
          <p:nvPr/>
        </p:nvSpPr>
        <p:spPr>
          <a:xfrm>
            <a:off x="4108450" y="5434013"/>
            <a:ext cx="319088" cy="31908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12"/>
          <p:cNvSpPr/>
          <p:nvPr/>
        </p:nvSpPr>
        <p:spPr>
          <a:xfrm>
            <a:off x="1430338" y="5432425"/>
            <a:ext cx="319087" cy="31908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12"/>
          <p:cNvSpPr/>
          <p:nvPr/>
        </p:nvSpPr>
        <p:spPr>
          <a:xfrm>
            <a:off x="2578100" y="5434013"/>
            <a:ext cx="319088" cy="31908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12"/>
          <p:cNvSpPr/>
          <p:nvPr/>
        </p:nvSpPr>
        <p:spPr>
          <a:xfrm>
            <a:off x="2976563" y="5432425"/>
            <a:ext cx="319087" cy="31908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12"/>
          <p:cNvSpPr/>
          <p:nvPr/>
        </p:nvSpPr>
        <p:spPr>
          <a:xfrm>
            <a:off x="3359150" y="5432425"/>
            <a:ext cx="319088" cy="31908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12"/>
          <p:cNvSpPr/>
          <p:nvPr/>
        </p:nvSpPr>
        <p:spPr>
          <a:xfrm>
            <a:off x="3741738" y="5432425"/>
            <a:ext cx="319087" cy="31908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12"/>
          <p:cNvSpPr/>
          <p:nvPr/>
        </p:nvSpPr>
        <p:spPr>
          <a:xfrm>
            <a:off x="1820863" y="5054600"/>
            <a:ext cx="319087" cy="31908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12"/>
          <p:cNvSpPr/>
          <p:nvPr/>
        </p:nvSpPr>
        <p:spPr>
          <a:xfrm>
            <a:off x="2219325" y="5054600"/>
            <a:ext cx="319088" cy="31908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12"/>
          <p:cNvSpPr/>
          <p:nvPr/>
        </p:nvSpPr>
        <p:spPr>
          <a:xfrm>
            <a:off x="4116388" y="5054600"/>
            <a:ext cx="319087" cy="31908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12"/>
          <p:cNvSpPr/>
          <p:nvPr/>
        </p:nvSpPr>
        <p:spPr>
          <a:xfrm>
            <a:off x="1438275" y="5053013"/>
            <a:ext cx="319088" cy="31908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12"/>
          <p:cNvSpPr/>
          <p:nvPr/>
        </p:nvSpPr>
        <p:spPr>
          <a:xfrm>
            <a:off x="2586038" y="5054600"/>
            <a:ext cx="319087" cy="31908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12"/>
          <p:cNvSpPr/>
          <p:nvPr/>
        </p:nvSpPr>
        <p:spPr>
          <a:xfrm>
            <a:off x="2984500" y="5053013"/>
            <a:ext cx="319088" cy="31908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12"/>
          <p:cNvSpPr/>
          <p:nvPr/>
        </p:nvSpPr>
        <p:spPr>
          <a:xfrm>
            <a:off x="3367088" y="5053013"/>
            <a:ext cx="319087" cy="31908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12"/>
          <p:cNvSpPr/>
          <p:nvPr/>
        </p:nvSpPr>
        <p:spPr>
          <a:xfrm>
            <a:off x="3749675" y="5053013"/>
            <a:ext cx="319088" cy="31908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7" name="Google Shape;497;p12"/>
          <p:cNvCxnSpPr/>
          <p:nvPr/>
        </p:nvCxnSpPr>
        <p:spPr>
          <a:xfrm rot="10800000">
            <a:off x="1235075" y="2582863"/>
            <a:ext cx="0" cy="326231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8" name="Google Shape;498;p12"/>
          <p:cNvSpPr/>
          <p:nvPr/>
        </p:nvSpPr>
        <p:spPr>
          <a:xfrm>
            <a:off x="1060450" y="4652963"/>
            <a:ext cx="319088" cy="31908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12"/>
          <p:cNvSpPr/>
          <p:nvPr/>
        </p:nvSpPr>
        <p:spPr>
          <a:xfrm>
            <a:off x="1068388" y="4273550"/>
            <a:ext cx="319087" cy="31908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12"/>
          <p:cNvSpPr/>
          <p:nvPr/>
        </p:nvSpPr>
        <p:spPr>
          <a:xfrm>
            <a:off x="1063625" y="3894138"/>
            <a:ext cx="319088" cy="31908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12"/>
          <p:cNvSpPr/>
          <p:nvPr/>
        </p:nvSpPr>
        <p:spPr>
          <a:xfrm>
            <a:off x="1071563" y="3514725"/>
            <a:ext cx="319087" cy="31908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12"/>
          <p:cNvSpPr/>
          <p:nvPr/>
        </p:nvSpPr>
        <p:spPr>
          <a:xfrm>
            <a:off x="1084263" y="3114675"/>
            <a:ext cx="319087" cy="31908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2"/>
          <p:cNvSpPr/>
          <p:nvPr/>
        </p:nvSpPr>
        <p:spPr>
          <a:xfrm>
            <a:off x="1092200" y="2735263"/>
            <a:ext cx="319088" cy="31908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12"/>
          <p:cNvSpPr/>
          <p:nvPr/>
        </p:nvSpPr>
        <p:spPr>
          <a:xfrm>
            <a:off x="1052513" y="5421313"/>
            <a:ext cx="319087" cy="319087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12"/>
          <p:cNvSpPr/>
          <p:nvPr/>
        </p:nvSpPr>
        <p:spPr>
          <a:xfrm>
            <a:off x="1060450" y="5041900"/>
            <a:ext cx="319088" cy="319088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6" name="Google Shape;506;p12"/>
          <p:cNvCxnSpPr/>
          <p:nvPr/>
        </p:nvCxnSpPr>
        <p:spPr>
          <a:xfrm flipH="1" rot="10800000">
            <a:off x="1985963" y="3681413"/>
            <a:ext cx="1938337" cy="1141412"/>
          </a:xfrm>
          <a:prstGeom prst="straightConnector1">
            <a:avLst/>
          </a:prstGeom>
          <a:noFill/>
          <a:ln cap="flat" cmpd="sng" w="31750">
            <a:solidFill>
              <a:schemeClr val="accent2"/>
            </a:solidFill>
            <a:prstDash val="solid"/>
            <a:round/>
            <a:headEnd len="med" w="med" type="oval"/>
            <a:tailEnd len="med" w="med" type="oval"/>
          </a:ln>
        </p:spPr>
      </p:cxnSp>
      <p:pic>
        <p:nvPicPr>
          <p:cNvPr id="507" name="Google Shape;50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76800" y="2439988"/>
            <a:ext cx="2967038" cy="95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92675" y="3389313"/>
            <a:ext cx="2935288" cy="95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76800" y="4337050"/>
            <a:ext cx="2967038" cy="95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76800" y="5284788"/>
            <a:ext cx="2998788" cy="958850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12"/>
          <p:cNvSpPr txBox="1"/>
          <p:nvPr/>
        </p:nvSpPr>
        <p:spPr>
          <a:xfrm>
            <a:off x="1082675" y="5824538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E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12"/>
          <p:cNvSpPr txBox="1"/>
          <p:nvPr/>
        </p:nvSpPr>
        <p:spPr>
          <a:xfrm>
            <a:off x="1463675" y="5824538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E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12"/>
          <p:cNvSpPr txBox="1"/>
          <p:nvPr/>
        </p:nvSpPr>
        <p:spPr>
          <a:xfrm>
            <a:off x="1846263" y="5824538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E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12"/>
          <p:cNvSpPr txBox="1"/>
          <p:nvPr/>
        </p:nvSpPr>
        <p:spPr>
          <a:xfrm>
            <a:off x="2228850" y="5824538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E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12"/>
          <p:cNvSpPr txBox="1"/>
          <p:nvPr/>
        </p:nvSpPr>
        <p:spPr>
          <a:xfrm>
            <a:off x="2611438" y="5824538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E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12"/>
          <p:cNvSpPr txBox="1"/>
          <p:nvPr/>
        </p:nvSpPr>
        <p:spPr>
          <a:xfrm>
            <a:off x="2994025" y="5824538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E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12"/>
          <p:cNvSpPr txBox="1"/>
          <p:nvPr/>
        </p:nvSpPr>
        <p:spPr>
          <a:xfrm>
            <a:off x="3376613" y="5824538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E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12"/>
          <p:cNvSpPr txBox="1"/>
          <p:nvPr/>
        </p:nvSpPr>
        <p:spPr>
          <a:xfrm>
            <a:off x="3759200" y="5824538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E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2"/>
          <p:cNvSpPr txBox="1"/>
          <p:nvPr/>
        </p:nvSpPr>
        <p:spPr>
          <a:xfrm>
            <a:off x="4141788" y="5824538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E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2"/>
          <p:cNvSpPr txBox="1"/>
          <p:nvPr/>
        </p:nvSpPr>
        <p:spPr>
          <a:xfrm>
            <a:off x="674688" y="5414963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E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12"/>
          <p:cNvSpPr txBox="1"/>
          <p:nvPr/>
        </p:nvSpPr>
        <p:spPr>
          <a:xfrm>
            <a:off x="674688" y="5026025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E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12"/>
          <p:cNvSpPr txBox="1"/>
          <p:nvPr/>
        </p:nvSpPr>
        <p:spPr>
          <a:xfrm>
            <a:off x="674688" y="4632325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E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12"/>
          <p:cNvSpPr txBox="1"/>
          <p:nvPr/>
        </p:nvSpPr>
        <p:spPr>
          <a:xfrm>
            <a:off x="674688" y="427355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E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2"/>
          <p:cNvSpPr txBox="1"/>
          <p:nvPr/>
        </p:nvSpPr>
        <p:spPr>
          <a:xfrm>
            <a:off x="674688" y="3875088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E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12"/>
          <p:cNvSpPr txBox="1"/>
          <p:nvPr/>
        </p:nvSpPr>
        <p:spPr>
          <a:xfrm>
            <a:off x="674688" y="349250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E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12"/>
          <p:cNvSpPr txBox="1"/>
          <p:nvPr/>
        </p:nvSpPr>
        <p:spPr>
          <a:xfrm>
            <a:off x="674688" y="311785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E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12"/>
          <p:cNvSpPr txBox="1"/>
          <p:nvPr/>
        </p:nvSpPr>
        <p:spPr>
          <a:xfrm>
            <a:off x="674688" y="271145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E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12"/>
          <p:cNvSpPr/>
          <p:nvPr/>
        </p:nvSpPr>
        <p:spPr>
          <a:xfrm>
            <a:off x="2322513" y="4506913"/>
            <a:ext cx="155575" cy="161925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29" name="Google Shape;529;p12"/>
          <p:cNvGraphicFramePr/>
          <p:nvPr/>
        </p:nvGraphicFramePr>
        <p:xfrm>
          <a:off x="7926388" y="16652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{129D0584-478C-42B4-80EA-1FC0C94138CF}</a:tableStyleId>
              </a:tblPr>
              <a:tblGrid>
                <a:gridCol w="1108075"/>
              </a:tblGrid>
              <a:tr h="877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 u="none" cap="none" strike="noStrike"/>
                        <a:t>Pixel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877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 u="none" cap="none" strike="noStrike"/>
                        <a:t>(3, 3)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877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 u="none" cap="none" strike="noStrike"/>
                        <a:t>(4,3)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877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 u="none" cap="none" strike="noStrike"/>
                        <a:t>(5,4)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877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 u="none" cap="none" strike="noStrike"/>
                        <a:t>(6,4)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530" name="Google Shape;530;p12"/>
          <p:cNvSpPr/>
          <p:nvPr/>
        </p:nvSpPr>
        <p:spPr>
          <a:xfrm>
            <a:off x="2678113" y="4310063"/>
            <a:ext cx="155575" cy="161925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12"/>
          <p:cNvSpPr/>
          <p:nvPr/>
        </p:nvSpPr>
        <p:spPr>
          <a:xfrm>
            <a:off x="3078163" y="4056063"/>
            <a:ext cx="155575" cy="161925"/>
          </a:xfrm>
          <a:prstGeom prst="ellipse">
            <a:avLst/>
          </a:prstGeom>
          <a:solidFill>
            <a:srgbClr val="FFFF00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13"/>
          <p:cNvSpPr txBox="1"/>
          <p:nvPr>
            <p:ph type="title"/>
          </p:nvPr>
        </p:nvSpPr>
        <p:spPr>
          <a:xfrm>
            <a:off x="638175" y="0"/>
            <a:ext cx="8505825" cy="1231900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A Very Simple Solution (cont…)</a:t>
            </a:r>
            <a:endParaRPr/>
          </a:p>
        </p:txBody>
      </p:sp>
      <p:sp>
        <p:nvSpPr>
          <p:cNvPr id="537" name="Google Shape;537;p13"/>
          <p:cNvSpPr txBox="1"/>
          <p:nvPr>
            <p:ph idx="1" type="body"/>
          </p:nvPr>
        </p:nvSpPr>
        <p:spPr>
          <a:xfrm>
            <a:off x="457200" y="1333500"/>
            <a:ext cx="8229600" cy="55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However, this approach is just way too slow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IE"/>
              <a:t>In particular look out for:</a:t>
            </a:r>
            <a:endParaRPr/>
          </a:p>
          <a:p>
            <a:pPr indent="-285750" lvl="1" marL="827088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IE"/>
              <a:t>The equation </a:t>
            </a:r>
            <a:r>
              <a:rPr i="1" lang="en-IE" sz="3200">
                <a:latin typeface="Times New Roman"/>
                <a:ea typeface="Times New Roman"/>
                <a:cs typeface="Times New Roman"/>
                <a:sym typeface="Times New Roman"/>
              </a:rPr>
              <a:t>y = mx + b</a:t>
            </a:r>
            <a:r>
              <a:rPr lang="en-IE"/>
              <a:t> requires the multiplication of </a:t>
            </a:r>
            <a:r>
              <a:rPr i="1" lang="en-IE" sz="3200"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-IE"/>
              <a:t> by </a:t>
            </a:r>
            <a:r>
              <a:rPr i="1" lang="en-IE" sz="3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  <a:p>
            <a:pPr indent="-285750" lvl="1" marL="827088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IE"/>
              <a:t>Rounding off the resulting </a:t>
            </a:r>
            <a:r>
              <a:rPr i="1" lang="en-IE" sz="3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IE"/>
              <a:t> coordinates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IE"/>
              <a:t>We need a faster solution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4"/>
          <p:cNvSpPr/>
          <p:nvPr/>
        </p:nvSpPr>
        <p:spPr>
          <a:xfrm>
            <a:off x="5502275" y="1233488"/>
            <a:ext cx="3641725" cy="5624512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14"/>
          <p:cNvSpPr txBox="1"/>
          <p:nvPr>
            <p:ph type="title"/>
          </p:nvPr>
        </p:nvSpPr>
        <p:spPr>
          <a:xfrm>
            <a:off x="638175" y="0"/>
            <a:ext cx="8505825" cy="1231900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The DDA Algorithm</a:t>
            </a:r>
            <a:endParaRPr/>
          </a:p>
        </p:txBody>
      </p:sp>
      <p:sp>
        <p:nvSpPr>
          <p:cNvPr id="544" name="Google Shape;544;p14"/>
          <p:cNvSpPr txBox="1"/>
          <p:nvPr>
            <p:ph idx="1" type="body"/>
          </p:nvPr>
        </p:nvSpPr>
        <p:spPr>
          <a:xfrm>
            <a:off x="457200" y="1333500"/>
            <a:ext cx="4921250" cy="55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The </a:t>
            </a:r>
            <a:r>
              <a:rPr i="1" lang="en-IE"/>
              <a:t>digital differential analyzer</a:t>
            </a:r>
            <a:r>
              <a:rPr lang="en-IE"/>
              <a:t> (DDA) algorithm takes an incremental approach in order to speed up scan conversion</a:t>
            </a:r>
            <a:endParaRPr/>
          </a:p>
          <a:p>
            <a:pPr indent="0" lvl="0" marL="0" rtl="0" algn="l">
              <a:spcBef>
                <a:spcPts val="720"/>
              </a:spcBef>
              <a:spcAft>
                <a:spcPts val="0"/>
              </a:spcAft>
              <a:buNone/>
            </a:pPr>
            <a:r>
              <a:rPr lang="en-IE"/>
              <a:t>Simply calculate </a:t>
            </a:r>
            <a:r>
              <a:rPr i="1" lang="en-IE" sz="36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aseline="-25000" i="1" lang="en-IE" sz="3600">
                <a:latin typeface="Times New Roman"/>
                <a:ea typeface="Times New Roman"/>
                <a:cs typeface="Times New Roman"/>
                <a:sym typeface="Times New Roman"/>
              </a:rPr>
              <a:t>k+1</a:t>
            </a:r>
            <a:r>
              <a:rPr lang="en-IE"/>
              <a:t> based on </a:t>
            </a:r>
            <a:r>
              <a:rPr i="1" lang="en-IE" sz="36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aseline="-25000" i="1" lang="en-IE" sz="3600"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endParaRPr i="1"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45" name="Google Shape;545;p14"/>
          <p:cNvPicPr preferRelativeResize="0"/>
          <p:nvPr/>
        </p:nvPicPr>
        <p:blipFill rotWithShape="1">
          <a:blip r:embed="rId3">
            <a:alphaModFix/>
          </a:blip>
          <a:srcRect b="20028" l="8097" r="18456" t="6345"/>
          <a:stretch/>
        </p:blipFill>
        <p:spPr>
          <a:xfrm>
            <a:off x="5610225" y="1309688"/>
            <a:ext cx="3455988" cy="2468562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14"/>
          <p:cNvSpPr txBox="1"/>
          <p:nvPr/>
        </p:nvSpPr>
        <p:spPr>
          <a:xfrm>
            <a:off x="5548313" y="3860800"/>
            <a:ext cx="3595687" cy="2378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E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original differential analyzer was a physical machine developed by Vannevar Bush at MIT in the 1930’s in order to solve ordinary differential equations.</a:t>
            </a:r>
            <a:endParaRPr/>
          </a:p>
          <a:p>
            <a:pPr indent="0" lvl="0" marL="0" marR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IE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More information </a:t>
            </a:r>
            <a:r>
              <a:rPr b="0" i="0" lang="en-IE" sz="20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here</a:t>
            </a:r>
            <a:r>
              <a:rPr b="0" i="0" lang="en-IE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15"/>
          <p:cNvSpPr txBox="1"/>
          <p:nvPr>
            <p:ph type="title"/>
          </p:nvPr>
        </p:nvSpPr>
        <p:spPr>
          <a:xfrm>
            <a:off x="638175" y="0"/>
            <a:ext cx="8505825" cy="1231900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The DDA Algorithm (cont…)</a:t>
            </a:r>
            <a:endParaRPr/>
          </a:p>
        </p:txBody>
      </p:sp>
      <p:sp>
        <p:nvSpPr>
          <p:cNvPr id="552" name="Google Shape;552;p15"/>
          <p:cNvSpPr txBox="1"/>
          <p:nvPr>
            <p:ph idx="1" type="body"/>
          </p:nvPr>
        </p:nvSpPr>
        <p:spPr>
          <a:xfrm>
            <a:off x="457200" y="1333500"/>
            <a:ext cx="8275638" cy="55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Consider the list of points that we determined for the line in our previous example: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IE"/>
              <a:t>	</a:t>
            </a:r>
            <a:r>
              <a:rPr lang="en-IE" sz="2800"/>
              <a:t>(2, 2), (3, 2</a:t>
            </a:r>
            <a:r>
              <a:rPr baseline="30000" lang="en-IE" sz="2800"/>
              <a:t>3</a:t>
            </a:r>
            <a:r>
              <a:rPr lang="en-IE" sz="2800"/>
              <a:t>/</a:t>
            </a:r>
            <a:r>
              <a:rPr baseline="-25000" lang="en-IE" sz="2800"/>
              <a:t>5</a:t>
            </a:r>
            <a:r>
              <a:rPr lang="en-IE" sz="2800"/>
              <a:t>), (4, 3</a:t>
            </a:r>
            <a:r>
              <a:rPr baseline="30000" lang="en-IE" sz="2800"/>
              <a:t>1</a:t>
            </a:r>
            <a:r>
              <a:rPr lang="en-IE" sz="2800"/>
              <a:t>/</a:t>
            </a:r>
            <a:r>
              <a:rPr baseline="-25000" lang="en-IE" sz="2800"/>
              <a:t>5</a:t>
            </a:r>
            <a:r>
              <a:rPr lang="en-IE" sz="2800"/>
              <a:t>), (5, 3</a:t>
            </a:r>
            <a:r>
              <a:rPr baseline="30000" lang="en-IE" sz="2800"/>
              <a:t>4</a:t>
            </a:r>
            <a:r>
              <a:rPr lang="en-IE" sz="2800"/>
              <a:t>/</a:t>
            </a:r>
            <a:r>
              <a:rPr baseline="-25000" lang="en-IE" sz="2800"/>
              <a:t>5</a:t>
            </a:r>
            <a:r>
              <a:rPr lang="en-IE" sz="2800"/>
              <a:t>), (6, 4</a:t>
            </a:r>
            <a:r>
              <a:rPr baseline="30000" lang="en-IE" sz="2800"/>
              <a:t>2</a:t>
            </a:r>
            <a:r>
              <a:rPr lang="en-IE" sz="2800"/>
              <a:t>/</a:t>
            </a:r>
            <a:r>
              <a:rPr baseline="-25000" lang="en-IE" sz="2800"/>
              <a:t>5</a:t>
            </a:r>
            <a:r>
              <a:rPr lang="en-IE" sz="2800"/>
              <a:t>), (7, 5)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IE"/>
              <a:t>Notice that as the </a:t>
            </a:r>
            <a:r>
              <a:rPr i="1" lang="en-IE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IE"/>
              <a:t> coordinates go up by one, the </a:t>
            </a:r>
            <a:r>
              <a:rPr i="1" lang="en-IE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IE"/>
              <a:t> coordinates simply go up by the slope of the line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IE"/>
              <a:t>This is the key insight in the DDA algorithm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16"/>
          <p:cNvSpPr txBox="1"/>
          <p:nvPr>
            <p:ph type="title"/>
          </p:nvPr>
        </p:nvSpPr>
        <p:spPr>
          <a:xfrm>
            <a:off x="638175" y="0"/>
            <a:ext cx="8505825" cy="1231900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The DDA Algorithm (cont…)</a:t>
            </a:r>
            <a:endParaRPr/>
          </a:p>
        </p:txBody>
      </p:sp>
      <p:sp>
        <p:nvSpPr>
          <p:cNvPr id="558" name="Google Shape;558;p16"/>
          <p:cNvSpPr txBox="1"/>
          <p:nvPr>
            <p:ph idx="1" type="body"/>
          </p:nvPr>
        </p:nvSpPr>
        <p:spPr>
          <a:xfrm>
            <a:off x="457200" y="1333500"/>
            <a:ext cx="8686800" cy="55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When the slope of the line is between -1 and 1 begin at the first point in the line and, by incrementing the </a:t>
            </a:r>
            <a:r>
              <a:rPr i="1" lang="en-IE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IE"/>
              <a:t> coordinate by 1, calculate the corresponding </a:t>
            </a:r>
            <a:r>
              <a:rPr i="1" lang="en-IE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IE"/>
              <a:t> coordinates as follows: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40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IE"/>
              <a:t>When the slope is outside these limits, increment the </a:t>
            </a:r>
            <a:r>
              <a:rPr i="1" lang="en-IE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IE"/>
              <a:t> coordinate by 1 and calculate the corresponding </a:t>
            </a:r>
            <a:r>
              <a:rPr i="1" lang="en-IE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IE"/>
              <a:t> coordinates as follows:</a:t>
            </a:r>
            <a:endParaRPr/>
          </a:p>
        </p:txBody>
      </p:sp>
      <p:pic>
        <p:nvPicPr>
          <p:cNvPr id="559" name="Google Shape;55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90875" y="3354388"/>
            <a:ext cx="2760663" cy="75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94050" y="5578475"/>
            <a:ext cx="2760663" cy="129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17"/>
          <p:cNvSpPr txBox="1"/>
          <p:nvPr>
            <p:ph type="title"/>
          </p:nvPr>
        </p:nvSpPr>
        <p:spPr>
          <a:xfrm>
            <a:off x="638175" y="0"/>
            <a:ext cx="8505825" cy="1231900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DDA Algorithm Example</a:t>
            </a:r>
            <a:endParaRPr/>
          </a:p>
        </p:txBody>
      </p:sp>
      <p:sp>
        <p:nvSpPr>
          <p:cNvPr id="566" name="Google Shape;566;p17"/>
          <p:cNvSpPr txBox="1"/>
          <p:nvPr>
            <p:ph idx="1" type="body"/>
          </p:nvPr>
        </p:nvSpPr>
        <p:spPr>
          <a:xfrm>
            <a:off x="457200" y="1333500"/>
            <a:ext cx="8229600" cy="55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Let’s try out the following examples:</a:t>
            </a:r>
            <a:endParaRPr/>
          </a:p>
        </p:txBody>
      </p:sp>
      <p:grpSp>
        <p:nvGrpSpPr>
          <p:cNvPr id="567" name="Google Shape;567;p17"/>
          <p:cNvGrpSpPr/>
          <p:nvPr/>
        </p:nvGrpSpPr>
        <p:grpSpPr>
          <a:xfrm>
            <a:off x="673100" y="2130425"/>
            <a:ext cx="3852863" cy="3914775"/>
            <a:chOff x="424" y="1342"/>
            <a:chExt cx="2427" cy="2466"/>
          </a:xfrm>
        </p:grpSpPr>
        <p:cxnSp>
          <p:nvCxnSpPr>
            <p:cNvPr id="568" name="Google Shape;568;p17"/>
            <p:cNvCxnSpPr/>
            <p:nvPr/>
          </p:nvCxnSpPr>
          <p:spPr>
            <a:xfrm rot="10800000">
              <a:off x="709" y="1472"/>
              <a:ext cx="0" cy="214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569" name="Google Shape;569;p17"/>
            <p:cNvCxnSpPr/>
            <p:nvPr/>
          </p:nvCxnSpPr>
          <p:spPr>
            <a:xfrm rot="10800000">
              <a:off x="1652" y="2522"/>
              <a:ext cx="0" cy="2026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70" name="Google Shape;570;p17"/>
            <p:cNvSpPr txBox="1"/>
            <p:nvPr/>
          </p:nvSpPr>
          <p:spPr>
            <a:xfrm>
              <a:off x="2572" y="3504"/>
              <a:ext cx="18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IE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b="0" i="1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1" name="Google Shape;571;p17"/>
            <p:cNvSpPr txBox="1"/>
            <p:nvPr/>
          </p:nvSpPr>
          <p:spPr>
            <a:xfrm>
              <a:off x="509" y="1342"/>
              <a:ext cx="18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IE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endParaRPr b="0" i="1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572" name="Google Shape;572;p17"/>
            <p:cNvCxnSpPr/>
            <p:nvPr/>
          </p:nvCxnSpPr>
          <p:spPr>
            <a:xfrm>
              <a:off x="581" y="3066"/>
              <a:ext cx="2025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573" name="Google Shape;573;p17"/>
            <p:cNvCxnSpPr/>
            <p:nvPr/>
          </p:nvCxnSpPr>
          <p:spPr>
            <a:xfrm>
              <a:off x="581" y="2288"/>
              <a:ext cx="1977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574" name="Google Shape;574;p17"/>
            <p:cNvCxnSpPr/>
            <p:nvPr/>
          </p:nvCxnSpPr>
          <p:spPr>
            <a:xfrm rot="5400000">
              <a:off x="132" y="2542"/>
              <a:ext cx="214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575" name="Google Shape;575;p17"/>
            <p:cNvCxnSpPr/>
            <p:nvPr/>
          </p:nvCxnSpPr>
          <p:spPr>
            <a:xfrm rot="5400000">
              <a:off x="1322" y="2552"/>
              <a:ext cx="216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576" name="Google Shape;576;p17"/>
            <p:cNvCxnSpPr/>
            <p:nvPr/>
          </p:nvCxnSpPr>
          <p:spPr>
            <a:xfrm flipH="1" rot="10800000">
              <a:off x="1197" y="2290"/>
              <a:ext cx="1201" cy="787"/>
            </a:xfrm>
            <a:prstGeom prst="straightConnector1">
              <a:avLst/>
            </a:prstGeom>
            <a:noFill/>
            <a:ln cap="flat" cmpd="sng" w="31750">
              <a:solidFill>
                <a:schemeClr val="accent2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577" name="Google Shape;577;p17"/>
            <p:cNvSpPr txBox="1"/>
            <p:nvPr/>
          </p:nvSpPr>
          <p:spPr>
            <a:xfrm>
              <a:off x="804" y="3058"/>
              <a:ext cx="45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E" sz="18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(2, 2)</a:t>
              </a:r>
              <a:endParaRPr b="1" i="0" sz="18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17"/>
            <p:cNvSpPr txBox="1"/>
            <p:nvPr/>
          </p:nvSpPr>
          <p:spPr>
            <a:xfrm>
              <a:off x="2399" y="2047"/>
              <a:ext cx="45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E" sz="18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(7, 5)</a:t>
              </a:r>
              <a:endParaRPr b="1" i="0" sz="18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17"/>
            <p:cNvSpPr txBox="1"/>
            <p:nvPr/>
          </p:nvSpPr>
          <p:spPr>
            <a:xfrm>
              <a:off x="1112" y="357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E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17"/>
            <p:cNvSpPr txBox="1"/>
            <p:nvPr/>
          </p:nvSpPr>
          <p:spPr>
            <a:xfrm>
              <a:off x="2309" y="357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E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17"/>
            <p:cNvSpPr txBox="1"/>
            <p:nvPr/>
          </p:nvSpPr>
          <p:spPr>
            <a:xfrm>
              <a:off x="424" y="2954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E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17"/>
            <p:cNvSpPr txBox="1"/>
            <p:nvPr/>
          </p:nvSpPr>
          <p:spPr>
            <a:xfrm>
              <a:off x="433" y="2173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E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583" name="Google Shape;583;p17"/>
          <p:cNvGraphicFramePr/>
          <p:nvPr/>
        </p:nvGraphicFramePr>
        <p:xfrm>
          <a:off x="4702175" y="24590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{129D0584-478C-42B4-80EA-1FC0C94138CF}</a:tableStyleId>
              </a:tblPr>
              <a:tblGrid>
                <a:gridCol w="1083875"/>
                <a:gridCol w="1083875"/>
                <a:gridCol w="1083875"/>
                <a:gridCol w="1083875"/>
              </a:tblGrid>
              <a:tr h="694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 u="none" cap="none" strike="noStrike"/>
                        <a:t>x(+1)</a:t>
                      </a:r>
                      <a:endParaRPr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y(+m)</a:t>
                      </a:r>
                      <a:endParaRPr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y(roundoff)</a:t>
                      </a:r>
                      <a:endParaRPr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pixel</a:t>
                      </a:r>
                      <a:endParaRPr/>
                    </a:p>
                  </a:txBody>
                  <a:tcPr marT="72750" marB="72750" marR="145550" marL="145550"/>
                </a:tc>
              </a:tr>
              <a:tr h="590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2</a:t>
                      </a:r>
                      <a:endParaRPr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2</a:t>
                      </a:r>
                      <a:endParaRPr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72750" marB="72750" marR="145550" marL="145550"/>
                </a:tc>
              </a:tr>
              <a:tr h="590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3</a:t>
                      </a:r>
                      <a:endParaRPr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2.6</a:t>
                      </a:r>
                      <a:endParaRPr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3</a:t>
                      </a:r>
                      <a:endParaRPr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(3, 3)</a:t>
                      </a:r>
                      <a:endParaRPr/>
                    </a:p>
                  </a:txBody>
                  <a:tcPr marT="72750" marB="72750" marR="145550" marL="145550"/>
                </a:tc>
              </a:tr>
              <a:tr h="590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4</a:t>
                      </a:r>
                      <a:endParaRPr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3.2</a:t>
                      </a:r>
                      <a:endParaRPr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3</a:t>
                      </a:r>
                      <a:endParaRPr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(4, 3)</a:t>
                      </a:r>
                      <a:endParaRPr/>
                    </a:p>
                  </a:txBody>
                  <a:tcPr marT="72750" marB="72750" marR="145550" marL="145550"/>
                </a:tc>
              </a:tr>
              <a:tr h="590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5</a:t>
                      </a:r>
                      <a:endParaRPr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3.8</a:t>
                      </a:r>
                      <a:endParaRPr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4</a:t>
                      </a:r>
                      <a:endParaRPr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(5, 4)</a:t>
                      </a:r>
                      <a:endParaRPr/>
                    </a:p>
                  </a:txBody>
                  <a:tcPr marT="72750" marB="72750" marR="145550" marL="145550"/>
                </a:tc>
              </a:tr>
              <a:tr h="590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6</a:t>
                      </a:r>
                      <a:endParaRPr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4.4</a:t>
                      </a:r>
                      <a:endParaRPr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4</a:t>
                      </a:r>
                      <a:endParaRPr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(6, 4)</a:t>
                      </a:r>
                      <a:endParaRPr/>
                    </a:p>
                  </a:txBody>
                  <a:tcPr marT="72750" marB="72750" marR="145550" marL="145550"/>
                </a:tc>
              </a:tr>
            </a:tbl>
          </a:graphicData>
        </a:graphic>
      </p:graphicFrame>
      <p:pic>
        <p:nvPicPr>
          <p:cNvPr id="584" name="Google Shape;58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3950" y="5842000"/>
            <a:ext cx="2838450" cy="925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9" name="Google Shape;589;p18"/>
          <p:cNvCxnSpPr/>
          <p:nvPr/>
        </p:nvCxnSpPr>
        <p:spPr>
          <a:xfrm>
            <a:off x="4578351" y="879475"/>
            <a:ext cx="0" cy="679132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0" name="Google Shape;590;p18"/>
          <p:cNvCxnSpPr/>
          <p:nvPr/>
        </p:nvCxnSpPr>
        <p:spPr>
          <a:xfrm>
            <a:off x="4578351" y="1674812"/>
            <a:ext cx="0" cy="679132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1" name="Google Shape;591;p18"/>
          <p:cNvCxnSpPr/>
          <p:nvPr/>
        </p:nvCxnSpPr>
        <p:spPr>
          <a:xfrm>
            <a:off x="4578351" y="2466975"/>
            <a:ext cx="0" cy="679132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2" name="Google Shape;592;p18"/>
          <p:cNvCxnSpPr/>
          <p:nvPr/>
        </p:nvCxnSpPr>
        <p:spPr>
          <a:xfrm>
            <a:off x="4578351" y="82550"/>
            <a:ext cx="0" cy="679132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3" name="Google Shape;593;p18"/>
          <p:cNvCxnSpPr/>
          <p:nvPr/>
        </p:nvCxnSpPr>
        <p:spPr>
          <a:xfrm>
            <a:off x="1687513" y="1408113"/>
            <a:ext cx="0" cy="498316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4" name="Google Shape;594;p18"/>
          <p:cNvCxnSpPr/>
          <p:nvPr/>
        </p:nvCxnSpPr>
        <p:spPr>
          <a:xfrm>
            <a:off x="2482850" y="1411288"/>
            <a:ext cx="0" cy="497998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5" name="Google Shape;595;p18"/>
          <p:cNvCxnSpPr/>
          <p:nvPr/>
        </p:nvCxnSpPr>
        <p:spPr>
          <a:xfrm>
            <a:off x="3278188" y="1408113"/>
            <a:ext cx="0" cy="498316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6" name="Google Shape;596;p18"/>
          <p:cNvCxnSpPr/>
          <p:nvPr/>
        </p:nvCxnSpPr>
        <p:spPr>
          <a:xfrm>
            <a:off x="4070350" y="1408113"/>
            <a:ext cx="0" cy="498316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7" name="Google Shape;597;p18"/>
          <p:cNvCxnSpPr/>
          <p:nvPr/>
        </p:nvCxnSpPr>
        <p:spPr>
          <a:xfrm>
            <a:off x="4895850" y="1408113"/>
            <a:ext cx="0" cy="498316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8" name="Google Shape;598;p18"/>
          <p:cNvCxnSpPr/>
          <p:nvPr/>
        </p:nvCxnSpPr>
        <p:spPr>
          <a:xfrm>
            <a:off x="5691188" y="1411288"/>
            <a:ext cx="0" cy="497998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9" name="Google Shape;599;p18"/>
          <p:cNvCxnSpPr/>
          <p:nvPr/>
        </p:nvCxnSpPr>
        <p:spPr>
          <a:xfrm>
            <a:off x="6486525" y="1408113"/>
            <a:ext cx="0" cy="498316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0" name="Google Shape;600;p18"/>
          <p:cNvCxnSpPr/>
          <p:nvPr/>
        </p:nvCxnSpPr>
        <p:spPr>
          <a:xfrm>
            <a:off x="7278688" y="1408113"/>
            <a:ext cx="0" cy="498316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1" name="Google Shape;601;p18"/>
          <p:cNvSpPr txBox="1"/>
          <p:nvPr>
            <p:ph type="title"/>
          </p:nvPr>
        </p:nvSpPr>
        <p:spPr>
          <a:xfrm>
            <a:off x="638175" y="0"/>
            <a:ext cx="8505825" cy="1231900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DDA Algorithm Example (cont…)</a:t>
            </a:r>
            <a:endParaRPr/>
          </a:p>
        </p:txBody>
      </p:sp>
      <p:sp>
        <p:nvSpPr>
          <p:cNvPr id="602" name="Google Shape;602;p18"/>
          <p:cNvSpPr/>
          <p:nvPr/>
        </p:nvSpPr>
        <p:spPr>
          <a:xfrm>
            <a:off x="1552575" y="4154488"/>
            <a:ext cx="258763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18"/>
          <p:cNvSpPr/>
          <p:nvPr/>
        </p:nvSpPr>
        <p:spPr>
          <a:xfrm>
            <a:off x="3948113" y="4154488"/>
            <a:ext cx="258762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18"/>
          <p:cNvSpPr/>
          <p:nvPr/>
        </p:nvSpPr>
        <p:spPr>
          <a:xfrm>
            <a:off x="2351088" y="4154488"/>
            <a:ext cx="258762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18"/>
          <p:cNvSpPr/>
          <p:nvPr/>
        </p:nvSpPr>
        <p:spPr>
          <a:xfrm>
            <a:off x="3149600" y="4154488"/>
            <a:ext cx="258763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18"/>
          <p:cNvSpPr/>
          <p:nvPr/>
        </p:nvSpPr>
        <p:spPr>
          <a:xfrm>
            <a:off x="1555750" y="4935538"/>
            <a:ext cx="258763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18"/>
          <p:cNvSpPr/>
          <p:nvPr/>
        </p:nvSpPr>
        <p:spPr>
          <a:xfrm>
            <a:off x="3951288" y="4935538"/>
            <a:ext cx="258762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18"/>
          <p:cNvSpPr/>
          <p:nvPr/>
        </p:nvSpPr>
        <p:spPr>
          <a:xfrm>
            <a:off x="2354263" y="4935538"/>
            <a:ext cx="258762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18"/>
          <p:cNvSpPr/>
          <p:nvPr/>
        </p:nvSpPr>
        <p:spPr>
          <a:xfrm>
            <a:off x="3152775" y="4935538"/>
            <a:ext cx="258763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18"/>
          <p:cNvSpPr/>
          <p:nvPr/>
        </p:nvSpPr>
        <p:spPr>
          <a:xfrm>
            <a:off x="1554163" y="5743575"/>
            <a:ext cx="258762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18"/>
          <p:cNvSpPr/>
          <p:nvPr/>
        </p:nvSpPr>
        <p:spPr>
          <a:xfrm>
            <a:off x="3949700" y="5743575"/>
            <a:ext cx="258763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18"/>
          <p:cNvSpPr/>
          <p:nvPr/>
        </p:nvSpPr>
        <p:spPr>
          <a:xfrm>
            <a:off x="2352675" y="5743575"/>
            <a:ext cx="258763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18"/>
          <p:cNvSpPr/>
          <p:nvPr/>
        </p:nvSpPr>
        <p:spPr>
          <a:xfrm>
            <a:off x="3151188" y="5743575"/>
            <a:ext cx="258762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18"/>
          <p:cNvSpPr/>
          <p:nvPr/>
        </p:nvSpPr>
        <p:spPr>
          <a:xfrm>
            <a:off x="1560513" y="3357563"/>
            <a:ext cx="258762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18"/>
          <p:cNvSpPr/>
          <p:nvPr/>
        </p:nvSpPr>
        <p:spPr>
          <a:xfrm>
            <a:off x="3956050" y="3357563"/>
            <a:ext cx="258763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18"/>
          <p:cNvSpPr/>
          <p:nvPr/>
        </p:nvSpPr>
        <p:spPr>
          <a:xfrm>
            <a:off x="2359025" y="3357563"/>
            <a:ext cx="258763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18"/>
          <p:cNvSpPr/>
          <p:nvPr/>
        </p:nvSpPr>
        <p:spPr>
          <a:xfrm>
            <a:off x="3157538" y="3357563"/>
            <a:ext cx="258762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18"/>
          <p:cNvSpPr/>
          <p:nvPr/>
        </p:nvSpPr>
        <p:spPr>
          <a:xfrm>
            <a:off x="4760913" y="4156075"/>
            <a:ext cx="258762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18"/>
          <p:cNvSpPr/>
          <p:nvPr/>
        </p:nvSpPr>
        <p:spPr>
          <a:xfrm>
            <a:off x="7156450" y="4156075"/>
            <a:ext cx="258763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18"/>
          <p:cNvSpPr/>
          <p:nvPr/>
        </p:nvSpPr>
        <p:spPr>
          <a:xfrm>
            <a:off x="5559425" y="4156075"/>
            <a:ext cx="258763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18"/>
          <p:cNvSpPr/>
          <p:nvPr/>
        </p:nvSpPr>
        <p:spPr>
          <a:xfrm>
            <a:off x="6357938" y="4156075"/>
            <a:ext cx="258762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18"/>
          <p:cNvSpPr/>
          <p:nvPr/>
        </p:nvSpPr>
        <p:spPr>
          <a:xfrm>
            <a:off x="4764088" y="4937125"/>
            <a:ext cx="258762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18"/>
          <p:cNvSpPr/>
          <p:nvPr/>
        </p:nvSpPr>
        <p:spPr>
          <a:xfrm>
            <a:off x="7159625" y="4937125"/>
            <a:ext cx="258763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18"/>
          <p:cNvSpPr/>
          <p:nvPr/>
        </p:nvSpPr>
        <p:spPr>
          <a:xfrm>
            <a:off x="5562600" y="4937125"/>
            <a:ext cx="258763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18"/>
          <p:cNvSpPr/>
          <p:nvPr/>
        </p:nvSpPr>
        <p:spPr>
          <a:xfrm>
            <a:off x="6361113" y="4937125"/>
            <a:ext cx="258762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18"/>
          <p:cNvSpPr/>
          <p:nvPr/>
        </p:nvSpPr>
        <p:spPr>
          <a:xfrm>
            <a:off x="4762500" y="5745163"/>
            <a:ext cx="258763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18"/>
          <p:cNvSpPr/>
          <p:nvPr/>
        </p:nvSpPr>
        <p:spPr>
          <a:xfrm>
            <a:off x="7158038" y="5745163"/>
            <a:ext cx="258762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18"/>
          <p:cNvSpPr/>
          <p:nvPr/>
        </p:nvSpPr>
        <p:spPr>
          <a:xfrm>
            <a:off x="5561013" y="5745163"/>
            <a:ext cx="258762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18"/>
          <p:cNvSpPr/>
          <p:nvPr/>
        </p:nvSpPr>
        <p:spPr>
          <a:xfrm>
            <a:off x="6359525" y="5745163"/>
            <a:ext cx="258763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18"/>
          <p:cNvSpPr/>
          <p:nvPr/>
        </p:nvSpPr>
        <p:spPr>
          <a:xfrm>
            <a:off x="4768850" y="3359150"/>
            <a:ext cx="258763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18"/>
          <p:cNvSpPr/>
          <p:nvPr/>
        </p:nvSpPr>
        <p:spPr>
          <a:xfrm>
            <a:off x="7164388" y="3359150"/>
            <a:ext cx="258762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18"/>
          <p:cNvSpPr/>
          <p:nvPr/>
        </p:nvSpPr>
        <p:spPr>
          <a:xfrm>
            <a:off x="5567363" y="3359150"/>
            <a:ext cx="258762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18"/>
          <p:cNvSpPr/>
          <p:nvPr/>
        </p:nvSpPr>
        <p:spPr>
          <a:xfrm>
            <a:off x="6365875" y="3359150"/>
            <a:ext cx="258763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4" name="Google Shape;634;p18"/>
          <p:cNvCxnSpPr/>
          <p:nvPr/>
        </p:nvCxnSpPr>
        <p:spPr>
          <a:xfrm>
            <a:off x="4578351" y="-704850"/>
            <a:ext cx="0" cy="679132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5" name="Google Shape;635;p18"/>
          <p:cNvCxnSpPr/>
          <p:nvPr/>
        </p:nvCxnSpPr>
        <p:spPr>
          <a:xfrm>
            <a:off x="4578351" y="-1501775"/>
            <a:ext cx="0" cy="679132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6" name="Google Shape;636;p18"/>
          <p:cNvSpPr/>
          <p:nvPr/>
        </p:nvSpPr>
        <p:spPr>
          <a:xfrm>
            <a:off x="1550988" y="2570163"/>
            <a:ext cx="258762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18"/>
          <p:cNvSpPr/>
          <p:nvPr/>
        </p:nvSpPr>
        <p:spPr>
          <a:xfrm>
            <a:off x="3946525" y="2570163"/>
            <a:ext cx="258763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18"/>
          <p:cNvSpPr/>
          <p:nvPr/>
        </p:nvSpPr>
        <p:spPr>
          <a:xfrm>
            <a:off x="2349500" y="2570163"/>
            <a:ext cx="258763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18"/>
          <p:cNvSpPr/>
          <p:nvPr/>
        </p:nvSpPr>
        <p:spPr>
          <a:xfrm>
            <a:off x="3148013" y="2570163"/>
            <a:ext cx="258762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18"/>
          <p:cNvSpPr/>
          <p:nvPr/>
        </p:nvSpPr>
        <p:spPr>
          <a:xfrm>
            <a:off x="1558925" y="1773238"/>
            <a:ext cx="258763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18"/>
          <p:cNvSpPr/>
          <p:nvPr/>
        </p:nvSpPr>
        <p:spPr>
          <a:xfrm>
            <a:off x="3954463" y="1773238"/>
            <a:ext cx="258762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18"/>
          <p:cNvSpPr/>
          <p:nvPr/>
        </p:nvSpPr>
        <p:spPr>
          <a:xfrm>
            <a:off x="2357438" y="1773238"/>
            <a:ext cx="258762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18"/>
          <p:cNvSpPr/>
          <p:nvPr/>
        </p:nvSpPr>
        <p:spPr>
          <a:xfrm>
            <a:off x="3155950" y="1773238"/>
            <a:ext cx="258763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18"/>
          <p:cNvSpPr/>
          <p:nvPr/>
        </p:nvSpPr>
        <p:spPr>
          <a:xfrm>
            <a:off x="4759325" y="2571750"/>
            <a:ext cx="258763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18"/>
          <p:cNvSpPr/>
          <p:nvPr/>
        </p:nvSpPr>
        <p:spPr>
          <a:xfrm>
            <a:off x="7154863" y="2571750"/>
            <a:ext cx="258762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18"/>
          <p:cNvSpPr/>
          <p:nvPr/>
        </p:nvSpPr>
        <p:spPr>
          <a:xfrm>
            <a:off x="5557838" y="2571750"/>
            <a:ext cx="258762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18"/>
          <p:cNvSpPr/>
          <p:nvPr/>
        </p:nvSpPr>
        <p:spPr>
          <a:xfrm>
            <a:off x="6356350" y="2571750"/>
            <a:ext cx="258763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18"/>
          <p:cNvSpPr/>
          <p:nvPr/>
        </p:nvSpPr>
        <p:spPr>
          <a:xfrm>
            <a:off x="4767263" y="1774825"/>
            <a:ext cx="258762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18"/>
          <p:cNvSpPr/>
          <p:nvPr/>
        </p:nvSpPr>
        <p:spPr>
          <a:xfrm>
            <a:off x="7162800" y="1774825"/>
            <a:ext cx="258763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18"/>
          <p:cNvSpPr/>
          <p:nvPr/>
        </p:nvSpPr>
        <p:spPr>
          <a:xfrm>
            <a:off x="5565775" y="1774825"/>
            <a:ext cx="258763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18"/>
          <p:cNvSpPr/>
          <p:nvPr/>
        </p:nvSpPr>
        <p:spPr>
          <a:xfrm>
            <a:off x="6364288" y="1774825"/>
            <a:ext cx="258762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18"/>
          <p:cNvSpPr txBox="1"/>
          <p:nvPr/>
        </p:nvSpPr>
        <p:spPr>
          <a:xfrm>
            <a:off x="911225" y="1697038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18"/>
          <p:cNvSpPr txBox="1"/>
          <p:nvPr/>
        </p:nvSpPr>
        <p:spPr>
          <a:xfrm>
            <a:off x="911225" y="566420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18"/>
          <p:cNvSpPr txBox="1"/>
          <p:nvPr/>
        </p:nvSpPr>
        <p:spPr>
          <a:xfrm>
            <a:off x="911225" y="4867275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18"/>
          <p:cNvSpPr txBox="1"/>
          <p:nvPr/>
        </p:nvSpPr>
        <p:spPr>
          <a:xfrm>
            <a:off x="911225" y="407035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18"/>
          <p:cNvSpPr txBox="1"/>
          <p:nvPr/>
        </p:nvSpPr>
        <p:spPr>
          <a:xfrm>
            <a:off x="911225" y="3287713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18"/>
          <p:cNvSpPr txBox="1"/>
          <p:nvPr/>
        </p:nvSpPr>
        <p:spPr>
          <a:xfrm>
            <a:off x="911225" y="2486025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18"/>
          <p:cNvSpPr txBox="1"/>
          <p:nvPr/>
        </p:nvSpPr>
        <p:spPr>
          <a:xfrm>
            <a:off x="2328863" y="634365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18"/>
          <p:cNvSpPr txBox="1"/>
          <p:nvPr/>
        </p:nvSpPr>
        <p:spPr>
          <a:xfrm>
            <a:off x="3122613" y="634365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18"/>
          <p:cNvSpPr txBox="1"/>
          <p:nvPr/>
        </p:nvSpPr>
        <p:spPr>
          <a:xfrm>
            <a:off x="3905250" y="634365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18"/>
          <p:cNvSpPr txBox="1"/>
          <p:nvPr/>
        </p:nvSpPr>
        <p:spPr>
          <a:xfrm>
            <a:off x="4738688" y="634365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18"/>
          <p:cNvSpPr txBox="1"/>
          <p:nvPr/>
        </p:nvSpPr>
        <p:spPr>
          <a:xfrm>
            <a:off x="5534025" y="634365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3" name="Google Shape;663;p18"/>
          <p:cNvSpPr txBox="1"/>
          <p:nvPr/>
        </p:nvSpPr>
        <p:spPr>
          <a:xfrm>
            <a:off x="6330950" y="634365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18"/>
          <p:cNvSpPr txBox="1"/>
          <p:nvPr/>
        </p:nvSpPr>
        <p:spPr>
          <a:xfrm>
            <a:off x="1535113" y="634365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18"/>
          <p:cNvSpPr txBox="1"/>
          <p:nvPr/>
        </p:nvSpPr>
        <p:spPr>
          <a:xfrm>
            <a:off x="7116763" y="634365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6" name="Google Shape;666;p18"/>
          <p:cNvCxnSpPr/>
          <p:nvPr/>
        </p:nvCxnSpPr>
        <p:spPr>
          <a:xfrm flipH="1" rot="10800000">
            <a:off x="3278188" y="1893888"/>
            <a:ext cx="2413000" cy="396875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1" name="Google Shape;671;p19"/>
          <p:cNvCxnSpPr/>
          <p:nvPr/>
        </p:nvCxnSpPr>
        <p:spPr>
          <a:xfrm>
            <a:off x="4578351" y="879475"/>
            <a:ext cx="0" cy="679132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2" name="Google Shape;672;p19"/>
          <p:cNvCxnSpPr/>
          <p:nvPr/>
        </p:nvCxnSpPr>
        <p:spPr>
          <a:xfrm>
            <a:off x="4578351" y="1674812"/>
            <a:ext cx="0" cy="679132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3" name="Google Shape;673;p19"/>
          <p:cNvCxnSpPr/>
          <p:nvPr/>
        </p:nvCxnSpPr>
        <p:spPr>
          <a:xfrm>
            <a:off x="4578351" y="2466975"/>
            <a:ext cx="0" cy="679132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4" name="Google Shape;674;p19"/>
          <p:cNvCxnSpPr/>
          <p:nvPr/>
        </p:nvCxnSpPr>
        <p:spPr>
          <a:xfrm>
            <a:off x="4578351" y="82550"/>
            <a:ext cx="0" cy="679132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5" name="Google Shape;675;p19"/>
          <p:cNvCxnSpPr/>
          <p:nvPr/>
        </p:nvCxnSpPr>
        <p:spPr>
          <a:xfrm>
            <a:off x="1687513" y="1408113"/>
            <a:ext cx="0" cy="498316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6" name="Google Shape;676;p19"/>
          <p:cNvCxnSpPr/>
          <p:nvPr/>
        </p:nvCxnSpPr>
        <p:spPr>
          <a:xfrm>
            <a:off x="2482850" y="1411288"/>
            <a:ext cx="0" cy="497998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7" name="Google Shape;677;p19"/>
          <p:cNvCxnSpPr/>
          <p:nvPr/>
        </p:nvCxnSpPr>
        <p:spPr>
          <a:xfrm>
            <a:off x="3278188" y="1408113"/>
            <a:ext cx="0" cy="498316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8" name="Google Shape;678;p19"/>
          <p:cNvCxnSpPr/>
          <p:nvPr/>
        </p:nvCxnSpPr>
        <p:spPr>
          <a:xfrm>
            <a:off x="4070350" y="1408113"/>
            <a:ext cx="0" cy="498316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79" name="Google Shape;679;p19"/>
          <p:cNvCxnSpPr/>
          <p:nvPr/>
        </p:nvCxnSpPr>
        <p:spPr>
          <a:xfrm>
            <a:off x="4895850" y="1408113"/>
            <a:ext cx="0" cy="498316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0" name="Google Shape;680;p19"/>
          <p:cNvCxnSpPr/>
          <p:nvPr/>
        </p:nvCxnSpPr>
        <p:spPr>
          <a:xfrm>
            <a:off x="5691188" y="1411288"/>
            <a:ext cx="0" cy="497998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1" name="Google Shape;681;p19"/>
          <p:cNvCxnSpPr/>
          <p:nvPr/>
        </p:nvCxnSpPr>
        <p:spPr>
          <a:xfrm>
            <a:off x="6486525" y="1408113"/>
            <a:ext cx="0" cy="498316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2" name="Google Shape;682;p19"/>
          <p:cNvCxnSpPr/>
          <p:nvPr/>
        </p:nvCxnSpPr>
        <p:spPr>
          <a:xfrm>
            <a:off x="7278688" y="1408113"/>
            <a:ext cx="0" cy="4983162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3" name="Google Shape;683;p19"/>
          <p:cNvSpPr txBox="1"/>
          <p:nvPr>
            <p:ph type="title"/>
          </p:nvPr>
        </p:nvSpPr>
        <p:spPr>
          <a:xfrm>
            <a:off x="638175" y="0"/>
            <a:ext cx="8505825" cy="1231900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DDA Algorithm Example (cont…)</a:t>
            </a:r>
            <a:endParaRPr/>
          </a:p>
        </p:txBody>
      </p:sp>
      <p:sp>
        <p:nvSpPr>
          <p:cNvPr id="684" name="Google Shape;684;p19"/>
          <p:cNvSpPr/>
          <p:nvPr/>
        </p:nvSpPr>
        <p:spPr>
          <a:xfrm>
            <a:off x="1552575" y="4154488"/>
            <a:ext cx="258763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19"/>
          <p:cNvSpPr/>
          <p:nvPr/>
        </p:nvSpPr>
        <p:spPr>
          <a:xfrm>
            <a:off x="3948113" y="4154488"/>
            <a:ext cx="258762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19"/>
          <p:cNvSpPr/>
          <p:nvPr/>
        </p:nvSpPr>
        <p:spPr>
          <a:xfrm>
            <a:off x="2351088" y="4154488"/>
            <a:ext cx="258762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19"/>
          <p:cNvSpPr/>
          <p:nvPr/>
        </p:nvSpPr>
        <p:spPr>
          <a:xfrm>
            <a:off x="3149600" y="4154488"/>
            <a:ext cx="258763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19"/>
          <p:cNvSpPr/>
          <p:nvPr/>
        </p:nvSpPr>
        <p:spPr>
          <a:xfrm>
            <a:off x="1555750" y="4935538"/>
            <a:ext cx="258763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19"/>
          <p:cNvSpPr/>
          <p:nvPr/>
        </p:nvSpPr>
        <p:spPr>
          <a:xfrm>
            <a:off x="3951288" y="4935538"/>
            <a:ext cx="258762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19"/>
          <p:cNvSpPr/>
          <p:nvPr/>
        </p:nvSpPr>
        <p:spPr>
          <a:xfrm>
            <a:off x="2354263" y="4935538"/>
            <a:ext cx="258762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19"/>
          <p:cNvSpPr/>
          <p:nvPr/>
        </p:nvSpPr>
        <p:spPr>
          <a:xfrm>
            <a:off x="3152775" y="4935538"/>
            <a:ext cx="258763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19"/>
          <p:cNvSpPr/>
          <p:nvPr/>
        </p:nvSpPr>
        <p:spPr>
          <a:xfrm>
            <a:off x="1554163" y="5743575"/>
            <a:ext cx="258762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19"/>
          <p:cNvSpPr/>
          <p:nvPr/>
        </p:nvSpPr>
        <p:spPr>
          <a:xfrm>
            <a:off x="3949700" y="5743575"/>
            <a:ext cx="258763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19"/>
          <p:cNvSpPr/>
          <p:nvPr/>
        </p:nvSpPr>
        <p:spPr>
          <a:xfrm>
            <a:off x="2352675" y="5743575"/>
            <a:ext cx="258763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19"/>
          <p:cNvSpPr/>
          <p:nvPr/>
        </p:nvSpPr>
        <p:spPr>
          <a:xfrm>
            <a:off x="3151188" y="5743575"/>
            <a:ext cx="258762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19"/>
          <p:cNvSpPr/>
          <p:nvPr/>
        </p:nvSpPr>
        <p:spPr>
          <a:xfrm>
            <a:off x="1560513" y="3357563"/>
            <a:ext cx="258762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19"/>
          <p:cNvSpPr/>
          <p:nvPr/>
        </p:nvSpPr>
        <p:spPr>
          <a:xfrm>
            <a:off x="3956050" y="3357563"/>
            <a:ext cx="258763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19"/>
          <p:cNvSpPr/>
          <p:nvPr/>
        </p:nvSpPr>
        <p:spPr>
          <a:xfrm>
            <a:off x="2359025" y="3357563"/>
            <a:ext cx="258763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19"/>
          <p:cNvSpPr/>
          <p:nvPr/>
        </p:nvSpPr>
        <p:spPr>
          <a:xfrm>
            <a:off x="3157538" y="3357563"/>
            <a:ext cx="258762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19"/>
          <p:cNvSpPr/>
          <p:nvPr/>
        </p:nvSpPr>
        <p:spPr>
          <a:xfrm>
            <a:off x="4760913" y="4156075"/>
            <a:ext cx="258762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19"/>
          <p:cNvSpPr/>
          <p:nvPr/>
        </p:nvSpPr>
        <p:spPr>
          <a:xfrm>
            <a:off x="7156450" y="4156075"/>
            <a:ext cx="258763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19"/>
          <p:cNvSpPr/>
          <p:nvPr/>
        </p:nvSpPr>
        <p:spPr>
          <a:xfrm>
            <a:off x="5559425" y="4156075"/>
            <a:ext cx="258763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19"/>
          <p:cNvSpPr/>
          <p:nvPr/>
        </p:nvSpPr>
        <p:spPr>
          <a:xfrm>
            <a:off x="6357938" y="4156075"/>
            <a:ext cx="258762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19"/>
          <p:cNvSpPr/>
          <p:nvPr/>
        </p:nvSpPr>
        <p:spPr>
          <a:xfrm>
            <a:off x="4764088" y="4937125"/>
            <a:ext cx="258762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19"/>
          <p:cNvSpPr/>
          <p:nvPr/>
        </p:nvSpPr>
        <p:spPr>
          <a:xfrm>
            <a:off x="7159625" y="4937125"/>
            <a:ext cx="258763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19"/>
          <p:cNvSpPr/>
          <p:nvPr/>
        </p:nvSpPr>
        <p:spPr>
          <a:xfrm>
            <a:off x="5562600" y="4937125"/>
            <a:ext cx="258763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19"/>
          <p:cNvSpPr/>
          <p:nvPr/>
        </p:nvSpPr>
        <p:spPr>
          <a:xfrm>
            <a:off x="6361113" y="4937125"/>
            <a:ext cx="258762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19"/>
          <p:cNvSpPr/>
          <p:nvPr/>
        </p:nvSpPr>
        <p:spPr>
          <a:xfrm>
            <a:off x="4762500" y="5745163"/>
            <a:ext cx="258763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9" name="Google Shape;709;p19"/>
          <p:cNvSpPr/>
          <p:nvPr/>
        </p:nvSpPr>
        <p:spPr>
          <a:xfrm>
            <a:off x="7158038" y="5745163"/>
            <a:ext cx="258762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19"/>
          <p:cNvSpPr/>
          <p:nvPr/>
        </p:nvSpPr>
        <p:spPr>
          <a:xfrm>
            <a:off x="5561013" y="5745163"/>
            <a:ext cx="258762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19"/>
          <p:cNvSpPr/>
          <p:nvPr/>
        </p:nvSpPr>
        <p:spPr>
          <a:xfrm>
            <a:off x="6359525" y="5745163"/>
            <a:ext cx="258763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19"/>
          <p:cNvSpPr/>
          <p:nvPr/>
        </p:nvSpPr>
        <p:spPr>
          <a:xfrm>
            <a:off x="4768850" y="3359150"/>
            <a:ext cx="258763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19"/>
          <p:cNvSpPr/>
          <p:nvPr/>
        </p:nvSpPr>
        <p:spPr>
          <a:xfrm>
            <a:off x="7164388" y="3359150"/>
            <a:ext cx="258762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19"/>
          <p:cNvSpPr/>
          <p:nvPr/>
        </p:nvSpPr>
        <p:spPr>
          <a:xfrm>
            <a:off x="5567363" y="3359150"/>
            <a:ext cx="258762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19"/>
          <p:cNvSpPr/>
          <p:nvPr/>
        </p:nvSpPr>
        <p:spPr>
          <a:xfrm>
            <a:off x="6365875" y="3359150"/>
            <a:ext cx="258763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6" name="Google Shape;716;p19"/>
          <p:cNvCxnSpPr/>
          <p:nvPr/>
        </p:nvCxnSpPr>
        <p:spPr>
          <a:xfrm>
            <a:off x="4578351" y="-704850"/>
            <a:ext cx="0" cy="679132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7" name="Google Shape;717;p19"/>
          <p:cNvCxnSpPr/>
          <p:nvPr/>
        </p:nvCxnSpPr>
        <p:spPr>
          <a:xfrm>
            <a:off x="4578351" y="-1501775"/>
            <a:ext cx="0" cy="679132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8" name="Google Shape;718;p19"/>
          <p:cNvSpPr/>
          <p:nvPr/>
        </p:nvSpPr>
        <p:spPr>
          <a:xfrm>
            <a:off x="1550988" y="2570163"/>
            <a:ext cx="258762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19"/>
          <p:cNvSpPr/>
          <p:nvPr/>
        </p:nvSpPr>
        <p:spPr>
          <a:xfrm>
            <a:off x="3946525" y="2570163"/>
            <a:ext cx="258763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19"/>
          <p:cNvSpPr/>
          <p:nvPr/>
        </p:nvSpPr>
        <p:spPr>
          <a:xfrm>
            <a:off x="2349500" y="2570163"/>
            <a:ext cx="258763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19"/>
          <p:cNvSpPr/>
          <p:nvPr/>
        </p:nvSpPr>
        <p:spPr>
          <a:xfrm>
            <a:off x="3148013" y="2570163"/>
            <a:ext cx="258762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19"/>
          <p:cNvSpPr/>
          <p:nvPr/>
        </p:nvSpPr>
        <p:spPr>
          <a:xfrm>
            <a:off x="1558925" y="1773238"/>
            <a:ext cx="258763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19"/>
          <p:cNvSpPr/>
          <p:nvPr/>
        </p:nvSpPr>
        <p:spPr>
          <a:xfrm>
            <a:off x="3954463" y="1773238"/>
            <a:ext cx="258762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19"/>
          <p:cNvSpPr/>
          <p:nvPr/>
        </p:nvSpPr>
        <p:spPr>
          <a:xfrm>
            <a:off x="2357438" y="1773238"/>
            <a:ext cx="258762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19"/>
          <p:cNvSpPr/>
          <p:nvPr/>
        </p:nvSpPr>
        <p:spPr>
          <a:xfrm>
            <a:off x="3155950" y="1773238"/>
            <a:ext cx="258763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19"/>
          <p:cNvSpPr/>
          <p:nvPr/>
        </p:nvSpPr>
        <p:spPr>
          <a:xfrm>
            <a:off x="4759325" y="2571750"/>
            <a:ext cx="258763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19"/>
          <p:cNvSpPr/>
          <p:nvPr/>
        </p:nvSpPr>
        <p:spPr>
          <a:xfrm>
            <a:off x="7154863" y="2571750"/>
            <a:ext cx="258762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19"/>
          <p:cNvSpPr/>
          <p:nvPr/>
        </p:nvSpPr>
        <p:spPr>
          <a:xfrm>
            <a:off x="5557838" y="2571750"/>
            <a:ext cx="258762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19"/>
          <p:cNvSpPr/>
          <p:nvPr/>
        </p:nvSpPr>
        <p:spPr>
          <a:xfrm>
            <a:off x="6356350" y="2571750"/>
            <a:ext cx="258763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19"/>
          <p:cNvSpPr/>
          <p:nvPr/>
        </p:nvSpPr>
        <p:spPr>
          <a:xfrm>
            <a:off x="4767263" y="1774825"/>
            <a:ext cx="258762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19"/>
          <p:cNvSpPr/>
          <p:nvPr/>
        </p:nvSpPr>
        <p:spPr>
          <a:xfrm>
            <a:off x="7162800" y="1774825"/>
            <a:ext cx="258763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19"/>
          <p:cNvSpPr/>
          <p:nvPr/>
        </p:nvSpPr>
        <p:spPr>
          <a:xfrm>
            <a:off x="5565775" y="1774825"/>
            <a:ext cx="258763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19"/>
          <p:cNvSpPr/>
          <p:nvPr/>
        </p:nvSpPr>
        <p:spPr>
          <a:xfrm>
            <a:off x="6364288" y="1774825"/>
            <a:ext cx="258762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19"/>
          <p:cNvSpPr txBox="1"/>
          <p:nvPr/>
        </p:nvSpPr>
        <p:spPr>
          <a:xfrm>
            <a:off x="911225" y="1697038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19"/>
          <p:cNvSpPr txBox="1"/>
          <p:nvPr/>
        </p:nvSpPr>
        <p:spPr>
          <a:xfrm>
            <a:off x="911225" y="566420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19"/>
          <p:cNvSpPr txBox="1"/>
          <p:nvPr/>
        </p:nvSpPr>
        <p:spPr>
          <a:xfrm>
            <a:off x="911225" y="4867275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19"/>
          <p:cNvSpPr txBox="1"/>
          <p:nvPr/>
        </p:nvSpPr>
        <p:spPr>
          <a:xfrm>
            <a:off x="911225" y="407035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19"/>
          <p:cNvSpPr txBox="1"/>
          <p:nvPr/>
        </p:nvSpPr>
        <p:spPr>
          <a:xfrm>
            <a:off x="911225" y="3287713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19"/>
          <p:cNvSpPr txBox="1"/>
          <p:nvPr/>
        </p:nvSpPr>
        <p:spPr>
          <a:xfrm>
            <a:off x="911225" y="2486025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19"/>
          <p:cNvSpPr txBox="1"/>
          <p:nvPr/>
        </p:nvSpPr>
        <p:spPr>
          <a:xfrm>
            <a:off x="2328863" y="634365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19"/>
          <p:cNvSpPr txBox="1"/>
          <p:nvPr/>
        </p:nvSpPr>
        <p:spPr>
          <a:xfrm>
            <a:off x="3122613" y="634365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19"/>
          <p:cNvSpPr txBox="1"/>
          <p:nvPr/>
        </p:nvSpPr>
        <p:spPr>
          <a:xfrm>
            <a:off x="3905250" y="634365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19"/>
          <p:cNvSpPr txBox="1"/>
          <p:nvPr/>
        </p:nvSpPr>
        <p:spPr>
          <a:xfrm>
            <a:off x="4738688" y="634365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19"/>
          <p:cNvSpPr txBox="1"/>
          <p:nvPr/>
        </p:nvSpPr>
        <p:spPr>
          <a:xfrm>
            <a:off x="5534025" y="634365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19"/>
          <p:cNvSpPr txBox="1"/>
          <p:nvPr/>
        </p:nvSpPr>
        <p:spPr>
          <a:xfrm>
            <a:off x="6330950" y="634365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19"/>
          <p:cNvSpPr txBox="1"/>
          <p:nvPr/>
        </p:nvSpPr>
        <p:spPr>
          <a:xfrm>
            <a:off x="1535113" y="634365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19"/>
          <p:cNvSpPr txBox="1"/>
          <p:nvPr/>
        </p:nvSpPr>
        <p:spPr>
          <a:xfrm>
            <a:off x="7116763" y="634365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1" i="0" sz="1800" u="none" cap="none" strike="noStrike">
              <a:solidFill>
                <a:srgbClr val="FF99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8" name="Google Shape;748;p19"/>
          <p:cNvCxnSpPr/>
          <p:nvPr/>
        </p:nvCxnSpPr>
        <p:spPr>
          <a:xfrm flipH="1" rot="10800000">
            <a:off x="3278188" y="1893888"/>
            <a:ext cx="2413000" cy="396875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20"/>
          <p:cNvSpPr/>
          <p:nvPr/>
        </p:nvSpPr>
        <p:spPr>
          <a:xfrm>
            <a:off x="6432550" y="4957763"/>
            <a:ext cx="258763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4" name="Google Shape;754;p20"/>
          <p:cNvCxnSpPr/>
          <p:nvPr/>
        </p:nvCxnSpPr>
        <p:spPr>
          <a:xfrm>
            <a:off x="7081044" y="1678781"/>
            <a:ext cx="0" cy="363378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5" name="Google Shape;755;p20"/>
          <p:cNvSpPr txBox="1"/>
          <p:nvPr>
            <p:ph type="title"/>
          </p:nvPr>
        </p:nvSpPr>
        <p:spPr>
          <a:xfrm>
            <a:off x="638175" y="0"/>
            <a:ext cx="8505825" cy="1231900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The DDA Algorithm (cont…)</a:t>
            </a:r>
            <a:endParaRPr/>
          </a:p>
        </p:txBody>
      </p:sp>
      <p:sp>
        <p:nvSpPr>
          <p:cNvPr id="756" name="Google Shape;756;p20"/>
          <p:cNvSpPr txBox="1"/>
          <p:nvPr>
            <p:ph idx="1" type="body"/>
          </p:nvPr>
        </p:nvSpPr>
        <p:spPr>
          <a:xfrm>
            <a:off x="457200" y="1333500"/>
            <a:ext cx="8229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Again the values calculated by the equations used by the DDA algorithm must be rounded to match pixel values</a:t>
            </a:r>
            <a:endParaRPr/>
          </a:p>
        </p:txBody>
      </p:sp>
      <p:cxnSp>
        <p:nvCxnSpPr>
          <p:cNvPr id="757" name="Google Shape;757;p20"/>
          <p:cNvCxnSpPr/>
          <p:nvPr/>
        </p:nvCxnSpPr>
        <p:spPr>
          <a:xfrm>
            <a:off x="1155700" y="3054350"/>
            <a:ext cx="0" cy="329882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8" name="Google Shape;758;p20"/>
          <p:cNvCxnSpPr/>
          <p:nvPr/>
        </p:nvCxnSpPr>
        <p:spPr>
          <a:xfrm>
            <a:off x="1951038" y="3076575"/>
            <a:ext cx="0" cy="329723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9" name="Google Shape;759;p20"/>
          <p:cNvCxnSpPr/>
          <p:nvPr/>
        </p:nvCxnSpPr>
        <p:spPr>
          <a:xfrm>
            <a:off x="2746375" y="3095625"/>
            <a:ext cx="0" cy="329882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0" name="Google Shape;760;p20"/>
          <p:cNvCxnSpPr/>
          <p:nvPr/>
        </p:nvCxnSpPr>
        <p:spPr>
          <a:xfrm>
            <a:off x="3538538" y="3113088"/>
            <a:ext cx="0" cy="329882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1" name="Google Shape;761;p20"/>
          <p:cNvCxnSpPr/>
          <p:nvPr/>
        </p:nvCxnSpPr>
        <p:spPr>
          <a:xfrm>
            <a:off x="2453482" y="2480469"/>
            <a:ext cx="0" cy="363378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2" name="Google Shape;762;p20"/>
          <p:cNvCxnSpPr/>
          <p:nvPr/>
        </p:nvCxnSpPr>
        <p:spPr>
          <a:xfrm>
            <a:off x="2431257" y="3275806"/>
            <a:ext cx="0" cy="363378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3" name="Google Shape;763;p20"/>
          <p:cNvCxnSpPr/>
          <p:nvPr/>
        </p:nvCxnSpPr>
        <p:spPr>
          <a:xfrm>
            <a:off x="2412207" y="4067969"/>
            <a:ext cx="0" cy="363378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4" name="Google Shape;764;p20"/>
          <p:cNvSpPr/>
          <p:nvPr/>
        </p:nvSpPr>
        <p:spPr>
          <a:xfrm>
            <a:off x="1020763" y="4176713"/>
            <a:ext cx="258762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20"/>
          <p:cNvSpPr/>
          <p:nvPr/>
        </p:nvSpPr>
        <p:spPr>
          <a:xfrm>
            <a:off x="3416300" y="4176713"/>
            <a:ext cx="258763" cy="258762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20"/>
          <p:cNvSpPr/>
          <p:nvPr/>
        </p:nvSpPr>
        <p:spPr>
          <a:xfrm>
            <a:off x="1819275" y="4176713"/>
            <a:ext cx="258763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20"/>
          <p:cNvSpPr/>
          <p:nvPr/>
        </p:nvSpPr>
        <p:spPr>
          <a:xfrm>
            <a:off x="2617788" y="4176713"/>
            <a:ext cx="258762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20"/>
          <p:cNvSpPr/>
          <p:nvPr/>
        </p:nvSpPr>
        <p:spPr>
          <a:xfrm>
            <a:off x="1023938" y="4957763"/>
            <a:ext cx="258762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20"/>
          <p:cNvSpPr/>
          <p:nvPr/>
        </p:nvSpPr>
        <p:spPr>
          <a:xfrm>
            <a:off x="3419475" y="4957763"/>
            <a:ext cx="258763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20"/>
          <p:cNvSpPr/>
          <p:nvPr/>
        </p:nvSpPr>
        <p:spPr>
          <a:xfrm>
            <a:off x="1822450" y="4957763"/>
            <a:ext cx="258763" cy="258762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20"/>
          <p:cNvSpPr/>
          <p:nvPr/>
        </p:nvSpPr>
        <p:spPr>
          <a:xfrm>
            <a:off x="2620963" y="4957763"/>
            <a:ext cx="258762" cy="258762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20"/>
          <p:cNvSpPr/>
          <p:nvPr/>
        </p:nvSpPr>
        <p:spPr>
          <a:xfrm>
            <a:off x="1022350" y="5765800"/>
            <a:ext cx="258763" cy="258763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20"/>
          <p:cNvSpPr/>
          <p:nvPr/>
        </p:nvSpPr>
        <p:spPr>
          <a:xfrm>
            <a:off x="3417888" y="5765800"/>
            <a:ext cx="258762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20"/>
          <p:cNvSpPr/>
          <p:nvPr/>
        </p:nvSpPr>
        <p:spPr>
          <a:xfrm>
            <a:off x="1820863" y="5765800"/>
            <a:ext cx="258762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20"/>
          <p:cNvSpPr/>
          <p:nvPr/>
        </p:nvSpPr>
        <p:spPr>
          <a:xfrm>
            <a:off x="2619375" y="5765800"/>
            <a:ext cx="258763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6" name="Google Shape;776;p20"/>
          <p:cNvCxnSpPr/>
          <p:nvPr/>
        </p:nvCxnSpPr>
        <p:spPr>
          <a:xfrm flipH="1" rot="10800000">
            <a:off x="411163" y="4171950"/>
            <a:ext cx="3992562" cy="1824038"/>
          </a:xfrm>
          <a:prstGeom prst="straightConnector1">
            <a:avLst/>
          </a:prstGeom>
          <a:noFill/>
          <a:ln cap="flat" cmpd="sng" w="317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7" name="Google Shape;777;p20"/>
          <p:cNvSpPr/>
          <p:nvPr/>
        </p:nvSpPr>
        <p:spPr>
          <a:xfrm>
            <a:off x="1081088" y="5575300"/>
            <a:ext cx="136525" cy="136525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20"/>
          <p:cNvSpPr/>
          <p:nvPr/>
        </p:nvSpPr>
        <p:spPr>
          <a:xfrm>
            <a:off x="1892300" y="5229225"/>
            <a:ext cx="136525" cy="136525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20"/>
          <p:cNvSpPr txBox="1"/>
          <p:nvPr/>
        </p:nvSpPr>
        <p:spPr>
          <a:xfrm>
            <a:off x="134938" y="5146675"/>
            <a:ext cx="903287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1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baseline="-25000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i="1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1" baseline="-25000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80" name="Google Shape;780;p20"/>
          <p:cNvCxnSpPr/>
          <p:nvPr/>
        </p:nvCxnSpPr>
        <p:spPr>
          <a:xfrm>
            <a:off x="911225" y="5462588"/>
            <a:ext cx="168275" cy="1143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81" name="Google Shape;781;p20"/>
          <p:cNvSpPr txBox="1"/>
          <p:nvPr/>
        </p:nvSpPr>
        <p:spPr>
          <a:xfrm>
            <a:off x="2274888" y="5349875"/>
            <a:ext cx="1346200" cy="304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1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baseline="-25000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+1, </a:t>
            </a:r>
            <a:r>
              <a:rPr b="1" i="1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1" baseline="-25000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+m)</a:t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82" name="Google Shape;782;p20"/>
          <p:cNvCxnSpPr/>
          <p:nvPr/>
        </p:nvCxnSpPr>
        <p:spPr>
          <a:xfrm rot="10800000">
            <a:off x="2038350" y="5348288"/>
            <a:ext cx="231775" cy="12065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83" name="Google Shape;783;p20"/>
          <p:cNvSpPr txBox="1"/>
          <p:nvPr/>
        </p:nvSpPr>
        <p:spPr>
          <a:xfrm>
            <a:off x="1430338" y="6200775"/>
            <a:ext cx="1550987" cy="4127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080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1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baseline="-25000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round(</a:t>
            </a:r>
            <a:r>
              <a:rPr b="1" i="1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1" baseline="-25000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))</a:t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84" name="Google Shape;784;p20"/>
          <p:cNvCxnSpPr/>
          <p:nvPr/>
        </p:nvCxnSpPr>
        <p:spPr>
          <a:xfrm rot="10800000">
            <a:off x="1231900" y="6021388"/>
            <a:ext cx="206375" cy="2667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85" name="Google Shape;785;p20"/>
          <p:cNvSpPr txBox="1"/>
          <p:nvPr/>
        </p:nvSpPr>
        <p:spPr>
          <a:xfrm>
            <a:off x="280988" y="4530725"/>
            <a:ext cx="2178050" cy="34131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60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1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baseline="-25000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+1, round(</a:t>
            </a:r>
            <a:r>
              <a:rPr b="1" i="1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1" baseline="-25000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+m))</a:t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86" name="Google Shape;786;p20"/>
          <p:cNvCxnSpPr/>
          <p:nvPr/>
        </p:nvCxnSpPr>
        <p:spPr>
          <a:xfrm>
            <a:off x="1768475" y="4833938"/>
            <a:ext cx="98425" cy="13335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87" name="Google Shape;787;p20"/>
          <p:cNvCxnSpPr/>
          <p:nvPr/>
        </p:nvCxnSpPr>
        <p:spPr>
          <a:xfrm>
            <a:off x="2461419" y="1683544"/>
            <a:ext cx="0" cy="3633788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8" name="Google Shape;788;p20"/>
          <p:cNvSpPr/>
          <p:nvPr/>
        </p:nvSpPr>
        <p:spPr>
          <a:xfrm>
            <a:off x="1028700" y="3379788"/>
            <a:ext cx="258763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20"/>
          <p:cNvSpPr/>
          <p:nvPr/>
        </p:nvSpPr>
        <p:spPr>
          <a:xfrm>
            <a:off x="3424238" y="3379788"/>
            <a:ext cx="258762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20"/>
          <p:cNvSpPr/>
          <p:nvPr/>
        </p:nvSpPr>
        <p:spPr>
          <a:xfrm>
            <a:off x="1827213" y="3379788"/>
            <a:ext cx="258762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20"/>
          <p:cNvSpPr/>
          <p:nvPr/>
        </p:nvSpPr>
        <p:spPr>
          <a:xfrm>
            <a:off x="2625725" y="3379788"/>
            <a:ext cx="258763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2" name="Google Shape;792;p20"/>
          <p:cNvCxnSpPr/>
          <p:nvPr/>
        </p:nvCxnSpPr>
        <p:spPr>
          <a:xfrm>
            <a:off x="5775325" y="3049588"/>
            <a:ext cx="0" cy="329882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3" name="Google Shape;793;p20"/>
          <p:cNvCxnSpPr/>
          <p:nvPr/>
        </p:nvCxnSpPr>
        <p:spPr>
          <a:xfrm>
            <a:off x="6570663" y="3071813"/>
            <a:ext cx="0" cy="329723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4" name="Google Shape;794;p20"/>
          <p:cNvCxnSpPr/>
          <p:nvPr/>
        </p:nvCxnSpPr>
        <p:spPr>
          <a:xfrm>
            <a:off x="7366000" y="3090863"/>
            <a:ext cx="0" cy="329882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5" name="Google Shape;795;p20"/>
          <p:cNvCxnSpPr/>
          <p:nvPr/>
        </p:nvCxnSpPr>
        <p:spPr>
          <a:xfrm>
            <a:off x="8158163" y="3108325"/>
            <a:ext cx="0" cy="329882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6" name="Google Shape;796;p20"/>
          <p:cNvCxnSpPr/>
          <p:nvPr/>
        </p:nvCxnSpPr>
        <p:spPr>
          <a:xfrm>
            <a:off x="7073107" y="2475706"/>
            <a:ext cx="0" cy="363378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7" name="Google Shape;797;p20"/>
          <p:cNvCxnSpPr/>
          <p:nvPr/>
        </p:nvCxnSpPr>
        <p:spPr>
          <a:xfrm>
            <a:off x="7050882" y="3271044"/>
            <a:ext cx="0" cy="363378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8" name="Google Shape;798;p20"/>
          <p:cNvCxnSpPr/>
          <p:nvPr/>
        </p:nvCxnSpPr>
        <p:spPr>
          <a:xfrm>
            <a:off x="7031832" y="4063206"/>
            <a:ext cx="0" cy="363378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9" name="Google Shape;799;p20"/>
          <p:cNvSpPr/>
          <p:nvPr/>
        </p:nvSpPr>
        <p:spPr>
          <a:xfrm>
            <a:off x="5640388" y="4171950"/>
            <a:ext cx="258762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20"/>
          <p:cNvSpPr/>
          <p:nvPr/>
        </p:nvSpPr>
        <p:spPr>
          <a:xfrm>
            <a:off x="8035925" y="4171950"/>
            <a:ext cx="258763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20"/>
          <p:cNvSpPr/>
          <p:nvPr/>
        </p:nvSpPr>
        <p:spPr>
          <a:xfrm>
            <a:off x="6438900" y="4171950"/>
            <a:ext cx="258763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20"/>
          <p:cNvSpPr/>
          <p:nvPr/>
        </p:nvSpPr>
        <p:spPr>
          <a:xfrm>
            <a:off x="7237413" y="4171950"/>
            <a:ext cx="258762" cy="258763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20"/>
          <p:cNvSpPr/>
          <p:nvPr/>
        </p:nvSpPr>
        <p:spPr>
          <a:xfrm>
            <a:off x="5643563" y="4953000"/>
            <a:ext cx="258762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20"/>
          <p:cNvSpPr/>
          <p:nvPr/>
        </p:nvSpPr>
        <p:spPr>
          <a:xfrm>
            <a:off x="8039100" y="4953000"/>
            <a:ext cx="258763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20"/>
          <p:cNvSpPr/>
          <p:nvPr/>
        </p:nvSpPr>
        <p:spPr>
          <a:xfrm>
            <a:off x="6426200" y="4967288"/>
            <a:ext cx="258763" cy="258762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20"/>
          <p:cNvSpPr/>
          <p:nvPr/>
        </p:nvSpPr>
        <p:spPr>
          <a:xfrm>
            <a:off x="7240588" y="4953000"/>
            <a:ext cx="258762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20"/>
          <p:cNvSpPr/>
          <p:nvPr/>
        </p:nvSpPr>
        <p:spPr>
          <a:xfrm>
            <a:off x="5641975" y="5761038"/>
            <a:ext cx="258763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20"/>
          <p:cNvSpPr/>
          <p:nvPr/>
        </p:nvSpPr>
        <p:spPr>
          <a:xfrm>
            <a:off x="8037513" y="5761038"/>
            <a:ext cx="258762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20"/>
          <p:cNvSpPr/>
          <p:nvPr/>
        </p:nvSpPr>
        <p:spPr>
          <a:xfrm>
            <a:off x="6440488" y="5761038"/>
            <a:ext cx="258762" cy="258762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20"/>
          <p:cNvSpPr/>
          <p:nvPr/>
        </p:nvSpPr>
        <p:spPr>
          <a:xfrm>
            <a:off x="7239000" y="5761038"/>
            <a:ext cx="258763" cy="25876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1" name="Google Shape;811;p20"/>
          <p:cNvCxnSpPr/>
          <p:nvPr/>
        </p:nvCxnSpPr>
        <p:spPr>
          <a:xfrm flipH="1">
            <a:off x="6211888" y="2974975"/>
            <a:ext cx="1630362" cy="3227388"/>
          </a:xfrm>
          <a:prstGeom prst="straightConnector1">
            <a:avLst/>
          </a:prstGeom>
          <a:noFill/>
          <a:ln cap="flat" cmpd="sng" w="317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2" name="Google Shape;812;p20"/>
          <p:cNvSpPr/>
          <p:nvPr/>
        </p:nvSpPr>
        <p:spPr>
          <a:xfrm>
            <a:off x="6302375" y="5811838"/>
            <a:ext cx="136525" cy="136525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20"/>
          <p:cNvSpPr/>
          <p:nvPr/>
        </p:nvSpPr>
        <p:spPr>
          <a:xfrm>
            <a:off x="6700838" y="5022850"/>
            <a:ext cx="136525" cy="136525"/>
          </a:xfrm>
          <a:prstGeom prst="ellipse">
            <a:avLst/>
          </a:prstGeom>
          <a:solidFill>
            <a:schemeClr val="accent2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20"/>
          <p:cNvSpPr txBox="1"/>
          <p:nvPr/>
        </p:nvSpPr>
        <p:spPr>
          <a:xfrm>
            <a:off x="5437188" y="5341938"/>
            <a:ext cx="719137" cy="3222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80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1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baseline="-25000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i="1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1" baseline="-25000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815" name="Google Shape;815;p20"/>
          <p:cNvCxnSpPr/>
          <p:nvPr/>
        </p:nvCxnSpPr>
        <p:spPr>
          <a:xfrm rot="10800000">
            <a:off x="6816725" y="5149850"/>
            <a:ext cx="155575" cy="22542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16" name="Google Shape;816;p20"/>
          <p:cNvSpPr txBox="1"/>
          <p:nvPr/>
        </p:nvSpPr>
        <p:spPr>
          <a:xfrm>
            <a:off x="6951663" y="5268913"/>
            <a:ext cx="1489075" cy="3222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80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1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baseline="-25000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b="1" baseline="30000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1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</a:t>
            </a:r>
            <a:r>
              <a:rPr b="1" baseline="-25000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="1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i="1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1" baseline="-25000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+1)</a:t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817" name="Google Shape;817;p20"/>
          <p:cNvCxnSpPr/>
          <p:nvPr/>
        </p:nvCxnSpPr>
        <p:spPr>
          <a:xfrm rot="10800000">
            <a:off x="6648450" y="6000750"/>
            <a:ext cx="98425" cy="16827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8" name="Google Shape;818;p20"/>
          <p:cNvCxnSpPr/>
          <p:nvPr/>
        </p:nvCxnSpPr>
        <p:spPr>
          <a:xfrm>
            <a:off x="6153150" y="5664200"/>
            <a:ext cx="146050" cy="14287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9" name="Google Shape;819;p20"/>
          <p:cNvCxnSpPr/>
          <p:nvPr/>
        </p:nvCxnSpPr>
        <p:spPr>
          <a:xfrm>
            <a:off x="6388100" y="4829175"/>
            <a:ext cx="98425" cy="13335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0" name="Google Shape;820;p20"/>
          <p:cNvSpPr/>
          <p:nvPr/>
        </p:nvSpPr>
        <p:spPr>
          <a:xfrm>
            <a:off x="5648325" y="3375025"/>
            <a:ext cx="258763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20"/>
          <p:cNvSpPr/>
          <p:nvPr/>
        </p:nvSpPr>
        <p:spPr>
          <a:xfrm>
            <a:off x="8043863" y="3375025"/>
            <a:ext cx="258762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p20"/>
          <p:cNvSpPr/>
          <p:nvPr/>
        </p:nvSpPr>
        <p:spPr>
          <a:xfrm>
            <a:off x="6446838" y="3375025"/>
            <a:ext cx="258762" cy="258763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20"/>
          <p:cNvSpPr/>
          <p:nvPr/>
        </p:nvSpPr>
        <p:spPr>
          <a:xfrm>
            <a:off x="7245350" y="3375025"/>
            <a:ext cx="258763" cy="258763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20"/>
          <p:cNvSpPr txBox="1"/>
          <p:nvPr/>
        </p:nvSpPr>
        <p:spPr>
          <a:xfrm>
            <a:off x="6738938" y="6081713"/>
            <a:ext cx="1550987" cy="34131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360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(round(</a:t>
            </a:r>
            <a:r>
              <a:rPr b="1" i="1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baseline="-25000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 </a:t>
            </a:r>
            <a:r>
              <a:rPr b="1" i="1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1" baseline="-25000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5" name="Google Shape;825;p20"/>
          <p:cNvSpPr txBox="1"/>
          <p:nvPr/>
        </p:nvSpPr>
        <p:spPr>
          <a:xfrm>
            <a:off x="4548188" y="4484688"/>
            <a:ext cx="2320925" cy="3222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800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(round(</a:t>
            </a:r>
            <a:r>
              <a:rPr b="1" i="1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b="1" baseline="-25000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</a:t>
            </a:r>
            <a:r>
              <a:rPr b="1" baseline="30000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b="1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</a:t>
            </a:r>
            <a:r>
              <a:rPr b="1" baseline="-25000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="1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), </a:t>
            </a:r>
            <a:r>
              <a:rPr b="1" i="1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b="1" baseline="-25000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</a:t>
            </a:r>
            <a:r>
              <a:rPr b="1" i="0" lang="en-IE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+1)</a:t>
            </a:r>
            <a:endParaRPr b="1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21"/>
          <p:cNvSpPr txBox="1"/>
          <p:nvPr>
            <p:ph idx="1" type="body"/>
          </p:nvPr>
        </p:nvSpPr>
        <p:spPr>
          <a:xfrm>
            <a:off x="457200" y="1333500"/>
            <a:ext cx="8686800" cy="55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If -1&lt;m&lt;1 then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IE"/>
              <a:t>	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40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IE" sz="2800"/>
              <a:t>Then roundoff y.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IE" sz="2800"/>
              <a:t>Otherwise,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IE" sz="2800"/>
              <a:t>Then roundoff x.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831" name="Google Shape;831;p21"/>
          <p:cNvSpPr txBox="1"/>
          <p:nvPr>
            <p:ph type="title"/>
          </p:nvPr>
        </p:nvSpPr>
        <p:spPr>
          <a:xfrm>
            <a:off x="638175" y="0"/>
            <a:ext cx="8505825" cy="1231900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The DDA Algorithm (cont…)</a:t>
            </a:r>
            <a:endParaRPr/>
          </a:p>
        </p:txBody>
      </p:sp>
      <p:pic>
        <p:nvPicPr>
          <p:cNvPr id="832" name="Google Shape;83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20925" y="4932363"/>
            <a:ext cx="2760663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3" name="Google Shape;83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55863" y="1784350"/>
            <a:ext cx="2466975" cy="75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4" name="Google Shape;83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20925" y="2536825"/>
            <a:ext cx="2760663" cy="75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5" name="Google Shape;835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13000" y="4300538"/>
            <a:ext cx="2551113" cy="75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22"/>
          <p:cNvSpPr txBox="1"/>
          <p:nvPr>
            <p:ph type="title"/>
          </p:nvPr>
        </p:nvSpPr>
        <p:spPr>
          <a:xfrm>
            <a:off x="638175" y="0"/>
            <a:ext cx="8505825" cy="1231900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DDA Algorithm Example</a:t>
            </a:r>
            <a:endParaRPr/>
          </a:p>
        </p:txBody>
      </p:sp>
      <p:sp>
        <p:nvSpPr>
          <p:cNvPr id="841" name="Google Shape;841;p22"/>
          <p:cNvSpPr txBox="1"/>
          <p:nvPr>
            <p:ph idx="1" type="body"/>
          </p:nvPr>
        </p:nvSpPr>
        <p:spPr>
          <a:xfrm>
            <a:off x="457200" y="1333500"/>
            <a:ext cx="8229600" cy="55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Let’s try out the following examples:</a:t>
            </a:r>
            <a:endParaRPr/>
          </a:p>
        </p:txBody>
      </p:sp>
      <p:grpSp>
        <p:nvGrpSpPr>
          <p:cNvPr id="842" name="Google Shape;842;p22"/>
          <p:cNvGrpSpPr/>
          <p:nvPr/>
        </p:nvGrpSpPr>
        <p:grpSpPr>
          <a:xfrm>
            <a:off x="673100" y="2130425"/>
            <a:ext cx="3695700" cy="3914775"/>
            <a:chOff x="424" y="1342"/>
            <a:chExt cx="2328" cy="2466"/>
          </a:xfrm>
        </p:grpSpPr>
        <p:cxnSp>
          <p:nvCxnSpPr>
            <p:cNvPr id="843" name="Google Shape;843;p22"/>
            <p:cNvCxnSpPr/>
            <p:nvPr/>
          </p:nvCxnSpPr>
          <p:spPr>
            <a:xfrm rot="10800000">
              <a:off x="709" y="1472"/>
              <a:ext cx="0" cy="214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844" name="Google Shape;844;p22"/>
            <p:cNvCxnSpPr/>
            <p:nvPr/>
          </p:nvCxnSpPr>
          <p:spPr>
            <a:xfrm rot="10800000">
              <a:off x="1652" y="2522"/>
              <a:ext cx="0" cy="2026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45" name="Google Shape;845;p22"/>
            <p:cNvSpPr txBox="1"/>
            <p:nvPr/>
          </p:nvSpPr>
          <p:spPr>
            <a:xfrm>
              <a:off x="2572" y="3504"/>
              <a:ext cx="18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IE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b="0" i="1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46" name="Google Shape;846;p22"/>
            <p:cNvSpPr txBox="1"/>
            <p:nvPr/>
          </p:nvSpPr>
          <p:spPr>
            <a:xfrm>
              <a:off x="509" y="1342"/>
              <a:ext cx="18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IE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endParaRPr b="0" i="1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847" name="Google Shape;847;p22"/>
            <p:cNvCxnSpPr/>
            <p:nvPr/>
          </p:nvCxnSpPr>
          <p:spPr>
            <a:xfrm>
              <a:off x="581" y="3066"/>
              <a:ext cx="2025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848" name="Google Shape;848;p22"/>
            <p:cNvCxnSpPr/>
            <p:nvPr/>
          </p:nvCxnSpPr>
          <p:spPr>
            <a:xfrm>
              <a:off x="581" y="1804"/>
              <a:ext cx="1977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849" name="Google Shape;849;p22"/>
            <p:cNvCxnSpPr/>
            <p:nvPr/>
          </p:nvCxnSpPr>
          <p:spPr>
            <a:xfrm rot="5400000">
              <a:off x="132" y="2542"/>
              <a:ext cx="214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850" name="Google Shape;850;p22"/>
            <p:cNvCxnSpPr/>
            <p:nvPr/>
          </p:nvCxnSpPr>
          <p:spPr>
            <a:xfrm rot="5400000">
              <a:off x="761" y="2497"/>
              <a:ext cx="216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851" name="Google Shape;851;p22"/>
            <p:cNvCxnSpPr/>
            <p:nvPr/>
          </p:nvCxnSpPr>
          <p:spPr>
            <a:xfrm flipH="1" rot="10800000">
              <a:off x="1197" y="1804"/>
              <a:ext cx="633" cy="1273"/>
            </a:xfrm>
            <a:prstGeom prst="straightConnector1">
              <a:avLst/>
            </a:prstGeom>
            <a:noFill/>
            <a:ln cap="flat" cmpd="sng" w="31750">
              <a:solidFill>
                <a:schemeClr val="accent2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852" name="Google Shape;852;p22"/>
            <p:cNvSpPr txBox="1"/>
            <p:nvPr/>
          </p:nvSpPr>
          <p:spPr>
            <a:xfrm>
              <a:off x="804" y="3058"/>
              <a:ext cx="45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E" sz="18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(2, 2)</a:t>
              </a:r>
              <a:endParaRPr b="1" i="0" sz="18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22"/>
            <p:cNvSpPr txBox="1"/>
            <p:nvPr/>
          </p:nvSpPr>
          <p:spPr>
            <a:xfrm>
              <a:off x="1841" y="1549"/>
              <a:ext cx="45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E" sz="18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(5, 7)</a:t>
              </a:r>
              <a:endParaRPr b="1" i="0" sz="18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22"/>
            <p:cNvSpPr txBox="1"/>
            <p:nvPr/>
          </p:nvSpPr>
          <p:spPr>
            <a:xfrm>
              <a:off x="1112" y="357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E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22"/>
            <p:cNvSpPr txBox="1"/>
            <p:nvPr/>
          </p:nvSpPr>
          <p:spPr>
            <a:xfrm>
              <a:off x="2309" y="357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E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22"/>
            <p:cNvSpPr txBox="1"/>
            <p:nvPr/>
          </p:nvSpPr>
          <p:spPr>
            <a:xfrm>
              <a:off x="424" y="2954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E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22"/>
            <p:cNvSpPr txBox="1"/>
            <p:nvPr/>
          </p:nvSpPr>
          <p:spPr>
            <a:xfrm>
              <a:off x="433" y="2173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E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858" name="Google Shape;858;p22"/>
          <p:cNvGraphicFramePr/>
          <p:nvPr/>
        </p:nvGraphicFramePr>
        <p:xfrm>
          <a:off x="4702175" y="24590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{129D0584-478C-42B4-80EA-1FC0C94138CF}</a:tableStyleId>
              </a:tblPr>
              <a:tblGrid>
                <a:gridCol w="1083875"/>
                <a:gridCol w="1083875"/>
                <a:gridCol w="1083875"/>
                <a:gridCol w="1083875"/>
              </a:tblGrid>
              <a:tr h="694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y(+1)</a:t>
                      </a:r>
                      <a:endParaRPr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x(+1/m)</a:t>
                      </a:r>
                      <a:endParaRPr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x(roundoff)</a:t>
                      </a:r>
                      <a:endParaRPr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pixel</a:t>
                      </a:r>
                      <a:endParaRPr/>
                    </a:p>
                  </a:txBody>
                  <a:tcPr marT="72750" marB="72750" marR="145550" marL="145550"/>
                </a:tc>
              </a:tr>
              <a:tr h="590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2</a:t>
                      </a:r>
                      <a:endParaRPr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2</a:t>
                      </a:r>
                      <a:endParaRPr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72750" marB="72750" marR="145550" marL="145550"/>
                </a:tc>
              </a:tr>
              <a:tr h="590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3</a:t>
                      </a:r>
                      <a:endParaRPr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2.6</a:t>
                      </a:r>
                      <a:endParaRPr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3</a:t>
                      </a:r>
                      <a:endParaRPr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(3, 3)</a:t>
                      </a:r>
                      <a:endParaRPr/>
                    </a:p>
                  </a:txBody>
                  <a:tcPr marT="72750" marB="72750" marR="145550" marL="145550"/>
                </a:tc>
              </a:tr>
              <a:tr h="590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4</a:t>
                      </a:r>
                      <a:endParaRPr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3.2</a:t>
                      </a:r>
                      <a:endParaRPr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3</a:t>
                      </a:r>
                      <a:endParaRPr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(3,</a:t>
                      </a:r>
                      <a:r>
                        <a:rPr lang="en-IE" sz="1800"/>
                        <a:t> 4</a:t>
                      </a:r>
                      <a:r>
                        <a:rPr lang="en-IE" sz="1800"/>
                        <a:t>)</a:t>
                      </a:r>
                      <a:endParaRPr/>
                    </a:p>
                  </a:txBody>
                  <a:tcPr marT="72750" marB="72750" marR="145550" marL="145550"/>
                </a:tc>
              </a:tr>
              <a:tr h="590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5</a:t>
                      </a:r>
                      <a:endParaRPr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3.8</a:t>
                      </a:r>
                      <a:endParaRPr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4</a:t>
                      </a:r>
                      <a:endParaRPr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(4, 5)</a:t>
                      </a:r>
                      <a:endParaRPr/>
                    </a:p>
                  </a:txBody>
                  <a:tcPr marT="72750" marB="72750" marR="145550" marL="145550"/>
                </a:tc>
              </a:tr>
              <a:tr h="590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6</a:t>
                      </a:r>
                      <a:endParaRPr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4.4</a:t>
                      </a:r>
                      <a:endParaRPr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4</a:t>
                      </a:r>
                      <a:endParaRPr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(4, 6)</a:t>
                      </a:r>
                      <a:endParaRPr/>
                    </a:p>
                  </a:txBody>
                  <a:tcPr marT="72750" marB="72750" marR="145550" marL="145550"/>
                </a:tc>
              </a:tr>
            </a:tbl>
          </a:graphicData>
        </a:graphic>
      </p:graphicFrame>
      <p:pic>
        <p:nvPicPr>
          <p:cNvPr id="859" name="Google Shape;85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7175" y="5842000"/>
            <a:ext cx="2032000" cy="925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60" name="Google Shape;86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48525" y="1587500"/>
            <a:ext cx="1614488" cy="820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23"/>
          <p:cNvSpPr txBox="1"/>
          <p:nvPr>
            <p:ph type="title"/>
          </p:nvPr>
        </p:nvSpPr>
        <p:spPr>
          <a:xfrm>
            <a:off x="638175" y="0"/>
            <a:ext cx="8505825" cy="1231900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DDA Algorithm Example</a:t>
            </a:r>
            <a:endParaRPr/>
          </a:p>
        </p:txBody>
      </p:sp>
      <p:sp>
        <p:nvSpPr>
          <p:cNvPr id="866" name="Google Shape;866;p23"/>
          <p:cNvSpPr txBox="1"/>
          <p:nvPr>
            <p:ph idx="1" type="body"/>
          </p:nvPr>
        </p:nvSpPr>
        <p:spPr>
          <a:xfrm>
            <a:off x="457200" y="1333500"/>
            <a:ext cx="8229600" cy="55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Let’s try out the following examples:</a:t>
            </a:r>
            <a:endParaRPr/>
          </a:p>
        </p:txBody>
      </p:sp>
      <p:grpSp>
        <p:nvGrpSpPr>
          <p:cNvPr id="867" name="Google Shape;867;p23"/>
          <p:cNvGrpSpPr/>
          <p:nvPr/>
        </p:nvGrpSpPr>
        <p:grpSpPr>
          <a:xfrm>
            <a:off x="192088" y="2130425"/>
            <a:ext cx="4176712" cy="3914775"/>
            <a:chOff x="121" y="1342"/>
            <a:chExt cx="2631" cy="2466"/>
          </a:xfrm>
        </p:grpSpPr>
        <p:cxnSp>
          <p:nvCxnSpPr>
            <p:cNvPr id="868" name="Google Shape;868;p23"/>
            <p:cNvCxnSpPr/>
            <p:nvPr/>
          </p:nvCxnSpPr>
          <p:spPr>
            <a:xfrm rot="10800000">
              <a:off x="709" y="1472"/>
              <a:ext cx="0" cy="214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869" name="Google Shape;869;p23"/>
            <p:cNvCxnSpPr/>
            <p:nvPr/>
          </p:nvCxnSpPr>
          <p:spPr>
            <a:xfrm rot="10800000">
              <a:off x="1652" y="2522"/>
              <a:ext cx="0" cy="2026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70" name="Google Shape;870;p23"/>
            <p:cNvSpPr txBox="1"/>
            <p:nvPr/>
          </p:nvSpPr>
          <p:spPr>
            <a:xfrm>
              <a:off x="2572" y="3504"/>
              <a:ext cx="18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IE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b="0" i="1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71" name="Google Shape;871;p23"/>
            <p:cNvSpPr txBox="1"/>
            <p:nvPr/>
          </p:nvSpPr>
          <p:spPr>
            <a:xfrm>
              <a:off x="509" y="1342"/>
              <a:ext cx="18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IE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endParaRPr b="0" i="1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872" name="Google Shape;872;p23"/>
            <p:cNvCxnSpPr/>
            <p:nvPr/>
          </p:nvCxnSpPr>
          <p:spPr>
            <a:xfrm>
              <a:off x="505" y="3058"/>
              <a:ext cx="2101" cy="8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873" name="Google Shape;873;p23"/>
            <p:cNvCxnSpPr/>
            <p:nvPr/>
          </p:nvCxnSpPr>
          <p:spPr>
            <a:xfrm>
              <a:off x="581" y="1804"/>
              <a:ext cx="1977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874" name="Google Shape;874;p23"/>
            <p:cNvCxnSpPr/>
            <p:nvPr/>
          </p:nvCxnSpPr>
          <p:spPr>
            <a:xfrm rot="5400000">
              <a:off x="132" y="2542"/>
              <a:ext cx="214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875" name="Google Shape;875;p23"/>
            <p:cNvCxnSpPr/>
            <p:nvPr/>
          </p:nvCxnSpPr>
          <p:spPr>
            <a:xfrm rot="5400000">
              <a:off x="-575" y="2497"/>
              <a:ext cx="216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876" name="Google Shape;876;p23"/>
            <p:cNvCxnSpPr/>
            <p:nvPr/>
          </p:nvCxnSpPr>
          <p:spPr>
            <a:xfrm rot="10800000">
              <a:off x="509" y="1804"/>
              <a:ext cx="688" cy="1273"/>
            </a:xfrm>
            <a:prstGeom prst="straightConnector1">
              <a:avLst/>
            </a:prstGeom>
            <a:noFill/>
            <a:ln cap="flat" cmpd="sng" w="31750">
              <a:solidFill>
                <a:schemeClr val="accent2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877" name="Google Shape;877;p23"/>
            <p:cNvSpPr txBox="1"/>
            <p:nvPr/>
          </p:nvSpPr>
          <p:spPr>
            <a:xfrm>
              <a:off x="804" y="3058"/>
              <a:ext cx="452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E" sz="18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(2, 2)</a:t>
              </a:r>
              <a:endParaRPr b="1" i="0" sz="18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p23"/>
            <p:cNvSpPr txBox="1"/>
            <p:nvPr/>
          </p:nvSpPr>
          <p:spPr>
            <a:xfrm>
              <a:off x="121" y="1566"/>
              <a:ext cx="504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E" sz="1800" u="none" cap="none" strike="noStrik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(-1, 7)</a:t>
              </a:r>
              <a:endParaRPr b="1" i="0" sz="18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" name="Google Shape;879;p23"/>
            <p:cNvSpPr txBox="1"/>
            <p:nvPr/>
          </p:nvSpPr>
          <p:spPr>
            <a:xfrm>
              <a:off x="1112" y="357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E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p23"/>
            <p:cNvSpPr txBox="1"/>
            <p:nvPr/>
          </p:nvSpPr>
          <p:spPr>
            <a:xfrm>
              <a:off x="2309" y="357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E" sz="1800" u="none" cap="none" strike="noStrike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1" i="0" sz="1800" u="none" cap="none" strike="noStrike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881" name="Google Shape;881;p23"/>
          <p:cNvGraphicFramePr/>
          <p:nvPr/>
        </p:nvGraphicFramePr>
        <p:xfrm>
          <a:off x="4702175" y="24590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{129D0584-478C-42B4-80EA-1FC0C94138CF}</a:tableStyleId>
              </a:tblPr>
              <a:tblGrid>
                <a:gridCol w="1083875"/>
                <a:gridCol w="1083875"/>
                <a:gridCol w="1083875"/>
                <a:gridCol w="1083875"/>
              </a:tblGrid>
              <a:tr h="694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y(+1)</a:t>
                      </a:r>
                      <a:endParaRPr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x(+1/m)</a:t>
                      </a:r>
                      <a:endParaRPr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x(roundoff)</a:t>
                      </a:r>
                      <a:endParaRPr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pixel</a:t>
                      </a:r>
                      <a:endParaRPr/>
                    </a:p>
                  </a:txBody>
                  <a:tcPr marT="72750" marB="72750" marR="145550" marL="145550"/>
                </a:tc>
              </a:tr>
              <a:tr h="590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2</a:t>
                      </a:r>
                      <a:endParaRPr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2</a:t>
                      </a:r>
                      <a:endParaRPr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72750" marB="72750" marR="145550" marL="145550"/>
                </a:tc>
              </a:tr>
              <a:tr h="590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3</a:t>
                      </a:r>
                      <a:endParaRPr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1.4</a:t>
                      </a:r>
                      <a:endParaRPr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1</a:t>
                      </a:r>
                      <a:endParaRPr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(1, 3)</a:t>
                      </a:r>
                      <a:endParaRPr/>
                    </a:p>
                  </a:txBody>
                  <a:tcPr marT="72750" marB="72750" marR="145550" marL="145550"/>
                </a:tc>
              </a:tr>
              <a:tr h="590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4</a:t>
                      </a:r>
                      <a:endParaRPr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0.8</a:t>
                      </a:r>
                      <a:endParaRPr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1</a:t>
                      </a:r>
                      <a:endParaRPr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(1,</a:t>
                      </a:r>
                      <a:r>
                        <a:rPr lang="en-IE" sz="1800"/>
                        <a:t> 4</a:t>
                      </a:r>
                      <a:r>
                        <a:rPr lang="en-IE" sz="1800"/>
                        <a:t>)</a:t>
                      </a:r>
                      <a:endParaRPr/>
                    </a:p>
                  </a:txBody>
                  <a:tcPr marT="72750" marB="72750" marR="145550" marL="145550"/>
                </a:tc>
              </a:tr>
              <a:tr h="590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5</a:t>
                      </a:r>
                      <a:endParaRPr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0.2</a:t>
                      </a:r>
                      <a:endParaRPr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0</a:t>
                      </a:r>
                      <a:endParaRPr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(0, 5)</a:t>
                      </a:r>
                      <a:endParaRPr/>
                    </a:p>
                  </a:txBody>
                  <a:tcPr marT="72750" marB="72750" marR="145550" marL="145550"/>
                </a:tc>
              </a:tr>
              <a:tr h="590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6</a:t>
                      </a:r>
                      <a:endParaRPr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-0.4</a:t>
                      </a:r>
                      <a:endParaRPr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0</a:t>
                      </a:r>
                      <a:endParaRPr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(0, 6)</a:t>
                      </a:r>
                      <a:endParaRPr/>
                    </a:p>
                  </a:txBody>
                  <a:tcPr marT="72750" marB="72750" marR="145550" marL="145550"/>
                </a:tc>
              </a:tr>
            </a:tbl>
          </a:graphicData>
        </a:graphic>
      </p:graphicFrame>
      <p:pic>
        <p:nvPicPr>
          <p:cNvPr id="882" name="Google Shape;88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3338" y="5842000"/>
            <a:ext cx="2481262" cy="925513"/>
          </a:xfrm>
          <a:prstGeom prst="rect">
            <a:avLst/>
          </a:prstGeom>
          <a:noFill/>
          <a:ln>
            <a:noFill/>
          </a:ln>
        </p:spPr>
      </p:pic>
      <p:pic>
        <p:nvPicPr>
          <p:cNvPr id="883" name="Google Shape;88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24688" y="1485900"/>
            <a:ext cx="2012950" cy="820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24"/>
          <p:cNvSpPr txBox="1"/>
          <p:nvPr>
            <p:ph type="title"/>
          </p:nvPr>
        </p:nvSpPr>
        <p:spPr>
          <a:xfrm>
            <a:off x="638175" y="0"/>
            <a:ext cx="8505825" cy="1231900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The DDA Algorithm Summary</a:t>
            </a:r>
            <a:endParaRPr/>
          </a:p>
        </p:txBody>
      </p:sp>
      <p:sp>
        <p:nvSpPr>
          <p:cNvPr id="889" name="Google Shape;889;p24"/>
          <p:cNvSpPr txBox="1"/>
          <p:nvPr>
            <p:ph idx="1" type="body"/>
          </p:nvPr>
        </p:nvSpPr>
        <p:spPr>
          <a:xfrm>
            <a:off x="457200" y="1333500"/>
            <a:ext cx="8229600" cy="55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The DDA algorithm is much faster than our previous attempt</a:t>
            </a:r>
            <a:endParaRPr/>
          </a:p>
          <a:p>
            <a:pPr indent="-285750" lvl="1" marL="827088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IE"/>
              <a:t>In particular, there are no longer any multiplications involved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IE"/>
              <a:t>However, there are still two big issues:</a:t>
            </a:r>
            <a:endParaRPr/>
          </a:p>
          <a:p>
            <a:pPr indent="-285750" lvl="1" marL="827088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IE"/>
              <a:t>Accumulation of round-off errors can make the pixelated line drift away from what was intended</a:t>
            </a:r>
            <a:endParaRPr/>
          </a:p>
          <a:p>
            <a:pPr indent="-285750" lvl="1" marL="827088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lang="en-IE"/>
              <a:t>The rounding operations and floating point arithmetic involved are time consuming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25"/>
          <p:cNvSpPr txBox="1"/>
          <p:nvPr>
            <p:ph idx="1" type="body"/>
          </p:nvPr>
        </p:nvSpPr>
        <p:spPr>
          <a:xfrm>
            <a:off x="457200" y="1333500"/>
            <a:ext cx="8686800" cy="55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If -1&lt;m&lt;1 then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IE"/>
              <a:t>	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40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IE" sz="2800"/>
              <a:t>Then roundoff y.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IE" sz="2800"/>
              <a:t>Otherwise,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IE" sz="2800"/>
              <a:t>Then roundoff x.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895" name="Google Shape;895;p25"/>
          <p:cNvSpPr txBox="1"/>
          <p:nvPr>
            <p:ph type="title"/>
          </p:nvPr>
        </p:nvSpPr>
        <p:spPr>
          <a:xfrm>
            <a:off x="638175" y="0"/>
            <a:ext cx="8505825" cy="1231900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The DDA Algorithm (cont…)</a:t>
            </a:r>
            <a:endParaRPr/>
          </a:p>
        </p:txBody>
      </p:sp>
      <p:pic>
        <p:nvPicPr>
          <p:cNvPr id="896" name="Google Shape;89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20925" y="4932363"/>
            <a:ext cx="2760663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7" name="Google Shape;89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55863" y="1784350"/>
            <a:ext cx="2466975" cy="75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8" name="Google Shape;898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20925" y="2536825"/>
            <a:ext cx="2760663" cy="75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9" name="Google Shape;899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413000" y="4300538"/>
            <a:ext cx="2551113" cy="75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26"/>
          <p:cNvSpPr txBox="1"/>
          <p:nvPr>
            <p:ph type="title"/>
          </p:nvPr>
        </p:nvSpPr>
        <p:spPr>
          <a:xfrm>
            <a:off x="638175" y="0"/>
            <a:ext cx="8505825" cy="1231900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26"/>
          <p:cNvSpPr txBox="1"/>
          <p:nvPr>
            <p:ph idx="1" type="body"/>
          </p:nvPr>
        </p:nvSpPr>
        <p:spPr>
          <a:xfrm>
            <a:off x="457200" y="1333500"/>
            <a:ext cx="8229600" cy="55245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851" r="-2442" t="-143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 </a:t>
            </a:r>
            <a:endParaRPr/>
          </a:p>
        </p:txBody>
      </p:sp>
      <p:sp>
        <p:nvSpPr>
          <p:cNvPr id="906" name="Google Shape;906;p26"/>
          <p:cNvSpPr txBox="1"/>
          <p:nvPr/>
        </p:nvSpPr>
        <p:spPr>
          <a:xfrm>
            <a:off x="1415442" y="4095750"/>
            <a:ext cx="2905154" cy="816698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E" sz="18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27"/>
          <p:cNvSpPr txBox="1"/>
          <p:nvPr>
            <p:ph type="title"/>
          </p:nvPr>
        </p:nvSpPr>
        <p:spPr>
          <a:xfrm>
            <a:off x="638175" y="0"/>
            <a:ext cx="8505825" cy="1231900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DDA Algorithm Example</a:t>
            </a:r>
            <a:endParaRPr/>
          </a:p>
        </p:txBody>
      </p:sp>
      <p:sp>
        <p:nvSpPr>
          <p:cNvPr id="913" name="Google Shape;913;p27"/>
          <p:cNvSpPr txBox="1"/>
          <p:nvPr>
            <p:ph idx="1" type="body"/>
          </p:nvPr>
        </p:nvSpPr>
        <p:spPr>
          <a:xfrm>
            <a:off x="457200" y="1333500"/>
            <a:ext cx="8229600" cy="55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14" name="Google Shape;914;p27"/>
          <p:cNvGrpSpPr/>
          <p:nvPr/>
        </p:nvGrpSpPr>
        <p:grpSpPr>
          <a:xfrm>
            <a:off x="673100" y="2130425"/>
            <a:ext cx="3876675" cy="3914775"/>
            <a:chOff x="424" y="1342"/>
            <a:chExt cx="2442" cy="2466"/>
          </a:xfrm>
        </p:grpSpPr>
        <p:cxnSp>
          <p:nvCxnSpPr>
            <p:cNvPr id="915" name="Google Shape;915;p27"/>
            <p:cNvCxnSpPr/>
            <p:nvPr/>
          </p:nvCxnSpPr>
          <p:spPr>
            <a:xfrm rot="10800000">
              <a:off x="709" y="1472"/>
              <a:ext cx="0" cy="214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16" name="Google Shape;916;p27"/>
            <p:cNvCxnSpPr/>
            <p:nvPr/>
          </p:nvCxnSpPr>
          <p:spPr>
            <a:xfrm rot="10800000">
              <a:off x="1652" y="2522"/>
              <a:ext cx="0" cy="2026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917" name="Google Shape;917;p27"/>
            <p:cNvSpPr txBox="1"/>
            <p:nvPr/>
          </p:nvSpPr>
          <p:spPr>
            <a:xfrm>
              <a:off x="2572" y="3504"/>
              <a:ext cx="18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IE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18" name="Google Shape;918;p27"/>
            <p:cNvSpPr txBox="1"/>
            <p:nvPr/>
          </p:nvSpPr>
          <p:spPr>
            <a:xfrm>
              <a:off x="509" y="1342"/>
              <a:ext cx="18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IE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endParaRPr i="1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919" name="Google Shape;919;p27"/>
            <p:cNvCxnSpPr/>
            <p:nvPr/>
          </p:nvCxnSpPr>
          <p:spPr>
            <a:xfrm>
              <a:off x="581" y="3066"/>
              <a:ext cx="2025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920" name="Google Shape;920;p27"/>
            <p:cNvCxnSpPr/>
            <p:nvPr/>
          </p:nvCxnSpPr>
          <p:spPr>
            <a:xfrm>
              <a:off x="581" y="2288"/>
              <a:ext cx="1977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921" name="Google Shape;921;p27"/>
            <p:cNvCxnSpPr/>
            <p:nvPr/>
          </p:nvCxnSpPr>
          <p:spPr>
            <a:xfrm rot="5400000">
              <a:off x="132" y="2542"/>
              <a:ext cx="214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922" name="Google Shape;922;p27"/>
            <p:cNvCxnSpPr/>
            <p:nvPr/>
          </p:nvCxnSpPr>
          <p:spPr>
            <a:xfrm rot="5400000">
              <a:off x="1322" y="2552"/>
              <a:ext cx="216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923" name="Google Shape;923;p27"/>
            <p:cNvCxnSpPr/>
            <p:nvPr/>
          </p:nvCxnSpPr>
          <p:spPr>
            <a:xfrm>
              <a:off x="1202" y="2296"/>
              <a:ext cx="1203" cy="769"/>
            </a:xfrm>
            <a:prstGeom prst="straightConnector1">
              <a:avLst/>
            </a:prstGeom>
            <a:noFill/>
            <a:ln cap="flat" cmpd="sng" w="31750">
              <a:solidFill>
                <a:schemeClr val="accent2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924" name="Google Shape;924;p27"/>
            <p:cNvSpPr txBox="1"/>
            <p:nvPr/>
          </p:nvSpPr>
          <p:spPr>
            <a:xfrm>
              <a:off x="709" y="2043"/>
              <a:ext cx="45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E" sz="1800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(2, 5)</a:t>
              </a:r>
              <a:endParaRPr b="1" sz="18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27"/>
            <p:cNvSpPr txBox="1"/>
            <p:nvPr/>
          </p:nvSpPr>
          <p:spPr>
            <a:xfrm>
              <a:off x="2410" y="3051"/>
              <a:ext cx="45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E" sz="1800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(7, 2)</a:t>
              </a:r>
              <a:endParaRPr b="1" sz="18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27"/>
            <p:cNvSpPr txBox="1"/>
            <p:nvPr/>
          </p:nvSpPr>
          <p:spPr>
            <a:xfrm>
              <a:off x="1112" y="357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E" sz="1800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sz="18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27"/>
            <p:cNvSpPr txBox="1"/>
            <p:nvPr/>
          </p:nvSpPr>
          <p:spPr>
            <a:xfrm>
              <a:off x="2309" y="357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E" sz="1800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1" sz="18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27"/>
            <p:cNvSpPr txBox="1"/>
            <p:nvPr/>
          </p:nvSpPr>
          <p:spPr>
            <a:xfrm>
              <a:off x="424" y="2954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E" sz="1800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sz="18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27"/>
            <p:cNvSpPr txBox="1"/>
            <p:nvPr/>
          </p:nvSpPr>
          <p:spPr>
            <a:xfrm>
              <a:off x="433" y="2173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E" sz="1800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sz="18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930" name="Google Shape;930;p27"/>
          <p:cNvGraphicFramePr/>
          <p:nvPr/>
        </p:nvGraphicFramePr>
        <p:xfrm>
          <a:off x="4581513" y="226536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{129D0584-478C-42B4-80EA-1FC0C94138CF}</a:tableStyleId>
              </a:tblPr>
              <a:tblGrid>
                <a:gridCol w="937850"/>
                <a:gridCol w="922700"/>
                <a:gridCol w="1050500"/>
                <a:gridCol w="840375"/>
              </a:tblGrid>
              <a:tr h="694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x(+1)</a:t>
                      </a:r>
                      <a:endParaRPr/>
                    </a:p>
                  </a:txBody>
                  <a:tcPr marT="72750" marB="72750" marR="145600" marL="145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y(+m)</a:t>
                      </a:r>
                      <a:endParaRPr/>
                    </a:p>
                  </a:txBody>
                  <a:tcPr marT="72750" marB="72750" marR="145600" marL="145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y(roundoff)</a:t>
                      </a:r>
                      <a:endParaRPr/>
                    </a:p>
                  </a:txBody>
                  <a:tcPr marT="72750" marB="72750" marR="145600" marL="145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pixel</a:t>
                      </a:r>
                      <a:endParaRPr/>
                    </a:p>
                  </a:txBody>
                  <a:tcPr marT="72750" marB="72750" marR="145600" marL="145600"/>
                </a:tc>
              </a:tr>
              <a:tr h="590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7</a:t>
                      </a:r>
                      <a:endParaRPr/>
                    </a:p>
                  </a:txBody>
                  <a:tcPr marT="72750" marB="72750" marR="145600" marL="145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2</a:t>
                      </a:r>
                      <a:endParaRPr/>
                    </a:p>
                  </a:txBody>
                  <a:tcPr marT="72750" marB="72750" marR="145600" marL="145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72750" marB="72750" marR="145600" marL="145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72750" marB="72750" marR="145600" marL="145600"/>
                </a:tc>
              </a:tr>
              <a:tr h="590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>
                          <a:solidFill>
                            <a:srgbClr val="FF0000"/>
                          </a:solidFill>
                        </a:rPr>
                        <a:t>8</a:t>
                      </a:r>
                      <a:endParaRPr/>
                    </a:p>
                  </a:txBody>
                  <a:tcPr marT="72750" marB="72750" marR="145600" marL="145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>
                          <a:solidFill>
                            <a:srgbClr val="FF0000"/>
                          </a:solidFill>
                        </a:rPr>
                        <a:t>1.4</a:t>
                      </a:r>
                      <a:endParaRPr/>
                    </a:p>
                  </a:txBody>
                  <a:tcPr marT="72750" marB="72750" marR="145600" marL="145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>
                          <a:solidFill>
                            <a:srgbClr val="FF0000"/>
                          </a:solidFill>
                        </a:rPr>
                        <a:t>1</a:t>
                      </a:r>
                      <a:endParaRPr/>
                    </a:p>
                  </a:txBody>
                  <a:tcPr marT="72750" marB="72750" marR="145600" marL="145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>
                          <a:solidFill>
                            <a:srgbClr val="FF0000"/>
                          </a:solidFill>
                        </a:rPr>
                        <a:t>(8, 1)</a:t>
                      </a:r>
                      <a:endParaRPr/>
                    </a:p>
                  </a:txBody>
                  <a:tcPr marT="72750" marB="72750" marR="145600" marL="145600"/>
                </a:tc>
              </a:tr>
              <a:tr h="590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>
                          <a:solidFill>
                            <a:srgbClr val="FF0000"/>
                          </a:solidFill>
                        </a:rPr>
                        <a:t>9</a:t>
                      </a:r>
                      <a:endParaRPr/>
                    </a:p>
                  </a:txBody>
                  <a:tcPr marT="72750" marB="72750" marR="145600" marL="145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>
                          <a:solidFill>
                            <a:srgbClr val="FF0000"/>
                          </a:solidFill>
                        </a:rPr>
                        <a:t>0.8</a:t>
                      </a:r>
                      <a:endParaRPr/>
                    </a:p>
                  </a:txBody>
                  <a:tcPr marT="72750" marB="72750" marR="145600" marL="145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>
                          <a:solidFill>
                            <a:srgbClr val="FF0000"/>
                          </a:solidFill>
                        </a:rPr>
                        <a:t>1</a:t>
                      </a:r>
                      <a:endParaRPr/>
                    </a:p>
                  </a:txBody>
                  <a:tcPr marT="72750" marB="72750" marR="145600" marL="145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>
                          <a:solidFill>
                            <a:srgbClr val="FF0000"/>
                          </a:solidFill>
                        </a:rPr>
                        <a:t>(9, 1)</a:t>
                      </a:r>
                      <a:endParaRPr/>
                    </a:p>
                  </a:txBody>
                  <a:tcPr marT="72750" marB="72750" marR="145600" marL="145600"/>
                </a:tc>
              </a:tr>
              <a:tr h="590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72750" marB="72750" marR="145600" marL="145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72750" marB="72750" marR="145600" marL="145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72750" marB="72750" marR="145600" marL="145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72750" marB="72750" marR="145600" marL="145600"/>
                </a:tc>
              </a:tr>
              <a:tr h="590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72750" marB="72750" marR="145600" marL="145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72750" marB="72750" marR="145600" marL="145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72750" marB="72750" marR="145600" marL="145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72750" marB="72750" marR="145600" marL="145600"/>
                </a:tc>
              </a:tr>
            </a:tbl>
          </a:graphicData>
        </a:graphic>
      </p:graphicFrame>
      <p:sp>
        <p:nvSpPr>
          <p:cNvPr id="931" name="Google Shape;931;p27"/>
          <p:cNvSpPr txBox="1"/>
          <p:nvPr/>
        </p:nvSpPr>
        <p:spPr>
          <a:xfrm>
            <a:off x="1765300" y="6124574"/>
            <a:ext cx="1874680" cy="52501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28"/>
          <p:cNvSpPr txBox="1"/>
          <p:nvPr>
            <p:ph type="title"/>
          </p:nvPr>
        </p:nvSpPr>
        <p:spPr>
          <a:xfrm>
            <a:off x="638175" y="0"/>
            <a:ext cx="8505825" cy="1231900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28"/>
          <p:cNvSpPr txBox="1"/>
          <p:nvPr>
            <p:ph idx="1" type="body"/>
          </p:nvPr>
        </p:nvSpPr>
        <p:spPr>
          <a:xfrm>
            <a:off x="457200" y="1333500"/>
            <a:ext cx="8229600" cy="55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(8, 1), (9, 1) these points are outside the line segment, so unacceptable.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IE"/>
              <a:t>So, we must decrement here. So we need to update our DDA algorithm for these cases.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29"/>
          <p:cNvSpPr txBox="1"/>
          <p:nvPr>
            <p:ph idx="1" type="body"/>
          </p:nvPr>
        </p:nvSpPr>
        <p:spPr>
          <a:xfrm>
            <a:off x="457200" y="1333500"/>
            <a:ext cx="8401050" cy="538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E">
                <a:solidFill>
                  <a:srgbClr val="FF0000"/>
                </a:solidFill>
              </a:rPr>
              <a:t>If -1&lt;m&lt;1 then,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-IE"/>
              <a:t>	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40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IE" sz="2800"/>
              <a:t>Then roundoff y.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IE" sz="2800">
                <a:solidFill>
                  <a:srgbClr val="FF0000"/>
                </a:solidFill>
              </a:rPr>
              <a:t>Otherwise, if -∞&lt;m&lt;-1 or 1&lt;m&lt; ∞ then,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IE" sz="2800"/>
              <a:t>Then roundoff x.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943" name="Google Shape;943;p29"/>
          <p:cNvSpPr txBox="1"/>
          <p:nvPr>
            <p:ph type="title"/>
          </p:nvPr>
        </p:nvSpPr>
        <p:spPr>
          <a:xfrm>
            <a:off x="638175" y="0"/>
            <a:ext cx="8505825" cy="1231900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The DDA Algorithm revised</a:t>
            </a:r>
            <a:endParaRPr/>
          </a:p>
        </p:txBody>
      </p:sp>
      <p:sp>
        <p:nvSpPr>
          <p:cNvPr id="944" name="Google Shape;944;p29"/>
          <p:cNvSpPr txBox="1"/>
          <p:nvPr/>
        </p:nvSpPr>
        <p:spPr>
          <a:xfrm>
            <a:off x="1703670" y="2293954"/>
            <a:ext cx="2272673" cy="4308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945" name="Google Shape;945;p29"/>
          <p:cNvSpPr txBox="1"/>
          <p:nvPr/>
        </p:nvSpPr>
        <p:spPr>
          <a:xfrm>
            <a:off x="1537278" y="4969806"/>
            <a:ext cx="2277162" cy="43088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946" name="Google Shape;946;p29"/>
          <p:cNvSpPr txBox="1"/>
          <p:nvPr/>
        </p:nvSpPr>
        <p:spPr>
          <a:xfrm>
            <a:off x="1537278" y="5414381"/>
            <a:ext cx="2381421" cy="80938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947" name="Google Shape;947;p29"/>
          <p:cNvSpPr txBox="1"/>
          <p:nvPr/>
        </p:nvSpPr>
        <p:spPr>
          <a:xfrm>
            <a:off x="1730892" y="2977971"/>
            <a:ext cx="2385910" cy="430887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948" name="Google Shape;948;p29"/>
          <p:cNvSpPr txBox="1"/>
          <p:nvPr/>
        </p:nvSpPr>
        <p:spPr>
          <a:xfrm>
            <a:off x="5542560" y="2293953"/>
            <a:ext cx="2320443" cy="43088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949" name="Google Shape;949;p29"/>
          <p:cNvSpPr txBox="1"/>
          <p:nvPr/>
        </p:nvSpPr>
        <p:spPr>
          <a:xfrm>
            <a:off x="5542560" y="2897353"/>
            <a:ext cx="2455095" cy="430887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950" name="Google Shape;950;p29"/>
          <p:cNvSpPr txBox="1"/>
          <p:nvPr/>
        </p:nvSpPr>
        <p:spPr>
          <a:xfrm>
            <a:off x="1133149" y="1882917"/>
            <a:ext cx="1587871" cy="461665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-30261" l="-6153" r="0" t="-921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951" name="Google Shape;951;p29"/>
          <p:cNvSpPr txBox="1"/>
          <p:nvPr/>
        </p:nvSpPr>
        <p:spPr>
          <a:xfrm>
            <a:off x="1054962" y="4596693"/>
            <a:ext cx="1613775" cy="461665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 b="-30261" l="-5659" r="-4904" t="-921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952" name="Google Shape;952;p29"/>
          <p:cNvSpPr txBox="1"/>
          <p:nvPr/>
        </p:nvSpPr>
        <p:spPr>
          <a:xfrm>
            <a:off x="5824356" y="5105627"/>
            <a:ext cx="2336473" cy="430887"/>
          </a:xfrm>
          <a:prstGeom prst="rect">
            <a:avLst/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953" name="Google Shape;953;p29"/>
          <p:cNvSpPr txBox="1"/>
          <p:nvPr/>
        </p:nvSpPr>
        <p:spPr>
          <a:xfrm>
            <a:off x="5824356" y="5486594"/>
            <a:ext cx="2439065" cy="809452"/>
          </a:xfrm>
          <a:prstGeom prst="rect">
            <a:avLst/>
          </a:pr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954" name="Google Shape;954;p29"/>
          <p:cNvSpPr txBox="1"/>
          <p:nvPr/>
        </p:nvSpPr>
        <p:spPr>
          <a:xfrm>
            <a:off x="5182236" y="1894602"/>
            <a:ext cx="904415" cy="461665"/>
          </a:xfrm>
          <a:prstGeom prst="rect">
            <a:avLst/>
          </a:prstGeom>
          <a:blipFill rotWithShape="1">
            <a:blip r:embed="rId13">
              <a:alphaModFix/>
            </a:blip>
            <a:stretch>
              <a:fillRect b="-30261" l="-10134" r="0" t="-921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955" name="Google Shape;955;p29"/>
          <p:cNvSpPr txBox="1"/>
          <p:nvPr/>
        </p:nvSpPr>
        <p:spPr>
          <a:xfrm>
            <a:off x="5452430" y="4723584"/>
            <a:ext cx="904415" cy="461665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 b="-30261" l="-10066" r="0" t="-921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cxnSp>
        <p:nvCxnSpPr>
          <p:cNvPr id="956" name="Google Shape;956;p29"/>
          <p:cNvCxnSpPr/>
          <p:nvPr/>
        </p:nvCxnSpPr>
        <p:spPr>
          <a:xfrm>
            <a:off x="4706938" y="1882775"/>
            <a:ext cx="0" cy="154622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7" name="Google Shape;957;p29"/>
          <p:cNvCxnSpPr/>
          <p:nvPr/>
        </p:nvCxnSpPr>
        <p:spPr>
          <a:xfrm>
            <a:off x="4706938" y="4827588"/>
            <a:ext cx="0" cy="1546225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30"/>
          <p:cNvSpPr txBox="1"/>
          <p:nvPr>
            <p:ph type="title"/>
          </p:nvPr>
        </p:nvSpPr>
        <p:spPr>
          <a:xfrm>
            <a:off x="638175" y="0"/>
            <a:ext cx="8505825" cy="1231900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DDA Algorithm Example</a:t>
            </a:r>
            <a:endParaRPr/>
          </a:p>
        </p:txBody>
      </p:sp>
      <p:grpSp>
        <p:nvGrpSpPr>
          <p:cNvPr id="964" name="Google Shape;964;p30"/>
          <p:cNvGrpSpPr/>
          <p:nvPr/>
        </p:nvGrpSpPr>
        <p:grpSpPr>
          <a:xfrm>
            <a:off x="673100" y="2130425"/>
            <a:ext cx="3876675" cy="3914775"/>
            <a:chOff x="424" y="1342"/>
            <a:chExt cx="2442" cy="2466"/>
          </a:xfrm>
        </p:grpSpPr>
        <p:cxnSp>
          <p:nvCxnSpPr>
            <p:cNvPr id="965" name="Google Shape;965;p30"/>
            <p:cNvCxnSpPr/>
            <p:nvPr/>
          </p:nvCxnSpPr>
          <p:spPr>
            <a:xfrm rot="10800000">
              <a:off x="709" y="1472"/>
              <a:ext cx="0" cy="214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66" name="Google Shape;966;p30"/>
            <p:cNvCxnSpPr/>
            <p:nvPr/>
          </p:nvCxnSpPr>
          <p:spPr>
            <a:xfrm rot="10800000">
              <a:off x="1652" y="2522"/>
              <a:ext cx="0" cy="2026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967" name="Google Shape;967;p30"/>
            <p:cNvSpPr txBox="1"/>
            <p:nvPr/>
          </p:nvSpPr>
          <p:spPr>
            <a:xfrm>
              <a:off x="2572" y="3504"/>
              <a:ext cx="18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IE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68" name="Google Shape;968;p30"/>
            <p:cNvSpPr txBox="1"/>
            <p:nvPr/>
          </p:nvSpPr>
          <p:spPr>
            <a:xfrm>
              <a:off x="509" y="1342"/>
              <a:ext cx="18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IE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endParaRPr i="1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969" name="Google Shape;969;p30"/>
            <p:cNvCxnSpPr/>
            <p:nvPr/>
          </p:nvCxnSpPr>
          <p:spPr>
            <a:xfrm>
              <a:off x="581" y="3066"/>
              <a:ext cx="2025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970" name="Google Shape;970;p30"/>
            <p:cNvCxnSpPr/>
            <p:nvPr/>
          </p:nvCxnSpPr>
          <p:spPr>
            <a:xfrm>
              <a:off x="581" y="2288"/>
              <a:ext cx="1977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971" name="Google Shape;971;p30"/>
            <p:cNvCxnSpPr/>
            <p:nvPr/>
          </p:nvCxnSpPr>
          <p:spPr>
            <a:xfrm rot="5400000">
              <a:off x="132" y="2542"/>
              <a:ext cx="214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972" name="Google Shape;972;p30"/>
            <p:cNvCxnSpPr/>
            <p:nvPr/>
          </p:nvCxnSpPr>
          <p:spPr>
            <a:xfrm rot="5400000">
              <a:off x="1322" y="2552"/>
              <a:ext cx="216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973" name="Google Shape;973;p30"/>
            <p:cNvCxnSpPr/>
            <p:nvPr/>
          </p:nvCxnSpPr>
          <p:spPr>
            <a:xfrm>
              <a:off x="1202" y="2296"/>
              <a:ext cx="1203" cy="769"/>
            </a:xfrm>
            <a:prstGeom prst="straightConnector1">
              <a:avLst/>
            </a:prstGeom>
            <a:noFill/>
            <a:ln cap="flat" cmpd="sng" w="31750">
              <a:solidFill>
                <a:schemeClr val="accent2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974" name="Google Shape;974;p30"/>
            <p:cNvSpPr txBox="1"/>
            <p:nvPr/>
          </p:nvSpPr>
          <p:spPr>
            <a:xfrm>
              <a:off x="709" y="2043"/>
              <a:ext cx="45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E" sz="1800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(2, 5)</a:t>
              </a:r>
              <a:endParaRPr b="1" sz="18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30"/>
            <p:cNvSpPr txBox="1"/>
            <p:nvPr/>
          </p:nvSpPr>
          <p:spPr>
            <a:xfrm>
              <a:off x="2410" y="3051"/>
              <a:ext cx="45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E" sz="1800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(7, 2)</a:t>
              </a:r>
              <a:endParaRPr b="1" sz="18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30"/>
            <p:cNvSpPr txBox="1"/>
            <p:nvPr/>
          </p:nvSpPr>
          <p:spPr>
            <a:xfrm>
              <a:off x="1112" y="357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E" sz="1800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sz="18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30"/>
            <p:cNvSpPr txBox="1"/>
            <p:nvPr/>
          </p:nvSpPr>
          <p:spPr>
            <a:xfrm>
              <a:off x="2309" y="357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E" sz="1800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1" sz="18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30"/>
            <p:cNvSpPr txBox="1"/>
            <p:nvPr/>
          </p:nvSpPr>
          <p:spPr>
            <a:xfrm>
              <a:off x="424" y="2954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E" sz="1800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sz="18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p30"/>
            <p:cNvSpPr txBox="1"/>
            <p:nvPr/>
          </p:nvSpPr>
          <p:spPr>
            <a:xfrm>
              <a:off x="433" y="2173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E" sz="1800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sz="18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980" name="Google Shape;980;p30"/>
          <p:cNvGraphicFramePr/>
          <p:nvPr/>
        </p:nvGraphicFramePr>
        <p:xfrm>
          <a:off x="4706938" y="22129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{129D0584-478C-42B4-80EA-1FC0C94138CF}</a:tableStyleId>
              </a:tblPr>
              <a:tblGrid>
                <a:gridCol w="1084275"/>
                <a:gridCol w="1084275"/>
                <a:gridCol w="1084275"/>
                <a:gridCol w="1084275"/>
              </a:tblGrid>
              <a:tr h="694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x(-1)</a:t>
                      </a:r>
                      <a:endParaRPr/>
                    </a:p>
                  </a:txBody>
                  <a:tcPr marT="72750" marB="72750" marR="145600" marL="145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y(-m)</a:t>
                      </a:r>
                      <a:endParaRPr/>
                    </a:p>
                  </a:txBody>
                  <a:tcPr marT="72750" marB="72750" marR="145600" marL="145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y(roundoff)</a:t>
                      </a:r>
                      <a:endParaRPr/>
                    </a:p>
                  </a:txBody>
                  <a:tcPr marT="72750" marB="72750" marR="145600" marL="145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pixel</a:t>
                      </a:r>
                      <a:endParaRPr/>
                    </a:p>
                  </a:txBody>
                  <a:tcPr marT="72750" marB="72750" marR="145600" marL="145600"/>
                </a:tc>
              </a:tr>
              <a:tr h="590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7</a:t>
                      </a:r>
                      <a:endParaRPr/>
                    </a:p>
                  </a:txBody>
                  <a:tcPr marT="72750" marB="72750" marR="145600" marL="145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2</a:t>
                      </a:r>
                      <a:endParaRPr/>
                    </a:p>
                  </a:txBody>
                  <a:tcPr marT="72750" marB="72750" marR="145600" marL="145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72750" marB="72750" marR="145600" marL="145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72750" marB="72750" marR="145600" marL="145600"/>
                </a:tc>
              </a:tr>
              <a:tr h="590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>
                          <a:solidFill>
                            <a:schemeClr val="dk1"/>
                          </a:solidFill>
                        </a:rPr>
                        <a:t>6</a:t>
                      </a:r>
                      <a:endParaRPr/>
                    </a:p>
                  </a:txBody>
                  <a:tcPr marT="72750" marB="72750" marR="145600" marL="145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>
                          <a:solidFill>
                            <a:schemeClr val="dk1"/>
                          </a:solidFill>
                        </a:rPr>
                        <a:t>2.6</a:t>
                      </a:r>
                      <a:endParaRPr/>
                    </a:p>
                  </a:txBody>
                  <a:tcPr marT="72750" marB="72750" marR="145600" marL="145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72750" marB="72750" marR="145600" marL="145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>
                          <a:solidFill>
                            <a:schemeClr val="dk1"/>
                          </a:solidFill>
                        </a:rPr>
                        <a:t>(6, 3)</a:t>
                      </a:r>
                      <a:endParaRPr/>
                    </a:p>
                  </a:txBody>
                  <a:tcPr marT="72750" marB="72750" marR="145600" marL="145600"/>
                </a:tc>
              </a:tr>
              <a:tr h="590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>
                          <a:solidFill>
                            <a:schemeClr val="dk1"/>
                          </a:solidFill>
                        </a:rPr>
                        <a:t>5</a:t>
                      </a:r>
                      <a:endParaRPr/>
                    </a:p>
                  </a:txBody>
                  <a:tcPr marT="72750" marB="72750" marR="145600" marL="145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>
                          <a:solidFill>
                            <a:schemeClr val="dk1"/>
                          </a:solidFill>
                        </a:rPr>
                        <a:t>3.2</a:t>
                      </a:r>
                      <a:endParaRPr/>
                    </a:p>
                  </a:txBody>
                  <a:tcPr marT="72750" marB="72750" marR="145600" marL="145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>
                          <a:solidFill>
                            <a:schemeClr val="dk1"/>
                          </a:solidFill>
                        </a:rPr>
                        <a:t>3</a:t>
                      </a:r>
                      <a:endParaRPr/>
                    </a:p>
                  </a:txBody>
                  <a:tcPr marT="72750" marB="72750" marR="145600" marL="145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>
                          <a:solidFill>
                            <a:schemeClr val="dk1"/>
                          </a:solidFill>
                        </a:rPr>
                        <a:t>(5, 3)</a:t>
                      </a:r>
                      <a:endParaRPr/>
                    </a:p>
                  </a:txBody>
                  <a:tcPr marT="72750" marB="72750" marR="145600" marL="145600"/>
                </a:tc>
              </a:tr>
              <a:tr h="590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4</a:t>
                      </a:r>
                      <a:endParaRPr/>
                    </a:p>
                  </a:txBody>
                  <a:tcPr marT="72750" marB="72750" marR="145600" marL="145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3.8</a:t>
                      </a:r>
                      <a:endParaRPr/>
                    </a:p>
                  </a:txBody>
                  <a:tcPr marT="72750" marB="72750" marR="145600" marL="145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4</a:t>
                      </a:r>
                      <a:endParaRPr/>
                    </a:p>
                  </a:txBody>
                  <a:tcPr marT="72750" marB="72750" marR="145600" marL="145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(4, 4)</a:t>
                      </a:r>
                      <a:endParaRPr/>
                    </a:p>
                  </a:txBody>
                  <a:tcPr marT="72750" marB="72750" marR="145600" marL="145600"/>
                </a:tc>
              </a:tr>
              <a:tr h="590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3</a:t>
                      </a:r>
                      <a:endParaRPr/>
                    </a:p>
                  </a:txBody>
                  <a:tcPr marT="72750" marB="72750" marR="145600" marL="145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4.4</a:t>
                      </a:r>
                      <a:endParaRPr/>
                    </a:p>
                  </a:txBody>
                  <a:tcPr marT="72750" marB="72750" marR="145600" marL="145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4</a:t>
                      </a:r>
                      <a:endParaRPr/>
                    </a:p>
                  </a:txBody>
                  <a:tcPr marT="72750" marB="72750" marR="145600" marL="145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(3, 4)</a:t>
                      </a:r>
                      <a:endParaRPr/>
                    </a:p>
                  </a:txBody>
                  <a:tcPr marT="72750" marB="72750" marR="145600" marL="145600"/>
                </a:tc>
              </a:tr>
            </a:tbl>
          </a:graphicData>
        </a:graphic>
      </p:graphicFrame>
      <p:sp>
        <p:nvSpPr>
          <p:cNvPr id="981" name="Google Shape;981;p30"/>
          <p:cNvSpPr txBox="1"/>
          <p:nvPr/>
        </p:nvSpPr>
        <p:spPr>
          <a:xfrm>
            <a:off x="1765300" y="6124574"/>
            <a:ext cx="1874680" cy="52501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982" name="Google Shape;982;p30"/>
          <p:cNvSpPr txBox="1"/>
          <p:nvPr/>
        </p:nvSpPr>
        <p:spPr>
          <a:xfrm>
            <a:off x="4572000" y="1333500"/>
            <a:ext cx="2581156" cy="83099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6911" l="-3545" r="-259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983" name="Google Shape;983;p30"/>
          <p:cNvSpPr txBox="1"/>
          <p:nvPr/>
        </p:nvSpPr>
        <p:spPr>
          <a:xfrm>
            <a:off x="457200" y="1333500"/>
            <a:ext cx="8229600" cy="55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E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First endpoint: (7, 2)</a:t>
            </a:r>
            <a:endParaRPr/>
          </a:p>
          <a:p>
            <a:pPr indent="0" lvl="0" marL="0" marR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IE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Second endpoint: (2, 5)</a:t>
            </a:r>
            <a:endParaRPr sz="2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31"/>
          <p:cNvSpPr txBox="1"/>
          <p:nvPr>
            <p:ph type="title"/>
          </p:nvPr>
        </p:nvSpPr>
        <p:spPr>
          <a:xfrm>
            <a:off x="638175" y="0"/>
            <a:ext cx="8505825" cy="1231900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DDA Algorithm Example</a:t>
            </a:r>
            <a:endParaRPr/>
          </a:p>
        </p:txBody>
      </p:sp>
      <p:sp>
        <p:nvSpPr>
          <p:cNvPr id="989" name="Google Shape;989;p31"/>
          <p:cNvSpPr txBox="1"/>
          <p:nvPr>
            <p:ph idx="1" type="body"/>
          </p:nvPr>
        </p:nvSpPr>
        <p:spPr>
          <a:xfrm>
            <a:off x="457200" y="1333500"/>
            <a:ext cx="8229600" cy="55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E" sz="2800"/>
              <a:t>First endpoint: (2, 7)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None/>
            </a:pPr>
            <a:r>
              <a:rPr lang="en-IE" sz="2800"/>
              <a:t>Second endpoint: (5, 2)</a:t>
            </a:r>
            <a:endParaRPr sz="2800"/>
          </a:p>
        </p:txBody>
      </p:sp>
      <p:grpSp>
        <p:nvGrpSpPr>
          <p:cNvPr id="990" name="Google Shape;990;p31"/>
          <p:cNvGrpSpPr/>
          <p:nvPr/>
        </p:nvGrpSpPr>
        <p:grpSpPr>
          <a:xfrm>
            <a:off x="638175" y="2130425"/>
            <a:ext cx="3730625" cy="3914775"/>
            <a:chOff x="402" y="1342"/>
            <a:chExt cx="2350" cy="2466"/>
          </a:xfrm>
        </p:grpSpPr>
        <p:cxnSp>
          <p:nvCxnSpPr>
            <p:cNvPr id="991" name="Google Shape;991;p31"/>
            <p:cNvCxnSpPr/>
            <p:nvPr/>
          </p:nvCxnSpPr>
          <p:spPr>
            <a:xfrm rot="10800000">
              <a:off x="709" y="1472"/>
              <a:ext cx="0" cy="214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92" name="Google Shape;992;p31"/>
            <p:cNvCxnSpPr/>
            <p:nvPr/>
          </p:nvCxnSpPr>
          <p:spPr>
            <a:xfrm rot="10800000">
              <a:off x="1652" y="2522"/>
              <a:ext cx="0" cy="2026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993" name="Google Shape;993;p31"/>
            <p:cNvSpPr txBox="1"/>
            <p:nvPr/>
          </p:nvSpPr>
          <p:spPr>
            <a:xfrm>
              <a:off x="2572" y="3504"/>
              <a:ext cx="18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IE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endParaRPr i="1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94" name="Google Shape;994;p31"/>
            <p:cNvSpPr txBox="1"/>
            <p:nvPr/>
          </p:nvSpPr>
          <p:spPr>
            <a:xfrm>
              <a:off x="509" y="1342"/>
              <a:ext cx="18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IE" sz="18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endParaRPr i="1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995" name="Google Shape;995;p31"/>
            <p:cNvCxnSpPr/>
            <p:nvPr/>
          </p:nvCxnSpPr>
          <p:spPr>
            <a:xfrm>
              <a:off x="581" y="3066"/>
              <a:ext cx="2025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996" name="Google Shape;996;p31"/>
            <p:cNvCxnSpPr/>
            <p:nvPr/>
          </p:nvCxnSpPr>
          <p:spPr>
            <a:xfrm>
              <a:off x="581" y="1804"/>
              <a:ext cx="1977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997" name="Google Shape;997;p31"/>
            <p:cNvCxnSpPr/>
            <p:nvPr/>
          </p:nvCxnSpPr>
          <p:spPr>
            <a:xfrm rot="5400000">
              <a:off x="132" y="2542"/>
              <a:ext cx="214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998" name="Google Shape;998;p31"/>
            <p:cNvCxnSpPr/>
            <p:nvPr/>
          </p:nvCxnSpPr>
          <p:spPr>
            <a:xfrm rot="5400000">
              <a:off x="761" y="2497"/>
              <a:ext cx="2160" cy="0"/>
            </a:xfrm>
            <a:prstGeom prst="straightConnector1">
              <a:avLst/>
            </a:prstGeom>
            <a:noFill/>
            <a:ln cap="flat" cmpd="sng" w="19050">
              <a:solidFill>
                <a:srgbClr val="FF9900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999" name="Google Shape;999;p31"/>
            <p:cNvCxnSpPr/>
            <p:nvPr/>
          </p:nvCxnSpPr>
          <p:spPr>
            <a:xfrm rot="10800000">
              <a:off x="1214" y="1804"/>
              <a:ext cx="627" cy="1262"/>
            </a:xfrm>
            <a:prstGeom prst="straightConnector1">
              <a:avLst/>
            </a:prstGeom>
            <a:noFill/>
            <a:ln cap="flat" cmpd="sng" w="31750">
              <a:solidFill>
                <a:schemeClr val="accent2"/>
              </a:solidFill>
              <a:prstDash val="solid"/>
              <a:round/>
              <a:headEnd len="med" w="med" type="oval"/>
              <a:tailEnd len="med" w="med" type="oval"/>
            </a:ln>
          </p:spPr>
        </p:cxnSp>
        <p:sp>
          <p:nvSpPr>
            <p:cNvPr id="1000" name="Google Shape;1000;p31"/>
            <p:cNvSpPr txBox="1"/>
            <p:nvPr/>
          </p:nvSpPr>
          <p:spPr>
            <a:xfrm>
              <a:off x="1825" y="3051"/>
              <a:ext cx="45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E" sz="1800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(5, 2)</a:t>
              </a:r>
              <a:endParaRPr b="1" sz="18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p31"/>
            <p:cNvSpPr txBox="1"/>
            <p:nvPr/>
          </p:nvSpPr>
          <p:spPr>
            <a:xfrm>
              <a:off x="734" y="1590"/>
              <a:ext cx="45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E" sz="1800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(2, 7)</a:t>
              </a:r>
              <a:endParaRPr b="1" sz="18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31"/>
            <p:cNvSpPr txBox="1"/>
            <p:nvPr/>
          </p:nvSpPr>
          <p:spPr>
            <a:xfrm>
              <a:off x="1112" y="3577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E" sz="1800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sz="18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31"/>
            <p:cNvSpPr txBox="1"/>
            <p:nvPr/>
          </p:nvSpPr>
          <p:spPr>
            <a:xfrm>
              <a:off x="1797" y="3557"/>
              <a:ext cx="19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E" sz="1800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sz="18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31"/>
            <p:cNvSpPr txBox="1"/>
            <p:nvPr/>
          </p:nvSpPr>
          <p:spPr>
            <a:xfrm>
              <a:off x="424" y="2954"/>
              <a:ext cx="196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E" sz="1800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sz="18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31"/>
            <p:cNvSpPr txBox="1"/>
            <p:nvPr/>
          </p:nvSpPr>
          <p:spPr>
            <a:xfrm>
              <a:off x="402" y="1681"/>
              <a:ext cx="19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E" sz="1800">
                  <a:solidFill>
                    <a:srgbClr val="FF99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1" sz="1800">
                <a:solidFill>
                  <a:srgbClr val="FF99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1006" name="Google Shape;1006;p31"/>
          <p:cNvGraphicFramePr/>
          <p:nvPr/>
        </p:nvGraphicFramePr>
        <p:xfrm>
          <a:off x="4702175" y="245903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{129D0584-478C-42B4-80EA-1FC0C94138CF}</a:tableStyleId>
              </a:tblPr>
              <a:tblGrid>
                <a:gridCol w="1083875"/>
                <a:gridCol w="1083875"/>
                <a:gridCol w="1083875"/>
                <a:gridCol w="1083875"/>
              </a:tblGrid>
              <a:tr h="694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y(-1)</a:t>
                      </a:r>
                      <a:endParaRPr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x(-1/m)</a:t>
                      </a:r>
                      <a:endParaRPr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x(roundoff)</a:t>
                      </a:r>
                      <a:endParaRPr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pixel</a:t>
                      </a:r>
                      <a:endParaRPr/>
                    </a:p>
                  </a:txBody>
                  <a:tcPr marT="72750" marB="72750" marR="145550" marL="145550"/>
                </a:tc>
              </a:tr>
              <a:tr h="590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7</a:t>
                      </a:r>
                      <a:endParaRPr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2</a:t>
                      </a:r>
                      <a:endParaRPr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72750" marB="72750" marR="145550" marL="145550"/>
                </a:tc>
              </a:tr>
              <a:tr h="590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6</a:t>
                      </a:r>
                      <a:endParaRPr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2.6</a:t>
                      </a:r>
                      <a:endParaRPr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3</a:t>
                      </a:r>
                      <a:endParaRPr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(3, 6)</a:t>
                      </a:r>
                      <a:endParaRPr/>
                    </a:p>
                  </a:txBody>
                  <a:tcPr marT="72750" marB="72750" marR="145550" marL="145550"/>
                </a:tc>
              </a:tr>
              <a:tr h="590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5</a:t>
                      </a:r>
                      <a:endParaRPr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3.2</a:t>
                      </a:r>
                      <a:endParaRPr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3</a:t>
                      </a:r>
                      <a:endParaRPr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(3,</a:t>
                      </a:r>
                      <a:r>
                        <a:rPr lang="en-IE" sz="1800"/>
                        <a:t> 5</a:t>
                      </a:r>
                      <a:r>
                        <a:rPr lang="en-IE" sz="1800"/>
                        <a:t>)</a:t>
                      </a:r>
                      <a:endParaRPr/>
                    </a:p>
                  </a:txBody>
                  <a:tcPr marT="72750" marB="72750" marR="145550" marL="145550"/>
                </a:tc>
              </a:tr>
              <a:tr h="590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4</a:t>
                      </a:r>
                      <a:endParaRPr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3.8</a:t>
                      </a:r>
                      <a:endParaRPr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4</a:t>
                      </a:r>
                      <a:endParaRPr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(4, 4)</a:t>
                      </a:r>
                      <a:endParaRPr/>
                    </a:p>
                  </a:txBody>
                  <a:tcPr marT="72750" marB="72750" marR="145550" marL="145550"/>
                </a:tc>
              </a:tr>
              <a:tr h="590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3</a:t>
                      </a:r>
                      <a:endParaRPr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4.4</a:t>
                      </a:r>
                      <a:endParaRPr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4</a:t>
                      </a:r>
                      <a:endParaRPr/>
                    </a:p>
                  </a:txBody>
                  <a:tcPr marT="72750" marB="72750" marR="145550" marL="1455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E" sz="1800"/>
                        <a:t>(4, 3)</a:t>
                      </a:r>
                      <a:endParaRPr/>
                    </a:p>
                  </a:txBody>
                  <a:tcPr marT="72750" marB="72750" marR="145550" marL="145550"/>
                </a:tc>
              </a:tr>
            </a:tbl>
          </a:graphicData>
        </a:graphic>
      </p:graphicFrame>
      <p:sp>
        <p:nvSpPr>
          <p:cNvPr id="1007" name="Google Shape;1007;p31"/>
          <p:cNvSpPr txBox="1"/>
          <p:nvPr/>
        </p:nvSpPr>
        <p:spPr>
          <a:xfrm>
            <a:off x="1765300" y="6124574"/>
            <a:ext cx="2259401" cy="52046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008" name="Google Shape;1008;p31"/>
          <p:cNvSpPr txBox="1"/>
          <p:nvPr/>
        </p:nvSpPr>
        <p:spPr>
          <a:xfrm>
            <a:off x="7869429" y="1444779"/>
            <a:ext cx="1041119" cy="5203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009" name="Google Shape;1009;p31"/>
          <p:cNvSpPr txBox="1"/>
          <p:nvPr/>
        </p:nvSpPr>
        <p:spPr>
          <a:xfrm>
            <a:off x="4702175" y="1333500"/>
            <a:ext cx="2581156" cy="830997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6911" l="-3537" r="-2592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E" sz="1800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32"/>
          <p:cNvSpPr txBox="1"/>
          <p:nvPr>
            <p:ph type="title"/>
          </p:nvPr>
        </p:nvSpPr>
        <p:spPr>
          <a:xfrm>
            <a:off x="638175" y="0"/>
            <a:ext cx="8505825" cy="1231900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32"/>
          <p:cNvSpPr txBox="1"/>
          <p:nvPr>
            <p:ph idx="1" type="body"/>
          </p:nvPr>
        </p:nvSpPr>
        <p:spPr>
          <a:xfrm>
            <a:off x="457200" y="1333500"/>
            <a:ext cx="8229600" cy="55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Order of 1</a:t>
            </a:r>
            <a:r>
              <a:rPr baseline="30000" lang="en-IE"/>
              <a:t>st</a:t>
            </a:r>
            <a:r>
              <a:rPr lang="en-IE"/>
              <a:t> and 2</a:t>
            </a:r>
            <a:r>
              <a:rPr baseline="30000" lang="en-IE"/>
              <a:t>nd</a:t>
            </a:r>
            <a:r>
              <a:rPr lang="en-IE"/>
              <a:t> endpoints make a difference in which case of DDA will be applied. Output will still remain same.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33"/>
          <p:cNvSpPr txBox="1"/>
          <p:nvPr>
            <p:ph idx="1" type="body"/>
          </p:nvPr>
        </p:nvSpPr>
        <p:spPr>
          <a:xfrm>
            <a:off x="457200" y="1333500"/>
            <a:ext cx="8229600" cy="55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E" sz="2400"/>
              <a:t>1. Find out m and b and the equation of the following lines whose endpoints are given: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lphaLcParenBoth"/>
            </a:pPr>
            <a:r>
              <a:rPr lang="en-IE" sz="2400"/>
              <a:t>(20, 35), (9, 50)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lphaLcParenBoth"/>
            </a:pPr>
            <a:r>
              <a:rPr lang="en-IE" sz="2400"/>
              <a:t>(-5, 50), (-5,0)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lphaLcParenBoth"/>
            </a:pPr>
            <a:r>
              <a:rPr lang="en-IE" sz="2400"/>
              <a:t>(-10, 10), (48, 24)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IE" sz="2400"/>
              <a:t>2. Using DDA algorithm find out the first 5 pixels of the lines whose endpoints are given: (Use the revised DDA if not mentioned)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lphaLcParenBoth"/>
            </a:pPr>
            <a:r>
              <a:rPr lang="en-IE" sz="2400"/>
              <a:t>(20, 5), (19, 50)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lphaLcParenBoth"/>
            </a:pPr>
            <a:r>
              <a:rPr lang="en-IE" sz="2400"/>
              <a:t>(-5, 50), (-15,0)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AutoNum type="alphaLcParenBoth"/>
            </a:pPr>
            <a:r>
              <a:rPr lang="en-IE" sz="2400"/>
              <a:t>(-10, -10), (48, 24)</a:t>
            </a:r>
            <a:endParaRPr/>
          </a:p>
          <a:p>
            <a:pPr indent="-3048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021" name="Google Shape;1021;p33"/>
          <p:cNvSpPr txBox="1"/>
          <p:nvPr>
            <p:ph type="title"/>
          </p:nvPr>
        </p:nvSpPr>
        <p:spPr>
          <a:xfrm>
            <a:off x="638175" y="0"/>
            <a:ext cx="8505825" cy="1231900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IE"/>
              <a:t>Exercise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riansTemplate">
  <a:themeElements>
    <a:clrScheme name="Brians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2006-08-11T09:25:18Z</dcterms:created>
  <dc:creator>Brian Mac Namee</dc:creator>
</cp:coreProperties>
</file>