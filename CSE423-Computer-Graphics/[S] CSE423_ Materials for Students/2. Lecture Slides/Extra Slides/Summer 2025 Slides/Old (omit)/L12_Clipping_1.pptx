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0m+nNssOg0YIEIveE7WOppPUL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18B91E-E07C-4DC6-A436-488770DAB920}">
  <a:tblStyle styleId="{5C18B91E-E07C-4DC6-A436-488770DAB9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95FE376-28EF-4FA7-8F67-DC6B77B7EC3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Clipping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Cohen-Sutherland Algo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2"/>
          <p:cNvGrpSpPr/>
          <p:nvPr/>
        </p:nvGrpSpPr>
        <p:grpSpPr>
          <a:xfrm>
            <a:off x="2761083" y="1471103"/>
            <a:ext cx="6987217" cy="2886211"/>
            <a:chOff x="3071184" y="3514589"/>
            <a:chExt cx="6987217" cy="2886211"/>
          </a:xfrm>
        </p:grpSpPr>
        <p:grpSp>
          <p:nvGrpSpPr>
            <p:cNvPr id="91" name="Google Shape;91;p2"/>
            <p:cNvGrpSpPr/>
            <p:nvPr/>
          </p:nvGrpSpPr>
          <p:grpSpPr>
            <a:xfrm>
              <a:off x="3071184" y="4114800"/>
              <a:ext cx="6987217" cy="2286000"/>
              <a:chOff x="898" y="2208"/>
              <a:chExt cx="4574" cy="1584"/>
            </a:xfrm>
          </p:grpSpPr>
          <p:sp>
            <p:nvSpPr>
              <p:cNvPr id="92" name="Google Shape;92;p2"/>
              <p:cNvSpPr/>
              <p:nvPr/>
            </p:nvSpPr>
            <p:spPr>
              <a:xfrm>
                <a:off x="5280" y="2304"/>
                <a:ext cx="96" cy="144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3264" y="3648"/>
                <a:ext cx="2112" cy="1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3120" y="2352"/>
                <a:ext cx="144" cy="144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3120" y="2208"/>
                <a:ext cx="2256" cy="1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2"/>
              <p:cNvGrpSpPr/>
              <p:nvPr/>
            </p:nvGrpSpPr>
            <p:grpSpPr>
              <a:xfrm>
                <a:off x="898" y="2545"/>
                <a:ext cx="1453" cy="1041"/>
                <a:chOff x="974" y="2440"/>
                <a:chExt cx="1666" cy="1299"/>
              </a:xfrm>
            </p:grpSpPr>
            <p:grpSp>
              <p:nvGrpSpPr>
                <p:cNvPr id="97" name="Google Shape;97;p2"/>
                <p:cNvGrpSpPr/>
                <p:nvPr/>
              </p:nvGrpSpPr>
              <p:grpSpPr>
                <a:xfrm>
                  <a:off x="974" y="2555"/>
                  <a:ext cx="1666" cy="1184"/>
                  <a:chOff x="1872" y="1499"/>
                  <a:chExt cx="2304" cy="1909"/>
                </a:xfrm>
              </p:grpSpPr>
              <p:grpSp>
                <p:nvGrpSpPr>
                  <p:cNvPr id="98" name="Google Shape;98;p2"/>
                  <p:cNvGrpSpPr/>
                  <p:nvPr/>
                </p:nvGrpSpPr>
                <p:grpSpPr>
                  <a:xfrm>
                    <a:off x="2064" y="2112"/>
                    <a:ext cx="1480" cy="969"/>
                    <a:chOff x="2928" y="2544"/>
                    <a:chExt cx="2448" cy="1440"/>
                  </a:xfrm>
                </p:grpSpPr>
                <p:sp>
                  <p:nvSpPr>
                    <p:cNvPr id="99" name="Google Shape;99;p2"/>
                    <p:cNvSpPr/>
                    <p:nvPr/>
                  </p:nvSpPr>
                  <p:spPr>
                    <a:xfrm>
                      <a:off x="3408" y="3024"/>
                      <a:ext cx="1536" cy="960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00" name="Google Shape;100;p2"/>
                    <p:cNvCxnSpPr/>
                    <p:nvPr/>
                  </p:nvCxnSpPr>
                  <p:spPr>
                    <a:xfrm rot="10800000">
                      <a:off x="2928" y="3024"/>
                      <a:ext cx="48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01" name="Google Shape;101;p2"/>
                    <p:cNvCxnSpPr/>
                    <p:nvPr/>
                  </p:nvCxnSpPr>
                  <p:spPr>
                    <a:xfrm rot="10800000">
                      <a:off x="4848" y="3024"/>
                      <a:ext cx="52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02" name="Google Shape;102;p2"/>
                    <p:cNvCxnSpPr/>
                    <p:nvPr/>
                  </p:nvCxnSpPr>
                  <p:spPr>
                    <a:xfrm flipH="1" rot="10800000">
                      <a:off x="2928" y="2544"/>
                      <a:ext cx="576" cy="4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03" name="Google Shape;103;p2"/>
                    <p:cNvCxnSpPr/>
                    <p:nvPr/>
                  </p:nvCxnSpPr>
                  <p:spPr>
                    <a:xfrm>
                      <a:off x="3504" y="2544"/>
                      <a:ext cx="124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04" name="Google Shape;104;p2"/>
                    <p:cNvCxnSpPr/>
                    <p:nvPr/>
                  </p:nvCxnSpPr>
                  <p:spPr>
                    <a:xfrm>
                      <a:off x="4752" y="2544"/>
                      <a:ext cx="624" cy="4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sp>
                  <p:nvSpPr>
                    <p:cNvPr id="105" name="Google Shape;105;p2"/>
                    <p:cNvSpPr/>
                    <p:nvPr/>
                  </p:nvSpPr>
                  <p:spPr>
                    <a:xfrm>
                      <a:off x="3648" y="3168"/>
                      <a:ext cx="384" cy="288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06" name="Google Shape;106;p2"/>
                    <p:cNvCxnSpPr/>
                    <p:nvPr/>
                  </p:nvCxnSpPr>
                  <p:spPr>
                    <a:xfrm>
                      <a:off x="3648" y="3312"/>
                      <a:ext cx="384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07" name="Google Shape;107;p2"/>
                    <p:cNvCxnSpPr/>
                    <p:nvPr/>
                  </p:nvCxnSpPr>
                  <p:spPr>
                    <a:xfrm>
                      <a:off x="3840" y="3168"/>
                      <a:ext cx="0" cy="28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sp>
                  <p:nvSpPr>
                    <p:cNvPr id="108" name="Google Shape;108;p2"/>
                    <p:cNvSpPr/>
                    <p:nvPr/>
                  </p:nvSpPr>
                  <p:spPr>
                    <a:xfrm>
                      <a:off x="4224" y="3312"/>
                      <a:ext cx="384" cy="672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09" name="Google Shape;109;p2"/>
                  <p:cNvSpPr/>
                  <p:nvPr/>
                </p:nvSpPr>
                <p:spPr>
                  <a:xfrm>
                    <a:off x="3600" y="2064"/>
                    <a:ext cx="96" cy="1056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" name="Google Shape;110;p2"/>
                  <p:cNvSpPr/>
                  <p:nvPr/>
                </p:nvSpPr>
                <p:spPr>
                  <a:xfrm>
                    <a:off x="3015" y="1499"/>
                    <a:ext cx="1161" cy="661"/>
                  </a:xfrm>
                  <a:custGeom>
                    <a:rect b="b" l="l" r="r" t="t"/>
                    <a:pathLst>
                      <a:path extrusionOk="0" h="661" w="1161">
                        <a:moveTo>
                          <a:pt x="108" y="457"/>
                        </a:moveTo>
                        <a:cubicBezTo>
                          <a:pt x="95" y="403"/>
                          <a:pt x="67" y="344"/>
                          <a:pt x="27" y="304"/>
                        </a:cubicBezTo>
                        <a:cubicBezTo>
                          <a:pt x="5" y="238"/>
                          <a:pt x="14" y="268"/>
                          <a:pt x="0" y="214"/>
                        </a:cubicBezTo>
                        <a:cubicBezTo>
                          <a:pt x="19" y="138"/>
                          <a:pt x="47" y="78"/>
                          <a:pt x="126" y="52"/>
                        </a:cubicBezTo>
                        <a:cubicBezTo>
                          <a:pt x="178" y="0"/>
                          <a:pt x="220" y="23"/>
                          <a:pt x="279" y="52"/>
                        </a:cubicBezTo>
                        <a:cubicBezTo>
                          <a:pt x="291" y="70"/>
                          <a:pt x="294" y="113"/>
                          <a:pt x="315" y="106"/>
                        </a:cubicBezTo>
                        <a:cubicBezTo>
                          <a:pt x="345" y="96"/>
                          <a:pt x="368" y="70"/>
                          <a:pt x="396" y="61"/>
                        </a:cubicBezTo>
                        <a:cubicBezTo>
                          <a:pt x="436" y="48"/>
                          <a:pt x="415" y="56"/>
                          <a:pt x="459" y="34"/>
                        </a:cubicBezTo>
                        <a:cubicBezTo>
                          <a:pt x="477" y="37"/>
                          <a:pt x="499" y="31"/>
                          <a:pt x="513" y="43"/>
                        </a:cubicBezTo>
                        <a:cubicBezTo>
                          <a:pt x="532" y="59"/>
                          <a:pt x="523" y="92"/>
                          <a:pt x="531" y="115"/>
                        </a:cubicBezTo>
                        <a:cubicBezTo>
                          <a:pt x="613" y="63"/>
                          <a:pt x="576" y="77"/>
                          <a:pt x="639" y="61"/>
                        </a:cubicBezTo>
                        <a:cubicBezTo>
                          <a:pt x="659" y="102"/>
                          <a:pt x="650" y="128"/>
                          <a:pt x="693" y="142"/>
                        </a:cubicBezTo>
                        <a:cubicBezTo>
                          <a:pt x="717" y="136"/>
                          <a:pt x="744" y="137"/>
                          <a:pt x="765" y="124"/>
                        </a:cubicBezTo>
                        <a:cubicBezTo>
                          <a:pt x="780" y="115"/>
                          <a:pt x="793" y="103"/>
                          <a:pt x="810" y="97"/>
                        </a:cubicBezTo>
                        <a:cubicBezTo>
                          <a:pt x="848" y="84"/>
                          <a:pt x="889" y="83"/>
                          <a:pt x="927" y="70"/>
                        </a:cubicBezTo>
                        <a:cubicBezTo>
                          <a:pt x="954" y="124"/>
                          <a:pt x="917" y="202"/>
                          <a:pt x="954" y="250"/>
                        </a:cubicBezTo>
                        <a:cubicBezTo>
                          <a:pt x="976" y="279"/>
                          <a:pt x="1026" y="256"/>
                          <a:pt x="1062" y="259"/>
                        </a:cubicBezTo>
                        <a:cubicBezTo>
                          <a:pt x="1062" y="259"/>
                          <a:pt x="1124" y="288"/>
                          <a:pt x="1125" y="295"/>
                        </a:cubicBezTo>
                        <a:cubicBezTo>
                          <a:pt x="1139" y="363"/>
                          <a:pt x="1135" y="433"/>
                          <a:pt x="1143" y="502"/>
                        </a:cubicBezTo>
                        <a:cubicBezTo>
                          <a:pt x="1144" y="511"/>
                          <a:pt x="1149" y="520"/>
                          <a:pt x="1152" y="529"/>
                        </a:cubicBezTo>
                        <a:cubicBezTo>
                          <a:pt x="1140" y="661"/>
                          <a:pt x="1161" y="642"/>
                          <a:pt x="1035" y="628"/>
                        </a:cubicBezTo>
                        <a:cubicBezTo>
                          <a:pt x="1017" y="616"/>
                          <a:pt x="999" y="604"/>
                          <a:pt x="981" y="592"/>
                        </a:cubicBezTo>
                        <a:cubicBezTo>
                          <a:pt x="965" y="581"/>
                          <a:pt x="880" y="638"/>
                          <a:pt x="855" y="646"/>
                        </a:cubicBezTo>
                        <a:cubicBezTo>
                          <a:pt x="842" y="608"/>
                          <a:pt x="820" y="595"/>
                          <a:pt x="783" y="583"/>
                        </a:cubicBezTo>
                        <a:cubicBezTo>
                          <a:pt x="765" y="595"/>
                          <a:pt x="747" y="607"/>
                          <a:pt x="729" y="619"/>
                        </a:cubicBezTo>
                        <a:cubicBezTo>
                          <a:pt x="719" y="625"/>
                          <a:pt x="678" y="594"/>
                          <a:pt x="675" y="592"/>
                        </a:cubicBezTo>
                        <a:cubicBezTo>
                          <a:pt x="653" y="581"/>
                          <a:pt x="615" y="577"/>
                          <a:pt x="594" y="574"/>
                        </a:cubicBezTo>
                        <a:cubicBezTo>
                          <a:pt x="479" y="586"/>
                          <a:pt x="525" y="562"/>
                          <a:pt x="450" y="637"/>
                        </a:cubicBezTo>
                        <a:cubicBezTo>
                          <a:pt x="437" y="650"/>
                          <a:pt x="396" y="655"/>
                          <a:pt x="396" y="655"/>
                        </a:cubicBezTo>
                        <a:cubicBezTo>
                          <a:pt x="360" y="652"/>
                          <a:pt x="321" y="660"/>
                          <a:pt x="288" y="646"/>
                        </a:cubicBezTo>
                        <a:cubicBezTo>
                          <a:pt x="268" y="637"/>
                          <a:pt x="252" y="592"/>
                          <a:pt x="252" y="592"/>
                        </a:cubicBezTo>
                        <a:cubicBezTo>
                          <a:pt x="235" y="524"/>
                          <a:pt x="207" y="537"/>
                          <a:pt x="135" y="529"/>
                        </a:cubicBezTo>
                        <a:cubicBezTo>
                          <a:pt x="126" y="501"/>
                          <a:pt x="135" y="403"/>
                          <a:pt x="108" y="457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11" name="Google Shape;111;p2"/>
                  <p:cNvGrpSpPr/>
                  <p:nvPr/>
                </p:nvGrpSpPr>
                <p:grpSpPr>
                  <a:xfrm>
                    <a:off x="1872" y="2880"/>
                    <a:ext cx="440" cy="389"/>
                    <a:chOff x="2832" y="3456"/>
                    <a:chExt cx="816" cy="528"/>
                  </a:xfrm>
                </p:grpSpPr>
                <p:sp>
                  <p:nvSpPr>
                    <p:cNvPr id="112" name="Google Shape;112;p2"/>
                    <p:cNvSpPr/>
                    <p:nvPr/>
                  </p:nvSpPr>
                  <p:spPr>
                    <a:xfrm>
                      <a:off x="3120" y="3648"/>
                      <a:ext cx="384" cy="14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3" name="Google Shape;113;p2"/>
                    <p:cNvSpPr/>
                    <p:nvPr/>
                  </p:nvSpPr>
                  <p:spPr>
                    <a:xfrm>
                      <a:off x="2832" y="3552"/>
                      <a:ext cx="192" cy="9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" name="Google Shape;114;p2"/>
                    <p:cNvSpPr/>
                    <p:nvPr/>
                  </p:nvSpPr>
                  <p:spPr>
                    <a:xfrm>
                      <a:off x="3024" y="3552"/>
                      <a:ext cx="144" cy="9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115" name="Google Shape;115;p2"/>
                    <p:cNvCxnSpPr/>
                    <p:nvPr/>
                  </p:nvCxnSpPr>
                  <p:spPr>
                    <a:xfrm flipH="1">
                      <a:off x="3024" y="3792"/>
                      <a:ext cx="144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6" name="Google Shape;116;p2"/>
                    <p:cNvCxnSpPr/>
                    <p:nvPr/>
                  </p:nvCxnSpPr>
                  <p:spPr>
                    <a:xfrm>
                      <a:off x="3168" y="3792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7" name="Google Shape;117;p2"/>
                    <p:cNvCxnSpPr/>
                    <p:nvPr/>
                  </p:nvCxnSpPr>
                  <p:spPr>
                    <a:xfrm flipH="1">
                      <a:off x="3408" y="3792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8" name="Google Shape;118;p2"/>
                    <p:cNvCxnSpPr/>
                    <p:nvPr/>
                  </p:nvCxnSpPr>
                  <p:spPr>
                    <a:xfrm>
                      <a:off x="3504" y="3792"/>
                      <a:ext cx="96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19" name="Google Shape;119;p2"/>
                    <p:cNvCxnSpPr/>
                    <p:nvPr/>
                  </p:nvCxnSpPr>
                  <p:spPr>
                    <a:xfrm flipH="1" rot="10800000">
                      <a:off x="3504" y="3648"/>
                      <a:ext cx="96" cy="4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20" name="Google Shape;120;p2"/>
                    <p:cNvCxnSpPr/>
                    <p:nvPr/>
                  </p:nvCxnSpPr>
                  <p:spPr>
                    <a:xfrm flipH="1" rot="10800000">
                      <a:off x="3600" y="3456"/>
                      <a:ext cx="48" cy="1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sp>
                  <p:nvSpPr>
                    <p:cNvPr id="121" name="Google Shape;121;p2"/>
                    <p:cNvSpPr/>
                    <p:nvPr/>
                  </p:nvSpPr>
                  <p:spPr>
                    <a:xfrm>
                      <a:off x="2928" y="3456"/>
                      <a:ext cx="96" cy="96"/>
                    </a:xfrm>
                    <a:prstGeom prst="triangle">
                      <a:avLst>
                        <a:gd fmla="val 50000" name="adj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2" name="Google Shape;122;p2"/>
                    <p:cNvSpPr/>
                    <p:nvPr/>
                  </p:nvSpPr>
                  <p:spPr>
                    <a:xfrm>
                      <a:off x="3072" y="3456"/>
                      <a:ext cx="96" cy="96"/>
                    </a:xfrm>
                    <a:prstGeom prst="triangle">
                      <a:avLst>
                        <a:gd fmla="val 50000" name="adj"/>
                      </a:avLst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123" name="Google Shape;123;p2"/>
                  <p:cNvCxnSpPr/>
                  <p:nvPr/>
                </p:nvCxnSpPr>
                <p:spPr>
                  <a:xfrm flipH="1">
                    <a:off x="2448" y="3072"/>
                    <a:ext cx="384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4" name="Google Shape;124;p2"/>
                  <p:cNvCxnSpPr/>
                  <p:nvPr/>
                </p:nvCxnSpPr>
                <p:spPr>
                  <a:xfrm flipH="1">
                    <a:off x="2880" y="3072"/>
                    <a:ext cx="192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125" name="Google Shape;125;p2"/>
                <p:cNvSpPr/>
                <p:nvPr/>
              </p:nvSpPr>
              <p:spPr>
                <a:xfrm>
                  <a:off x="1212" y="2440"/>
                  <a:ext cx="1284" cy="595"/>
                </a:xfrm>
                <a:prstGeom prst="rect">
                  <a:avLst/>
                </a:prstGeom>
                <a:noFill/>
                <a:ln cap="flat" cmpd="sng" w="38100">
                  <a:solidFill>
                    <a:schemeClr val="dk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26" name="Google Shape;126;p2"/>
              <p:cNvCxnSpPr/>
              <p:nvPr/>
            </p:nvCxnSpPr>
            <p:spPr>
              <a:xfrm flipH="1" rot="10800000">
                <a:off x="3268" y="3375"/>
                <a:ext cx="204" cy="25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2"/>
              <p:cNvCxnSpPr/>
              <p:nvPr/>
            </p:nvCxnSpPr>
            <p:spPr>
              <a:xfrm>
                <a:off x="3472" y="3375"/>
                <a:ext cx="85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2"/>
              <p:cNvCxnSpPr/>
              <p:nvPr/>
            </p:nvCxnSpPr>
            <p:spPr>
              <a:xfrm>
                <a:off x="4328" y="3375"/>
                <a:ext cx="332" cy="3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9" name="Google Shape;129;p2"/>
              <p:cNvSpPr/>
              <p:nvPr/>
            </p:nvSpPr>
            <p:spPr>
              <a:xfrm>
                <a:off x="4834" y="3360"/>
                <a:ext cx="116" cy="318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4155" y="2551"/>
                <a:ext cx="1317" cy="889"/>
              </a:xfrm>
              <a:custGeom>
                <a:rect b="b" l="l" r="r" t="t"/>
                <a:pathLst>
                  <a:path extrusionOk="0" h="661" w="1161">
                    <a:moveTo>
                      <a:pt x="108" y="457"/>
                    </a:moveTo>
                    <a:cubicBezTo>
                      <a:pt x="95" y="403"/>
                      <a:pt x="67" y="344"/>
                      <a:pt x="27" y="304"/>
                    </a:cubicBezTo>
                    <a:cubicBezTo>
                      <a:pt x="5" y="238"/>
                      <a:pt x="14" y="268"/>
                      <a:pt x="0" y="214"/>
                    </a:cubicBezTo>
                    <a:cubicBezTo>
                      <a:pt x="19" y="138"/>
                      <a:pt x="47" y="78"/>
                      <a:pt x="126" y="52"/>
                    </a:cubicBezTo>
                    <a:cubicBezTo>
                      <a:pt x="178" y="0"/>
                      <a:pt x="220" y="23"/>
                      <a:pt x="279" y="52"/>
                    </a:cubicBezTo>
                    <a:cubicBezTo>
                      <a:pt x="291" y="70"/>
                      <a:pt x="294" y="113"/>
                      <a:pt x="315" y="106"/>
                    </a:cubicBezTo>
                    <a:cubicBezTo>
                      <a:pt x="345" y="96"/>
                      <a:pt x="368" y="70"/>
                      <a:pt x="396" y="61"/>
                    </a:cubicBezTo>
                    <a:cubicBezTo>
                      <a:pt x="436" y="48"/>
                      <a:pt x="415" y="56"/>
                      <a:pt x="459" y="34"/>
                    </a:cubicBezTo>
                    <a:cubicBezTo>
                      <a:pt x="477" y="37"/>
                      <a:pt x="499" y="31"/>
                      <a:pt x="513" y="43"/>
                    </a:cubicBezTo>
                    <a:cubicBezTo>
                      <a:pt x="532" y="59"/>
                      <a:pt x="523" y="92"/>
                      <a:pt x="531" y="115"/>
                    </a:cubicBezTo>
                    <a:cubicBezTo>
                      <a:pt x="613" y="63"/>
                      <a:pt x="576" y="77"/>
                      <a:pt x="639" y="61"/>
                    </a:cubicBezTo>
                    <a:cubicBezTo>
                      <a:pt x="659" y="102"/>
                      <a:pt x="650" y="128"/>
                      <a:pt x="693" y="142"/>
                    </a:cubicBezTo>
                    <a:cubicBezTo>
                      <a:pt x="717" y="136"/>
                      <a:pt x="744" y="137"/>
                      <a:pt x="765" y="124"/>
                    </a:cubicBezTo>
                    <a:cubicBezTo>
                      <a:pt x="780" y="115"/>
                      <a:pt x="793" y="103"/>
                      <a:pt x="810" y="97"/>
                    </a:cubicBezTo>
                    <a:cubicBezTo>
                      <a:pt x="848" y="84"/>
                      <a:pt x="889" y="83"/>
                      <a:pt x="927" y="70"/>
                    </a:cubicBezTo>
                    <a:cubicBezTo>
                      <a:pt x="954" y="124"/>
                      <a:pt x="917" y="202"/>
                      <a:pt x="954" y="250"/>
                    </a:cubicBezTo>
                    <a:cubicBezTo>
                      <a:pt x="976" y="279"/>
                      <a:pt x="1026" y="256"/>
                      <a:pt x="1062" y="259"/>
                    </a:cubicBezTo>
                    <a:cubicBezTo>
                      <a:pt x="1062" y="259"/>
                      <a:pt x="1124" y="288"/>
                      <a:pt x="1125" y="295"/>
                    </a:cubicBezTo>
                    <a:cubicBezTo>
                      <a:pt x="1139" y="363"/>
                      <a:pt x="1135" y="433"/>
                      <a:pt x="1143" y="502"/>
                    </a:cubicBezTo>
                    <a:cubicBezTo>
                      <a:pt x="1144" y="511"/>
                      <a:pt x="1149" y="520"/>
                      <a:pt x="1152" y="529"/>
                    </a:cubicBezTo>
                    <a:cubicBezTo>
                      <a:pt x="1140" y="661"/>
                      <a:pt x="1161" y="642"/>
                      <a:pt x="1035" y="628"/>
                    </a:cubicBezTo>
                    <a:cubicBezTo>
                      <a:pt x="1017" y="616"/>
                      <a:pt x="999" y="604"/>
                      <a:pt x="981" y="592"/>
                    </a:cubicBezTo>
                    <a:cubicBezTo>
                      <a:pt x="965" y="581"/>
                      <a:pt x="880" y="638"/>
                      <a:pt x="855" y="646"/>
                    </a:cubicBezTo>
                    <a:cubicBezTo>
                      <a:pt x="842" y="608"/>
                      <a:pt x="820" y="595"/>
                      <a:pt x="783" y="583"/>
                    </a:cubicBezTo>
                    <a:cubicBezTo>
                      <a:pt x="765" y="595"/>
                      <a:pt x="747" y="607"/>
                      <a:pt x="729" y="619"/>
                    </a:cubicBezTo>
                    <a:cubicBezTo>
                      <a:pt x="719" y="625"/>
                      <a:pt x="678" y="594"/>
                      <a:pt x="675" y="592"/>
                    </a:cubicBezTo>
                    <a:cubicBezTo>
                      <a:pt x="653" y="581"/>
                      <a:pt x="615" y="577"/>
                      <a:pt x="594" y="574"/>
                    </a:cubicBezTo>
                    <a:cubicBezTo>
                      <a:pt x="479" y="586"/>
                      <a:pt x="525" y="562"/>
                      <a:pt x="450" y="637"/>
                    </a:cubicBezTo>
                    <a:cubicBezTo>
                      <a:pt x="437" y="650"/>
                      <a:pt x="396" y="655"/>
                      <a:pt x="396" y="655"/>
                    </a:cubicBezTo>
                    <a:cubicBezTo>
                      <a:pt x="360" y="652"/>
                      <a:pt x="321" y="660"/>
                      <a:pt x="288" y="646"/>
                    </a:cubicBezTo>
                    <a:cubicBezTo>
                      <a:pt x="268" y="637"/>
                      <a:pt x="252" y="592"/>
                      <a:pt x="252" y="592"/>
                    </a:cubicBezTo>
                    <a:cubicBezTo>
                      <a:pt x="235" y="524"/>
                      <a:pt x="207" y="537"/>
                      <a:pt x="135" y="529"/>
                    </a:cubicBezTo>
                    <a:cubicBezTo>
                      <a:pt x="126" y="501"/>
                      <a:pt x="135" y="403"/>
                      <a:pt x="108" y="45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5280" y="2592"/>
                <a:ext cx="96" cy="1056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3264" y="2352"/>
                <a:ext cx="2015" cy="1291"/>
              </a:xfrm>
              <a:prstGeom prst="rect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5376" y="2880"/>
                <a:ext cx="96" cy="57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2592" y="2880"/>
                <a:ext cx="336" cy="336"/>
              </a:xfrm>
              <a:prstGeom prst="rightArrow">
                <a:avLst>
                  <a:gd fmla="val 50000" name="adj1"/>
                  <a:gd fmla="val 25000" name="adj2"/>
                </a:avLst>
              </a:prstGeom>
              <a:solidFill>
                <a:schemeClr val="hlink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5" name="Google Shape;135;p2"/>
            <p:cNvSpPr txBox="1"/>
            <p:nvPr/>
          </p:nvSpPr>
          <p:spPr>
            <a:xfrm>
              <a:off x="6625240" y="3514589"/>
              <a:ext cx="2282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Clipped view in screen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static.javatpoint.com/tutorial/computer-graphics/images/computer-graphics-clipping1.jpg" id="140" name="Google Shape;1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6726" y="2142890"/>
            <a:ext cx="6305550" cy="28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 txBox="1"/>
          <p:nvPr/>
        </p:nvSpPr>
        <p:spPr>
          <a:xfrm>
            <a:off x="5368446" y="1025718"/>
            <a:ext cx="1382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Clipping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/>
        </p:nvSpPr>
        <p:spPr>
          <a:xfrm>
            <a:off x="961577" y="395825"/>
            <a:ext cx="8229600" cy="1801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point (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not clipped if: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x</a:t>
            </a:r>
            <a:r>
              <a:rPr baseline="-25000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x ≤ x</a:t>
            </a:r>
            <a:r>
              <a:rPr baseline="-25000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-25000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 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y ≤ y</a:t>
            </a:r>
            <a:r>
              <a:rPr baseline="-25000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 baseline="-25000"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otherwise it is clipped</a:t>
            </a:r>
            <a:endParaRPr/>
          </a:p>
        </p:txBody>
      </p:sp>
      <p:cxnSp>
        <p:nvCxnSpPr>
          <p:cNvPr id="147" name="Google Shape;147;p4"/>
          <p:cNvCxnSpPr/>
          <p:nvPr/>
        </p:nvCxnSpPr>
        <p:spPr>
          <a:xfrm rot="10800000">
            <a:off x="1766805" y="3629564"/>
            <a:ext cx="4022725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4"/>
          <p:cNvCxnSpPr/>
          <p:nvPr/>
        </p:nvCxnSpPr>
        <p:spPr>
          <a:xfrm>
            <a:off x="1200067" y="5729826"/>
            <a:ext cx="45386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4"/>
          <p:cNvCxnSpPr/>
          <p:nvPr/>
        </p:nvCxnSpPr>
        <p:spPr>
          <a:xfrm rot="10800000">
            <a:off x="1662030" y="2704051"/>
            <a:ext cx="0" cy="33543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4"/>
          <p:cNvSpPr/>
          <p:nvPr/>
        </p:nvSpPr>
        <p:spPr>
          <a:xfrm>
            <a:off x="2643105" y="3626389"/>
            <a:ext cx="1978025" cy="13192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 rot="10800000">
            <a:off x="1555667" y="3624801"/>
            <a:ext cx="1968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4"/>
          <p:cNvCxnSpPr/>
          <p:nvPr/>
        </p:nvCxnSpPr>
        <p:spPr>
          <a:xfrm rot="10800000">
            <a:off x="1555667" y="4959889"/>
            <a:ext cx="1968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4"/>
          <p:cNvCxnSpPr/>
          <p:nvPr/>
        </p:nvCxnSpPr>
        <p:spPr>
          <a:xfrm>
            <a:off x="2649455" y="5636164"/>
            <a:ext cx="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4"/>
          <p:cNvCxnSpPr/>
          <p:nvPr/>
        </p:nvCxnSpPr>
        <p:spPr>
          <a:xfrm>
            <a:off x="4619542" y="5636164"/>
            <a:ext cx="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4"/>
          <p:cNvSpPr txBox="1"/>
          <p:nvPr/>
        </p:nvSpPr>
        <p:spPr>
          <a:xfrm>
            <a:off x="988930" y="3399376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988930" y="4748751"/>
            <a:ext cx="54768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2319255" y="5726651"/>
            <a:ext cx="54768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4290930" y="5728239"/>
            <a:ext cx="5905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3108242" y="3235864"/>
            <a:ext cx="996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094080" y="4024851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949742" y="3434301"/>
            <a:ext cx="74613" cy="7461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4103605" y="3929601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000542" y="3331114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2839955" y="3807364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1923967" y="4062951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3700380" y="5193251"/>
            <a:ext cx="4302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3235242" y="4531264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3328905" y="2783426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5000542" y="4616989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870367" y="3235864"/>
            <a:ext cx="481013" cy="4826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4794167" y="2986626"/>
            <a:ext cx="696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sz="12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2639930" y="4135976"/>
            <a:ext cx="194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Points Within the Window are Not Clipped</a:t>
            </a:r>
            <a:endParaRPr sz="12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4"/>
          <p:cNvCxnSpPr/>
          <p:nvPr/>
        </p:nvCxnSpPr>
        <p:spPr>
          <a:xfrm rot="10800000">
            <a:off x="1777917" y="4958301"/>
            <a:ext cx="402113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4"/>
          <p:cNvCxnSpPr/>
          <p:nvPr/>
        </p:nvCxnSpPr>
        <p:spPr>
          <a:xfrm rot="5400000">
            <a:off x="1190542" y="4166139"/>
            <a:ext cx="291465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4"/>
          <p:cNvCxnSpPr/>
          <p:nvPr/>
        </p:nvCxnSpPr>
        <p:spPr>
          <a:xfrm rot="5400000">
            <a:off x="3162217" y="4145501"/>
            <a:ext cx="2914650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4"/>
          <p:cNvSpPr/>
          <p:nvPr/>
        </p:nvSpPr>
        <p:spPr>
          <a:xfrm>
            <a:off x="2811380" y="3901026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3219367" y="4624926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1904917" y="4178839"/>
            <a:ext cx="76200" cy="746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671805" y="5298026"/>
            <a:ext cx="76200" cy="7461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3300330" y="2886614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178092" y="2675476"/>
            <a:ext cx="481013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3621005" y="2791364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sz="12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3571792" y="5107526"/>
            <a:ext cx="482600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2919330" y="5217064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sz="12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798555" y="3989926"/>
            <a:ext cx="481012" cy="481013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1722355" y="3740689"/>
            <a:ext cx="696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Clipped</a:t>
            </a:r>
            <a:endParaRPr sz="12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8631762" y="3532300"/>
            <a:ext cx="1978025" cy="13192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0092262" y="3835512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8828612" y="3713275"/>
            <a:ext cx="3667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9223899" y="4437175"/>
            <a:ext cx="366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800037" y="3806937"/>
            <a:ext cx="74612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9208024" y="4530837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0074713" y="3950392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948503" y="4024851"/>
            <a:ext cx="513272" cy="484909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5"/>
          <p:cNvGrpSpPr/>
          <p:nvPr/>
        </p:nvGrpSpPr>
        <p:grpSpPr>
          <a:xfrm>
            <a:off x="378625" y="1502907"/>
            <a:ext cx="5148263" cy="3617913"/>
            <a:chOff x="3272900" y="1502908"/>
            <a:chExt cx="5148263" cy="3617913"/>
          </a:xfrm>
        </p:grpSpPr>
        <p:cxnSp>
          <p:nvCxnSpPr>
            <p:cNvPr id="200" name="Google Shape;200;p5"/>
            <p:cNvCxnSpPr/>
            <p:nvPr/>
          </p:nvCxnSpPr>
          <p:spPr>
            <a:xfrm rot="5400000">
              <a:off x="3453875" y="3088820"/>
              <a:ext cx="3171825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5"/>
            <p:cNvCxnSpPr/>
            <p:nvPr/>
          </p:nvCxnSpPr>
          <p:spPr>
            <a:xfrm rot="5400000">
              <a:off x="5555725" y="3123745"/>
              <a:ext cx="317341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5"/>
            <p:cNvCxnSpPr/>
            <p:nvPr/>
          </p:nvCxnSpPr>
          <p:spPr>
            <a:xfrm rot="10800000">
              <a:off x="4041250" y="2523670"/>
              <a:ext cx="433546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5"/>
            <p:cNvCxnSpPr/>
            <p:nvPr/>
          </p:nvCxnSpPr>
          <p:spPr>
            <a:xfrm rot="10800000">
              <a:off x="4085700" y="3915907"/>
              <a:ext cx="4335463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" name="Google Shape;204;p5"/>
            <p:cNvSpPr/>
            <p:nvPr/>
          </p:nvSpPr>
          <p:spPr>
            <a:xfrm>
              <a:off x="5036613" y="2509382"/>
              <a:ext cx="2108200" cy="140652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5"/>
            <p:cNvCxnSpPr/>
            <p:nvPr/>
          </p:nvCxnSpPr>
          <p:spPr>
            <a:xfrm rot="10800000">
              <a:off x="3876150" y="2518907"/>
              <a:ext cx="2111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5"/>
            <p:cNvCxnSpPr/>
            <p:nvPr/>
          </p:nvCxnSpPr>
          <p:spPr>
            <a:xfrm rot="10800000">
              <a:off x="3876150" y="3917495"/>
              <a:ext cx="2111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5"/>
            <p:cNvCxnSpPr/>
            <p:nvPr/>
          </p:nvCxnSpPr>
          <p:spPr>
            <a:xfrm>
              <a:off x="5042963" y="4652507"/>
              <a:ext cx="0" cy="212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5"/>
            <p:cNvCxnSpPr/>
            <p:nvPr/>
          </p:nvCxnSpPr>
          <p:spPr>
            <a:xfrm>
              <a:off x="7143225" y="4636632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9" name="Google Shape;209;p5"/>
            <p:cNvSpPr txBox="1"/>
            <p:nvPr/>
          </p:nvSpPr>
          <p:spPr>
            <a:xfrm>
              <a:off x="3272900" y="2307770"/>
              <a:ext cx="590550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5"/>
            <p:cNvSpPr txBox="1"/>
            <p:nvPr/>
          </p:nvSpPr>
          <p:spPr>
            <a:xfrm>
              <a:off x="3272900" y="3706357"/>
              <a:ext cx="54768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5"/>
            <p:cNvSpPr txBox="1"/>
            <p:nvPr/>
          </p:nvSpPr>
          <p:spPr>
            <a:xfrm>
              <a:off x="4690538" y="4749345"/>
              <a:ext cx="547688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5"/>
            <p:cNvSpPr txBox="1"/>
            <p:nvPr/>
          </p:nvSpPr>
          <p:spPr>
            <a:xfrm>
              <a:off x="6792388" y="4750932"/>
              <a:ext cx="590550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"/>
            <p:cNvSpPr txBox="1"/>
            <p:nvPr/>
          </p:nvSpPr>
          <p:spPr>
            <a:xfrm>
              <a:off x="5531913" y="2095045"/>
              <a:ext cx="9969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5"/>
            <p:cNvCxnSpPr/>
            <p:nvPr/>
          </p:nvCxnSpPr>
          <p:spPr>
            <a:xfrm flipH="1" rot="10800000">
              <a:off x="5320775" y="2655432"/>
              <a:ext cx="701675" cy="3508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15" name="Google Shape;215;p5"/>
            <p:cNvCxnSpPr/>
            <p:nvPr/>
          </p:nvCxnSpPr>
          <p:spPr>
            <a:xfrm flipH="1" rot="10800000">
              <a:off x="4341288" y="1807707"/>
              <a:ext cx="1028700" cy="847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16" name="Google Shape;216;p5"/>
            <p:cNvCxnSpPr/>
            <p:nvPr/>
          </p:nvCxnSpPr>
          <p:spPr>
            <a:xfrm>
              <a:off x="5420788" y="3682545"/>
              <a:ext cx="742950" cy="584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217" name="Google Shape;217;p5"/>
            <p:cNvCxnSpPr/>
            <p:nvPr/>
          </p:nvCxnSpPr>
          <p:spPr>
            <a:xfrm>
              <a:off x="4620688" y="3249157"/>
              <a:ext cx="2943225" cy="45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18" name="Google Shape;218;p5"/>
            <p:cNvSpPr txBox="1"/>
            <p:nvPr/>
          </p:nvSpPr>
          <p:spPr>
            <a:xfrm>
              <a:off x="4126975" y="26887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"/>
            <p:cNvSpPr txBox="1"/>
            <p:nvPr/>
          </p:nvSpPr>
          <p:spPr>
            <a:xfrm>
              <a:off x="6017688" y="2537957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5"/>
            <p:cNvSpPr txBox="1"/>
            <p:nvPr/>
          </p:nvSpPr>
          <p:spPr>
            <a:xfrm>
              <a:off x="5146150" y="30062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5"/>
            <p:cNvSpPr txBox="1"/>
            <p:nvPr/>
          </p:nvSpPr>
          <p:spPr>
            <a:xfrm>
              <a:off x="4131738" y="3258682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5"/>
            <p:cNvSpPr txBox="1"/>
            <p:nvPr/>
          </p:nvSpPr>
          <p:spPr>
            <a:xfrm>
              <a:off x="6163738" y="4181020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5"/>
            <p:cNvSpPr txBox="1"/>
            <p:nvPr/>
          </p:nvSpPr>
          <p:spPr>
            <a:xfrm>
              <a:off x="5414438" y="350792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5"/>
            <p:cNvSpPr txBox="1"/>
            <p:nvPr/>
          </p:nvSpPr>
          <p:spPr>
            <a:xfrm>
              <a:off x="5355700" y="1675945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7549625" y="3565070"/>
              <a:ext cx="3722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6" name="Google Shape;226;p5"/>
            <p:cNvCxnSpPr/>
            <p:nvPr/>
          </p:nvCxnSpPr>
          <p:spPr>
            <a:xfrm flipH="1" rot="10800000">
              <a:off x="4438125" y="4471532"/>
              <a:ext cx="3068638" cy="173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27" name="Google Shape;227;p5"/>
            <p:cNvSpPr txBox="1"/>
            <p:nvPr/>
          </p:nvSpPr>
          <p:spPr>
            <a:xfrm>
              <a:off x="3995213" y="4323895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"/>
            <p:cNvSpPr txBox="1"/>
            <p:nvPr/>
          </p:nvSpPr>
          <p:spPr>
            <a:xfrm>
              <a:off x="7508350" y="4328657"/>
              <a:ext cx="439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9" name="Google Shape;229;p5"/>
          <p:cNvCxnSpPr/>
          <p:nvPr/>
        </p:nvCxnSpPr>
        <p:spPr>
          <a:xfrm rot="5400000">
            <a:off x="6800774" y="3087233"/>
            <a:ext cx="3171825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5"/>
          <p:cNvCxnSpPr/>
          <p:nvPr/>
        </p:nvCxnSpPr>
        <p:spPr>
          <a:xfrm rot="5400000">
            <a:off x="8902624" y="3122158"/>
            <a:ext cx="317341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5"/>
          <p:cNvCxnSpPr/>
          <p:nvPr/>
        </p:nvCxnSpPr>
        <p:spPr>
          <a:xfrm rot="10800000">
            <a:off x="7388149" y="2522083"/>
            <a:ext cx="433546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5"/>
          <p:cNvCxnSpPr/>
          <p:nvPr/>
        </p:nvCxnSpPr>
        <p:spPr>
          <a:xfrm rot="10800000">
            <a:off x="7432599" y="3914320"/>
            <a:ext cx="4335463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5"/>
          <p:cNvSpPr/>
          <p:nvPr/>
        </p:nvSpPr>
        <p:spPr>
          <a:xfrm>
            <a:off x="8383512" y="2507795"/>
            <a:ext cx="2108200" cy="14065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5"/>
          <p:cNvCxnSpPr/>
          <p:nvPr/>
        </p:nvCxnSpPr>
        <p:spPr>
          <a:xfrm rot="10800000">
            <a:off x="7223049" y="2517320"/>
            <a:ext cx="21113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5"/>
          <p:cNvCxnSpPr/>
          <p:nvPr/>
        </p:nvCxnSpPr>
        <p:spPr>
          <a:xfrm rot="10800000">
            <a:off x="7223049" y="3915908"/>
            <a:ext cx="21113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5"/>
          <p:cNvCxnSpPr/>
          <p:nvPr/>
        </p:nvCxnSpPr>
        <p:spPr>
          <a:xfrm>
            <a:off x="8389862" y="4650920"/>
            <a:ext cx="0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5"/>
          <p:cNvCxnSpPr/>
          <p:nvPr/>
        </p:nvCxnSpPr>
        <p:spPr>
          <a:xfrm>
            <a:off x="10490124" y="4635045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5"/>
          <p:cNvSpPr txBox="1"/>
          <p:nvPr/>
        </p:nvSpPr>
        <p:spPr>
          <a:xfrm>
            <a:off x="6619799" y="2306183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6619799" y="3704770"/>
            <a:ext cx="5476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8037437" y="4747758"/>
            <a:ext cx="5476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10139287" y="4749345"/>
            <a:ext cx="5905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8878812" y="2093458"/>
            <a:ext cx="996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5"/>
          <p:cNvCxnSpPr/>
          <p:nvPr/>
        </p:nvCxnSpPr>
        <p:spPr>
          <a:xfrm flipH="1" rot="10800000">
            <a:off x="8667674" y="2653845"/>
            <a:ext cx="701675" cy="3508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44" name="Google Shape;244;p5"/>
          <p:cNvCxnSpPr/>
          <p:nvPr/>
        </p:nvCxnSpPr>
        <p:spPr>
          <a:xfrm>
            <a:off x="8767687" y="3680958"/>
            <a:ext cx="276839" cy="21768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245" name="Google Shape;245;p5"/>
          <p:cNvCxnSpPr/>
          <p:nvPr/>
        </p:nvCxnSpPr>
        <p:spPr>
          <a:xfrm>
            <a:off x="8383512" y="3312180"/>
            <a:ext cx="2113420" cy="32829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46" name="Google Shape;246;p5"/>
          <p:cNvSpPr txBox="1"/>
          <p:nvPr/>
        </p:nvSpPr>
        <p:spPr>
          <a:xfrm>
            <a:off x="9364587" y="2536370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8493049" y="300468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7962031" y="3155495"/>
            <a:ext cx="4219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9070966" y="3912995"/>
            <a:ext cx="4892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8761337" y="350633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10495831" y="3534213"/>
            <a:ext cx="4219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5849648" y="3122158"/>
            <a:ext cx="513272" cy="484909"/>
          </a:xfrm>
          <a:prstGeom prst="rightArrow">
            <a:avLst>
              <a:gd fmla="val 50000" name="adj1"/>
              <a:gd fmla="val 25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 txBox="1"/>
          <p:nvPr/>
        </p:nvSpPr>
        <p:spPr>
          <a:xfrm>
            <a:off x="1959997" y="72125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space is divided into regions based on the window boundaries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region has a unique four bit outcode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Outcodes indicate the position of the regions with respect to the window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6"/>
          <p:cNvGraphicFramePr/>
          <p:nvPr/>
        </p:nvGraphicFramePr>
        <p:xfrm>
          <a:off x="5898585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{5C18B91E-E07C-4DC6-A436-488770DAB920}</a:tableStyleId>
              </a:tblPr>
              <a:tblGrid>
                <a:gridCol w="1230300"/>
                <a:gridCol w="1230325"/>
                <a:gridCol w="1230300"/>
              </a:tblGrid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b="0" i="0" sz="2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9" name="Google Shape;259;p6"/>
          <p:cNvGrpSpPr/>
          <p:nvPr/>
        </p:nvGrpSpPr>
        <p:grpSpPr>
          <a:xfrm>
            <a:off x="2396560" y="4001025"/>
            <a:ext cx="2884487" cy="1368425"/>
            <a:chOff x="973" y="2626"/>
            <a:chExt cx="1817" cy="862"/>
          </a:xfrm>
        </p:grpSpPr>
        <p:sp>
          <p:nvSpPr>
            <p:cNvPr id="260" name="Google Shape;260;p6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6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6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6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6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6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 txBox="1"/>
          <p:nvPr/>
        </p:nvSpPr>
        <p:spPr>
          <a:xfrm>
            <a:off x="1959997" y="72125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space is divided into regions based on the window boundaries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region has a unique four bit outcode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Outcodes indicate the position of the regions with respect to the window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7"/>
          <p:cNvGraphicFramePr/>
          <p:nvPr/>
        </p:nvGraphicFramePr>
        <p:xfrm>
          <a:off x="5898585" y="33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{5C18B91E-E07C-4DC6-A436-488770DAB920}</a:tableStyleId>
              </a:tblPr>
              <a:tblGrid>
                <a:gridCol w="1230300"/>
                <a:gridCol w="1230325"/>
                <a:gridCol w="1230300"/>
              </a:tblGrid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b="0" i="0" sz="2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75" name="Google Shape;275;p7"/>
          <p:cNvGrpSpPr/>
          <p:nvPr/>
        </p:nvGrpSpPr>
        <p:grpSpPr>
          <a:xfrm>
            <a:off x="2396560" y="4001025"/>
            <a:ext cx="2884487" cy="1368425"/>
            <a:chOff x="973" y="2626"/>
            <a:chExt cx="1817" cy="862"/>
          </a:xfrm>
        </p:grpSpPr>
        <p:sp>
          <p:nvSpPr>
            <p:cNvPr id="276" name="Google Shape;276;p7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7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7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7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7"/>
          <p:cNvSpPr txBox="1"/>
          <p:nvPr/>
        </p:nvSpPr>
        <p:spPr>
          <a:xfrm>
            <a:off x="6308159" y="484716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292284" y="4940825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6185127" y="334297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6169252" y="3436635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7924233" y="5765653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7910842" y="5852866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7924234" y="4602688"/>
            <a:ext cx="3722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7908359" y="4696350"/>
            <a:ext cx="76200" cy="76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 txBox="1"/>
          <p:nvPr>
            <p:ph idx="1" type="body"/>
          </p:nvPr>
        </p:nvSpPr>
        <p:spPr>
          <a:xfrm>
            <a:off x="726881" y="11418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Calculate_outcode(x,y){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pSp>
        <p:nvGrpSpPr>
          <p:cNvPr id="298" name="Google Shape;298;p8"/>
          <p:cNvGrpSpPr/>
          <p:nvPr/>
        </p:nvGrpSpPr>
        <p:grpSpPr>
          <a:xfrm>
            <a:off x="1283378" y="5249380"/>
            <a:ext cx="2884487" cy="1368425"/>
            <a:chOff x="973" y="2626"/>
            <a:chExt cx="1817" cy="862"/>
          </a:xfrm>
        </p:grpSpPr>
        <p:sp>
          <p:nvSpPr>
            <p:cNvPr id="299" name="Google Shape;299;p8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8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8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8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8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8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 txBox="1"/>
          <p:nvPr>
            <p:ph idx="1" type="body"/>
          </p:nvPr>
        </p:nvSpPr>
        <p:spPr>
          <a:xfrm>
            <a:off x="726881" y="503853"/>
            <a:ext cx="105156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Calculate_Outcode_3D(x,y,z){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else bit3=0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if(z&lt;z</a:t>
            </a:r>
            <a:r>
              <a:rPr baseline="-25000" lang="en-US"/>
              <a:t>min</a:t>
            </a:r>
            <a:r>
              <a:rPr lang="en-US"/>
              <a:t>) bit4=1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else bit4=0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(z&gt;z</a:t>
            </a:r>
            <a:r>
              <a:rPr baseline="-25000" lang="en-US"/>
              <a:t>max</a:t>
            </a:r>
            <a:r>
              <a:rPr lang="en-US"/>
              <a:t>) bit5=1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else bit5=0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</p:txBody>
      </p:sp>
      <p:graphicFrame>
        <p:nvGraphicFramePr>
          <p:cNvPr id="313" name="Google Shape;313;p9"/>
          <p:cNvGraphicFramePr/>
          <p:nvPr/>
        </p:nvGraphicFramePr>
        <p:xfrm>
          <a:off x="6335485" y="23642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{D95FE376-28EF-4FA7-8F67-DC6B77B7EC33}</a:tableStyleId>
              </a:tblPr>
              <a:tblGrid>
                <a:gridCol w="660975"/>
                <a:gridCol w="780350"/>
                <a:gridCol w="780350"/>
                <a:gridCol w="780350"/>
                <a:gridCol w="780350"/>
                <a:gridCol w="780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Above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Below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Right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Left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Region Code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"/>
          <p:cNvSpPr txBox="1"/>
          <p:nvPr>
            <p:ph idx="1" type="body"/>
          </p:nvPr>
        </p:nvSpPr>
        <p:spPr>
          <a:xfrm>
            <a:off x="726881" y="11418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Calculate_outcode(x,y){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(x&lt;x</a:t>
            </a:r>
            <a:r>
              <a:rPr baseline="-25000" lang="en-US"/>
              <a:t>min</a:t>
            </a:r>
            <a:r>
              <a:rPr lang="en-US"/>
              <a:t>) bit0 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bit0=0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(x&gt;x</a:t>
            </a:r>
            <a:r>
              <a:rPr baseline="-25000" lang="en-US"/>
              <a:t>max</a:t>
            </a:r>
            <a:r>
              <a:rPr lang="en-US"/>
              <a:t>) bit1=1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bit1=0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if(y&lt;y</a:t>
            </a:r>
            <a:r>
              <a:rPr baseline="-25000" lang="en-US"/>
              <a:t>min</a:t>
            </a:r>
            <a:r>
              <a:rPr lang="en-US"/>
              <a:t>) bit2=1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bit2=0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if (y&gt;y</a:t>
            </a:r>
            <a:r>
              <a:rPr baseline="-25000" lang="en-US"/>
              <a:t>max</a:t>
            </a:r>
            <a:r>
              <a:rPr lang="en-US"/>
              <a:t>) bit3=1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else bit3=0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}</a:t>
            </a:r>
            <a:endParaRPr/>
          </a:p>
        </p:txBody>
      </p:sp>
      <p:grpSp>
        <p:nvGrpSpPr>
          <p:cNvPr id="319" name="Google Shape;319;p10"/>
          <p:cNvGrpSpPr/>
          <p:nvPr/>
        </p:nvGrpSpPr>
        <p:grpSpPr>
          <a:xfrm>
            <a:off x="4926772" y="1508525"/>
            <a:ext cx="5549900" cy="3617913"/>
            <a:chOff x="1120" y="1978"/>
            <a:chExt cx="3496" cy="2279"/>
          </a:xfrm>
        </p:grpSpPr>
        <p:cxnSp>
          <p:nvCxnSpPr>
            <p:cNvPr id="320" name="Google Shape;320;p10"/>
            <p:cNvCxnSpPr/>
            <p:nvPr/>
          </p:nvCxnSpPr>
          <p:spPr>
            <a:xfrm rot="5400000">
              <a:off x="1234" y="2977"/>
              <a:ext cx="199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0"/>
            <p:cNvCxnSpPr/>
            <p:nvPr/>
          </p:nvCxnSpPr>
          <p:spPr>
            <a:xfrm rot="5400000">
              <a:off x="2558" y="2999"/>
              <a:ext cx="1999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0"/>
            <p:cNvCxnSpPr/>
            <p:nvPr/>
          </p:nvCxnSpPr>
          <p:spPr>
            <a:xfrm rot="10800000">
              <a:off x="1604" y="2621"/>
              <a:ext cx="2731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0"/>
            <p:cNvCxnSpPr/>
            <p:nvPr/>
          </p:nvCxnSpPr>
          <p:spPr>
            <a:xfrm rot="10800000">
              <a:off x="1632" y="3498"/>
              <a:ext cx="2731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0"/>
            <p:cNvCxnSpPr/>
            <p:nvPr/>
          </p:nvCxnSpPr>
          <p:spPr>
            <a:xfrm>
              <a:off x="1262" y="4025"/>
              <a:ext cx="30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5" name="Google Shape;325;p10"/>
            <p:cNvCxnSpPr/>
            <p:nvPr/>
          </p:nvCxnSpPr>
          <p:spPr>
            <a:xfrm rot="10800000">
              <a:off x="1572" y="1994"/>
              <a:ext cx="0" cy="225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6" name="Google Shape;326;p10"/>
            <p:cNvSpPr/>
            <p:nvPr/>
          </p:nvSpPr>
          <p:spPr>
            <a:xfrm>
              <a:off x="2231" y="2612"/>
              <a:ext cx="1328" cy="88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" name="Google Shape;327;p10"/>
            <p:cNvCxnSpPr/>
            <p:nvPr/>
          </p:nvCxnSpPr>
          <p:spPr>
            <a:xfrm rot="10800000">
              <a:off x="1500" y="2618"/>
              <a:ext cx="1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0"/>
            <p:cNvCxnSpPr/>
            <p:nvPr/>
          </p:nvCxnSpPr>
          <p:spPr>
            <a:xfrm rot="10800000">
              <a:off x="1500" y="3499"/>
              <a:ext cx="1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0"/>
            <p:cNvCxnSpPr/>
            <p:nvPr/>
          </p:nvCxnSpPr>
          <p:spPr>
            <a:xfrm>
              <a:off x="2235" y="3962"/>
              <a:ext cx="0" cy="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0"/>
            <p:cNvCxnSpPr/>
            <p:nvPr/>
          </p:nvCxnSpPr>
          <p:spPr>
            <a:xfrm>
              <a:off x="3558" y="3952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1" name="Google Shape;331;p10"/>
            <p:cNvSpPr txBox="1"/>
            <p:nvPr/>
          </p:nvSpPr>
          <p:spPr>
            <a:xfrm>
              <a:off x="1120" y="2485"/>
              <a:ext cx="3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0"/>
            <p:cNvSpPr txBox="1"/>
            <p:nvPr/>
          </p:nvSpPr>
          <p:spPr>
            <a:xfrm>
              <a:off x="1120" y="3366"/>
              <a:ext cx="34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0"/>
            <p:cNvSpPr txBox="1"/>
            <p:nvPr/>
          </p:nvSpPr>
          <p:spPr>
            <a:xfrm>
              <a:off x="2013" y="4023"/>
              <a:ext cx="34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0"/>
            <p:cNvSpPr txBox="1"/>
            <p:nvPr/>
          </p:nvSpPr>
          <p:spPr>
            <a:xfrm>
              <a:off x="3337" y="4024"/>
              <a:ext cx="3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0"/>
            <p:cNvSpPr txBox="1"/>
            <p:nvPr/>
          </p:nvSpPr>
          <p:spPr>
            <a:xfrm>
              <a:off x="2543" y="2351"/>
              <a:ext cx="6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6" name="Google Shape;336;p10"/>
            <p:cNvCxnSpPr/>
            <p:nvPr/>
          </p:nvCxnSpPr>
          <p:spPr>
            <a:xfrm flipH="1" rot="10800000">
              <a:off x="2410" y="2704"/>
              <a:ext cx="442" cy="2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37" name="Google Shape;337;p10"/>
            <p:cNvCxnSpPr/>
            <p:nvPr/>
          </p:nvCxnSpPr>
          <p:spPr>
            <a:xfrm flipH="1" rot="10800000">
              <a:off x="1793" y="2170"/>
              <a:ext cx="648" cy="5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38" name="Google Shape;338;p10"/>
            <p:cNvCxnSpPr/>
            <p:nvPr/>
          </p:nvCxnSpPr>
          <p:spPr>
            <a:xfrm>
              <a:off x="2473" y="3351"/>
              <a:ext cx="468" cy="3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339" name="Google Shape;339;p10"/>
            <p:cNvCxnSpPr/>
            <p:nvPr/>
          </p:nvCxnSpPr>
          <p:spPr>
            <a:xfrm>
              <a:off x="1969" y="3078"/>
              <a:ext cx="1854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40" name="Google Shape;340;p10"/>
            <p:cNvSpPr txBox="1"/>
            <p:nvPr/>
          </p:nvSpPr>
          <p:spPr>
            <a:xfrm>
              <a:off x="1658" y="2725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[0001]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0"/>
            <p:cNvSpPr txBox="1"/>
            <p:nvPr/>
          </p:nvSpPr>
          <p:spPr>
            <a:xfrm>
              <a:off x="2849" y="2630"/>
              <a:ext cx="57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[0000]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0"/>
            <p:cNvSpPr txBox="1"/>
            <p:nvPr/>
          </p:nvSpPr>
          <p:spPr>
            <a:xfrm>
              <a:off x="2300" y="2925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0"/>
            <p:cNvSpPr txBox="1"/>
            <p:nvPr/>
          </p:nvSpPr>
          <p:spPr>
            <a:xfrm>
              <a:off x="1661" y="3084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[0001]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0"/>
            <p:cNvSpPr txBox="1"/>
            <p:nvPr/>
          </p:nvSpPr>
          <p:spPr>
            <a:xfrm>
              <a:off x="2941" y="3665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0"/>
            <p:cNvSpPr txBox="1"/>
            <p:nvPr/>
          </p:nvSpPr>
          <p:spPr>
            <a:xfrm>
              <a:off x="2469" y="3241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[0000]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0"/>
            <p:cNvSpPr txBox="1"/>
            <p:nvPr/>
          </p:nvSpPr>
          <p:spPr>
            <a:xfrm>
              <a:off x="2432" y="2087"/>
              <a:ext cx="57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[1000]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0"/>
            <p:cNvSpPr txBox="1"/>
            <p:nvPr/>
          </p:nvSpPr>
          <p:spPr>
            <a:xfrm>
              <a:off x="3814" y="3277"/>
              <a:ext cx="58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[0010]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10"/>
            <p:cNvCxnSpPr/>
            <p:nvPr/>
          </p:nvCxnSpPr>
          <p:spPr>
            <a:xfrm rot="10800000">
              <a:off x="3667" y="2070"/>
              <a:ext cx="338" cy="9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49" name="Google Shape;349;p10"/>
            <p:cNvSpPr txBox="1"/>
            <p:nvPr/>
          </p:nvSpPr>
          <p:spPr>
            <a:xfrm>
              <a:off x="3991" y="2920"/>
              <a:ext cx="62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[0010]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0"/>
            <p:cNvSpPr txBox="1"/>
            <p:nvPr/>
          </p:nvSpPr>
          <p:spPr>
            <a:xfrm>
              <a:off x="3675" y="1995"/>
              <a:ext cx="61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 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[1010]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1" name="Google Shape;351;p10"/>
            <p:cNvCxnSpPr/>
            <p:nvPr/>
          </p:nvCxnSpPr>
          <p:spPr>
            <a:xfrm flipH="1" rot="10800000">
              <a:off x="1854" y="3848"/>
              <a:ext cx="1933" cy="1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52" name="Google Shape;352;p10"/>
            <p:cNvSpPr txBox="1"/>
            <p:nvPr/>
          </p:nvSpPr>
          <p:spPr>
            <a:xfrm>
              <a:off x="1575" y="3755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[0101]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0"/>
            <p:cNvSpPr txBox="1"/>
            <p:nvPr/>
          </p:nvSpPr>
          <p:spPr>
            <a:xfrm>
              <a:off x="3788" y="3758"/>
              <a:ext cx="624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[0110]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0"/>
          <p:cNvGrpSpPr/>
          <p:nvPr/>
        </p:nvGrpSpPr>
        <p:grpSpPr>
          <a:xfrm>
            <a:off x="1283378" y="5249380"/>
            <a:ext cx="2884487" cy="1368425"/>
            <a:chOff x="973" y="2626"/>
            <a:chExt cx="1817" cy="862"/>
          </a:xfrm>
        </p:grpSpPr>
        <p:sp>
          <p:nvSpPr>
            <p:cNvPr id="355" name="Google Shape;355;p10"/>
            <p:cNvSpPr/>
            <p:nvPr/>
          </p:nvSpPr>
          <p:spPr>
            <a:xfrm>
              <a:off x="973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above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142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below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1882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2337" y="2879"/>
              <a:ext cx="453" cy="31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0"/>
            <p:cNvSpPr txBox="1"/>
            <p:nvPr/>
          </p:nvSpPr>
          <p:spPr>
            <a:xfrm>
              <a:off x="109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154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0"/>
            <p:cNvSpPr txBox="1"/>
            <p:nvPr/>
          </p:nvSpPr>
          <p:spPr>
            <a:xfrm>
              <a:off x="2003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0"/>
            <p:cNvSpPr txBox="1"/>
            <p:nvPr/>
          </p:nvSpPr>
          <p:spPr>
            <a:xfrm>
              <a:off x="2458" y="262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0"/>
            <p:cNvSpPr txBox="1"/>
            <p:nvPr/>
          </p:nvSpPr>
          <p:spPr>
            <a:xfrm>
              <a:off x="1364" y="3255"/>
              <a:ext cx="100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Code 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"/>
          <p:cNvSpPr txBox="1"/>
          <p:nvPr/>
        </p:nvSpPr>
        <p:spPr>
          <a:xfrm>
            <a:off x="726881" y="333955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if(oc1 == oc2 == 0000)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if((oc1 AND oc2)!=0000){ // condition to check matching bit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 txBox="1"/>
          <p:nvPr>
            <p:ph idx="1" type="body"/>
          </p:nvPr>
        </p:nvSpPr>
        <p:spPr>
          <a:xfrm>
            <a:off x="726881" y="333955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 if ((oc1 AND oc2)!=0000) { // condition to check matching bit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to non-zero bit of oc2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}</a:t>
            </a:r>
            <a:endParaRPr/>
          </a:p>
        </p:txBody>
      </p:sp>
      <p:grpSp>
        <p:nvGrpSpPr>
          <p:cNvPr id="374" name="Google Shape;374;p12"/>
          <p:cNvGrpSpPr/>
          <p:nvPr/>
        </p:nvGrpSpPr>
        <p:grpSpPr>
          <a:xfrm>
            <a:off x="5626487" y="1063252"/>
            <a:ext cx="5784946" cy="4065339"/>
            <a:chOff x="5626487" y="1063252"/>
            <a:chExt cx="5784946" cy="4065339"/>
          </a:xfrm>
        </p:grpSpPr>
        <p:cxnSp>
          <p:nvCxnSpPr>
            <p:cNvPr id="375" name="Google Shape;375;p12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2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2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2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9" name="Google Shape;379;p12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0" name="Google Shape;380;p12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2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2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2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4" name="Google Shape;384;p12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2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2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2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2"/>
            <p:cNvSpPr txBox="1"/>
            <p:nvPr/>
          </p:nvSpPr>
          <p:spPr>
            <a:xfrm>
              <a:off x="8164871" y="1728619"/>
              <a:ext cx="1120242" cy="412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Window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9" name="Google Shape;389;p12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90" name="Google Shape;390;p12"/>
            <p:cNvSpPr txBox="1"/>
            <p:nvPr/>
          </p:nvSpPr>
          <p:spPr>
            <a:xfrm>
              <a:off x="10184161" y="1093577"/>
              <a:ext cx="9220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[1010]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2"/>
            <p:cNvSpPr txBox="1"/>
            <p:nvPr/>
          </p:nvSpPr>
          <p:spPr>
            <a:xfrm>
              <a:off x="6420289" y="4332933"/>
              <a:ext cx="93807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[0101]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 txBox="1"/>
          <p:nvPr>
            <p:ph idx="1" type="body"/>
          </p:nvPr>
        </p:nvSpPr>
        <p:spPr>
          <a:xfrm>
            <a:off x="726881" y="333955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 if ((oc1 AND oc2)!=0000) { // condition to check matching bit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to non-zero bit of oc2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}</a:t>
            </a:r>
            <a:endParaRPr/>
          </a:p>
        </p:txBody>
      </p:sp>
      <p:cxnSp>
        <p:nvCxnSpPr>
          <p:cNvPr id="397" name="Google Shape;397;p13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13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13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13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13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13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13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13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13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13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13"/>
          <p:cNvCxnSpPr/>
          <p:nvPr/>
        </p:nvCxnSpPr>
        <p:spPr>
          <a:xfrm flipH="1" rot="10800000">
            <a:off x="7156174" y="1227363"/>
            <a:ext cx="3013716" cy="2553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12" name="Google Shape;412;p13"/>
          <p:cNvSpPr txBox="1"/>
          <p:nvPr/>
        </p:nvSpPr>
        <p:spPr>
          <a:xfrm>
            <a:off x="10184161" y="1093577"/>
            <a:ext cx="9220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[1010]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>
            <a:off x="6746811" y="3858508"/>
            <a:ext cx="977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[0001]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"/>
          <p:cNvSpPr txBox="1"/>
          <p:nvPr>
            <p:ph idx="1" type="body"/>
          </p:nvPr>
        </p:nvSpPr>
        <p:spPr>
          <a:xfrm>
            <a:off x="726881" y="333955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 if ((oc1 AND oc2)!=0000) { // condition to check matching bit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to non-zero bit of oc2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}</a:t>
            </a:r>
            <a:endParaRPr/>
          </a:p>
        </p:txBody>
      </p:sp>
      <p:cxnSp>
        <p:nvCxnSpPr>
          <p:cNvPr id="419" name="Google Shape;419;p14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14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14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14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14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14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14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14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14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14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14"/>
          <p:cNvCxnSpPr/>
          <p:nvPr/>
        </p:nvCxnSpPr>
        <p:spPr>
          <a:xfrm flipH="1" rot="10800000">
            <a:off x="7604751" y="1163884"/>
            <a:ext cx="2640060" cy="223680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34" name="Google Shape;434;p14"/>
          <p:cNvSpPr txBox="1"/>
          <p:nvPr/>
        </p:nvSpPr>
        <p:spPr>
          <a:xfrm>
            <a:off x="10043345" y="1228669"/>
            <a:ext cx="9717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[1010]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6666012" y="3343953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’’ [0000]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"/>
          <p:cNvSpPr txBox="1"/>
          <p:nvPr>
            <p:ph idx="1" type="body"/>
          </p:nvPr>
        </p:nvSpPr>
        <p:spPr>
          <a:xfrm>
            <a:off x="726881" y="333955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cohen-Sutherland(x1, y1, x2, y2):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oc1 = calculate_outcode(x1, y1),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oc2 = calculate_outcode(x2, y2);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while(true)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if (oc1 == oc2 == 0000) 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inside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output (x1, y1), (x2, y2) as clipped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 if ((oc1 AND oc2)!=0000) { // condition to check matching bit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//declare completely outside and clip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break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if(oc1 != 0000){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(x1, y1) = find intersection point of line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and the boundary corresponding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              to non-zero bit of oc1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oc1 = calculate_outcode(x1, y1)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else{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(x2, y2) = find intersection point of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and the boundary corresponding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                                                              to non-zero bit of oc2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	oc2 = calculate_outcode(x2, y2)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200"/>
              <a:t>	continue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}</a:t>
            </a:r>
            <a:endParaRPr/>
          </a:p>
        </p:txBody>
      </p:sp>
      <p:cxnSp>
        <p:nvCxnSpPr>
          <p:cNvPr id="441" name="Google Shape;441;p15"/>
          <p:cNvCxnSpPr/>
          <p:nvPr/>
        </p:nvCxnSpPr>
        <p:spPr>
          <a:xfrm rot="5400000">
            <a:off x="5829843" y="2845294"/>
            <a:ext cx="3564084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15"/>
          <p:cNvCxnSpPr/>
          <p:nvPr/>
        </p:nvCxnSpPr>
        <p:spPr>
          <a:xfrm rot="5400000">
            <a:off x="8191628" y="2884538"/>
            <a:ext cx="3565868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15"/>
          <p:cNvCxnSpPr/>
          <p:nvPr/>
        </p:nvCxnSpPr>
        <p:spPr>
          <a:xfrm rot="10800000">
            <a:off x="6489859" y="2210252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15"/>
          <p:cNvCxnSpPr/>
          <p:nvPr/>
        </p:nvCxnSpPr>
        <p:spPr>
          <a:xfrm rot="10800000">
            <a:off x="6539806" y="3774667"/>
            <a:ext cx="4871627" cy="0"/>
          </a:xfrm>
          <a:prstGeom prst="straightConnector1">
            <a:avLst/>
          </a:prstGeom>
          <a:noFill/>
          <a:ln cap="flat" cmpd="sng" w="9525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15"/>
          <p:cNvSpPr/>
          <p:nvPr/>
        </p:nvSpPr>
        <p:spPr>
          <a:xfrm>
            <a:off x="7608317" y="2194198"/>
            <a:ext cx="2368920" cy="158047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15"/>
          <p:cNvCxnSpPr/>
          <p:nvPr/>
        </p:nvCxnSpPr>
        <p:spPr>
          <a:xfrm rot="10800000">
            <a:off x="6304341" y="220490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15"/>
          <p:cNvCxnSpPr/>
          <p:nvPr/>
        </p:nvCxnSpPr>
        <p:spPr>
          <a:xfrm rot="10800000">
            <a:off x="6304341" y="3776451"/>
            <a:ext cx="237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15"/>
          <p:cNvCxnSpPr/>
          <p:nvPr/>
        </p:nvCxnSpPr>
        <p:spPr>
          <a:xfrm>
            <a:off x="7615452" y="4602362"/>
            <a:ext cx="0" cy="2390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15"/>
          <p:cNvCxnSpPr/>
          <p:nvPr/>
        </p:nvCxnSpPr>
        <p:spPr>
          <a:xfrm>
            <a:off x="9975454" y="4584524"/>
            <a:ext cx="0" cy="2568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15"/>
          <p:cNvSpPr txBox="1"/>
          <p:nvPr/>
        </p:nvSpPr>
        <p:spPr>
          <a:xfrm>
            <a:off x="5626487" y="1967652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 txBox="1"/>
          <p:nvPr/>
        </p:nvSpPr>
        <p:spPr>
          <a:xfrm>
            <a:off x="5626487" y="3539202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7219443" y="4711176"/>
            <a:ext cx="615420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 txBox="1"/>
          <p:nvPr/>
        </p:nvSpPr>
        <p:spPr>
          <a:xfrm>
            <a:off x="9581228" y="4712960"/>
            <a:ext cx="663583" cy="415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 txBox="1"/>
          <p:nvPr/>
        </p:nvSpPr>
        <p:spPr>
          <a:xfrm>
            <a:off x="8164871" y="1728619"/>
            <a:ext cx="1120242" cy="4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15"/>
          <p:cNvCxnSpPr/>
          <p:nvPr/>
        </p:nvCxnSpPr>
        <p:spPr>
          <a:xfrm flipH="1" rot="10800000">
            <a:off x="7604751" y="2205585"/>
            <a:ext cx="1410560" cy="11951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6" name="Google Shape;456;p15"/>
          <p:cNvSpPr txBox="1"/>
          <p:nvPr/>
        </p:nvSpPr>
        <p:spPr>
          <a:xfrm>
            <a:off x="9120204" y="1890669"/>
            <a:ext cx="10115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 [0000]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 txBox="1"/>
          <p:nvPr/>
        </p:nvSpPr>
        <p:spPr>
          <a:xfrm>
            <a:off x="6666012" y="3343953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’’ [0000]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6"/>
          <p:cNvGrpSpPr/>
          <p:nvPr/>
        </p:nvGrpSpPr>
        <p:grpSpPr>
          <a:xfrm>
            <a:off x="2456536" y="212462"/>
            <a:ext cx="3284410" cy="2308101"/>
            <a:chOff x="5626487" y="1063252"/>
            <a:chExt cx="5784946" cy="4065339"/>
          </a:xfrm>
        </p:grpSpPr>
        <p:cxnSp>
          <p:nvCxnSpPr>
            <p:cNvPr id="463" name="Google Shape;463;p16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16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" name="Google Shape;465;p16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" name="Google Shape;466;p16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7" name="Google Shape;467;p16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8" name="Google Shape;468;p16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16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16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16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2" name="Google Shape;472;p16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6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6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6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6" name="Google Shape;476;p16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77" name="Google Shape;477;p16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6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9" name="Google Shape;479;p16"/>
          <p:cNvCxnSpPr/>
          <p:nvPr/>
        </p:nvCxnSpPr>
        <p:spPr>
          <a:xfrm>
            <a:off x="6456459" y="0"/>
            <a:ext cx="31805" cy="694148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0" name="Google Shape;480;p16"/>
          <p:cNvCxnSpPr/>
          <p:nvPr/>
        </p:nvCxnSpPr>
        <p:spPr>
          <a:xfrm flipH="1" rot="10800000">
            <a:off x="0" y="3322611"/>
            <a:ext cx="12192000" cy="103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1" name="Google Shape;481;p16"/>
          <p:cNvSpPr txBox="1"/>
          <p:nvPr/>
        </p:nvSpPr>
        <p:spPr>
          <a:xfrm>
            <a:off x="267696" y="1973005"/>
            <a:ext cx="22861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boundary intersection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b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y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m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3543592" y="1502797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 txBox="1"/>
          <p:nvPr/>
        </p:nvSpPr>
        <p:spPr>
          <a:xfrm>
            <a:off x="3593877" y="1388359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4" name="Google Shape;484;p16"/>
          <p:cNvGrpSpPr/>
          <p:nvPr/>
        </p:nvGrpSpPr>
        <p:grpSpPr>
          <a:xfrm>
            <a:off x="8797383" y="303981"/>
            <a:ext cx="3284410" cy="2308101"/>
            <a:chOff x="5626487" y="1063252"/>
            <a:chExt cx="5784946" cy="4065339"/>
          </a:xfrm>
        </p:grpSpPr>
        <p:cxnSp>
          <p:nvCxnSpPr>
            <p:cNvPr id="485" name="Google Shape;485;p16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16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16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16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9" name="Google Shape;489;p16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16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16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16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16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4" name="Google Shape;494;p16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6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6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6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8" name="Google Shape;498;p16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99" name="Google Shape;499;p16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6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p16"/>
          <p:cNvSpPr txBox="1"/>
          <p:nvPr/>
        </p:nvSpPr>
        <p:spPr>
          <a:xfrm>
            <a:off x="6586076" y="2146102"/>
            <a:ext cx="239514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boundary intersection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b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y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m 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11228206" y="449327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 txBox="1"/>
          <p:nvPr/>
        </p:nvSpPr>
        <p:spPr>
          <a:xfrm>
            <a:off x="10670499" y="295777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16"/>
          <p:cNvGrpSpPr/>
          <p:nvPr/>
        </p:nvGrpSpPr>
        <p:grpSpPr>
          <a:xfrm>
            <a:off x="2428178" y="3634680"/>
            <a:ext cx="3284410" cy="2308101"/>
            <a:chOff x="5626487" y="1063252"/>
            <a:chExt cx="5784946" cy="4065339"/>
          </a:xfrm>
        </p:grpSpPr>
        <p:cxnSp>
          <p:nvCxnSpPr>
            <p:cNvPr id="505" name="Google Shape;505;p16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16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16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16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9" name="Google Shape;509;p16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0" name="Google Shape;510;p16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16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16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16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4" name="Google Shape;514;p16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6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6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6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8" name="Google Shape;518;p16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19" name="Google Shape;519;p16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6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1" name="Google Shape;521;p16"/>
          <p:cNvSpPr txBox="1"/>
          <p:nvPr/>
        </p:nvSpPr>
        <p:spPr>
          <a:xfrm>
            <a:off x="239338" y="5395223"/>
            <a:ext cx="2605137" cy="10624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99" r="0" t="-11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3276695" y="5139698"/>
            <a:ext cx="71562" cy="71562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 txBox="1"/>
          <p:nvPr/>
        </p:nvSpPr>
        <p:spPr>
          <a:xfrm>
            <a:off x="2761449" y="4842512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4" name="Google Shape;524;p16"/>
          <p:cNvGrpSpPr/>
          <p:nvPr/>
        </p:nvGrpSpPr>
        <p:grpSpPr>
          <a:xfrm>
            <a:off x="8797383" y="3651898"/>
            <a:ext cx="3284410" cy="2308101"/>
            <a:chOff x="5626487" y="1063252"/>
            <a:chExt cx="5784946" cy="4065339"/>
          </a:xfrm>
        </p:grpSpPr>
        <p:cxnSp>
          <p:nvCxnSpPr>
            <p:cNvPr id="525" name="Google Shape;525;p16"/>
            <p:cNvCxnSpPr/>
            <p:nvPr/>
          </p:nvCxnSpPr>
          <p:spPr>
            <a:xfrm rot="5400000">
              <a:off x="5829843" y="2845294"/>
              <a:ext cx="3564084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" name="Google Shape;526;p16"/>
            <p:cNvCxnSpPr/>
            <p:nvPr/>
          </p:nvCxnSpPr>
          <p:spPr>
            <a:xfrm rot="5400000">
              <a:off x="8191628" y="2884538"/>
              <a:ext cx="3565868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7" name="Google Shape;527;p16"/>
            <p:cNvCxnSpPr/>
            <p:nvPr/>
          </p:nvCxnSpPr>
          <p:spPr>
            <a:xfrm rot="10800000">
              <a:off x="6489859" y="2210252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8" name="Google Shape;528;p16"/>
            <p:cNvCxnSpPr/>
            <p:nvPr/>
          </p:nvCxnSpPr>
          <p:spPr>
            <a:xfrm rot="10800000">
              <a:off x="6539806" y="3774667"/>
              <a:ext cx="4871627" cy="0"/>
            </a:xfrm>
            <a:prstGeom prst="straightConnector1">
              <a:avLst/>
            </a:prstGeom>
            <a:noFill/>
            <a:ln cap="flat" cmpd="sng" w="9525">
              <a:solidFill>
                <a:srgbClr val="3366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9" name="Google Shape;529;p16"/>
            <p:cNvSpPr/>
            <p:nvPr/>
          </p:nvSpPr>
          <p:spPr>
            <a:xfrm>
              <a:off x="7608317" y="2194198"/>
              <a:ext cx="2368920" cy="158047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0" name="Google Shape;530;p16"/>
            <p:cNvCxnSpPr/>
            <p:nvPr/>
          </p:nvCxnSpPr>
          <p:spPr>
            <a:xfrm rot="10800000">
              <a:off x="6304341" y="220490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16"/>
            <p:cNvCxnSpPr/>
            <p:nvPr/>
          </p:nvCxnSpPr>
          <p:spPr>
            <a:xfrm rot="10800000">
              <a:off x="6304341" y="3776451"/>
              <a:ext cx="2372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16"/>
            <p:cNvCxnSpPr/>
            <p:nvPr/>
          </p:nvCxnSpPr>
          <p:spPr>
            <a:xfrm>
              <a:off x="7615452" y="4602362"/>
              <a:ext cx="0" cy="2390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16"/>
            <p:cNvCxnSpPr/>
            <p:nvPr/>
          </p:nvCxnSpPr>
          <p:spPr>
            <a:xfrm>
              <a:off x="9975454" y="4584524"/>
              <a:ext cx="0" cy="2568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4" name="Google Shape;534;p16"/>
            <p:cNvSpPr txBox="1"/>
            <p:nvPr/>
          </p:nvSpPr>
          <p:spPr>
            <a:xfrm>
              <a:off x="5626487" y="1967652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6"/>
            <p:cNvSpPr txBox="1"/>
            <p:nvPr/>
          </p:nvSpPr>
          <p:spPr>
            <a:xfrm>
              <a:off x="5626487" y="3539202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6"/>
            <p:cNvSpPr txBox="1"/>
            <p:nvPr/>
          </p:nvSpPr>
          <p:spPr>
            <a:xfrm>
              <a:off x="7219443" y="4711176"/>
              <a:ext cx="615420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6"/>
            <p:cNvSpPr txBox="1"/>
            <p:nvPr/>
          </p:nvSpPr>
          <p:spPr>
            <a:xfrm>
              <a:off x="9581228" y="4712960"/>
              <a:ext cx="663583" cy="415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8" name="Google Shape;538;p16"/>
            <p:cNvCxnSpPr/>
            <p:nvPr/>
          </p:nvCxnSpPr>
          <p:spPr>
            <a:xfrm flipH="1" rot="10800000">
              <a:off x="6438127" y="1227363"/>
              <a:ext cx="3731763" cy="31617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39" name="Google Shape;539;p16"/>
            <p:cNvSpPr txBox="1"/>
            <p:nvPr/>
          </p:nvSpPr>
          <p:spPr>
            <a:xfrm>
              <a:off x="10184162" y="1093578"/>
              <a:ext cx="660298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6"/>
            <p:cNvSpPr txBox="1"/>
            <p:nvPr/>
          </p:nvSpPr>
          <p:spPr>
            <a:xfrm>
              <a:off x="6420289" y="4332933"/>
              <a:ext cx="686376" cy="500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1"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1" name="Google Shape;541;p16"/>
          <p:cNvSpPr txBox="1"/>
          <p:nvPr/>
        </p:nvSpPr>
        <p:spPr>
          <a:xfrm>
            <a:off x="6608543" y="5412441"/>
            <a:ext cx="2178481" cy="104400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38" r="0" t="-11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2" name="Google Shape;542;p16"/>
          <p:cNvSpPr/>
          <p:nvPr/>
        </p:nvSpPr>
        <p:spPr>
          <a:xfrm>
            <a:off x="10711375" y="4242518"/>
            <a:ext cx="72228" cy="81406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 txBox="1"/>
          <p:nvPr/>
        </p:nvSpPr>
        <p:spPr>
          <a:xfrm>
            <a:off x="10138522" y="3922298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(x, y) 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7"/>
          <p:cNvSpPr txBox="1"/>
          <p:nvPr>
            <p:ph idx="1" type="body"/>
          </p:nvPr>
        </p:nvSpPr>
        <p:spPr>
          <a:xfrm>
            <a:off x="1059594" y="792812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Determine whether the following line are accepted/rejected/partial using Cohen Sutherland line clipping algorithm.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a) Given (-250,-200) to (250,200) be the clip region.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(-100, -220) to (300, -210).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b) Given (0,0) to (300,200) be the clip region.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(i) (50, -125) to (-100, 225).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(ii) (-250, 200) to (250, -200).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If they are partially accepted/rejected find the line segment within the clipping window.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8"/>
          <p:cNvSpPr txBox="1"/>
          <p:nvPr>
            <p:ph idx="1" type="body"/>
          </p:nvPr>
        </p:nvSpPr>
        <p:spPr>
          <a:xfrm>
            <a:off x="838200" y="182880"/>
            <a:ext cx="10515600" cy="5994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3" r="0" t="-50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54" name="Google Shape;554;p18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9"/>
          <p:cNvSpPr txBox="1"/>
          <p:nvPr>
            <p:ph idx="1" type="body"/>
          </p:nvPr>
        </p:nvSpPr>
        <p:spPr>
          <a:xfrm>
            <a:off x="838200" y="182880"/>
            <a:ext cx="10515600" cy="5994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3" r="0" t="-50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60" name="Google Shape;560;p19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0"/>
          <p:cNvSpPr txBox="1"/>
          <p:nvPr>
            <p:ph idx="1" type="body"/>
          </p:nvPr>
        </p:nvSpPr>
        <p:spPr>
          <a:xfrm>
            <a:off x="838200" y="182880"/>
            <a:ext cx="10515600" cy="5994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3" r="0" t="-81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66" name="Google Shape;566;p20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"/>
          <p:cNvSpPr txBox="1"/>
          <p:nvPr>
            <p:ph idx="1" type="body"/>
          </p:nvPr>
        </p:nvSpPr>
        <p:spPr>
          <a:xfrm>
            <a:off x="838200" y="182880"/>
            <a:ext cx="10515600" cy="5994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3" r="0" t="-81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72" name="Google Shape;572;p21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2"/>
          <p:cNvSpPr txBox="1"/>
          <p:nvPr>
            <p:ph idx="1" type="body"/>
          </p:nvPr>
        </p:nvSpPr>
        <p:spPr>
          <a:xfrm>
            <a:off x="838200" y="182880"/>
            <a:ext cx="10515600" cy="5994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3" l="-115" r="0" t="-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78" name="Google Shape;578;p22"/>
          <p:cNvSpPr txBox="1"/>
          <p:nvPr/>
        </p:nvSpPr>
        <p:spPr>
          <a:xfrm>
            <a:off x="6976606" y="373712"/>
            <a:ext cx="5061669" cy="59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cohen-Sutherland(x1, y1, x2, y2):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oc1 = calculate_outcode(x1, y1),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oc2 = calculate_outcode(x2, y2);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while(true)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(oc1 == oc2 == 0000) 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inside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output (x1, y1), (x2, y2) as clipped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((oc1 AND oc2)!=0000) { // condition to check matching bit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//declare completely outside and clip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break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if(oc1 != 0000){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(x1, y1) = find intersection point of line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and the boundary corresponding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to non-zero bit of oc1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oc1 = calculate_outcode(x1, y1)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else{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(x2, y2) = find intersection point of line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and the boundary corresponding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to non-zero bit of oc2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oc2 = calculate_outcode(x2, y2)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continue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2020-08-27T13:53:13Z</dcterms:created>
  <dc:creator>USER</dc:creator>
</cp:coreProperties>
</file>