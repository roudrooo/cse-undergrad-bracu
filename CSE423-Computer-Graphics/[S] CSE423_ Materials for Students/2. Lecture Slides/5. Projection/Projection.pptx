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y="5143500" cx="9144000"/>
  <p:notesSz cx="6858000" cy="9144000"/>
  <p:embeddedFontLst>
    <p:embeddedFont>
      <p:font typeface="Lexend Medium"/>
      <p:regular r:id="rId77"/>
      <p:bold r:id="rId78"/>
    </p:embeddedFont>
    <p:embeddedFont>
      <p:font typeface="Lexend"/>
      <p:regular r:id="rId79"/>
      <p:bold r:id="rId8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69E456F-F163-4DBD-AB7D-469257C2341C}">
  <a:tblStyle styleId="{F69E456F-F163-4DBD-AB7D-469257C234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80" Type="http://schemas.openxmlformats.org/officeDocument/2006/relationships/font" Target="fonts/Lexen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31" Type="http://schemas.openxmlformats.org/officeDocument/2006/relationships/slide" Target="slides/slide25.xml"/><Relationship Id="rId75" Type="http://schemas.openxmlformats.org/officeDocument/2006/relationships/slide" Target="slides/slide69.xml"/><Relationship Id="rId30" Type="http://schemas.openxmlformats.org/officeDocument/2006/relationships/slide" Target="slides/slide24.xml"/><Relationship Id="rId74" Type="http://schemas.openxmlformats.org/officeDocument/2006/relationships/slide" Target="slides/slide68.xml"/><Relationship Id="rId33" Type="http://schemas.openxmlformats.org/officeDocument/2006/relationships/slide" Target="slides/slide27.xml"/><Relationship Id="rId77" Type="http://schemas.openxmlformats.org/officeDocument/2006/relationships/font" Target="fonts/LexendMedium-regular.fntdata"/><Relationship Id="rId32" Type="http://schemas.openxmlformats.org/officeDocument/2006/relationships/slide" Target="slides/slide26.xml"/><Relationship Id="rId76" Type="http://schemas.openxmlformats.org/officeDocument/2006/relationships/slide" Target="slides/slide70.xml"/><Relationship Id="rId35" Type="http://schemas.openxmlformats.org/officeDocument/2006/relationships/slide" Target="slides/slide29.xml"/><Relationship Id="rId79" Type="http://schemas.openxmlformats.org/officeDocument/2006/relationships/font" Target="fonts/Lexend-regular.fntdata"/><Relationship Id="rId34" Type="http://schemas.openxmlformats.org/officeDocument/2006/relationships/slide" Target="slides/slide28.xml"/><Relationship Id="rId78" Type="http://schemas.openxmlformats.org/officeDocument/2006/relationships/font" Target="fonts/LexendMedium-bold.fntdata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9" name="Google Shape;21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The </a:t>
            </a:r>
            <a:r>
              <a:rPr b="1" lang="en"/>
              <a:t>inclination angle</a:t>
            </a:r>
            <a:r>
              <a:rPr lang="en"/>
              <a:t> in projection refers to the angle that a particular axis (or plane) of the object makes with the plane of projection.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The </a:t>
            </a:r>
            <a:r>
              <a:rPr b="1" lang="en"/>
              <a:t>angle of skewness</a:t>
            </a:r>
            <a:r>
              <a:rPr lang="en"/>
              <a:t> in a projection refers to the angle by which the axes of the object are inclined relative to the plane of projection.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9" name="Google Shape;239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                       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0" name="Google Shape;290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8" name="Google Shape;298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5" name="Google Shape;305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" name="Google Shape;336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7" name="Google Shape;347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4" name="Google Shape;354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2" name="Google Shape;362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" name="Google Shape;375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5" name="Google Shape;385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3" name="Google Shape;393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2" name="Google Shape;402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5" name="Google Shape;415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5" name="Google Shape;425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3" name="Google Shape;433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2" name="Google Shape;442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0" name="Google Shape;450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9" name="Google Shape;459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7" name="Google Shape;467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1" name="Google Shape;481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5" name="Google Shape;495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2" name="Google Shape;502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9" name="Google Shape;509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1" name="Google Shape;521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8" name="Google Shape;528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8" name="Google Shape;538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9" name="Google Shape;549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7" name="Google Shape;557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7" name="Google Shape;567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3" name="Google Shape;593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2" name="Google Shape;602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0" name="Google Shape;620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4" name="Google Shape;634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2" name="Google Shape;642;p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9" name="Google Shape;649;p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5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7" name="Google Shape;657;p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4" name="Google Shape;664;p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2" name="Google Shape;672;p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ab04241e2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3ab04241e2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7" name="Google Shape;17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" name="Google Shape;26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/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" type="body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5" name="Google Shape;35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5" name="Google Shape;45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" type="body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51" name="Google Shape;51;p6"/>
          <p:cNvSpPr txBox="1"/>
          <p:nvPr>
            <p:ph idx="2" type="body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53" name="Google Shape;53;p6"/>
          <p:cNvSpPr txBox="1"/>
          <p:nvPr>
            <p:ph idx="4" type="body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7" name="Google Shape;57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5" name="Google Shape;65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2" name="Google Shape;72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9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9"/>
          <p:cNvSpPr txBox="1"/>
          <p:nvPr>
            <p:ph idx="1" type="body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78" name="Google Shape;78;p9"/>
          <p:cNvSpPr txBox="1"/>
          <p:nvPr>
            <p:ph idx="2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79" name="Google Shape;79;p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0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0"/>
          <p:cNvSpPr/>
          <p:nvPr>
            <p:ph idx="2" type="pic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10"/>
          <p:cNvSpPr txBox="1"/>
          <p:nvPr>
            <p:ph idx="1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89" name="Google Shape;89;p1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2" name="Google Shape;92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1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11"/>
          <p:cNvSpPr txBox="1"/>
          <p:nvPr>
            <p:ph idx="1" type="body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1" name="Google Shape;101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2"/>
          <p:cNvSpPr txBox="1"/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12"/>
          <p:cNvSpPr txBox="1"/>
          <p:nvPr>
            <p:ph idx="1" type="body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7" name="Google Shape;107;p1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1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0" name="Google Shape;110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46085" y="3096103"/>
            <a:ext cx="2200015" cy="206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86" y="4511180"/>
            <a:ext cx="649506" cy="647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5435" y="75501"/>
            <a:ext cx="677412" cy="6484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lip Art and Text" type="clipArtAndTx">
  <p:cSld name="CLIPART_AND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3"/>
          <p:cNvSpPr txBox="1"/>
          <p:nvPr>
            <p:ph type="title"/>
          </p:nvPr>
        </p:nvSpPr>
        <p:spPr>
          <a:xfrm>
            <a:off x="1528763" y="57150"/>
            <a:ext cx="7564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025" lIns="92075" spcFirstLastPara="1" rIns="92075" wrap="square" tIns="460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13"/>
          <p:cNvSpPr/>
          <p:nvPr>
            <p:ph idx="2" type="clipArt"/>
          </p:nvPr>
        </p:nvSpPr>
        <p:spPr>
          <a:xfrm>
            <a:off x="1479550" y="1085850"/>
            <a:ext cx="3737100" cy="34863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13"/>
          <p:cNvSpPr txBox="1"/>
          <p:nvPr>
            <p:ph idx="1" type="body"/>
          </p:nvPr>
        </p:nvSpPr>
        <p:spPr>
          <a:xfrm>
            <a:off x="5368925" y="1085850"/>
            <a:ext cx="3737100" cy="3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6025" lIns="92075" spcFirstLastPara="1" rIns="92075" wrap="square" tIns="46025">
            <a:noAutofit/>
          </a:bodyPr>
          <a:lstStyle>
            <a:lvl1pPr indent="-337185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710"/>
              <a:buChar char="✶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3"/>
          <p:cNvSpPr txBox="1"/>
          <p:nvPr>
            <p:ph idx="10" type="dt"/>
          </p:nvPr>
        </p:nvSpPr>
        <p:spPr>
          <a:xfrm>
            <a:off x="1481137" y="4686300"/>
            <a:ext cx="178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025" lIns="92075" spcFirstLastPara="1" rIns="92075" wrap="square" tIns="46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3"/>
          <p:cNvSpPr txBox="1"/>
          <p:nvPr>
            <p:ph idx="11" type="ftr"/>
          </p:nvPr>
        </p:nvSpPr>
        <p:spPr>
          <a:xfrm>
            <a:off x="37973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025" lIns="92075" spcFirstLastPara="1" rIns="92075" wrap="square" tIns="46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13"/>
          <p:cNvSpPr txBox="1"/>
          <p:nvPr>
            <p:ph idx="12" type="sldNum"/>
          </p:nvPr>
        </p:nvSpPr>
        <p:spPr>
          <a:xfrm>
            <a:off x="72263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025" lIns="92075" spcFirstLastPara="1" rIns="92075" wrap="square" tIns="460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gif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8.png"/><Relationship Id="rId4" Type="http://schemas.openxmlformats.org/officeDocument/2006/relationships/image" Target="../media/image11.png"/><Relationship Id="rId5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Relationship Id="rId4" Type="http://schemas.openxmlformats.org/officeDocument/2006/relationships/image" Target="../media/image22.png"/><Relationship Id="rId5" Type="http://schemas.openxmlformats.org/officeDocument/2006/relationships/image" Target="../media/image3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1.png"/><Relationship Id="rId4" Type="http://schemas.openxmlformats.org/officeDocument/2006/relationships/image" Target="../media/image2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4.png"/><Relationship Id="rId4" Type="http://schemas.openxmlformats.org/officeDocument/2006/relationships/image" Target="../media/image29.png"/><Relationship Id="rId5" Type="http://schemas.openxmlformats.org/officeDocument/2006/relationships/image" Target="../media/image2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0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3.jp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jp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3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1.png"/><Relationship Id="rId4" Type="http://schemas.openxmlformats.org/officeDocument/2006/relationships/image" Target="../media/image5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2.png"/><Relationship Id="rId4" Type="http://schemas.openxmlformats.org/officeDocument/2006/relationships/image" Target="../media/image37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7.png"/><Relationship Id="rId4" Type="http://schemas.openxmlformats.org/officeDocument/2006/relationships/image" Target="../media/image39.png"/><Relationship Id="rId5" Type="http://schemas.openxmlformats.org/officeDocument/2006/relationships/image" Target="../media/image35.png"/><Relationship Id="rId6" Type="http://schemas.openxmlformats.org/officeDocument/2006/relationships/image" Target="../media/image3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9.png"/><Relationship Id="rId4" Type="http://schemas.openxmlformats.org/officeDocument/2006/relationships/image" Target="../media/image46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7.png"/><Relationship Id="rId4" Type="http://schemas.openxmlformats.org/officeDocument/2006/relationships/image" Target="../media/image45.png"/><Relationship Id="rId5" Type="http://schemas.openxmlformats.org/officeDocument/2006/relationships/image" Target="../media/image52.png"/><Relationship Id="rId6" Type="http://schemas.openxmlformats.org/officeDocument/2006/relationships/image" Target="../media/image6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5.png"/><Relationship Id="rId4" Type="http://schemas.openxmlformats.org/officeDocument/2006/relationships/image" Target="../media/image50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50.png"/><Relationship Id="rId4" Type="http://schemas.openxmlformats.org/officeDocument/2006/relationships/image" Target="../media/image55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8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7.png"/><Relationship Id="rId4" Type="http://schemas.openxmlformats.org/officeDocument/2006/relationships/image" Target="../media/image49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1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57.png"/><Relationship Id="rId4" Type="http://schemas.openxmlformats.org/officeDocument/2006/relationships/image" Target="../media/image61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62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54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63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6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76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58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8.png"/><Relationship Id="rId4" Type="http://schemas.openxmlformats.org/officeDocument/2006/relationships/image" Target="../media/image65.png"/><Relationship Id="rId5" Type="http://schemas.openxmlformats.org/officeDocument/2006/relationships/image" Target="../media/image56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9.png"/><Relationship Id="rId4" Type="http://schemas.openxmlformats.org/officeDocument/2006/relationships/image" Target="../media/image73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66.png"/><Relationship Id="rId4" Type="http://schemas.openxmlformats.org/officeDocument/2006/relationships/image" Target="../media/image76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72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64.png"/><Relationship Id="rId4" Type="http://schemas.openxmlformats.org/officeDocument/2006/relationships/image" Target="../media/image69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71.png"/><Relationship Id="rId4" Type="http://schemas.openxmlformats.org/officeDocument/2006/relationships/image" Target="../media/image75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77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39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39.png"/><Relationship Id="rId4" Type="http://schemas.openxmlformats.org/officeDocument/2006/relationships/image" Target="../media/image44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45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45.png"/><Relationship Id="rId4" Type="http://schemas.openxmlformats.org/officeDocument/2006/relationships/image" Target="../media/image55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74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70.png"/><Relationship Id="rId4" Type="http://schemas.openxmlformats.org/officeDocument/2006/relationships/image" Target="../media/image79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80.png"/><Relationship Id="rId4" Type="http://schemas.openxmlformats.org/officeDocument/2006/relationships/image" Target="../media/image78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4"/>
          <p:cNvSpPr txBox="1"/>
          <p:nvPr/>
        </p:nvSpPr>
        <p:spPr>
          <a:xfrm>
            <a:off x="2708550" y="1706100"/>
            <a:ext cx="3726900" cy="167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0" i="0" lang="en" sz="43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Projection</a:t>
            </a:r>
            <a:endParaRPr b="0" i="0" sz="4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22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Introduction</a:t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5"/>
          <p:cNvSpPr txBox="1"/>
          <p:nvPr/>
        </p:nvSpPr>
        <p:spPr>
          <a:xfrm>
            <a:off x="683250" y="1063600"/>
            <a:ext cx="7618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" sz="22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Is a type of Transformation</a:t>
            </a:r>
            <a:endParaRPr b="0" i="0" sz="2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" sz="22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Transforming points in a coordinate of dimension </a:t>
            </a:r>
            <a:r>
              <a:rPr b="0" i="0" lang="en" sz="2200" u="none" cap="none" strike="noStrike">
                <a:solidFill>
                  <a:srgbClr val="3C78D8"/>
                </a:solidFill>
                <a:latin typeface="Lexend Medium"/>
                <a:ea typeface="Lexend Medium"/>
                <a:cs typeface="Lexend Medium"/>
                <a:sym typeface="Lexend Medium"/>
              </a:rPr>
              <a:t>n</a:t>
            </a:r>
            <a:r>
              <a:rPr b="0" i="0" lang="en" sz="22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into a coordinate system of dimension </a:t>
            </a:r>
            <a:r>
              <a:rPr b="0" i="0" lang="en" sz="2200" u="none" cap="none" strike="noStrike">
                <a:solidFill>
                  <a:srgbClr val="38761D"/>
                </a:solidFill>
                <a:latin typeface="Lexend Medium"/>
                <a:ea typeface="Lexend Medium"/>
                <a:cs typeface="Lexend Medium"/>
                <a:sym typeface="Lexend Medium"/>
              </a:rPr>
              <a:t>m</a:t>
            </a:r>
            <a:r>
              <a:rPr b="0" i="0" lang="en" sz="22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where </a:t>
            </a:r>
            <a:r>
              <a:rPr b="0" i="0" lang="en" sz="2200" u="none" cap="none" strike="noStrike">
                <a:solidFill>
                  <a:srgbClr val="38761D"/>
                </a:solidFill>
                <a:latin typeface="Lexend Medium"/>
                <a:ea typeface="Lexend Medium"/>
                <a:cs typeface="Lexend Medium"/>
                <a:sym typeface="Lexend Medium"/>
              </a:rPr>
              <a:t>m</a:t>
            </a:r>
            <a:r>
              <a:rPr b="0" i="0" lang="en" sz="22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&lt; </a:t>
            </a:r>
            <a:r>
              <a:rPr b="0" i="0" lang="en" sz="2200" u="none" cap="none" strike="noStrike">
                <a:solidFill>
                  <a:srgbClr val="3C78D8"/>
                </a:solidFill>
                <a:latin typeface="Lexend Medium"/>
                <a:ea typeface="Lexend Medium"/>
                <a:cs typeface="Lexend Medium"/>
                <a:sym typeface="Lexend Medium"/>
              </a:rPr>
              <a:t>n</a:t>
            </a:r>
            <a:r>
              <a:rPr b="0" i="0" lang="en" sz="22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</a:t>
            </a:r>
            <a:endParaRPr b="0" i="0" sz="2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22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Planar Geometric Projection</a:t>
            </a:r>
            <a:r>
              <a:rPr b="0" i="0" lang="en" sz="22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: Projecting an object on to a flat plane</a:t>
            </a:r>
            <a:endParaRPr b="0" i="0" sz="2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683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Lexend Medium"/>
              <a:buChar char="●"/>
            </a:pPr>
            <a:r>
              <a:rPr b="0" i="0" lang="en" sz="22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Turning 3D shapes to its 2D plane (this chapter)</a:t>
            </a:r>
            <a:endParaRPr b="0" i="0" sz="2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683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Lexend Medium"/>
              <a:buChar char="●"/>
            </a:pPr>
            <a:r>
              <a:rPr b="0" i="0" lang="en" sz="22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From 2D to 1D also possible</a:t>
            </a:r>
            <a:endParaRPr b="0" i="0" sz="2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327300" y="234700"/>
            <a:ext cx="2335500" cy="8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Projection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6"/>
          <p:cNvSpPr txBox="1"/>
          <p:nvPr/>
        </p:nvSpPr>
        <p:spPr>
          <a:xfrm>
            <a:off x="683250" y="1063600"/>
            <a:ext cx="7618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exend Medium"/>
              <a:buChar char="●"/>
            </a:pPr>
            <a:r>
              <a:rPr b="0" i="0" lang="en" sz="14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Object/Target Point (P)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: A single point on an object/geometry we're trying to project (calculate projection of)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exend Medium"/>
              <a:buChar char="●"/>
            </a:pPr>
            <a:r>
              <a:rPr b="0" i="0" lang="en" sz="14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Projected Point (P')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: The projected point after a projection transformation is applied for a given point P'. Projected points together constitutes the projected image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exend Medium"/>
              <a:buChar char="●"/>
            </a:pPr>
            <a:r>
              <a:rPr b="0" i="0" lang="en" sz="14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Projectors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: The "rays" responsible for projection. They'll intersect the projection plane.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exend Medium"/>
              <a:buChar char="●"/>
            </a:pPr>
            <a:r>
              <a:rPr b="0" i="0" lang="en" sz="14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Projection Plane (PP)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: The plane where the projected image of the object will appear on. This plane holds all of the P' points. Also known as view plane.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exend Medium"/>
              <a:buChar char="●"/>
            </a:pPr>
            <a:r>
              <a:rPr b="0" i="0" lang="en" sz="14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Center Of Projection (COP)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: The singular point where all the projectors/projection rays converge (only applicable to perspective projection).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1400"/>
              <a:buFont typeface="Lexend Medium"/>
              <a:buChar char="●"/>
            </a:pPr>
            <a:r>
              <a:rPr b="0" i="0" lang="en" sz="14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Direction Of Projection (DOP)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: The direction towards which the parallel projection rays go towards (only applicable to parallel projection).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403500" y="234700"/>
            <a:ext cx="6526200" cy="8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Projection (Terminologies)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7"/>
          <p:cNvSpPr txBox="1"/>
          <p:nvPr/>
        </p:nvSpPr>
        <p:spPr>
          <a:xfrm>
            <a:off x="327300" y="234700"/>
            <a:ext cx="5193000" cy="8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Projection (Anatomy)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142" name="Google Shape;14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2574" y="467275"/>
            <a:ext cx="6307650" cy="4482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8"/>
          <p:cNvSpPr txBox="1"/>
          <p:nvPr/>
        </p:nvSpPr>
        <p:spPr>
          <a:xfrm>
            <a:off x="481725" y="1953225"/>
            <a:ext cx="2236200" cy="1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Projection</a:t>
            </a:r>
            <a:endParaRPr b="0" i="0" sz="3100" u="none" cap="none" strike="noStrike">
              <a:solidFill>
                <a:srgbClr val="4A4A4A"/>
              </a:solidFill>
              <a:highlight>
                <a:srgbClr val="FFFFFF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(Types)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148" name="Google Shape;14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0041" y="241950"/>
            <a:ext cx="5372868" cy="4825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000" y="0"/>
            <a:ext cx="6857999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0"/>
          <p:cNvSpPr txBox="1"/>
          <p:nvPr/>
        </p:nvSpPr>
        <p:spPr>
          <a:xfrm>
            <a:off x="683300" y="165175"/>
            <a:ext cx="24798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Perspective</a:t>
            </a:r>
            <a:endParaRPr b="0" i="0" sz="2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vs</a:t>
            </a:r>
            <a:endParaRPr b="0" i="0" sz="2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Parallel</a:t>
            </a:r>
            <a:endParaRPr b="0" i="0" sz="2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159" name="Google Shape;15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86350" y="100875"/>
            <a:ext cx="4921499" cy="1809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60" name="Google Shape;160;p20"/>
          <p:cNvGraphicFramePr/>
          <p:nvPr/>
        </p:nvGraphicFramePr>
        <p:xfrm>
          <a:off x="314750" y="222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{F69E456F-F163-4DBD-AB7D-469257C2341C}</a:tableStyleId>
              </a:tblPr>
              <a:tblGrid>
                <a:gridCol w="1538725"/>
                <a:gridCol w="3347975"/>
                <a:gridCol w="3660925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Perspective</a:t>
                      </a:r>
                      <a:endParaRPr b="1"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Parallel</a:t>
                      </a:r>
                      <a:endParaRPr b="1" sz="14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/>
                        <a:t>Nature of Projectors</a:t>
                      </a:r>
                      <a:endParaRPr b="1"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/>
                        <a:t>Projectors aren't parallel, and will converge at a point called COP.</a:t>
                      </a:r>
                      <a:endParaRPr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/>
                        <a:t>The projectors are always parallel, will never converge.</a:t>
                      </a:r>
                      <a:endParaRPr sz="12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/>
                        <a:t>Configured By</a:t>
                      </a:r>
                      <a:endParaRPr b="1"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/>
                        <a:t>The Center of Projection (COP) and the distance between COP and the projection plane (PP)</a:t>
                      </a:r>
                      <a:endParaRPr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/>
                        <a:t>The angles those eventually control the Direction of Projection (DOP)</a:t>
                      </a:r>
                      <a:endParaRPr sz="12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/>
                        <a:t>Foreshortening</a:t>
                      </a:r>
                      <a:endParaRPr b="1"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/>
                        <a:t>Yes, so more familiar to human eye</a:t>
                      </a:r>
                      <a:endParaRPr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/>
                        <a:t>No, appears less realistic</a:t>
                      </a:r>
                      <a:endParaRPr sz="12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/>
                        <a:t>Examples</a:t>
                      </a:r>
                      <a:endParaRPr b="1"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/>
                        <a:t>1-point, 2-point, 3-point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/>
                        <a:t>Cabinet, Cavalier, Orthographic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1"/>
          <p:cNvSpPr txBox="1"/>
          <p:nvPr/>
        </p:nvSpPr>
        <p:spPr>
          <a:xfrm>
            <a:off x="1974025" y="62025"/>
            <a:ext cx="4963800" cy="1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Perspective Projection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166" name="Google Shape;16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2875" y="786412"/>
            <a:ext cx="6656724" cy="418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2"/>
          <p:cNvSpPr txBox="1"/>
          <p:nvPr/>
        </p:nvSpPr>
        <p:spPr>
          <a:xfrm>
            <a:off x="297625" y="366825"/>
            <a:ext cx="7035600" cy="1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Perspective Projection (Attributes)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172" name="Google Shape;172;p22"/>
          <p:cNvSpPr txBox="1"/>
          <p:nvPr/>
        </p:nvSpPr>
        <p:spPr>
          <a:xfrm>
            <a:off x="327300" y="1301500"/>
            <a:ext cx="7658100" cy="3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6AA84F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Vanishing Point: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 All lines that are parallel to each other (in 3D space)</a:t>
            </a:r>
            <a:endParaRPr b="0" i="0" sz="1500" u="none" cap="none" strike="noStrike">
              <a:solidFill>
                <a:srgbClr val="4A4A4A"/>
              </a:solidFill>
              <a:highlight>
                <a:srgbClr val="FFFFFF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appear to converge into a single point (in projected space)</a:t>
            </a:r>
            <a:endParaRPr b="0" i="0" sz="1500" u="none" cap="none" strike="noStrike">
              <a:solidFill>
                <a:srgbClr val="4A4A4A"/>
              </a:solidFill>
              <a:highlight>
                <a:srgbClr val="FFFFFF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4A4A4A"/>
              </a:solidFill>
              <a:highlight>
                <a:srgbClr val="FFFFFF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500"/>
              <a:buFont typeface="Lexend Medium"/>
              <a:buChar char="●"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One-point Perspective Projection: 1 vanishing point</a:t>
            </a:r>
            <a:endParaRPr b="0" i="0" sz="1500" u="none" cap="none" strike="noStrike">
              <a:solidFill>
                <a:srgbClr val="4A4A4A"/>
              </a:solidFill>
              <a:highlight>
                <a:srgbClr val="FFFFFF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500"/>
              <a:buFont typeface="Lexend Medium"/>
              <a:buChar char="●"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Two-point Perspective Projection: 2 vanishing points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4A"/>
              </a:buClr>
              <a:buSzPts val="1500"/>
              <a:buFont typeface="Lexend Medium"/>
              <a:buChar char="●"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Three-point Perspective Projection: 3 vanishing points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In reality, there are infinite number of vanishing points.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6AA84F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Foreshortening: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 Basically the phenomenon of far-away objects appearing smaller than the closer ones (despite having equal size).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More realistic since resembles human vision. Used in video games, animation, VR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/>
        </p:nvSpPr>
        <p:spPr>
          <a:xfrm>
            <a:off x="297625" y="214425"/>
            <a:ext cx="7035600" cy="1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Perspective Projection (Types)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6900" y="1156850"/>
            <a:ext cx="7611149" cy="344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4"/>
          <p:cNvSpPr txBox="1"/>
          <p:nvPr/>
        </p:nvSpPr>
        <p:spPr>
          <a:xfrm>
            <a:off x="815900" y="1886125"/>
            <a:ext cx="4963800" cy="1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Parallel</a:t>
            </a:r>
            <a:endParaRPr b="0" i="0" sz="3100" u="none" cap="none" strike="noStrike">
              <a:solidFill>
                <a:srgbClr val="4A4A4A"/>
              </a:solidFill>
              <a:highlight>
                <a:srgbClr val="FFFFFF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Projection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184" name="Google Shape;18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66675" y="50125"/>
            <a:ext cx="4803101" cy="5003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 txBox="1"/>
          <p:nvPr/>
        </p:nvSpPr>
        <p:spPr>
          <a:xfrm>
            <a:off x="297625" y="138225"/>
            <a:ext cx="7035600" cy="1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Parallel Projection</a:t>
            </a: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 (Attributes)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190" name="Google Shape;190;p25"/>
          <p:cNvSpPr txBox="1"/>
          <p:nvPr/>
        </p:nvSpPr>
        <p:spPr>
          <a:xfrm>
            <a:off x="327300" y="844300"/>
            <a:ext cx="79698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6AA84F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Parallel Lines: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 Lines that are parallel to each other (in 3D space) even still appear parallel to each other (in projected space)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6AA84F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No Convergence: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 Since the lines remain parallel there are no single point the projectors converge into (in other words, they converge at infinity). So there are no COP, but there is a Direction Of Projection (DOP).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6AA84F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No Foreshortening: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 Objects that are far-away appear the same size as the closer ones.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For Orthographic the DOP is equal to the normal vector of the plane, whereas they are not equal in case of Oblique.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Parallel Projected Images are less realistic, but they are good for architectural planning and design.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(Some video games use isometric projection which is a type of parallel projection)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 </a:t>
            </a:r>
            <a:endParaRPr b="0" i="0" sz="1500" u="none" cap="none" strike="noStrike">
              <a:solidFill>
                <a:srgbClr val="4A4A4A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6"/>
          <p:cNvSpPr txBox="1"/>
          <p:nvPr/>
        </p:nvSpPr>
        <p:spPr>
          <a:xfrm>
            <a:off x="665575" y="1897600"/>
            <a:ext cx="2702100" cy="16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Parallel</a:t>
            </a:r>
            <a:endParaRPr b="0" i="0" sz="3100" u="none" cap="none" strike="noStrike">
              <a:solidFill>
                <a:srgbClr val="4A4A4A"/>
              </a:solidFill>
              <a:highlight>
                <a:srgbClr val="FFFFFF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Projection</a:t>
            </a:r>
            <a:endParaRPr b="0" i="0" sz="3100" u="none" cap="none" strike="noStrike">
              <a:solidFill>
                <a:srgbClr val="4A4A4A"/>
              </a:solidFill>
              <a:highlight>
                <a:srgbClr val="FFFFFF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(Types)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196" name="Google Shape;19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24435" y="0"/>
            <a:ext cx="4927529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7"/>
          <p:cNvSpPr txBox="1"/>
          <p:nvPr/>
        </p:nvSpPr>
        <p:spPr>
          <a:xfrm>
            <a:off x="602425" y="138225"/>
            <a:ext cx="8531100" cy="1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Parallel Projection (Geometric Setup)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02" name="Google Shape;20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8825" y="929087"/>
            <a:ext cx="9144001" cy="4047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8"/>
          <p:cNvSpPr txBox="1"/>
          <p:nvPr/>
        </p:nvSpPr>
        <p:spPr>
          <a:xfrm>
            <a:off x="327300" y="158500"/>
            <a:ext cx="7658100" cy="3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Performing Projection Math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208" name="Google Shape;208;p28"/>
          <p:cNvSpPr txBox="1"/>
          <p:nvPr/>
        </p:nvSpPr>
        <p:spPr>
          <a:xfrm>
            <a:off x="327300" y="615700"/>
            <a:ext cx="7658100" cy="21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Lexend Medium"/>
              <a:buChar char="●"/>
            </a:pPr>
            <a:r>
              <a:rPr b="0" i="0" lang="en" sz="13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Depending on the scenario, we need to use a specific projection matrix. A 4x4 homogeneous coordinate matrix since we're in 3D.</a:t>
            </a:r>
            <a:endParaRPr b="0" i="0" sz="13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Lexend Medium"/>
              <a:buChar char="●"/>
            </a:pPr>
            <a:r>
              <a:rPr b="0" i="0" lang="en" sz="13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 point to be projected P(x,y,z) will need to be converted into a 4x1 column-matrix, the w/last value will be 1.</a:t>
            </a:r>
            <a:endParaRPr b="0" i="0" sz="13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Lexend Medium"/>
              <a:buChar char="●"/>
            </a:pPr>
            <a:r>
              <a:rPr b="0" i="0" lang="en" sz="13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Multiplying the projection matrix and the point column-matrix will give a 4x1 result containing the transformation point.</a:t>
            </a:r>
            <a:endParaRPr b="0" i="0" sz="13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Lexend Medium"/>
              <a:buChar char="●"/>
            </a:pPr>
            <a:r>
              <a:rPr b="0" i="0" lang="en" sz="13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 w/last value of result won't necessarily be 1. In this case, we need to divide all values in the result by w to get the actual result called P'(x',y',z').</a:t>
            </a:r>
            <a:endParaRPr b="0" i="0" sz="13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8943" y="2727200"/>
            <a:ext cx="6726990" cy="219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9"/>
          <p:cNvSpPr txBox="1"/>
          <p:nvPr/>
        </p:nvSpPr>
        <p:spPr>
          <a:xfrm>
            <a:off x="683300" y="317575"/>
            <a:ext cx="61671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Deriving Parallel Projection Matrix for XY Plane</a:t>
            </a:r>
            <a:endParaRPr b="0" i="0" sz="2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215" name="Google Shape;215;p29"/>
          <p:cNvSpPr txBox="1"/>
          <p:nvPr/>
        </p:nvSpPr>
        <p:spPr>
          <a:xfrm>
            <a:off x="530900" y="3289375"/>
            <a:ext cx="8643600" cy="15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 projection rays don't converge, so there are no Center Of Projection (COP)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There is however, a Direction Of Projection (DOP)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This DOP is steered by some angles/scaling factors, which control the ultimate projection transformation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Different angle/scaling factor configuration for Cabinet, Cavalier, Orthographic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16" name="Google Shape;21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0" y="881275"/>
            <a:ext cx="3043537" cy="2255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823900"/>
            <a:ext cx="5586201" cy="3495699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30"/>
          <p:cNvSpPr txBox="1"/>
          <p:nvPr/>
        </p:nvSpPr>
        <p:spPr>
          <a:xfrm>
            <a:off x="5765250" y="774775"/>
            <a:ext cx="3409200" cy="3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P' is the projected point on plane for P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 distance between the plane and P is Δz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(x, y, 0) is an equivalent point for P(x, y, z) put on the projection plane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β 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is inclination angle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x' = x + </a:t>
            </a:r>
            <a:r>
              <a:rPr b="1" i="0" lang="en" sz="16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λ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cos(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β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   </a:t>
            </a: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….1(a)</a:t>
            </a:r>
            <a:endParaRPr b="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y' = y + </a:t>
            </a:r>
            <a:r>
              <a:rPr b="1" i="0" lang="en" sz="16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λ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sin(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β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   </a:t>
            </a: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…..1(b)</a:t>
            </a:r>
            <a:endParaRPr b="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223" name="Google Shape;223;p30"/>
          <p:cNvSpPr/>
          <p:nvPr/>
        </p:nvSpPr>
        <p:spPr>
          <a:xfrm>
            <a:off x="3323775" y="3145925"/>
            <a:ext cx="121050" cy="189025"/>
          </a:xfrm>
          <a:custGeom>
            <a:rect b="b" l="l" r="r" t="t"/>
            <a:pathLst>
              <a:path extrusionOk="0" h="7561" w="4842">
                <a:moveTo>
                  <a:pt x="796" y="0"/>
                </a:moveTo>
                <a:cubicBezTo>
                  <a:pt x="1459" y="862"/>
                  <a:pt x="4909" y="3913"/>
                  <a:pt x="4776" y="5173"/>
                </a:cubicBezTo>
                <a:cubicBezTo>
                  <a:pt x="4643" y="6433"/>
                  <a:pt x="796" y="7163"/>
                  <a:pt x="0" y="7561"/>
                </a:cubicBezTo>
              </a:path>
            </a:pathLst>
          </a:cu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4" name="Google Shape;224;p30"/>
          <p:cNvCxnSpPr/>
          <p:nvPr/>
        </p:nvCxnSpPr>
        <p:spPr>
          <a:xfrm rot="10800000">
            <a:off x="3463054" y="3275104"/>
            <a:ext cx="855600" cy="1194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5" name="Google Shape;225;p30"/>
          <p:cNvSpPr txBox="1"/>
          <p:nvPr/>
        </p:nvSpPr>
        <p:spPr>
          <a:xfrm>
            <a:off x="4249024" y="4299965"/>
            <a:ext cx="4724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90</a:t>
            </a:r>
            <a:r>
              <a:rPr b="0" baseline="3000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b="0" baseline="3000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6200" y="332225"/>
            <a:ext cx="8831612" cy="371237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31"/>
          <p:cNvSpPr txBox="1"/>
          <p:nvPr/>
        </p:nvSpPr>
        <p:spPr>
          <a:xfrm>
            <a:off x="6489300" y="159725"/>
            <a:ext cx="2794500" cy="8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α 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is the angle between the projection plane and projection ray, this is the angle of skewness.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32" name="Google Shape;232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5525" y="4047150"/>
            <a:ext cx="5520575" cy="80455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31"/>
          <p:cNvSpPr txBox="1"/>
          <p:nvPr/>
        </p:nvSpPr>
        <p:spPr>
          <a:xfrm>
            <a:off x="6384500" y="3816000"/>
            <a:ext cx="2442000" cy="10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We will address 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Δ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 as just z since:</a:t>
            </a:r>
            <a:endParaRPr b="0" i="0" sz="1500" u="none" cap="none" strike="noStrike">
              <a:solidFill>
                <a:srgbClr val="4A4A4A"/>
              </a:solidFill>
              <a:highlight>
                <a:srgbClr val="FFFFFF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4A4A4A"/>
              </a:solidFill>
              <a:highlight>
                <a:srgbClr val="FFFFFF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Δ</a:t>
            </a:r>
            <a:r>
              <a:rPr b="0" i="0" lang="en" sz="15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z = (z - 0) = z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234" name="Google Shape;234;p31"/>
          <p:cNvSpPr/>
          <p:nvPr/>
        </p:nvSpPr>
        <p:spPr>
          <a:xfrm>
            <a:off x="3542678" y="2240593"/>
            <a:ext cx="329922" cy="577018"/>
          </a:xfrm>
          <a:custGeom>
            <a:rect b="b" l="l" r="r" t="t"/>
            <a:pathLst>
              <a:path extrusionOk="0" h="7561" w="4842">
                <a:moveTo>
                  <a:pt x="796" y="0"/>
                </a:moveTo>
                <a:cubicBezTo>
                  <a:pt x="1459" y="862"/>
                  <a:pt x="4909" y="3913"/>
                  <a:pt x="4776" y="5173"/>
                </a:cubicBezTo>
                <a:cubicBezTo>
                  <a:pt x="4643" y="6433"/>
                  <a:pt x="796" y="7163"/>
                  <a:pt x="0" y="7561"/>
                </a:cubicBezTo>
              </a:path>
            </a:pathLst>
          </a:cu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5" name="Google Shape;235;p31"/>
          <p:cNvCxnSpPr/>
          <p:nvPr/>
        </p:nvCxnSpPr>
        <p:spPr>
          <a:xfrm rot="10800000">
            <a:off x="3781300" y="2419425"/>
            <a:ext cx="955200" cy="10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6" name="Google Shape;236;p31"/>
          <p:cNvSpPr txBox="1"/>
          <p:nvPr/>
        </p:nvSpPr>
        <p:spPr>
          <a:xfrm>
            <a:off x="4656922" y="2240575"/>
            <a:ext cx="4724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90</a:t>
            </a:r>
            <a:r>
              <a:rPr b="0" baseline="3000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b="0" baseline="3000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2"/>
          <p:cNvSpPr txBox="1"/>
          <p:nvPr/>
        </p:nvSpPr>
        <p:spPr>
          <a:xfrm>
            <a:off x="327300" y="310900"/>
            <a:ext cx="4243500" cy="3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From equations 1(a) and 1(b), we can write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42" name="Google Shape;242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175" y="1042925"/>
            <a:ext cx="2957275" cy="1948375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2"/>
          <p:cNvSpPr txBox="1"/>
          <p:nvPr/>
        </p:nvSpPr>
        <p:spPr>
          <a:xfrm>
            <a:off x="264275" y="3263975"/>
            <a:ext cx="4243500" cy="6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Since on the projection plane, all z values are 0 (for this particular scenario)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44" name="Google Shape;244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71463" y="4496250"/>
            <a:ext cx="876700" cy="30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2"/>
          <p:cNvSpPr txBox="1"/>
          <p:nvPr/>
        </p:nvSpPr>
        <p:spPr>
          <a:xfrm>
            <a:off x="5098600" y="310900"/>
            <a:ext cx="3888600" cy="3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Rewriting with color coded coefficients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246" name="Google Shape;246;p32"/>
          <p:cNvSpPr/>
          <p:nvPr/>
        </p:nvSpPr>
        <p:spPr>
          <a:xfrm>
            <a:off x="4770194" y="338550"/>
            <a:ext cx="33300" cy="446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7" name="Google Shape;247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12300" y="890075"/>
            <a:ext cx="3522900" cy="264055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32"/>
          <p:cNvSpPr txBox="1"/>
          <p:nvPr/>
        </p:nvSpPr>
        <p:spPr>
          <a:xfrm>
            <a:off x="5150100" y="4168625"/>
            <a:ext cx="32460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Coefficients Color Coding: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(x = red, y = green, z = blue, leftover = purple)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3"/>
          <p:cNvSpPr txBox="1"/>
          <p:nvPr/>
        </p:nvSpPr>
        <p:spPr>
          <a:xfrm>
            <a:off x="203400" y="209600"/>
            <a:ext cx="79752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Strategy: Converting x', y', z' equations to a 4x4 matrix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54" name="Google Shape;25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3450" y="593475"/>
            <a:ext cx="4355750" cy="183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7821" y="3173288"/>
            <a:ext cx="4975960" cy="183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33"/>
          <p:cNvSpPr/>
          <p:nvPr/>
        </p:nvSpPr>
        <p:spPr>
          <a:xfrm>
            <a:off x="2783075" y="2557225"/>
            <a:ext cx="532500" cy="6042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3"/>
          <p:cNvSpPr txBox="1"/>
          <p:nvPr/>
        </p:nvSpPr>
        <p:spPr>
          <a:xfrm>
            <a:off x="5904975" y="985200"/>
            <a:ext cx="3238500" cy="13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don't have any w equation.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will consider w = 1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(since parallel projection)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58" name="Google Shape;258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42457" y="2997484"/>
            <a:ext cx="1526017" cy="156436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33"/>
          <p:cNvSpPr/>
          <p:nvPr/>
        </p:nvSpPr>
        <p:spPr>
          <a:xfrm>
            <a:off x="6340575" y="2856075"/>
            <a:ext cx="1905000" cy="19131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9200" y="165575"/>
            <a:ext cx="2581974" cy="2031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97650" y="240100"/>
            <a:ext cx="4652351" cy="18820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4"/>
          <p:cNvSpPr/>
          <p:nvPr/>
        </p:nvSpPr>
        <p:spPr>
          <a:xfrm>
            <a:off x="2977900" y="979125"/>
            <a:ext cx="670800" cy="447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4"/>
          <p:cNvSpPr txBox="1"/>
          <p:nvPr/>
        </p:nvSpPr>
        <p:spPr>
          <a:xfrm>
            <a:off x="2616800" y="2365075"/>
            <a:ext cx="46035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Since, w = 1 </a:t>
            </a:r>
            <a:r>
              <a:rPr b="0" i="0" lang="en" sz="1800" u="none" cap="none" strike="noStrike">
                <a:solidFill>
                  <a:srgbClr val="FF0000"/>
                </a:solidFill>
                <a:latin typeface="Lexend Medium"/>
                <a:ea typeface="Lexend Medium"/>
                <a:cs typeface="Lexend Medium"/>
                <a:sym typeface="Lexend Medium"/>
              </a:rPr>
              <a:t>(only for this scenario)</a:t>
            </a:r>
            <a:endParaRPr b="0" i="0" sz="1800" u="none" cap="none" strike="noStrike">
              <a:solidFill>
                <a:srgbClr val="FF0000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68" name="Google Shape;268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52800" y="3092875"/>
            <a:ext cx="2389438" cy="182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5"/>
          <p:cNvSpPr txBox="1"/>
          <p:nvPr/>
        </p:nvSpPr>
        <p:spPr>
          <a:xfrm>
            <a:off x="223125" y="277850"/>
            <a:ext cx="61773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Considering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</a:t>
            </a:r>
            <a:r>
              <a:rPr b="0" i="0" lang="en" sz="16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Δ</a:t>
            </a:r>
            <a:r>
              <a:rPr b="0" i="0" lang="en" sz="1600" u="none" cap="none" strike="noStrike">
                <a:solidFill>
                  <a:srgbClr val="4A4A4A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z = z as 1, we can get this relation:</a:t>
            </a:r>
            <a:endParaRPr b="0" i="0" sz="1900" u="none" cap="none" strike="noStrike">
              <a:solidFill>
                <a:srgbClr val="FF0000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74" name="Google Shape;274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4875" y="3219775"/>
            <a:ext cx="4722324" cy="1524875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35"/>
          <p:cNvSpPr txBox="1"/>
          <p:nvPr/>
        </p:nvSpPr>
        <p:spPr>
          <a:xfrm>
            <a:off x="223125" y="2259050"/>
            <a:ext cx="47886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By which, we can get an alternate matrix:</a:t>
            </a:r>
            <a:endParaRPr b="0" i="0" sz="1900" u="none" cap="none" strike="noStrike">
              <a:solidFill>
                <a:srgbClr val="FF0000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76" name="Google Shape;276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7192" y="1151325"/>
            <a:ext cx="4926316" cy="73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5"/>
          <p:cNvSpPr/>
          <p:nvPr/>
        </p:nvSpPr>
        <p:spPr>
          <a:xfrm>
            <a:off x="5913194" y="338550"/>
            <a:ext cx="33300" cy="446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5"/>
          <p:cNvSpPr txBox="1"/>
          <p:nvPr/>
        </p:nvSpPr>
        <p:spPr>
          <a:xfrm>
            <a:off x="6171375" y="2111625"/>
            <a:ext cx="2724900" cy="16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For the math,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can either build the matrix using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</a:t>
            </a:r>
            <a:r>
              <a:rPr b="1" i="0" lang="en" sz="16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α, β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or (</a:t>
            </a:r>
            <a:r>
              <a:rPr b="1" i="0" lang="en" sz="16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λ, β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6"/>
          <p:cNvSpPr txBox="1"/>
          <p:nvPr/>
        </p:nvSpPr>
        <p:spPr>
          <a:xfrm>
            <a:off x="305925" y="79075"/>
            <a:ext cx="80838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Configurations for different types of parallel projections</a:t>
            </a:r>
            <a:endParaRPr b="0" i="0" sz="1800" u="none" cap="none" strike="noStrike">
              <a:solidFill>
                <a:srgbClr val="FF0000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graphicFrame>
        <p:nvGraphicFramePr>
          <p:cNvPr id="284" name="Google Shape;284;p36"/>
          <p:cNvGraphicFramePr/>
          <p:nvPr/>
        </p:nvGraphicFramePr>
        <p:xfrm>
          <a:off x="314750" y="578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{F69E456F-F163-4DBD-AB7D-469257C2341C}</a:tableStyleId>
              </a:tblPr>
              <a:tblGrid>
                <a:gridCol w="1428750"/>
                <a:gridCol w="989775"/>
                <a:gridCol w="915225"/>
                <a:gridCol w="923500"/>
                <a:gridCol w="1271400"/>
                <a:gridCol w="3043850"/>
              </a:tblGrid>
              <a:tr h="467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Type</a:t>
                      </a:r>
                      <a:endParaRPr b="1"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Oblique?</a:t>
                      </a:r>
                      <a:endParaRPr b="1"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λ</a:t>
                      </a:r>
                      <a:endParaRPr b="1"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α (deg)</a:t>
                      </a:r>
                      <a:endParaRPr b="1"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β (deg)</a:t>
                      </a:r>
                      <a:endParaRPr b="1"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Preview</a:t>
                      </a:r>
                      <a:endParaRPr b="1" sz="1400" u="none" cap="none" strike="noStrike"/>
                    </a:p>
                  </a:txBody>
                  <a:tcPr marT="91425" marB="91425" marR="91425" marL="91425"/>
                </a:tc>
              </a:tr>
              <a:tr h="1280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Cabinet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Yes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</a:rPr>
                        <a:t>63.4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0-360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</a:tr>
              <a:tr h="1280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Cavalier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Yes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1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45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</a:rPr>
                        <a:t>0-360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</a:tr>
              <a:tr h="1280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Orthographic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No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0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90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</a:rPr>
                        <a:t>0-360</a:t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  <p:pic>
        <p:nvPicPr>
          <p:cNvPr id="285" name="Google Shape;285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49750" y="1058800"/>
            <a:ext cx="1190500" cy="1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49750" y="2392150"/>
            <a:ext cx="1190500" cy="1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49750" y="3614650"/>
            <a:ext cx="1190500" cy="1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7"/>
          <p:cNvSpPr txBox="1"/>
          <p:nvPr/>
        </p:nvSpPr>
        <p:spPr>
          <a:xfrm>
            <a:off x="644800" y="177650"/>
            <a:ext cx="79752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Example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: For a point P (10, 20, -40), calculate the projected point P' using Cavalier Projection, orientation angle is 30° for projection plane of XY.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293" name="Google Shape;293;p37"/>
          <p:cNvSpPr txBox="1"/>
          <p:nvPr/>
        </p:nvSpPr>
        <p:spPr>
          <a:xfrm>
            <a:off x="644800" y="863450"/>
            <a:ext cx="79752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For Cavalier, </a:t>
            </a:r>
            <a:r>
              <a:rPr b="1" i="0" lang="en" sz="15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α</a:t>
            </a: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45°. And it is given that, </a:t>
            </a:r>
            <a:r>
              <a:rPr b="1" i="0" lang="en" sz="15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β</a:t>
            </a: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30°</a:t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 whole calculated matrix with the point multiplied is:</a:t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294" name="Google Shape;294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7975" y="1634600"/>
            <a:ext cx="6749925" cy="192855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37"/>
          <p:cNvSpPr txBox="1"/>
          <p:nvPr/>
        </p:nvSpPr>
        <p:spPr>
          <a:xfrm>
            <a:off x="644800" y="3911450"/>
            <a:ext cx="7975200" cy="9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don't need to divide values by w since w is already 1</a:t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P' is (-24.64, 0)</a:t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8"/>
          <p:cNvSpPr txBox="1"/>
          <p:nvPr/>
        </p:nvSpPr>
        <p:spPr>
          <a:xfrm>
            <a:off x="644800" y="177650"/>
            <a:ext cx="7975200" cy="4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Example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: Derive the matrix for orthographic projection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301" name="Google Shape;301;p38"/>
          <p:cNvSpPr txBox="1"/>
          <p:nvPr/>
        </p:nvSpPr>
        <p:spPr>
          <a:xfrm>
            <a:off x="644800" y="711050"/>
            <a:ext cx="79752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Here, the projection rays will be perpendicular to the projection plane,  α will be 90 degrees, making λ as 0, so the value of β won't even be considered.</a:t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Putting these values into the formula matrix gives:</a:t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02" name="Google Shape;302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07250" y="2038475"/>
            <a:ext cx="2634275" cy="21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9"/>
          <p:cNvSpPr txBox="1"/>
          <p:nvPr/>
        </p:nvSpPr>
        <p:spPr>
          <a:xfrm>
            <a:off x="644800" y="177650"/>
            <a:ext cx="7975200" cy="4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Example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: </a:t>
            </a: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Calculate Orthographic Projection on XY Plane for the point P (d, e, f)</a:t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308" name="Google Shape;308;p39"/>
          <p:cNvSpPr txBox="1"/>
          <p:nvPr/>
        </p:nvSpPr>
        <p:spPr>
          <a:xfrm>
            <a:off x="644800" y="634850"/>
            <a:ext cx="79752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don't need to know any other value since the orthographic projection matrix is constant, we simply multiply our provided point P (as a homogenous column-matrix) with the matrix.</a:t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09" name="Google Shape;30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4425" y="1583750"/>
            <a:ext cx="5415950" cy="2226925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39"/>
          <p:cNvSpPr txBox="1"/>
          <p:nvPr/>
        </p:nvSpPr>
        <p:spPr>
          <a:xfrm>
            <a:off x="644800" y="3987650"/>
            <a:ext cx="7975200" cy="9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In fact, applying orthographic projection on XY Plane to a point is equivalent to copying the point's x and y values, while setting its z value to 0. [(x, y, z) becomes (x, y, 0)]</a:t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0"/>
          <p:cNvSpPr txBox="1"/>
          <p:nvPr/>
        </p:nvSpPr>
        <p:spPr>
          <a:xfrm>
            <a:off x="327300" y="421600"/>
            <a:ext cx="7969800" cy="38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400" u="none" cap="none" strike="noStrike">
                <a:solidFill>
                  <a:srgbClr val="6AA84F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But how can we find the Parallel projection matrix for different projection plane other than XY?</a:t>
            </a:r>
            <a:endParaRPr b="0" i="0" sz="2400" u="none" cap="none" strike="noStrike">
              <a:solidFill>
                <a:srgbClr val="6AA84F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6AA84F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6AA84F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	</a:t>
            </a:r>
            <a:r>
              <a:rPr b="0" i="0" lang="en" sz="2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Same way</a:t>
            </a:r>
            <a:endParaRPr b="0" i="0" sz="2400" u="none" cap="none" strike="noStrike">
              <a:solidFill>
                <a:schemeClr val="dk1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6195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exend Medium"/>
              <a:buChar char="●"/>
            </a:pPr>
            <a:r>
              <a:rPr b="0" i="0" lang="en" sz="21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Rotate the coordinate system clockwise to get to YZ plane.</a:t>
            </a:r>
            <a:endParaRPr b="0" i="0" sz="2100" u="none" cap="none" strike="noStrike">
              <a:solidFill>
                <a:schemeClr val="dk1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6195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exend Medium"/>
              <a:buChar char="●"/>
            </a:pPr>
            <a:r>
              <a:rPr b="0" i="0" lang="en" sz="21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Rotate the coordinate system counterclockwise to get to ZX plane.</a:t>
            </a:r>
            <a:endParaRPr b="0" i="0" sz="2100" u="none" cap="none" strike="noStrike">
              <a:solidFill>
                <a:schemeClr val="dk1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6195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exend Medium"/>
              <a:buChar char="●"/>
            </a:pPr>
            <a:r>
              <a:rPr b="0" i="0" lang="en" sz="21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Lexend Medium"/>
                <a:ea typeface="Lexend Medium"/>
                <a:cs typeface="Lexend Medium"/>
                <a:sym typeface="Lexend Medium"/>
              </a:rPr>
              <a:t>Modify the matrix accordingly.</a:t>
            </a:r>
            <a:endParaRPr b="0" i="0" sz="2100" u="none" cap="none" strike="noStrike">
              <a:solidFill>
                <a:schemeClr val="dk1"/>
              </a:solidFill>
              <a:highlight>
                <a:schemeClr val="lt1"/>
              </a:highlight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1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t/>
            </a:r>
            <a:endParaRPr/>
          </a:p>
        </p:txBody>
      </p:sp>
      <p:sp>
        <p:nvSpPr>
          <p:cNvPr id="321" name="Google Shape;321;p41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322" name="Google Shape;32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0" y="0"/>
            <a:ext cx="8982749" cy="5057001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41"/>
          <p:cNvSpPr txBox="1"/>
          <p:nvPr/>
        </p:nvSpPr>
        <p:spPr>
          <a:xfrm>
            <a:off x="4958700" y="145650"/>
            <a:ext cx="4185300" cy="7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sng" cap="none" strike="noStrike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Projection Plane: ZX / Y =0</a:t>
            </a:r>
            <a:endParaRPr b="1" i="0" sz="2400" u="sng" cap="none" strike="noStrike">
              <a:solidFill>
                <a:srgbClr val="1C45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1"/>
          <p:cNvSpPr txBox="1"/>
          <p:nvPr/>
        </p:nvSpPr>
        <p:spPr>
          <a:xfrm>
            <a:off x="2810525" y="1650175"/>
            <a:ext cx="441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Δy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2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t/>
            </a:r>
            <a:endParaRPr/>
          </a:p>
        </p:txBody>
      </p:sp>
      <p:sp>
        <p:nvSpPr>
          <p:cNvPr id="330" name="Google Shape;330;p42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331" name="Google Shape;331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1500"/>
            <a:ext cx="9037701" cy="4981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2"/>
          <p:cNvSpPr txBox="1"/>
          <p:nvPr/>
        </p:nvSpPr>
        <p:spPr>
          <a:xfrm>
            <a:off x="4958700" y="145650"/>
            <a:ext cx="4185300" cy="792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sng" cap="none" strike="noStrike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Projection Plane: YZ / X =0</a:t>
            </a:r>
            <a:endParaRPr b="1" i="0" sz="2400" u="sng" cap="none" strike="noStrike">
              <a:solidFill>
                <a:srgbClr val="1C45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42"/>
          <p:cNvSpPr txBox="1"/>
          <p:nvPr/>
        </p:nvSpPr>
        <p:spPr>
          <a:xfrm>
            <a:off x="2828925" y="1634875"/>
            <a:ext cx="441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Δx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3"/>
          <p:cNvSpPr txBox="1"/>
          <p:nvPr/>
        </p:nvSpPr>
        <p:spPr>
          <a:xfrm>
            <a:off x="2349875" y="983550"/>
            <a:ext cx="4647900" cy="302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" sz="2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Perspective Projection</a:t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" sz="2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(Simple Purpose)</a:t>
            </a:r>
            <a:endParaRPr b="0" i="0" sz="2800" u="none" cap="none" strike="noStrike">
              <a:solidFill>
                <a:srgbClr val="6AA84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44"/>
          <p:cNvSpPr txBox="1"/>
          <p:nvPr/>
        </p:nvSpPr>
        <p:spPr>
          <a:xfrm>
            <a:off x="297625" y="138225"/>
            <a:ext cx="8531100" cy="1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" sz="3100" u="none" cap="none" strike="noStrike">
                <a:solidFill>
                  <a:srgbClr val="4A4A4A"/>
                </a:solidFill>
                <a:highlight>
                  <a:srgbClr val="FFFFFF"/>
                </a:highlight>
                <a:latin typeface="Lexend Medium"/>
                <a:ea typeface="Lexend Medium"/>
                <a:cs typeface="Lexend Medium"/>
                <a:sym typeface="Lexend Medium"/>
              </a:rPr>
              <a:t>Perspective Projection (Geometric Setup)</a:t>
            </a:r>
            <a:endParaRPr b="0" i="0" sz="32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44" name="Google Shape;344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72950" y="1041425"/>
            <a:ext cx="5069875" cy="392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Google Shape;349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05350"/>
            <a:ext cx="6037961" cy="381895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45"/>
          <p:cNvSpPr txBox="1"/>
          <p:nvPr/>
        </p:nvSpPr>
        <p:spPr>
          <a:xfrm>
            <a:off x="5064400" y="558650"/>
            <a:ext cx="3915300" cy="54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Perspective Projection Overview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51" name="Google Shape;351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1475" y="2074500"/>
            <a:ext cx="3819801" cy="2948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6"/>
          <p:cNvSpPr txBox="1"/>
          <p:nvPr/>
        </p:nvSpPr>
        <p:spPr>
          <a:xfrm>
            <a:off x="644800" y="406250"/>
            <a:ext cx="7975200" cy="8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Objective: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We need to calculate P'(x', y', z') from P(x, y, z), so we need to derive the equations for x', y', z'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57" name="Google Shape;357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095950"/>
            <a:ext cx="8839198" cy="2630642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46"/>
          <p:cNvSpPr txBox="1"/>
          <p:nvPr/>
        </p:nvSpPr>
        <p:spPr>
          <a:xfrm>
            <a:off x="644800" y="3885825"/>
            <a:ext cx="5010000" cy="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know that for such triangle,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descr="{&quot;aid&quot;:null,&quot;font&quot;:{&quot;color&quot;:&quot;#595959&quot;,&quot;size&quot;:13.5,&quot;family&quot;:&quot;Arial&quot;},&quot;id&quot;:&quot;1&quot;,&quot;backgroundColorModified&quot;:false,&quot;code&quot;:&quot;$$\\frac{BC}{AB}=\\frac{DE}{AD}$$&quot;,&quot;backgroundColor&quot;:&quot;#FFFFFF&quot;,&quot;type&quot;:&quot;$$&quot;,&quot;ts&quot;:1733926811065,&quot;cs&quot;:&quot;PeM/Y5ikBHhSYAGAn4iS9A==&quot;,&quot;size&quot;:{&quot;width&quot;:108.72431496062994,&quot;height&quot;:44.12074488188978}}" id="359" name="Google Shape;359;p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67825" y="3948625"/>
            <a:ext cx="1035599" cy="420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7"/>
          <p:cNvSpPr txBox="1"/>
          <p:nvPr/>
        </p:nvSpPr>
        <p:spPr>
          <a:xfrm>
            <a:off x="203400" y="209600"/>
            <a:ext cx="7975200" cy="8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COP is at origin (0, 0, 0)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365" name="Google Shape;365;p47"/>
          <p:cNvSpPr txBox="1"/>
          <p:nvPr/>
        </p:nvSpPr>
        <p:spPr>
          <a:xfrm>
            <a:off x="207750" y="615900"/>
            <a:ext cx="13638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Using the Relation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            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descr="{&quot;aid&quot;:null,&quot;font&quot;:{&quot;color&quot;:&quot;#595959&quot;,&quot;size&quot;:13.5,&quot;family&quot;:&quot;Arial&quot;},&quot;id&quot;:&quot;1&quot;,&quot;backgroundColorModified&quot;:false,&quot;code&quot;:&quot;$$\\frac{BC}{AB}=\\frac{DE}{AD}$$&quot;,&quot;backgroundColor&quot;:&quot;#FFFFFF&quot;,&quot;type&quot;:&quot;$$&quot;,&quot;ts&quot;:1733926811065,&quot;cs&quot;:&quot;PeM/Y5ikBHhSYAGAn4iS9A==&quot;,&quot;size&quot;:{&quot;width&quot;:108.72431496062994,&quot;height&quot;:44.12074488188978}}" id="366" name="Google Shape;366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71525" y="737875"/>
            <a:ext cx="694624" cy="281875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47"/>
          <p:cNvSpPr txBox="1"/>
          <p:nvPr/>
        </p:nvSpPr>
        <p:spPr>
          <a:xfrm>
            <a:off x="2253400" y="661675"/>
            <a:ext cx="30759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perform for each axis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            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68" name="Google Shape;368;p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1110775"/>
            <a:ext cx="5285001" cy="243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4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72398" y="1323076"/>
            <a:ext cx="3027004" cy="243792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47"/>
          <p:cNvSpPr txBox="1"/>
          <p:nvPr/>
        </p:nvSpPr>
        <p:spPr>
          <a:xfrm>
            <a:off x="207750" y="3562300"/>
            <a:ext cx="69579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have got the equations for x', y', z'. Notice how their denominators are same </a:t>
            </a:r>
            <a:r>
              <a:rPr b="1" i="0" lang="en" sz="15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(z/d)</a:t>
            </a: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. We can declare this denominator as "w" 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     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71" name="Google Shape;371;p4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072973" y="4198950"/>
            <a:ext cx="879911" cy="7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47"/>
          <p:cNvSpPr/>
          <p:nvPr/>
        </p:nvSpPr>
        <p:spPr>
          <a:xfrm>
            <a:off x="5786425" y="329925"/>
            <a:ext cx="2544600" cy="5223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Note: </a:t>
            </a: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value of d is inherently </a:t>
            </a:r>
            <a:r>
              <a:rPr b="1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negative</a:t>
            </a: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 this scenario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8"/>
          <p:cNvSpPr txBox="1"/>
          <p:nvPr/>
        </p:nvSpPr>
        <p:spPr>
          <a:xfrm>
            <a:off x="203400" y="209600"/>
            <a:ext cx="7975200" cy="8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COP is at origin (0, 0, 0)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378" name="Google Shape;378;p48"/>
          <p:cNvSpPr txBox="1"/>
          <p:nvPr/>
        </p:nvSpPr>
        <p:spPr>
          <a:xfrm>
            <a:off x="207750" y="615900"/>
            <a:ext cx="54570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Rearranging (and color coding coefficients for your convenience)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Moving the denominator a.k.a "w" to the L.H.S.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79" name="Google Shape;379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110775"/>
            <a:ext cx="5285001" cy="2437925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48"/>
          <p:cNvSpPr txBox="1"/>
          <p:nvPr/>
        </p:nvSpPr>
        <p:spPr>
          <a:xfrm>
            <a:off x="263625" y="4008125"/>
            <a:ext cx="79752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Now we can build the matrix!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381" name="Google Shape;381;p48"/>
          <p:cNvSpPr txBox="1"/>
          <p:nvPr/>
        </p:nvSpPr>
        <p:spPr>
          <a:xfrm>
            <a:off x="5378700" y="4168625"/>
            <a:ext cx="32460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Coefficients Color Coding: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(x = red, y = green, z = blue, leftover = purple)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82" name="Google Shape;382;p4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7150" y="1127900"/>
            <a:ext cx="2264929" cy="265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9"/>
          <p:cNvSpPr txBox="1"/>
          <p:nvPr/>
        </p:nvSpPr>
        <p:spPr>
          <a:xfrm>
            <a:off x="203400" y="209600"/>
            <a:ext cx="79752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Strategy: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Converting x', y', z' equations to a 4x4 matrix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88" name="Google Shape;388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51250" y="593475"/>
            <a:ext cx="4355750" cy="183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4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45621" y="3173288"/>
            <a:ext cx="4975960" cy="1835350"/>
          </a:xfrm>
          <a:prstGeom prst="rect">
            <a:avLst/>
          </a:prstGeom>
          <a:noFill/>
          <a:ln>
            <a:noFill/>
          </a:ln>
        </p:spPr>
      </p:pic>
      <p:sp>
        <p:nvSpPr>
          <p:cNvPr id="390" name="Google Shape;390;p49"/>
          <p:cNvSpPr/>
          <p:nvPr/>
        </p:nvSpPr>
        <p:spPr>
          <a:xfrm>
            <a:off x="4230875" y="2557225"/>
            <a:ext cx="532500" cy="6042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0"/>
          <p:cNvSpPr txBox="1"/>
          <p:nvPr/>
        </p:nvSpPr>
        <p:spPr>
          <a:xfrm>
            <a:off x="203400" y="209600"/>
            <a:ext cx="7975200" cy="8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COP is at origin (0, 0, 0)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396" name="Google Shape;396;p50"/>
          <p:cNvSpPr txBox="1"/>
          <p:nvPr/>
        </p:nvSpPr>
        <p:spPr>
          <a:xfrm>
            <a:off x="207750" y="615900"/>
            <a:ext cx="54570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Building the actual matrix from set of equations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397" name="Google Shape;397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0350" y="1280300"/>
            <a:ext cx="2264929" cy="2651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16879" y="1141200"/>
            <a:ext cx="3495675" cy="316230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50"/>
          <p:cNvSpPr/>
          <p:nvPr/>
        </p:nvSpPr>
        <p:spPr>
          <a:xfrm>
            <a:off x="3780225" y="2510525"/>
            <a:ext cx="921900" cy="72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1"/>
          <p:cNvSpPr txBox="1"/>
          <p:nvPr/>
        </p:nvSpPr>
        <p:spPr>
          <a:xfrm>
            <a:off x="203400" y="209600"/>
            <a:ext cx="7975200" cy="8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Projection Plane is at origin (0, 0, 0)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05" name="Google Shape;405;p51"/>
          <p:cNvSpPr txBox="1"/>
          <p:nvPr/>
        </p:nvSpPr>
        <p:spPr>
          <a:xfrm>
            <a:off x="207750" y="615900"/>
            <a:ext cx="13638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Using the Relation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            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descr="{&quot;aid&quot;:null,&quot;font&quot;:{&quot;color&quot;:&quot;#595959&quot;,&quot;size&quot;:13.5,&quot;family&quot;:&quot;Arial&quot;},&quot;id&quot;:&quot;1&quot;,&quot;backgroundColorModified&quot;:false,&quot;code&quot;:&quot;$$\\frac{BC}{AB}=\\frac{DE}{AD}$$&quot;,&quot;backgroundColor&quot;:&quot;#FFFFFF&quot;,&quot;type&quot;:&quot;$$&quot;,&quot;ts&quot;:1733926811065,&quot;cs&quot;:&quot;PeM/Y5ikBHhSYAGAn4iS9A==&quot;,&quot;size&quot;:{&quot;width&quot;:108.72431496062994,&quot;height&quot;:44.12074488188978}}" id="406" name="Google Shape;406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71525" y="737875"/>
            <a:ext cx="694624" cy="281875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51"/>
          <p:cNvSpPr txBox="1"/>
          <p:nvPr/>
        </p:nvSpPr>
        <p:spPr>
          <a:xfrm>
            <a:off x="2253400" y="661675"/>
            <a:ext cx="30759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perform for each axis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            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08" name="Google Shape;408;p51"/>
          <p:cNvSpPr txBox="1"/>
          <p:nvPr/>
        </p:nvSpPr>
        <p:spPr>
          <a:xfrm>
            <a:off x="207750" y="3486100"/>
            <a:ext cx="6957900" cy="8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z' is 0 because it is on the projection plane, which itself is at origin.</a:t>
            </a:r>
            <a:endParaRPr b="0" i="0" sz="15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have got the equations for x', y', z'. Notice how their denominators are same </a:t>
            </a:r>
            <a:r>
              <a:rPr b="1" i="0" lang="en" sz="15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(1 - z/d)</a:t>
            </a:r>
            <a:r>
              <a:rPr b="0" i="0" lang="en" sz="15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. We can declare this denominator as "w" 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     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409" name="Google Shape;409;p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6526" y="1477750"/>
            <a:ext cx="4106122" cy="186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44568" y="1524413"/>
            <a:ext cx="4220415" cy="186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1" name="Google Shape;411;p5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787023" y="4393125"/>
            <a:ext cx="1569928" cy="60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51"/>
          <p:cNvSpPr/>
          <p:nvPr/>
        </p:nvSpPr>
        <p:spPr>
          <a:xfrm>
            <a:off x="5786425" y="329925"/>
            <a:ext cx="2544600" cy="5223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Note: </a:t>
            </a: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value of d is inherently </a:t>
            </a:r>
            <a:r>
              <a:rPr b="1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positive</a:t>
            </a: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 this scenario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52"/>
          <p:cNvSpPr txBox="1"/>
          <p:nvPr/>
        </p:nvSpPr>
        <p:spPr>
          <a:xfrm>
            <a:off x="203400" y="209600"/>
            <a:ext cx="7975200" cy="8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Projection Plane is at origin (0, 0, 0)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18" name="Google Shape;418;p52"/>
          <p:cNvSpPr txBox="1"/>
          <p:nvPr/>
        </p:nvSpPr>
        <p:spPr>
          <a:xfrm>
            <a:off x="207750" y="615900"/>
            <a:ext cx="54570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Rearranging (and color coding coefficients for your convenience)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Moving the denominator a.k.a "w" to the L.H.S.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19" name="Google Shape;419;p52"/>
          <p:cNvSpPr txBox="1"/>
          <p:nvPr/>
        </p:nvSpPr>
        <p:spPr>
          <a:xfrm>
            <a:off x="263625" y="4008125"/>
            <a:ext cx="79752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Now we can build the matrix!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20" name="Google Shape;420;p52"/>
          <p:cNvSpPr txBox="1"/>
          <p:nvPr/>
        </p:nvSpPr>
        <p:spPr>
          <a:xfrm>
            <a:off x="5378700" y="4168625"/>
            <a:ext cx="32460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Coefficients Color Coding: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(x = red, y = green, z = blue, leftover = purple)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421" name="Google Shape;421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725" y="1351325"/>
            <a:ext cx="4661324" cy="212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2" name="Google Shape;422;p5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3900" y="1044725"/>
            <a:ext cx="3174450" cy="25822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3"/>
          <p:cNvSpPr txBox="1"/>
          <p:nvPr/>
        </p:nvSpPr>
        <p:spPr>
          <a:xfrm>
            <a:off x="203400" y="209600"/>
            <a:ext cx="79752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Recall the Strategy: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Converting x', y', z' equations to a 4x4 matrix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428" name="Google Shape;428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51250" y="593475"/>
            <a:ext cx="4355750" cy="183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5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45621" y="3173288"/>
            <a:ext cx="4975960" cy="1835350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53"/>
          <p:cNvSpPr/>
          <p:nvPr/>
        </p:nvSpPr>
        <p:spPr>
          <a:xfrm>
            <a:off x="4230875" y="2557225"/>
            <a:ext cx="532500" cy="6042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4"/>
          <p:cNvSpPr txBox="1"/>
          <p:nvPr/>
        </p:nvSpPr>
        <p:spPr>
          <a:xfrm>
            <a:off x="203400" y="209600"/>
            <a:ext cx="7975200" cy="8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Projection Plane is at origin (0, 0, 0)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36" name="Google Shape;436;p54"/>
          <p:cNvSpPr txBox="1"/>
          <p:nvPr/>
        </p:nvSpPr>
        <p:spPr>
          <a:xfrm>
            <a:off x="207750" y="615900"/>
            <a:ext cx="54570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Building the actual matrix from set of equations</a:t>
            </a:r>
            <a:endParaRPr b="0" i="0" sz="10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37" name="Google Shape;437;p54"/>
          <p:cNvSpPr/>
          <p:nvPr/>
        </p:nvSpPr>
        <p:spPr>
          <a:xfrm>
            <a:off x="3780225" y="2510525"/>
            <a:ext cx="921900" cy="72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8" name="Google Shape;43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5200" y="1583650"/>
            <a:ext cx="3174450" cy="2582202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30725" y="1369800"/>
            <a:ext cx="3771900" cy="284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55"/>
          <p:cNvSpPr txBox="1"/>
          <p:nvPr/>
        </p:nvSpPr>
        <p:spPr>
          <a:xfrm>
            <a:off x="644800" y="177650"/>
            <a:ext cx="7975200" cy="9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Example: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For COP at origin, calculate the projected point P' for a given point P(50, 60, -300), if the plane is 200 units in Z axis away from the COP.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445" name="Google Shape;445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5825" y="1131924"/>
            <a:ext cx="5066349" cy="2626975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55"/>
          <p:cNvSpPr/>
          <p:nvPr/>
        </p:nvSpPr>
        <p:spPr>
          <a:xfrm>
            <a:off x="943700" y="3914600"/>
            <a:ext cx="7474800" cy="717000"/>
          </a:xfrm>
          <a:prstGeom prst="roundRect">
            <a:avLst>
              <a:gd fmla="val 16667" name="adj"/>
            </a:avLst>
          </a:prstGeom>
          <a:solidFill>
            <a:srgbClr val="FCE5C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Since the Projection Plane (PP) lies on the </a:t>
            </a:r>
            <a:r>
              <a:rPr b="1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negative side</a:t>
            </a: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of the z-axis, all points on that plane will have a negative z value, which is why </a:t>
            </a:r>
            <a:r>
              <a:rPr b="1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 is negative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55"/>
          <p:cNvSpPr txBox="1"/>
          <p:nvPr/>
        </p:nvSpPr>
        <p:spPr>
          <a:xfrm>
            <a:off x="6128925" y="2106450"/>
            <a:ext cx="2632200" cy="5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{ d = z value of PP }</a:t>
            </a:r>
            <a:endParaRPr b="0" baseline="-25000" i="0" sz="23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56"/>
          <p:cNvSpPr txBox="1"/>
          <p:nvPr/>
        </p:nvSpPr>
        <p:spPr>
          <a:xfrm>
            <a:off x="644800" y="101450"/>
            <a:ext cx="79752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Now' using our matrix for "COP at Origin", we place the d value there, and multiply it by our point P (as a column vector)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453" name="Google Shape;453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7704" y="963475"/>
            <a:ext cx="5809542" cy="179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47274" y="3495000"/>
            <a:ext cx="2668000" cy="1533525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56"/>
          <p:cNvSpPr txBox="1"/>
          <p:nvPr/>
        </p:nvSpPr>
        <p:spPr>
          <a:xfrm>
            <a:off x="1128850" y="2847438"/>
            <a:ext cx="7007100" cy="5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Now, divide all the values by w = 3/2 to get the final answer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56" name="Google Shape;456;p56"/>
          <p:cNvSpPr txBox="1"/>
          <p:nvPr/>
        </p:nvSpPr>
        <p:spPr>
          <a:xfrm>
            <a:off x="5328900" y="3918350"/>
            <a:ext cx="2509200" cy="5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P' = (33.33, 40, -200)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57"/>
          <p:cNvSpPr txBox="1"/>
          <p:nvPr/>
        </p:nvSpPr>
        <p:spPr>
          <a:xfrm>
            <a:off x="644800" y="177650"/>
            <a:ext cx="7975200" cy="9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Example: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For PP at origin, calculate the projected point P' for a given point P(50, 60, -100), if the plane is 200 units in Z axis away from the COP.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62" name="Google Shape;462;p57"/>
          <p:cNvSpPr/>
          <p:nvPr/>
        </p:nvSpPr>
        <p:spPr>
          <a:xfrm>
            <a:off x="943700" y="3914600"/>
            <a:ext cx="7474800" cy="7170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Since the COP lies on the </a:t>
            </a:r>
            <a:r>
              <a:rPr b="1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positive side of the z-axis</a:t>
            </a: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its z values will be positive, which makes the </a:t>
            </a:r>
            <a:r>
              <a:rPr b="1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value of d positive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3" name="Google Shape;463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1032050"/>
            <a:ext cx="5046230" cy="2501550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57"/>
          <p:cNvSpPr txBox="1"/>
          <p:nvPr/>
        </p:nvSpPr>
        <p:spPr>
          <a:xfrm>
            <a:off x="5900325" y="2106450"/>
            <a:ext cx="2632200" cy="5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{ d = z value of COP }</a:t>
            </a:r>
            <a:endParaRPr b="0" baseline="-25000" i="0" sz="23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8"/>
          <p:cNvSpPr txBox="1"/>
          <p:nvPr/>
        </p:nvSpPr>
        <p:spPr>
          <a:xfrm>
            <a:off x="644800" y="101450"/>
            <a:ext cx="79752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Now' using our matrix for "PP at Origin", we place the d value there, and multiply it by our point P (as a column vector)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70" name="Google Shape;470;p58"/>
          <p:cNvSpPr txBox="1"/>
          <p:nvPr/>
        </p:nvSpPr>
        <p:spPr>
          <a:xfrm>
            <a:off x="1128850" y="2847438"/>
            <a:ext cx="7007100" cy="5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Now, divide all the values by w = 3/2 to get the final answer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71" name="Google Shape;471;p58"/>
          <p:cNvSpPr txBox="1"/>
          <p:nvPr/>
        </p:nvSpPr>
        <p:spPr>
          <a:xfrm>
            <a:off x="5328900" y="3918350"/>
            <a:ext cx="2509200" cy="5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P' = (33.33, 40)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472" name="Google Shape;472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28800" y="948950"/>
            <a:ext cx="5089521" cy="1746087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80325" y="3367000"/>
            <a:ext cx="2258500" cy="150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59"/>
          <p:cNvSpPr txBox="1"/>
          <p:nvPr/>
        </p:nvSpPr>
        <p:spPr>
          <a:xfrm>
            <a:off x="2349875" y="983550"/>
            <a:ext cx="4647900" cy="302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" sz="2800" u="none" cap="none" strike="noStrike">
                <a:solidFill>
                  <a:srgbClr val="595959"/>
                </a:solidFill>
                <a:latin typeface="Lexend Medium"/>
                <a:ea typeface="Lexend Medium"/>
                <a:cs typeface="Lexend Medium"/>
                <a:sym typeface="Lexend Medium"/>
              </a:rPr>
              <a:t>Perspective Projection</a:t>
            </a:r>
            <a:endParaRPr b="0" i="0" sz="2800" u="none" cap="none" strike="noStrike">
              <a:solidFill>
                <a:srgbClr val="595959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" sz="2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(General Purpose)</a:t>
            </a:r>
            <a:endParaRPr b="0" i="0" sz="2800" u="none" cap="none" strike="noStrike">
              <a:solidFill>
                <a:srgbClr val="6AA84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60"/>
          <p:cNvSpPr txBox="1"/>
          <p:nvPr/>
        </p:nvSpPr>
        <p:spPr>
          <a:xfrm>
            <a:off x="179875" y="234875"/>
            <a:ext cx="8604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Perspective Projection Overview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484" name="Google Shape;484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6649" y="885325"/>
            <a:ext cx="5742825" cy="365452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0"/>
          <p:cNvSpPr txBox="1"/>
          <p:nvPr/>
        </p:nvSpPr>
        <p:spPr>
          <a:xfrm>
            <a:off x="6161875" y="1767100"/>
            <a:ext cx="2622600" cy="17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In case of General Purpose Perspective Projection, the COP is not necessarily on the z-axis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0" name="Google Shape;490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4875" y="642325"/>
            <a:ext cx="6044651" cy="2778800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p61"/>
          <p:cNvSpPr txBox="1"/>
          <p:nvPr/>
        </p:nvSpPr>
        <p:spPr>
          <a:xfrm>
            <a:off x="179850" y="3353275"/>
            <a:ext cx="8604600" cy="12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COP is at an arbitrary point, not necessarily on the z-axis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don't care if COP or PP is at origin or not.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 distance between COP and PP (expressed as d) is the z-distance between them.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92" name="Google Shape;492;p61"/>
          <p:cNvSpPr txBox="1"/>
          <p:nvPr/>
        </p:nvSpPr>
        <p:spPr>
          <a:xfrm>
            <a:off x="390250" y="355875"/>
            <a:ext cx="1963200" cy="5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</a:t>
            </a:r>
            <a:endParaRPr b="0" i="0" sz="1600" u="none" cap="none" strike="noStrike">
              <a:solidFill>
                <a:srgbClr val="6AA84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62"/>
          <p:cNvSpPr txBox="1"/>
          <p:nvPr/>
        </p:nvSpPr>
        <p:spPr>
          <a:xfrm>
            <a:off x="637050" y="3353275"/>
            <a:ext cx="7211700" cy="10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COP is expressed component-wise as </a:t>
            </a:r>
            <a:r>
              <a:rPr b="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(cop</a:t>
            </a:r>
            <a:r>
              <a:rPr b="0" baseline="-2500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, cop</a:t>
            </a:r>
            <a:r>
              <a:rPr b="0" baseline="-2500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, cop</a:t>
            </a:r>
            <a:r>
              <a:rPr b="0" baseline="-2500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)</a:t>
            </a:r>
            <a:endParaRPr b="0" i="0" sz="1600" u="none" cap="none" strike="noStrike">
              <a:solidFill>
                <a:srgbClr val="171CF3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 z-axis pierces through the PP, the piercing point is </a:t>
            </a:r>
            <a:r>
              <a:rPr b="0" i="0" lang="en" sz="1600" u="none" cap="none" strike="noStrike">
                <a:solidFill>
                  <a:srgbClr val="1F6622"/>
                </a:solidFill>
                <a:latin typeface="Lexend Medium"/>
                <a:ea typeface="Lexend Medium"/>
                <a:cs typeface="Lexend Medium"/>
                <a:sym typeface="Lexend Medium"/>
              </a:rPr>
              <a:t>(0, 0, z</a:t>
            </a:r>
            <a:r>
              <a:rPr b="0" baseline="-25000" i="0" lang="en" sz="1600" u="none" cap="none" strike="noStrike">
                <a:solidFill>
                  <a:srgbClr val="1F662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600" u="none" cap="none" strike="noStrike">
                <a:solidFill>
                  <a:srgbClr val="1F6622"/>
                </a:solidFill>
                <a:latin typeface="Lexend Medium"/>
                <a:ea typeface="Lexend Medium"/>
                <a:cs typeface="Lexend Medium"/>
                <a:sym typeface="Lexend Medium"/>
              </a:rPr>
              <a:t>)</a:t>
            </a:r>
            <a:endParaRPr b="0" i="0" sz="1600" u="none" cap="none" strike="noStrike">
              <a:solidFill>
                <a:srgbClr val="1F662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 difference between </a:t>
            </a:r>
            <a:r>
              <a:rPr b="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cop</a:t>
            </a:r>
            <a:r>
              <a:rPr b="0" baseline="-2500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0" i="0" lang="en" sz="1600" u="none" cap="none" strike="noStrike">
                <a:solidFill>
                  <a:srgbClr val="1F6622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baseline="-25000" i="0" lang="en" sz="1600" u="none" cap="none" strike="noStrike">
                <a:solidFill>
                  <a:srgbClr val="1F662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is equals to </a:t>
            </a:r>
            <a:r>
              <a:rPr b="0" i="0" lang="en" sz="1600" u="none" cap="none" strike="noStrike">
                <a:solidFill>
                  <a:srgbClr val="9900FF"/>
                </a:solidFill>
                <a:latin typeface="Lexend Medium"/>
                <a:ea typeface="Lexend Medium"/>
                <a:cs typeface="Lexend Medium"/>
                <a:sym typeface="Lexend Medium"/>
              </a:rPr>
              <a:t>d</a:t>
            </a:r>
            <a:endParaRPr b="0" i="0" sz="1600" u="none" cap="none" strike="noStrike">
              <a:solidFill>
                <a:srgbClr val="9900F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498" name="Google Shape;498;p62"/>
          <p:cNvSpPr txBox="1"/>
          <p:nvPr/>
        </p:nvSpPr>
        <p:spPr>
          <a:xfrm>
            <a:off x="237850" y="279675"/>
            <a:ext cx="1963200" cy="5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</a:t>
            </a:r>
            <a:endParaRPr b="0" i="0" sz="1600" u="none" cap="none" strike="noStrike">
              <a:solidFill>
                <a:srgbClr val="6AA84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499" name="Google Shape;499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49250" y="720750"/>
            <a:ext cx="4926851" cy="2521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63"/>
          <p:cNvSpPr txBox="1"/>
          <p:nvPr/>
        </p:nvSpPr>
        <p:spPr>
          <a:xfrm>
            <a:off x="408450" y="3505675"/>
            <a:ext cx="7868100" cy="10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consider a vector called q that goes from (0, 0, z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to COP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q = (qx, qy, qz) = </a:t>
            </a:r>
            <a:r>
              <a:rPr b="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(cop</a:t>
            </a:r>
            <a:r>
              <a:rPr b="0" baseline="-2500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, cop</a:t>
            </a:r>
            <a:r>
              <a:rPr b="0" baseline="-2500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, cop</a:t>
            </a:r>
            <a:r>
              <a:rPr b="0" baseline="-2500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600" u="none" cap="none" strike="noStrike">
                <a:solidFill>
                  <a:srgbClr val="171CF3"/>
                </a:solidFill>
                <a:latin typeface="Lexend Medium"/>
                <a:ea typeface="Lexend Medium"/>
                <a:cs typeface="Lexend Medium"/>
                <a:sym typeface="Lexend Medium"/>
              </a:rPr>
              <a:t>)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- </a:t>
            </a:r>
            <a:r>
              <a:rPr b="0" i="0" lang="en" sz="1600" u="none" cap="none" strike="noStrike">
                <a:solidFill>
                  <a:srgbClr val="1F6622"/>
                </a:solidFill>
                <a:latin typeface="Lexend Medium"/>
                <a:ea typeface="Lexend Medium"/>
                <a:cs typeface="Lexend Medium"/>
                <a:sym typeface="Lexend Medium"/>
              </a:rPr>
              <a:t>(0, 0, z</a:t>
            </a:r>
            <a:r>
              <a:rPr b="0" baseline="-25000" i="0" lang="en" sz="1600" u="none" cap="none" strike="noStrike">
                <a:solidFill>
                  <a:srgbClr val="1F662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600" u="none" cap="none" strike="noStrike">
                <a:solidFill>
                  <a:srgbClr val="1F6622"/>
                </a:solidFill>
                <a:latin typeface="Lexend Medium"/>
                <a:ea typeface="Lexend Medium"/>
                <a:cs typeface="Lexend Medium"/>
                <a:sym typeface="Lexend Medium"/>
              </a:rPr>
              <a:t>)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</a:t>
            </a:r>
            <a:r>
              <a:rPr b="0" i="0" lang="en" sz="1600" u="none" cap="none" strike="noStrike">
                <a:solidFill>
                  <a:srgbClr val="C504C5"/>
                </a:solidFill>
                <a:latin typeface="Lexend Medium"/>
                <a:ea typeface="Lexend Medium"/>
                <a:cs typeface="Lexend Medium"/>
                <a:sym typeface="Lexend Medium"/>
              </a:rPr>
              <a:t>(cop</a:t>
            </a:r>
            <a:r>
              <a:rPr b="0" baseline="-25000" i="0" lang="en" sz="1600" u="none" cap="none" strike="noStrike">
                <a:solidFill>
                  <a:srgbClr val="C504C5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600" u="none" cap="none" strike="noStrike">
                <a:solidFill>
                  <a:srgbClr val="C504C5"/>
                </a:solidFill>
                <a:latin typeface="Lexend Medium"/>
                <a:ea typeface="Lexend Medium"/>
                <a:cs typeface="Lexend Medium"/>
                <a:sym typeface="Lexend Medium"/>
              </a:rPr>
              <a:t>, cop</a:t>
            </a:r>
            <a:r>
              <a:rPr b="0" baseline="-25000" i="0" lang="en" sz="1600" u="none" cap="none" strike="noStrike">
                <a:solidFill>
                  <a:srgbClr val="C504C5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600" u="none" cap="none" strike="noStrike">
                <a:solidFill>
                  <a:srgbClr val="C504C5"/>
                </a:solidFill>
                <a:latin typeface="Lexend Medium"/>
                <a:ea typeface="Lexend Medium"/>
                <a:cs typeface="Lexend Medium"/>
                <a:sym typeface="Lexend Medium"/>
              </a:rPr>
              <a:t>, cop</a:t>
            </a:r>
            <a:r>
              <a:rPr b="0" baseline="-25000" i="0" lang="en" sz="1600" u="none" cap="none" strike="noStrike">
                <a:solidFill>
                  <a:srgbClr val="C504C5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600" u="none" cap="none" strike="noStrike">
                <a:solidFill>
                  <a:srgbClr val="C504C5"/>
                </a:solidFill>
                <a:latin typeface="Lexend Medium"/>
                <a:ea typeface="Lexend Medium"/>
                <a:cs typeface="Lexend Medium"/>
                <a:sym typeface="Lexend Medium"/>
              </a:rPr>
              <a:t>-z</a:t>
            </a:r>
            <a:r>
              <a:rPr b="0" baseline="-25000" i="0" lang="en" sz="1600" u="none" cap="none" strike="noStrike">
                <a:solidFill>
                  <a:srgbClr val="C504C5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600" u="none" cap="none" strike="noStrike">
                <a:solidFill>
                  <a:srgbClr val="C504C5"/>
                </a:solidFill>
                <a:latin typeface="Lexend Medium"/>
                <a:ea typeface="Lexend Medium"/>
                <a:cs typeface="Lexend Medium"/>
                <a:sym typeface="Lexend Medium"/>
              </a:rPr>
              <a:t>)</a:t>
            </a:r>
            <a:endParaRPr b="0" i="0" sz="1600" u="none" cap="none" strike="noStrike">
              <a:solidFill>
                <a:srgbClr val="C504C5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(qx, qy, qz) is sometimes expressed as (Qdx, Qdy, Qdz)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05" name="Google Shape;505;p63"/>
          <p:cNvSpPr txBox="1"/>
          <p:nvPr/>
        </p:nvSpPr>
        <p:spPr>
          <a:xfrm>
            <a:off x="9250" y="279675"/>
            <a:ext cx="1963200" cy="5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</a:t>
            </a:r>
            <a:endParaRPr b="0" i="0" sz="1600" u="none" cap="none" strike="noStrike">
              <a:solidFill>
                <a:srgbClr val="6AA84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06" name="Google Shape;506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56400" y="812725"/>
            <a:ext cx="4994149" cy="2494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4"/>
          <p:cNvSpPr txBox="1"/>
          <p:nvPr/>
        </p:nvSpPr>
        <p:spPr>
          <a:xfrm>
            <a:off x="9250" y="279675"/>
            <a:ext cx="1963200" cy="5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</a:t>
            </a:r>
            <a:endParaRPr b="0" i="0" sz="1600" u="none" cap="none" strike="noStrike">
              <a:solidFill>
                <a:srgbClr val="6AA84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12" name="Google Shape;512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9250" y="1442475"/>
            <a:ext cx="4994149" cy="2494726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64"/>
          <p:cNvSpPr txBox="1"/>
          <p:nvPr/>
        </p:nvSpPr>
        <p:spPr>
          <a:xfrm>
            <a:off x="5880125" y="1221800"/>
            <a:ext cx="1710600" cy="11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cop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cop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cop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- z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14" name="Google Shape;514;p64"/>
          <p:cNvSpPr/>
          <p:nvPr/>
        </p:nvSpPr>
        <p:spPr>
          <a:xfrm>
            <a:off x="5652775" y="2856325"/>
            <a:ext cx="3235200" cy="4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64"/>
          <p:cNvSpPr txBox="1"/>
          <p:nvPr/>
        </p:nvSpPr>
        <p:spPr>
          <a:xfrm>
            <a:off x="5880125" y="3279200"/>
            <a:ext cx="1710600" cy="11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cop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q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cop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q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cop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z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+ q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16" name="Google Shape;516;p64"/>
          <p:cNvSpPr txBox="1"/>
          <p:nvPr/>
        </p:nvSpPr>
        <p:spPr>
          <a:xfrm>
            <a:off x="6911025" y="3355395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……..1(a)</a:t>
            </a:r>
            <a:endParaRPr b="0" baseline="-25000" i="0" sz="14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17" name="Google Shape;517;p64"/>
          <p:cNvSpPr txBox="1"/>
          <p:nvPr/>
        </p:nvSpPr>
        <p:spPr>
          <a:xfrm>
            <a:off x="6911025" y="3660195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……..1(b)</a:t>
            </a:r>
            <a:endParaRPr b="0" baseline="-25000" i="0" sz="14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18" name="Google Shape;518;p64"/>
          <p:cNvSpPr txBox="1"/>
          <p:nvPr/>
        </p:nvSpPr>
        <p:spPr>
          <a:xfrm>
            <a:off x="7215825" y="4041195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……..1(c)</a:t>
            </a:r>
            <a:endParaRPr b="0" baseline="-25000" i="0" sz="14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65"/>
          <p:cNvSpPr txBox="1"/>
          <p:nvPr/>
        </p:nvSpPr>
        <p:spPr>
          <a:xfrm>
            <a:off x="795450" y="3975350"/>
            <a:ext cx="7387500" cy="6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consider a parametric line segment that goes between COP and P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This line segment is basically our projection ray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24" name="Google Shape;524;p65"/>
          <p:cNvSpPr txBox="1"/>
          <p:nvPr/>
        </p:nvSpPr>
        <p:spPr>
          <a:xfrm>
            <a:off x="-122050" y="405625"/>
            <a:ext cx="1963200" cy="5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</a:t>
            </a:r>
            <a:endParaRPr b="0" i="0" sz="1600" u="none" cap="none" strike="noStrike">
              <a:solidFill>
                <a:srgbClr val="6AA84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25" name="Google Shape;525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21211" y="1027250"/>
            <a:ext cx="4883828" cy="2789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66"/>
          <p:cNvSpPr txBox="1"/>
          <p:nvPr/>
        </p:nvSpPr>
        <p:spPr>
          <a:xfrm>
            <a:off x="338250" y="3504350"/>
            <a:ext cx="7387500" cy="7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At some point, for a certain value of t, P(t) will be the same as P'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Lexend Medium"/>
              <a:buChar char="●"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call that t value t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31" name="Google Shape;531;p66"/>
          <p:cNvSpPr txBox="1"/>
          <p:nvPr/>
        </p:nvSpPr>
        <p:spPr>
          <a:xfrm>
            <a:off x="-122050" y="405625"/>
            <a:ext cx="1963200" cy="5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Scenario</a:t>
            </a:r>
            <a:endParaRPr b="0" i="0" sz="1600" u="none" cap="none" strike="noStrike">
              <a:solidFill>
                <a:srgbClr val="6AA84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32" name="Google Shape;532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1011" y="798650"/>
            <a:ext cx="4883828" cy="2789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33" name="Google Shape;533;p6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15599" y="635549"/>
            <a:ext cx="2797250" cy="230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6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5100" y="4415150"/>
            <a:ext cx="5101024" cy="360750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66"/>
          <p:cNvSpPr txBox="1"/>
          <p:nvPr/>
        </p:nvSpPr>
        <p:spPr>
          <a:xfrm>
            <a:off x="6646850" y="4336695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……..(2)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0" name="Google Shape;540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045000" y="702400"/>
            <a:ext cx="7596050" cy="2032275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67"/>
          <p:cNvSpPr txBox="1"/>
          <p:nvPr/>
        </p:nvSpPr>
        <p:spPr>
          <a:xfrm>
            <a:off x="172000" y="2796625"/>
            <a:ext cx="8604600" cy="6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need to remove t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from these equations, since we don't know the value of t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Using the equation of z' we can write: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42" name="Google Shape;542;p6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86000" y="3489025"/>
            <a:ext cx="3562350" cy="1457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3" name="Google Shape;543;p67"/>
          <p:cNvSpPr txBox="1"/>
          <p:nvPr/>
        </p:nvSpPr>
        <p:spPr>
          <a:xfrm>
            <a:off x="4663125" y="1000945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……..3(a)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44" name="Google Shape;544;p67"/>
          <p:cNvSpPr txBox="1"/>
          <p:nvPr/>
        </p:nvSpPr>
        <p:spPr>
          <a:xfrm>
            <a:off x="4663125" y="1534345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……..3(b)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45" name="Google Shape;545;p67"/>
          <p:cNvSpPr txBox="1"/>
          <p:nvPr/>
        </p:nvSpPr>
        <p:spPr>
          <a:xfrm>
            <a:off x="6644325" y="2143945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……..3(c)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46" name="Google Shape;546;p67"/>
          <p:cNvSpPr txBox="1"/>
          <p:nvPr/>
        </p:nvSpPr>
        <p:spPr>
          <a:xfrm>
            <a:off x="256075" y="234875"/>
            <a:ext cx="8604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Breaking the equation the last equation into x, y, z components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68"/>
          <p:cNvSpPr txBox="1"/>
          <p:nvPr/>
        </p:nvSpPr>
        <p:spPr>
          <a:xfrm>
            <a:off x="5882388" y="113625"/>
            <a:ext cx="2517300" cy="26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Since </a:t>
            </a:r>
            <a:r>
              <a:rPr b="1" i="0" lang="en" sz="16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P'(x',y',z')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1" i="0" lang="en" sz="16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(0,0,z</a:t>
            </a:r>
            <a:r>
              <a:rPr b="1" baseline="-25000" i="0" lang="en" sz="16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p</a:t>
            </a:r>
            <a:r>
              <a:rPr b="1" i="0" lang="en" sz="1600" u="none" cap="none" strike="noStrike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)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both reside on the same plane (the PP), their z value are the same.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which means: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z' = z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</a:t>
            </a: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……..(4)</a:t>
            </a:r>
            <a:endParaRPr b="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9900FF"/>
                </a:solidFill>
                <a:latin typeface="Lexend Medium"/>
                <a:ea typeface="Lexend Medium"/>
                <a:cs typeface="Lexend Medium"/>
                <a:sym typeface="Lexend Medium"/>
              </a:rPr>
              <a:t>(Remember this equation)</a:t>
            </a:r>
            <a:endParaRPr b="0" i="0" sz="1400" u="none" cap="none" strike="noStrike">
              <a:solidFill>
                <a:srgbClr val="9900F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52" name="Google Shape;552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1450" y="2926450"/>
            <a:ext cx="8202999" cy="1367150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Google Shape;553;p68"/>
          <p:cNvSpPr txBox="1"/>
          <p:nvPr/>
        </p:nvSpPr>
        <p:spPr>
          <a:xfrm>
            <a:off x="324400" y="4473025"/>
            <a:ext cx="7602900" cy="4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Now we substitute the value of t</a:t>
            </a:r>
            <a:r>
              <a:rPr b="0" baseline="-2500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6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in the equations of x' and y' from before</a:t>
            </a:r>
            <a:endParaRPr b="0" baseline="-25000" i="0" sz="16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54" name="Google Shape;554;p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4950" y="431725"/>
            <a:ext cx="4994149" cy="2494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69"/>
          <p:cNvSpPr txBox="1"/>
          <p:nvPr/>
        </p:nvSpPr>
        <p:spPr>
          <a:xfrm>
            <a:off x="248200" y="129625"/>
            <a:ext cx="747600" cy="4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For x'</a:t>
            </a:r>
            <a:endParaRPr b="0" baseline="-2500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60" name="Google Shape;560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502850" y="276247"/>
            <a:ext cx="4905199" cy="2779800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69"/>
          <p:cNvSpPr txBox="1"/>
          <p:nvPr/>
        </p:nvSpPr>
        <p:spPr>
          <a:xfrm>
            <a:off x="248200" y="3330025"/>
            <a:ext cx="2893800" cy="4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For y', following the same way</a:t>
            </a:r>
            <a:endParaRPr b="0" baseline="-2500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62" name="Google Shape;562;p6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2425" y="3408250"/>
            <a:ext cx="2641525" cy="1217725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69"/>
          <p:cNvSpPr txBox="1"/>
          <p:nvPr/>
        </p:nvSpPr>
        <p:spPr>
          <a:xfrm>
            <a:off x="3402450" y="2410945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……..5(a)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64" name="Google Shape;564;p69"/>
          <p:cNvSpPr txBox="1"/>
          <p:nvPr/>
        </p:nvSpPr>
        <p:spPr>
          <a:xfrm>
            <a:off x="3437250" y="3976820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……..5(b)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70"/>
          <p:cNvSpPr txBox="1"/>
          <p:nvPr/>
        </p:nvSpPr>
        <p:spPr>
          <a:xfrm>
            <a:off x="248200" y="129625"/>
            <a:ext cx="747600" cy="4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For x'</a:t>
            </a:r>
            <a:endParaRPr b="0" baseline="-2500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70" name="Google Shape;570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502850" y="276247"/>
            <a:ext cx="4905199" cy="27798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70"/>
          <p:cNvSpPr txBox="1"/>
          <p:nvPr/>
        </p:nvSpPr>
        <p:spPr>
          <a:xfrm>
            <a:off x="248200" y="3330025"/>
            <a:ext cx="2893800" cy="4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For y', following the same way</a:t>
            </a:r>
            <a:endParaRPr b="0" baseline="-2500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72" name="Google Shape;572;p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2425" y="3408250"/>
            <a:ext cx="2641525" cy="121772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70"/>
          <p:cNvSpPr txBox="1"/>
          <p:nvPr/>
        </p:nvSpPr>
        <p:spPr>
          <a:xfrm>
            <a:off x="3402450" y="2410945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……..5(a)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74" name="Google Shape;574;p70"/>
          <p:cNvSpPr txBox="1"/>
          <p:nvPr/>
        </p:nvSpPr>
        <p:spPr>
          <a:xfrm>
            <a:off x="3437250" y="3976820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……..5(b)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75" name="Google Shape;575;p70"/>
          <p:cNvSpPr txBox="1"/>
          <p:nvPr/>
        </p:nvSpPr>
        <p:spPr>
          <a:xfrm>
            <a:off x="5918700" y="1681200"/>
            <a:ext cx="28938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Notice how they have the same denominator</a:t>
            </a:r>
            <a:b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</a:br>
            <a:r>
              <a:rPr b="0" i="0" lang="en" sz="1400" u="none" cap="none" strike="noStrike">
                <a:solidFill>
                  <a:srgbClr val="9900FF"/>
                </a:solidFill>
                <a:latin typeface="Lexend Medium"/>
                <a:ea typeface="Lexend Medium"/>
                <a:cs typeface="Lexend Medium"/>
                <a:sym typeface="Lexend Medium"/>
              </a:rPr>
              <a:t>(Remember this)</a:t>
            </a:r>
            <a:endParaRPr b="0" baseline="-25000" i="0" sz="1400" u="none" cap="none" strike="noStrike">
              <a:solidFill>
                <a:srgbClr val="9900F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cxnSp>
        <p:nvCxnSpPr>
          <p:cNvPr id="576" name="Google Shape;576;p70"/>
          <p:cNvCxnSpPr>
            <a:stCxn id="575" idx="2"/>
          </p:cNvCxnSpPr>
          <p:nvPr/>
        </p:nvCxnSpPr>
        <p:spPr>
          <a:xfrm rot="5400000">
            <a:off x="4311450" y="1439250"/>
            <a:ext cx="1955400" cy="41529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77" name="Google Shape;577;p70"/>
          <p:cNvCxnSpPr>
            <a:stCxn id="575" idx="1"/>
          </p:cNvCxnSpPr>
          <p:nvPr/>
        </p:nvCxnSpPr>
        <p:spPr>
          <a:xfrm flipH="1">
            <a:off x="3149700" y="2109600"/>
            <a:ext cx="2769000" cy="8055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71"/>
          <p:cNvSpPr txBox="1"/>
          <p:nvPr/>
        </p:nvSpPr>
        <p:spPr>
          <a:xfrm>
            <a:off x="248200" y="129625"/>
            <a:ext cx="747600" cy="4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For z'</a:t>
            </a:r>
            <a:endParaRPr b="0" baseline="-2500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83" name="Google Shape;583;p71"/>
          <p:cNvSpPr txBox="1"/>
          <p:nvPr/>
        </p:nvSpPr>
        <p:spPr>
          <a:xfrm>
            <a:off x="4132925" y="3081620"/>
            <a:ext cx="9999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……..5(c)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84" name="Google Shape;584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412394" y="562362"/>
            <a:ext cx="6984388" cy="3276150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71"/>
          <p:cNvSpPr txBox="1"/>
          <p:nvPr/>
        </p:nvSpPr>
        <p:spPr>
          <a:xfrm>
            <a:off x="1872225" y="512350"/>
            <a:ext cx="46752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[Ok, but it lacks the common denominator]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86" name="Google Shape;586;p71"/>
          <p:cNvSpPr txBox="1"/>
          <p:nvPr/>
        </p:nvSpPr>
        <p:spPr>
          <a:xfrm>
            <a:off x="4767325" y="1350275"/>
            <a:ext cx="42804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[multiply by denominator/denominator]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87" name="Google Shape;587;p71"/>
          <p:cNvSpPr txBox="1"/>
          <p:nvPr/>
        </p:nvSpPr>
        <p:spPr>
          <a:xfrm>
            <a:off x="4767325" y="1596900"/>
            <a:ext cx="42804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[multiply the above part with z</a:t>
            </a:r>
            <a:r>
              <a:rPr b="0" baseline="-2500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]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88" name="Google Shape;588;p71"/>
          <p:cNvSpPr txBox="1"/>
          <p:nvPr/>
        </p:nvSpPr>
        <p:spPr>
          <a:xfrm>
            <a:off x="4767325" y="1866100"/>
            <a:ext cx="4280400" cy="4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674EA7"/>
                </a:solidFill>
                <a:latin typeface="Lexend Medium"/>
                <a:ea typeface="Lexend Medium"/>
                <a:cs typeface="Lexend Medium"/>
                <a:sym typeface="Lexend Medium"/>
              </a:rPr>
              <a:t>[keep the bottom part intact]</a:t>
            </a:r>
            <a:endParaRPr b="0" baseline="-25000" i="0" sz="1600" u="none" cap="none" strike="noStrike">
              <a:solidFill>
                <a:srgbClr val="674EA7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89" name="Google Shape;589;p71"/>
          <p:cNvSpPr txBox="1"/>
          <p:nvPr/>
        </p:nvSpPr>
        <p:spPr>
          <a:xfrm>
            <a:off x="5737275" y="2546775"/>
            <a:ext cx="30594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We've brought the common denominator present in x' and y'</a:t>
            </a:r>
            <a:b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</a:br>
            <a:r>
              <a:rPr b="0" i="0" lang="en" sz="1400" u="none" cap="none" strike="noStrike">
                <a:solidFill>
                  <a:srgbClr val="9900FF"/>
                </a:solidFill>
                <a:latin typeface="Lexend Medium"/>
                <a:ea typeface="Lexend Medium"/>
                <a:cs typeface="Lexend Medium"/>
                <a:sym typeface="Lexend Medium"/>
              </a:rPr>
              <a:t>(Remember this)</a:t>
            </a:r>
            <a:endParaRPr b="0" baseline="-25000" i="0" sz="1400" u="none" cap="none" strike="noStrike">
              <a:solidFill>
                <a:srgbClr val="9900FF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cxnSp>
        <p:nvCxnSpPr>
          <p:cNvPr id="590" name="Google Shape;590;p71"/>
          <p:cNvCxnSpPr>
            <a:stCxn id="589" idx="2"/>
          </p:cNvCxnSpPr>
          <p:nvPr/>
        </p:nvCxnSpPr>
        <p:spPr>
          <a:xfrm rot="5400000">
            <a:off x="5379225" y="1780425"/>
            <a:ext cx="264600" cy="35109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72"/>
          <p:cNvSpPr txBox="1"/>
          <p:nvPr/>
        </p:nvSpPr>
        <p:spPr>
          <a:xfrm>
            <a:off x="248200" y="205825"/>
            <a:ext cx="1618200" cy="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All in one place</a:t>
            </a:r>
            <a:endParaRPr b="0" baseline="-2500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596" name="Google Shape;596;p72"/>
          <p:cNvSpPr/>
          <p:nvPr/>
        </p:nvSpPr>
        <p:spPr>
          <a:xfrm>
            <a:off x="4130650" y="277100"/>
            <a:ext cx="50100" cy="4298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72"/>
          <p:cNvSpPr txBox="1"/>
          <p:nvPr/>
        </p:nvSpPr>
        <p:spPr>
          <a:xfrm>
            <a:off x="4439200" y="129625"/>
            <a:ext cx="3937200" cy="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can call the common denominator </a:t>
            </a:r>
            <a:r>
              <a:rPr b="0" i="0" lang="en" sz="1400" u="none" cap="none" strike="noStrike">
                <a:solidFill>
                  <a:srgbClr val="B45F06"/>
                </a:solidFill>
                <a:latin typeface="Lexend Medium"/>
                <a:ea typeface="Lexend Medium"/>
                <a:cs typeface="Lexend Medium"/>
                <a:sym typeface="Lexend Medium"/>
              </a:rPr>
              <a:t>"w"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598" name="Google Shape;598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825925"/>
            <a:ext cx="3784863" cy="364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9" name="Google Shape;599;p7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724" y="716350"/>
            <a:ext cx="3611825" cy="3927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73"/>
          <p:cNvSpPr txBox="1"/>
          <p:nvPr/>
        </p:nvSpPr>
        <p:spPr>
          <a:xfrm>
            <a:off x="324400" y="129625"/>
            <a:ext cx="2261100" cy="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Moving </a:t>
            </a:r>
            <a:r>
              <a:rPr b="0" i="0" lang="en" sz="1400" u="none" cap="none" strike="noStrike">
                <a:solidFill>
                  <a:srgbClr val="B45F06"/>
                </a:solidFill>
                <a:latin typeface="Lexend Medium"/>
                <a:ea typeface="Lexend Medium"/>
                <a:cs typeface="Lexend Medium"/>
                <a:sym typeface="Lexend Medium"/>
              </a:rPr>
              <a:t>"w" 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to the L.H.S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605" name="Google Shape;605;p73"/>
          <p:cNvSpPr/>
          <p:nvPr/>
        </p:nvSpPr>
        <p:spPr>
          <a:xfrm>
            <a:off x="4130650" y="277100"/>
            <a:ext cx="50100" cy="4298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73"/>
          <p:cNvSpPr txBox="1"/>
          <p:nvPr/>
        </p:nvSpPr>
        <p:spPr>
          <a:xfrm>
            <a:off x="4371600" y="129625"/>
            <a:ext cx="4282500" cy="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Same thing, but with color coded coefficients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607" name="Google Shape;607;p73"/>
          <p:cNvSpPr txBox="1"/>
          <p:nvPr/>
        </p:nvSpPr>
        <p:spPr>
          <a:xfrm>
            <a:off x="5073900" y="4625825"/>
            <a:ext cx="32460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595959"/>
                </a:solidFill>
                <a:latin typeface="Lexend Medium"/>
                <a:ea typeface="Lexend Medium"/>
                <a:cs typeface="Lexend Medium"/>
                <a:sym typeface="Lexend Medium"/>
              </a:rPr>
              <a:t>Coefficients Color Coding:</a:t>
            </a:r>
            <a:endParaRPr b="0" i="0" sz="1000" u="none" cap="none" strike="noStrike">
              <a:solidFill>
                <a:srgbClr val="595959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595959"/>
                </a:solidFill>
                <a:latin typeface="Lexend Medium"/>
                <a:ea typeface="Lexend Medium"/>
                <a:cs typeface="Lexend Medium"/>
                <a:sym typeface="Lexend Medium"/>
              </a:rPr>
              <a:t>(x = red, y = green, z = blue, leftover = purple)</a:t>
            </a:r>
            <a:endParaRPr b="0" i="0" sz="1000" u="none" cap="none" strike="noStrike">
              <a:solidFill>
                <a:srgbClr val="595959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08" name="Google Shape;608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71598" y="705525"/>
            <a:ext cx="4488703" cy="373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" y="673525"/>
            <a:ext cx="3825850" cy="34608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74"/>
          <p:cNvSpPr txBox="1"/>
          <p:nvPr/>
        </p:nvSpPr>
        <p:spPr>
          <a:xfrm>
            <a:off x="203400" y="209600"/>
            <a:ext cx="79752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Strategy:</a:t>
            </a:r>
            <a:r>
              <a:rPr b="0" i="0" lang="en" sz="18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Converting x', y', z' equations to a 4x4 matrix</a:t>
            </a:r>
            <a:endParaRPr b="0" i="0" sz="18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15" name="Google Shape;615;p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51250" y="593475"/>
            <a:ext cx="4355750" cy="183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45621" y="3173288"/>
            <a:ext cx="4975960" cy="1835350"/>
          </a:xfrm>
          <a:prstGeom prst="rect">
            <a:avLst/>
          </a:prstGeom>
          <a:noFill/>
          <a:ln>
            <a:noFill/>
          </a:ln>
        </p:spPr>
      </p:pic>
      <p:sp>
        <p:nvSpPr>
          <p:cNvPr id="617" name="Google Shape;617;p74"/>
          <p:cNvSpPr/>
          <p:nvPr/>
        </p:nvSpPr>
        <p:spPr>
          <a:xfrm>
            <a:off x="4230875" y="2557225"/>
            <a:ext cx="532500" cy="6042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75"/>
          <p:cNvSpPr txBox="1"/>
          <p:nvPr/>
        </p:nvSpPr>
        <p:spPr>
          <a:xfrm>
            <a:off x="629200" y="129625"/>
            <a:ext cx="2261100" cy="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Ultimate Matrix System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23" name="Google Shape;623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975" y="688450"/>
            <a:ext cx="7702499" cy="2780025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75"/>
          <p:cNvSpPr txBox="1"/>
          <p:nvPr/>
        </p:nvSpPr>
        <p:spPr>
          <a:xfrm>
            <a:off x="824425" y="4081325"/>
            <a:ext cx="6895800" cy="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only need to know the constants q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, q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, q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,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to build the matrix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76"/>
          <p:cNvSpPr txBox="1"/>
          <p:nvPr/>
        </p:nvSpPr>
        <p:spPr>
          <a:xfrm>
            <a:off x="248200" y="129625"/>
            <a:ext cx="7799400" cy="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Getting Simple Perspective Projection Matrix from the General One (COP at Origin) 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30" name="Google Shape;630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01175"/>
            <a:ext cx="5285001" cy="2437925"/>
          </a:xfrm>
          <a:prstGeom prst="rect">
            <a:avLst/>
          </a:prstGeom>
          <a:noFill/>
          <a:ln>
            <a:noFill/>
          </a:ln>
        </p:spPr>
      </p:pic>
      <p:sp>
        <p:nvSpPr>
          <p:cNvPr id="631" name="Google Shape;631;p76"/>
          <p:cNvSpPr txBox="1"/>
          <p:nvPr/>
        </p:nvSpPr>
        <p:spPr>
          <a:xfrm>
            <a:off x="248200" y="3101425"/>
            <a:ext cx="7799400" cy="19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      COP = A = (0, 0, 0)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(0, 0,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= B = (0, 0, d)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d</a:t>
            </a:r>
            <a:endParaRPr b="0" i="0" sz="1400" u="none" cap="none" strike="noStrike">
              <a:solidFill>
                <a:srgbClr val="1155CC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Vector q(qx, qy, qz) = COP - (0, 0,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= (0, 0, 0) - (0, 0, d) = (0, 0, -d)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-d</a:t>
            </a:r>
            <a:endParaRPr b="0" i="0" sz="1400" u="none" cap="none" strike="noStrike">
              <a:solidFill>
                <a:srgbClr val="1155CC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77"/>
          <p:cNvSpPr txBox="1"/>
          <p:nvPr/>
        </p:nvSpPr>
        <p:spPr>
          <a:xfrm>
            <a:off x="248200" y="129625"/>
            <a:ext cx="7799400" cy="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Getting Simple Perspective Projection Matrix from the General One (COP at Origin) 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37" name="Google Shape;637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01175"/>
            <a:ext cx="5285001" cy="2437925"/>
          </a:xfrm>
          <a:prstGeom prst="rect">
            <a:avLst/>
          </a:prstGeom>
          <a:noFill/>
          <a:ln>
            <a:noFill/>
          </a:ln>
        </p:spPr>
      </p:pic>
      <p:sp>
        <p:nvSpPr>
          <p:cNvPr id="638" name="Google Shape;638;p77"/>
          <p:cNvSpPr txBox="1"/>
          <p:nvPr/>
        </p:nvSpPr>
        <p:spPr>
          <a:xfrm>
            <a:off x="248200" y="3101425"/>
            <a:ext cx="7799400" cy="19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      COP = A = (0, 0, 0)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(0, 0,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= B = (0, 0, d)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d</a:t>
            </a:r>
            <a:endParaRPr b="0" i="0" sz="1400" u="none" cap="none" strike="noStrike">
              <a:solidFill>
                <a:srgbClr val="1155CC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Vector q(qx, qy, qz) = COP - (0, 0,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= (0, 0, 0) - (0, 0, d) = (0, 0, -d)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-d</a:t>
            </a:r>
            <a:endParaRPr b="0" i="0" sz="1400" u="none" cap="none" strike="noStrike">
              <a:solidFill>
                <a:srgbClr val="1155CC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39" name="Google Shape;639;p7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98126" y="1042950"/>
            <a:ext cx="2930425" cy="2650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78"/>
          <p:cNvSpPr txBox="1"/>
          <p:nvPr/>
        </p:nvSpPr>
        <p:spPr>
          <a:xfrm>
            <a:off x="248200" y="129625"/>
            <a:ext cx="7799400" cy="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Getting Simple Perspective Projection Matrix from the General One (PP at Origin) 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645" name="Google Shape;645;p78"/>
          <p:cNvSpPr txBox="1"/>
          <p:nvPr/>
        </p:nvSpPr>
        <p:spPr>
          <a:xfrm>
            <a:off x="248200" y="3101425"/>
            <a:ext cx="7799400" cy="19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      COP = A = (0, 0, d)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(0, 0,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= B = (0, 0, 0)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0</a:t>
            </a:r>
            <a:endParaRPr b="0" i="0" sz="1400" u="none" cap="none" strike="noStrike">
              <a:solidFill>
                <a:srgbClr val="1155CC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Vector q(qx, qy, qz) = COP - (0, 0,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= (0, 0, d) - (0, 0, 0) = (0, 0, d)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d</a:t>
            </a:r>
            <a:endParaRPr b="0" i="0" sz="1400" u="none" cap="none" strike="noStrike">
              <a:solidFill>
                <a:srgbClr val="1155CC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46" name="Google Shape;646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71" y="678787"/>
            <a:ext cx="5045584" cy="229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79"/>
          <p:cNvSpPr txBox="1"/>
          <p:nvPr/>
        </p:nvSpPr>
        <p:spPr>
          <a:xfrm>
            <a:off x="248200" y="129625"/>
            <a:ext cx="7799400" cy="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Getting Simple Perspective Projection Matrix from the General One (PP at Origin) 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652" name="Google Shape;652;p79"/>
          <p:cNvSpPr txBox="1"/>
          <p:nvPr/>
        </p:nvSpPr>
        <p:spPr>
          <a:xfrm>
            <a:off x="248200" y="3101425"/>
            <a:ext cx="7799400" cy="19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      COP = A = (0, 0, d)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(0, 0,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= B = (0, 0, 0)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0</a:t>
            </a:r>
            <a:endParaRPr b="0" i="0" sz="1400" u="none" cap="none" strike="noStrike">
              <a:solidFill>
                <a:srgbClr val="1155CC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Vector q(qx, qy, qz) = COP - (0, 0,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= (0, 0, d) - (0, 0, 0) = (0, 0, d)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q</a:t>
            </a:r>
            <a:r>
              <a:rPr b="0" baseline="-2500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400" u="none" cap="none" strike="noStrike">
                <a:solidFill>
                  <a:srgbClr val="1155CC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d</a:t>
            </a:r>
            <a:endParaRPr b="0" i="0" sz="1400" u="none" cap="none" strike="noStrike">
              <a:solidFill>
                <a:srgbClr val="1155CC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53" name="Google Shape;653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71" y="678787"/>
            <a:ext cx="5045584" cy="229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52800" y="981775"/>
            <a:ext cx="3184950" cy="240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80"/>
          <p:cNvSpPr txBox="1"/>
          <p:nvPr/>
        </p:nvSpPr>
        <p:spPr>
          <a:xfrm>
            <a:off x="248200" y="129625"/>
            <a:ext cx="7799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Example: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For COP at (100, 90, 0), calculate the projected point P' for a point P(30, 50, -250) where the Projection Plane parallel to XY is 200 units away from COP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660" name="Google Shape;660;p80"/>
          <p:cNvSpPr txBox="1"/>
          <p:nvPr/>
        </p:nvSpPr>
        <p:spPr>
          <a:xfrm>
            <a:off x="248200" y="3101425"/>
            <a:ext cx="8555400" cy="19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 z level of COP is </a:t>
            </a:r>
            <a:r>
              <a:rPr b="0" i="0" lang="en" sz="1400" u="none" cap="none" strike="noStrike">
                <a:solidFill>
                  <a:srgbClr val="3C78D8"/>
                </a:solidFill>
                <a:latin typeface="Lexend Medium"/>
                <a:ea typeface="Lexend Medium"/>
                <a:cs typeface="Lexend Medium"/>
                <a:sym typeface="Lexend Medium"/>
              </a:rPr>
              <a:t>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, while the z level of P is </a:t>
            </a:r>
            <a:r>
              <a:rPr b="0" i="0" lang="en" sz="1400" u="none" cap="none" strike="noStrike">
                <a:solidFill>
                  <a:srgbClr val="3C78D8"/>
                </a:solidFill>
                <a:latin typeface="Lexend Medium"/>
                <a:ea typeface="Lexend Medium"/>
                <a:cs typeface="Lexend Medium"/>
                <a:sym typeface="Lexend Medium"/>
              </a:rPr>
              <a:t>-250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Since there's a projection on the plane, the plane is likely to be between these two points.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The plane itself will have a z value that's between </a:t>
            </a:r>
            <a:r>
              <a:rPr b="0" i="0" lang="en" sz="1400" u="none" cap="none" strike="noStrike">
                <a:solidFill>
                  <a:srgbClr val="3C78D8"/>
                </a:solidFill>
                <a:latin typeface="Lexend Medium"/>
                <a:ea typeface="Lexend Medium"/>
                <a:cs typeface="Lexend Medium"/>
                <a:sym typeface="Lexend Medium"/>
              </a:rPr>
              <a:t>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</a:t>
            </a:r>
            <a:r>
              <a:rPr b="0" i="0" lang="en" sz="1400" u="none" cap="none" strike="noStrike">
                <a:solidFill>
                  <a:srgbClr val="3C78D8"/>
                </a:solidFill>
                <a:latin typeface="Lexend Medium"/>
                <a:ea typeface="Lexend Medium"/>
                <a:cs typeface="Lexend Medium"/>
                <a:sym typeface="Lexend Medium"/>
              </a:rPr>
              <a:t>-250 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(which is a negative value)</a:t>
            </a:r>
            <a:r>
              <a:rPr b="0" i="0" lang="en" sz="1400" u="none" cap="none" strike="noStrike">
                <a:solidFill>
                  <a:schemeClr val="dk1"/>
                </a:solidFill>
                <a:latin typeface="Lexend Medium"/>
                <a:ea typeface="Lexend Medium"/>
                <a:cs typeface="Lexend Medium"/>
                <a:sym typeface="Lexend Medium"/>
              </a:rPr>
              <a:t>.</a:t>
            </a:r>
            <a:endParaRPr b="0" i="0" sz="1400" u="none" cap="none" strike="noStrike">
              <a:solidFill>
                <a:schemeClr val="dk1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It's already said the distance between COP and PP is </a:t>
            </a:r>
            <a:r>
              <a:rPr b="0" i="0" lang="en" sz="1400" u="none" cap="none" strike="noStrike">
                <a:solidFill>
                  <a:schemeClr val="accent1"/>
                </a:solidFill>
                <a:latin typeface="Lexend Medium"/>
                <a:ea typeface="Lexend Medium"/>
                <a:cs typeface="Lexend Medium"/>
                <a:sym typeface="Lexend Medium"/>
              </a:rPr>
              <a:t>200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units. This distance is across z-axis.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Thus, the z value of PP is </a:t>
            </a:r>
            <a:r>
              <a:rPr b="0" i="0" lang="en" sz="1400" u="none" cap="none" strike="noStrike">
                <a:solidFill>
                  <a:srgbClr val="3C78D8"/>
                </a:solidFill>
                <a:latin typeface="Lexend Medium"/>
                <a:ea typeface="Lexend Medium"/>
                <a:cs typeface="Lexend Medium"/>
                <a:sym typeface="Lexend Medium"/>
              </a:rPr>
              <a:t>(0-200)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</a:t>
            </a:r>
            <a:r>
              <a:rPr b="0" i="0" lang="en" sz="1400" u="none" cap="none" strike="noStrike">
                <a:solidFill>
                  <a:srgbClr val="3C78D8"/>
                </a:solidFill>
                <a:latin typeface="Lexend Medium"/>
                <a:ea typeface="Lexend Medium"/>
                <a:cs typeface="Lexend Medium"/>
                <a:sym typeface="Lexend Medium"/>
              </a:rPr>
              <a:t>-200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. This is the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value.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-200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61" name="Google Shape;661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33600" y="749725"/>
            <a:ext cx="4378968" cy="2275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81"/>
          <p:cNvSpPr txBox="1"/>
          <p:nvPr/>
        </p:nvSpPr>
        <p:spPr>
          <a:xfrm>
            <a:off x="248200" y="129625"/>
            <a:ext cx="7799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Example: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Continued…</a:t>
            </a:r>
            <a:endParaRPr b="0" baseline="-25000" i="0" sz="1400" u="none" cap="none" strike="noStrike">
              <a:solidFill>
                <a:srgbClr val="B45F06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667" name="Google Shape;667;p81"/>
          <p:cNvSpPr txBox="1"/>
          <p:nvPr/>
        </p:nvSpPr>
        <p:spPr>
          <a:xfrm>
            <a:off x="248200" y="3101425"/>
            <a:ext cx="8555400" cy="19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Since we've got the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, we can now calculate the q vector.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q = COP - (0,0,z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) = (100,90,0) - (0,0,-200) = (100,90,200)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So, q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x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</a:t>
            </a:r>
            <a:r>
              <a:rPr b="0" i="0" lang="en" sz="1400" u="none" cap="none" strike="noStrike">
                <a:solidFill>
                  <a:schemeClr val="accent1"/>
                </a:solidFill>
                <a:latin typeface="Lexend Medium"/>
                <a:ea typeface="Lexend Medium"/>
                <a:cs typeface="Lexend Medium"/>
                <a:sym typeface="Lexend Medium"/>
              </a:rPr>
              <a:t>100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q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y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</a:t>
            </a:r>
            <a:r>
              <a:rPr b="0" i="0" lang="en" sz="1400" u="none" cap="none" strike="noStrike">
                <a:solidFill>
                  <a:schemeClr val="accent1"/>
                </a:solidFill>
                <a:latin typeface="Lexend Medium"/>
                <a:ea typeface="Lexend Medium"/>
                <a:cs typeface="Lexend Medium"/>
                <a:sym typeface="Lexend Medium"/>
              </a:rPr>
              <a:t>90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and q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z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</a:t>
            </a:r>
            <a:r>
              <a:rPr b="0" i="0" lang="en" sz="1400" u="none" cap="none" strike="noStrike">
                <a:solidFill>
                  <a:schemeClr val="accent1"/>
                </a:solidFill>
                <a:latin typeface="Lexend Medium"/>
                <a:ea typeface="Lexend Medium"/>
                <a:cs typeface="Lexend Medium"/>
                <a:sym typeface="Lexend Medium"/>
              </a:rPr>
              <a:t>200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(and z</a:t>
            </a:r>
            <a:r>
              <a:rPr b="0" baseline="-2500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p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= </a:t>
            </a:r>
            <a:r>
              <a:rPr b="0" i="0" lang="en" sz="1400" u="none" cap="none" strike="noStrike">
                <a:solidFill>
                  <a:schemeClr val="accent1"/>
                </a:solidFill>
                <a:latin typeface="Lexend Medium"/>
                <a:ea typeface="Lexend Medium"/>
                <a:cs typeface="Lexend Medium"/>
                <a:sym typeface="Lexend Medium"/>
              </a:rPr>
              <a:t>-200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from previously)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We now but these values into the general purpose perspective projection matrix, we will get the matrix from the upper-right.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68" name="Google Shape;668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8125" y="520250"/>
            <a:ext cx="4923949" cy="254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9" name="Google Shape;669;p8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31574" y="994350"/>
            <a:ext cx="2651225" cy="170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82"/>
          <p:cNvSpPr txBox="1"/>
          <p:nvPr/>
        </p:nvSpPr>
        <p:spPr>
          <a:xfrm>
            <a:off x="248200" y="129625"/>
            <a:ext cx="7799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AA84F"/>
                </a:solidFill>
                <a:latin typeface="Lexend Medium"/>
                <a:ea typeface="Lexend Medium"/>
                <a:cs typeface="Lexend Medium"/>
                <a:sym typeface="Lexend Medium"/>
              </a:rPr>
              <a:t>Example:</a:t>
            </a: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 Continued…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Now, simply multiply the point P as a column vector.</a:t>
            </a:r>
            <a:endParaRPr b="0" i="0" sz="1400" u="none" cap="none" strike="noStrike">
              <a:solidFill>
                <a:schemeClr val="dk2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675" name="Google Shape;675;p82"/>
          <p:cNvSpPr txBox="1"/>
          <p:nvPr/>
        </p:nvSpPr>
        <p:spPr>
          <a:xfrm>
            <a:off x="248200" y="3025225"/>
            <a:ext cx="8555400" cy="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Lexend Medium"/>
                <a:ea typeface="Lexend Medium"/>
                <a:cs typeface="Lexend Medium"/>
                <a:sym typeface="Lexend Medium"/>
              </a:rPr>
              <a:t>Almost done, all we need to do is divide each value in the result by "w" which is </a:t>
            </a:r>
            <a:r>
              <a:rPr b="0" i="0" lang="en" sz="1400" u="none" cap="none" strike="noStrike">
                <a:solidFill>
                  <a:srgbClr val="3C78D8"/>
                </a:solidFill>
                <a:latin typeface="Lexend Medium"/>
                <a:ea typeface="Lexend Medium"/>
                <a:cs typeface="Lexend Medium"/>
                <a:sym typeface="Lexend Medium"/>
              </a:rPr>
              <a:t>1.25</a:t>
            </a:r>
            <a:endParaRPr b="0" i="0" sz="1400" u="none" cap="none" strike="noStrike">
              <a:solidFill>
                <a:srgbClr val="3C78D8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676" name="Google Shape;676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900025"/>
            <a:ext cx="6585010" cy="204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7" name="Google Shape;677;p8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05700" y="3483100"/>
            <a:ext cx="3602400" cy="146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83"/>
          <p:cNvSpPr txBox="1"/>
          <p:nvPr>
            <p:ph idx="1" type="body"/>
          </p:nvPr>
        </p:nvSpPr>
        <p:spPr>
          <a:xfrm>
            <a:off x="628650" y="940044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rPr lang="en"/>
              <a:t>The END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