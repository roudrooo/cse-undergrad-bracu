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 type="screen16x9"/>
  <p:notesSz cx="6858000" cy="9144000"/>
  <p:embeddedFontLst>
    <p:embeddedFont>
      <p:font typeface="Lexend" pitchFamily="2" charset="77"/>
      <p:regular r:id="rId73"/>
      <p:bold r:id="rId74"/>
    </p:embeddedFont>
    <p:embeddedFont>
      <p:font typeface="Lexend Medium" pitchFamily="2" charset="77"/>
      <p:regular r:id="rId75"/>
      <p:bold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9E456F-F163-4DBD-AB7D-469257C2341C}">
  <a:tblStyle styleId="{F69E456F-F163-4DBD-AB7D-469257C234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edi Hasan" userId="3f84af61-50e3-4561-93b6-29c6e556d79c" providerId="ADAL" clId="{02FB1482-9278-5792-853F-EEADF0BED0EF}"/>
    <pc:docChg chg="undo custSel mod modSld">
      <pc:chgData name="Mehedi Hasan" userId="3f84af61-50e3-4561-93b6-29c6e556d79c" providerId="ADAL" clId="{02FB1482-9278-5792-853F-EEADF0BED0EF}" dt="2026-09-08T17:39:41.485" v="2" actId="33475"/>
      <pc:docMkLst>
        <pc:docMk/>
      </pc:docMkLst>
      <pc:sldChg chg="modSp mod">
        <pc:chgData name="Mehedi Hasan" userId="3f84af61-50e3-4561-93b6-29c6e556d79c" providerId="ADAL" clId="{02FB1482-9278-5792-853F-EEADF0BED0EF}" dt="2026-09-08T17:39:32.316" v="1" actId="1076"/>
        <pc:sldMkLst>
          <pc:docMk/>
          <pc:sldMk cId="0" sldId="323"/>
        </pc:sldMkLst>
        <pc:picChg chg="mod">
          <ac:chgData name="Mehedi Hasan" userId="3f84af61-50e3-4561-93b6-29c6e556d79c" providerId="ADAL" clId="{02FB1482-9278-5792-853F-EEADF0BED0EF}" dt="2026-09-08T17:39:32.316" v="1" actId="1076"/>
          <ac:picMkLst>
            <pc:docMk/>
            <pc:sldMk cId="0" sldId="323"/>
            <ac:picMk id="66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lang="en" b="1"/>
              <a:t>inclination angle</a:t>
            </a:r>
            <a:r>
              <a:rPr lang="en"/>
              <a:t> in projection refers to the angle that a particular axis (or plane) of the object makes with the plane of projection.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lang="en" b="1"/>
              <a:t>angle of skewness</a:t>
            </a:r>
            <a:r>
              <a:rPr lang="en"/>
              <a:t> in a projection refers to the angle by which the axes of the object are inclined relative to the plane of projection.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                    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2" name="Google Shape;642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ab04241e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g3ab04241e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lip Art and Text" type="clipArtAndTx">
  <p:cSld name="CLIPART_AND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1528763" y="57150"/>
            <a:ext cx="756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>
            <a:spLocks noGrp="1"/>
          </p:cNvSpPr>
          <p:nvPr>
            <p:ph type="clipArt" idx="2"/>
          </p:nvPr>
        </p:nvSpPr>
        <p:spPr>
          <a:xfrm>
            <a:off x="1479550" y="1085850"/>
            <a:ext cx="37371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3"/>
          <p:cNvSpPr txBox="1">
            <a:spLocks noGrp="1"/>
          </p:cNvSpPr>
          <p:nvPr>
            <p:ph type="body" idx="1"/>
          </p:nvPr>
        </p:nvSpPr>
        <p:spPr>
          <a:xfrm>
            <a:off x="5368925" y="1085850"/>
            <a:ext cx="3737100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✶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dt" idx="10"/>
          </p:nvPr>
        </p:nvSpPr>
        <p:spPr>
          <a:xfrm>
            <a:off x="1481137" y="4686300"/>
            <a:ext cx="178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ftr" idx="11"/>
          </p:nvPr>
        </p:nvSpPr>
        <p:spPr>
          <a:xfrm>
            <a:off x="37973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ldNum" idx="12"/>
          </p:nvPr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2708550" y="1706100"/>
            <a:ext cx="3726900" cy="16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" sz="43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4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Introduction</a:t>
            </a: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Is a type of Transformation</a:t>
            </a: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Transforming points in a coordinate of dimension </a:t>
            </a:r>
            <a:r>
              <a:rPr lang="en" sz="22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into a coordinate system of dimension </a:t>
            </a:r>
            <a:r>
              <a:rPr lang="en" sz="2200" b="0" i="0" u="none" strike="noStrike" cap="non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where </a:t>
            </a:r>
            <a:r>
              <a:rPr lang="en" sz="2200" b="0" i="0" u="none" strike="noStrike" cap="non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&lt; </a:t>
            </a:r>
            <a:r>
              <a:rPr lang="en" sz="22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Planar Geometric Projection</a:t>
            </a: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Projecting an object on to a flat plane</a:t>
            </a: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Turning 3D shapes to its 2D plane (this chapter)</a:t>
            </a: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lang="en" sz="22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From 2D to 1D also possible</a:t>
            </a:r>
            <a:endParaRPr sz="2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27300" y="234700"/>
            <a:ext cx="23355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Object/Target Point (P)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A single point on an object/geometry we're trying to project (calculate projection of)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Projected Point (P')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projected point after a projection transformation is applied for a given point P'. Projected points together constitutes the projected image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Projectors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"rays" responsible for projection. They'll intersect the projection plane.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Projection Plane (PP)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plane where the projected image of the object will appear on. This plane holds all of the P' points. Also known as view plane.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Center Of Projection (COP)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singular point where all the projectors/projection rays converge (only applicable to perspective projection).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Direction Of Projection (DOP)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direction towards which the parallel projection rays go towards (only applicable to parallel projection).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03500" y="234700"/>
            <a:ext cx="65262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(Terminologies)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327300" y="234700"/>
            <a:ext cx="5193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(Anatomy)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2574" y="467275"/>
            <a:ext cx="6307650" cy="448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481725" y="1953225"/>
            <a:ext cx="22362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1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0041" y="241950"/>
            <a:ext cx="5372868" cy="482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683300" y="165175"/>
            <a:ext cx="2479800" cy="1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</a:t>
            </a:r>
            <a:endParaRPr sz="2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vs</a:t>
            </a:r>
            <a:endParaRPr sz="2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sz="2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6350" y="100875"/>
            <a:ext cx="4921499" cy="1809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/>
        </p:nvGraphicFramePr>
        <p:xfrm>
          <a:off x="31475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{F69E456F-F163-4DBD-AB7D-469257C2341C}</a:tableStyleId>
              </a:tblPr>
              <a:tblGrid>
                <a:gridCol w="153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Perspective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Parallel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Nature of Projectors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Projectors aren't parallel, and will converge at a point called COP.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The projectors are always parallel, will never converge.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Configured By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The Center of Projection (COP) and the distance between COP and the projection plane (PP)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The angles those eventually control the Direction of Projection (DOP)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Foreshortening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Yes, so more familiar to human eye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No, appears less realistic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Examples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1-point, 2-point, 3-point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Cabinet, Cavalier, Orthographic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1974025" y="620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2875" y="786412"/>
            <a:ext cx="6656724" cy="4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297625" y="3668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(Attributes)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27300" y="1301500"/>
            <a:ext cx="76581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6AA84F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Vanishing Point: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All lines that are parallel to each other (in 3D space)</a:t>
            </a:r>
            <a:endParaRPr sz="15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appear to converge into a single point (in projected space)</a:t>
            </a:r>
            <a:endParaRPr sz="15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One-point Perspective Projection: 1 vanishing point</a:t>
            </a:r>
            <a:endParaRPr sz="15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Two-point Perspective Projection: 2 vanishing points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Three-point Perspective Projection: 3 vanishing points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In reality, there are infinite number of vanishing points.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Foreshortening: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Basically the phenomenon of far-away objects appearing smaller than the closer ones (despite having equal size).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More realistic since resembles human vision. Used in video games, animation, VR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297625" y="2144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(Types)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900" y="1156850"/>
            <a:ext cx="7611149" cy="34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815900" y="18861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sz="31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675" y="50125"/>
            <a:ext cx="4803101" cy="50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/>
        </p:nvSpPr>
        <p:spPr>
          <a:xfrm>
            <a:off x="297625" y="1382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</a:t>
            </a: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(Attributes)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27300" y="844300"/>
            <a:ext cx="7969800" cy="3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Lines: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Lines that are parallel to each other (in 3D space) even still appear parallel to each other (in projected space)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Convergence: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Since the lines remain parallel there are no single point the projectors converge into (in other words, they converge at infinity). So there are no COP, but there is a Direction Of Projection (DOP).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Foreshortening: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Objects that are far-away appear the same size as the closer ones.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 Orthographic the DOP is equal to the normal vector of the plane, whereas they are not equal in case of Oblique.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Projected Images are less realistic, but they are good for architectural planning and design.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1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(Some video games use isometric projection which is a type of parallel projection)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sz="1500" b="0" i="0" u="none" strike="noStrike" cap="non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/>
        </p:nvSpPr>
        <p:spPr>
          <a:xfrm>
            <a:off x="665575" y="1897600"/>
            <a:ext cx="2702100" cy="16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sz="31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sz="31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4435" y="0"/>
            <a:ext cx="49275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/>
        </p:nvSpPr>
        <p:spPr>
          <a:xfrm>
            <a:off x="6024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 (Geometric Setup)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825" y="929087"/>
            <a:ext cx="9144001" cy="4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/>
        </p:nvSpPr>
        <p:spPr>
          <a:xfrm>
            <a:off x="327300" y="158500"/>
            <a:ext cx="76581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Performing Projection Math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327300" y="615700"/>
            <a:ext cx="7658100" cy="21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Depending on the scenario, we need to use a specific projection matrix. A 4x4 homogeneous coordinate matrix since we're in 3D.</a:t>
            </a:r>
            <a:endParaRPr sz="13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point to be projected P(x,y,z) will need to be converted into a 4x1 column-matrix, the w/last value will be 1.</a:t>
            </a:r>
            <a:endParaRPr sz="13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Multiplying the projection matrix and the point column-matrix will give a 4x1 result containing the transformation point.</a:t>
            </a:r>
            <a:endParaRPr sz="13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lang="en" sz="13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w/last value of result won't necessarily be 1. In this case, we need to divide all values in the result by w to get the actual result called P'(x',y',z').</a:t>
            </a:r>
            <a:endParaRPr sz="13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8943" y="2727200"/>
            <a:ext cx="6726990" cy="2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683300" y="317575"/>
            <a:ext cx="61671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Deriving Parallel Projection Matrix for XY Plane</a:t>
            </a:r>
            <a:endParaRPr sz="2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30900" y="3289375"/>
            <a:ext cx="8643600" cy="15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projection rays don't converge, so there are no Center Of Projection (COP)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There is however, a Direction Of Projection (DOP)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DOP is steered by some angles/scaling factors, which control the ultimate projection transformation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Different angle/scaling factor configuration for Cabinet, Cavalier, Orthographic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881275"/>
            <a:ext cx="3043537" cy="22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23900"/>
            <a:ext cx="5586201" cy="34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765250" y="774775"/>
            <a:ext cx="3409200" cy="3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the projected point on plane for P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the plane and P is Δz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(x, y, 0) is an equivalent point for P(x, y, z) put on the projection plane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β 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inclination angle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x' = x + 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cos(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….1(a)</a:t>
            </a:r>
            <a:endParaRPr sz="1600" b="0" i="0" u="none" strike="noStrike" cap="non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y' = y + 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sin(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…..1(b)</a:t>
            </a:r>
            <a:endParaRPr sz="1600" b="0" i="0" u="none" strike="noStrike" cap="non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3323775" y="3145925"/>
            <a:ext cx="121050" cy="189025"/>
          </a:xfrm>
          <a:custGeom>
            <a:avLst/>
            <a:gdLst/>
            <a:ahLst/>
            <a:cxnLst/>
            <a:rect l="l" t="t" r="r" b="b"/>
            <a:pathLst>
              <a:path w="4842" h="7561" extrusionOk="0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 rot="10800000">
            <a:off x="3463054" y="3275104"/>
            <a:ext cx="855600" cy="11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5" name="Google Shape;225;p30"/>
          <p:cNvSpPr txBox="1"/>
          <p:nvPr/>
        </p:nvSpPr>
        <p:spPr>
          <a:xfrm>
            <a:off x="4249024" y="429996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lang="en" sz="11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100" b="0" i="0" u="none" strike="noStrike" cap="none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200" y="332225"/>
            <a:ext cx="8831612" cy="371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6489300" y="159725"/>
            <a:ext cx="2794500" cy="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α 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the angle between the projection plane and projection ray, this is the angle of skewness.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2" name="Google Shape;232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525" y="4047150"/>
            <a:ext cx="5520575" cy="8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 txBox="1"/>
          <p:nvPr/>
        </p:nvSpPr>
        <p:spPr>
          <a:xfrm>
            <a:off x="6384500" y="3816000"/>
            <a:ext cx="24420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We will address 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as just z since:</a:t>
            </a:r>
            <a:endParaRPr sz="15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" sz="15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(z - 0) = z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3542678" y="2240593"/>
            <a:ext cx="329922" cy="577018"/>
          </a:xfrm>
          <a:custGeom>
            <a:avLst/>
            <a:gdLst/>
            <a:ahLst/>
            <a:cxnLst/>
            <a:rect l="l" t="t" r="r" b="b"/>
            <a:pathLst>
              <a:path w="4842" h="7561" extrusionOk="0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5" name="Google Shape;235;p31"/>
          <p:cNvCxnSpPr/>
          <p:nvPr/>
        </p:nvCxnSpPr>
        <p:spPr>
          <a:xfrm rot="10800000">
            <a:off x="3781300" y="2419425"/>
            <a:ext cx="955200" cy="10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6" name="Google Shape;236;p31"/>
          <p:cNvSpPr txBox="1"/>
          <p:nvPr/>
        </p:nvSpPr>
        <p:spPr>
          <a:xfrm>
            <a:off x="4656922" y="224057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lang="en" sz="11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100" b="0" i="0" u="none" strike="noStrike" cap="none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/>
        </p:nvSpPr>
        <p:spPr>
          <a:xfrm>
            <a:off x="327300" y="310900"/>
            <a:ext cx="42435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From equations 1(a) and 1(b), we can write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175" y="1042925"/>
            <a:ext cx="2957275" cy="1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2"/>
          <p:cNvSpPr txBox="1"/>
          <p:nvPr/>
        </p:nvSpPr>
        <p:spPr>
          <a:xfrm>
            <a:off x="264275" y="3263975"/>
            <a:ext cx="42435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Since on the projection plane, all z values are 0 (for this particular scenario)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4" name="Google Shape;24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1463" y="4496250"/>
            <a:ext cx="876700" cy="3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/>
        </p:nvSpPr>
        <p:spPr>
          <a:xfrm>
            <a:off x="5098600" y="310900"/>
            <a:ext cx="38886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Rewriting with color coded coefficients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4770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12300" y="890075"/>
            <a:ext cx="3522900" cy="26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51501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 Converting x', y', z' equations to a 4x4 matrix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4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8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2783075" y="2557225"/>
            <a:ext cx="532500" cy="604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5904975" y="985200"/>
            <a:ext cx="3238500" cy="13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have any w equation.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will consider w = 1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(since parallel projection)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2457" y="2997484"/>
            <a:ext cx="1526017" cy="156436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/>
          <p:nvPr/>
        </p:nvSpPr>
        <p:spPr>
          <a:xfrm>
            <a:off x="6340575" y="2856075"/>
            <a:ext cx="1905000" cy="1913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200" y="165575"/>
            <a:ext cx="2581974" cy="203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7650" y="240100"/>
            <a:ext cx="465235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/>
          <p:nvPr/>
        </p:nvSpPr>
        <p:spPr>
          <a:xfrm>
            <a:off x="2977900" y="979125"/>
            <a:ext cx="670800" cy="44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2616800" y="2365075"/>
            <a:ext cx="46035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Since, w = 1 </a:t>
            </a:r>
            <a:r>
              <a:rPr lang="en" sz="1800" b="0" i="0" u="none" strike="noStrike" cap="none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(only for this scenario)</a:t>
            </a:r>
            <a:endParaRPr sz="1800" b="0" i="0" u="none" strike="noStrike" cap="non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68" name="Google Shape;268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0" y="3092875"/>
            <a:ext cx="2389438" cy="18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/>
        </p:nvSpPr>
        <p:spPr>
          <a:xfrm>
            <a:off x="223125" y="277850"/>
            <a:ext cx="61773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Considering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" sz="16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lang="en" sz="1600" b="0" i="0" u="none" strike="noStrike" cap="non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z as 1, we can get this relation:</a:t>
            </a:r>
            <a:endParaRPr sz="1900" b="0" i="0" u="none" strike="noStrike" cap="non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4" name="Google Shape;27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875" y="3219775"/>
            <a:ext cx="4722324" cy="1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223125" y="2259050"/>
            <a:ext cx="47886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By which, we can get an alternate matrix:</a:t>
            </a:r>
            <a:endParaRPr sz="1900" b="0" i="0" u="none" strike="noStrike" cap="non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192" y="1151325"/>
            <a:ext cx="4926316" cy="7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/>
          <p:nvPr/>
        </p:nvSpPr>
        <p:spPr>
          <a:xfrm>
            <a:off x="5913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6171375" y="2111625"/>
            <a:ext cx="27249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the math,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either build the matrix using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α, β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or (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λ, β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/>
        </p:nvSpPr>
        <p:spPr>
          <a:xfrm>
            <a:off x="305925" y="79075"/>
            <a:ext cx="80838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Configurations for different types of parallel projections</a:t>
            </a:r>
            <a:endParaRPr sz="1800" b="0" i="0" u="none" strike="noStrike" cap="non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284" name="Google Shape;284;p36"/>
          <p:cNvGraphicFramePr/>
          <p:nvPr/>
        </p:nvGraphicFramePr>
        <p:xfrm>
          <a:off x="314750" y="57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{F69E456F-F163-4DBD-AB7D-469257C2341C}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3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Type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Oblique?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λ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α (deg)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β (deg)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/>
                        <a:t>Preview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Cabinet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Yes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63.4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0-360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Cavalier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Yes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45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Orthographic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No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90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85" name="Google Shape;28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9750" y="105880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9750" y="239215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9750" y="3614650"/>
            <a:ext cx="1190500" cy="1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/>
        </p:nvSpPr>
        <p:spPr>
          <a:xfrm>
            <a:off x="644800" y="1776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For a point P (10, 20, -40), calculate the projected point P' using Cavalier Projection, orientation angle is 30° for projection plane of XY.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644800" y="8634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Cavalier, </a:t>
            </a:r>
            <a:r>
              <a:rPr lang="en" sz="15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</a:t>
            </a: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45°. And it is given that, </a:t>
            </a:r>
            <a:r>
              <a:rPr lang="en" sz="15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β</a:t>
            </a: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30°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whole calculated matrix with the point multiplied is: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975" y="1634600"/>
            <a:ext cx="6749925" cy="19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/>
        </p:nvSpPr>
        <p:spPr>
          <a:xfrm>
            <a:off x="644800" y="3911450"/>
            <a:ext cx="7975200" cy="9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divide values by w since w is already 1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(-24.64, 0)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Derive the matrix for orthographic projection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644800" y="7110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Here, the projection rays will be perpendicular to the projection plane,  α will be 90 degrees, making λ as 0, so the value of β won't even be considered.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Putting these values into the formula matrix gives: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7250" y="2038475"/>
            <a:ext cx="2634275" cy="2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Calculate Orthographic Projection on XY Plane for the point P (d, e, f)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644800" y="6348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know any other value since the orthographic projection matrix is constant, we simply multiply our provided point P (as a homogenous column-matrix) with the matrix.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9" name="Google Shape;30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4425" y="1583750"/>
            <a:ext cx="5415950" cy="22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644800" y="3987650"/>
            <a:ext cx="79752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fact, applying orthographic projection on XY Plane to a point is equivalent to copying the point's x and y values, while setting its z value to 0. [(x, y, z) becomes (x, y, 0)]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/>
        </p:nvSpPr>
        <p:spPr>
          <a:xfrm>
            <a:off x="327300" y="421600"/>
            <a:ext cx="7969800" cy="38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But how can we find the Parallel projection matrix for different projection plane other than XY?</a:t>
            </a:r>
            <a:endParaRPr sz="2400" b="0" i="0" u="none" strike="noStrike" cap="non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	</a:t>
            </a:r>
            <a:r>
              <a:rPr lang="en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Same way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9144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lang="en" sz="21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clockwise to get to YZ plane.</a:t>
            </a:r>
            <a:endParaRPr sz="21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9144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lang="en" sz="21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counterclockwise to get to ZX plane.</a:t>
            </a:r>
            <a:endParaRPr sz="21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9144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lang="en" sz="21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Modify the matrix accordingly.</a:t>
            </a:r>
            <a:endParaRPr sz="21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322" name="Google Shape;32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0" y="0"/>
            <a:ext cx="8982749" cy="505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1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sng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ZX / Y =0</a:t>
            </a:r>
            <a:endParaRPr sz="2400" b="1" i="0" u="sng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2810525" y="1650175"/>
            <a:ext cx="44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330" name="Google Shape;330;p42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331" name="Google Shape;331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500"/>
            <a:ext cx="9037701" cy="49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2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sng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YZ / X =0</a:t>
            </a:r>
            <a:endParaRPr sz="2400" b="1" i="0" u="sng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2828925" y="1634875"/>
            <a:ext cx="441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Δx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(Simple Purpose)</a:t>
            </a:r>
            <a:endParaRPr sz="28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/>
        </p:nvSpPr>
        <p:spPr>
          <a:xfrm>
            <a:off x="2976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0" i="0" u="none" strike="noStrike" cap="non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(Geometric Setup)</a:t>
            </a:r>
            <a:endParaRPr sz="32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44" name="Google Shape;34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0" y="1041425"/>
            <a:ext cx="5069875" cy="39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5350"/>
            <a:ext cx="6037961" cy="38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 txBox="1"/>
          <p:nvPr/>
        </p:nvSpPr>
        <p:spPr>
          <a:xfrm>
            <a:off x="5064400" y="558650"/>
            <a:ext cx="39153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1" name="Google Shape;35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475" y="2074500"/>
            <a:ext cx="3819801" cy="29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/>
        </p:nvSpPr>
        <p:spPr>
          <a:xfrm>
            <a:off x="644800" y="40625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Objective: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We need to calculate P'(x', y', z') from P(x, y, z), so we need to derive the equations for x', y', z'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7" name="Google Shape;35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095950"/>
            <a:ext cx="8839198" cy="263064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6"/>
          <p:cNvSpPr txBox="1"/>
          <p:nvPr/>
        </p:nvSpPr>
        <p:spPr>
          <a:xfrm>
            <a:off x="644800" y="3885825"/>
            <a:ext cx="5010000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know that for such triangle,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9" name="Google Shape;359;p46"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7825" y="3948625"/>
            <a:ext cx="1035599" cy="4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6" name="Google Shape;366;p47"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7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8" name="Google Shape;36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72398" y="1323076"/>
            <a:ext cx="3027004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7"/>
          <p:cNvSpPr txBox="1"/>
          <p:nvPr/>
        </p:nvSpPr>
        <p:spPr>
          <a:xfrm>
            <a:off x="207750" y="3562300"/>
            <a:ext cx="69579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lang="en" sz="15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(z/d)</a:t>
            </a: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1" name="Google Shape;371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72973" y="4198950"/>
            <a:ext cx="879911" cy="7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7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is inherently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scenario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9" name="Google Shape;37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8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2" name="Google Shape;382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7150" y="1127900"/>
            <a:ext cx="2264929" cy="26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8" name="Google Shape;38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9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96" name="Google Shape;396;p50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97" name="Google Shape;397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350" y="1280300"/>
            <a:ext cx="2264929" cy="26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6879" y="1141200"/>
            <a:ext cx="3495675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0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06" name="Google Shape;406;p51"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8" name="Google Shape;408;p51"/>
          <p:cNvSpPr txBox="1"/>
          <p:nvPr/>
        </p:nvSpPr>
        <p:spPr>
          <a:xfrm>
            <a:off x="207750" y="3486100"/>
            <a:ext cx="69579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is 0 because it is on the projection plane, which itself is at origin.</a:t>
            </a:r>
            <a:endParaRPr sz="15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lang="en" sz="15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(1 - z/d)</a:t>
            </a:r>
            <a:r>
              <a:rPr lang="en" sz="15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09" name="Google Shape;40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526" y="1477750"/>
            <a:ext cx="4106122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4568" y="1524413"/>
            <a:ext cx="4220415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87023" y="4393125"/>
            <a:ext cx="1569928" cy="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is inherently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scenario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8" name="Google Shape;418;p52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9" name="Google Shape;419;p52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1" name="Google Shape;421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25" y="1351325"/>
            <a:ext cx="4661324" cy="21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3900" y="1044725"/>
            <a:ext cx="3174450" cy="258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Recall the Strategy: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8" name="Google Shape;42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3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6" name="Google Shape;436;p54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sz="10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7" name="Google Shape;437;p54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200" y="1583650"/>
            <a:ext cx="3174450" cy="258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0725" y="1369800"/>
            <a:ext cx="37719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5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origin, calculate the projected point P' for a given point P(50, 60, -300), if the plane is 200 units in Z axis away from the COP.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45" name="Google Shape;445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825" y="1131924"/>
            <a:ext cx="5066349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5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Projection Plane (PP) lies on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side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z-axis, all points on that plane will have a negative z value, which is why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is negative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5"/>
          <p:cNvSpPr txBox="1"/>
          <p:nvPr/>
        </p:nvSpPr>
        <p:spPr>
          <a:xfrm>
            <a:off x="61289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PP }</a:t>
            </a:r>
            <a:endParaRPr sz="23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"COP at Origin", we place the d value there, and multiply it by our point P (as a column vector)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53" name="Google Shape;453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7704" y="963475"/>
            <a:ext cx="5809542" cy="17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7274" y="3495000"/>
            <a:ext cx="2668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6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56" name="Google Shape;456;p56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40, -200)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PP at origin, calculate the projected point P' for a given point P(50, 60, -100), if the plane is 200 units in Z axis away from the COP.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2" name="Google Shape;462;p57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COP lies on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side of the z-axis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its z values will be positive, which makes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positive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032050"/>
            <a:ext cx="5046230" cy="25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7"/>
          <p:cNvSpPr txBox="1"/>
          <p:nvPr/>
        </p:nvSpPr>
        <p:spPr>
          <a:xfrm>
            <a:off x="59003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COP }</a:t>
            </a:r>
            <a:endParaRPr sz="23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"PP at Origin", we place the d value there, and multiply it by our point P (as a column vector)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70" name="Google Shape;470;p58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71" name="Google Shape;471;p58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40)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72" name="Google Shape;472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948950"/>
            <a:ext cx="5089521" cy="174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0325" y="3367000"/>
            <a:ext cx="2258500" cy="1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sz="2800" b="0" i="0" u="none" strike="noStrike" cap="non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(General Purpose)</a:t>
            </a:r>
            <a:endParaRPr sz="28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/>
        </p:nvSpPr>
        <p:spPr>
          <a:xfrm>
            <a:off x="1798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84" name="Google Shape;48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49" y="885325"/>
            <a:ext cx="5742825" cy="36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0"/>
          <p:cNvSpPr txBox="1"/>
          <p:nvPr/>
        </p:nvSpPr>
        <p:spPr>
          <a:xfrm>
            <a:off x="6161875" y="1767100"/>
            <a:ext cx="2622600" cy="17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case of General Purpose Perspective Projection, the COP is not necessarily on the z-axis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875" y="642325"/>
            <a:ext cx="6044651" cy="2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1"/>
          <p:cNvSpPr txBox="1"/>
          <p:nvPr/>
        </p:nvSpPr>
        <p:spPr>
          <a:xfrm>
            <a:off x="179850" y="3353275"/>
            <a:ext cx="8604600" cy="12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at an arbitrary point, not necessarily on the z-axis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care if COP or PP is at origin or not.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COP and PP (expressed as d) is the z-distance between them.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92" name="Google Shape;492;p61"/>
          <p:cNvSpPr txBox="1"/>
          <p:nvPr/>
        </p:nvSpPr>
        <p:spPr>
          <a:xfrm>
            <a:off x="390250" y="3558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2"/>
          <p:cNvSpPr txBox="1"/>
          <p:nvPr/>
        </p:nvSpPr>
        <p:spPr>
          <a:xfrm>
            <a:off x="637050" y="3353275"/>
            <a:ext cx="7211700" cy="10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expressed component-wise as 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 b="0" i="0" u="none" strike="noStrike" cap="none">
              <a:solidFill>
                <a:srgbClr val="171CF3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z-axis pierces through the PP, the piercing point is </a:t>
            </a:r>
            <a:r>
              <a:rPr lang="en" sz="1600" b="0" i="0" u="none" strike="noStrike" cap="non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lang="en" sz="1600" b="0" i="0" u="none" strike="noStrike" cap="none" baseline="-250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 b="0" i="0" u="none" strike="noStrike" cap="none">
              <a:solidFill>
                <a:srgbClr val="1F66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difference between 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600" b="0" i="0" u="none" strike="noStrike" cap="non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 baseline="-250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is equals to </a:t>
            </a:r>
            <a:r>
              <a:rPr lang="en" sz="1600" b="0" i="0" u="none" strike="noStrike" cap="non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d</a:t>
            </a:r>
            <a:endParaRPr sz="1600" b="0" i="0" u="none" strike="noStrike" cap="non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98" name="Google Shape;498;p62"/>
          <p:cNvSpPr txBox="1"/>
          <p:nvPr/>
        </p:nvSpPr>
        <p:spPr>
          <a:xfrm>
            <a:off x="2378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99" name="Google Shape;499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9250" y="720750"/>
            <a:ext cx="4926851" cy="2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 txBox="1"/>
          <p:nvPr/>
        </p:nvSpPr>
        <p:spPr>
          <a:xfrm>
            <a:off x="408450" y="3505675"/>
            <a:ext cx="78681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vector called q that goes from (0, 0, z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to COP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 = (qx, qy, qz) = 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lang="en" sz="1600" b="0" i="0" u="none" strike="noStrike" cap="none" baseline="-25000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</a:t>
            </a:r>
            <a:r>
              <a:rPr lang="en" sz="1600" b="0" i="0" u="none" strike="noStrike" cap="non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lang="en" sz="1600" b="0" i="0" u="none" strike="noStrike" cap="none" baseline="-25000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600" b="0" i="0" u="none" strike="noStrike" cap="non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lang="en" sz="1600" b="0" i="0" u="none" strike="noStrike" cap="none" baseline="-250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 b="0" i="0" u="none" strike="noStrike" cap="non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lang="en" sz="1600" b="0" i="0" u="none" strike="noStrike" cap="none" baseline="-250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 b="0" i="0" u="none" strike="noStrike" cap="non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lang="en" sz="1600" b="0" i="0" u="none" strike="noStrike" cap="none" baseline="-250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-z</a:t>
            </a:r>
            <a:r>
              <a:rPr lang="en" sz="1600" b="0" i="0" u="none" strike="noStrike" cap="none" baseline="-25000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sz="1600" b="0" i="0" u="none" strike="noStrike" cap="none">
              <a:solidFill>
                <a:srgbClr val="C504C5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(qx, qy, qz) is sometimes expressed as (Qdx, Qdy, Qdz)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06" name="Google Shape;506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6400" y="812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12" name="Google Shape;512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250" y="1442475"/>
            <a:ext cx="4994149" cy="24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4"/>
          <p:cNvSpPr txBox="1"/>
          <p:nvPr/>
        </p:nvSpPr>
        <p:spPr>
          <a:xfrm>
            <a:off x="5880125" y="12218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z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4" name="Google Shape;514;p64"/>
          <p:cNvSpPr/>
          <p:nvPr/>
        </p:nvSpPr>
        <p:spPr>
          <a:xfrm>
            <a:off x="5652775" y="2856325"/>
            <a:ext cx="3235200" cy="4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4"/>
          <p:cNvSpPr txBox="1"/>
          <p:nvPr/>
        </p:nvSpPr>
        <p:spPr>
          <a:xfrm>
            <a:off x="5880125" y="32792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z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+ q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6" name="Google Shape;516;p64"/>
          <p:cNvSpPr txBox="1"/>
          <p:nvPr/>
        </p:nvSpPr>
        <p:spPr>
          <a:xfrm>
            <a:off x="6911025" y="33553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……..1(a)</a:t>
            </a:r>
            <a:endParaRPr sz="14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7" name="Google Shape;517;p64"/>
          <p:cNvSpPr txBox="1"/>
          <p:nvPr/>
        </p:nvSpPr>
        <p:spPr>
          <a:xfrm>
            <a:off x="6911025" y="3660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……..1(b)</a:t>
            </a:r>
            <a:endParaRPr sz="14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8" name="Google Shape;518;p64"/>
          <p:cNvSpPr txBox="1"/>
          <p:nvPr/>
        </p:nvSpPr>
        <p:spPr>
          <a:xfrm>
            <a:off x="7215825" y="4041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……..1(c)</a:t>
            </a:r>
            <a:endParaRPr sz="14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5"/>
          <p:cNvSpPr txBox="1"/>
          <p:nvPr/>
        </p:nvSpPr>
        <p:spPr>
          <a:xfrm>
            <a:off x="795450" y="3975350"/>
            <a:ext cx="7387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parametric line segment that goes between COP and P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line segment is basically our projection ray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25" name="Google Shape;525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1211" y="1027250"/>
            <a:ext cx="4883828" cy="27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6"/>
          <p:cNvSpPr txBox="1"/>
          <p:nvPr/>
        </p:nvSpPr>
        <p:spPr>
          <a:xfrm>
            <a:off x="338250" y="3504350"/>
            <a:ext cx="73875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At some point, for a certain value of t, P(t) will be the same as P'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call that t value t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31" name="Google Shape;531;p66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sz="1600" b="0" i="0" u="none" strike="noStrike" cap="non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32" name="Google Shape;532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011" y="798650"/>
            <a:ext cx="4883828" cy="27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5599" y="635549"/>
            <a:ext cx="2797250" cy="2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5100" y="4415150"/>
            <a:ext cx="5101024" cy="3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6"/>
          <p:cNvSpPr txBox="1"/>
          <p:nvPr/>
        </p:nvSpPr>
        <p:spPr>
          <a:xfrm>
            <a:off x="6646850" y="43366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……..(2)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5000" y="702400"/>
            <a:ext cx="7596050" cy="20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7"/>
          <p:cNvSpPr txBox="1"/>
          <p:nvPr/>
        </p:nvSpPr>
        <p:spPr>
          <a:xfrm>
            <a:off x="172000" y="2796625"/>
            <a:ext cx="86046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need to remove t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these equations, since we don't know the value of t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equation of z' we can write: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42" name="Google Shape;542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489025"/>
            <a:ext cx="35623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67"/>
          <p:cNvSpPr txBox="1"/>
          <p:nvPr/>
        </p:nvSpPr>
        <p:spPr>
          <a:xfrm>
            <a:off x="4663125" y="100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……..3(a)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4" name="Google Shape;544;p67"/>
          <p:cNvSpPr txBox="1"/>
          <p:nvPr/>
        </p:nvSpPr>
        <p:spPr>
          <a:xfrm>
            <a:off x="4663125" y="15343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……..3(b)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5" name="Google Shape;545;p67"/>
          <p:cNvSpPr txBox="1"/>
          <p:nvPr/>
        </p:nvSpPr>
        <p:spPr>
          <a:xfrm>
            <a:off x="6644325" y="2143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……..3(c)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6" name="Google Shape;546;p67"/>
          <p:cNvSpPr txBox="1"/>
          <p:nvPr/>
        </p:nvSpPr>
        <p:spPr>
          <a:xfrm>
            <a:off x="2560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Breaking the equation the last equation into x, y, z components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8"/>
          <p:cNvSpPr txBox="1"/>
          <p:nvPr/>
        </p:nvSpPr>
        <p:spPr>
          <a:xfrm>
            <a:off x="5882388" y="113625"/>
            <a:ext cx="2517300" cy="26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P'(x',y',z')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(0,0,z</a:t>
            </a:r>
            <a:r>
              <a:rPr lang="en" sz="1600" b="1" i="0" u="none" strike="noStrike" cap="none" baseline="-25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" sz="1600" b="1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both reside on the same plane (the PP), their z value are the same.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which means: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= z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……..(4)</a:t>
            </a:r>
            <a:endParaRPr sz="16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 equation)</a:t>
            </a:r>
            <a:endParaRPr sz="1400" b="0" i="0" u="none" strike="noStrike" cap="non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2" name="Google Shape;552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450" y="2926450"/>
            <a:ext cx="8202999" cy="1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68"/>
          <p:cNvSpPr txBox="1"/>
          <p:nvPr/>
        </p:nvSpPr>
        <p:spPr>
          <a:xfrm>
            <a:off x="324400" y="4473025"/>
            <a:ext cx="76029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substitute the value of t</a:t>
            </a:r>
            <a:r>
              <a:rPr lang="en" sz="16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 the equations of x' and y' from before</a:t>
            </a:r>
            <a:endParaRPr sz="16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4" name="Google Shape;554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950" y="431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9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sz="14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60" name="Google Shape;560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9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sz="14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62" name="Google Shape;562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9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64" name="Google Shape;564;p69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sz="14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70" name="Google Shape;570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0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sz="14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72" name="Google Shape;572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0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4" name="Google Shape;574;p70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5" name="Google Shape;575;p70"/>
          <p:cNvSpPr txBox="1"/>
          <p:nvPr/>
        </p:nvSpPr>
        <p:spPr>
          <a:xfrm>
            <a:off x="5918700" y="1681200"/>
            <a:ext cx="28938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Notice how they have the same denominator</a:t>
            </a:r>
            <a:b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400" b="0" i="0" u="none" strike="noStrike" cap="non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sz="1400" b="0" i="0" u="none" strike="noStrike" cap="none" baseline="-25000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576" name="Google Shape;576;p70"/>
          <p:cNvCxnSpPr>
            <a:stCxn id="575" idx="2"/>
          </p:cNvCxnSpPr>
          <p:nvPr/>
        </p:nvCxnSpPr>
        <p:spPr>
          <a:xfrm rot="5400000">
            <a:off x="4311450" y="1439250"/>
            <a:ext cx="1955400" cy="4152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7" name="Google Shape;577;p70"/>
          <p:cNvCxnSpPr>
            <a:stCxn id="575" idx="1"/>
          </p:cNvCxnSpPr>
          <p:nvPr/>
        </p:nvCxnSpPr>
        <p:spPr>
          <a:xfrm flipH="1">
            <a:off x="3149700" y="2109600"/>
            <a:ext cx="2769000" cy="80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1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z'</a:t>
            </a:r>
            <a:endParaRPr sz="14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3" name="Google Shape;583;p71"/>
          <p:cNvSpPr txBox="1"/>
          <p:nvPr/>
        </p:nvSpPr>
        <p:spPr>
          <a:xfrm>
            <a:off x="4132925" y="30816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……..5(c)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84" name="Google Shape;584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12394" y="562362"/>
            <a:ext cx="6984388" cy="32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71"/>
          <p:cNvSpPr txBox="1"/>
          <p:nvPr/>
        </p:nvSpPr>
        <p:spPr>
          <a:xfrm>
            <a:off x="1872225" y="512350"/>
            <a:ext cx="46752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[Ok, but it lacks the common denominator]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6" name="Google Shape;586;p71"/>
          <p:cNvSpPr txBox="1"/>
          <p:nvPr/>
        </p:nvSpPr>
        <p:spPr>
          <a:xfrm>
            <a:off x="4767325" y="1350275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by denominator/denominator]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7" name="Google Shape;587;p71"/>
          <p:cNvSpPr txBox="1"/>
          <p:nvPr/>
        </p:nvSpPr>
        <p:spPr>
          <a:xfrm>
            <a:off x="4767325" y="15969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the above part with z</a:t>
            </a:r>
            <a:r>
              <a:rPr lang="en" sz="1600" b="0" i="0" u="none" strike="noStrike" cap="none" baseline="-25000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]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8" name="Google Shape;588;p71"/>
          <p:cNvSpPr txBox="1"/>
          <p:nvPr/>
        </p:nvSpPr>
        <p:spPr>
          <a:xfrm>
            <a:off x="4767325" y="18661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[keep the bottom part intact]</a:t>
            </a:r>
            <a:endParaRPr sz="1600" b="0" i="0" u="none" strike="noStrike" cap="none" baseline="-25000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9" name="Google Shape;589;p71"/>
          <p:cNvSpPr txBox="1"/>
          <p:nvPr/>
        </p:nvSpPr>
        <p:spPr>
          <a:xfrm>
            <a:off x="5737275" y="2546775"/>
            <a:ext cx="30594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We've brought the common denominator present in x' and y'</a:t>
            </a:r>
            <a:b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400" b="0" i="0" u="none" strike="noStrike" cap="non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sz="1400" b="0" i="0" u="none" strike="noStrike" cap="none" baseline="-25000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590" name="Google Shape;590;p71"/>
          <p:cNvCxnSpPr>
            <a:stCxn id="589" idx="2"/>
          </p:cNvCxnSpPr>
          <p:nvPr/>
        </p:nvCxnSpPr>
        <p:spPr>
          <a:xfrm rot="5400000">
            <a:off x="5379225" y="1780425"/>
            <a:ext cx="264600" cy="3510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2"/>
          <p:cNvSpPr txBox="1"/>
          <p:nvPr/>
        </p:nvSpPr>
        <p:spPr>
          <a:xfrm>
            <a:off x="248200" y="205825"/>
            <a:ext cx="1618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All in one place</a:t>
            </a:r>
            <a:endParaRPr sz="1400" b="0" i="0" u="none" strike="noStrike" cap="none" baseline="-2500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96" name="Google Shape;596;p72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72"/>
          <p:cNvSpPr txBox="1"/>
          <p:nvPr/>
        </p:nvSpPr>
        <p:spPr>
          <a:xfrm>
            <a:off x="4439200" y="129625"/>
            <a:ext cx="393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call the common denominator </a:t>
            </a:r>
            <a:r>
              <a:rPr lang="en" sz="1400" b="0" i="0" u="none" strike="noStrike" cap="non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98" name="Google Shape;598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25925"/>
            <a:ext cx="3784863" cy="36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2724" y="716350"/>
            <a:ext cx="3611825" cy="392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3"/>
          <p:cNvSpPr txBox="1"/>
          <p:nvPr/>
        </p:nvSpPr>
        <p:spPr>
          <a:xfrm>
            <a:off x="3244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</a:t>
            </a:r>
            <a:r>
              <a:rPr lang="en" sz="1400" b="0" i="0" u="none" strike="noStrike" cap="non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 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to the L.H.S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5" name="Google Shape;605;p73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3"/>
          <p:cNvSpPr txBox="1"/>
          <p:nvPr/>
        </p:nvSpPr>
        <p:spPr>
          <a:xfrm>
            <a:off x="4371600" y="129625"/>
            <a:ext cx="42825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Same thing, but with color coded coefficients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7" name="Google Shape;607;p73"/>
          <p:cNvSpPr txBox="1"/>
          <p:nvPr/>
        </p:nvSpPr>
        <p:spPr>
          <a:xfrm>
            <a:off x="5073900" y="46258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sz="1000" b="0" i="0" u="none" strike="noStrike" cap="non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sz="1000" b="0" i="0" u="none" strike="noStrike" cap="non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08" name="Google Shape;608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1598" y="705525"/>
            <a:ext cx="4488703" cy="37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" y="673525"/>
            <a:ext cx="3825850" cy="346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4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lang="en" sz="18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sz="18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15" name="Google Shape;615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74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5"/>
          <p:cNvSpPr txBox="1"/>
          <p:nvPr/>
        </p:nvSpPr>
        <p:spPr>
          <a:xfrm>
            <a:off x="6292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Ultimate Matrix System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23" name="Google Shape;623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975" y="688450"/>
            <a:ext cx="7702499" cy="278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75"/>
          <p:cNvSpPr txBox="1"/>
          <p:nvPr/>
        </p:nvSpPr>
        <p:spPr>
          <a:xfrm>
            <a:off x="824425" y="4081325"/>
            <a:ext cx="68958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only need to know the constants q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to build the matrix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6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0" name="Google Shape;630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6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7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7" name="Google Shape;637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77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9" name="Google Shape;639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8126" y="1042950"/>
            <a:ext cx="2930425" cy="26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8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45" name="Google Shape;645;p78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46" name="Google Shape;646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9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52" name="Google Shape;652;p79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sz="1400" b="0" i="0" u="none" strike="noStrike" cap="non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53" name="Google Shape;653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2800" y="981775"/>
            <a:ext cx="3184950" cy="24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0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(100, 90, 0), calculate the projected point P' for a point P(30, 50, -250) where the Projection Plane parallel to XY is 200 units away from COP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0" name="Google Shape;660;p80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 level of COP is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while the z level of P is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there's a projection on the plane, the plane is likely to be between these two points.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plane itself will have a z value that's between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 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(which is a negative value)</a:t>
            </a:r>
            <a:r>
              <a:rPr lang="en" sz="1400" b="0" i="0" u="none" strike="noStrike" cap="non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sz="1400" b="0" i="0" u="none" strike="noStrike" cap="non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It's already said the distance between COP and PP is </a:t>
            </a:r>
            <a:r>
              <a:rPr lang="en" sz="1400" b="0" i="0" u="none" strike="noStrike" cap="non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units. This distance is across z-axis.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Thus, the z value of PP is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(0-200)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This is the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value.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z</a:t>
            </a:r>
            <a:r>
              <a:rPr lang="en" sz="1400" b="0" i="0" u="none" strike="noStrike" cap="none" baseline="-2500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-200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61" name="Google Shape;661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749725"/>
            <a:ext cx="4378968" cy="22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1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sz="1400" b="0" i="0" u="none" strike="noStrike" cap="none" baseline="-25000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7" name="Google Shape;667;p81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we've got the </a:t>
            </a:r>
            <a:r>
              <a:rPr lang="en" sz="1400" b="0" i="0" u="none" strike="noStrike" cap="none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baseline="-25000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we can now calculate the q vector.</a:t>
            </a: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 = COP - (0,0,z</a:t>
            </a:r>
            <a:r>
              <a:rPr lang="en" sz="1400" b="0" i="0" u="none" strike="noStrike" cap="none" baseline="-25000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(100,90,0) - (0,0,-200) = (100,90,200)</a:t>
            </a: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lang="en" sz="1400" b="0" i="0" u="none" strike="noStrike" cap="none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400" b="0" i="0" u="none" strike="noStrike" cap="none" dirty="0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100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400" b="0" i="0" u="none" strike="noStrike" cap="none" dirty="0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90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lang="en" sz="1400" b="0" i="0" u="none" strike="noStrike" cap="none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lang="en" sz="1400" b="0" i="0" u="none" strike="noStrike" cap="none" baseline="-25000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400" b="0" i="0" u="none" strike="noStrike" cap="none" dirty="0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(and </a:t>
            </a:r>
            <a:r>
              <a:rPr lang="en" sz="1400" b="0" i="0" u="none" strike="noStrike" cap="none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lang="en" sz="1400" b="0" i="0" u="none" strike="noStrike" cap="none" baseline="-25000" dirty="0" err="1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lang="en" sz="1400" b="0" i="0" u="none" strike="noStrike" cap="none" dirty="0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previously)</a:t>
            </a: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now but these values into the general purpose perspective projection matrix, we will get the matrix from the upper-right.</a:t>
            </a:r>
            <a:endParaRPr sz="1400" b="0" i="0" u="none" strike="noStrike" cap="none" dirty="0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68" name="Google Shape;668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125" y="520250"/>
            <a:ext cx="4923949" cy="25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1574" y="994350"/>
            <a:ext cx="2651225" cy="17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2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simply multiply the point P as a column vector.</a:t>
            </a:r>
            <a:endParaRPr sz="1400" b="0" i="0" u="none" strike="noStrike" cap="non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75" name="Google Shape;675;p82"/>
          <p:cNvSpPr txBox="1"/>
          <p:nvPr/>
        </p:nvSpPr>
        <p:spPr>
          <a:xfrm>
            <a:off x="248200" y="3025225"/>
            <a:ext cx="85554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Almost done, all we need to do is divide each value in the result by "w" which is </a:t>
            </a:r>
            <a:r>
              <a:rPr lang="en" sz="1400" b="0" i="0" u="none" strike="noStrike" cap="non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1.25</a:t>
            </a:r>
            <a:endParaRPr sz="1400" b="0" i="0" u="none" strike="noStrike" cap="none">
              <a:solidFill>
                <a:srgbClr val="3C78D8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76" name="Google Shape;676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900025"/>
            <a:ext cx="6585010" cy="20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5700" y="3483100"/>
            <a:ext cx="3602400" cy="14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3"/>
          <p:cNvSpPr txBox="1">
            <a:spLocks noGrp="1"/>
          </p:cNvSpPr>
          <p:nvPr>
            <p:ph type="body" idx="1"/>
          </p:nvPr>
        </p:nvSpPr>
        <p:spPr>
          <a:xfrm>
            <a:off x="628650" y="94004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3376</Words>
  <Application>Microsoft Macintosh PowerPoint</Application>
  <PresentationFormat>On-screen Show (16:9)</PresentationFormat>
  <Paragraphs>334</Paragraphs>
  <Slides>70</Slides>
  <Notes>70</Notes>
  <HiddenSlides>16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Lexend</vt:lpstr>
      <vt:lpstr>Times New Roman</vt:lpstr>
      <vt:lpstr>Lexend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Mehedi Hasan</cp:lastModifiedBy>
  <cp:revision>1</cp:revision>
  <dcterms:modified xsi:type="dcterms:W3CDTF">2026-09-08T17:39:41Z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2026-09-08T17:39:41Z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bc1e5976-f887-41cf-87d7-138b8da14090</vt:lpwstr>
  </property>
  <property fmtid="{D5CDD505-2E9C-101B-9397-08002B2CF9AE}" pid="7" name="MSIP_Label_defa4170-0d19-0005-0004-bc88714345d2_ActionId">
    <vt:lpwstr>ef43fa94-2f85-45bb-b1a0-36d5bd5a7495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