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2C326D-3A23-4CD7-BF3E-AB7A91FF9D0C}">
  <a:tblStyle styleId="{692C326D-3A23-4CD7-BF3E-AB7A91FF9D0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e8f93d0ec_0_8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ee8f93d0ec_0_8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e8f93d0ec_0_8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ee8f93d0ec_0_8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e8f93d0ec_0_9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ee8f93d0ec_0_9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e8f93d0ec_0_9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ee8f93d0ec_0_9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e8f93d0ec_0_10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ee8f93d0ec_0_10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ee8f93d0ec_0_10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ee8f93d0ec_0_10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e8f93d0ec_0_10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ee8f93d0ec_0_10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e8f93d0ec_0_10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ee8f93d0ec_0_10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ee8f93d0ec_0_11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ee8f93d0ec_0_1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ee8f93d0ec_0_12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ee8f93d0ec_0_12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ee8f93d0ec_0_13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g3ee8f93d0ec_0_13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ee8f93d0ec_0_13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g3ee8f93d0ec_0_13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ee8f93d0ec_0_13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g3ee8f93d0ec_0_13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ee8f93d0ec_0_13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g3ee8f93d0ec_0_13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ee8f93d0ec_0_13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g3ee8f93d0ec_0_13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ee8f93d0ec_0_13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3ee8f93d0ec_0_13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ee8f93d0ec_0_14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g3ee8f93d0ec_0_14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ee8f93d0ec_0_15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g3ee8f93d0ec_0_15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ee8f93d0ec_0_15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g3ee8f93d0ec_0_15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ee8f93d0ec_0_15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g3ee8f93d0ec_0_15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ee8f93d0ec_0_15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g3ee8f93d0ec_0_15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ee8f93d0ec_0_16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g3ee8f93d0ec_0_16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ee8f93d0ec_0_16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g3ee8f93d0ec_0_16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ee8f93d0ec_0_16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3ee8f93d0ec_0_16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g3ee8f93d0ec_0_16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ee8f93d0ec_0_16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3ee8f93d0ec_0_16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g3ee8f93d0ec_0_16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ee8f93d0ec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3ee8f93d0ec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g3ee8f93d0ec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8" name="Google Shape;98;p18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3" name="Google Shape;123;p21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4" name="Google Shape;124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2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4" name="Google Shape;134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7" name="Google Shape;13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5" name="Google Shape;15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30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Relationship Id="rId8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Relationship Id="rId6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Relationship Id="rId4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Graphics: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Scan Conversion Algorithms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5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2400"/>
              <a:t>Line Drawing Algorithm - DDA</a:t>
            </a:r>
            <a:endParaRPr b="1" sz="2400"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4" name="Google Shape;164;p25"/>
          <p:cNvCxnSpPr/>
          <p:nvPr/>
        </p:nvCxnSpPr>
        <p:spPr>
          <a:xfrm>
            <a:off x="2163100" y="3692050"/>
            <a:ext cx="4849800" cy="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Scan Conversion</a:t>
            </a:r>
            <a:endParaRPr/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line segment in a scene is defined by the coordinate positions of the line end-points</a:t>
            </a:r>
            <a:endParaRPr/>
          </a:p>
        </p:txBody>
      </p:sp>
      <p:grpSp>
        <p:nvGrpSpPr>
          <p:cNvPr id="171" name="Google Shape;171;p26"/>
          <p:cNvGrpSpPr/>
          <p:nvPr/>
        </p:nvGrpSpPr>
        <p:grpSpPr>
          <a:xfrm>
            <a:off x="2601913" y="1991916"/>
            <a:ext cx="3795712" cy="2725341"/>
            <a:chOff x="1499" y="1653"/>
            <a:chExt cx="2391" cy="2289"/>
          </a:xfrm>
        </p:grpSpPr>
        <p:cxnSp>
          <p:nvCxnSpPr>
            <p:cNvPr id="172" name="Google Shape;172;p26"/>
            <p:cNvCxnSpPr/>
            <p:nvPr/>
          </p:nvCxnSpPr>
          <p:spPr>
            <a:xfrm rot="10800000">
              <a:off x="1727" y="1653"/>
              <a:ext cx="0" cy="2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3" name="Google Shape;173;p26"/>
            <p:cNvCxnSpPr/>
            <p:nvPr/>
          </p:nvCxnSpPr>
          <p:spPr>
            <a:xfrm rot="10800000">
              <a:off x="2707" y="2623"/>
              <a:ext cx="0" cy="2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4" name="Google Shape;174;p26"/>
            <p:cNvSpPr txBox="1"/>
            <p:nvPr/>
          </p:nvSpPr>
          <p:spPr>
            <a:xfrm>
              <a:off x="3590" y="364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5" name="Google Shape;175;p26"/>
            <p:cNvSpPr txBox="1"/>
            <p:nvPr/>
          </p:nvSpPr>
          <p:spPr>
            <a:xfrm>
              <a:off x="1499" y="166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76" name="Google Shape;176;p26"/>
          <p:cNvCxnSpPr/>
          <p:nvPr/>
        </p:nvCxnSpPr>
        <p:spPr>
          <a:xfrm flipH="1" rot="10800000">
            <a:off x="3738563" y="2914772"/>
            <a:ext cx="1906500" cy="936900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77" name="Google Shape;177;p26"/>
          <p:cNvSpPr txBox="1"/>
          <p:nvPr/>
        </p:nvSpPr>
        <p:spPr>
          <a:xfrm>
            <a:off x="3214706" y="3867150"/>
            <a:ext cx="113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(2, 2)</a:t>
            </a:r>
            <a:endParaRPr b="1" i="0" sz="20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5611831" y="2624150"/>
            <a:ext cx="113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(7, 5)</a:t>
            </a:r>
            <a:endParaRPr b="1" i="0" sz="20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628650" y="273848"/>
            <a:ext cx="7886700" cy="5679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/>
              <a:t>The Problem Of Scan Conversion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466725" y="1328125"/>
            <a:ext cx="82296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what happens when we try to draw this on a pixel based display?</a:t>
            </a:r>
            <a:endParaRPr/>
          </a:p>
        </p:txBody>
      </p:sp>
      <p:cxnSp>
        <p:nvCxnSpPr>
          <p:cNvPr id="186" name="Google Shape;186;p27"/>
          <p:cNvCxnSpPr/>
          <p:nvPr/>
        </p:nvCxnSpPr>
        <p:spPr>
          <a:xfrm rot="10800000">
            <a:off x="3351213" y="1883504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7"/>
          <p:cNvCxnSpPr/>
          <p:nvPr/>
        </p:nvCxnSpPr>
        <p:spPr>
          <a:xfrm rot="10800000">
            <a:off x="3736975" y="1883504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7"/>
          <p:cNvCxnSpPr/>
          <p:nvPr/>
        </p:nvCxnSpPr>
        <p:spPr>
          <a:xfrm rot="10800000">
            <a:off x="4121150" y="1883504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7"/>
          <p:cNvCxnSpPr/>
          <p:nvPr/>
        </p:nvCxnSpPr>
        <p:spPr>
          <a:xfrm rot="10800000">
            <a:off x="4500563" y="1883504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7"/>
          <p:cNvCxnSpPr/>
          <p:nvPr/>
        </p:nvCxnSpPr>
        <p:spPr>
          <a:xfrm rot="10800000">
            <a:off x="4884738" y="1883504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27"/>
          <p:cNvCxnSpPr/>
          <p:nvPr/>
        </p:nvCxnSpPr>
        <p:spPr>
          <a:xfrm rot="10800000">
            <a:off x="5264150" y="1883504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27"/>
          <p:cNvCxnSpPr/>
          <p:nvPr/>
        </p:nvCxnSpPr>
        <p:spPr>
          <a:xfrm rot="10800000">
            <a:off x="5648325" y="1883504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27"/>
          <p:cNvCxnSpPr/>
          <p:nvPr/>
        </p:nvCxnSpPr>
        <p:spPr>
          <a:xfrm rot="10800000">
            <a:off x="6027738" y="1883504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7"/>
          <p:cNvCxnSpPr/>
          <p:nvPr/>
        </p:nvCxnSpPr>
        <p:spPr>
          <a:xfrm rot="10800000">
            <a:off x="4499700" y="309235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7"/>
          <p:cNvCxnSpPr/>
          <p:nvPr/>
        </p:nvCxnSpPr>
        <p:spPr>
          <a:xfrm rot="10800000">
            <a:off x="4499700" y="598556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7"/>
          <p:cNvCxnSpPr/>
          <p:nvPr/>
        </p:nvCxnSpPr>
        <p:spPr>
          <a:xfrm rot="10800000">
            <a:off x="4499700" y="886688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7"/>
          <p:cNvCxnSpPr/>
          <p:nvPr/>
        </p:nvCxnSpPr>
        <p:spPr>
          <a:xfrm rot="10800000">
            <a:off x="4499700" y="1171247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27"/>
          <p:cNvCxnSpPr/>
          <p:nvPr/>
        </p:nvCxnSpPr>
        <p:spPr>
          <a:xfrm rot="10800000">
            <a:off x="4499700" y="1459379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27"/>
          <p:cNvCxnSpPr/>
          <p:nvPr/>
        </p:nvCxnSpPr>
        <p:spPr>
          <a:xfrm rot="10800000">
            <a:off x="4499700" y="1743938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27"/>
          <p:cNvCxnSpPr/>
          <p:nvPr/>
        </p:nvCxnSpPr>
        <p:spPr>
          <a:xfrm rot="10800000">
            <a:off x="4499700" y="2032069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7"/>
          <p:cNvCxnSpPr/>
          <p:nvPr/>
        </p:nvCxnSpPr>
        <p:spPr>
          <a:xfrm rot="10800000">
            <a:off x="4499700" y="2316629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27"/>
          <p:cNvSpPr/>
          <p:nvPr/>
        </p:nvSpPr>
        <p:spPr>
          <a:xfrm>
            <a:off x="3559175" y="3437335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3957638" y="343733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5854700" y="343733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7"/>
          <p:cNvSpPr/>
          <p:nvPr/>
        </p:nvSpPr>
        <p:spPr>
          <a:xfrm>
            <a:off x="3176588" y="3436144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7"/>
          <p:cNvSpPr/>
          <p:nvPr/>
        </p:nvSpPr>
        <p:spPr>
          <a:xfrm>
            <a:off x="4324350" y="343733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7"/>
          <p:cNvSpPr/>
          <p:nvPr/>
        </p:nvSpPr>
        <p:spPr>
          <a:xfrm>
            <a:off x="4722813" y="3436144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7"/>
          <p:cNvSpPr/>
          <p:nvPr/>
        </p:nvSpPr>
        <p:spPr>
          <a:xfrm>
            <a:off x="5105400" y="3436144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7"/>
          <p:cNvSpPr/>
          <p:nvPr/>
        </p:nvSpPr>
        <p:spPr>
          <a:xfrm>
            <a:off x="5487988" y="3436144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7"/>
          <p:cNvSpPr/>
          <p:nvPr/>
        </p:nvSpPr>
        <p:spPr>
          <a:xfrm>
            <a:off x="3567113" y="315277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7"/>
          <p:cNvSpPr/>
          <p:nvPr/>
        </p:nvSpPr>
        <p:spPr>
          <a:xfrm>
            <a:off x="3965575" y="3152775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7"/>
          <p:cNvSpPr/>
          <p:nvPr/>
        </p:nvSpPr>
        <p:spPr>
          <a:xfrm>
            <a:off x="5862638" y="315277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7"/>
          <p:cNvSpPr/>
          <p:nvPr/>
        </p:nvSpPr>
        <p:spPr>
          <a:xfrm>
            <a:off x="3184525" y="315158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7"/>
          <p:cNvSpPr/>
          <p:nvPr/>
        </p:nvSpPr>
        <p:spPr>
          <a:xfrm>
            <a:off x="4332288" y="3152775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7"/>
          <p:cNvSpPr/>
          <p:nvPr/>
        </p:nvSpPr>
        <p:spPr>
          <a:xfrm>
            <a:off x="4730750" y="315158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7"/>
          <p:cNvSpPr/>
          <p:nvPr/>
        </p:nvSpPr>
        <p:spPr>
          <a:xfrm>
            <a:off x="5113338" y="315158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7"/>
          <p:cNvSpPr/>
          <p:nvPr/>
        </p:nvSpPr>
        <p:spPr>
          <a:xfrm>
            <a:off x="5495925" y="315158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7"/>
          <p:cNvSpPr/>
          <p:nvPr/>
        </p:nvSpPr>
        <p:spPr>
          <a:xfrm>
            <a:off x="3562350" y="286821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7"/>
          <p:cNvSpPr/>
          <p:nvPr/>
        </p:nvSpPr>
        <p:spPr>
          <a:xfrm>
            <a:off x="3960813" y="286821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7"/>
          <p:cNvSpPr/>
          <p:nvPr/>
        </p:nvSpPr>
        <p:spPr>
          <a:xfrm>
            <a:off x="5857875" y="286821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7"/>
          <p:cNvSpPr/>
          <p:nvPr/>
        </p:nvSpPr>
        <p:spPr>
          <a:xfrm>
            <a:off x="3179763" y="286702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7"/>
          <p:cNvSpPr/>
          <p:nvPr/>
        </p:nvSpPr>
        <p:spPr>
          <a:xfrm>
            <a:off x="4327525" y="2868216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7"/>
          <p:cNvSpPr/>
          <p:nvPr/>
        </p:nvSpPr>
        <p:spPr>
          <a:xfrm>
            <a:off x="4725988" y="2867025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5108575" y="286702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5491163" y="286702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7"/>
          <p:cNvSpPr/>
          <p:nvPr/>
        </p:nvSpPr>
        <p:spPr>
          <a:xfrm>
            <a:off x="3570288" y="258365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3968750" y="258365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5865813" y="258365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7"/>
          <p:cNvSpPr/>
          <p:nvPr/>
        </p:nvSpPr>
        <p:spPr>
          <a:xfrm>
            <a:off x="3187700" y="258246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7"/>
          <p:cNvSpPr/>
          <p:nvPr/>
        </p:nvSpPr>
        <p:spPr>
          <a:xfrm>
            <a:off x="4335463" y="258365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7"/>
          <p:cNvSpPr/>
          <p:nvPr/>
        </p:nvSpPr>
        <p:spPr>
          <a:xfrm>
            <a:off x="4733925" y="2582466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7"/>
          <p:cNvSpPr/>
          <p:nvPr/>
        </p:nvSpPr>
        <p:spPr>
          <a:xfrm>
            <a:off x="5116513" y="2582466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7"/>
          <p:cNvSpPr/>
          <p:nvPr/>
        </p:nvSpPr>
        <p:spPr>
          <a:xfrm>
            <a:off x="5499100" y="258246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7"/>
          <p:cNvSpPr/>
          <p:nvPr/>
        </p:nvSpPr>
        <p:spPr>
          <a:xfrm>
            <a:off x="3582988" y="228361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7"/>
          <p:cNvSpPr/>
          <p:nvPr/>
        </p:nvSpPr>
        <p:spPr>
          <a:xfrm>
            <a:off x="3981450" y="228361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5878513" y="228361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7"/>
          <p:cNvSpPr/>
          <p:nvPr/>
        </p:nvSpPr>
        <p:spPr>
          <a:xfrm>
            <a:off x="3200400" y="228242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4348163" y="228361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7"/>
          <p:cNvSpPr/>
          <p:nvPr/>
        </p:nvSpPr>
        <p:spPr>
          <a:xfrm>
            <a:off x="4746625" y="228242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5129213" y="228242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5511800" y="2282429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7"/>
          <p:cNvSpPr/>
          <p:nvPr/>
        </p:nvSpPr>
        <p:spPr>
          <a:xfrm>
            <a:off x="3590925" y="199906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7"/>
          <p:cNvSpPr/>
          <p:nvPr/>
        </p:nvSpPr>
        <p:spPr>
          <a:xfrm>
            <a:off x="3989388" y="199906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7"/>
          <p:cNvSpPr/>
          <p:nvPr/>
        </p:nvSpPr>
        <p:spPr>
          <a:xfrm>
            <a:off x="5886450" y="199906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7"/>
          <p:cNvSpPr/>
          <p:nvPr/>
        </p:nvSpPr>
        <p:spPr>
          <a:xfrm>
            <a:off x="3208338" y="199786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7"/>
          <p:cNvSpPr/>
          <p:nvPr/>
        </p:nvSpPr>
        <p:spPr>
          <a:xfrm>
            <a:off x="4356100" y="199906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7"/>
          <p:cNvSpPr/>
          <p:nvPr/>
        </p:nvSpPr>
        <p:spPr>
          <a:xfrm>
            <a:off x="4754563" y="199786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7"/>
          <p:cNvSpPr/>
          <p:nvPr/>
        </p:nvSpPr>
        <p:spPr>
          <a:xfrm>
            <a:off x="5137150" y="199786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7"/>
          <p:cNvSpPr/>
          <p:nvPr/>
        </p:nvSpPr>
        <p:spPr>
          <a:xfrm>
            <a:off x="5519738" y="199786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7"/>
          <p:cNvSpPr/>
          <p:nvPr/>
        </p:nvSpPr>
        <p:spPr>
          <a:xfrm>
            <a:off x="3551238" y="401359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7"/>
          <p:cNvSpPr/>
          <p:nvPr/>
        </p:nvSpPr>
        <p:spPr>
          <a:xfrm>
            <a:off x="3949700" y="401359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5846763" y="401359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7"/>
          <p:cNvSpPr/>
          <p:nvPr/>
        </p:nvSpPr>
        <p:spPr>
          <a:xfrm>
            <a:off x="3168650" y="401240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4316413" y="401359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7"/>
          <p:cNvSpPr/>
          <p:nvPr/>
        </p:nvSpPr>
        <p:spPr>
          <a:xfrm>
            <a:off x="4714875" y="401240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5097463" y="401240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5480050" y="401240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3559175" y="3729038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3957638" y="3729038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7"/>
          <p:cNvSpPr/>
          <p:nvPr/>
        </p:nvSpPr>
        <p:spPr>
          <a:xfrm>
            <a:off x="5854700" y="3729038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7"/>
          <p:cNvSpPr/>
          <p:nvPr/>
        </p:nvSpPr>
        <p:spPr>
          <a:xfrm>
            <a:off x="3176588" y="372784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7"/>
          <p:cNvSpPr/>
          <p:nvPr/>
        </p:nvSpPr>
        <p:spPr>
          <a:xfrm>
            <a:off x="4324350" y="3729038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7"/>
          <p:cNvSpPr/>
          <p:nvPr/>
        </p:nvSpPr>
        <p:spPr>
          <a:xfrm>
            <a:off x="4722813" y="372784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7"/>
          <p:cNvSpPr/>
          <p:nvPr/>
        </p:nvSpPr>
        <p:spPr>
          <a:xfrm>
            <a:off x="5105400" y="372784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7"/>
          <p:cNvSpPr/>
          <p:nvPr/>
        </p:nvSpPr>
        <p:spPr>
          <a:xfrm>
            <a:off x="5487988" y="372784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7"/>
          <p:cNvSpPr/>
          <p:nvPr/>
        </p:nvSpPr>
        <p:spPr>
          <a:xfrm>
            <a:off x="457200" y="4477941"/>
            <a:ext cx="82296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 we choose which pixels to turn on?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" name="Google Shape;267;p27"/>
          <p:cNvCxnSpPr/>
          <p:nvPr/>
        </p:nvCxnSpPr>
        <p:spPr>
          <a:xfrm rot="10800000">
            <a:off x="2973388" y="1875169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27"/>
          <p:cNvSpPr/>
          <p:nvPr/>
        </p:nvSpPr>
        <p:spPr>
          <a:xfrm>
            <a:off x="2798763" y="342781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7"/>
          <p:cNvSpPr/>
          <p:nvPr/>
        </p:nvSpPr>
        <p:spPr>
          <a:xfrm>
            <a:off x="2806700" y="314325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7"/>
          <p:cNvSpPr/>
          <p:nvPr/>
        </p:nvSpPr>
        <p:spPr>
          <a:xfrm>
            <a:off x="2801938" y="285869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7"/>
          <p:cNvSpPr/>
          <p:nvPr/>
        </p:nvSpPr>
        <p:spPr>
          <a:xfrm>
            <a:off x="2809875" y="257413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7"/>
          <p:cNvSpPr/>
          <p:nvPr/>
        </p:nvSpPr>
        <p:spPr>
          <a:xfrm>
            <a:off x="2822575" y="2274094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7"/>
          <p:cNvSpPr/>
          <p:nvPr/>
        </p:nvSpPr>
        <p:spPr>
          <a:xfrm>
            <a:off x="2830513" y="198953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7"/>
          <p:cNvSpPr/>
          <p:nvPr/>
        </p:nvSpPr>
        <p:spPr>
          <a:xfrm>
            <a:off x="2790825" y="4004072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7"/>
          <p:cNvSpPr/>
          <p:nvPr/>
        </p:nvSpPr>
        <p:spPr>
          <a:xfrm>
            <a:off x="2798763" y="3719513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p27"/>
          <p:cNvCxnSpPr/>
          <p:nvPr/>
        </p:nvCxnSpPr>
        <p:spPr>
          <a:xfrm flipH="1" rot="10800000">
            <a:off x="3721100" y="2451506"/>
            <a:ext cx="1879500" cy="1103700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277" name="Google Shape;277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Considerations</a:t>
            </a:r>
            <a:endParaRPr/>
          </a:p>
        </p:txBody>
      </p:sp>
      <p:sp>
        <p:nvSpPr>
          <p:cNvPr id="283" name="Google Shape;283;p2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Considerations to keep in mind:</a:t>
            </a:r>
            <a:endParaRPr/>
          </a:p>
          <a:p>
            <a:pPr indent="-285750" lvl="1" marL="8270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"/>
              <a:t>The line has to look good</a:t>
            </a:r>
            <a:endParaRPr/>
          </a:p>
          <a:p>
            <a:pPr indent="-228600" lvl="2" marL="12350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"/>
              <a:t>Avoid </a:t>
            </a:r>
            <a:r>
              <a:rPr i="1" lang="en"/>
              <a:t>jaggies</a:t>
            </a:r>
            <a:endParaRPr/>
          </a:p>
          <a:p>
            <a:pPr indent="-285750" lvl="1" marL="8270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"/>
              <a:t>It has to be lightening fast!</a:t>
            </a:r>
            <a:endParaRPr/>
          </a:p>
          <a:p>
            <a:pPr indent="-228600" lvl="2" marL="12350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"/>
              <a:t>How many lines need to be drawn in a typical scene?</a:t>
            </a:r>
            <a:endParaRPr/>
          </a:p>
          <a:p>
            <a:pPr indent="-228600" lvl="2" marL="12350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"/>
              <a:t>This is going to come back to bite us again and again</a:t>
            </a:r>
            <a:endParaRPr/>
          </a:p>
        </p:txBody>
      </p:sp>
      <p:sp>
        <p:nvSpPr>
          <p:cNvPr id="284" name="Google Shape;284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Equations</a:t>
            </a:r>
            <a:endParaRPr/>
          </a:p>
        </p:txBody>
      </p:sp>
      <p:sp>
        <p:nvSpPr>
          <p:cNvPr id="290" name="Google Shape;290;p2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quickly review the equations involved in drawing lines</a:t>
            </a:r>
            <a:endParaRPr/>
          </a:p>
        </p:txBody>
      </p:sp>
      <p:grpSp>
        <p:nvGrpSpPr>
          <p:cNvPr id="291" name="Google Shape;291;p29"/>
          <p:cNvGrpSpPr/>
          <p:nvPr/>
        </p:nvGrpSpPr>
        <p:grpSpPr>
          <a:xfrm>
            <a:off x="530225" y="1938338"/>
            <a:ext cx="4138613" cy="2812256"/>
            <a:chOff x="484" y="1598"/>
            <a:chExt cx="2607" cy="2362"/>
          </a:xfrm>
        </p:grpSpPr>
        <p:grpSp>
          <p:nvGrpSpPr>
            <p:cNvPr id="292" name="Google Shape;292;p29"/>
            <p:cNvGrpSpPr/>
            <p:nvPr/>
          </p:nvGrpSpPr>
          <p:grpSpPr>
            <a:xfrm>
              <a:off x="700" y="1598"/>
              <a:ext cx="2391" cy="2289"/>
              <a:chOff x="1499" y="1653"/>
              <a:chExt cx="2391" cy="2289"/>
            </a:xfrm>
          </p:grpSpPr>
          <p:cxnSp>
            <p:nvCxnSpPr>
              <p:cNvPr id="293" name="Google Shape;293;p29"/>
              <p:cNvCxnSpPr/>
              <p:nvPr/>
            </p:nvCxnSpPr>
            <p:spPr>
              <a:xfrm rot="10800000">
                <a:off x="1727" y="1653"/>
                <a:ext cx="0" cy="21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94" name="Google Shape;294;p29"/>
              <p:cNvCxnSpPr/>
              <p:nvPr/>
            </p:nvCxnSpPr>
            <p:spPr>
              <a:xfrm rot="10800000">
                <a:off x="2707" y="2623"/>
                <a:ext cx="0" cy="21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95" name="Google Shape;295;p29"/>
              <p:cNvSpPr txBox="1"/>
              <p:nvPr/>
            </p:nvSpPr>
            <p:spPr>
              <a:xfrm>
                <a:off x="3590" y="3642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6" name="Google Shape;296;p29"/>
              <p:cNvSpPr txBox="1"/>
              <p:nvPr/>
            </p:nvSpPr>
            <p:spPr>
              <a:xfrm>
                <a:off x="1499" y="1666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y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97" name="Google Shape;297;p29"/>
            <p:cNvCxnSpPr/>
            <p:nvPr/>
          </p:nvCxnSpPr>
          <p:spPr>
            <a:xfrm>
              <a:off x="800" y="3149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29"/>
            <p:cNvCxnSpPr/>
            <p:nvPr/>
          </p:nvCxnSpPr>
          <p:spPr>
            <a:xfrm>
              <a:off x="800" y="2371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29"/>
            <p:cNvCxnSpPr/>
            <p:nvPr/>
          </p:nvCxnSpPr>
          <p:spPr>
            <a:xfrm rot="5400000">
              <a:off x="670" y="3025"/>
              <a:ext cx="15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29"/>
            <p:cNvCxnSpPr/>
            <p:nvPr/>
          </p:nvCxnSpPr>
          <p:spPr>
            <a:xfrm rot="5400000">
              <a:off x="1871" y="3007"/>
              <a:ext cx="15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301" name="Google Shape;301;p29"/>
            <p:cNvSpPr txBox="1"/>
            <p:nvPr/>
          </p:nvSpPr>
          <p:spPr>
            <a:xfrm>
              <a:off x="558" y="299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b="1" baseline="-25000" i="0" lang="en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2" name="Google Shape;302;p29"/>
            <p:cNvSpPr txBox="1"/>
            <p:nvPr/>
          </p:nvSpPr>
          <p:spPr>
            <a:xfrm>
              <a:off x="484" y="223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b="1" baseline="-25000" i="0" lang="en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3" name="Google Shape;303;p29"/>
            <p:cNvSpPr txBox="1"/>
            <p:nvPr/>
          </p:nvSpPr>
          <p:spPr>
            <a:xfrm>
              <a:off x="2424" y="365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1" baseline="-25000" i="0" lang="en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4" name="Google Shape;304;p29"/>
            <p:cNvSpPr txBox="1"/>
            <p:nvPr/>
          </p:nvSpPr>
          <p:spPr>
            <a:xfrm>
              <a:off x="1306" y="366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1" baseline="-25000" i="0" lang="en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05" name="Google Shape;305;p29"/>
            <p:cNvCxnSpPr/>
            <p:nvPr/>
          </p:nvCxnSpPr>
          <p:spPr>
            <a:xfrm flipH="1" rot="10800000">
              <a:off x="1416" y="2260"/>
              <a:ext cx="1200" cy="900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</p:grpSp>
      <p:sp>
        <p:nvSpPr>
          <p:cNvPr id="306" name="Google Shape;306;p29"/>
          <p:cNvSpPr/>
          <p:nvPr/>
        </p:nvSpPr>
        <p:spPr>
          <a:xfrm>
            <a:off x="4643438" y="1801416"/>
            <a:ext cx="3914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Slope-intercept line equation: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8125" y="2587229"/>
            <a:ext cx="1727599" cy="46077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9"/>
          <p:cNvSpPr/>
          <p:nvPr/>
        </p:nvSpPr>
        <p:spPr>
          <a:xfrm>
            <a:off x="4643438" y="3003947"/>
            <a:ext cx="3914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8613" y="3342085"/>
            <a:ext cx="1699022" cy="978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65750" y="4345781"/>
            <a:ext cx="1958580" cy="517922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4625" y="3342085"/>
            <a:ext cx="2563416" cy="89296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Equations</a:t>
            </a:r>
            <a:endParaRPr/>
          </a:p>
        </p:txBody>
      </p:sp>
      <p:sp>
        <p:nvSpPr>
          <p:cNvPr id="318" name="Google Shape;318;p3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quickly review the equations involved in drawing lines</a:t>
            </a:r>
            <a:endParaRPr/>
          </a:p>
        </p:txBody>
      </p:sp>
      <p:grpSp>
        <p:nvGrpSpPr>
          <p:cNvPr id="319" name="Google Shape;319;p30"/>
          <p:cNvGrpSpPr/>
          <p:nvPr/>
        </p:nvGrpSpPr>
        <p:grpSpPr>
          <a:xfrm>
            <a:off x="647700" y="1938338"/>
            <a:ext cx="4021138" cy="2812256"/>
            <a:chOff x="558" y="1598"/>
            <a:chExt cx="2533" cy="2362"/>
          </a:xfrm>
        </p:grpSpPr>
        <p:grpSp>
          <p:nvGrpSpPr>
            <p:cNvPr id="320" name="Google Shape;320;p30"/>
            <p:cNvGrpSpPr/>
            <p:nvPr/>
          </p:nvGrpSpPr>
          <p:grpSpPr>
            <a:xfrm>
              <a:off x="700" y="1598"/>
              <a:ext cx="2391" cy="2289"/>
              <a:chOff x="1499" y="1653"/>
              <a:chExt cx="2391" cy="2289"/>
            </a:xfrm>
          </p:grpSpPr>
          <p:cxnSp>
            <p:nvCxnSpPr>
              <p:cNvPr id="321" name="Google Shape;321;p30"/>
              <p:cNvCxnSpPr/>
              <p:nvPr/>
            </p:nvCxnSpPr>
            <p:spPr>
              <a:xfrm rot="10800000">
                <a:off x="1727" y="1653"/>
                <a:ext cx="0" cy="21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22" name="Google Shape;322;p30"/>
              <p:cNvCxnSpPr/>
              <p:nvPr/>
            </p:nvCxnSpPr>
            <p:spPr>
              <a:xfrm rot="10800000">
                <a:off x="2707" y="2623"/>
                <a:ext cx="0" cy="21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323" name="Google Shape;323;p30"/>
              <p:cNvSpPr txBox="1"/>
              <p:nvPr/>
            </p:nvSpPr>
            <p:spPr>
              <a:xfrm>
                <a:off x="3590" y="3642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4" name="Google Shape;324;p30"/>
              <p:cNvSpPr txBox="1"/>
              <p:nvPr/>
            </p:nvSpPr>
            <p:spPr>
              <a:xfrm>
                <a:off x="1499" y="1666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y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325" name="Google Shape;325;p30"/>
            <p:cNvCxnSpPr/>
            <p:nvPr/>
          </p:nvCxnSpPr>
          <p:spPr>
            <a:xfrm>
              <a:off x="800" y="3149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30"/>
            <p:cNvCxnSpPr/>
            <p:nvPr/>
          </p:nvCxnSpPr>
          <p:spPr>
            <a:xfrm>
              <a:off x="800" y="2371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30"/>
            <p:cNvCxnSpPr/>
            <p:nvPr/>
          </p:nvCxnSpPr>
          <p:spPr>
            <a:xfrm rot="5400000">
              <a:off x="670" y="3025"/>
              <a:ext cx="15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30"/>
            <p:cNvCxnSpPr/>
            <p:nvPr/>
          </p:nvCxnSpPr>
          <p:spPr>
            <a:xfrm rot="5400000">
              <a:off x="1871" y="3007"/>
              <a:ext cx="15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329" name="Google Shape;329;p30"/>
            <p:cNvSpPr txBox="1"/>
            <p:nvPr/>
          </p:nvSpPr>
          <p:spPr>
            <a:xfrm>
              <a:off x="558" y="299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b="1" baseline="-25000" i="0" lang="en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" name="Google Shape;330;p30"/>
            <p:cNvSpPr txBox="1"/>
            <p:nvPr/>
          </p:nvSpPr>
          <p:spPr>
            <a:xfrm>
              <a:off x="1306" y="366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1" baseline="-25000" i="0" lang="en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31" name="Google Shape;331;p30"/>
            <p:cNvCxnSpPr/>
            <p:nvPr/>
          </p:nvCxnSpPr>
          <p:spPr>
            <a:xfrm flipH="1" rot="10800000">
              <a:off x="1416" y="2260"/>
              <a:ext cx="1200" cy="900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</p:grpSp>
      <p:sp>
        <p:nvSpPr>
          <p:cNvPr id="332" name="Google Shape;332;p30"/>
          <p:cNvSpPr/>
          <p:nvPr/>
        </p:nvSpPr>
        <p:spPr>
          <a:xfrm>
            <a:off x="4643438" y="1801416"/>
            <a:ext cx="3914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Slope-intercept line equation: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8125" y="2587229"/>
            <a:ext cx="1727599" cy="460771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0"/>
          <p:cNvSpPr/>
          <p:nvPr/>
        </p:nvSpPr>
        <p:spPr>
          <a:xfrm>
            <a:off x="4643438" y="3003947"/>
            <a:ext cx="3914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1235075" y="3784997"/>
            <a:ext cx="93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(3, 2)</a:t>
            </a:r>
            <a:endParaRPr/>
          </a:p>
        </p:txBody>
      </p:sp>
      <p:sp>
        <p:nvSpPr>
          <p:cNvPr id="336" name="Google Shape;336;p30"/>
          <p:cNvSpPr txBox="1"/>
          <p:nvPr/>
        </p:nvSpPr>
        <p:spPr>
          <a:xfrm>
            <a:off x="4011613" y="2540794"/>
            <a:ext cx="93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(9, 6)</a:t>
            </a:r>
            <a:endParaRPr/>
          </a:p>
        </p:txBody>
      </p:sp>
      <p:sp>
        <p:nvSpPr>
          <p:cNvPr id="337" name="Google Shape;337;p30"/>
          <p:cNvSpPr txBox="1"/>
          <p:nvPr/>
        </p:nvSpPr>
        <p:spPr>
          <a:xfrm>
            <a:off x="530225" y="2697956"/>
            <a:ext cx="42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i="0" sz="2400" u="none" cap="none" strike="noStrike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30"/>
          <p:cNvSpPr txBox="1"/>
          <p:nvPr/>
        </p:nvSpPr>
        <p:spPr>
          <a:xfrm>
            <a:off x="3609975" y="4389835"/>
            <a:ext cx="44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i="0" sz="2400" u="none" cap="none" strike="noStrike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30"/>
          <p:cNvSpPr txBox="1"/>
          <p:nvPr/>
        </p:nvSpPr>
        <p:spPr>
          <a:xfrm>
            <a:off x="5254625" y="4367175"/>
            <a:ext cx="357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2 - (⅔).3 = 2 - 2 = 0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Very Simple Solution</a:t>
            </a:r>
            <a:endParaRPr/>
          </a:p>
        </p:txBody>
      </p:sp>
      <p:sp>
        <p:nvSpPr>
          <p:cNvPr id="346" name="Google Shape;346;p3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could simply work out the corresponding </a:t>
            </a:r>
            <a:r>
              <a:rPr i="1" lang="en" sz="3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/>
              <a:t> coordinate for each unit </a:t>
            </a:r>
            <a:r>
              <a:rPr i="1" lang="en" sz="3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/>
              <a:t> coordinate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Let’s consider the following example:</a:t>
            </a:r>
            <a:endParaRPr/>
          </a:p>
        </p:txBody>
      </p:sp>
      <p:grpSp>
        <p:nvGrpSpPr>
          <p:cNvPr id="347" name="Google Shape;347;p31"/>
          <p:cNvGrpSpPr/>
          <p:nvPr/>
        </p:nvGrpSpPr>
        <p:grpSpPr>
          <a:xfrm>
            <a:off x="2551113" y="2318147"/>
            <a:ext cx="4087812" cy="2812256"/>
            <a:chOff x="1607" y="1947"/>
            <a:chExt cx="2575" cy="2362"/>
          </a:xfrm>
        </p:grpSpPr>
        <p:grpSp>
          <p:nvGrpSpPr>
            <p:cNvPr id="348" name="Google Shape;348;p31"/>
            <p:cNvGrpSpPr/>
            <p:nvPr/>
          </p:nvGrpSpPr>
          <p:grpSpPr>
            <a:xfrm>
              <a:off x="1664" y="1947"/>
              <a:ext cx="2391" cy="2289"/>
              <a:chOff x="1499" y="1653"/>
              <a:chExt cx="2391" cy="2289"/>
            </a:xfrm>
          </p:grpSpPr>
          <p:cxnSp>
            <p:nvCxnSpPr>
              <p:cNvPr id="349" name="Google Shape;349;p31"/>
              <p:cNvCxnSpPr/>
              <p:nvPr/>
            </p:nvCxnSpPr>
            <p:spPr>
              <a:xfrm rot="10800000">
                <a:off x="1727" y="1653"/>
                <a:ext cx="0" cy="21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50" name="Google Shape;350;p31"/>
              <p:cNvCxnSpPr/>
              <p:nvPr/>
            </p:nvCxnSpPr>
            <p:spPr>
              <a:xfrm rot="10800000">
                <a:off x="2707" y="2623"/>
                <a:ext cx="0" cy="21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351" name="Google Shape;351;p31"/>
              <p:cNvSpPr txBox="1"/>
              <p:nvPr/>
            </p:nvSpPr>
            <p:spPr>
              <a:xfrm>
                <a:off x="3590" y="3642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2" name="Google Shape;352;p31"/>
              <p:cNvSpPr txBox="1"/>
              <p:nvPr/>
            </p:nvSpPr>
            <p:spPr>
              <a:xfrm>
                <a:off x="1499" y="1666"/>
                <a:ext cx="3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y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353" name="Google Shape;353;p31"/>
            <p:cNvCxnSpPr/>
            <p:nvPr/>
          </p:nvCxnSpPr>
          <p:spPr>
            <a:xfrm>
              <a:off x="1764" y="3498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1"/>
            <p:cNvCxnSpPr/>
            <p:nvPr/>
          </p:nvCxnSpPr>
          <p:spPr>
            <a:xfrm>
              <a:off x="1764" y="2720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1"/>
            <p:cNvCxnSpPr/>
            <p:nvPr/>
          </p:nvCxnSpPr>
          <p:spPr>
            <a:xfrm rot="5400000">
              <a:off x="1634" y="3356"/>
              <a:ext cx="15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1"/>
            <p:cNvCxnSpPr/>
            <p:nvPr/>
          </p:nvCxnSpPr>
          <p:spPr>
            <a:xfrm rot="5400000">
              <a:off x="2835" y="3356"/>
              <a:ext cx="15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57" name="Google Shape;357;p31"/>
            <p:cNvCxnSpPr/>
            <p:nvPr/>
          </p:nvCxnSpPr>
          <p:spPr>
            <a:xfrm flipH="1" rot="10800000">
              <a:off x="2380" y="2609"/>
              <a:ext cx="1200" cy="900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358" name="Google Shape;358;p31"/>
            <p:cNvSpPr txBox="1"/>
            <p:nvPr/>
          </p:nvSpPr>
          <p:spPr>
            <a:xfrm>
              <a:off x="1987" y="349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(2, 2)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1"/>
            <p:cNvSpPr txBox="1"/>
            <p:nvPr/>
          </p:nvSpPr>
          <p:spPr>
            <a:xfrm>
              <a:off x="3582" y="2479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(7, 5)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1"/>
            <p:cNvSpPr txBox="1"/>
            <p:nvPr/>
          </p:nvSpPr>
          <p:spPr>
            <a:xfrm>
              <a:off x="2295" y="400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1"/>
            <p:cNvSpPr txBox="1"/>
            <p:nvPr/>
          </p:nvSpPr>
          <p:spPr>
            <a:xfrm>
              <a:off x="3492" y="400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31"/>
            <p:cNvSpPr txBox="1"/>
            <p:nvPr/>
          </p:nvSpPr>
          <p:spPr>
            <a:xfrm>
              <a:off x="1607" y="338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1"/>
            <p:cNvSpPr txBox="1"/>
            <p:nvPr/>
          </p:nvSpPr>
          <p:spPr>
            <a:xfrm>
              <a:off x="1616" y="260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4" name="Google Shape;364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9" name="Google Shape;369;p32"/>
          <p:cNvCxnSpPr/>
          <p:nvPr/>
        </p:nvCxnSpPr>
        <p:spPr>
          <a:xfrm>
            <a:off x="4578313" y="-189347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32"/>
          <p:cNvCxnSpPr/>
          <p:nvPr/>
        </p:nvCxnSpPr>
        <p:spPr>
          <a:xfrm>
            <a:off x="4578313" y="407156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32"/>
          <p:cNvCxnSpPr/>
          <p:nvPr/>
        </p:nvCxnSpPr>
        <p:spPr>
          <a:xfrm>
            <a:off x="4578313" y="1001278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32"/>
          <p:cNvCxnSpPr/>
          <p:nvPr/>
        </p:nvCxnSpPr>
        <p:spPr>
          <a:xfrm>
            <a:off x="4714138" y="-732691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32"/>
          <p:cNvCxnSpPr/>
          <p:nvPr/>
        </p:nvCxnSpPr>
        <p:spPr>
          <a:xfrm>
            <a:off x="1687513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32"/>
          <p:cNvCxnSpPr/>
          <p:nvPr/>
        </p:nvCxnSpPr>
        <p:spPr>
          <a:xfrm>
            <a:off x="2482850" y="1058466"/>
            <a:ext cx="0" cy="37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32"/>
          <p:cNvCxnSpPr/>
          <p:nvPr/>
        </p:nvCxnSpPr>
        <p:spPr>
          <a:xfrm>
            <a:off x="3278188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32"/>
          <p:cNvCxnSpPr/>
          <p:nvPr/>
        </p:nvCxnSpPr>
        <p:spPr>
          <a:xfrm>
            <a:off x="4070350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32"/>
          <p:cNvCxnSpPr/>
          <p:nvPr/>
        </p:nvCxnSpPr>
        <p:spPr>
          <a:xfrm>
            <a:off x="4895850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32"/>
          <p:cNvCxnSpPr/>
          <p:nvPr/>
        </p:nvCxnSpPr>
        <p:spPr>
          <a:xfrm>
            <a:off x="5691188" y="1058466"/>
            <a:ext cx="0" cy="37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32"/>
          <p:cNvCxnSpPr/>
          <p:nvPr/>
        </p:nvCxnSpPr>
        <p:spPr>
          <a:xfrm>
            <a:off x="6486525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32"/>
          <p:cNvCxnSpPr/>
          <p:nvPr/>
        </p:nvCxnSpPr>
        <p:spPr>
          <a:xfrm>
            <a:off x="7278688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32"/>
          <p:cNvSpPr txBox="1"/>
          <p:nvPr>
            <p:ph type="title"/>
          </p:nvPr>
        </p:nvSpPr>
        <p:spPr>
          <a:xfrm>
            <a:off x="628650" y="179919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Very Simple Solution (cont…)</a:t>
            </a:r>
            <a:endParaRPr/>
          </a:p>
        </p:txBody>
      </p:sp>
      <p:sp>
        <p:nvSpPr>
          <p:cNvPr id="382" name="Google Shape;382;p32"/>
          <p:cNvSpPr/>
          <p:nvPr/>
        </p:nvSpPr>
        <p:spPr>
          <a:xfrm>
            <a:off x="1552575" y="311586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2"/>
          <p:cNvSpPr/>
          <p:nvPr/>
        </p:nvSpPr>
        <p:spPr>
          <a:xfrm>
            <a:off x="3948113" y="311586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2"/>
          <p:cNvSpPr/>
          <p:nvPr/>
        </p:nvSpPr>
        <p:spPr>
          <a:xfrm>
            <a:off x="2351088" y="311586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2"/>
          <p:cNvSpPr/>
          <p:nvPr/>
        </p:nvSpPr>
        <p:spPr>
          <a:xfrm>
            <a:off x="3149600" y="311586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2"/>
          <p:cNvSpPr/>
          <p:nvPr/>
        </p:nvSpPr>
        <p:spPr>
          <a:xfrm>
            <a:off x="1555750" y="37016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2"/>
          <p:cNvSpPr/>
          <p:nvPr/>
        </p:nvSpPr>
        <p:spPr>
          <a:xfrm>
            <a:off x="3951288" y="37016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2"/>
          <p:cNvSpPr/>
          <p:nvPr/>
        </p:nvSpPr>
        <p:spPr>
          <a:xfrm>
            <a:off x="2354263" y="37016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2"/>
          <p:cNvSpPr/>
          <p:nvPr/>
        </p:nvSpPr>
        <p:spPr>
          <a:xfrm>
            <a:off x="3152775" y="37016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2"/>
          <p:cNvSpPr/>
          <p:nvPr/>
        </p:nvSpPr>
        <p:spPr>
          <a:xfrm>
            <a:off x="1554163" y="430768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2"/>
          <p:cNvSpPr/>
          <p:nvPr/>
        </p:nvSpPr>
        <p:spPr>
          <a:xfrm>
            <a:off x="3949700" y="430768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2"/>
          <p:cNvSpPr/>
          <p:nvPr/>
        </p:nvSpPr>
        <p:spPr>
          <a:xfrm>
            <a:off x="2352675" y="430768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2"/>
          <p:cNvSpPr/>
          <p:nvPr/>
        </p:nvSpPr>
        <p:spPr>
          <a:xfrm>
            <a:off x="3151188" y="430768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2"/>
          <p:cNvSpPr/>
          <p:nvPr/>
        </p:nvSpPr>
        <p:spPr>
          <a:xfrm>
            <a:off x="1560513" y="25181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2"/>
          <p:cNvSpPr/>
          <p:nvPr/>
        </p:nvSpPr>
        <p:spPr>
          <a:xfrm>
            <a:off x="3956050" y="25181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2"/>
          <p:cNvSpPr/>
          <p:nvPr/>
        </p:nvSpPr>
        <p:spPr>
          <a:xfrm>
            <a:off x="2359025" y="25181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2"/>
          <p:cNvSpPr/>
          <p:nvPr/>
        </p:nvSpPr>
        <p:spPr>
          <a:xfrm>
            <a:off x="3157538" y="25181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2"/>
          <p:cNvSpPr/>
          <p:nvPr/>
        </p:nvSpPr>
        <p:spPr>
          <a:xfrm>
            <a:off x="4760913" y="311705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2"/>
          <p:cNvSpPr/>
          <p:nvPr/>
        </p:nvSpPr>
        <p:spPr>
          <a:xfrm>
            <a:off x="7156450" y="311705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5559425" y="311705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2"/>
          <p:cNvSpPr/>
          <p:nvPr/>
        </p:nvSpPr>
        <p:spPr>
          <a:xfrm>
            <a:off x="6357938" y="311705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2"/>
          <p:cNvSpPr/>
          <p:nvPr/>
        </p:nvSpPr>
        <p:spPr>
          <a:xfrm>
            <a:off x="4764088" y="37028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2"/>
          <p:cNvSpPr/>
          <p:nvPr/>
        </p:nvSpPr>
        <p:spPr>
          <a:xfrm>
            <a:off x="7159625" y="37028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2"/>
          <p:cNvSpPr/>
          <p:nvPr/>
        </p:nvSpPr>
        <p:spPr>
          <a:xfrm>
            <a:off x="5562600" y="37028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2"/>
          <p:cNvSpPr/>
          <p:nvPr/>
        </p:nvSpPr>
        <p:spPr>
          <a:xfrm>
            <a:off x="6361113" y="37028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2"/>
          <p:cNvSpPr/>
          <p:nvPr/>
        </p:nvSpPr>
        <p:spPr>
          <a:xfrm>
            <a:off x="4762500" y="43088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2"/>
          <p:cNvSpPr/>
          <p:nvPr/>
        </p:nvSpPr>
        <p:spPr>
          <a:xfrm>
            <a:off x="7158038" y="43088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2"/>
          <p:cNvSpPr/>
          <p:nvPr/>
        </p:nvSpPr>
        <p:spPr>
          <a:xfrm>
            <a:off x="5561013" y="43088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2"/>
          <p:cNvSpPr/>
          <p:nvPr/>
        </p:nvSpPr>
        <p:spPr>
          <a:xfrm>
            <a:off x="6359525" y="43088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2"/>
          <p:cNvSpPr/>
          <p:nvPr/>
        </p:nvSpPr>
        <p:spPr>
          <a:xfrm>
            <a:off x="4768850" y="25193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2"/>
          <p:cNvSpPr/>
          <p:nvPr/>
        </p:nvSpPr>
        <p:spPr>
          <a:xfrm>
            <a:off x="7164388" y="25193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2"/>
          <p:cNvSpPr/>
          <p:nvPr/>
        </p:nvSpPr>
        <p:spPr>
          <a:xfrm>
            <a:off x="5567363" y="25193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2"/>
          <p:cNvSpPr/>
          <p:nvPr/>
        </p:nvSpPr>
        <p:spPr>
          <a:xfrm>
            <a:off x="6365875" y="25193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4" name="Google Shape;414;p32"/>
          <p:cNvCxnSpPr/>
          <p:nvPr/>
        </p:nvCxnSpPr>
        <p:spPr>
          <a:xfrm>
            <a:off x="4578313" y="-1377591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32"/>
          <p:cNvCxnSpPr/>
          <p:nvPr/>
        </p:nvCxnSpPr>
        <p:spPr>
          <a:xfrm>
            <a:off x="4578313" y="-1975284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32"/>
          <p:cNvSpPr/>
          <p:nvPr/>
        </p:nvSpPr>
        <p:spPr>
          <a:xfrm>
            <a:off x="1550988" y="19276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2"/>
          <p:cNvSpPr/>
          <p:nvPr/>
        </p:nvSpPr>
        <p:spPr>
          <a:xfrm>
            <a:off x="3946525" y="19276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2"/>
          <p:cNvSpPr/>
          <p:nvPr/>
        </p:nvSpPr>
        <p:spPr>
          <a:xfrm>
            <a:off x="2349500" y="19276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2"/>
          <p:cNvSpPr/>
          <p:nvPr/>
        </p:nvSpPr>
        <p:spPr>
          <a:xfrm>
            <a:off x="3148013" y="19276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2"/>
          <p:cNvSpPr/>
          <p:nvPr/>
        </p:nvSpPr>
        <p:spPr>
          <a:xfrm>
            <a:off x="1558925" y="132992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2"/>
          <p:cNvSpPr/>
          <p:nvPr/>
        </p:nvSpPr>
        <p:spPr>
          <a:xfrm>
            <a:off x="3954463" y="132992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2"/>
          <p:cNvSpPr/>
          <p:nvPr/>
        </p:nvSpPr>
        <p:spPr>
          <a:xfrm>
            <a:off x="2357438" y="132992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2"/>
          <p:cNvSpPr/>
          <p:nvPr/>
        </p:nvSpPr>
        <p:spPr>
          <a:xfrm>
            <a:off x="3155950" y="132992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2"/>
          <p:cNvSpPr/>
          <p:nvPr/>
        </p:nvSpPr>
        <p:spPr>
          <a:xfrm>
            <a:off x="4759325" y="192881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2"/>
          <p:cNvSpPr/>
          <p:nvPr/>
        </p:nvSpPr>
        <p:spPr>
          <a:xfrm>
            <a:off x="7154863" y="192881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2"/>
          <p:cNvSpPr/>
          <p:nvPr/>
        </p:nvSpPr>
        <p:spPr>
          <a:xfrm>
            <a:off x="5557838" y="192881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2"/>
          <p:cNvSpPr/>
          <p:nvPr/>
        </p:nvSpPr>
        <p:spPr>
          <a:xfrm>
            <a:off x="6356350" y="192881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2"/>
          <p:cNvSpPr/>
          <p:nvPr/>
        </p:nvSpPr>
        <p:spPr>
          <a:xfrm>
            <a:off x="4767263" y="133111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2"/>
          <p:cNvSpPr/>
          <p:nvPr/>
        </p:nvSpPr>
        <p:spPr>
          <a:xfrm>
            <a:off x="7162800" y="133111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2"/>
          <p:cNvSpPr/>
          <p:nvPr/>
        </p:nvSpPr>
        <p:spPr>
          <a:xfrm>
            <a:off x="5565775" y="133111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2"/>
          <p:cNvSpPr/>
          <p:nvPr/>
        </p:nvSpPr>
        <p:spPr>
          <a:xfrm>
            <a:off x="6364288" y="133111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2"/>
          <p:cNvSpPr txBox="1"/>
          <p:nvPr/>
        </p:nvSpPr>
        <p:spPr>
          <a:xfrm>
            <a:off x="911225" y="3656410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2"/>
          <p:cNvSpPr txBox="1"/>
          <p:nvPr/>
        </p:nvSpPr>
        <p:spPr>
          <a:xfrm>
            <a:off x="911225" y="306347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2"/>
          <p:cNvSpPr txBox="1"/>
          <p:nvPr/>
        </p:nvSpPr>
        <p:spPr>
          <a:xfrm>
            <a:off x="911225" y="246578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2"/>
          <p:cNvSpPr txBox="1"/>
          <p:nvPr/>
        </p:nvSpPr>
        <p:spPr>
          <a:xfrm>
            <a:off x="911225" y="1868091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2"/>
          <p:cNvSpPr txBox="1"/>
          <p:nvPr/>
        </p:nvSpPr>
        <p:spPr>
          <a:xfrm>
            <a:off x="911225" y="1281113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2"/>
          <p:cNvSpPr txBox="1"/>
          <p:nvPr/>
        </p:nvSpPr>
        <p:spPr>
          <a:xfrm>
            <a:off x="911225" y="4248150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2"/>
          <p:cNvSpPr txBox="1"/>
          <p:nvPr/>
        </p:nvSpPr>
        <p:spPr>
          <a:xfrm>
            <a:off x="2328863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2"/>
          <p:cNvSpPr txBox="1"/>
          <p:nvPr/>
        </p:nvSpPr>
        <p:spPr>
          <a:xfrm>
            <a:off x="3122613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2"/>
          <p:cNvSpPr txBox="1"/>
          <p:nvPr/>
        </p:nvSpPr>
        <p:spPr>
          <a:xfrm>
            <a:off x="3905250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2"/>
          <p:cNvSpPr txBox="1"/>
          <p:nvPr/>
        </p:nvSpPr>
        <p:spPr>
          <a:xfrm>
            <a:off x="4738688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2"/>
          <p:cNvSpPr txBox="1"/>
          <p:nvPr/>
        </p:nvSpPr>
        <p:spPr>
          <a:xfrm>
            <a:off x="5534025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2"/>
          <p:cNvSpPr txBox="1"/>
          <p:nvPr/>
        </p:nvSpPr>
        <p:spPr>
          <a:xfrm>
            <a:off x="6330950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2"/>
          <p:cNvSpPr txBox="1"/>
          <p:nvPr/>
        </p:nvSpPr>
        <p:spPr>
          <a:xfrm>
            <a:off x="1535113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2"/>
          <p:cNvSpPr txBox="1"/>
          <p:nvPr/>
        </p:nvSpPr>
        <p:spPr>
          <a:xfrm>
            <a:off x="7116763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Very Simple Solution (cont…)</a:t>
            </a:r>
            <a:endParaRPr/>
          </a:p>
        </p:txBody>
      </p:sp>
      <p:grpSp>
        <p:nvGrpSpPr>
          <p:cNvPr id="452" name="Google Shape;452;p33"/>
          <p:cNvGrpSpPr/>
          <p:nvPr/>
        </p:nvGrpSpPr>
        <p:grpSpPr>
          <a:xfrm>
            <a:off x="391725" y="1268049"/>
            <a:ext cx="4087800" cy="2177650"/>
            <a:chOff x="129" y="992"/>
            <a:chExt cx="2575" cy="1949"/>
          </a:xfrm>
        </p:grpSpPr>
        <p:cxnSp>
          <p:nvCxnSpPr>
            <p:cNvPr id="453" name="Google Shape;453;p33"/>
            <p:cNvCxnSpPr/>
            <p:nvPr/>
          </p:nvCxnSpPr>
          <p:spPr>
            <a:xfrm>
              <a:off x="286" y="1978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54" name="Google Shape;454;p33"/>
            <p:cNvCxnSpPr/>
            <p:nvPr/>
          </p:nvCxnSpPr>
          <p:spPr>
            <a:xfrm>
              <a:off x="286" y="1815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55" name="Google Shape;455;p33"/>
            <p:cNvCxnSpPr/>
            <p:nvPr/>
          </p:nvCxnSpPr>
          <p:spPr>
            <a:xfrm>
              <a:off x="286" y="1661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33"/>
            <p:cNvCxnSpPr/>
            <p:nvPr/>
          </p:nvCxnSpPr>
          <p:spPr>
            <a:xfrm>
              <a:off x="286" y="1517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33"/>
            <p:cNvCxnSpPr/>
            <p:nvPr/>
          </p:nvCxnSpPr>
          <p:spPr>
            <a:xfrm rot="10800000">
              <a:off x="414" y="1179"/>
              <a:ext cx="0" cy="15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8" name="Google Shape;458;p33"/>
            <p:cNvCxnSpPr/>
            <p:nvPr/>
          </p:nvCxnSpPr>
          <p:spPr>
            <a:xfrm rot="10800000">
              <a:off x="1394" y="1549"/>
              <a:ext cx="0" cy="2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59" name="Google Shape;459;p33"/>
            <p:cNvSpPr txBox="1"/>
            <p:nvPr/>
          </p:nvSpPr>
          <p:spPr>
            <a:xfrm>
              <a:off x="2277" y="256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0" name="Google Shape;460;p33"/>
            <p:cNvSpPr txBox="1"/>
            <p:nvPr/>
          </p:nvSpPr>
          <p:spPr>
            <a:xfrm>
              <a:off x="206" y="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61" name="Google Shape;461;p33"/>
            <p:cNvCxnSpPr/>
            <p:nvPr/>
          </p:nvCxnSpPr>
          <p:spPr>
            <a:xfrm>
              <a:off x="286" y="2130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62" name="Google Shape;462;p33"/>
            <p:cNvCxnSpPr/>
            <p:nvPr/>
          </p:nvCxnSpPr>
          <p:spPr>
            <a:xfrm>
              <a:off x="286" y="1352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63" name="Google Shape;463;p33"/>
            <p:cNvCxnSpPr/>
            <p:nvPr/>
          </p:nvCxnSpPr>
          <p:spPr>
            <a:xfrm rot="5400000">
              <a:off x="156" y="1988"/>
              <a:ext cx="15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64" name="Google Shape;464;p33"/>
            <p:cNvCxnSpPr/>
            <p:nvPr/>
          </p:nvCxnSpPr>
          <p:spPr>
            <a:xfrm rot="5400000">
              <a:off x="1357" y="1988"/>
              <a:ext cx="15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65" name="Google Shape;465;p33"/>
            <p:cNvCxnSpPr/>
            <p:nvPr/>
          </p:nvCxnSpPr>
          <p:spPr>
            <a:xfrm flipH="1" rot="10800000">
              <a:off x="902" y="1241"/>
              <a:ext cx="1200" cy="900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466" name="Google Shape;466;p33"/>
            <p:cNvSpPr txBox="1"/>
            <p:nvPr/>
          </p:nvSpPr>
          <p:spPr>
            <a:xfrm>
              <a:off x="509" y="212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(2, 2)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33"/>
            <p:cNvSpPr txBox="1"/>
            <p:nvPr/>
          </p:nvSpPr>
          <p:spPr>
            <a:xfrm>
              <a:off x="2104" y="111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(7, 5)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8" name="Google Shape;468;p33"/>
            <p:cNvCxnSpPr/>
            <p:nvPr/>
          </p:nvCxnSpPr>
          <p:spPr>
            <a:xfrm rot="5400000">
              <a:off x="397" y="1988"/>
              <a:ext cx="15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69" name="Google Shape;469;p33"/>
            <p:cNvCxnSpPr/>
            <p:nvPr/>
          </p:nvCxnSpPr>
          <p:spPr>
            <a:xfrm rot="5400000">
              <a:off x="1117" y="1988"/>
              <a:ext cx="15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70" name="Google Shape;470;p33"/>
            <p:cNvCxnSpPr/>
            <p:nvPr/>
          </p:nvCxnSpPr>
          <p:spPr>
            <a:xfrm rot="5400000">
              <a:off x="637" y="1988"/>
              <a:ext cx="15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71" name="Google Shape;471;p33"/>
            <p:cNvCxnSpPr/>
            <p:nvPr/>
          </p:nvCxnSpPr>
          <p:spPr>
            <a:xfrm rot="5400000">
              <a:off x="877" y="1988"/>
              <a:ext cx="15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472" name="Google Shape;472;p33"/>
            <p:cNvSpPr txBox="1"/>
            <p:nvPr/>
          </p:nvSpPr>
          <p:spPr>
            <a:xfrm>
              <a:off x="817" y="264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33"/>
            <p:cNvSpPr txBox="1"/>
            <p:nvPr/>
          </p:nvSpPr>
          <p:spPr>
            <a:xfrm>
              <a:off x="1056" y="264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33"/>
            <p:cNvSpPr txBox="1"/>
            <p:nvPr/>
          </p:nvSpPr>
          <p:spPr>
            <a:xfrm>
              <a:off x="1295" y="264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33"/>
            <p:cNvSpPr txBox="1"/>
            <p:nvPr/>
          </p:nvSpPr>
          <p:spPr>
            <a:xfrm>
              <a:off x="1535" y="264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33"/>
            <p:cNvSpPr txBox="1"/>
            <p:nvPr/>
          </p:nvSpPr>
          <p:spPr>
            <a:xfrm>
              <a:off x="1774" y="264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33"/>
            <p:cNvSpPr txBox="1"/>
            <p:nvPr/>
          </p:nvSpPr>
          <p:spPr>
            <a:xfrm>
              <a:off x="2014" y="264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1105" y="1937"/>
              <a:ext cx="0" cy="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1346" y="1785"/>
              <a:ext cx="0" cy="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33"/>
            <p:cNvSpPr/>
            <p:nvPr/>
          </p:nvSpPr>
          <p:spPr>
            <a:xfrm>
              <a:off x="1587" y="1631"/>
              <a:ext cx="0" cy="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33"/>
            <p:cNvSpPr/>
            <p:nvPr/>
          </p:nvSpPr>
          <p:spPr>
            <a:xfrm>
              <a:off x="1827" y="1478"/>
              <a:ext cx="0" cy="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33"/>
            <p:cNvSpPr txBox="1"/>
            <p:nvPr/>
          </p:nvSpPr>
          <p:spPr>
            <a:xfrm>
              <a:off x="129" y="201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33"/>
            <p:cNvSpPr txBox="1"/>
            <p:nvPr/>
          </p:nvSpPr>
          <p:spPr>
            <a:xfrm>
              <a:off x="138" y="123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84" name="Google Shape;48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1463" y="1557338"/>
            <a:ext cx="1696639" cy="773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53063" y="2395538"/>
            <a:ext cx="1996680" cy="773906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3"/>
          <p:cNvSpPr txBox="1"/>
          <p:nvPr>
            <p:ph idx="1" type="body"/>
          </p:nvPr>
        </p:nvSpPr>
        <p:spPr>
          <a:xfrm>
            <a:off x="4407263" y="1214388"/>
            <a:ext cx="42513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work out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/>
              <a:t> and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"/>
              <a:t>:</a:t>
            </a:r>
            <a:endParaRPr/>
          </a:p>
        </p:txBody>
      </p:sp>
      <p:sp>
        <p:nvSpPr>
          <p:cNvPr id="487" name="Google Shape;487;p33"/>
          <p:cNvSpPr/>
          <p:nvPr/>
        </p:nvSpPr>
        <p:spPr>
          <a:xfrm>
            <a:off x="272250" y="3281178"/>
            <a:ext cx="85995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for each </a:t>
            </a:r>
            <a:r>
              <a:rPr b="0" i="1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value work out the </a:t>
            </a:r>
            <a:r>
              <a:rPr b="0" i="1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value: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8" name="Google Shape;48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6825" y="3668316"/>
            <a:ext cx="2316955" cy="719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51375" y="3658791"/>
            <a:ext cx="2340767" cy="71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65238" y="4436269"/>
            <a:ext cx="2340767" cy="71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64075" y="4395788"/>
            <a:ext cx="2363391" cy="719138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Very Simple Solution (cont…)</a:t>
            </a:r>
            <a:endParaRPr/>
          </a:p>
        </p:txBody>
      </p:sp>
      <p:sp>
        <p:nvSpPr>
          <p:cNvPr id="498" name="Google Shape;498;p34"/>
          <p:cNvSpPr txBox="1"/>
          <p:nvPr>
            <p:ph idx="1" type="body"/>
          </p:nvPr>
        </p:nvSpPr>
        <p:spPr>
          <a:xfrm>
            <a:off x="628650" y="1268050"/>
            <a:ext cx="7886700" cy="3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just round off the results and turn on these pixels to draw </a:t>
            </a:r>
            <a:br>
              <a:rPr lang="en"/>
            </a:br>
            <a:r>
              <a:rPr lang="en"/>
              <a:t>our line</a:t>
            </a:r>
            <a:endParaRPr/>
          </a:p>
        </p:txBody>
      </p:sp>
      <p:cxnSp>
        <p:nvCxnSpPr>
          <p:cNvPr id="499" name="Google Shape;499;p34"/>
          <p:cNvCxnSpPr/>
          <p:nvPr/>
        </p:nvCxnSpPr>
        <p:spPr>
          <a:xfrm rot="10800000">
            <a:off x="1612900" y="1945416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34"/>
          <p:cNvCxnSpPr/>
          <p:nvPr/>
        </p:nvCxnSpPr>
        <p:spPr>
          <a:xfrm rot="10800000">
            <a:off x="1998663" y="1945416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34"/>
          <p:cNvCxnSpPr/>
          <p:nvPr/>
        </p:nvCxnSpPr>
        <p:spPr>
          <a:xfrm rot="10800000">
            <a:off x="2382838" y="1945416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34"/>
          <p:cNvCxnSpPr/>
          <p:nvPr/>
        </p:nvCxnSpPr>
        <p:spPr>
          <a:xfrm rot="10800000">
            <a:off x="2762250" y="1945416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34"/>
          <p:cNvCxnSpPr/>
          <p:nvPr/>
        </p:nvCxnSpPr>
        <p:spPr>
          <a:xfrm rot="10800000">
            <a:off x="3146425" y="1945416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34"/>
          <p:cNvCxnSpPr/>
          <p:nvPr/>
        </p:nvCxnSpPr>
        <p:spPr>
          <a:xfrm rot="10800000">
            <a:off x="3525838" y="1945416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34"/>
          <p:cNvCxnSpPr/>
          <p:nvPr/>
        </p:nvCxnSpPr>
        <p:spPr>
          <a:xfrm rot="10800000">
            <a:off x="3910013" y="1945416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34"/>
          <p:cNvCxnSpPr/>
          <p:nvPr/>
        </p:nvCxnSpPr>
        <p:spPr>
          <a:xfrm rot="10800000">
            <a:off x="4289425" y="1945416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34"/>
          <p:cNvCxnSpPr/>
          <p:nvPr/>
        </p:nvCxnSpPr>
        <p:spPr>
          <a:xfrm rot="10800000">
            <a:off x="2761389" y="371147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34"/>
          <p:cNvCxnSpPr/>
          <p:nvPr/>
        </p:nvCxnSpPr>
        <p:spPr>
          <a:xfrm rot="10800000">
            <a:off x="2761389" y="660468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34"/>
          <p:cNvCxnSpPr/>
          <p:nvPr/>
        </p:nvCxnSpPr>
        <p:spPr>
          <a:xfrm rot="10800000">
            <a:off x="2761389" y="948600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34"/>
          <p:cNvCxnSpPr/>
          <p:nvPr/>
        </p:nvCxnSpPr>
        <p:spPr>
          <a:xfrm rot="10800000">
            <a:off x="2761389" y="1233159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34"/>
          <p:cNvCxnSpPr/>
          <p:nvPr/>
        </p:nvCxnSpPr>
        <p:spPr>
          <a:xfrm rot="10800000">
            <a:off x="2761389" y="1521291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34"/>
          <p:cNvCxnSpPr/>
          <p:nvPr/>
        </p:nvCxnSpPr>
        <p:spPr>
          <a:xfrm rot="10800000">
            <a:off x="2761389" y="1805850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34"/>
          <p:cNvCxnSpPr/>
          <p:nvPr/>
        </p:nvCxnSpPr>
        <p:spPr>
          <a:xfrm rot="10800000">
            <a:off x="2761389" y="2093981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34"/>
          <p:cNvCxnSpPr/>
          <p:nvPr/>
        </p:nvCxnSpPr>
        <p:spPr>
          <a:xfrm rot="10800000">
            <a:off x="2761389" y="2378541"/>
            <a:ext cx="0" cy="362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" name="Google Shape;515;p34"/>
          <p:cNvSpPr/>
          <p:nvPr/>
        </p:nvSpPr>
        <p:spPr>
          <a:xfrm>
            <a:off x="1820863" y="3499247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4"/>
          <p:cNvSpPr/>
          <p:nvPr/>
        </p:nvSpPr>
        <p:spPr>
          <a:xfrm>
            <a:off x="2219325" y="349924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4"/>
          <p:cNvSpPr/>
          <p:nvPr/>
        </p:nvSpPr>
        <p:spPr>
          <a:xfrm>
            <a:off x="4116388" y="349924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4"/>
          <p:cNvSpPr/>
          <p:nvPr/>
        </p:nvSpPr>
        <p:spPr>
          <a:xfrm>
            <a:off x="1438275" y="349805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4"/>
          <p:cNvSpPr/>
          <p:nvPr/>
        </p:nvSpPr>
        <p:spPr>
          <a:xfrm>
            <a:off x="2586038" y="349924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4"/>
          <p:cNvSpPr/>
          <p:nvPr/>
        </p:nvSpPr>
        <p:spPr>
          <a:xfrm>
            <a:off x="2984500" y="349805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4"/>
          <p:cNvSpPr/>
          <p:nvPr/>
        </p:nvSpPr>
        <p:spPr>
          <a:xfrm>
            <a:off x="3367088" y="349805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3749675" y="349805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4"/>
          <p:cNvSpPr/>
          <p:nvPr/>
        </p:nvSpPr>
        <p:spPr>
          <a:xfrm>
            <a:off x="1828800" y="3214688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4"/>
          <p:cNvSpPr/>
          <p:nvPr/>
        </p:nvSpPr>
        <p:spPr>
          <a:xfrm>
            <a:off x="2227263" y="3214688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34"/>
          <p:cNvSpPr/>
          <p:nvPr/>
        </p:nvSpPr>
        <p:spPr>
          <a:xfrm>
            <a:off x="4124325" y="3214688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4"/>
          <p:cNvSpPr/>
          <p:nvPr/>
        </p:nvSpPr>
        <p:spPr>
          <a:xfrm>
            <a:off x="1446213" y="321349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34"/>
          <p:cNvSpPr/>
          <p:nvPr/>
        </p:nvSpPr>
        <p:spPr>
          <a:xfrm>
            <a:off x="2593975" y="3214688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4"/>
          <p:cNvSpPr/>
          <p:nvPr/>
        </p:nvSpPr>
        <p:spPr>
          <a:xfrm>
            <a:off x="2992438" y="321349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4"/>
          <p:cNvSpPr/>
          <p:nvPr/>
        </p:nvSpPr>
        <p:spPr>
          <a:xfrm>
            <a:off x="3375025" y="321349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4"/>
          <p:cNvSpPr/>
          <p:nvPr/>
        </p:nvSpPr>
        <p:spPr>
          <a:xfrm>
            <a:off x="3757613" y="321349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4"/>
          <p:cNvSpPr/>
          <p:nvPr/>
        </p:nvSpPr>
        <p:spPr>
          <a:xfrm>
            <a:off x="1824038" y="293012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4"/>
          <p:cNvSpPr/>
          <p:nvPr/>
        </p:nvSpPr>
        <p:spPr>
          <a:xfrm>
            <a:off x="2222500" y="293012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34"/>
          <p:cNvSpPr/>
          <p:nvPr/>
        </p:nvSpPr>
        <p:spPr>
          <a:xfrm>
            <a:off x="4119563" y="293012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34"/>
          <p:cNvSpPr/>
          <p:nvPr/>
        </p:nvSpPr>
        <p:spPr>
          <a:xfrm>
            <a:off x="1441450" y="2928938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4"/>
          <p:cNvSpPr/>
          <p:nvPr/>
        </p:nvSpPr>
        <p:spPr>
          <a:xfrm>
            <a:off x="2589213" y="293012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4"/>
          <p:cNvSpPr/>
          <p:nvPr/>
        </p:nvSpPr>
        <p:spPr>
          <a:xfrm>
            <a:off x="2987675" y="2928938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4"/>
          <p:cNvSpPr/>
          <p:nvPr/>
        </p:nvSpPr>
        <p:spPr>
          <a:xfrm>
            <a:off x="3370263" y="2928938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4"/>
          <p:cNvSpPr/>
          <p:nvPr/>
        </p:nvSpPr>
        <p:spPr>
          <a:xfrm>
            <a:off x="3752850" y="2928938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4"/>
          <p:cNvSpPr/>
          <p:nvPr/>
        </p:nvSpPr>
        <p:spPr>
          <a:xfrm>
            <a:off x="1831975" y="264556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4"/>
          <p:cNvSpPr/>
          <p:nvPr/>
        </p:nvSpPr>
        <p:spPr>
          <a:xfrm>
            <a:off x="2230438" y="264556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4"/>
          <p:cNvSpPr/>
          <p:nvPr/>
        </p:nvSpPr>
        <p:spPr>
          <a:xfrm>
            <a:off x="4127500" y="264556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4"/>
          <p:cNvSpPr/>
          <p:nvPr/>
        </p:nvSpPr>
        <p:spPr>
          <a:xfrm>
            <a:off x="1449388" y="264437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4"/>
          <p:cNvSpPr/>
          <p:nvPr/>
        </p:nvSpPr>
        <p:spPr>
          <a:xfrm>
            <a:off x="2597150" y="264556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4"/>
          <p:cNvSpPr/>
          <p:nvPr/>
        </p:nvSpPr>
        <p:spPr>
          <a:xfrm>
            <a:off x="2995613" y="264437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4"/>
          <p:cNvSpPr/>
          <p:nvPr/>
        </p:nvSpPr>
        <p:spPr>
          <a:xfrm>
            <a:off x="3378200" y="264437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34"/>
          <p:cNvSpPr/>
          <p:nvPr/>
        </p:nvSpPr>
        <p:spPr>
          <a:xfrm>
            <a:off x="3760788" y="2644379"/>
            <a:ext cx="319200" cy="2394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34"/>
          <p:cNvSpPr/>
          <p:nvPr/>
        </p:nvSpPr>
        <p:spPr>
          <a:xfrm>
            <a:off x="1844675" y="234553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34"/>
          <p:cNvSpPr/>
          <p:nvPr/>
        </p:nvSpPr>
        <p:spPr>
          <a:xfrm>
            <a:off x="2243138" y="234553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34"/>
          <p:cNvSpPr/>
          <p:nvPr/>
        </p:nvSpPr>
        <p:spPr>
          <a:xfrm>
            <a:off x="4140200" y="234553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34"/>
          <p:cNvSpPr/>
          <p:nvPr/>
        </p:nvSpPr>
        <p:spPr>
          <a:xfrm>
            <a:off x="1462088" y="234434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34"/>
          <p:cNvSpPr/>
          <p:nvPr/>
        </p:nvSpPr>
        <p:spPr>
          <a:xfrm>
            <a:off x="2609850" y="234553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4"/>
          <p:cNvSpPr/>
          <p:nvPr/>
        </p:nvSpPr>
        <p:spPr>
          <a:xfrm>
            <a:off x="3008313" y="234434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4"/>
          <p:cNvSpPr/>
          <p:nvPr/>
        </p:nvSpPr>
        <p:spPr>
          <a:xfrm>
            <a:off x="3390900" y="234434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34"/>
          <p:cNvSpPr/>
          <p:nvPr/>
        </p:nvSpPr>
        <p:spPr>
          <a:xfrm>
            <a:off x="3773488" y="234434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4"/>
          <p:cNvSpPr/>
          <p:nvPr/>
        </p:nvSpPr>
        <p:spPr>
          <a:xfrm>
            <a:off x="1852613" y="2060972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4"/>
          <p:cNvSpPr/>
          <p:nvPr/>
        </p:nvSpPr>
        <p:spPr>
          <a:xfrm>
            <a:off x="2251075" y="2060972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4"/>
          <p:cNvSpPr/>
          <p:nvPr/>
        </p:nvSpPr>
        <p:spPr>
          <a:xfrm>
            <a:off x="4148138" y="2060972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4"/>
          <p:cNvSpPr/>
          <p:nvPr/>
        </p:nvSpPr>
        <p:spPr>
          <a:xfrm>
            <a:off x="1470025" y="205978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4"/>
          <p:cNvSpPr/>
          <p:nvPr/>
        </p:nvSpPr>
        <p:spPr>
          <a:xfrm>
            <a:off x="2617788" y="2060972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4"/>
          <p:cNvSpPr/>
          <p:nvPr/>
        </p:nvSpPr>
        <p:spPr>
          <a:xfrm>
            <a:off x="3016250" y="205978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4"/>
          <p:cNvSpPr/>
          <p:nvPr/>
        </p:nvSpPr>
        <p:spPr>
          <a:xfrm>
            <a:off x="3398838" y="205978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4"/>
          <p:cNvSpPr/>
          <p:nvPr/>
        </p:nvSpPr>
        <p:spPr>
          <a:xfrm>
            <a:off x="3781425" y="2059781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34"/>
          <p:cNvSpPr/>
          <p:nvPr/>
        </p:nvSpPr>
        <p:spPr>
          <a:xfrm>
            <a:off x="1812925" y="407551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34"/>
          <p:cNvSpPr/>
          <p:nvPr/>
        </p:nvSpPr>
        <p:spPr>
          <a:xfrm>
            <a:off x="2211388" y="407551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4"/>
          <p:cNvSpPr/>
          <p:nvPr/>
        </p:nvSpPr>
        <p:spPr>
          <a:xfrm>
            <a:off x="4108450" y="407551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4"/>
          <p:cNvSpPr/>
          <p:nvPr/>
        </p:nvSpPr>
        <p:spPr>
          <a:xfrm>
            <a:off x="1430338" y="407431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4"/>
          <p:cNvSpPr/>
          <p:nvPr/>
        </p:nvSpPr>
        <p:spPr>
          <a:xfrm>
            <a:off x="2578100" y="407551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4"/>
          <p:cNvSpPr/>
          <p:nvPr/>
        </p:nvSpPr>
        <p:spPr>
          <a:xfrm>
            <a:off x="2976563" y="407431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4"/>
          <p:cNvSpPr/>
          <p:nvPr/>
        </p:nvSpPr>
        <p:spPr>
          <a:xfrm>
            <a:off x="3359150" y="407431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4"/>
          <p:cNvSpPr/>
          <p:nvPr/>
        </p:nvSpPr>
        <p:spPr>
          <a:xfrm>
            <a:off x="3741738" y="4074319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4"/>
          <p:cNvSpPr/>
          <p:nvPr/>
        </p:nvSpPr>
        <p:spPr>
          <a:xfrm>
            <a:off x="1820863" y="379095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4"/>
          <p:cNvSpPr/>
          <p:nvPr/>
        </p:nvSpPr>
        <p:spPr>
          <a:xfrm>
            <a:off x="2219325" y="379095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4"/>
          <p:cNvSpPr/>
          <p:nvPr/>
        </p:nvSpPr>
        <p:spPr>
          <a:xfrm>
            <a:off x="4116388" y="379095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4"/>
          <p:cNvSpPr/>
          <p:nvPr/>
        </p:nvSpPr>
        <p:spPr>
          <a:xfrm>
            <a:off x="1438275" y="378976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4"/>
          <p:cNvSpPr/>
          <p:nvPr/>
        </p:nvSpPr>
        <p:spPr>
          <a:xfrm>
            <a:off x="2586038" y="379095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4"/>
          <p:cNvSpPr/>
          <p:nvPr/>
        </p:nvSpPr>
        <p:spPr>
          <a:xfrm>
            <a:off x="2984500" y="378976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4"/>
          <p:cNvSpPr/>
          <p:nvPr/>
        </p:nvSpPr>
        <p:spPr>
          <a:xfrm>
            <a:off x="3367088" y="378976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4"/>
          <p:cNvSpPr/>
          <p:nvPr/>
        </p:nvSpPr>
        <p:spPr>
          <a:xfrm>
            <a:off x="3749675" y="3789760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9" name="Google Shape;579;p34"/>
          <p:cNvCxnSpPr/>
          <p:nvPr/>
        </p:nvCxnSpPr>
        <p:spPr>
          <a:xfrm rot="10800000">
            <a:off x="1235075" y="1937081"/>
            <a:ext cx="0" cy="244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0" name="Google Shape;580;p34"/>
          <p:cNvSpPr/>
          <p:nvPr/>
        </p:nvSpPr>
        <p:spPr>
          <a:xfrm>
            <a:off x="1060450" y="3489722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4"/>
          <p:cNvSpPr/>
          <p:nvPr/>
        </p:nvSpPr>
        <p:spPr>
          <a:xfrm>
            <a:off x="1068388" y="3205163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4"/>
          <p:cNvSpPr/>
          <p:nvPr/>
        </p:nvSpPr>
        <p:spPr>
          <a:xfrm>
            <a:off x="1063625" y="2920604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4"/>
          <p:cNvSpPr/>
          <p:nvPr/>
        </p:nvSpPr>
        <p:spPr>
          <a:xfrm>
            <a:off x="1071563" y="2636044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4"/>
          <p:cNvSpPr/>
          <p:nvPr/>
        </p:nvSpPr>
        <p:spPr>
          <a:xfrm>
            <a:off x="1084263" y="2336006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4"/>
          <p:cNvSpPr/>
          <p:nvPr/>
        </p:nvSpPr>
        <p:spPr>
          <a:xfrm>
            <a:off x="1092200" y="2051447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4"/>
          <p:cNvSpPr/>
          <p:nvPr/>
        </p:nvSpPr>
        <p:spPr>
          <a:xfrm>
            <a:off x="1052513" y="406598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4"/>
          <p:cNvSpPr/>
          <p:nvPr/>
        </p:nvSpPr>
        <p:spPr>
          <a:xfrm>
            <a:off x="1060450" y="3781425"/>
            <a:ext cx="319200" cy="239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8" name="Google Shape;588;p34"/>
          <p:cNvCxnSpPr/>
          <p:nvPr/>
        </p:nvCxnSpPr>
        <p:spPr>
          <a:xfrm flipH="1" rot="10800000">
            <a:off x="1985963" y="2760919"/>
            <a:ext cx="1938300" cy="856200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  <p:pic>
        <p:nvPicPr>
          <p:cNvPr id="589" name="Google Shape;58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6800" y="1829991"/>
            <a:ext cx="2225280" cy="71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675" y="2541985"/>
            <a:ext cx="2201465" cy="719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76800" y="3252788"/>
            <a:ext cx="2225280" cy="71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76800" y="3963591"/>
            <a:ext cx="2249090" cy="719138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34"/>
          <p:cNvSpPr txBox="1"/>
          <p:nvPr/>
        </p:nvSpPr>
        <p:spPr>
          <a:xfrm>
            <a:off x="1082675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4"/>
          <p:cNvSpPr txBox="1"/>
          <p:nvPr/>
        </p:nvSpPr>
        <p:spPr>
          <a:xfrm>
            <a:off x="1463675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4"/>
          <p:cNvSpPr txBox="1"/>
          <p:nvPr/>
        </p:nvSpPr>
        <p:spPr>
          <a:xfrm>
            <a:off x="1846263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4"/>
          <p:cNvSpPr txBox="1"/>
          <p:nvPr/>
        </p:nvSpPr>
        <p:spPr>
          <a:xfrm>
            <a:off x="2228850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4"/>
          <p:cNvSpPr txBox="1"/>
          <p:nvPr/>
        </p:nvSpPr>
        <p:spPr>
          <a:xfrm>
            <a:off x="2611438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4"/>
          <p:cNvSpPr txBox="1"/>
          <p:nvPr/>
        </p:nvSpPr>
        <p:spPr>
          <a:xfrm>
            <a:off x="2994025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4"/>
          <p:cNvSpPr txBox="1"/>
          <p:nvPr/>
        </p:nvSpPr>
        <p:spPr>
          <a:xfrm>
            <a:off x="3376613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4"/>
          <p:cNvSpPr txBox="1"/>
          <p:nvPr/>
        </p:nvSpPr>
        <p:spPr>
          <a:xfrm>
            <a:off x="3759200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4"/>
          <p:cNvSpPr txBox="1"/>
          <p:nvPr/>
        </p:nvSpPr>
        <p:spPr>
          <a:xfrm>
            <a:off x="4141788" y="436840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4"/>
          <p:cNvSpPr txBox="1"/>
          <p:nvPr/>
        </p:nvSpPr>
        <p:spPr>
          <a:xfrm>
            <a:off x="674688" y="4061222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4"/>
          <p:cNvSpPr txBox="1"/>
          <p:nvPr/>
        </p:nvSpPr>
        <p:spPr>
          <a:xfrm>
            <a:off x="674688" y="3769519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4"/>
          <p:cNvSpPr txBox="1"/>
          <p:nvPr/>
        </p:nvSpPr>
        <p:spPr>
          <a:xfrm>
            <a:off x="674688" y="347424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4"/>
          <p:cNvSpPr txBox="1"/>
          <p:nvPr/>
        </p:nvSpPr>
        <p:spPr>
          <a:xfrm>
            <a:off x="674688" y="3205163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4"/>
          <p:cNvSpPr txBox="1"/>
          <p:nvPr/>
        </p:nvSpPr>
        <p:spPr>
          <a:xfrm>
            <a:off x="674688" y="2906316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4"/>
          <p:cNvSpPr txBox="1"/>
          <p:nvPr/>
        </p:nvSpPr>
        <p:spPr>
          <a:xfrm>
            <a:off x="674688" y="261937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4"/>
          <p:cNvSpPr txBox="1"/>
          <p:nvPr/>
        </p:nvSpPr>
        <p:spPr>
          <a:xfrm>
            <a:off x="674688" y="233838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4"/>
          <p:cNvSpPr txBox="1"/>
          <p:nvPr/>
        </p:nvSpPr>
        <p:spPr>
          <a:xfrm>
            <a:off x="674688" y="203358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4"/>
          <p:cNvSpPr/>
          <p:nvPr/>
        </p:nvSpPr>
        <p:spPr>
          <a:xfrm>
            <a:off x="2322513" y="3380185"/>
            <a:ext cx="155700" cy="1215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11" name="Google Shape;611;p34"/>
          <p:cNvGraphicFramePr/>
          <p:nvPr/>
        </p:nvGraphicFramePr>
        <p:xfrm>
          <a:off x="7932388" y="13948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{692C326D-3A23-4CD7-BF3E-AB7A91FF9D0C}</a:tableStyleId>
              </a:tblPr>
              <a:tblGrid>
                <a:gridCol w="1108075"/>
              </a:tblGrid>
              <a:tr h="65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Pixel</a:t>
                      </a:r>
                      <a:endParaRPr sz="1100"/>
                    </a:p>
                  </a:txBody>
                  <a:tcPr marT="34300" marB="34300" marR="91450" marL="91450" anchor="ctr"/>
                </a:tc>
              </a:tr>
              <a:tr h="65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(3, 3)</a:t>
                      </a:r>
                      <a:endParaRPr sz="1100"/>
                    </a:p>
                  </a:txBody>
                  <a:tcPr marT="34300" marB="34300" marR="91450" marL="91450" anchor="ctr"/>
                </a:tc>
              </a:tr>
              <a:tr h="65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(4,3)</a:t>
                      </a:r>
                      <a:endParaRPr sz="1100"/>
                    </a:p>
                  </a:txBody>
                  <a:tcPr marT="34300" marB="34300" marR="91450" marL="91450" anchor="ctr"/>
                </a:tc>
              </a:tr>
              <a:tr h="65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(5,4)</a:t>
                      </a:r>
                      <a:endParaRPr sz="1100"/>
                    </a:p>
                  </a:txBody>
                  <a:tcPr marT="34300" marB="34300" marR="91450" marL="91450" anchor="ctr"/>
                </a:tc>
              </a:tr>
              <a:tr h="65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(6,4)</a:t>
                      </a:r>
                      <a:endParaRPr sz="1100"/>
                    </a:p>
                  </a:txBody>
                  <a:tcPr marT="34300" marB="34300" marR="91450" marL="91450" anchor="ctr"/>
                </a:tc>
              </a:tr>
            </a:tbl>
          </a:graphicData>
        </a:graphic>
      </p:graphicFrame>
      <p:sp>
        <p:nvSpPr>
          <p:cNvPr id="612" name="Google Shape;612;p34"/>
          <p:cNvSpPr/>
          <p:nvPr/>
        </p:nvSpPr>
        <p:spPr>
          <a:xfrm>
            <a:off x="2678113" y="3232547"/>
            <a:ext cx="155700" cy="1215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4"/>
          <p:cNvSpPr/>
          <p:nvPr/>
        </p:nvSpPr>
        <p:spPr>
          <a:xfrm>
            <a:off x="3078163" y="3042047"/>
            <a:ext cx="155700" cy="1215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Very Simple Solution (cont…)</a:t>
            </a:r>
            <a:endParaRPr/>
          </a:p>
        </p:txBody>
      </p:sp>
      <p:sp>
        <p:nvSpPr>
          <p:cNvPr id="620" name="Google Shape;620;p3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However, this approach is just way too slow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In particular look out for:</a:t>
            </a:r>
            <a:endParaRPr/>
          </a:p>
          <a:p>
            <a:pPr indent="-285750" lvl="1" marL="827088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"/>
              <a:t>The equation</a:t>
            </a:r>
            <a:r>
              <a:rPr lang="en" sz="700"/>
              <a:t> </a:t>
            </a:r>
            <a:r>
              <a:rPr i="1" lang="en" sz="2100">
                <a:latin typeface="Times New Roman"/>
                <a:ea typeface="Times New Roman"/>
                <a:cs typeface="Times New Roman"/>
                <a:sym typeface="Times New Roman"/>
              </a:rPr>
              <a:t>y = mx + b</a:t>
            </a:r>
            <a:r>
              <a:rPr lang="en"/>
              <a:t> requires the multiplication of </a:t>
            </a:r>
            <a:r>
              <a:rPr i="1" lang="en" sz="22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/>
              <a:t> by </a:t>
            </a:r>
            <a:r>
              <a:rPr i="1" lang="en" sz="3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  <a:p>
            <a:pPr indent="-285750" lvl="1" marL="827088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"/>
              <a:t>Rounding off the resulting </a:t>
            </a:r>
            <a:r>
              <a:rPr i="1" lang="en" sz="3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/>
              <a:t> coordinates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We need a faster solution</a:t>
            </a:r>
            <a:endParaRPr/>
          </a:p>
        </p:txBody>
      </p:sp>
      <p:sp>
        <p:nvSpPr>
          <p:cNvPr id="621" name="Google Shape;621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DDA Algorithm</a:t>
            </a:r>
            <a:endParaRPr/>
          </a:p>
        </p:txBody>
      </p:sp>
      <p:sp>
        <p:nvSpPr>
          <p:cNvPr id="627" name="Google Shape;627;p36"/>
          <p:cNvSpPr txBox="1"/>
          <p:nvPr>
            <p:ph idx="1" type="body"/>
          </p:nvPr>
        </p:nvSpPr>
        <p:spPr>
          <a:xfrm>
            <a:off x="574925" y="1561550"/>
            <a:ext cx="4921200" cy="4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i="1" lang="en"/>
              <a:t>digital differential analyzer</a:t>
            </a:r>
            <a:r>
              <a:rPr lang="en"/>
              <a:t> (DDA) algorithm takes an incremental approach in order to speed up scan conversion</a:t>
            </a:r>
            <a:endParaRPr/>
          </a:p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lang="en"/>
              <a:t>Simply calculate </a:t>
            </a:r>
            <a:r>
              <a:rPr i="1" lang="en" sz="3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-25000" i="1" lang="en" sz="3600">
                <a:latin typeface="Times New Roman"/>
                <a:ea typeface="Times New Roman"/>
                <a:cs typeface="Times New Roman"/>
                <a:sym typeface="Times New Roman"/>
              </a:rPr>
              <a:t>k+1</a:t>
            </a:r>
            <a:r>
              <a:rPr lang="en"/>
              <a:t> based on </a:t>
            </a:r>
            <a:r>
              <a:rPr i="1" lang="en" sz="3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-25000" i="1" lang="en" sz="36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i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28" name="Google Shape;628;p36"/>
          <p:cNvPicPr preferRelativeResize="0"/>
          <p:nvPr/>
        </p:nvPicPr>
        <p:blipFill rotWithShape="1">
          <a:blip r:embed="rId3">
            <a:alphaModFix/>
          </a:blip>
          <a:srcRect b="20027" l="8101" r="18450" t="6347"/>
          <a:stretch/>
        </p:blipFill>
        <p:spPr>
          <a:xfrm>
            <a:off x="5863775" y="1319116"/>
            <a:ext cx="2591991" cy="1851421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36"/>
          <p:cNvSpPr txBox="1"/>
          <p:nvPr/>
        </p:nvSpPr>
        <p:spPr>
          <a:xfrm>
            <a:off x="5548188" y="3221600"/>
            <a:ext cx="35958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original differential analyzer was a physical machine developed by Vannevar Bush at MIT in the 1930’s in order to solve ordinary differential equations.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DDA Algorithm (cont…)</a:t>
            </a:r>
            <a:endParaRPr/>
          </a:p>
        </p:txBody>
      </p:sp>
      <p:sp>
        <p:nvSpPr>
          <p:cNvPr id="636" name="Google Shape;636;p37"/>
          <p:cNvSpPr txBox="1"/>
          <p:nvPr>
            <p:ph idx="1" type="body"/>
          </p:nvPr>
        </p:nvSpPr>
        <p:spPr>
          <a:xfrm>
            <a:off x="628650" y="2032450"/>
            <a:ext cx="8275500" cy="4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 the list of points that we determined for the line in our previous example: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 sz="2800"/>
              <a:t>(2, 2), (3, 2</a:t>
            </a:r>
            <a:r>
              <a:rPr baseline="30000" lang="en" sz="2800"/>
              <a:t>3</a:t>
            </a:r>
            <a:r>
              <a:rPr lang="en" sz="2800"/>
              <a:t>/</a:t>
            </a:r>
            <a:r>
              <a:rPr baseline="-25000" lang="en" sz="2800"/>
              <a:t>5</a:t>
            </a:r>
            <a:r>
              <a:rPr lang="en" sz="2800"/>
              <a:t>), (4, 3</a:t>
            </a:r>
            <a:r>
              <a:rPr baseline="30000" lang="en" sz="2800"/>
              <a:t>1</a:t>
            </a:r>
            <a:r>
              <a:rPr lang="en" sz="2800"/>
              <a:t>/</a:t>
            </a:r>
            <a:r>
              <a:rPr baseline="-25000" lang="en" sz="2800"/>
              <a:t>5</a:t>
            </a:r>
            <a:r>
              <a:rPr lang="en" sz="2800"/>
              <a:t>), (5, 3</a:t>
            </a:r>
            <a:r>
              <a:rPr baseline="30000" lang="en" sz="2800"/>
              <a:t>4</a:t>
            </a:r>
            <a:r>
              <a:rPr lang="en" sz="2800"/>
              <a:t>/</a:t>
            </a:r>
            <a:r>
              <a:rPr baseline="-25000" lang="en" sz="2800"/>
              <a:t>5</a:t>
            </a:r>
            <a:r>
              <a:rPr lang="en" sz="2800"/>
              <a:t>), (6, 4</a:t>
            </a:r>
            <a:r>
              <a:rPr baseline="30000" lang="en" sz="2800"/>
              <a:t>2</a:t>
            </a:r>
            <a:r>
              <a:rPr lang="en" sz="2800"/>
              <a:t>/</a:t>
            </a:r>
            <a:r>
              <a:rPr baseline="-25000" lang="en" sz="2800"/>
              <a:t>5</a:t>
            </a:r>
            <a:r>
              <a:rPr lang="en" sz="2800"/>
              <a:t>), (7, 5)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Notice that as the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/>
              <a:t> coordinates go up by one, the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/>
              <a:t> coordinates simply go up by the slope of the line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This is the key insight in the DDA algorithm</a:t>
            </a:r>
            <a:endParaRPr/>
          </a:p>
        </p:txBody>
      </p:sp>
      <p:sp>
        <p:nvSpPr>
          <p:cNvPr id="637" name="Google Shape;637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DDA Algorithm (cont…)</a:t>
            </a:r>
            <a:endParaRPr/>
          </a:p>
        </p:txBody>
      </p:sp>
      <p:sp>
        <p:nvSpPr>
          <p:cNvPr id="643" name="Google Shape;643;p38"/>
          <p:cNvSpPr txBox="1"/>
          <p:nvPr>
            <p:ph idx="1" type="body"/>
          </p:nvPr>
        </p:nvSpPr>
        <p:spPr>
          <a:xfrm>
            <a:off x="529650" y="1443825"/>
            <a:ext cx="8686800" cy="4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the slope of the line is between -1 and 1 begin at the first point in the line and, by incrementing the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/>
              <a:t> coordinate by 1, calculate the corresponding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/>
              <a:t> coordinates as follows: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When the slope is outside these limits, increment the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/>
              <a:t> coordinate by 1 and calculate the corresponding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/>
              <a:t> coordinates as follows:</a:t>
            </a:r>
            <a:endParaRPr/>
          </a:p>
        </p:txBody>
      </p:sp>
      <p:pic>
        <p:nvPicPr>
          <p:cNvPr id="644" name="Google Shape;64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6500" y="2289566"/>
            <a:ext cx="2070498" cy="564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5950" y="3785406"/>
            <a:ext cx="2070496" cy="971549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DDA Algorithm Example</a:t>
            </a:r>
            <a:endParaRPr/>
          </a:p>
        </p:txBody>
      </p:sp>
      <p:sp>
        <p:nvSpPr>
          <p:cNvPr id="652" name="Google Shape;652;p3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try out the following examples:</a:t>
            </a:r>
            <a:endParaRPr/>
          </a:p>
        </p:txBody>
      </p:sp>
      <p:grpSp>
        <p:nvGrpSpPr>
          <p:cNvPr id="653" name="Google Shape;653;p39"/>
          <p:cNvGrpSpPr/>
          <p:nvPr/>
        </p:nvGrpSpPr>
        <p:grpSpPr>
          <a:xfrm>
            <a:off x="673100" y="1597819"/>
            <a:ext cx="4087813" cy="3018234"/>
            <a:chOff x="424" y="1342"/>
            <a:chExt cx="2575" cy="2535"/>
          </a:xfrm>
        </p:grpSpPr>
        <p:cxnSp>
          <p:nvCxnSpPr>
            <p:cNvPr id="654" name="Google Shape;654;p39"/>
            <p:cNvCxnSpPr/>
            <p:nvPr/>
          </p:nvCxnSpPr>
          <p:spPr>
            <a:xfrm rot="10800000">
              <a:off x="709" y="1515"/>
              <a:ext cx="0" cy="2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55" name="Google Shape;655;p39"/>
            <p:cNvCxnSpPr/>
            <p:nvPr/>
          </p:nvCxnSpPr>
          <p:spPr>
            <a:xfrm rot="10800000">
              <a:off x="1689" y="2485"/>
              <a:ext cx="0" cy="2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56" name="Google Shape;656;p39"/>
            <p:cNvSpPr txBox="1"/>
            <p:nvPr/>
          </p:nvSpPr>
          <p:spPr>
            <a:xfrm>
              <a:off x="2572" y="350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7" name="Google Shape;657;p39"/>
            <p:cNvSpPr txBox="1"/>
            <p:nvPr/>
          </p:nvSpPr>
          <p:spPr>
            <a:xfrm>
              <a:off x="509" y="134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58" name="Google Shape;658;p39"/>
            <p:cNvCxnSpPr/>
            <p:nvPr/>
          </p:nvCxnSpPr>
          <p:spPr>
            <a:xfrm>
              <a:off x="581" y="3066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59" name="Google Shape;659;p39"/>
            <p:cNvCxnSpPr/>
            <p:nvPr/>
          </p:nvCxnSpPr>
          <p:spPr>
            <a:xfrm>
              <a:off x="581" y="2288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60" name="Google Shape;660;p39"/>
            <p:cNvCxnSpPr/>
            <p:nvPr/>
          </p:nvCxnSpPr>
          <p:spPr>
            <a:xfrm rot="5400000">
              <a:off x="152" y="2522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61" name="Google Shape;661;p39"/>
            <p:cNvCxnSpPr/>
            <p:nvPr/>
          </p:nvCxnSpPr>
          <p:spPr>
            <a:xfrm rot="5400000">
              <a:off x="1352" y="2522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62" name="Google Shape;662;p39"/>
            <p:cNvCxnSpPr/>
            <p:nvPr/>
          </p:nvCxnSpPr>
          <p:spPr>
            <a:xfrm flipH="1" rot="10800000">
              <a:off x="1197" y="2177"/>
              <a:ext cx="1200" cy="900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663" name="Google Shape;663;p39"/>
            <p:cNvSpPr txBox="1"/>
            <p:nvPr/>
          </p:nvSpPr>
          <p:spPr>
            <a:xfrm>
              <a:off x="804" y="305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(2, 2)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39"/>
            <p:cNvSpPr txBox="1"/>
            <p:nvPr/>
          </p:nvSpPr>
          <p:spPr>
            <a:xfrm>
              <a:off x="2399" y="2047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(7, 5)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39"/>
            <p:cNvSpPr txBox="1"/>
            <p:nvPr/>
          </p:nvSpPr>
          <p:spPr>
            <a:xfrm>
              <a:off x="1112" y="357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39"/>
            <p:cNvSpPr txBox="1"/>
            <p:nvPr/>
          </p:nvSpPr>
          <p:spPr>
            <a:xfrm>
              <a:off x="2309" y="357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39"/>
            <p:cNvSpPr txBox="1"/>
            <p:nvPr/>
          </p:nvSpPr>
          <p:spPr>
            <a:xfrm>
              <a:off x="424" y="295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39"/>
            <p:cNvSpPr txBox="1"/>
            <p:nvPr/>
          </p:nvSpPr>
          <p:spPr>
            <a:xfrm>
              <a:off x="433" y="2173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669" name="Google Shape;669;p39"/>
          <p:cNvGraphicFramePr/>
          <p:nvPr/>
        </p:nvGraphicFramePr>
        <p:xfrm>
          <a:off x="4702175" y="18442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{692C326D-3A23-4CD7-BF3E-AB7A91FF9D0C}</a:tableStyleId>
              </a:tblPr>
              <a:tblGrid>
                <a:gridCol w="1083875"/>
                <a:gridCol w="1083875"/>
                <a:gridCol w="1083875"/>
                <a:gridCol w="1083875"/>
              </a:tblGrid>
              <a:tr h="5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x(+1)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y(+m)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y(roundoff)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pixel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3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2.6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3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(3, 3)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3.2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3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(4, 3)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5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3.8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(5, 4)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6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4.4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(6, 4)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</a:tbl>
          </a:graphicData>
        </a:graphic>
      </p:graphicFrame>
      <p:pic>
        <p:nvPicPr>
          <p:cNvPr id="670" name="Google Shape;67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950" y="4381500"/>
            <a:ext cx="2128840" cy="694135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6" name="Google Shape;676;p40"/>
          <p:cNvCxnSpPr/>
          <p:nvPr/>
        </p:nvCxnSpPr>
        <p:spPr>
          <a:xfrm>
            <a:off x="4578313" y="-189347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40"/>
          <p:cNvCxnSpPr/>
          <p:nvPr/>
        </p:nvCxnSpPr>
        <p:spPr>
          <a:xfrm>
            <a:off x="4578313" y="407156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40"/>
          <p:cNvCxnSpPr/>
          <p:nvPr/>
        </p:nvCxnSpPr>
        <p:spPr>
          <a:xfrm>
            <a:off x="4578313" y="1001278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40"/>
          <p:cNvCxnSpPr/>
          <p:nvPr/>
        </p:nvCxnSpPr>
        <p:spPr>
          <a:xfrm>
            <a:off x="4578313" y="-787041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40"/>
          <p:cNvCxnSpPr/>
          <p:nvPr/>
        </p:nvCxnSpPr>
        <p:spPr>
          <a:xfrm>
            <a:off x="1687513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40"/>
          <p:cNvCxnSpPr/>
          <p:nvPr/>
        </p:nvCxnSpPr>
        <p:spPr>
          <a:xfrm>
            <a:off x="2482850" y="1058466"/>
            <a:ext cx="0" cy="37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40"/>
          <p:cNvCxnSpPr/>
          <p:nvPr/>
        </p:nvCxnSpPr>
        <p:spPr>
          <a:xfrm>
            <a:off x="3278188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40"/>
          <p:cNvCxnSpPr/>
          <p:nvPr/>
        </p:nvCxnSpPr>
        <p:spPr>
          <a:xfrm>
            <a:off x="4070350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40"/>
          <p:cNvCxnSpPr/>
          <p:nvPr/>
        </p:nvCxnSpPr>
        <p:spPr>
          <a:xfrm>
            <a:off x="4895850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40"/>
          <p:cNvCxnSpPr/>
          <p:nvPr/>
        </p:nvCxnSpPr>
        <p:spPr>
          <a:xfrm>
            <a:off x="5691188" y="1058466"/>
            <a:ext cx="0" cy="37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40"/>
          <p:cNvCxnSpPr/>
          <p:nvPr/>
        </p:nvCxnSpPr>
        <p:spPr>
          <a:xfrm>
            <a:off x="6486525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" name="Google Shape;687;p40"/>
          <p:cNvCxnSpPr/>
          <p:nvPr/>
        </p:nvCxnSpPr>
        <p:spPr>
          <a:xfrm>
            <a:off x="7278688" y="1056085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8" name="Google Shape;688;p4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DDA Algorithm Example (cont…)</a:t>
            </a:r>
            <a:endParaRPr/>
          </a:p>
        </p:txBody>
      </p:sp>
      <p:sp>
        <p:nvSpPr>
          <p:cNvPr id="689" name="Google Shape;689;p40"/>
          <p:cNvSpPr/>
          <p:nvPr/>
        </p:nvSpPr>
        <p:spPr>
          <a:xfrm>
            <a:off x="1552575" y="311586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40"/>
          <p:cNvSpPr/>
          <p:nvPr/>
        </p:nvSpPr>
        <p:spPr>
          <a:xfrm>
            <a:off x="3948113" y="311586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40"/>
          <p:cNvSpPr/>
          <p:nvPr/>
        </p:nvSpPr>
        <p:spPr>
          <a:xfrm>
            <a:off x="2351088" y="311586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40"/>
          <p:cNvSpPr/>
          <p:nvPr/>
        </p:nvSpPr>
        <p:spPr>
          <a:xfrm>
            <a:off x="3149600" y="311586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40"/>
          <p:cNvSpPr/>
          <p:nvPr/>
        </p:nvSpPr>
        <p:spPr>
          <a:xfrm>
            <a:off x="1555750" y="37016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40"/>
          <p:cNvSpPr/>
          <p:nvPr/>
        </p:nvSpPr>
        <p:spPr>
          <a:xfrm>
            <a:off x="3951288" y="37016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40"/>
          <p:cNvSpPr/>
          <p:nvPr/>
        </p:nvSpPr>
        <p:spPr>
          <a:xfrm>
            <a:off x="2354263" y="37016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40"/>
          <p:cNvSpPr/>
          <p:nvPr/>
        </p:nvSpPr>
        <p:spPr>
          <a:xfrm>
            <a:off x="3152775" y="37016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40"/>
          <p:cNvSpPr/>
          <p:nvPr/>
        </p:nvSpPr>
        <p:spPr>
          <a:xfrm>
            <a:off x="1554163" y="430768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40"/>
          <p:cNvSpPr/>
          <p:nvPr/>
        </p:nvSpPr>
        <p:spPr>
          <a:xfrm>
            <a:off x="3949700" y="430768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40"/>
          <p:cNvSpPr/>
          <p:nvPr/>
        </p:nvSpPr>
        <p:spPr>
          <a:xfrm>
            <a:off x="2352675" y="430768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0"/>
          <p:cNvSpPr/>
          <p:nvPr/>
        </p:nvSpPr>
        <p:spPr>
          <a:xfrm>
            <a:off x="3151188" y="430768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40"/>
          <p:cNvSpPr/>
          <p:nvPr/>
        </p:nvSpPr>
        <p:spPr>
          <a:xfrm>
            <a:off x="1560513" y="25181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0"/>
          <p:cNvSpPr/>
          <p:nvPr/>
        </p:nvSpPr>
        <p:spPr>
          <a:xfrm>
            <a:off x="3956050" y="25181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0"/>
          <p:cNvSpPr/>
          <p:nvPr/>
        </p:nvSpPr>
        <p:spPr>
          <a:xfrm>
            <a:off x="2359025" y="25181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40"/>
          <p:cNvSpPr/>
          <p:nvPr/>
        </p:nvSpPr>
        <p:spPr>
          <a:xfrm>
            <a:off x="3157538" y="25181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0"/>
          <p:cNvSpPr/>
          <p:nvPr/>
        </p:nvSpPr>
        <p:spPr>
          <a:xfrm>
            <a:off x="4760913" y="311705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40"/>
          <p:cNvSpPr/>
          <p:nvPr/>
        </p:nvSpPr>
        <p:spPr>
          <a:xfrm>
            <a:off x="7156450" y="311705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40"/>
          <p:cNvSpPr/>
          <p:nvPr/>
        </p:nvSpPr>
        <p:spPr>
          <a:xfrm>
            <a:off x="5559425" y="311705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40"/>
          <p:cNvSpPr/>
          <p:nvPr/>
        </p:nvSpPr>
        <p:spPr>
          <a:xfrm>
            <a:off x="6357938" y="311705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40"/>
          <p:cNvSpPr/>
          <p:nvPr/>
        </p:nvSpPr>
        <p:spPr>
          <a:xfrm>
            <a:off x="4764088" y="37028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40"/>
          <p:cNvSpPr/>
          <p:nvPr/>
        </p:nvSpPr>
        <p:spPr>
          <a:xfrm>
            <a:off x="7159625" y="37028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40"/>
          <p:cNvSpPr/>
          <p:nvPr/>
        </p:nvSpPr>
        <p:spPr>
          <a:xfrm>
            <a:off x="5562600" y="37028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40"/>
          <p:cNvSpPr/>
          <p:nvPr/>
        </p:nvSpPr>
        <p:spPr>
          <a:xfrm>
            <a:off x="6361113" y="37028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0"/>
          <p:cNvSpPr/>
          <p:nvPr/>
        </p:nvSpPr>
        <p:spPr>
          <a:xfrm>
            <a:off x="4762500" y="43088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0"/>
          <p:cNvSpPr/>
          <p:nvPr/>
        </p:nvSpPr>
        <p:spPr>
          <a:xfrm>
            <a:off x="7158038" y="43088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0"/>
          <p:cNvSpPr/>
          <p:nvPr/>
        </p:nvSpPr>
        <p:spPr>
          <a:xfrm>
            <a:off x="5561013" y="43088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40"/>
          <p:cNvSpPr/>
          <p:nvPr/>
        </p:nvSpPr>
        <p:spPr>
          <a:xfrm>
            <a:off x="6359525" y="430887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40"/>
          <p:cNvSpPr/>
          <p:nvPr/>
        </p:nvSpPr>
        <p:spPr>
          <a:xfrm>
            <a:off x="4768850" y="25193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40"/>
          <p:cNvSpPr/>
          <p:nvPr/>
        </p:nvSpPr>
        <p:spPr>
          <a:xfrm>
            <a:off x="7164388" y="25193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40"/>
          <p:cNvSpPr/>
          <p:nvPr/>
        </p:nvSpPr>
        <p:spPr>
          <a:xfrm>
            <a:off x="5567363" y="25193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40"/>
          <p:cNvSpPr/>
          <p:nvPr/>
        </p:nvSpPr>
        <p:spPr>
          <a:xfrm>
            <a:off x="6365875" y="25193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1" name="Google Shape;721;p40"/>
          <p:cNvCxnSpPr/>
          <p:nvPr/>
        </p:nvCxnSpPr>
        <p:spPr>
          <a:xfrm>
            <a:off x="4578313" y="-1377591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" name="Google Shape;722;p40"/>
          <p:cNvCxnSpPr/>
          <p:nvPr/>
        </p:nvCxnSpPr>
        <p:spPr>
          <a:xfrm>
            <a:off x="4578313" y="-1975284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3" name="Google Shape;723;p40"/>
          <p:cNvSpPr/>
          <p:nvPr/>
        </p:nvSpPr>
        <p:spPr>
          <a:xfrm>
            <a:off x="1550988" y="19276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40"/>
          <p:cNvSpPr/>
          <p:nvPr/>
        </p:nvSpPr>
        <p:spPr>
          <a:xfrm>
            <a:off x="3946525" y="19276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40"/>
          <p:cNvSpPr/>
          <p:nvPr/>
        </p:nvSpPr>
        <p:spPr>
          <a:xfrm>
            <a:off x="2349500" y="19276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40"/>
          <p:cNvSpPr/>
          <p:nvPr/>
        </p:nvSpPr>
        <p:spPr>
          <a:xfrm>
            <a:off x="3148013" y="19276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0"/>
          <p:cNvSpPr/>
          <p:nvPr/>
        </p:nvSpPr>
        <p:spPr>
          <a:xfrm>
            <a:off x="1558925" y="132992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0"/>
          <p:cNvSpPr/>
          <p:nvPr/>
        </p:nvSpPr>
        <p:spPr>
          <a:xfrm>
            <a:off x="3954463" y="132992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0"/>
          <p:cNvSpPr/>
          <p:nvPr/>
        </p:nvSpPr>
        <p:spPr>
          <a:xfrm>
            <a:off x="2357438" y="132992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0"/>
          <p:cNvSpPr/>
          <p:nvPr/>
        </p:nvSpPr>
        <p:spPr>
          <a:xfrm>
            <a:off x="3155950" y="132992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40"/>
          <p:cNvSpPr/>
          <p:nvPr/>
        </p:nvSpPr>
        <p:spPr>
          <a:xfrm>
            <a:off x="4759325" y="192881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40"/>
          <p:cNvSpPr/>
          <p:nvPr/>
        </p:nvSpPr>
        <p:spPr>
          <a:xfrm>
            <a:off x="7154863" y="192881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40"/>
          <p:cNvSpPr/>
          <p:nvPr/>
        </p:nvSpPr>
        <p:spPr>
          <a:xfrm>
            <a:off x="5557838" y="192881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40"/>
          <p:cNvSpPr/>
          <p:nvPr/>
        </p:nvSpPr>
        <p:spPr>
          <a:xfrm>
            <a:off x="6356350" y="192881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40"/>
          <p:cNvSpPr/>
          <p:nvPr/>
        </p:nvSpPr>
        <p:spPr>
          <a:xfrm>
            <a:off x="4767263" y="133111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40"/>
          <p:cNvSpPr/>
          <p:nvPr/>
        </p:nvSpPr>
        <p:spPr>
          <a:xfrm>
            <a:off x="7162800" y="133111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40"/>
          <p:cNvSpPr/>
          <p:nvPr/>
        </p:nvSpPr>
        <p:spPr>
          <a:xfrm>
            <a:off x="5565775" y="133111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0"/>
          <p:cNvSpPr/>
          <p:nvPr/>
        </p:nvSpPr>
        <p:spPr>
          <a:xfrm>
            <a:off x="6364288" y="133111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0"/>
          <p:cNvSpPr txBox="1"/>
          <p:nvPr/>
        </p:nvSpPr>
        <p:spPr>
          <a:xfrm>
            <a:off x="911225" y="1272779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0"/>
          <p:cNvSpPr txBox="1"/>
          <p:nvPr/>
        </p:nvSpPr>
        <p:spPr>
          <a:xfrm>
            <a:off x="911225" y="4248150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40"/>
          <p:cNvSpPr txBox="1"/>
          <p:nvPr/>
        </p:nvSpPr>
        <p:spPr>
          <a:xfrm>
            <a:off x="911225" y="3650456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0"/>
          <p:cNvSpPr txBox="1"/>
          <p:nvPr/>
        </p:nvSpPr>
        <p:spPr>
          <a:xfrm>
            <a:off x="911225" y="3052763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40"/>
          <p:cNvSpPr txBox="1"/>
          <p:nvPr/>
        </p:nvSpPr>
        <p:spPr>
          <a:xfrm>
            <a:off x="911225" y="246578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40"/>
          <p:cNvSpPr txBox="1"/>
          <p:nvPr/>
        </p:nvSpPr>
        <p:spPr>
          <a:xfrm>
            <a:off x="911225" y="1864519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40"/>
          <p:cNvSpPr txBox="1"/>
          <p:nvPr/>
        </p:nvSpPr>
        <p:spPr>
          <a:xfrm>
            <a:off x="2328863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40"/>
          <p:cNvSpPr txBox="1"/>
          <p:nvPr/>
        </p:nvSpPr>
        <p:spPr>
          <a:xfrm>
            <a:off x="3122613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40"/>
          <p:cNvSpPr txBox="1"/>
          <p:nvPr/>
        </p:nvSpPr>
        <p:spPr>
          <a:xfrm>
            <a:off x="3905250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40"/>
          <p:cNvSpPr txBox="1"/>
          <p:nvPr/>
        </p:nvSpPr>
        <p:spPr>
          <a:xfrm>
            <a:off x="4738688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40"/>
          <p:cNvSpPr txBox="1"/>
          <p:nvPr/>
        </p:nvSpPr>
        <p:spPr>
          <a:xfrm>
            <a:off x="5534025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40"/>
          <p:cNvSpPr txBox="1"/>
          <p:nvPr/>
        </p:nvSpPr>
        <p:spPr>
          <a:xfrm>
            <a:off x="6330950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40"/>
          <p:cNvSpPr txBox="1"/>
          <p:nvPr/>
        </p:nvSpPr>
        <p:spPr>
          <a:xfrm>
            <a:off x="1535113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40"/>
          <p:cNvSpPr txBox="1"/>
          <p:nvPr/>
        </p:nvSpPr>
        <p:spPr>
          <a:xfrm>
            <a:off x="7116763" y="47577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3" name="Google Shape;753;p40"/>
          <p:cNvCxnSpPr/>
          <p:nvPr/>
        </p:nvCxnSpPr>
        <p:spPr>
          <a:xfrm flipH="1" rot="10800000">
            <a:off x="3278188" y="1420379"/>
            <a:ext cx="2412900" cy="2976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4" name="Google Shape;754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1"/>
          <p:cNvSpPr/>
          <p:nvPr/>
        </p:nvSpPr>
        <p:spPr>
          <a:xfrm>
            <a:off x="6432550" y="37183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0" name="Google Shape;760;p41"/>
          <p:cNvCxnSpPr/>
          <p:nvPr/>
        </p:nvCxnSpPr>
        <p:spPr>
          <a:xfrm>
            <a:off x="7080988" y="804806"/>
            <a:ext cx="0" cy="363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1" name="Google Shape;761;p4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DDA Algorithm (cont…)</a:t>
            </a:r>
            <a:endParaRPr/>
          </a:p>
        </p:txBody>
      </p:sp>
      <p:sp>
        <p:nvSpPr>
          <p:cNvPr id="762" name="Google Shape;762;p41"/>
          <p:cNvSpPr txBox="1"/>
          <p:nvPr>
            <p:ph idx="1" type="body"/>
          </p:nvPr>
        </p:nvSpPr>
        <p:spPr>
          <a:xfrm>
            <a:off x="595200" y="1537000"/>
            <a:ext cx="82296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Again the values calculated by the equations used by the DDA algorithm must be rounded to match pixel values</a:t>
            </a:r>
            <a:endParaRPr/>
          </a:p>
        </p:txBody>
      </p:sp>
      <p:cxnSp>
        <p:nvCxnSpPr>
          <p:cNvPr id="763" name="Google Shape;763;p41"/>
          <p:cNvCxnSpPr/>
          <p:nvPr/>
        </p:nvCxnSpPr>
        <p:spPr>
          <a:xfrm>
            <a:off x="1155700" y="2290763"/>
            <a:ext cx="0" cy="2474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4" name="Google Shape;764;p41"/>
          <p:cNvCxnSpPr/>
          <p:nvPr/>
        </p:nvCxnSpPr>
        <p:spPr>
          <a:xfrm>
            <a:off x="1951038" y="2307431"/>
            <a:ext cx="0" cy="247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5" name="Google Shape;765;p41"/>
          <p:cNvCxnSpPr/>
          <p:nvPr/>
        </p:nvCxnSpPr>
        <p:spPr>
          <a:xfrm>
            <a:off x="2746375" y="2321719"/>
            <a:ext cx="0" cy="2474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6" name="Google Shape;766;p41"/>
          <p:cNvCxnSpPr/>
          <p:nvPr/>
        </p:nvCxnSpPr>
        <p:spPr>
          <a:xfrm>
            <a:off x="3538538" y="2334816"/>
            <a:ext cx="0" cy="2474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7" name="Google Shape;767;p41"/>
          <p:cNvCxnSpPr/>
          <p:nvPr/>
        </p:nvCxnSpPr>
        <p:spPr>
          <a:xfrm>
            <a:off x="2453425" y="1406072"/>
            <a:ext cx="0" cy="363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8" name="Google Shape;768;p41"/>
          <p:cNvCxnSpPr/>
          <p:nvPr/>
        </p:nvCxnSpPr>
        <p:spPr>
          <a:xfrm>
            <a:off x="2431200" y="2002575"/>
            <a:ext cx="0" cy="363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9" name="Google Shape;769;p41"/>
          <p:cNvCxnSpPr/>
          <p:nvPr/>
        </p:nvCxnSpPr>
        <p:spPr>
          <a:xfrm>
            <a:off x="2412150" y="2596697"/>
            <a:ext cx="0" cy="363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0" name="Google Shape;770;p41"/>
          <p:cNvSpPr/>
          <p:nvPr/>
        </p:nvSpPr>
        <p:spPr>
          <a:xfrm>
            <a:off x="1020763" y="3132535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41"/>
          <p:cNvSpPr/>
          <p:nvPr/>
        </p:nvSpPr>
        <p:spPr>
          <a:xfrm>
            <a:off x="3416300" y="3132535"/>
            <a:ext cx="258900" cy="194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41"/>
          <p:cNvSpPr/>
          <p:nvPr/>
        </p:nvSpPr>
        <p:spPr>
          <a:xfrm>
            <a:off x="1819275" y="3132535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41"/>
          <p:cNvSpPr/>
          <p:nvPr/>
        </p:nvSpPr>
        <p:spPr>
          <a:xfrm>
            <a:off x="2617788" y="3132535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41"/>
          <p:cNvSpPr/>
          <p:nvPr/>
        </p:nvSpPr>
        <p:spPr>
          <a:xfrm>
            <a:off x="1023938" y="37183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1"/>
          <p:cNvSpPr/>
          <p:nvPr/>
        </p:nvSpPr>
        <p:spPr>
          <a:xfrm>
            <a:off x="3419475" y="3718322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41"/>
          <p:cNvSpPr/>
          <p:nvPr/>
        </p:nvSpPr>
        <p:spPr>
          <a:xfrm>
            <a:off x="1822450" y="3718322"/>
            <a:ext cx="258900" cy="194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41"/>
          <p:cNvSpPr/>
          <p:nvPr/>
        </p:nvSpPr>
        <p:spPr>
          <a:xfrm>
            <a:off x="2620963" y="3718322"/>
            <a:ext cx="258900" cy="194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41"/>
          <p:cNvSpPr/>
          <p:nvPr/>
        </p:nvSpPr>
        <p:spPr>
          <a:xfrm>
            <a:off x="1022350" y="4324350"/>
            <a:ext cx="258900" cy="194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41"/>
          <p:cNvSpPr/>
          <p:nvPr/>
        </p:nvSpPr>
        <p:spPr>
          <a:xfrm>
            <a:off x="3417888" y="43243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41"/>
          <p:cNvSpPr/>
          <p:nvPr/>
        </p:nvSpPr>
        <p:spPr>
          <a:xfrm>
            <a:off x="1820863" y="43243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41"/>
          <p:cNvSpPr/>
          <p:nvPr/>
        </p:nvSpPr>
        <p:spPr>
          <a:xfrm>
            <a:off x="2619375" y="43243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2" name="Google Shape;782;p41"/>
          <p:cNvCxnSpPr/>
          <p:nvPr/>
        </p:nvCxnSpPr>
        <p:spPr>
          <a:xfrm flipH="1" rot="10800000">
            <a:off x="411163" y="3128991"/>
            <a:ext cx="3992700" cy="1368000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3" name="Google Shape;783;p41"/>
          <p:cNvSpPr/>
          <p:nvPr/>
        </p:nvSpPr>
        <p:spPr>
          <a:xfrm>
            <a:off x="1081088" y="4181475"/>
            <a:ext cx="136500" cy="1023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41"/>
          <p:cNvSpPr/>
          <p:nvPr/>
        </p:nvSpPr>
        <p:spPr>
          <a:xfrm>
            <a:off x="1892300" y="3921919"/>
            <a:ext cx="136500" cy="1023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41"/>
          <p:cNvSpPr txBox="1"/>
          <p:nvPr/>
        </p:nvSpPr>
        <p:spPr>
          <a:xfrm>
            <a:off x="134938" y="3860006"/>
            <a:ext cx="90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86" name="Google Shape;786;p41"/>
          <p:cNvCxnSpPr/>
          <p:nvPr/>
        </p:nvCxnSpPr>
        <p:spPr>
          <a:xfrm>
            <a:off x="911225" y="4096941"/>
            <a:ext cx="168300" cy="85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7" name="Google Shape;787;p41"/>
          <p:cNvSpPr txBox="1"/>
          <p:nvPr/>
        </p:nvSpPr>
        <p:spPr>
          <a:xfrm>
            <a:off x="2274888" y="4012406"/>
            <a:ext cx="13461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+1, 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+m)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88" name="Google Shape;788;p41"/>
          <p:cNvCxnSpPr/>
          <p:nvPr/>
        </p:nvCxnSpPr>
        <p:spPr>
          <a:xfrm rot="10800000">
            <a:off x="2038225" y="4011104"/>
            <a:ext cx="231900" cy="90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9" name="Google Shape;789;p41"/>
          <p:cNvSpPr txBox="1"/>
          <p:nvPr/>
        </p:nvSpPr>
        <p:spPr>
          <a:xfrm>
            <a:off x="1430338" y="4650581"/>
            <a:ext cx="1551000" cy="41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08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round(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90" name="Google Shape;790;p41"/>
          <p:cNvCxnSpPr/>
          <p:nvPr/>
        </p:nvCxnSpPr>
        <p:spPr>
          <a:xfrm rot="10800000">
            <a:off x="1231875" y="4515966"/>
            <a:ext cx="206400" cy="200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1" name="Google Shape;791;p41"/>
          <p:cNvSpPr txBox="1"/>
          <p:nvPr/>
        </p:nvSpPr>
        <p:spPr>
          <a:xfrm>
            <a:off x="280988" y="3398044"/>
            <a:ext cx="2178000" cy="34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+1, round(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+m))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92" name="Google Shape;792;p41"/>
          <p:cNvCxnSpPr/>
          <p:nvPr/>
        </p:nvCxnSpPr>
        <p:spPr>
          <a:xfrm>
            <a:off x="1768475" y="3625454"/>
            <a:ext cx="98400" cy="99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3" name="Google Shape;793;p41"/>
          <p:cNvCxnSpPr/>
          <p:nvPr/>
        </p:nvCxnSpPr>
        <p:spPr>
          <a:xfrm>
            <a:off x="2461363" y="808379"/>
            <a:ext cx="0" cy="363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4" name="Google Shape;794;p41"/>
          <p:cNvSpPr/>
          <p:nvPr/>
        </p:nvSpPr>
        <p:spPr>
          <a:xfrm>
            <a:off x="1028700" y="253484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41"/>
          <p:cNvSpPr/>
          <p:nvPr/>
        </p:nvSpPr>
        <p:spPr>
          <a:xfrm>
            <a:off x="3424238" y="253484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41"/>
          <p:cNvSpPr/>
          <p:nvPr/>
        </p:nvSpPr>
        <p:spPr>
          <a:xfrm>
            <a:off x="1827213" y="253484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41"/>
          <p:cNvSpPr/>
          <p:nvPr/>
        </p:nvSpPr>
        <p:spPr>
          <a:xfrm>
            <a:off x="2625725" y="253484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8" name="Google Shape;798;p41"/>
          <p:cNvCxnSpPr/>
          <p:nvPr/>
        </p:nvCxnSpPr>
        <p:spPr>
          <a:xfrm>
            <a:off x="5775325" y="2287191"/>
            <a:ext cx="0" cy="2474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9" name="Google Shape;799;p41"/>
          <p:cNvCxnSpPr/>
          <p:nvPr/>
        </p:nvCxnSpPr>
        <p:spPr>
          <a:xfrm>
            <a:off x="6570663" y="2303860"/>
            <a:ext cx="0" cy="247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0" name="Google Shape;800;p41"/>
          <p:cNvCxnSpPr/>
          <p:nvPr/>
        </p:nvCxnSpPr>
        <p:spPr>
          <a:xfrm>
            <a:off x="7366000" y="2318147"/>
            <a:ext cx="0" cy="2474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1" name="Google Shape;801;p41"/>
          <p:cNvCxnSpPr/>
          <p:nvPr/>
        </p:nvCxnSpPr>
        <p:spPr>
          <a:xfrm>
            <a:off x="8158163" y="2331244"/>
            <a:ext cx="0" cy="2474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" name="Google Shape;802;p41"/>
          <p:cNvCxnSpPr/>
          <p:nvPr/>
        </p:nvCxnSpPr>
        <p:spPr>
          <a:xfrm>
            <a:off x="7073051" y="1402500"/>
            <a:ext cx="0" cy="363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3" name="Google Shape;803;p41"/>
          <p:cNvCxnSpPr/>
          <p:nvPr/>
        </p:nvCxnSpPr>
        <p:spPr>
          <a:xfrm>
            <a:off x="7050826" y="1999003"/>
            <a:ext cx="0" cy="363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4" name="Google Shape;804;p41"/>
          <p:cNvCxnSpPr/>
          <p:nvPr/>
        </p:nvCxnSpPr>
        <p:spPr>
          <a:xfrm>
            <a:off x="7031776" y="2593125"/>
            <a:ext cx="0" cy="363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5" name="Google Shape;805;p41"/>
          <p:cNvSpPr/>
          <p:nvPr/>
        </p:nvSpPr>
        <p:spPr>
          <a:xfrm>
            <a:off x="5640388" y="31289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41"/>
          <p:cNvSpPr/>
          <p:nvPr/>
        </p:nvSpPr>
        <p:spPr>
          <a:xfrm>
            <a:off x="8035925" y="31289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41"/>
          <p:cNvSpPr/>
          <p:nvPr/>
        </p:nvSpPr>
        <p:spPr>
          <a:xfrm>
            <a:off x="6438900" y="3128963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41"/>
          <p:cNvSpPr/>
          <p:nvPr/>
        </p:nvSpPr>
        <p:spPr>
          <a:xfrm>
            <a:off x="7237413" y="3128963"/>
            <a:ext cx="258900" cy="194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41"/>
          <p:cNvSpPr/>
          <p:nvPr/>
        </p:nvSpPr>
        <p:spPr>
          <a:xfrm>
            <a:off x="5643563" y="37147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41"/>
          <p:cNvSpPr/>
          <p:nvPr/>
        </p:nvSpPr>
        <p:spPr>
          <a:xfrm>
            <a:off x="8039100" y="37147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41"/>
          <p:cNvSpPr/>
          <p:nvPr/>
        </p:nvSpPr>
        <p:spPr>
          <a:xfrm>
            <a:off x="6426200" y="3725466"/>
            <a:ext cx="258900" cy="194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41"/>
          <p:cNvSpPr/>
          <p:nvPr/>
        </p:nvSpPr>
        <p:spPr>
          <a:xfrm>
            <a:off x="7240588" y="37147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41"/>
          <p:cNvSpPr/>
          <p:nvPr/>
        </p:nvSpPr>
        <p:spPr>
          <a:xfrm>
            <a:off x="5641975" y="432077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1"/>
          <p:cNvSpPr/>
          <p:nvPr/>
        </p:nvSpPr>
        <p:spPr>
          <a:xfrm>
            <a:off x="8037513" y="432077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41"/>
          <p:cNvSpPr/>
          <p:nvPr/>
        </p:nvSpPr>
        <p:spPr>
          <a:xfrm>
            <a:off x="6440488" y="4320779"/>
            <a:ext cx="258900" cy="194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41"/>
          <p:cNvSpPr/>
          <p:nvPr/>
        </p:nvSpPr>
        <p:spPr>
          <a:xfrm>
            <a:off x="7239000" y="432077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7" name="Google Shape;817;p41"/>
          <p:cNvCxnSpPr/>
          <p:nvPr/>
        </p:nvCxnSpPr>
        <p:spPr>
          <a:xfrm flipH="1">
            <a:off x="6211750" y="2231231"/>
            <a:ext cx="1630500" cy="2420400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8" name="Google Shape;818;p41"/>
          <p:cNvSpPr/>
          <p:nvPr/>
        </p:nvSpPr>
        <p:spPr>
          <a:xfrm>
            <a:off x="6302375" y="4358879"/>
            <a:ext cx="136500" cy="1023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41"/>
          <p:cNvSpPr/>
          <p:nvPr/>
        </p:nvSpPr>
        <p:spPr>
          <a:xfrm>
            <a:off x="6700838" y="3767138"/>
            <a:ext cx="136500" cy="1023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41"/>
          <p:cNvSpPr txBox="1"/>
          <p:nvPr/>
        </p:nvSpPr>
        <p:spPr>
          <a:xfrm>
            <a:off x="5437188" y="4006454"/>
            <a:ext cx="719100" cy="32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21" name="Google Shape;821;p41"/>
          <p:cNvCxnSpPr/>
          <p:nvPr/>
        </p:nvCxnSpPr>
        <p:spPr>
          <a:xfrm rot="10800000">
            <a:off x="6816600" y="3862256"/>
            <a:ext cx="155700" cy="169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2" name="Google Shape;822;p41"/>
          <p:cNvSpPr txBox="1"/>
          <p:nvPr/>
        </p:nvSpPr>
        <p:spPr>
          <a:xfrm>
            <a:off x="6951663" y="3951685"/>
            <a:ext cx="1489200" cy="32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b="1" baseline="30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23" name="Google Shape;823;p41"/>
          <p:cNvCxnSpPr/>
          <p:nvPr/>
        </p:nvCxnSpPr>
        <p:spPr>
          <a:xfrm rot="10800000">
            <a:off x="6648475" y="4500469"/>
            <a:ext cx="98400" cy="126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4" name="Google Shape;824;p41"/>
          <p:cNvCxnSpPr/>
          <p:nvPr/>
        </p:nvCxnSpPr>
        <p:spPr>
          <a:xfrm>
            <a:off x="6153150" y="4248150"/>
            <a:ext cx="146100" cy="107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5" name="Google Shape;825;p41"/>
          <p:cNvCxnSpPr/>
          <p:nvPr/>
        </p:nvCxnSpPr>
        <p:spPr>
          <a:xfrm>
            <a:off x="6388100" y="3621881"/>
            <a:ext cx="98400" cy="99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6" name="Google Shape;826;p41"/>
          <p:cNvSpPr/>
          <p:nvPr/>
        </p:nvSpPr>
        <p:spPr>
          <a:xfrm>
            <a:off x="5648325" y="253126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41"/>
          <p:cNvSpPr/>
          <p:nvPr/>
        </p:nvSpPr>
        <p:spPr>
          <a:xfrm>
            <a:off x="8043863" y="253126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41"/>
          <p:cNvSpPr/>
          <p:nvPr/>
        </p:nvSpPr>
        <p:spPr>
          <a:xfrm>
            <a:off x="6446838" y="253126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41"/>
          <p:cNvSpPr/>
          <p:nvPr/>
        </p:nvSpPr>
        <p:spPr>
          <a:xfrm>
            <a:off x="7245350" y="2531269"/>
            <a:ext cx="258900" cy="1941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41"/>
          <p:cNvSpPr txBox="1"/>
          <p:nvPr/>
        </p:nvSpPr>
        <p:spPr>
          <a:xfrm>
            <a:off x="6738938" y="4561285"/>
            <a:ext cx="1551000" cy="34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(round(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1" name="Google Shape;831;p41"/>
          <p:cNvSpPr txBox="1"/>
          <p:nvPr/>
        </p:nvSpPr>
        <p:spPr>
          <a:xfrm>
            <a:off x="4548188" y="3363516"/>
            <a:ext cx="2320800" cy="32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(round(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b="1" baseline="30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</a:t>
            </a:r>
            <a:r>
              <a:rPr b="1" i="1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2" name="Google Shape;832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42"/>
          <p:cNvSpPr txBox="1"/>
          <p:nvPr>
            <p:ph idx="1" type="body"/>
          </p:nvPr>
        </p:nvSpPr>
        <p:spPr>
          <a:xfrm>
            <a:off x="493425" y="1338275"/>
            <a:ext cx="8686800" cy="4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14"/>
              <a:t>If -1&lt;m&lt;1 then</a:t>
            </a:r>
            <a:endParaRPr sz="2814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800"/>
              <a:t>Then roundoff y.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800"/>
              <a:t>Otherwise,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800"/>
              <a:t>Then roundoff x.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838" name="Google Shape;838;p4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DDA Algorithm (cont…)</a:t>
            </a:r>
            <a:endParaRPr/>
          </a:p>
        </p:txBody>
      </p:sp>
      <p:pic>
        <p:nvPicPr>
          <p:cNvPr id="839" name="Google Shape;83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2000" y="3681576"/>
            <a:ext cx="1776227" cy="749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30960" y="1752600"/>
            <a:ext cx="1587261" cy="42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15200" y="2178275"/>
            <a:ext cx="1776225" cy="42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20989" y="3315975"/>
            <a:ext cx="1641399" cy="435414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43"/>
          <p:cNvSpPr txBox="1"/>
          <p:nvPr>
            <p:ph type="title"/>
          </p:nvPr>
        </p:nvSpPr>
        <p:spPr>
          <a:xfrm>
            <a:off x="556200" y="237619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DDA Algorithm Example</a:t>
            </a:r>
            <a:endParaRPr/>
          </a:p>
        </p:txBody>
      </p:sp>
      <p:sp>
        <p:nvSpPr>
          <p:cNvPr id="849" name="Google Shape;849;p4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try out the following examples:</a:t>
            </a:r>
            <a:endParaRPr/>
          </a:p>
        </p:txBody>
      </p:sp>
      <p:grpSp>
        <p:nvGrpSpPr>
          <p:cNvPr id="850" name="Google Shape;850;p43"/>
          <p:cNvGrpSpPr/>
          <p:nvPr/>
        </p:nvGrpSpPr>
        <p:grpSpPr>
          <a:xfrm>
            <a:off x="673100" y="1597819"/>
            <a:ext cx="3886200" cy="3018234"/>
            <a:chOff x="424" y="1342"/>
            <a:chExt cx="2448" cy="2535"/>
          </a:xfrm>
        </p:grpSpPr>
        <p:cxnSp>
          <p:nvCxnSpPr>
            <p:cNvPr id="851" name="Google Shape;851;p43"/>
            <p:cNvCxnSpPr/>
            <p:nvPr/>
          </p:nvCxnSpPr>
          <p:spPr>
            <a:xfrm rot="10800000">
              <a:off x="709" y="1515"/>
              <a:ext cx="0" cy="2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52" name="Google Shape;852;p43"/>
            <p:cNvCxnSpPr/>
            <p:nvPr/>
          </p:nvCxnSpPr>
          <p:spPr>
            <a:xfrm rot="10800000">
              <a:off x="1689" y="2485"/>
              <a:ext cx="0" cy="2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53" name="Google Shape;853;p43"/>
            <p:cNvSpPr txBox="1"/>
            <p:nvPr/>
          </p:nvSpPr>
          <p:spPr>
            <a:xfrm>
              <a:off x="2572" y="350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4" name="Google Shape;854;p43"/>
            <p:cNvSpPr txBox="1"/>
            <p:nvPr/>
          </p:nvSpPr>
          <p:spPr>
            <a:xfrm>
              <a:off x="509" y="134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55" name="Google Shape;855;p43"/>
            <p:cNvCxnSpPr/>
            <p:nvPr/>
          </p:nvCxnSpPr>
          <p:spPr>
            <a:xfrm>
              <a:off x="581" y="3066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56" name="Google Shape;856;p43"/>
            <p:cNvCxnSpPr/>
            <p:nvPr/>
          </p:nvCxnSpPr>
          <p:spPr>
            <a:xfrm>
              <a:off x="581" y="1804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57" name="Google Shape;857;p43"/>
            <p:cNvCxnSpPr/>
            <p:nvPr/>
          </p:nvCxnSpPr>
          <p:spPr>
            <a:xfrm rot="5400000">
              <a:off x="152" y="2522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58" name="Google Shape;858;p43"/>
            <p:cNvCxnSpPr/>
            <p:nvPr/>
          </p:nvCxnSpPr>
          <p:spPr>
            <a:xfrm rot="5400000">
              <a:off x="791" y="2467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59" name="Google Shape;859;p43"/>
            <p:cNvCxnSpPr/>
            <p:nvPr/>
          </p:nvCxnSpPr>
          <p:spPr>
            <a:xfrm flipH="1" rot="10800000">
              <a:off x="1197" y="1877"/>
              <a:ext cx="600" cy="1200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860" name="Google Shape;860;p43"/>
            <p:cNvSpPr txBox="1"/>
            <p:nvPr/>
          </p:nvSpPr>
          <p:spPr>
            <a:xfrm>
              <a:off x="804" y="305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(2, 2)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43"/>
            <p:cNvSpPr txBox="1"/>
            <p:nvPr/>
          </p:nvSpPr>
          <p:spPr>
            <a:xfrm>
              <a:off x="1841" y="1549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(5, 7)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43"/>
            <p:cNvSpPr txBox="1"/>
            <p:nvPr/>
          </p:nvSpPr>
          <p:spPr>
            <a:xfrm>
              <a:off x="1112" y="357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43"/>
            <p:cNvSpPr txBox="1"/>
            <p:nvPr/>
          </p:nvSpPr>
          <p:spPr>
            <a:xfrm>
              <a:off x="2309" y="357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43"/>
            <p:cNvSpPr txBox="1"/>
            <p:nvPr/>
          </p:nvSpPr>
          <p:spPr>
            <a:xfrm>
              <a:off x="424" y="295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43"/>
            <p:cNvSpPr txBox="1"/>
            <p:nvPr/>
          </p:nvSpPr>
          <p:spPr>
            <a:xfrm>
              <a:off x="433" y="2173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866" name="Google Shape;866;p43"/>
          <p:cNvGraphicFramePr/>
          <p:nvPr/>
        </p:nvGraphicFramePr>
        <p:xfrm>
          <a:off x="4702175" y="18442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{692C326D-3A23-4CD7-BF3E-AB7A91FF9D0C}</a:tableStyleId>
              </a:tblPr>
              <a:tblGrid>
                <a:gridCol w="1083875"/>
                <a:gridCol w="1083875"/>
                <a:gridCol w="1083875"/>
                <a:gridCol w="1083875"/>
              </a:tblGrid>
              <a:tr h="5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y(+1)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x(+1/m)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x(roundoff)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pixel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3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2.6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3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(3, 3)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3.2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3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(3,</a:t>
                      </a:r>
                      <a:r>
                        <a:rPr lang="en" sz="1400"/>
                        <a:t> 4</a:t>
                      </a:r>
                      <a:r>
                        <a:rPr lang="en" sz="1400"/>
                        <a:t>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5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3.8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(4, 5)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6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4.4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(4, 6)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</a:tbl>
          </a:graphicData>
        </a:graphic>
      </p:graphicFrame>
      <p:pic>
        <p:nvPicPr>
          <p:cNvPr id="867" name="Google Shape;86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7175" y="4381500"/>
            <a:ext cx="1524001" cy="694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85525" y="1257063"/>
            <a:ext cx="1105484" cy="561974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4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DDA Algorithm Example</a:t>
            </a:r>
            <a:endParaRPr/>
          </a:p>
        </p:txBody>
      </p:sp>
      <p:sp>
        <p:nvSpPr>
          <p:cNvPr id="875" name="Google Shape;875;p4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try out the following examples:</a:t>
            </a:r>
            <a:endParaRPr/>
          </a:p>
        </p:txBody>
      </p:sp>
      <p:grpSp>
        <p:nvGrpSpPr>
          <p:cNvPr id="876" name="Google Shape;876;p44"/>
          <p:cNvGrpSpPr/>
          <p:nvPr/>
        </p:nvGrpSpPr>
        <p:grpSpPr>
          <a:xfrm>
            <a:off x="192088" y="1597819"/>
            <a:ext cx="4367212" cy="3018234"/>
            <a:chOff x="121" y="1342"/>
            <a:chExt cx="2751" cy="2535"/>
          </a:xfrm>
        </p:grpSpPr>
        <p:cxnSp>
          <p:nvCxnSpPr>
            <p:cNvPr id="877" name="Google Shape;877;p44"/>
            <p:cNvCxnSpPr/>
            <p:nvPr/>
          </p:nvCxnSpPr>
          <p:spPr>
            <a:xfrm rot="10800000">
              <a:off x="709" y="1515"/>
              <a:ext cx="0" cy="2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78" name="Google Shape;878;p44"/>
            <p:cNvCxnSpPr/>
            <p:nvPr/>
          </p:nvCxnSpPr>
          <p:spPr>
            <a:xfrm rot="10800000">
              <a:off x="1689" y="2485"/>
              <a:ext cx="0" cy="2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79" name="Google Shape;879;p44"/>
            <p:cNvSpPr txBox="1"/>
            <p:nvPr/>
          </p:nvSpPr>
          <p:spPr>
            <a:xfrm>
              <a:off x="2572" y="350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0" name="Google Shape;880;p44"/>
            <p:cNvSpPr txBox="1"/>
            <p:nvPr/>
          </p:nvSpPr>
          <p:spPr>
            <a:xfrm>
              <a:off x="509" y="134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81" name="Google Shape;881;p44"/>
            <p:cNvCxnSpPr/>
            <p:nvPr/>
          </p:nvCxnSpPr>
          <p:spPr>
            <a:xfrm>
              <a:off x="505" y="3058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82" name="Google Shape;882;p44"/>
            <p:cNvCxnSpPr/>
            <p:nvPr/>
          </p:nvCxnSpPr>
          <p:spPr>
            <a:xfrm>
              <a:off x="581" y="1804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83" name="Google Shape;883;p44"/>
            <p:cNvCxnSpPr/>
            <p:nvPr/>
          </p:nvCxnSpPr>
          <p:spPr>
            <a:xfrm rot="5400000">
              <a:off x="152" y="2522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84" name="Google Shape;884;p44"/>
            <p:cNvCxnSpPr/>
            <p:nvPr/>
          </p:nvCxnSpPr>
          <p:spPr>
            <a:xfrm rot="5400000">
              <a:off x="-545" y="2467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85" name="Google Shape;885;p44"/>
            <p:cNvCxnSpPr/>
            <p:nvPr/>
          </p:nvCxnSpPr>
          <p:spPr>
            <a:xfrm rot="10800000">
              <a:off x="597" y="1877"/>
              <a:ext cx="600" cy="1200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886" name="Google Shape;886;p44"/>
            <p:cNvSpPr txBox="1"/>
            <p:nvPr/>
          </p:nvSpPr>
          <p:spPr>
            <a:xfrm>
              <a:off x="804" y="305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(2, 2)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44"/>
            <p:cNvSpPr txBox="1"/>
            <p:nvPr/>
          </p:nvSpPr>
          <p:spPr>
            <a:xfrm>
              <a:off x="121" y="1566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(-1, 7)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44"/>
            <p:cNvSpPr txBox="1"/>
            <p:nvPr/>
          </p:nvSpPr>
          <p:spPr>
            <a:xfrm>
              <a:off x="1112" y="357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44"/>
            <p:cNvSpPr txBox="1"/>
            <p:nvPr/>
          </p:nvSpPr>
          <p:spPr>
            <a:xfrm>
              <a:off x="2309" y="357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890" name="Google Shape;890;p44"/>
          <p:cNvGraphicFramePr/>
          <p:nvPr/>
        </p:nvGraphicFramePr>
        <p:xfrm>
          <a:off x="4702175" y="18442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{692C326D-3A23-4CD7-BF3E-AB7A91FF9D0C}</a:tableStyleId>
              </a:tblPr>
              <a:tblGrid>
                <a:gridCol w="1083875"/>
                <a:gridCol w="1083875"/>
                <a:gridCol w="1083875"/>
                <a:gridCol w="1083875"/>
              </a:tblGrid>
              <a:tr h="5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y(+1)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x(+1/m)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x(roundoff)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pixel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3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1.4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1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(1, 3)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0.8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1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(1,</a:t>
                      </a:r>
                      <a:r>
                        <a:rPr lang="en" sz="1400"/>
                        <a:t> 4</a:t>
                      </a:r>
                      <a:r>
                        <a:rPr lang="en" sz="1400"/>
                        <a:t>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5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0.2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(0, 5)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  <a:tr h="44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6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-0.4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100"/>
                    </a:p>
                  </a:txBody>
                  <a:tcPr marT="54575" marB="54575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(0, 6)</a:t>
                      </a:r>
                      <a:endParaRPr sz="1100"/>
                    </a:p>
                  </a:txBody>
                  <a:tcPr marT="54575" marB="54575" marR="145550" marL="145550"/>
                </a:tc>
              </a:tr>
            </a:tbl>
          </a:graphicData>
        </a:graphic>
      </p:graphicFrame>
      <p:pic>
        <p:nvPicPr>
          <p:cNvPr id="891" name="Google Shape;89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3338" y="4381500"/>
            <a:ext cx="1860948" cy="694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6474" y="1289075"/>
            <a:ext cx="1361649" cy="555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4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45"/>
          <p:cNvSpPr txBox="1"/>
          <p:nvPr>
            <p:ph type="title"/>
          </p:nvPr>
        </p:nvSpPr>
        <p:spPr>
          <a:xfrm>
            <a:off x="628650" y="273850"/>
            <a:ext cx="75000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DDA Algorithm Summary</a:t>
            </a:r>
            <a:endParaRPr/>
          </a:p>
        </p:txBody>
      </p:sp>
      <p:sp>
        <p:nvSpPr>
          <p:cNvPr id="899" name="Google Shape;899;p4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DDA algorithm is much faster than our previous attempt</a:t>
            </a:r>
            <a:endParaRPr/>
          </a:p>
          <a:p>
            <a:pPr indent="-285750" lvl="1" marL="8270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"/>
              <a:t>In particular, there are no longer any multiplications involved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However, there are still two big issues:</a:t>
            </a:r>
            <a:endParaRPr/>
          </a:p>
          <a:p>
            <a:pPr indent="-285750" lvl="1" marL="8270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"/>
              <a:t>Accumulation of round-off errors can make the pixelated line drift away from what was intended</a:t>
            </a:r>
            <a:endParaRPr/>
          </a:p>
          <a:p>
            <a:pPr indent="-285750" lvl="1" marL="8270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"/>
              <a:t>The rounding operations and floating point arithmetic involved are time consuming</a:t>
            </a:r>
            <a:endParaRPr/>
          </a:p>
        </p:txBody>
      </p:sp>
      <p:sp>
        <p:nvSpPr>
          <p:cNvPr id="900" name="Google Shape;900;p4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46"/>
          <p:cNvSpPr txBox="1"/>
          <p:nvPr>
            <p:ph type="title"/>
          </p:nvPr>
        </p:nvSpPr>
        <p:spPr>
          <a:xfrm>
            <a:off x="628650" y="273850"/>
            <a:ext cx="75000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 Closely — Can DDA solve this?</a:t>
            </a:r>
            <a:endParaRPr/>
          </a:p>
        </p:txBody>
      </p:sp>
      <p:sp>
        <p:nvSpPr>
          <p:cNvPr id="906" name="Google Shape;906;p46"/>
          <p:cNvSpPr txBox="1"/>
          <p:nvPr>
            <p:ph idx="1" type="body"/>
          </p:nvPr>
        </p:nvSpPr>
        <p:spPr>
          <a:xfrm>
            <a:off x="628650" y="1369225"/>
            <a:ext cx="788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7" name="Google Shape;90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369225"/>
            <a:ext cx="6910400" cy="3145625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47"/>
          <p:cNvSpPr txBox="1"/>
          <p:nvPr>
            <p:ph type="title"/>
          </p:nvPr>
        </p:nvSpPr>
        <p:spPr>
          <a:xfrm>
            <a:off x="628650" y="273850"/>
            <a:ext cx="7500000" cy="994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 Closely — Can DDA solve this?</a:t>
            </a:r>
            <a:endParaRPr/>
          </a:p>
        </p:txBody>
      </p:sp>
      <p:sp>
        <p:nvSpPr>
          <p:cNvPr id="914" name="Google Shape;914;p47"/>
          <p:cNvSpPr txBox="1"/>
          <p:nvPr>
            <p:ph idx="1" type="body"/>
          </p:nvPr>
        </p:nvSpPr>
        <p:spPr>
          <a:xfrm>
            <a:off x="628650" y="1369225"/>
            <a:ext cx="78867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(8, 1), (9, 1) these points are outside the line segment, so unacceptable.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So, we must decrement here. So we need to update our DDA algorithm for these cases.</a:t>
            </a:r>
            <a:endParaRPr sz="1200"/>
          </a:p>
        </p:txBody>
      </p:sp>
      <p:sp>
        <p:nvSpPr>
          <p:cNvPr id="915" name="Google Shape;915;p4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4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DDA Algorithm (Revised Version)</a:t>
            </a:r>
            <a:endParaRPr/>
          </a:p>
        </p:txBody>
      </p:sp>
      <p:pic>
        <p:nvPicPr>
          <p:cNvPr id="922" name="Google Shape;92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369225"/>
            <a:ext cx="6490050" cy="3579350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4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4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Run the Previous Simulation Again!</a:t>
            </a:r>
            <a:endParaRPr/>
          </a:p>
        </p:txBody>
      </p:sp>
      <p:pic>
        <p:nvPicPr>
          <p:cNvPr id="930" name="Google Shape;93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300" y="1366175"/>
            <a:ext cx="6203001" cy="3570650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5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938" name="Google Shape;938;p5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Computer Graphics: Principles and Practice: John F. Hughes, James D. Foley, Andries van Dam, Steven K. Feiner (2nd Edition)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Chapter: 3.2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5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