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y="6858000" cx="12192000"/>
  <p:notesSz cx="6858000" cy="9144000"/>
  <p:embeddedFontLst>
    <p:embeddedFont>
      <p:font typeface="Garamond"/>
      <p:regular r:id="rId71"/>
      <p:bold r:id="rId72"/>
      <p:italic r:id="rId73"/>
      <p:boldItalic r:id="rId74"/>
    </p:embeddedFont>
    <p:embeddedFont>
      <p:font typeface="Pacifico"/>
      <p:regular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Garamond-italic.fntdata"/><Relationship Id="rId72" Type="http://schemas.openxmlformats.org/officeDocument/2006/relationships/font" Target="fonts/Garamond-bold.fntdata"/><Relationship Id="rId31" Type="http://schemas.openxmlformats.org/officeDocument/2006/relationships/slide" Target="slides/slide27.xml"/><Relationship Id="rId75" Type="http://schemas.openxmlformats.org/officeDocument/2006/relationships/font" Target="fonts/Pacifico-regular.fntdata"/><Relationship Id="rId30" Type="http://schemas.openxmlformats.org/officeDocument/2006/relationships/slide" Target="slides/slide26.xml"/><Relationship Id="rId74" Type="http://schemas.openxmlformats.org/officeDocument/2006/relationships/font" Target="fonts/Garamond-bold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Garamond-regular.fntdata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4f62525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54f62525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54f62525e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524542d204bdc5f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4524542d204bdc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524542d204bdc5f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4524542d204bdc5f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4879ed49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54879ed49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4879ed49f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54879ed49f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4879ed49f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54879ed49f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54879ed49f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4879ed49f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54879ed49f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54879ed49f_1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4879ed49f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54879ed49f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54879ed49f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4879ed49f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54879ed49f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6343d5dc69b7df39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6343d5dc69b7df39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6343d5dc69b7df39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6343d5dc69b7df39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showMasterSp="0">
  <p:cSld name="Section 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135880" y="1267730"/>
            <a:ext cx="1920300" cy="73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1629156" y="2275165"/>
            <a:ext cx="89337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  <a:defRPr sz="6800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" name="Google Shape;54;p6"/>
          <p:cNvGrpSpPr/>
          <p:nvPr/>
        </p:nvGrpSpPr>
        <p:grpSpPr>
          <a:xfrm>
            <a:off x="5250180" y="1267730"/>
            <a:ext cx="1691700" cy="615934"/>
            <a:chOff x="5250180" y="1267730"/>
            <a:chExt cx="1691700" cy="615934"/>
          </a:xfrm>
        </p:grpSpPr>
        <p:cxnSp>
          <p:nvCxnSpPr>
            <p:cNvPr id="55" name="Google Shape;55;p6"/>
            <p:cNvCxnSpPr/>
            <p:nvPr/>
          </p:nvCxnSpPr>
          <p:spPr>
            <a:xfrm>
              <a:off x="5250180" y="1267730"/>
              <a:ext cx="0" cy="61260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6"/>
            <p:cNvCxnSpPr/>
            <p:nvPr/>
          </p:nvCxnSpPr>
          <p:spPr>
            <a:xfrm>
              <a:off x="6941820" y="1267730"/>
              <a:ext cx="0" cy="61260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6"/>
            <p:cNvCxnSpPr/>
            <p:nvPr/>
          </p:nvCxnSpPr>
          <p:spPr>
            <a:xfrm>
              <a:off x="5250180" y="1883664"/>
              <a:ext cx="169170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5318760" y="1344502"/>
            <a:ext cx="15546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1629157" y="5177408"/>
            <a:ext cx="566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04504" y="5177408"/>
            <a:ext cx="19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5" name="Google Shape;95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OBJECT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916939" y="1802638"/>
            <a:ext cx="103581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7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8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6" name="Google Shape;156;p18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eogebra.org/m/cAsHbXEU" TargetMode="External"/><Relationship Id="rId4" Type="http://schemas.openxmlformats.org/officeDocument/2006/relationships/hyperlink" Target="https://www.geogebra.org/m/cAsHbXEU" TargetMode="External"/><Relationship Id="rId5" Type="http://schemas.openxmlformats.org/officeDocument/2006/relationships/hyperlink" Target="https://christopherchudzicki.github.io/MathBox-Demos/parametric_curves_3D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desmos.com/calculator/d1ofwre0fr" TargetMode="External"/><Relationship Id="rId4" Type="http://schemas.openxmlformats.org/officeDocument/2006/relationships/hyperlink" Target="https://www.jasondavies.com/animated-bezier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editor.p5js.org/shonku/sketches/vonrqpOhd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2.png"/><Relationship Id="rId4" Type="http://schemas.openxmlformats.org/officeDocument/2006/relationships/image" Target="../media/image5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editor.p5js.org/shonku/sketches/9dlzE16jW" TargetMode="External"/><Relationship Id="rId4" Type="http://schemas.openxmlformats.org/officeDocument/2006/relationships/image" Target="../media/image5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6.png"/><Relationship Id="rId4" Type="http://schemas.openxmlformats.org/officeDocument/2006/relationships/hyperlink" Target="https://math.stackexchange.com/questions/229354/proof-that-the-convex-hull-of-a-finite-set-s-is-equal-to-all-convex-combinations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4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math.hws.edu/eck/cs424/notes2013/canvas/bezier.html" TargetMode="External"/><Relationship Id="rId4" Type="http://schemas.openxmlformats.org/officeDocument/2006/relationships/hyperlink" Target="https://editor.p5js.org/shonku/sketches/1wWKxEu0j" TargetMode="External"/><Relationship Id="rId5" Type="http://schemas.openxmlformats.org/officeDocument/2006/relationships/image" Target="../media/image58.png"/></Relationships>
</file>

<file path=ppt/slides/_rels/slide6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9" Type="http://schemas.openxmlformats.org/officeDocument/2006/relationships/image" Target="../media/image70.png"/><Relationship Id="rId5" Type="http://schemas.openxmlformats.org/officeDocument/2006/relationships/image" Target="../media/image61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59.png"/></Relationships>
</file>

<file path=ppt/slides/_rels/slide6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9.png"/><Relationship Id="rId4" Type="http://schemas.openxmlformats.org/officeDocument/2006/relationships/image" Target="../media/image58.png"/><Relationship Id="rId9" Type="http://schemas.openxmlformats.org/officeDocument/2006/relationships/image" Target="../media/image70.png"/><Relationship Id="rId5" Type="http://schemas.openxmlformats.org/officeDocument/2006/relationships/image" Target="../media/image61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5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pages.graphics.cs.wisc.edu/559-sp22/" TargetMode="External"/><Relationship Id="rId4" Type="http://schemas.openxmlformats.org/officeDocument/2006/relationships/hyperlink" Target="https://www.cs.utexas.edu/users/fussell/courses/cs384g-fall2011/lectures/lecture17-Subdivision_curves.pdf" TargetMode="External"/><Relationship Id="rId5" Type="http://schemas.openxmlformats.org/officeDocument/2006/relationships/hyperlink" Target="https://www.cs.utexas.edu/users/fussell/courses/cs384g-fall2011/lectures/lecture17-Subdivision_curves.pdf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www.youtube.com/watch?v=aVwxzDHniEw" TargetMode="External"/><Relationship Id="rId4" Type="http://schemas.openxmlformats.org/officeDocument/2006/relationships/hyperlink" Target="https://www.youtube.com/watch?v=jvPPXbo87ds" TargetMode="External"/><Relationship Id="rId5" Type="http://schemas.openxmlformats.org/officeDocument/2006/relationships/image" Target="../media/image73.png"/><Relationship Id="rId6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type="ctrTitle"/>
          </p:nvPr>
        </p:nvSpPr>
        <p:spPr>
          <a:xfrm>
            <a:off x="1806157" y="2115013"/>
            <a:ext cx="8649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</a:pPr>
            <a:r>
              <a:rPr b="1" lang="en-US" sz="6800">
                <a:latin typeface="Pacifico"/>
                <a:ea typeface="Pacifico"/>
                <a:cs typeface="Pacifico"/>
                <a:sym typeface="Pacifico"/>
              </a:rPr>
              <a:t>CURVES</a:t>
            </a:r>
            <a:endParaRPr b="1">
              <a:latin typeface="Pacifico"/>
              <a:ea typeface="Pacifico"/>
              <a:cs typeface="Pacifico"/>
              <a:sym typeface="Pacifico"/>
            </a:endParaRPr>
          </a:p>
        </p:txBody>
      </p:sp>
      <p:cxnSp>
        <p:nvCxnSpPr>
          <p:cNvPr id="179" name="Google Shape;179;p21"/>
          <p:cNvCxnSpPr/>
          <p:nvPr/>
        </p:nvCxnSpPr>
        <p:spPr>
          <a:xfrm>
            <a:off x="5250180" y="1267730"/>
            <a:ext cx="0" cy="64020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21"/>
          <p:cNvCxnSpPr/>
          <p:nvPr/>
        </p:nvCxnSpPr>
        <p:spPr>
          <a:xfrm>
            <a:off x="6941820" y="1267730"/>
            <a:ext cx="0" cy="64020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21"/>
          <p:cNvCxnSpPr/>
          <p:nvPr/>
        </p:nvCxnSpPr>
        <p:spPr>
          <a:xfrm>
            <a:off x="5250180" y="1913025"/>
            <a:ext cx="1691700" cy="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York 3D Rollercoaster Rush Review - IGN"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274" y="1769706"/>
            <a:ext cx="4400939" cy="330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ad Builder on Steam" id="194" name="Google Shape;1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87" y="1769706"/>
            <a:ext cx="5884507" cy="3310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Curve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pic>
        <p:nvPicPr>
          <p:cNvPr descr="New York 3D Rollercoaster Rush Review - IGN" id="202" name="Google Shape;2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9524" y="3429000"/>
            <a:ext cx="3853543" cy="28901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 sz="4900"/>
              <a:t>Curve Representations (Types)</a:t>
            </a:r>
            <a:endParaRPr sz="4900"/>
          </a:p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1389225" y="1690825"/>
            <a:ext cx="10055100" cy="4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Parametric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Subdivision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 Representation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/>
          <p:nvPr>
            <p:ph type="title"/>
          </p:nvPr>
        </p:nvSpPr>
        <p:spPr>
          <a:xfrm>
            <a:off x="658375" y="390000"/>
            <a:ext cx="105156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Curve Representations (Overview)</a:t>
            </a:r>
            <a:endParaRPr b="1" sz="5900">
              <a:solidFill>
                <a:srgbClr val="00006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508000" y="1226867"/>
            <a:ext cx="11175900" cy="47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0" lang="en-US" sz="3200" u="none">
                <a:solidFill>
                  <a:schemeClr val="dk1"/>
                </a:solidFill>
              </a:rPr>
              <a:t>There are </a:t>
            </a:r>
            <a:r>
              <a:rPr lang="en-US" sz="3200"/>
              <a:t>several</a:t>
            </a:r>
            <a:r>
              <a:rPr i="0" lang="en-US" sz="3200" u="none">
                <a:solidFill>
                  <a:schemeClr val="dk1"/>
                </a:solidFill>
              </a:rPr>
              <a:t> ways to represent a curve</a:t>
            </a:r>
            <a:endParaRPr sz="17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Explicit</a:t>
            </a:r>
            <a:r>
              <a:rPr i="0" lang="en-US" sz="2700" u="none">
                <a:solidFill>
                  <a:schemeClr val="dk1"/>
                </a:solidFill>
              </a:rPr>
              <a:t>: y = f(x)</a:t>
            </a:r>
            <a:endParaRPr sz="1300"/>
          </a:p>
          <a:p>
            <a:pPr indent="-304800" lvl="3" marL="2133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y = mx + b			y = x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endParaRPr sz="8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Must be a single valued function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Vertical lines, say x = d? No way to represent using single valued </a:t>
            </a:r>
            <a:r>
              <a:rPr lang="en-US" sz="2100"/>
              <a:t>function</a:t>
            </a:r>
            <a:endParaRPr sz="9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Implicit</a:t>
            </a:r>
            <a:r>
              <a:rPr i="0" lang="en-US" sz="2700" u="none">
                <a:solidFill>
                  <a:schemeClr val="dk1"/>
                </a:solidFill>
              </a:rPr>
              <a:t>: f(x,y) = 0</a:t>
            </a:r>
            <a:endParaRPr sz="13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		</a:t>
            </a:r>
            <a:r>
              <a:rPr b="1" i="0" lang="en-US" sz="2100" u="none">
                <a:solidFill>
                  <a:schemeClr val="dk1"/>
                </a:solidFill>
              </a:rPr>
              <a:t>x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+ y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- r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= 0 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(+) </a:t>
            </a:r>
            <a:r>
              <a:rPr b="1" i="0" lang="en-US" sz="2100" u="none">
                <a:solidFill>
                  <a:schemeClr val="dk1"/>
                </a:solidFill>
              </a:rPr>
              <a:t>y </a:t>
            </a:r>
            <a:r>
              <a:rPr i="0" lang="en-US" sz="2100" u="none">
                <a:solidFill>
                  <a:schemeClr val="dk1"/>
                </a:solidFill>
              </a:rPr>
              <a:t>can be multiple valued function of x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Continuity hard to detect</a:t>
            </a:r>
            <a:endParaRPr sz="9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Parametric</a:t>
            </a:r>
            <a:r>
              <a:rPr i="0" lang="en-US" sz="2700" u="none">
                <a:solidFill>
                  <a:schemeClr val="dk1"/>
                </a:solidFill>
              </a:rPr>
              <a:t>: (x, y) = (x(t), y(t))</a:t>
            </a:r>
            <a:endParaRPr sz="13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		(x, y) = (cos</a:t>
            </a:r>
            <a:r>
              <a:rPr b="1" i="1" lang="en-US" sz="2100" u="none">
                <a:solidFill>
                  <a:schemeClr val="dk1"/>
                </a:solidFill>
              </a:rPr>
              <a:t>t</a:t>
            </a:r>
            <a:r>
              <a:rPr b="1" i="0" lang="en-US" sz="2100" u="none">
                <a:solidFill>
                  <a:schemeClr val="dk1"/>
                </a:solidFill>
              </a:rPr>
              <a:t>, sin</a:t>
            </a:r>
            <a:r>
              <a:rPr b="1" i="1" lang="en-US" sz="2100" u="none">
                <a:solidFill>
                  <a:schemeClr val="dk1"/>
                </a:solidFill>
              </a:rPr>
              <a:t>t</a:t>
            </a:r>
            <a:r>
              <a:rPr b="1" i="0" lang="en-US" sz="2100" u="none">
                <a:solidFill>
                  <a:schemeClr val="dk1"/>
                </a:solidFill>
              </a:rPr>
              <a:t>)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(+) Easy to specify, modify and control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Extra hidden variable t, the parameter, non intuitive</a:t>
            </a:r>
            <a:endParaRPr sz="900"/>
          </a:p>
        </p:txBody>
      </p:sp>
      <p:sp>
        <p:nvSpPr>
          <p:cNvPr id="218" name="Google Shape;218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838200" y="137639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Curves: single parameter t (e.g. time)</a:t>
            </a:r>
            <a:endParaRPr sz="1300"/>
          </a:p>
          <a:p>
            <a:pPr indent="-2857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i="1" lang="en-US" sz="2300" u="none">
                <a:solidFill>
                  <a:schemeClr val="dk1"/>
                </a:solidFill>
              </a:rPr>
              <a:t>x = x(t), y = y(t), z = z(t)</a:t>
            </a:r>
            <a:endParaRPr sz="900"/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Circle: </a:t>
            </a:r>
            <a:endParaRPr sz="1300"/>
          </a:p>
          <a:p>
            <a:pPr indent="-2857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i="1" lang="en-US" sz="2300" u="none">
                <a:solidFill>
                  <a:schemeClr val="dk1"/>
                </a:solidFill>
              </a:rPr>
              <a:t>x = cos(t), y = sin(t), z = 0</a:t>
            </a:r>
            <a:endParaRPr sz="900"/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Tangent described by derivative</a:t>
            </a:r>
            <a:endParaRPr i="0" u="none">
              <a:solidFill>
                <a:schemeClr val="dk1"/>
              </a:solidFill>
            </a:endParaRPr>
          </a:p>
          <a:p>
            <a:pPr indent="0" lvl="0" marL="2413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Magnitude is “velocity”</a:t>
            </a:r>
            <a:endParaRPr sz="1300"/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3810000"/>
            <a:ext cx="44958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7"/>
          <p:cNvSpPr txBox="1"/>
          <p:nvPr>
            <p:ph type="title"/>
          </p:nvPr>
        </p:nvSpPr>
        <p:spPr>
          <a:xfrm>
            <a:off x="886975" y="383375"/>
            <a:ext cx="105156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Representation</a:t>
            </a:r>
            <a:endParaRPr b="1" sz="5900">
              <a:solidFill>
                <a:srgbClr val="00006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ametric Equations - YouTube"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903" y="1650944"/>
            <a:ext cx="8168192" cy="459461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4714351" y="783771"/>
            <a:ext cx="2763300" cy="584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Same curve, different parameterization</a:t>
            </a:r>
            <a:endParaRPr/>
          </a:p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1066800" y="2103120"/>
            <a:ext cx="50292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cxnSp>
        <p:nvCxnSpPr>
          <p:cNvPr id="241" name="Google Shape;241;p29"/>
          <p:cNvCxnSpPr/>
          <p:nvPr/>
        </p:nvCxnSpPr>
        <p:spPr>
          <a:xfrm rot="10800000">
            <a:off x="6943457" y="2371411"/>
            <a:ext cx="337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9"/>
          <p:cNvSpPr txBox="1"/>
          <p:nvPr/>
        </p:nvSpPr>
        <p:spPr>
          <a:xfrm>
            <a:off x="6541477" y="2543963"/>
            <a:ext cx="8040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9917723" y="2543963"/>
            <a:ext cx="8040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29"/>
          <p:cNvCxnSpPr/>
          <p:nvPr/>
        </p:nvCxnSpPr>
        <p:spPr>
          <a:xfrm rot="10800000">
            <a:off x="6943457" y="4486589"/>
            <a:ext cx="337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9"/>
          <p:cNvSpPr txBox="1"/>
          <p:nvPr/>
        </p:nvSpPr>
        <p:spPr>
          <a:xfrm>
            <a:off x="6541477" y="4659141"/>
            <a:ext cx="8040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9917723" y="4659141"/>
            <a:ext cx="8040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Curve Visualization</a:t>
            </a:r>
            <a:endParaRPr/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2D Curve Visualization</a:t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https://www.geogebra.org/m/cAsHbXEU</a:t>
            </a:r>
            <a:r>
              <a:rPr lang="en-US"/>
              <a:t> 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3D Curve Visualization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https://christopherchudzicki.github.io/MathBox-Demos/parametric_curves_3D.html</a:t>
            </a:r>
            <a:r>
              <a:rPr lang="en-US"/>
              <a:t> </a:t>
            </a:r>
            <a:endParaRPr/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Subdivision Representation</a:t>
            </a:r>
            <a:endParaRPr/>
          </a:p>
        </p:txBody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Start with a set of points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Have a rule that adds points [possibly removing old ones]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Repeat the rule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Each subdivision makes the set of points closer to the intended curve</a:t>
            </a:r>
            <a:endParaRPr/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9224387" y="2743200"/>
            <a:ext cx="2673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67" name="Google Shape;267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09" y="822542"/>
            <a:ext cx="8241300" cy="52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</a:t>
            </a:r>
            <a:endParaRPr/>
          </a:p>
        </p:txBody>
      </p:sp>
      <p:pic>
        <p:nvPicPr>
          <p:cNvPr id="274" name="Google Shape;2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325" y="3907650"/>
            <a:ext cx="8780175" cy="20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/>
          <p:nvPr/>
        </p:nvSpPr>
        <p:spPr>
          <a:xfrm>
            <a:off x="1066800" y="1709394"/>
            <a:ext cx="83820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Given n+1 points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),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 ……..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 construct a curve that passes through these points we can use Lagrange polynomial defined as follows:.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 (Example)</a:t>
            </a:r>
            <a:endParaRPr/>
          </a:p>
        </p:txBody>
      </p:sp>
      <p:sp>
        <p:nvSpPr>
          <p:cNvPr id="282" name="Google Shape;282;p34"/>
          <p:cNvSpPr/>
          <p:nvPr/>
        </p:nvSpPr>
        <p:spPr>
          <a:xfrm>
            <a:off x="1066800" y="2014196"/>
            <a:ext cx="8382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Let’s consider the following data points: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2971800"/>
            <a:ext cx="2336750" cy="23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0" name="Google Shape;2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75" y="120450"/>
            <a:ext cx="10489051" cy="63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100" y="804150"/>
            <a:ext cx="9821108" cy="55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100" y="870400"/>
            <a:ext cx="9626974" cy="58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800" y="748750"/>
            <a:ext cx="10884401" cy="51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1066800" y="2014200"/>
            <a:ext cx="102018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3400" u="none" cap="none" strike="noStrike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Problems: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y=f(x), no multiple values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Higher order functions tend to oscillate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local control (change any (xi, yi) changes the whole curve)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Computationally expensive due to high degree.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" name="Google Shape;317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 (Problems)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to draw complex curves</a:t>
            </a:r>
            <a:endParaRPr/>
          </a:p>
        </p:txBody>
      </p:sp>
      <p:sp>
        <p:nvSpPr>
          <p:cNvPr id="324" name="Google Shape;324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Break them into “manageable” smaller curves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These smaller curves are called</a:t>
            </a:r>
            <a:r>
              <a:rPr b="1" lang="en-US"/>
              <a:t> splines</a:t>
            </a:r>
            <a:endParaRPr/>
          </a:p>
        </p:txBody>
      </p:sp>
      <p:pic>
        <p:nvPicPr>
          <p:cNvPr id="325" name="Google Shape;3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397" y="3429000"/>
            <a:ext cx="4520592" cy="2654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0"/>
          <p:cNvSpPr/>
          <p:nvPr/>
        </p:nvSpPr>
        <p:spPr>
          <a:xfrm>
            <a:off x="6804940" y="4562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7485660" y="379558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8196860" y="563454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8891093" y="3546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9637853" y="4943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10338893" y="45118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11050093" y="482174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33" name="Google Shape;333;p40"/>
          <p:cNvCxnSpPr/>
          <p:nvPr/>
        </p:nvCxnSpPr>
        <p:spPr>
          <a:xfrm flipH="1">
            <a:off x="7609560" y="3212452"/>
            <a:ext cx="638100" cy="5832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" name="Google Shape;334;p40"/>
          <p:cNvSpPr txBox="1"/>
          <p:nvPr/>
        </p:nvSpPr>
        <p:spPr>
          <a:xfrm>
            <a:off x="8298460" y="2967546"/>
            <a:ext cx="32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What happens on the joints?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Solution: Piecewise Linear Polynomial</a:t>
            </a:r>
            <a:endParaRPr/>
          </a:p>
        </p:txBody>
      </p:sp>
      <p:sp>
        <p:nvSpPr>
          <p:cNvPr id="341" name="Google Shape;341;p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To overcome the problems with Lagrange polynomial </a:t>
            </a:r>
            <a:endParaRPr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Divide given points into overlap sequences of 4 points</a:t>
            </a:r>
            <a:endParaRPr/>
          </a:p>
          <a:p>
            <a:pPr indent="-304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Construct </a:t>
            </a:r>
            <a:r>
              <a:rPr b="1" lang="en-US" sz="2400">
                <a:solidFill>
                  <a:srgbClr val="CC0000"/>
                </a:solidFill>
              </a:rPr>
              <a:t>3</a:t>
            </a:r>
            <a:r>
              <a:rPr b="1" baseline="30000" lang="en-US" sz="2400">
                <a:solidFill>
                  <a:srgbClr val="CC0000"/>
                </a:solidFill>
              </a:rPr>
              <a:t>rd</a:t>
            </a:r>
            <a:r>
              <a:rPr b="1" lang="en-US" sz="2400">
                <a:solidFill>
                  <a:srgbClr val="CC0000"/>
                </a:solidFill>
              </a:rPr>
              <a:t> degree</a:t>
            </a:r>
            <a:r>
              <a:rPr lang="en-US" sz="2400"/>
              <a:t> polynomial that passes through these points, p</a:t>
            </a:r>
            <a:r>
              <a:rPr baseline="-25000" lang="en-US" sz="2400"/>
              <a:t>0</a:t>
            </a:r>
            <a:r>
              <a:rPr lang="en-US" sz="2400"/>
              <a:t>, p</a:t>
            </a:r>
            <a:r>
              <a:rPr baseline="-25000" lang="en-US" sz="2400"/>
              <a:t>1 </a:t>
            </a:r>
            <a:r>
              <a:rPr lang="en-US" sz="2400"/>
              <a:t>, p</a:t>
            </a:r>
            <a:r>
              <a:rPr baseline="-25000" lang="en-US" sz="2400"/>
              <a:t>2 </a:t>
            </a:r>
            <a:r>
              <a:rPr lang="en-US" sz="2400"/>
              <a:t>, p</a:t>
            </a:r>
            <a:r>
              <a:rPr baseline="-25000" lang="en-US" sz="2400"/>
              <a:t>3</a:t>
            </a:r>
            <a:r>
              <a:rPr lang="en-US" sz="2400"/>
              <a:t> then p</a:t>
            </a:r>
            <a:r>
              <a:rPr baseline="-25000" lang="en-US" sz="2400"/>
              <a:t>3</a:t>
            </a:r>
            <a:r>
              <a:rPr lang="en-US" sz="2400"/>
              <a:t>, p</a:t>
            </a:r>
            <a:r>
              <a:rPr baseline="-25000" lang="en-US" sz="2400"/>
              <a:t>4 </a:t>
            </a:r>
            <a:r>
              <a:rPr lang="en-US" sz="2400"/>
              <a:t>, p</a:t>
            </a:r>
            <a:r>
              <a:rPr baseline="-25000" lang="en-US" sz="2400"/>
              <a:t>5 </a:t>
            </a:r>
            <a:r>
              <a:rPr lang="en-US" sz="2400"/>
              <a:t>, p</a:t>
            </a:r>
            <a:r>
              <a:rPr baseline="-25000" lang="en-US" sz="2400"/>
              <a:t>6</a:t>
            </a:r>
            <a:r>
              <a:rPr lang="en-US" sz="2400"/>
              <a:t> etc.</a:t>
            </a:r>
            <a:endParaRPr/>
          </a:p>
          <a:p>
            <a:pPr indent="-304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Then glue the curves so that they appear </a:t>
            </a:r>
            <a:r>
              <a:rPr b="1" lang="en-US" sz="2400">
                <a:solidFill>
                  <a:srgbClr val="CC0000"/>
                </a:solidFill>
              </a:rPr>
              <a:t>sufficiently smooth</a:t>
            </a:r>
            <a:r>
              <a:rPr lang="en-US" sz="2400"/>
              <a:t> at joint points.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Piecewise Linear Polynomial</a:t>
            </a:r>
            <a:endParaRPr/>
          </a:p>
        </p:txBody>
      </p:sp>
      <p:sp>
        <p:nvSpPr>
          <p:cNvPr id="348" name="Google Shape;348;p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Questions: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Why 3rd Degree curves used?</a:t>
            </a:r>
            <a:endParaRPr b="1">
              <a:solidFill>
                <a:srgbClr val="FF0000"/>
              </a:solidFill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How to measure smoothness at joint point?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9" name="Google Shape;349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Why Cubic Curves</a:t>
            </a:r>
            <a:endParaRPr/>
          </a:p>
        </p:txBody>
      </p:sp>
      <p:sp>
        <p:nvSpPr>
          <p:cNvPr id="355" name="Google Shape;355;p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Cubic polynomials are most often used for piecewise because: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(1) Lower-degree polynomials offer too little flexibility in controlling the shape of the curve.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(2) Higher-degree polynomials can introduce unwanted wiggles and also require more computation.</a:t>
            </a:r>
            <a:endParaRPr/>
          </a:p>
        </p:txBody>
      </p:sp>
      <p:sp>
        <p:nvSpPr>
          <p:cNvPr id="356" name="Google Shape;35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Why Cubic Curves</a:t>
            </a:r>
            <a:endParaRPr/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(3) No lower-degree representation allows a curve segment to be defined by two given endpoints with given derivative at each endpoints.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(4) No lower-degree curves are non planar in 3D.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3" name="Google Shape;363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Piecewise Linear Polynomial</a:t>
            </a:r>
            <a:endParaRPr/>
          </a:p>
        </p:txBody>
      </p:sp>
      <p:sp>
        <p:nvSpPr>
          <p:cNvPr id="369" name="Google Shape;369;p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Questions: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6600"/>
              </a:buClr>
              <a:buSzPts val="2800"/>
              <a:buChar char="◦"/>
            </a:pPr>
            <a:r>
              <a:rPr b="1" lang="en-US" sz="2800">
                <a:solidFill>
                  <a:srgbClr val="006600"/>
                </a:solidFill>
              </a:rPr>
              <a:t>Why 3rd Degree curves used?</a:t>
            </a:r>
            <a:endParaRPr b="1">
              <a:solidFill>
                <a:srgbClr val="006600"/>
              </a:solidFill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How to measure smoothness at joint point?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70" name="Google Shape;370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Introducing Continuity</a:t>
            </a:r>
            <a:endParaRPr/>
          </a:p>
        </p:txBody>
      </p:sp>
      <p:sp>
        <p:nvSpPr>
          <p:cNvPr id="376" name="Google Shape;376;p46"/>
          <p:cNvSpPr txBox="1"/>
          <p:nvPr>
            <p:ph idx="1" type="body"/>
          </p:nvPr>
        </p:nvSpPr>
        <p:spPr>
          <a:xfrm>
            <a:off x="1066800" y="2103120"/>
            <a:ext cx="47613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AKA “Smoothness”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Is there any gaps, sudden turns?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Not same as “not wiggly”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 curve can be wiggly but still smooth.</a:t>
            </a:r>
            <a:endParaRPr/>
          </a:p>
        </p:txBody>
      </p:sp>
      <p:pic>
        <p:nvPicPr>
          <p:cNvPr id="377" name="Google Shape;37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3654" y="2475648"/>
            <a:ext cx="4520592" cy="265413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/>
          <p:nvPr/>
        </p:nvSpPr>
        <p:spPr>
          <a:xfrm>
            <a:off x="7066197" y="3609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7746917" y="284223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8458117" y="468119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1" name="Google Shape;381;p46"/>
          <p:cNvSpPr/>
          <p:nvPr/>
        </p:nvSpPr>
        <p:spPr>
          <a:xfrm>
            <a:off x="9152350" y="2593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2" name="Google Shape;382;p46"/>
          <p:cNvSpPr/>
          <p:nvPr/>
        </p:nvSpPr>
        <p:spPr>
          <a:xfrm>
            <a:off x="9899110" y="3990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3" name="Google Shape;383;p46"/>
          <p:cNvSpPr/>
          <p:nvPr/>
        </p:nvSpPr>
        <p:spPr>
          <a:xfrm>
            <a:off x="10600150" y="35585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11311350" y="386839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85" name="Google Shape;385;p46"/>
          <p:cNvCxnSpPr/>
          <p:nvPr/>
        </p:nvCxnSpPr>
        <p:spPr>
          <a:xfrm flipH="1">
            <a:off x="7870817" y="2259100"/>
            <a:ext cx="638100" cy="5832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46"/>
          <p:cNvSpPr txBox="1"/>
          <p:nvPr/>
        </p:nvSpPr>
        <p:spPr>
          <a:xfrm>
            <a:off x="8559717" y="2014194"/>
            <a:ext cx="32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What happens on the joints?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Continuity</a:t>
            </a:r>
            <a:endParaRPr/>
          </a:p>
        </p:txBody>
      </p:sp>
      <p:sp>
        <p:nvSpPr>
          <p:cNvPr id="393" name="Google Shape;393;p47"/>
          <p:cNvSpPr txBox="1"/>
          <p:nvPr>
            <p:ph idx="1" type="body"/>
          </p:nvPr>
        </p:nvSpPr>
        <p:spPr>
          <a:xfrm>
            <a:off x="1066800" y="2103120"/>
            <a:ext cx="4846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Are the points next to each other?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Can we draw without lifting the pen?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Approach a point from left and right, do we get the same point?</a:t>
            </a:r>
            <a:endParaRPr/>
          </a:p>
        </p:txBody>
      </p:sp>
      <p:pic>
        <p:nvPicPr>
          <p:cNvPr descr="Parametric &amp; Geometric Continuity of Curves in Computer Graphics -  GeeksforGeeks" id="394" name="Google Shape;39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8882" y="2103120"/>
            <a:ext cx="5210571" cy="201263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Continuity in Direction</a:t>
            </a:r>
            <a:endParaRPr/>
          </a:p>
        </p:txBody>
      </p:sp>
      <p:pic>
        <p:nvPicPr>
          <p:cNvPr id="401" name="Google Shape;40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383" y="4312247"/>
            <a:ext cx="4862816" cy="196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2243019"/>
            <a:ext cx="4862817" cy="156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8"/>
          <p:cNvSpPr txBox="1"/>
          <p:nvPr/>
        </p:nvSpPr>
        <p:spPr>
          <a:xfrm>
            <a:off x="6096000" y="2839229"/>
            <a:ext cx="3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 derivative same at 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8"/>
          <p:cNvSpPr txBox="1"/>
          <p:nvPr/>
        </p:nvSpPr>
        <p:spPr>
          <a:xfrm>
            <a:off x="3498208" y="5180598"/>
            <a:ext cx="2764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 derivative changes abruptly at 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 of a Curve</a:t>
            </a:r>
            <a:endParaRPr/>
          </a:p>
        </p:txBody>
      </p:sp>
      <p:sp>
        <p:nvSpPr>
          <p:cNvPr id="411" name="Google Shape;411;p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412" name="Google Shape;412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427" y="538480"/>
            <a:ext cx="11101185" cy="36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9" y="648710"/>
            <a:ext cx="10948168" cy="349657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Continuity, C(n)</a:t>
            </a:r>
            <a:endParaRPr/>
          </a:p>
        </p:txBody>
      </p:sp>
      <p:sp>
        <p:nvSpPr>
          <p:cNvPr id="430" name="Google Shape;430;p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31" name="Google Shape;431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much continuity do we need</a:t>
            </a:r>
            <a:endParaRPr/>
          </a:p>
        </p:txBody>
      </p:sp>
      <p:sp>
        <p:nvSpPr>
          <p:cNvPr id="437" name="Google Shape;437;p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38" name="Google Shape;438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509" y="2010268"/>
            <a:ext cx="10936491" cy="298898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5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Geometric Continuity, G(n)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 and G continuity</a:t>
            </a:r>
            <a:endParaRPr/>
          </a:p>
        </p:txBody>
      </p:sp>
      <p:sp>
        <p:nvSpPr>
          <p:cNvPr id="451" name="Google Shape;451;p55"/>
          <p:cNvSpPr txBox="1"/>
          <p:nvPr>
            <p:ph idx="1" type="body"/>
          </p:nvPr>
        </p:nvSpPr>
        <p:spPr>
          <a:xfrm>
            <a:off x="964725" y="1825625"/>
            <a:ext cx="10515600" cy="4140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52" name="Google Shape;452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55"/>
          <p:cNvSpPr txBox="1"/>
          <p:nvPr/>
        </p:nvSpPr>
        <p:spPr>
          <a:xfrm>
            <a:off x="964725" y="3156350"/>
            <a:ext cx="10716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curve is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continuous, it will always be </a:t>
            </a:r>
            <a:r>
              <a:rPr b="1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continuous but not always vice-versa.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6"/>
          <p:cNvSpPr txBox="1"/>
          <p:nvPr/>
        </p:nvSpPr>
        <p:spPr>
          <a:xfrm>
            <a:off x="8710083" y="64690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56"/>
          <p:cNvGrpSpPr/>
          <p:nvPr/>
        </p:nvGrpSpPr>
        <p:grpSpPr>
          <a:xfrm>
            <a:off x="304800" y="1700212"/>
            <a:ext cx="8255000" cy="1257299"/>
            <a:chOff x="144" y="1007"/>
            <a:chExt cx="3900" cy="792"/>
          </a:xfrm>
        </p:grpSpPr>
        <p:sp>
          <p:nvSpPr>
            <p:cNvPr id="460" name="Google Shape;460;p56"/>
            <p:cNvSpPr txBox="1"/>
            <p:nvPr/>
          </p:nvSpPr>
          <p:spPr>
            <a:xfrm>
              <a:off x="144" y="1199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</a:t>
              </a:r>
              <a:r>
                <a:rPr b="1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directions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(but not necessarily the magnitudes) of the two segments’ tangent vectors are equal at a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6"/>
            <p:cNvSpPr txBox="1"/>
            <p:nvPr/>
          </p:nvSpPr>
          <p:spPr>
            <a:xfrm>
              <a:off x="144" y="1007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Geometric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2" name="Google Shape;462;p56"/>
          <p:cNvGrpSpPr/>
          <p:nvPr/>
        </p:nvGrpSpPr>
        <p:grpSpPr>
          <a:xfrm>
            <a:off x="304800" y="5143500"/>
            <a:ext cx="8255000" cy="1289050"/>
            <a:chOff x="144" y="3176"/>
            <a:chExt cx="3900" cy="812"/>
          </a:xfrm>
        </p:grpSpPr>
        <p:sp>
          <p:nvSpPr>
            <p:cNvPr id="463" name="Google Shape;463;p56"/>
            <p:cNvSpPr txBox="1"/>
            <p:nvPr/>
          </p:nvSpPr>
          <p:spPr>
            <a:xfrm>
              <a:off x="144" y="3388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direction and magnitude of 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Q</a:t>
              </a:r>
              <a:r>
                <a:rPr b="0" baseline="3000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(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through the 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th derivative are equal at the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6"/>
            <p:cNvSpPr txBox="1"/>
            <p:nvPr/>
          </p:nvSpPr>
          <p:spPr>
            <a:xfrm>
              <a:off x="144" y="3176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1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56"/>
          <p:cNvSpPr txBox="1"/>
          <p:nvPr>
            <p:ph type="title"/>
          </p:nvPr>
        </p:nvSpPr>
        <p:spPr>
          <a:xfrm>
            <a:off x="838200" y="-293734"/>
            <a:ext cx="10515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5900"/>
              <a:buFont typeface="Garamond"/>
              <a:buNone/>
            </a:pPr>
            <a:r>
              <a:rPr b="1" i="0" lang="en-US" sz="5500" u="none">
                <a:solidFill>
                  <a:srgbClr val="3F3F3F"/>
                </a:solidFill>
              </a:rPr>
              <a:t>Measure of Smoothness</a:t>
            </a:r>
            <a:endParaRPr sz="4000">
              <a:solidFill>
                <a:srgbClr val="3F3F3F"/>
              </a:solidFill>
            </a:endParaRPr>
          </a:p>
        </p:txBody>
      </p:sp>
      <p:grpSp>
        <p:nvGrpSpPr>
          <p:cNvPr id="466" name="Google Shape;466;p56"/>
          <p:cNvGrpSpPr/>
          <p:nvPr/>
        </p:nvGrpSpPr>
        <p:grpSpPr>
          <a:xfrm>
            <a:off x="304800" y="831850"/>
            <a:ext cx="11582532" cy="1881127"/>
            <a:chOff x="144" y="460"/>
            <a:chExt cx="5472" cy="1185"/>
          </a:xfrm>
        </p:grpSpPr>
        <p:sp>
          <p:nvSpPr>
            <p:cNvPr id="467" name="Google Shape;467;p56"/>
            <p:cNvSpPr txBox="1"/>
            <p:nvPr/>
          </p:nvSpPr>
          <p:spPr>
            <a:xfrm>
              <a:off x="215" y="768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two curve segments join together.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6"/>
            <p:cNvSpPr txBox="1"/>
            <p:nvPr/>
          </p:nvSpPr>
          <p:spPr>
            <a:xfrm>
              <a:off x="144" y="460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0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Geometric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⇔ </a:t>
              </a: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0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9" name="Google Shape;469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80" y="460"/>
              <a:ext cx="1536" cy="1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56"/>
            <p:cNvSpPr txBox="1"/>
            <p:nvPr/>
          </p:nvSpPr>
          <p:spPr>
            <a:xfrm>
              <a:off x="4944" y="76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56"/>
          <p:cNvGrpSpPr/>
          <p:nvPr/>
        </p:nvGrpSpPr>
        <p:grpSpPr>
          <a:xfrm>
            <a:off x="304800" y="2692400"/>
            <a:ext cx="11582189" cy="1911255"/>
            <a:chOff x="144" y="1632"/>
            <a:chExt cx="5472" cy="1204"/>
          </a:xfrm>
        </p:grpSpPr>
        <p:sp>
          <p:nvSpPr>
            <p:cNvPr id="472" name="Google Shape;472;p56"/>
            <p:cNvSpPr txBox="1"/>
            <p:nvPr/>
          </p:nvSpPr>
          <p:spPr>
            <a:xfrm>
              <a:off x="144" y="1996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</a:t>
              </a:r>
              <a:r>
                <a:rPr b="1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directions and magnitudes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of the two segments’ tangent vectors are equal at a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6"/>
            <p:cNvSpPr txBox="1"/>
            <p:nvPr/>
          </p:nvSpPr>
          <p:spPr>
            <a:xfrm>
              <a:off x="144" y="1804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4" name="Google Shape;47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76" y="1632"/>
              <a:ext cx="1540" cy="12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56"/>
            <p:cNvSpPr txBox="1"/>
            <p:nvPr/>
          </p:nvSpPr>
          <p:spPr>
            <a:xfrm>
              <a:off x="4944" y="201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56"/>
          <p:cNvGrpSpPr/>
          <p:nvPr/>
        </p:nvGrpSpPr>
        <p:grpSpPr>
          <a:xfrm>
            <a:off x="304800" y="4000500"/>
            <a:ext cx="11582532" cy="2533765"/>
            <a:chOff x="144" y="2456"/>
            <a:chExt cx="5472" cy="1596"/>
          </a:xfrm>
        </p:grpSpPr>
        <p:pic>
          <p:nvPicPr>
            <p:cNvPr id="477" name="Google Shape;477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80" y="2832"/>
              <a:ext cx="1536" cy="1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56"/>
            <p:cNvSpPr txBox="1"/>
            <p:nvPr/>
          </p:nvSpPr>
          <p:spPr>
            <a:xfrm>
              <a:off x="144" y="2668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direction and magnitude of 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Q</a:t>
              </a:r>
              <a:r>
                <a:rPr b="0" baseline="3000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(</a:t>
              </a:r>
              <a:r>
                <a:rPr b="0" i="1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(curvature or </a:t>
              </a:r>
              <a:r>
                <a:rPr b="1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acceleration</a:t>
              </a:r>
              <a:r>
                <a:rPr b="0" i="0" lang="en-US" sz="2100" u="none" cap="none" strike="noStrik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are equal at the join point.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6"/>
            <p:cNvSpPr txBox="1"/>
            <p:nvPr/>
          </p:nvSpPr>
          <p:spPr>
            <a:xfrm>
              <a:off x="144" y="2456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1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r>
                <a:rPr b="0" baseline="3000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 cap="none" strike="noStrik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6"/>
            <p:cNvSpPr txBox="1"/>
            <p:nvPr/>
          </p:nvSpPr>
          <p:spPr>
            <a:xfrm>
              <a:off x="4944" y="321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7"/>
          <p:cNvSpPr txBox="1"/>
          <p:nvPr>
            <p:ph type="title"/>
          </p:nvPr>
        </p:nvSpPr>
        <p:spPr>
          <a:xfrm>
            <a:off x="922100" y="-4810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5900"/>
              <a:buFont typeface="Garamond"/>
              <a:buNone/>
            </a:pPr>
            <a:r>
              <a:rPr b="1" i="0" lang="en-US" sz="4900" u="none">
                <a:solidFill>
                  <a:srgbClr val="3F3F3F"/>
                </a:solidFill>
              </a:rPr>
              <a:t>Measure of Smoothness</a:t>
            </a:r>
            <a:endParaRPr sz="3500">
              <a:solidFill>
                <a:srgbClr val="3F3F3F"/>
              </a:solidFill>
            </a:endParaRPr>
          </a:p>
        </p:txBody>
      </p:sp>
      <p:grpSp>
        <p:nvGrpSpPr>
          <p:cNvPr id="488" name="Google Shape;488;p57"/>
          <p:cNvGrpSpPr/>
          <p:nvPr/>
        </p:nvGrpSpPr>
        <p:grpSpPr>
          <a:xfrm>
            <a:off x="508000" y="844595"/>
            <a:ext cx="5588001" cy="2427013"/>
            <a:chOff x="589" y="512"/>
            <a:chExt cx="2967" cy="1785"/>
          </a:xfrm>
        </p:grpSpPr>
        <p:pic>
          <p:nvPicPr>
            <p:cNvPr id="489" name="Google Shape;48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9" y="619"/>
              <a:ext cx="2784" cy="1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57"/>
            <p:cNvSpPr txBox="1"/>
            <p:nvPr/>
          </p:nvSpPr>
          <p:spPr>
            <a:xfrm>
              <a:off x="816" y="115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7"/>
            <p:cNvSpPr txBox="1"/>
            <p:nvPr/>
          </p:nvSpPr>
          <p:spPr>
            <a:xfrm>
              <a:off x="829" y="72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3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Joint Point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7"/>
            <p:cNvSpPr txBox="1"/>
            <p:nvPr/>
          </p:nvSpPr>
          <p:spPr>
            <a:xfrm>
              <a:off x="1632" y="120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7"/>
            <p:cNvSpPr txBox="1"/>
            <p:nvPr/>
          </p:nvSpPr>
          <p:spPr>
            <a:xfrm>
              <a:off x="2064" y="91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7"/>
            <p:cNvSpPr txBox="1"/>
            <p:nvPr/>
          </p:nvSpPr>
          <p:spPr>
            <a:xfrm>
              <a:off x="2956" y="51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57"/>
          <p:cNvGrpSpPr/>
          <p:nvPr/>
        </p:nvGrpSpPr>
        <p:grpSpPr>
          <a:xfrm>
            <a:off x="6337300" y="3385813"/>
            <a:ext cx="5304156" cy="2996907"/>
            <a:chOff x="2544" y="1920"/>
            <a:chExt cx="2862" cy="2159"/>
          </a:xfrm>
        </p:grpSpPr>
        <p:pic>
          <p:nvPicPr>
            <p:cNvPr id="496" name="Google Shape;496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4" y="2352"/>
              <a:ext cx="2862" cy="16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7" name="Google Shape;497;p57"/>
            <p:cNvCxnSpPr/>
            <p:nvPr/>
          </p:nvCxnSpPr>
          <p:spPr>
            <a:xfrm flipH="1" rot="10800000">
              <a:off x="3360" y="1920"/>
              <a:ext cx="600" cy="1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8" name="Google Shape;498;p57"/>
            <p:cNvCxnSpPr/>
            <p:nvPr/>
          </p:nvCxnSpPr>
          <p:spPr>
            <a:xfrm flipH="1" rot="10800000">
              <a:off x="3312" y="2520"/>
              <a:ext cx="300" cy="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99" name="Google Shape;499;p57"/>
            <p:cNvSpPr txBox="1"/>
            <p:nvPr/>
          </p:nvSpPr>
          <p:spPr>
            <a:xfrm>
              <a:off x="2592" y="3479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7"/>
            <p:cNvSpPr txBox="1"/>
            <p:nvPr/>
          </p:nvSpPr>
          <p:spPr>
            <a:xfrm>
              <a:off x="3984" y="312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7"/>
            <p:cNvSpPr txBox="1"/>
            <p:nvPr/>
          </p:nvSpPr>
          <p:spPr>
            <a:xfrm>
              <a:off x="4704" y="2544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7"/>
            <p:cNvSpPr txBox="1"/>
            <p:nvPr/>
          </p:nvSpPr>
          <p:spPr>
            <a:xfrm>
              <a:off x="3840" y="2006"/>
              <a:ext cx="12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=2*TV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57"/>
            <p:cNvSpPr txBox="1"/>
            <p:nvPr/>
          </p:nvSpPr>
          <p:spPr>
            <a:xfrm>
              <a:off x="2654" y="2400"/>
              <a:ext cx="9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1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=TV</a:t>
              </a:r>
              <a:r>
                <a:rPr b="1" baseline="-25000" i="1" lang="en-US" sz="2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baseline="-25000" i="1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04" name="Google Shape;504;p57"/>
          <p:cNvSpPr txBox="1"/>
          <p:nvPr/>
        </p:nvSpPr>
        <p:spPr>
          <a:xfrm>
            <a:off x="508016" y="3652700"/>
            <a:ext cx="58485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&amp; 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are C</a:t>
            </a:r>
            <a:r>
              <a:rPr b="0" baseline="30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and G</a:t>
            </a:r>
            <a:r>
              <a:rPr b="0" baseline="30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continuous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&amp; Q</a:t>
            </a:r>
            <a:r>
              <a:rPr b="0" baseline="-25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are G</a:t>
            </a:r>
            <a:r>
              <a:rPr b="0" baseline="3000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continuous only as Tangent vectors have different magnitude.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b="0" i="0" lang="en-US" sz="27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Observe the effect of increasing in magnitude of TV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7"/>
          <p:cNvSpPr txBox="1"/>
          <p:nvPr/>
        </p:nvSpPr>
        <p:spPr>
          <a:xfrm>
            <a:off x="7804149" y="5029200"/>
            <a:ext cx="6288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1" i="1" lang="en-US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baseline="-25000" i="1" lang="en-US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7"/>
          <p:cNvSpPr txBox="1"/>
          <p:nvPr/>
        </p:nvSpPr>
        <p:spPr>
          <a:xfrm>
            <a:off x="6343649" y="1114425"/>
            <a:ext cx="5848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By increasing parametric continuity we can increase smoothness of the curve.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Line Segment Parameterization</a:t>
            </a:r>
            <a:endParaRPr/>
          </a:p>
        </p:txBody>
      </p:sp>
      <p:sp>
        <p:nvSpPr>
          <p:cNvPr id="513" name="Google Shape;513;p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514" name="Google Shape;514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Linear Interpolation (or, Lerp)</a:t>
            </a:r>
            <a:endParaRPr/>
          </a:p>
        </p:txBody>
      </p:sp>
      <p:sp>
        <p:nvSpPr>
          <p:cNvPr id="520" name="Google Shape;520;p5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521" name="Google Shape;521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Cubic Curves</a:t>
            </a:r>
            <a:endParaRPr/>
          </a:p>
        </p:txBody>
      </p:sp>
      <p:sp>
        <p:nvSpPr>
          <p:cNvPr id="527" name="Google Shape;527;p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0" r="-6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28" name="Google Shape;528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Desirable Properties of a Curve</a:t>
            </a:r>
            <a:endParaRPr/>
          </a:p>
        </p:txBody>
      </p:sp>
      <p:sp>
        <p:nvSpPr>
          <p:cNvPr id="534" name="Google Shape;534;p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Simple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lines need only two points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curves will need more (but not significantly more)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Intuitive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Physically meaningful quantities like position, tangent, curvature etc.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Global Vs. Local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Portion of curve affected by a control point.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General Parameterization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Handle multi-valued x-y mapping</a:t>
            </a:r>
            <a:endParaRPr/>
          </a:p>
        </p:txBody>
      </p:sp>
      <p:sp>
        <p:nvSpPr>
          <p:cNvPr id="535" name="Google Shape;535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61"/>
          <p:cNvSpPr txBox="1"/>
          <p:nvPr/>
        </p:nvSpPr>
        <p:spPr>
          <a:xfrm>
            <a:off x="8610600" y="816700"/>
            <a:ext cx="2257500" cy="77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Spring 2026 Final Syllabus Upto this.</a:t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2"/>
          <p:cNvSpPr txBox="1"/>
          <p:nvPr>
            <p:ph type="title"/>
          </p:nvPr>
        </p:nvSpPr>
        <p:spPr>
          <a:xfrm>
            <a:off x="1629156" y="2275165"/>
            <a:ext cx="89337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</a:pPr>
            <a:r>
              <a:rPr lang="en-US"/>
              <a:t>BÉZIER CURVE</a:t>
            </a:r>
            <a:endParaRPr/>
          </a:p>
        </p:txBody>
      </p:sp>
      <p:sp>
        <p:nvSpPr>
          <p:cNvPr id="542" name="Google Shape;542;p62"/>
          <p:cNvSpPr txBox="1"/>
          <p:nvPr>
            <p:ph idx="12" type="sldNum"/>
          </p:nvPr>
        </p:nvSpPr>
        <p:spPr>
          <a:xfrm>
            <a:off x="8604504" y="5177408"/>
            <a:ext cx="19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History</a:t>
            </a:r>
            <a:endParaRPr/>
          </a:p>
        </p:txBody>
      </p:sp>
      <p:sp>
        <p:nvSpPr>
          <p:cNvPr id="548" name="Google Shape;548;p63"/>
          <p:cNvSpPr txBox="1"/>
          <p:nvPr>
            <p:ph idx="1" type="body"/>
          </p:nvPr>
        </p:nvSpPr>
        <p:spPr>
          <a:xfrm>
            <a:off x="1066800" y="2103120"/>
            <a:ext cx="4570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Named after French engineer Pierre Bézier (1910–1999),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First used it in the 1960s for designing curves for the bodywork of Renault cars.</a:t>
            </a:r>
            <a:endParaRPr/>
          </a:p>
        </p:txBody>
      </p:sp>
      <p:pic>
        <p:nvPicPr>
          <p:cNvPr id="549" name="Google Shape;54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160" y="2014194"/>
            <a:ext cx="4906946" cy="257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Bézier Curve</a:t>
            </a:r>
            <a:endParaRPr/>
          </a:p>
        </p:txBody>
      </p:sp>
      <p:sp>
        <p:nvSpPr>
          <p:cNvPr id="556" name="Google Shape;556;p64"/>
          <p:cNvSpPr txBox="1"/>
          <p:nvPr>
            <p:ph idx="1" type="body"/>
          </p:nvPr>
        </p:nvSpPr>
        <p:spPr>
          <a:xfrm>
            <a:off x="1066800" y="2103120"/>
            <a:ext cx="55851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Will have some control points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Move around control points to change shape of the curve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For example: 4 control points to build a cubic Bézier curve</a:t>
            </a:r>
            <a:endParaRPr/>
          </a:p>
        </p:txBody>
      </p:sp>
      <p:pic>
        <p:nvPicPr>
          <p:cNvPr descr="Bézier curve - Wikipedia" id="557" name="Google Shape;55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306" y="2441748"/>
            <a:ext cx="4799094" cy="299943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Family of Bézier Curves</a:t>
            </a:r>
            <a:endParaRPr/>
          </a:p>
        </p:txBody>
      </p:sp>
      <p:pic>
        <p:nvPicPr>
          <p:cNvPr id="564" name="Google Shape;564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464" l="0" r="0" t="0"/>
          <a:stretch/>
        </p:blipFill>
        <p:spPr>
          <a:xfrm>
            <a:off x="1607406" y="2074389"/>
            <a:ext cx="8977200" cy="3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5"/>
          <p:cNvSpPr txBox="1"/>
          <p:nvPr/>
        </p:nvSpPr>
        <p:spPr>
          <a:xfrm>
            <a:off x="1607431" y="5637125"/>
            <a:ext cx="897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Linear                         Quadratic                          Cubic                        Quartic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Bézier Curve Demonstration</a:t>
            </a:r>
            <a:endParaRPr/>
          </a:p>
        </p:txBody>
      </p:sp>
      <p:sp>
        <p:nvSpPr>
          <p:cNvPr id="572" name="Google Shape;572;p66"/>
          <p:cNvSpPr txBox="1"/>
          <p:nvPr>
            <p:ph idx="1" type="body"/>
          </p:nvPr>
        </p:nvSpPr>
        <p:spPr>
          <a:xfrm>
            <a:off x="838200" y="2206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Single Curve Graph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https://www.desmos.com/calculator/d1ofwre0fr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Family of Bezier Curve Animation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https://www.jasondavies.com/animated-bezier/</a:t>
            </a:r>
            <a:endParaRPr/>
          </a:p>
        </p:txBody>
      </p:sp>
      <p:sp>
        <p:nvSpPr>
          <p:cNvPr id="573" name="Google Shape;573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to draw Bézier Curves</a:t>
            </a:r>
            <a:endParaRPr/>
          </a:p>
        </p:txBody>
      </p:sp>
      <p:sp>
        <p:nvSpPr>
          <p:cNvPr id="579" name="Google Shape;579;p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Cubic Bezier Curve Code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https://editor.p5js.org/shonku/sketches/vonrqpOhd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80" name="Google Shape;580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Draw Cubic Bézier Curves</a:t>
            </a:r>
            <a:endParaRPr/>
          </a:p>
        </p:txBody>
      </p:sp>
      <p:sp>
        <p:nvSpPr>
          <p:cNvPr id="586" name="Google Shape;586;p68"/>
          <p:cNvSpPr txBox="1"/>
          <p:nvPr>
            <p:ph idx="1" type="body"/>
          </p:nvPr>
        </p:nvSpPr>
        <p:spPr>
          <a:xfrm>
            <a:off x="1066800" y="2103120"/>
            <a:ext cx="61983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Given 4 control points p1, p2, p3, p4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For t = 0 to 1 in proper interval: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q1 = lerp(p1, p2,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q2 = lerp(p2, p3,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q3 = lerp(p3, p4,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r1 = lerp(q1, q2,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r2 = lerp(q2, q3,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 = lerp(r1, r2,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Draw(s)</a:t>
            </a:r>
            <a:endParaRPr/>
          </a:p>
        </p:txBody>
      </p:sp>
      <p:pic>
        <p:nvPicPr>
          <p:cNvPr id="587" name="Google Shape;58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2450" y="1956416"/>
            <a:ext cx="3878916" cy="38712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8" name="Google Shape;588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Draw Bézier curves</a:t>
            </a:r>
            <a:endParaRPr/>
          </a:p>
        </p:txBody>
      </p:sp>
      <p:sp>
        <p:nvSpPr>
          <p:cNvPr id="594" name="Google Shape;594;p6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Process of recursively finding a point on a Bézier curve has a name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“De Casteljau’s Algorithm”</a:t>
            </a:r>
            <a:endParaRPr/>
          </a:p>
        </p:txBody>
      </p:sp>
      <p:sp>
        <p:nvSpPr>
          <p:cNvPr id="595" name="Google Shape;595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Equation of a Cubic Bézier Curve</a:t>
            </a:r>
            <a:endParaRPr/>
          </a:p>
        </p:txBody>
      </p:sp>
      <p:sp>
        <p:nvSpPr>
          <p:cNvPr id="601" name="Google Shape;601;p70"/>
          <p:cNvSpPr txBox="1"/>
          <p:nvPr>
            <p:ph idx="1" type="body"/>
          </p:nvPr>
        </p:nvSpPr>
        <p:spPr>
          <a:xfrm>
            <a:off x="0" y="2263925"/>
            <a:ext cx="1859700" cy="68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r1 = q1 + (q2 – q1)t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r2 = q2 + (q3 – q2)t</a:t>
            </a:r>
            <a:endParaRPr/>
          </a:p>
        </p:txBody>
      </p:sp>
      <p:sp>
        <p:nvSpPr>
          <p:cNvPr id="602" name="Google Shape;602;p70"/>
          <p:cNvSpPr txBox="1"/>
          <p:nvPr/>
        </p:nvSpPr>
        <p:spPr>
          <a:xfrm>
            <a:off x="2160125" y="1806719"/>
            <a:ext cx="9877800" cy="4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q1 + (q2 – q1)t 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(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q2 + (q3 – q2)t 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q1 - (q2 – q1)t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q1 + tq2 – tq1 + (q2 + tq3 – tq2 – q1 – tq2 + tq1)t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q1 + tq2 – tq1 + tq2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q3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q2 – tq1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q2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2t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q2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(2t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0" i="0" lang="en-US" sz="178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(p1 + (p2 – p1)t)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2t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(p2 + (p3 – p2)t)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(2t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8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(p3 + (p4 –     p3)t)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(p1 + tp2 – tp1)(1 – 2t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(p2 + tp3 – tp2)(2t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(p3 + tp4 – tp3)(t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(p1 – 2tp1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+ tp2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– tp1 + 2t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p1) + (2tp2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–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+ 2t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p2) + (t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+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p4 – t</a:t>
            </a:r>
            <a:r>
              <a:rPr b="0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(1 – 3t + 3t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)p1 + (3t – 6t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)p2 + (3t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)p3 + 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p4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= (1 – t)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p1 + 3t(1 – t)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+ 3t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t) p3 + t</a:t>
            </a:r>
            <a:r>
              <a:rPr b="1" baseline="30000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8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p4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t/>
            </a:r>
            <a:endParaRPr b="0" i="0" sz="178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t/>
            </a:r>
            <a:endParaRPr b="0" i="0" sz="178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2220"/>
              <a:buFont typeface="Garamond"/>
              <a:buNone/>
            </a:pPr>
            <a:r>
              <a:t/>
            </a:r>
            <a:endParaRPr b="0" i="0" sz="252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3" name="Google Shape;603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70"/>
          <p:cNvSpPr txBox="1"/>
          <p:nvPr>
            <p:ph idx="1" type="body"/>
          </p:nvPr>
        </p:nvSpPr>
        <p:spPr>
          <a:xfrm>
            <a:off x="0" y="1806725"/>
            <a:ext cx="1859700" cy="36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s = r1 + (r2 – r2)t</a:t>
            </a:r>
            <a:endParaRPr/>
          </a:p>
        </p:txBody>
      </p:sp>
      <p:sp>
        <p:nvSpPr>
          <p:cNvPr id="605" name="Google Shape;605;p70"/>
          <p:cNvSpPr txBox="1"/>
          <p:nvPr>
            <p:ph idx="1" type="body"/>
          </p:nvPr>
        </p:nvSpPr>
        <p:spPr>
          <a:xfrm>
            <a:off x="0" y="3662029"/>
            <a:ext cx="1859700" cy="97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q1 = p1 + (p2 – p1)t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q2 = p2 + (p3 – p2)t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q3 = p3 + (p4 – p3)t</a:t>
            </a:r>
            <a:endParaRPr>
              <a:solidFill>
                <a:srgbClr val="3F3F3F"/>
              </a:solidFill>
            </a:endParaRPr>
          </a:p>
        </p:txBody>
      </p:sp>
      <p:cxnSp>
        <p:nvCxnSpPr>
          <p:cNvPr id="606" name="Google Shape;606;p70"/>
          <p:cNvCxnSpPr>
            <a:stCxn id="604" idx="3"/>
          </p:cNvCxnSpPr>
          <p:nvPr/>
        </p:nvCxnSpPr>
        <p:spPr>
          <a:xfrm>
            <a:off x="1859700" y="1989275"/>
            <a:ext cx="331200" cy="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7" name="Google Shape;607;p70"/>
          <p:cNvCxnSpPr/>
          <p:nvPr/>
        </p:nvCxnSpPr>
        <p:spPr>
          <a:xfrm>
            <a:off x="1859675" y="2344700"/>
            <a:ext cx="62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70"/>
          <p:cNvCxnSpPr/>
          <p:nvPr/>
        </p:nvCxnSpPr>
        <p:spPr>
          <a:xfrm>
            <a:off x="1859675" y="3792500"/>
            <a:ext cx="62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Matrix Eq</a:t>
            </a:r>
            <a:r>
              <a:rPr baseline="30000" lang="en-US"/>
              <a:t>n</a:t>
            </a:r>
            <a:r>
              <a:rPr lang="en-US"/>
              <a:t> of a Cubic Bézier Curve</a:t>
            </a:r>
            <a:endParaRPr/>
          </a:p>
        </p:txBody>
      </p:sp>
      <p:sp>
        <p:nvSpPr>
          <p:cNvPr id="614" name="Google Shape;614;p71"/>
          <p:cNvSpPr txBox="1"/>
          <p:nvPr>
            <p:ph idx="1" type="body"/>
          </p:nvPr>
        </p:nvSpPr>
        <p:spPr>
          <a:xfrm>
            <a:off x="1066800" y="2103120"/>
            <a:ext cx="7436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15" name="Google Shape;615;p71"/>
          <p:cNvSpPr txBox="1"/>
          <p:nvPr/>
        </p:nvSpPr>
        <p:spPr>
          <a:xfrm>
            <a:off x="9370243" y="1433772"/>
            <a:ext cx="2158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Dimensions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[1x4] [4x1]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[1x4][4x4][4x1]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1"/>
          <p:cNvSpPr txBox="1"/>
          <p:nvPr/>
        </p:nvSpPr>
        <p:spPr>
          <a:xfrm>
            <a:off x="6725869" y="5583412"/>
            <a:ext cx="4893600" cy="64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090" l="0" r="0" t="-47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23" name="Google Shape;623;p72"/>
          <p:cNvSpPr txBox="1"/>
          <p:nvPr>
            <p:ph idx="1" type="body"/>
          </p:nvPr>
        </p:nvSpPr>
        <p:spPr>
          <a:xfrm>
            <a:off x="1066800" y="2103120"/>
            <a:ext cx="46005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How much a point contributes to a certain position?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Q(t) = 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(1–3t+3t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–t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p1 + 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(3t–6t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+3t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p2 + 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(3t</a:t>
            </a:r>
            <a:r>
              <a:rPr baseline="30000"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–3t</a:t>
            </a:r>
            <a:r>
              <a:rPr baseline="30000"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p3 + </a:t>
            </a:r>
            <a:r>
              <a:rPr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30000"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p4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624" name="Google Shape;62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188" y="2180492"/>
            <a:ext cx="3863645" cy="3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31" name="Google Shape;631;p73"/>
          <p:cNvSpPr txBox="1"/>
          <p:nvPr>
            <p:ph idx="1" type="body"/>
          </p:nvPr>
        </p:nvSpPr>
        <p:spPr>
          <a:xfrm>
            <a:off x="1066800" y="2103120"/>
            <a:ext cx="46005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6002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Q(t) = 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(1–3t+3t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–t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p1 + 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(3t–6t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+3t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p2 + 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(3t</a:t>
            </a:r>
            <a:r>
              <a:rPr baseline="30000"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–3t</a:t>
            </a:r>
            <a:r>
              <a:rPr baseline="30000"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p3 + </a:t>
            </a:r>
            <a:r>
              <a:rPr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30000"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p4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16002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Sum of polynomials = 1</a:t>
            </a:r>
            <a:endParaRPr/>
          </a:p>
          <a:p>
            <a:pPr indent="-16002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16667"/>
              <a:buChar char="◦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So, a point on the curve is a </a:t>
            </a:r>
            <a:r>
              <a:rPr b="1" i="1" lang="en-US">
                <a:latin typeface="Consolas"/>
                <a:ea typeface="Consolas"/>
                <a:cs typeface="Consolas"/>
                <a:sym typeface="Consolas"/>
              </a:rPr>
              <a:t>convex combination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of the control points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/>
          </a:p>
        </p:txBody>
      </p:sp>
      <p:pic>
        <p:nvPicPr>
          <p:cNvPr id="632" name="Google Shape;63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188" y="2180492"/>
            <a:ext cx="3863645" cy="3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39" name="Google Shape;639;p74"/>
          <p:cNvSpPr txBox="1"/>
          <p:nvPr>
            <p:ph idx="1" type="body"/>
          </p:nvPr>
        </p:nvSpPr>
        <p:spPr>
          <a:xfrm>
            <a:off x="1066800" y="2103120"/>
            <a:ext cx="100584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3716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714"/>
              <a:buChar char="◦"/>
            </a:pPr>
            <a:r>
              <a:rPr lang="en-US"/>
              <a:t>Different Bernstein polynomial values for different values of t:</a:t>
            </a:r>
            <a:endParaRPr/>
          </a:p>
          <a:p>
            <a:pPr indent="-13716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https://editor.p5js.org/shonku/sketches/9dlzE16jW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/>
          </a:p>
        </p:txBody>
      </p:sp>
      <p:pic>
        <p:nvPicPr>
          <p:cNvPr id="640" name="Google Shape;64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8717" y="3451561"/>
            <a:ext cx="6294567" cy="27638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1" name="Google Shape;641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Convex Hull Property</a:t>
            </a:r>
            <a:endParaRPr/>
          </a:p>
        </p:txBody>
      </p:sp>
      <p:sp>
        <p:nvSpPr>
          <p:cNvPr id="647" name="Google Shape;647;p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48" name="Google Shape;648;p75"/>
          <p:cNvSpPr txBox="1"/>
          <p:nvPr/>
        </p:nvSpPr>
        <p:spPr>
          <a:xfrm>
            <a:off x="1066800" y="5629578"/>
            <a:ext cx="10058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Not need for this course: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https://math.stackexchange.com/questions/229354/proof-that-the-convex-hull-of-a-finite-set-s-is-equal-to-all-convex-combinations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Convex Hull Property</a:t>
            </a:r>
            <a:endParaRPr/>
          </a:p>
        </p:txBody>
      </p:sp>
      <p:sp>
        <p:nvSpPr>
          <p:cNvPr id="655" name="Google Shape;655;p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1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656" name="Google Shape;656;p76"/>
          <p:cNvGrpSpPr/>
          <p:nvPr/>
        </p:nvGrpSpPr>
        <p:grpSpPr>
          <a:xfrm>
            <a:off x="1138756" y="3429000"/>
            <a:ext cx="2696050" cy="2619020"/>
            <a:chOff x="1066800" y="3315957"/>
            <a:chExt cx="2696050" cy="2619020"/>
          </a:xfrm>
        </p:grpSpPr>
        <p:pic>
          <p:nvPicPr>
            <p:cNvPr id="657" name="Google Shape;657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800" y="3315957"/>
              <a:ext cx="2696050" cy="2619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76"/>
            <p:cNvSpPr/>
            <p:nvPr/>
          </p:nvSpPr>
          <p:spPr>
            <a:xfrm>
              <a:off x="1341957" y="3466681"/>
              <a:ext cx="2245305" cy="2328148"/>
            </a:xfrm>
            <a:custGeom>
              <a:rect b="b" l="l" r="r" t="t"/>
              <a:pathLst>
                <a:path extrusionOk="0" h="2328148" w="2245305">
                  <a:moveTo>
                    <a:pt x="4522" y="2321170"/>
                  </a:moveTo>
                  <a:lnTo>
                    <a:pt x="2245305" y="954594"/>
                  </a:lnTo>
                  <a:lnTo>
                    <a:pt x="1260566" y="0"/>
                  </a:lnTo>
                  <a:lnTo>
                    <a:pt x="84909" y="813917"/>
                  </a:lnTo>
                  <a:cubicBezTo>
                    <a:pt x="41366" y="1259394"/>
                    <a:pt x="43543" y="1882671"/>
                    <a:pt x="0" y="2328148"/>
                  </a:cubicBezTo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59" name="Google Shape;659;p76"/>
          <p:cNvGrpSpPr/>
          <p:nvPr/>
        </p:nvGrpSpPr>
        <p:grpSpPr>
          <a:xfrm>
            <a:off x="4660297" y="3429000"/>
            <a:ext cx="3084078" cy="2619019"/>
            <a:chOff x="4588341" y="3315957"/>
            <a:chExt cx="3084078" cy="2619019"/>
          </a:xfrm>
        </p:grpSpPr>
        <p:pic>
          <p:nvPicPr>
            <p:cNvPr id="660" name="Google Shape;660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88341" y="3315957"/>
              <a:ext cx="3084078" cy="2619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76"/>
            <p:cNvSpPr/>
            <p:nvPr/>
          </p:nvSpPr>
          <p:spPr>
            <a:xfrm>
              <a:off x="4815840" y="3759200"/>
              <a:ext cx="2672080" cy="1828800"/>
            </a:xfrm>
            <a:custGeom>
              <a:rect b="b" l="l" r="r" t="t"/>
              <a:pathLst>
                <a:path extrusionOk="0" h="1828800" w="2672080">
                  <a:moveTo>
                    <a:pt x="0" y="1828800"/>
                  </a:moveTo>
                  <a:lnTo>
                    <a:pt x="1930400" y="1727200"/>
                  </a:lnTo>
                  <a:lnTo>
                    <a:pt x="2672080" y="162560"/>
                  </a:lnTo>
                  <a:lnTo>
                    <a:pt x="101600" y="0"/>
                  </a:lnTo>
                  <a:lnTo>
                    <a:pt x="0" y="1828800"/>
                  </a:lnTo>
                  <a:close/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62" name="Google Shape;662;p76"/>
          <p:cNvGrpSpPr/>
          <p:nvPr/>
        </p:nvGrpSpPr>
        <p:grpSpPr>
          <a:xfrm>
            <a:off x="8704310" y="3429000"/>
            <a:ext cx="2420890" cy="2540053"/>
            <a:chOff x="8632354" y="3315957"/>
            <a:chExt cx="2420890" cy="2540053"/>
          </a:xfrm>
        </p:grpSpPr>
        <p:pic>
          <p:nvPicPr>
            <p:cNvPr id="663" name="Google Shape;663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32354" y="3315957"/>
              <a:ext cx="2420890" cy="2540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76"/>
            <p:cNvSpPr/>
            <p:nvPr/>
          </p:nvSpPr>
          <p:spPr>
            <a:xfrm>
              <a:off x="9144000" y="3525520"/>
              <a:ext cx="1625600" cy="2092960"/>
            </a:xfrm>
            <a:custGeom>
              <a:rect b="b" l="l" r="r" t="t"/>
              <a:pathLst>
                <a:path extrusionOk="0" h="2092960" w="1625600">
                  <a:moveTo>
                    <a:pt x="106680" y="0"/>
                  </a:moveTo>
                  <a:lnTo>
                    <a:pt x="0" y="1859280"/>
                  </a:lnTo>
                  <a:lnTo>
                    <a:pt x="1625600" y="2092960"/>
                  </a:lnTo>
                  <a:lnTo>
                    <a:pt x="10668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65" name="Google Shape;665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Derivatives</a:t>
            </a:r>
            <a:endParaRPr/>
          </a:p>
        </p:txBody>
      </p:sp>
      <p:sp>
        <p:nvSpPr>
          <p:cNvPr id="671" name="Google Shape;671;p77"/>
          <p:cNvSpPr txBox="1"/>
          <p:nvPr>
            <p:ph idx="1" type="body"/>
          </p:nvPr>
        </p:nvSpPr>
        <p:spPr>
          <a:xfrm>
            <a:off x="838200" y="19018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0" l="-600" r="0" t="-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72" name="Google Shape;672;p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Derivatives</a:t>
            </a:r>
            <a:endParaRPr/>
          </a:p>
        </p:txBody>
      </p:sp>
      <p:sp>
        <p:nvSpPr>
          <p:cNvPr id="678" name="Google Shape;678;p7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00" r="0" t="-4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79" name="Google Shape;679;p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685" name="Google Shape;685;p7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C(0) continuous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Not enough</a:t>
            </a:r>
            <a:endParaRPr/>
          </a:p>
        </p:txBody>
      </p:sp>
      <p:pic>
        <p:nvPicPr>
          <p:cNvPr id="686" name="Google Shape;68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976" y="2278238"/>
            <a:ext cx="4237087" cy="3276884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694" name="Google Shape;694;p80"/>
          <p:cNvSpPr txBox="1"/>
          <p:nvPr>
            <p:ph idx="1" type="body"/>
          </p:nvPr>
        </p:nvSpPr>
        <p:spPr>
          <a:xfrm>
            <a:off x="1066800" y="2103125"/>
            <a:ext cx="6501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How to ensure C(1)?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See the smoothness in action: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https://math.hws.edu/eck/cs424/notes2013/canvas/bezier.html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Coding Example: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https://editor.p5js.org/shonku/sketches/1wWKxEu0j</a:t>
            </a:r>
            <a:endParaRPr/>
          </a:p>
        </p:txBody>
      </p:sp>
      <p:pic>
        <p:nvPicPr>
          <p:cNvPr id="695" name="Google Shape;69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8224" y="1973626"/>
            <a:ext cx="4350776" cy="356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80"/>
          <p:cNvCxnSpPr/>
          <p:nvPr/>
        </p:nvCxnSpPr>
        <p:spPr>
          <a:xfrm flipH="1" rot="10800000">
            <a:off x="7818120" y="3468257"/>
            <a:ext cx="2367300" cy="1574700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7" name="Google Shape;697;p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04" name="Google Shape;704;p81"/>
          <p:cNvSpPr txBox="1"/>
          <p:nvPr>
            <p:ph idx="1" type="body"/>
          </p:nvPr>
        </p:nvSpPr>
        <p:spPr>
          <a:xfrm>
            <a:off x="1066800" y="2103120"/>
            <a:ext cx="4643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70" r="0" t="-7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705" name="Google Shape;705;p81"/>
          <p:cNvGrpSpPr/>
          <p:nvPr/>
        </p:nvGrpSpPr>
        <p:grpSpPr>
          <a:xfrm>
            <a:off x="6207543" y="1918454"/>
            <a:ext cx="4999153" cy="4195655"/>
            <a:chOff x="6207543" y="1918454"/>
            <a:chExt cx="4999153" cy="4195655"/>
          </a:xfrm>
        </p:grpSpPr>
        <p:pic>
          <p:nvPicPr>
            <p:cNvPr id="706" name="Google Shape;706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543" y="2014194"/>
              <a:ext cx="4999153" cy="409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81"/>
            <p:cNvSpPr txBox="1"/>
            <p:nvPr/>
          </p:nvSpPr>
          <p:spPr>
            <a:xfrm>
              <a:off x="7213600" y="35458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81"/>
            <p:cNvSpPr txBox="1"/>
            <p:nvPr/>
          </p:nvSpPr>
          <p:spPr>
            <a:xfrm>
              <a:off x="8890000" y="46634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81"/>
            <p:cNvSpPr txBox="1"/>
            <p:nvPr/>
          </p:nvSpPr>
          <p:spPr>
            <a:xfrm>
              <a:off x="6316980" y="4010811"/>
              <a:ext cx="327600" cy="369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11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81"/>
            <p:cNvSpPr txBox="1"/>
            <p:nvPr/>
          </p:nvSpPr>
          <p:spPr>
            <a:xfrm>
              <a:off x="7608570" y="1918454"/>
              <a:ext cx="3276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67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81"/>
            <p:cNvSpPr txBox="1"/>
            <p:nvPr/>
          </p:nvSpPr>
          <p:spPr>
            <a:xfrm>
              <a:off x="6480810" y="5382411"/>
              <a:ext cx="3276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81"/>
            <p:cNvSpPr txBox="1"/>
            <p:nvPr/>
          </p:nvSpPr>
          <p:spPr>
            <a:xfrm>
              <a:off x="7772400" y="4645308"/>
              <a:ext cx="327600" cy="369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74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81"/>
            <p:cNvSpPr txBox="1"/>
            <p:nvPr/>
          </p:nvSpPr>
          <p:spPr>
            <a:xfrm>
              <a:off x="9005570" y="3397437"/>
              <a:ext cx="327600" cy="369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64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81"/>
            <p:cNvSpPr txBox="1"/>
            <p:nvPr/>
          </p:nvSpPr>
          <p:spPr>
            <a:xfrm>
              <a:off x="9333230" y="5391314"/>
              <a:ext cx="327600" cy="369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81"/>
            <p:cNvSpPr txBox="1"/>
            <p:nvPr/>
          </p:nvSpPr>
          <p:spPr>
            <a:xfrm>
              <a:off x="10686833" y="4195477"/>
              <a:ext cx="327600" cy="369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23" name="Google Shape;723;p82"/>
          <p:cNvSpPr txBox="1"/>
          <p:nvPr>
            <p:ph idx="1" type="body"/>
          </p:nvPr>
        </p:nvSpPr>
        <p:spPr>
          <a:xfrm>
            <a:off x="1066800" y="2103120"/>
            <a:ext cx="4643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00" r="-23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724" name="Google Shape;724;p82"/>
          <p:cNvGrpSpPr/>
          <p:nvPr/>
        </p:nvGrpSpPr>
        <p:grpSpPr>
          <a:xfrm>
            <a:off x="6207543" y="1918454"/>
            <a:ext cx="4999153" cy="4195655"/>
            <a:chOff x="6207543" y="1918454"/>
            <a:chExt cx="4999153" cy="4195655"/>
          </a:xfrm>
        </p:grpSpPr>
        <p:pic>
          <p:nvPicPr>
            <p:cNvPr id="725" name="Google Shape;725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543" y="2014194"/>
              <a:ext cx="4999153" cy="409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82"/>
            <p:cNvSpPr txBox="1"/>
            <p:nvPr/>
          </p:nvSpPr>
          <p:spPr>
            <a:xfrm>
              <a:off x="7213600" y="35458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82"/>
            <p:cNvSpPr txBox="1"/>
            <p:nvPr/>
          </p:nvSpPr>
          <p:spPr>
            <a:xfrm>
              <a:off x="8890000" y="46634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82"/>
            <p:cNvSpPr txBox="1"/>
            <p:nvPr/>
          </p:nvSpPr>
          <p:spPr>
            <a:xfrm>
              <a:off x="6316980" y="4010811"/>
              <a:ext cx="327600" cy="369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11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82"/>
            <p:cNvSpPr txBox="1"/>
            <p:nvPr/>
          </p:nvSpPr>
          <p:spPr>
            <a:xfrm>
              <a:off x="7608570" y="1918454"/>
              <a:ext cx="3276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67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82"/>
            <p:cNvSpPr txBox="1"/>
            <p:nvPr/>
          </p:nvSpPr>
          <p:spPr>
            <a:xfrm>
              <a:off x="6480810" y="5382411"/>
              <a:ext cx="3276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82"/>
            <p:cNvSpPr txBox="1"/>
            <p:nvPr/>
          </p:nvSpPr>
          <p:spPr>
            <a:xfrm>
              <a:off x="7772400" y="4645308"/>
              <a:ext cx="327600" cy="369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74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82"/>
            <p:cNvSpPr txBox="1"/>
            <p:nvPr/>
          </p:nvSpPr>
          <p:spPr>
            <a:xfrm>
              <a:off x="9005570" y="3397437"/>
              <a:ext cx="327600" cy="369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64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82"/>
            <p:cNvSpPr txBox="1"/>
            <p:nvPr/>
          </p:nvSpPr>
          <p:spPr>
            <a:xfrm>
              <a:off x="9333230" y="5391314"/>
              <a:ext cx="327600" cy="369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82"/>
            <p:cNvSpPr txBox="1"/>
            <p:nvPr/>
          </p:nvSpPr>
          <p:spPr>
            <a:xfrm>
              <a:off x="10686833" y="4195477"/>
              <a:ext cx="327600" cy="369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29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5" name="Google Shape;735;p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42" name="Google Shape;742;p83"/>
          <p:cNvSpPr txBox="1"/>
          <p:nvPr>
            <p:ph idx="1" type="body"/>
          </p:nvPr>
        </p:nvSpPr>
        <p:spPr>
          <a:xfrm>
            <a:off x="1066800" y="2103120"/>
            <a:ext cx="8818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Difference of C and G continuity</a:t>
            </a:r>
            <a:endParaRPr/>
          </a:p>
        </p:txBody>
      </p:sp>
      <p:pic>
        <p:nvPicPr>
          <p:cNvPr id="743" name="Google Shape;743;p83"/>
          <p:cNvPicPr preferRelativeResize="0"/>
          <p:nvPr/>
        </p:nvPicPr>
        <p:blipFill rotWithShape="1">
          <a:blip r:embed="rId3">
            <a:alphaModFix/>
          </a:blip>
          <a:srcRect b="4297" l="0" r="0" t="0"/>
          <a:stretch/>
        </p:blipFill>
        <p:spPr>
          <a:xfrm>
            <a:off x="1066800" y="2761006"/>
            <a:ext cx="4249787" cy="297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6720" y="2761006"/>
            <a:ext cx="4551680" cy="2977857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83"/>
          <p:cNvSpPr txBox="1"/>
          <p:nvPr/>
        </p:nvSpPr>
        <p:spPr>
          <a:xfrm>
            <a:off x="2001520" y="4446006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3"/>
          <p:cNvSpPr txBox="1"/>
          <p:nvPr/>
        </p:nvSpPr>
        <p:spPr>
          <a:xfrm>
            <a:off x="7802880" y="5126726"/>
            <a:ext cx="179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G(1), Not C(1)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4"/>
          <p:cNvSpPr txBox="1"/>
          <p:nvPr>
            <p:ph idx="1" type="body"/>
          </p:nvPr>
        </p:nvSpPr>
        <p:spPr>
          <a:xfrm>
            <a:off x="1066800" y="2784255"/>
            <a:ext cx="100584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That’s all</a:t>
            </a:r>
            <a:endParaRPr/>
          </a:p>
        </p:txBody>
      </p:sp>
      <p:sp>
        <p:nvSpPr>
          <p:cNvPr id="753" name="Google Shape;753;p8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Thanks to…</a:t>
            </a:r>
            <a:endParaRPr/>
          </a:p>
        </p:txBody>
      </p:sp>
      <p:sp>
        <p:nvSpPr>
          <p:cNvPr id="759" name="Google Shape;759;p8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Prof. Michael Gleicher for his CS599 course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https://pages.graphics.cs.wisc.edu/559-sp22/</a:t>
            </a:r>
            <a:r>
              <a:rPr lang="en-US"/>
              <a:t> </a:t>
            </a:r>
            <a:endParaRPr/>
          </a:p>
          <a:p>
            <a:pPr indent="-3047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https://www.cs.utexas.edu/users/fussell/courses/cs384g-fall2011/lectures/lecture17-Subdivision_curves.pdf</a:t>
            </a:r>
            <a:r>
              <a:rPr lang="en-US"/>
              <a:t> </a:t>
            </a:r>
            <a:endParaRPr/>
          </a:p>
        </p:txBody>
      </p:sp>
      <p:sp>
        <p:nvSpPr>
          <p:cNvPr id="760" name="Google Shape;760;p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Thanks to…</a:t>
            </a:r>
            <a:endParaRPr/>
          </a:p>
        </p:txBody>
      </p:sp>
      <p:sp>
        <p:nvSpPr>
          <p:cNvPr id="766" name="Google Shape;766;p86"/>
          <p:cNvSpPr txBox="1"/>
          <p:nvPr>
            <p:ph idx="1" type="body"/>
          </p:nvPr>
        </p:nvSpPr>
        <p:spPr>
          <a:xfrm>
            <a:off x="1066800" y="2103120"/>
            <a:ext cx="51531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Freya Holmér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“The Beauty of Bézier Curves”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https://www.youtube.com/watch?v=aVwxzDHniEw</a:t>
            </a:r>
            <a:r>
              <a:rPr lang="en-US"/>
              <a:t>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“The Continuity of Splines”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https://www.youtube.com/watch?v=jvPPXbo87ds</a:t>
            </a:r>
            <a:r>
              <a:rPr lang="en-US"/>
              <a:t> </a:t>
            </a:r>
            <a:endParaRPr/>
          </a:p>
        </p:txBody>
      </p:sp>
      <p:pic>
        <p:nvPicPr>
          <p:cNvPr id="767" name="Google Shape;767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2537" y="1783170"/>
            <a:ext cx="2816554" cy="19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2537" y="4138579"/>
            <a:ext cx="2817845" cy="201790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8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