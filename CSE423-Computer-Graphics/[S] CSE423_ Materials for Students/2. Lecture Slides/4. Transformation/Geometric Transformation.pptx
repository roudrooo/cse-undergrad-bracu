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Garamond" panose="02020404030301010803" pitchFamily="18" charset="0"/>
      <p:regular r:id="rId65"/>
      <p:bold r:id="rId66"/>
      <p:italic r:id="rId67"/>
      <p:boldItalic r:id="rId68"/>
    </p:embeddedFont>
    <p:embeddedFont>
      <p:font typeface="Noto Sans Symbols" pitchFamily="2" charset="0"/>
      <p:regular r:id="rId69"/>
      <p:bold r:id="rId70"/>
    </p:embeddedFont>
    <p:embeddedFont>
      <p:font typeface="Tahoma" panose="020B0604030504040204" pitchFamily="34" charset="0"/>
      <p:regular r:id="rId71"/>
      <p:bold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31"/>
  </p:normalViewPr>
  <p:slideViewPr>
    <p:cSldViewPr snapToGrid="0">
      <p:cViewPr varScale="1">
        <p:scale>
          <a:sx n="163" d="100"/>
          <a:sy n="163" d="100"/>
        </p:scale>
        <p:origin x="18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5</a:t>
            </a:fld>
            <a:endParaRPr sz="1400" b="0" i="0" u="none" strike="noStrike" cap="none">
              <a:solidFill>
                <a:srgbClr val="000000"/>
              </a:solidFill>
              <a:latin typeface="Arial"/>
              <a:ea typeface="Arial"/>
              <a:cs typeface="Arial"/>
              <a:sym typeface="Arial"/>
            </a:endParaRPr>
          </a:p>
        </p:txBody>
      </p:sp>
      <p:sp>
        <p:nvSpPr>
          <p:cNvPr id="156" name="Google Shape;1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7" name="Google Shape;157;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6</a:t>
            </a:fld>
            <a:endParaRPr sz="1400" b="0" i="0" u="none" strike="noStrike" cap="none">
              <a:solidFill>
                <a:srgbClr val="000000"/>
              </a:solidFill>
              <a:latin typeface="Arial"/>
              <a:ea typeface="Arial"/>
              <a:cs typeface="Arial"/>
              <a:sym typeface="Arial"/>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67" name="Google Shape;167;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7</a:t>
            </a:fld>
            <a:endParaRPr sz="1400" b="0" i="0" u="none" strike="noStrike" cap="none">
              <a:solidFill>
                <a:srgbClr val="000000"/>
              </a:solidFill>
              <a:latin typeface="Arial"/>
              <a:ea typeface="Arial"/>
              <a:cs typeface="Arial"/>
              <a:sym typeface="Arial"/>
            </a:endParaRPr>
          </a:p>
        </p:txBody>
      </p:sp>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81" name="Google Shape;181;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8</a:t>
            </a:fld>
            <a:endParaRPr sz="1400" b="0" i="0" u="none" strike="noStrike" cap="none">
              <a:solidFill>
                <a:srgbClr val="000000"/>
              </a:solidFill>
              <a:latin typeface="Arial"/>
              <a:ea typeface="Arial"/>
              <a:cs typeface="Arial"/>
              <a:sym typeface="Arial"/>
            </a:endParaRPr>
          </a:p>
        </p:txBody>
      </p:sp>
      <p:sp>
        <p:nvSpPr>
          <p:cNvPr id="197" name="Google Shape;1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98" name="Google Shape;198;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24c97c9df4_10_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9</a:t>
            </a:fld>
            <a:endParaRPr sz="1400" b="0" i="0" u="none" strike="noStrike" cap="none">
              <a:solidFill>
                <a:srgbClr val="000000"/>
              </a:solidFill>
              <a:latin typeface="Arial"/>
              <a:ea typeface="Arial"/>
              <a:cs typeface="Arial"/>
              <a:sym typeface="Arial"/>
            </a:endParaRPr>
          </a:p>
        </p:txBody>
      </p:sp>
      <p:sp>
        <p:nvSpPr>
          <p:cNvPr id="218" name="Google Shape;218;g324c97c9df4_1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19" name="Google Shape;219;g324c97c9df4_1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10</a:t>
            </a:fld>
            <a:endParaRPr sz="1400" b="0" i="0" u="none" strike="noStrike" cap="none">
              <a:solidFill>
                <a:srgbClr val="000000"/>
              </a:solidFill>
              <a:latin typeface="Arial"/>
              <a:ea typeface="Arial"/>
              <a:cs typeface="Arial"/>
              <a:sym typeface="Arial"/>
            </a:endParaRPr>
          </a:p>
        </p:txBody>
      </p:sp>
      <p:sp>
        <p:nvSpPr>
          <p:cNvPr id="240" name="Google Shape;24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41" name="Google Shape;241;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11</a:t>
            </a:fld>
            <a:endParaRPr sz="1400" b="0" i="0" u="none" strike="noStrike" cap="none">
              <a:solidFill>
                <a:srgbClr val="000000"/>
              </a:solidFill>
              <a:latin typeface="Arial"/>
              <a:ea typeface="Arial"/>
              <a:cs typeface="Arial"/>
              <a:sym typeface="Arial"/>
            </a:endParaRPr>
          </a:p>
        </p:txBody>
      </p:sp>
      <p:sp>
        <p:nvSpPr>
          <p:cNvPr id="264" name="Google Shape;26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65" name="Google Shape;265;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12</a:t>
            </a:fld>
            <a:endParaRPr sz="1400" b="0" i="0" u="none" strike="noStrike" cap="none">
              <a:solidFill>
                <a:srgbClr val="000000"/>
              </a:solidFill>
              <a:latin typeface="Arial"/>
              <a:ea typeface="Arial"/>
              <a:cs typeface="Arial"/>
              <a:sym typeface="Arial"/>
            </a:endParaRPr>
          </a:p>
        </p:txBody>
      </p:sp>
      <p:sp>
        <p:nvSpPr>
          <p:cNvPr id="293" name="Google Shape;29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4" name="Google Shape;294;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13</a:t>
            </a:fld>
            <a:endParaRPr sz="1400" b="0" i="0" u="none" strike="noStrike" cap="none">
              <a:solidFill>
                <a:srgbClr val="000000"/>
              </a:solidFill>
              <a:latin typeface="Arial"/>
              <a:ea typeface="Arial"/>
              <a:cs typeface="Arial"/>
              <a:sym typeface="Arial"/>
            </a:endParaRPr>
          </a:p>
        </p:txBody>
      </p:sp>
      <p:sp>
        <p:nvSpPr>
          <p:cNvPr id="312" name="Google Shape;31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13" name="Google Shape;313;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a:t>Only linear of points is valid in an affine combination</a:t>
            </a:r>
            <a:endParaRPr/>
          </a:p>
        </p:txBody>
      </p:sp>
      <p:sp>
        <p:nvSpPr>
          <p:cNvPr id="344" name="Google Shape;344;p1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15</a:t>
            </a:fld>
            <a:endParaRPr sz="1400" b="0" i="0" u="none" strike="noStrike" cap="none">
              <a:solidFill>
                <a:srgbClr val="000000"/>
              </a:solidFill>
              <a:latin typeface="Arial"/>
              <a:ea typeface="Arial"/>
              <a:cs typeface="Arial"/>
              <a:sym typeface="Arial"/>
            </a:endParaRPr>
          </a:p>
        </p:txBody>
      </p:sp>
      <p:sp>
        <p:nvSpPr>
          <p:cNvPr id="351" name="Google Shape;35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52" name="Google Shape;352;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16</a:t>
            </a:fld>
            <a:endParaRPr sz="1400" b="0" i="0" u="none" strike="noStrike" cap="none">
              <a:solidFill>
                <a:srgbClr val="000000"/>
              </a:solidFill>
              <a:latin typeface="Arial"/>
              <a:ea typeface="Arial"/>
              <a:cs typeface="Arial"/>
              <a:sym typeface="Arial"/>
            </a:endParaRPr>
          </a:p>
        </p:txBody>
      </p:sp>
      <p:sp>
        <p:nvSpPr>
          <p:cNvPr id="370" name="Google Shape;37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71" name="Google Shape;371;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8" name="Google Shape;38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18</a:t>
            </a:fld>
            <a:endParaRPr sz="1400" b="0" i="0" u="none" strike="noStrike" cap="none">
              <a:solidFill>
                <a:srgbClr val="000000"/>
              </a:solidFill>
              <a:latin typeface="Arial"/>
              <a:ea typeface="Arial"/>
              <a:cs typeface="Arial"/>
              <a:sym typeface="Arial"/>
            </a:endParaRPr>
          </a:p>
        </p:txBody>
      </p:sp>
      <p:sp>
        <p:nvSpPr>
          <p:cNvPr id="411" name="Google Shape;41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12" name="Google Shape;412;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https://www.youtube.com/watch?v=E3Phj6J287o&amp;list=PLMZnvBHNk2GWK8i1lcxx4exUXjtK8QSgK&amp;index=13</a:t>
            </a:r>
            <a:endParaRPr/>
          </a:p>
        </p:txBody>
      </p:sp>
      <p:sp>
        <p:nvSpPr>
          <p:cNvPr id="418" name="Google Shape;41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20</a:t>
            </a:fld>
            <a:endParaRPr sz="1400" b="0" i="0" u="none" strike="noStrike" cap="none">
              <a:solidFill>
                <a:srgbClr val="000000"/>
              </a:solidFill>
              <a:latin typeface="Arial"/>
              <a:ea typeface="Arial"/>
              <a:cs typeface="Arial"/>
              <a:sym typeface="Arial"/>
            </a:endParaRPr>
          </a:p>
        </p:txBody>
      </p:sp>
      <p:sp>
        <p:nvSpPr>
          <p:cNvPr id="425" name="Google Shape;42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26" name="Google Shape;426;p21:notes"/>
          <p:cNvSpPr txBox="1">
            <a:spLocks noGrp="1"/>
          </p:cNvSpPr>
          <p:nvPr>
            <p:ph type="body" idx="1"/>
          </p:nvPr>
        </p:nvSpPr>
        <p:spPr>
          <a:xfrm>
            <a:off x="914400" y="4343400"/>
            <a:ext cx="5029200" cy="41148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1" name="Google Shape;45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7" name="Google Shape;49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27</a:t>
            </a:fld>
            <a:endParaRPr sz="1400" b="0" i="0" u="none" strike="noStrike" cap="none">
              <a:solidFill>
                <a:srgbClr val="000000"/>
              </a:solidFill>
              <a:latin typeface="Arial"/>
              <a:ea typeface="Arial"/>
              <a:cs typeface="Arial"/>
              <a:sym typeface="Arial"/>
            </a:endParaRPr>
          </a:p>
        </p:txBody>
      </p:sp>
      <p:sp>
        <p:nvSpPr>
          <p:cNvPr id="519" name="Google Shape;51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20" name="Google Shape;520;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1" name="Google Shape;561;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62959255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9" name="Google Shape;579;g262959255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4" name="Google Shape;59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3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2" name="Google Shape;60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4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2" name="Google Shape;62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2a721d4622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1" name="Google Shape;631;g32a721d462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0" name="Google Shape;64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3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7" name="Google Shape;64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4" name="Google Shape;65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3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39</a:t>
            </a:fld>
            <a:endParaRPr sz="1400" b="0" i="0" u="none" strike="noStrike" cap="none">
              <a:solidFill>
                <a:srgbClr val="000000"/>
              </a:solidFill>
              <a:latin typeface="Arial"/>
              <a:ea typeface="Arial"/>
              <a:cs typeface="Arial"/>
              <a:sym typeface="Arial"/>
            </a:endParaRPr>
          </a:p>
        </p:txBody>
      </p:sp>
      <p:sp>
        <p:nvSpPr>
          <p:cNvPr id="660" name="Google Shape;66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61" name="Google Shape;661;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3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2400"/>
              <a:buFont typeface="Times New Roman"/>
              <a:buNone/>
            </a:pPr>
            <a:fld id="{00000000-1234-1234-1234-123412341234}" type="slidenum">
              <a:rPr lang="en-US" sz="2400" b="0" i="0" u="none" strike="noStrike" cap="none">
                <a:solidFill>
                  <a:srgbClr val="000000"/>
                </a:solidFill>
                <a:latin typeface="Times New Roman"/>
                <a:ea typeface="Times New Roman"/>
                <a:cs typeface="Times New Roman"/>
                <a:sym typeface="Times New Roman"/>
              </a:rPr>
              <a:t>40</a:t>
            </a:fld>
            <a:endParaRPr sz="1400" b="0" i="0" u="none" strike="noStrike" cap="none">
              <a:solidFill>
                <a:srgbClr val="000000"/>
              </a:solidFill>
              <a:latin typeface="Arial"/>
              <a:ea typeface="Arial"/>
              <a:cs typeface="Arial"/>
              <a:sym typeface="Arial"/>
            </a:endParaRPr>
          </a:p>
        </p:txBody>
      </p:sp>
      <p:sp>
        <p:nvSpPr>
          <p:cNvPr id="721" name="Google Shape;72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22" name="Google Shape;722;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3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p4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6297c2c666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297c2c66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6297c2c666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6297c2c666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6297c2c666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6297c2c666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6297c2c666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88" name="Google Shape;988;g26297c2c666_0_4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6297c2c666_0_43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Times New Roman"/>
              <a:buNone/>
            </a:pPr>
            <a:fld id="{00000000-1234-1234-1234-123412341234}" type="slidenum">
              <a:rPr lang="en-US"/>
              <a:t>51</a:t>
            </a:fld>
            <a:endParaRPr sz="1400">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6297c2c666_0_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6297c2c666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6297c2c666_0_44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6297c2c666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6297c2c666_0_2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6297c2c666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6297c2c666_0_2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6297c2c666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6297c2c666_0_2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26297c2c666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6297c2c666_0_3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0" name="Google Shape;1120;g26297c2c666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26297c2c666_0_3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26297c2c666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26297c2c666_0_3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1" name="Google Shape;1151;g26297c2c666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26297c2c666_0_3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4" name="Google Shape;1174;g26297c2c666_0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g39e1d93997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85" name="Google Shape;1185;g39e1d93997e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g39e1d93997e_0_0: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Times New Roman"/>
              <a:buNone/>
            </a:pPr>
            <a:fld id="{00000000-1234-1234-1234-123412341234}" type="slidenum">
              <a:rPr lang="en-US"/>
              <a:t>61</a:t>
            </a:fld>
            <a:endParaRPr sz="1400">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6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3" name="Google Shape;119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2"/>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8" name="Google Shape;18;p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2"/>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22" name="Google Shape;22;p2"/>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23" name="Google Shape;23;p2"/>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 name="Google Shape;26;p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 name="Google Shape;27;p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0" name="Google Shape;30;p3"/>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31" name="Google Shape;31;p3"/>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32" name="Google Shape;32;p3"/>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lip Art and Text" type="clipArtAndTx">
  <p:cSld name="CLIPART_AND_TEXT">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1528763" y="57150"/>
            <a:ext cx="7564500" cy="857400"/>
          </a:xfrm>
          <a:prstGeom prst="rect">
            <a:avLst/>
          </a:prstGeom>
          <a:noFill/>
          <a:ln>
            <a:noFill/>
          </a:ln>
        </p:spPr>
        <p:txBody>
          <a:bodyPr spcFirstLastPara="1" wrap="square" lIns="92075" tIns="46025" rIns="92075" bIns="460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
          <p:cNvSpPr>
            <a:spLocks noGrp="1"/>
          </p:cNvSpPr>
          <p:nvPr>
            <p:ph type="clipArt" idx="2"/>
          </p:nvPr>
        </p:nvSpPr>
        <p:spPr>
          <a:xfrm>
            <a:off x="1479550" y="1085850"/>
            <a:ext cx="3737100" cy="3486300"/>
          </a:xfrm>
          <a:prstGeom prst="rect">
            <a:avLst/>
          </a:prstGeom>
          <a:noFill/>
          <a:ln>
            <a:noFill/>
          </a:ln>
        </p:spPr>
        <p:txBody>
          <a:bodyPr/>
          <a:lstStyle/>
          <a:p>
            <a:endParaRPr lang="en-BD"/>
          </a:p>
        </p:txBody>
      </p:sp>
      <p:sp>
        <p:nvSpPr>
          <p:cNvPr id="36" name="Google Shape;36;p4"/>
          <p:cNvSpPr txBox="1">
            <a:spLocks noGrp="1"/>
          </p:cNvSpPr>
          <p:nvPr>
            <p:ph type="body" idx="1"/>
          </p:nvPr>
        </p:nvSpPr>
        <p:spPr>
          <a:xfrm>
            <a:off x="5368925" y="1085850"/>
            <a:ext cx="3737100" cy="3486300"/>
          </a:xfrm>
          <a:prstGeom prst="rect">
            <a:avLst/>
          </a:prstGeom>
          <a:noFill/>
          <a:ln>
            <a:noFill/>
          </a:ln>
        </p:spPr>
        <p:txBody>
          <a:bodyPr spcFirstLastPara="1" wrap="square" lIns="92075" tIns="46025" rIns="92075" bIns="46025" anchor="t" anchorCtr="0">
            <a:noAutofit/>
          </a:bodyPr>
          <a:lstStyle>
            <a:lvl1pPr marL="457200" lvl="0" indent="-337185" algn="l">
              <a:lnSpc>
                <a:spcPct val="100000"/>
              </a:lnSpc>
              <a:spcBef>
                <a:spcPts val="360"/>
              </a:spcBef>
              <a:spcAft>
                <a:spcPts val="0"/>
              </a:spcAft>
              <a:buSzPts val="171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7" name="Google Shape;37;p4"/>
          <p:cNvSpPr txBox="1">
            <a:spLocks noGrp="1"/>
          </p:cNvSpPr>
          <p:nvPr>
            <p:ph type="dt" idx="10"/>
          </p:nvPr>
        </p:nvSpPr>
        <p:spPr>
          <a:xfrm>
            <a:off x="1481137" y="4686300"/>
            <a:ext cx="1782900" cy="3429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4"/>
          <p:cNvSpPr txBox="1">
            <a:spLocks noGrp="1"/>
          </p:cNvSpPr>
          <p:nvPr>
            <p:ph type="ftr" idx="11"/>
          </p:nvPr>
        </p:nvSpPr>
        <p:spPr>
          <a:xfrm>
            <a:off x="3797300" y="4686300"/>
            <a:ext cx="2895600" cy="3429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 name="Google Shape;39;p4"/>
          <p:cNvSpPr txBox="1">
            <a:spLocks noGrp="1"/>
          </p:cNvSpPr>
          <p:nvPr>
            <p:ph type="sldNum" idx="12"/>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2"/>
              </a:buClr>
              <a:buSzPts val="1400"/>
              <a:buFont typeface="Times New Roman"/>
              <a:buNone/>
              <a:defRPr sz="1400" b="0" i="0" u="none" strike="noStrike" cap="none">
                <a:solidFill>
                  <a:schemeClr val="dk2"/>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2" name="Google Shape;42;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 name="Google Shape;44;p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46" name="Google Shape;46;p5"/>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47" name="Google Shape;47;p5"/>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0" name="Google Shape;50;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2" name="Google Shape;52;p6"/>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53" name="Google Shape;53;p6"/>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54" name="Google Shape;54;p6"/>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7" name="Google Shape;57;p7"/>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58" name="Google Shape;58;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1" name="Google Shape;61;p7"/>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62" name="Google Shape;62;p7"/>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63" name="Google Shape;63;p7"/>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4"/>
        <p:cNvGrpSpPr/>
        <p:nvPr/>
      </p:nvGrpSpPr>
      <p:grpSpPr>
        <a:xfrm>
          <a:off x="0" y="0"/>
          <a:ext cx="0" cy="0"/>
          <a:chOff x="0" y="0"/>
          <a:chExt cx="0" cy="0"/>
        </a:xfrm>
      </p:grpSpPr>
      <p:sp>
        <p:nvSpPr>
          <p:cNvPr id="65" name="Google Shape;65;p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8" name="Google Shape;68;p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1" name="Google Shape;71;p8"/>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72" name="Google Shape;72;p8"/>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73" name="Google Shape;73;p8"/>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4"/>
        <p:cNvGrpSpPr/>
        <p:nvPr/>
      </p:nvGrpSpPr>
      <p:grpSpPr>
        <a:xfrm>
          <a:off x="0" y="0"/>
          <a:ext cx="0" cy="0"/>
          <a:chOff x="0" y="0"/>
          <a:chExt cx="0" cy="0"/>
        </a:xfrm>
      </p:grpSpPr>
      <p:sp>
        <p:nvSpPr>
          <p:cNvPr id="75" name="Google Shape;75;p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9"/>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7" name="Google Shape;77;p9"/>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79" name="Google Shape;79;p9"/>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0" name="Google Shape;80;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 name="Google Shape;82;p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3" name="Google Shape;83;p9"/>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84" name="Google Shape;84;p9"/>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85" name="Google Shape;85;p9"/>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6"/>
        <p:cNvGrpSpPr/>
        <p:nvPr/>
      </p:nvGrpSpPr>
      <p:grpSpPr>
        <a:xfrm>
          <a:off x="0" y="0"/>
          <a:ext cx="0" cy="0"/>
          <a:chOff x="0" y="0"/>
          <a:chExt cx="0" cy="0"/>
        </a:xfrm>
      </p:grpSpPr>
      <p:sp>
        <p:nvSpPr>
          <p:cNvPr id="87" name="Google Shape;87;p10"/>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0"/>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89" name="Google Shape;89;p10"/>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90" name="Google Shape;90;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 name="Google Shape;91;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3" name="Google Shape;93;p10"/>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94" name="Google Shape;94;p10"/>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95" name="Google Shape;95;p10"/>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6"/>
        <p:cNvGrpSpPr/>
        <p:nvPr/>
      </p:nvGrpSpPr>
      <p:grpSpPr>
        <a:xfrm>
          <a:off x="0" y="0"/>
          <a:ext cx="0" cy="0"/>
          <a:chOff x="0" y="0"/>
          <a:chExt cx="0" cy="0"/>
        </a:xfrm>
      </p:grpSpPr>
      <p:sp>
        <p:nvSpPr>
          <p:cNvPr id="97" name="Google Shape;97;p11"/>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11"/>
          <p:cNvSpPr>
            <a:spLocks noGrp="1"/>
          </p:cNvSpPr>
          <p:nvPr>
            <p:ph type="pic" idx="2"/>
          </p:nvPr>
        </p:nvSpPr>
        <p:spPr>
          <a:xfrm>
            <a:off x="3887391" y="740569"/>
            <a:ext cx="4629300" cy="3655200"/>
          </a:xfrm>
          <a:prstGeom prst="rect">
            <a:avLst/>
          </a:prstGeom>
          <a:noFill/>
          <a:ln>
            <a:noFill/>
          </a:ln>
        </p:spPr>
      </p:sp>
      <p:sp>
        <p:nvSpPr>
          <p:cNvPr id="99" name="Google Shape;99;p11"/>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0" name="Google Shape;100;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2" name="Google Shape;102;p1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3" name="Google Shape;103;p11"/>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104" name="Google Shape;104;p11"/>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105" name="Google Shape;105;p11"/>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6"/>
        <p:cNvGrpSpPr/>
        <p:nvPr/>
      </p:nvGrpSpPr>
      <p:grpSpPr>
        <a:xfrm>
          <a:off x="0" y="0"/>
          <a:ext cx="0" cy="0"/>
          <a:chOff x="0" y="0"/>
          <a:chExt cx="0" cy="0"/>
        </a:xfrm>
      </p:grpSpPr>
      <p:sp>
        <p:nvSpPr>
          <p:cNvPr id="107" name="Google Shape;107;p1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12"/>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9" name="Google Shape;109;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0" name="Google Shape;110;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1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2" name="Google Shape;112;p12"/>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113" name="Google Shape;113;p12"/>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114" name="Google Shape;114;p12"/>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13"/>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13"/>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8" name="Google Shape;118;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9" name="Google Shape;119;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0" name="Google Shape;120;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21" name="Google Shape;121;p13"/>
          <p:cNvPicPr preferRelativeResize="0"/>
          <p:nvPr/>
        </p:nvPicPr>
        <p:blipFill rotWithShape="1">
          <a:blip r:embed="rId2">
            <a:alphaModFix/>
          </a:blip>
          <a:srcRect/>
          <a:stretch/>
        </p:blipFill>
        <p:spPr>
          <a:xfrm>
            <a:off x="6946085" y="3096103"/>
            <a:ext cx="2200015" cy="2062351"/>
          </a:xfrm>
          <a:prstGeom prst="rect">
            <a:avLst/>
          </a:prstGeom>
          <a:noFill/>
          <a:ln>
            <a:noFill/>
          </a:ln>
        </p:spPr>
      </p:pic>
      <p:pic>
        <p:nvPicPr>
          <p:cNvPr id="122" name="Google Shape;122;p13"/>
          <p:cNvPicPr preferRelativeResize="0"/>
          <p:nvPr/>
        </p:nvPicPr>
        <p:blipFill rotWithShape="1">
          <a:blip r:embed="rId3">
            <a:alphaModFix/>
          </a:blip>
          <a:srcRect/>
          <a:stretch/>
        </p:blipFill>
        <p:spPr>
          <a:xfrm>
            <a:off x="10486" y="4511180"/>
            <a:ext cx="649506" cy="647274"/>
          </a:xfrm>
          <a:prstGeom prst="rect">
            <a:avLst/>
          </a:prstGeom>
          <a:noFill/>
          <a:ln>
            <a:noFill/>
          </a:ln>
        </p:spPr>
      </p:pic>
      <p:pic>
        <p:nvPicPr>
          <p:cNvPr id="123" name="Google Shape;123;p13"/>
          <p:cNvPicPr preferRelativeResize="0"/>
          <p:nvPr/>
        </p:nvPicPr>
        <p:blipFill rotWithShape="1">
          <a:blip r:embed="rId4">
            <a:alphaModFix/>
          </a:blip>
          <a:srcRect/>
          <a:stretch/>
        </p:blipFill>
        <p:spPr>
          <a:xfrm>
            <a:off x="8355435" y="75501"/>
            <a:ext cx="677412" cy="64841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9.xml"/><Relationship Id="rId1" Type="http://schemas.openxmlformats.org/officeDocument/2006/relationships/slideLayout" Target="../slideLayouts/slideLayout5.xml"/><Relationship Id="rId5" Type="http://schemas.openxmlformats.org/officeDocument/2006/relationships/image" Target="../media/image71.png"/><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7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5.xml"/><Relationship Id="rId1" Type="http://schemas.openxmlformats.org/officeDocument/2006/relationships/slideLayout" Target="../slideLayouts/slideLayout5.xml"/><Relationship Id="rId5" Type="http://schemas.openxmlformats.org/officeDocument/2006/relationships/image" Target="../media/image78.png"/><Relationship Id="rId4" Type="http://schemas.openxmlformats.org/officeDocument/2006/relationships/image" Target="../media/image77.png"/></Relationships>
</file>

<file path=ppt/slides/_rels/slide5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80.png"/></Relationships>
</file>

<file path=ppt/slides/_rels/slide5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81.png"/></Relationships>
</file>

<file path=ppt/slides/_rels/slide58.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58.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59.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0.xml"/><Relationship Id="rId1" Type="http://schemas.openxmlformats.org/officeDocument/2006/relationships/slideLayout" Target="../slideLayouts/slideLayout5.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61.xml.rels><?xml version="1.0" encoding="UTF-8" standalone="yes"?>
<Relationships xmlns="http://schemas.openxmlformats.org/package/2006/relationships"><Relationship Id="rId3" Type="http://schemas.openxmlformats.org/officeDocument/2006/relationships/hyperlink" Target="https://docs.google.com/document/d/1FGYfEREicKold6MJ6hzQoVzP5hbnD-2lu23xl5vNYSQ/edit?usp=sharing"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4"/>
          <p:cNvSpPr txBox="1">
            <a:spLocks noGrp="1"/>
          </p:cNvSpPr>
          <p:nvPr>
            <p:ph type="ctrTitle"/>
          </p:nvPr>
        </p:nvSpPr>
        <p:spPr>
          <a:xfrm>
            <a:off x="1369950" y="1597775"/>
            <a:ext cx="6404100" cy="17907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i="1">
                <a:solidFill>
                  <a:srgbClr val="663300"/>
                </a:solidFill>
                <a:latin typeface="Times New Roman"/>
                <a:ea typeface="Times New Roman"/>
                <a:cs typeface="Times New Roman"/>
                <a:sym typeface="Times New Roman"/>
              </a:rPr>
              <a:t>Geometric </a:t>
            </a:r>
            <a:r>
              <a:rPr lang="en-US" sz="4400" b="0" i="1" u="none">
                <a:solidFill>
                  <a:srgbClr val="663300"/>
                </a:solidFill>
                <a:latin typeface="Times New Roman"/>
                <a:ea typeface="Times New Roman"/>
                <a:cs typeface="Times New Roman"/>
                <a:sym typeface="Times New Roman"/>
              </a:rPr>
              <a:t>Transformation</a:t>
            </a:r>
            <a:endParaRPr/>
          </a:p>
        </p:txBody>
      </p:sp>
      <p:sp>
        <p:nvSpPr>
          <p:cNvPr id="129" name="Google Shape;129;p14"/>
          <p:cNvSpPr txBox="1"/>
          <p:nvPr/>
        </p:nvSpPr>
        <p:spPr>
          <a:xfrm>
            <a:off x="7391400" y="4762500"/>
            <a:ext cx="1724100" cy="342900"/>
          </a:xfrm>
          <a:prstGeom prst="rect">
            <a:avLst/>
          </a:prstGeom>
          <a:noFill/>
          <a:ln>
            <a:noFill/>
          </a:ln>
        </p:spPr>
        <p:txBody>
          <a:bodyPr spcFirstLastPara="1" wrap="square" lIns="92075" tIns="46025" rIns="92075" bIns="46025" anchor="b"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5"/>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What is a Transformation</a:t>
            </a:r>
            <a:endParaRPr/>
          </a:p>
        </p:txBody>
      </p:sp>
      <p:sp>
        <p:nvSpPr>
          <p:cNvPr id="135" name="Google Shape;135;p15"/>
          <p:cNvSpPr txBox="1">
            <a:spLocks noGrp="1"/>
          </p:cNvSpPr>
          <p:nvPr>
            <p:ph type="body" idx="1"/>
          </p:nvPr>
        </p:nvSpPr>
        <p:spPr>
          <a:xfrm>
            <a:off x="628650" y="1369219"/>
            <a:ext cx="7886700" cy="3263400"/>
          </a:xfrm>
          <a:prstGeom prst="rect">
            <a:avLst/>
          </a:prstGeom>
          <a:noFill/>
          <a:ln>
            <a:noFill/>
          </a:ln>
        </p:spPr>
        <p:txBody>
          <a:bodyPr spcFirstLastPara="1" wrap="square" lIns="92075" tIns="46025" rIns="92075" bIns="46025" anchor="t" anchorCtr="0">
            <a:noAutofit/>
          </a:bodyPr>
          <a:lstStyle/>
          <a:p>
            <a:pPr marL="342900" marR="0" lvl="0" indent="-311150" algn="l" rtl="0">
              <a:lnSpc>
                <a:spcPct val="100000"/>
              </a:lnSpc>
              <a:spcBef>
                <a:spcPts val="0"/>
              </a:spcBef>
              <a:spcAft>
                <a:spcPts val="0"/>
              </a:spcAft>
              <a:buClr>
                <a:schemeClr val="dk2"/>
              </a:buClr>
              <a:buSzPts val="2540"/>
              <a:buFont typeface="Noto Sans Symbols"/>
              <a:buChar char="✶"/>
            </a:pPr>
            <a:r>
              <a:rPr lang="en-US" sz="2700" b="0" i="0" u="none" strike="noStrike" cap="none">
                <a:solidFill>
                  <a:schemeClr val="dk1"/>
                </a:solidFill>
                <a:latin typeface="Times New Roman"/>
                <a:ea typeface="Times New Roman"/>
                <a:cs typeface="Times New Roman"/>
                <a:sym typeface="Times New Roman"/>
              </a:rPr>
              <a:t>Transformation:</a:t>
            </a:r>
            <a:endParaRPr sz="1600"/>
          </a:p>
          <a:p>
            <a:pPr marL="742950" marR="0" lvl="1" indent="-254000" algn="l" rtl="0">
              <a:lnSpc>
                <a:spcPct val="100000"/>
              </a:lnSpc>
              <a:spcBef>
                <a:spcPts val="560"/>
              </a:spcBef>
              <a:spcAft>
                <a:spcPts val="0"/>
              </a:spcAft>
              <a:buClr>
                <a:schemeClr val="dk1"/>
              </a:buClr>
              <a:buSzPts val="2300"/>
              <a:buFont typeface="Times New Roman"/>
              <a:buChar char="–"/>
            </a:pPr>
            <a:r>
              <a:rPr lang="en-US" sz="2300" b="0" i="0" u="none" strike="noStrike" cap="none">
                <a:solidFill>
                  <a:schemeClr val="dk1"/>
                </a:solidFill>
                <a:latin typeface="Times New Roman"/>
                <a:ea typeface="Times New Roman"/>
                <a:cs typeface="Times New Roman"/>
                <a:sym typeface="Times New Roman"/>
              </a:rPr>
              <a:t>An operation that changes one configuration into another</a:t>
            </a:r>
            <a:endParaRPr sz="1300"/>
          </a:p>
          <a:p>
            <a:pPr marL="342900" marR="0" lvl="0" indent="-311150" algn="l" rtl="0">
              <a:lnSpc>
                <a:spcPct val="100000"/>
              </a:lnSpc>
              <a:spcBef>
                <a:spcPts val="640"/>
              </a:spcBef>
              <a:spcAft>
                <a:spcPts val="0"/>
              </a:spcAft>
              <a:buClr>
                <a:schemeClr val="dk2"/>
              </a:buClr>
              <a:buSzPts val="2540"/>
              <a:buFont typeface="Noto Sans Symbols"/>
              <a:buChar char="✶"/>
            </a:pPr>
            <a:r>
              <a:rPr lang="en-US" sz="2700" b="0" i="0" u="none" strike="noStrike" cap="none">
                <a:solidFill>
                  <a:schemeClr val="dk1"/>
                </a:solidFill>
                <a:latin typeface="Times New Roman"/>
                <a:ea typeface="Times New Roman"/>
                <a:cs typeface="Times New Roman"/>
                <a:sym typeface="Times New Roman"/>
              </a:rPr>
              <a:t>For images, shapes, </a:t>
            </a:r>
            <a:r>
              <a:rPr lang="en-US" sz="2700" b="0" i="1" u="none" strike="noStrike" cap="none">
                <a:solidFill>
                  <a:schemeClr val="dk1"/>
                </a:solidFill>
                <a:latin typeface="Times New Roman"/>
                <a:ea typeface="Times New Roman"/>
                <a:cs typeface="Times New Roman"/>
                <a:sym typeface="Times New Roman"/>
              </a:rPr>
              <a:t>etc.</a:t>
            </a:r>
            <a:endParaRPr sz="1600"/>
          </a:p>
          <a:p>
            <a:pPr marL="742950" marR="0" lvl="1" indent="-254000" algn="l" rtl="0">
              <a:lnSpc>
                <a:spcPct val="100000"/>
              </a:lnSpc>
              <a:spcBef>
                <a:spcPts val="560"/>
              </a:spcBef>
              <a:spcAft>
                <a:spcPts val="0"/>
              </a:spcAft>
              <a:buClr>
                <a:schemeClr val="dk1"/>
              </a:buClr>
              <a:buSzPts val="2300"/>
              <a:buFont typeface="Times New Roman"/>
              <a:buChar char="–"/>
            </a:pPr>
            <a:r>
              <a:rPr lang="en-US" sz="2300" b="0" i="0" u="none" strike="noStrike" cap="none">
                <a:solidFill>
                  <a:schemeClr val="dk1"/>
                </a:solidFill>
                <a:latin typeface="Times New Roman"/>
                <a:ea typeface="Times New Roman"/>
                <a:cs typeface="Times New Roman"/>
                <a:sym typeface="Times New Roman"/>
              </a:rPr>
              <a:t>A geometric transformation maps positions that define the object to other positions</a:t>
            </a:r>
            <a:endParaRPr sz="1300"/>
          </a:p>
          <a:p>
            <a:pPr marL="742950" marR="0" lvl="1" indent="-254000" algn="l" rtl="0">
              <a:lnSpc>
                <a:spcPct val="100000"/>
              </a:lnSpc>
              <a:spcBef>
                <a:spcPts val="560"/>
              </a:spcBef>
              <a:spcAft>
                <a:spcPts val="0"/>
              </a:spcAft>
              <a:buClr>
                <a:schemeClr val="dk1"/>
              </a:buClr>
              <a:buSzPts val="2300"/>
              <a:buFont typeface="Times New Roman"/>
              <a:buChar char="–"/>
            </a:pPr>
            <a:r>
              <a:rPr lang="en-US" sz="2300" b="0" i="0" u="none" strike="noStrike" cap="none">
                <a:solidFill>
                  <a:schemeClr val="dk1"/>
                </a:solidFill>
                <a:latin typeface="Times New Roman"/>
                <a:ea typeface="Times New Roman"/>
                <a:cs typeface="Times New Roman"/>
                <a:sym typeface="Times New Roman"/>
              </a:rPr>
              <a:t>Linear transformation means the transformation is defined by a linear function... which is what matrices are good for.</a:t>
            </a:r>
            <a:endParaRPr sz="1300"/>
          </a:p>
        </p:txBody>
      </p:sp>
      <p:sp>
        <p:nvSpPr>
          <p:cNvPr id="136" name="Google Shape;136;p15"/>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6"/>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a:t>
            </a:fld>
            <a:endParaRPr sz="1400" b="0" i="0" u="none" strike="noStrike" cap="none">
              <a:solidFill>
                <a:srgbClr val="000000"/>
              </a:solidFill>
              <a:latin typeface="Arial"/>
              <a:ea typeface="Arial"/>
              <a:cs typeface="Arial"/>
              <a:sym typeface="Arial"/>
            </a:endParaRPr>
          </a:p>
        </p:txBody>
      </p:sp>
      <p:sp>
        <p:nvSpPr>
          <p:cNvPr id="142" name="Google Shape;142;p16"/>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What is a Transformation?</a:t>
            </a:r>
            <a:endParaRPr/>
          </a:p>
        </p:txBody>
      </p:sp>
      <p:sp>
        <p:nvSpPr>
          <p:cNvPr id="143" name="Google Shape;143;p16"/>
          <p:cNvSpPr txBox="1">
            <a:spLocks noGrp="1"/>
          </p:cNvSpPr>
          <p:nvPr>
            <p:ph type="body" idx="1"/>
          </p:nvPr>
        </p:nvSpPr>
        <p:spPr>
          <a:xfrm>
            <a:off x="628650" y="1369219"/>
            <a:ext cx="7886700" cy="3263400"/>
          </a:xfrm>
          <a:prstGeom prst="rect">
            <a:avLst/>
          </a:prstGeom>
          <a:noFill/>
          <a:ln>
            <a:noFill/>
          </a:ln>
        </p:spPr>
        <p:txBody>
          <a:bodyPr spcFirstLastPara="1" wrap="square" lIns="92075" tIns="46025" rIns="92075" bIns="46025" anchor="t" anchorCtr="0">
            <a:noAutofit/>
          </a:bodyPr>
          <a:lstStyle/>
          <a:p>
            <a:pPr marL="342900" lvl="0" indent="-330200" algn="l" rtl="0">
              <a:lnSpc>
                <a:spcPct val="100000"/>
              </a:lnSpc>
              <a:spcBef>
                <a:spcPts val="0"/>
              </a:spcBef>
              <a:spcAft>
                <a:spcPts val="0"/>
              </a:spcAft>
              <a:buClr>
                <a:schemeClr val="dk2"/>
              </a:buClr>
              <a:buSzPts val="2840"/>
              <a:buFont typeface="Noto Sans Symbols"/>
              <a:buChar char="✶"/>
            </a:pPr>
            <a:r>
              <a:rPr lang="en-US" sz="3000" b="0" i="0" u="none">
                <a:solidFill>
                  <a:schemeClr val="dk1"/>
                </a:solidFill>
                <a:latin typeface="Times New Roman"/>
                <a:ea typeface="Times New Roman"/>
                <a:cs typeface="Times New Roman"/>
                <a:sym typeface="Times New Roman"/>
              </a:rPr>
              <a:t> A function that maps points </a:t>
            </a:r>
            <a:r>
              <a:rPr lang="en-US" sz="3000" b="0" i="1" u="none">
                <a:solidFill>
                  <a:schemeClr val="dk1"/>
                </a:solidFill>
                <a:latin typeface="Times New Roman"/>
                <a:ea typeface="Times New Roman"/>
                <a:cs typeface="Times New Roman"/>
                <a:sym typeface="Times New Roman"/>
              </a:rPr>
              <a:t>x</a:t>
            </a:r>
            <a:r>
              <a:rPr lang="en-US" sz="3000" b="0" i="0" u="none">
                <a:solidFill>
                  <a:schemeClr val="dk1"/>
                </a:solidFill>
                <a:latin typeface="Times New Roman"/>
                <a:ea typeface="Times New Roman"/>
                <a:cs typeface="Times New Roman"/>
                <a:sym typeface="Times New Roman"/>
              </a:rPr>
              <a:t> to points </a:t>
            </a:r>
            <a:r>
              <a:rPr lang="en-US" sz="3000" b="0" i="1" u="none">
                <a:solidFill>
                  <a:schemeClr val="dk1"/>
                </a:solidFill>
                <a:latin typeface="Times New Roman"/>
                <a:ea typeface="Times New Roman"/>
                <a:cs typeface="Times New Roman"/>
                <a:sym typeface="Times New Roman"/>
              </a:rPr>
              <a:t>x':</a:t>
            </a:r>
            <a:endParaRPr sz="1900"/>
          </a:p>
          <a:p>
            <a:pPr marL="742950" lvl="1" indent="-285750" algn="l" rtl="0">
              <a:lnSpc>
                <a:spcPct val="100000"/>
              </a:lnSpc>
              <a:spcBef>
                <a:spcPts val="560"/>
              </a:spcBef>
              <a:spcAft>
                <a:spcPts val="0"/>
              </a:spcAft>
              <a:buClr>
                <a:schemeClr val="dk1"/>
              </a:buClr>
              <a:buSzPts val="2800"/>
              <a:buFont typeface="Times New Roman"/>
              <a:buNone/>
            </a:pPr>
            <a:r>
              <a:rPr lang="en-US" sz="2600" b="0" i="0" u="none">
                <a:solidFill>
                  <a:schemeClr val="dk1"/>
                </a:solidFill>
                <a:latin typeface="Times New Roman"/>
                <a:ea typeface="Times New Roman"/>
                <a:cs typeface="Times New Roman"/>
                <a:sym typeface="Times New Roman"/>
              </a:rPr>
              <a:t>Applications: animation, deformation, viewing, projection, real-time shadows, …</a:t>
            </a:r>
            <a:endParaRPr sz="1600"/>
          </a:p>
        </p:txBody>
      </p:sp>
      <p:pic>
        <p:nvPicPr>
          <p:cNvPr id="144" name="Google Shape;144;p16"/>
          <p:cNvPicPr preferRelativeResize="0"/>
          <p:nvPr/>
        </p:nvPicPr>
        <p:blipFill rotWithShape="1">
          <a:blip r:embed="rId3">
            <a:alphaModFix/>
          </a:blip>
          <a:srcRect b="9675"/>
          <a:stretch/>
        </p:blipFill>
        <p:spPr>
          <a:xfrm>
            <a:off x="1366837" y="2857500"/>
            <a:ext cx="2601912" cy="1600200"/>
          </a:xfrm>
          <a:prstGeom prst="rect">
            <a:avLst/>
          </a:prstGeom>
          <a:noFill/>
          <a:ln>
            <a:noFill/>
          </a:ln>
        </p:spPr>
      </p:pic>
      <p:pic>
        <p:nvPicPr>
          <p:cNvPr id="145" name="Google Shape;145;p16"/>
          <p:cNvPicPr preferRelativeResize="0"/>
          <p:nvPr/>
        </p:nvPicPr>
        <p:blipFill rotWithShape="1">
          <a:blip r:embed="rId4">
            <a:alphaModFix/>
          </a:blip>
          <a:srcRect b="10934"/>
          <a:stretch/>
        </p:blipFill>
        <p:spPr>
          <a:xfrm>
            <a:off x="3962400" y="2857500"/>
            <a:ext cx="2584450" cy="1600200"/>
          </a:xfrm>
          <a:prstGeom prst="rect">
            <a:avLst/>
          </a:prstGeom>
          <a:noFill/>
          <a:ln>
            <a:noFill/>
          </a:ln>
        </p:spPr>
      </p:pic>
      <p:pic>
        <p:nvPicPr>
          <p:cNvPr id="146" name="Google Shape;146;p16"/>
          <p:cNvPicPr preferRelativeResize="0"/>
          <p:nvPr/>
        </p:nvPicPr>
        <p:blipFill rotWithShape="1">
          <a:blip r:embed="rId5">
            <a:alphaModFix/>
          </a:blip>
          <a:srcRect/>
          <a:stretch/>
        </p:blipFill>
        <p:spPr>
          <a:xfrm>
            <a:off x="6513512" y="2857500"/>
            <a:ext cx="1689497" cy="1552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Examples of Transformation</a:t>
            </a:r>
            <a:endParaRPr/>
          </a:p>
        </p:txBody>
      </p:sp>
      <p:pic>
        <p:nvPicPr>
          <p:cNvPr id="152" name="Google Shape;152;p17"/>
          <p:cNvPicPr preferRelativeResize="0">
            <a:picLocks noGrp="1"/>
          </p:cNvPicPr>
          <p:nvPr>
            <p:ph type="body" idx="1"/>
          </p:nvPr>
        </p:nvPicPr>
        <p:blipFill rotWithShape="1">
          <a:blip r:embed="rId3">
            <a:alphaModFix/>
          </a:blip>
          <a:srcRect/>
          <a:stretch/>
        </p:blipFill>
        <p:spPr>
          <a:xfrm>
            <a:off x="1022350" y="1432322"/>
            <a:ext cx="7626300" cy="3098100"/>
          </a:xfrm>
          <a:prstGeom prst="rect">
            <a:avLst/>
          </a:prstGeom>
          <a:noFill/>
          <a:ln>
            <a:noFill/>
          </a:ln>
        </p:spPr>
      </p:pic>
      <p:sp>
        <p:nvSpPr>
          <p:cNvPr id="153" name="Google Shape;153;p17"/>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4</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8"/>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5</a:t>
            </a:fld>
            <a:endParaRPr sz="1400" b="0" i="0" u="none" strike="noStrike" cap="none">
              <a:solidFill>
                <a:srgbClr val="000000"/>
              </a:solidFill>
              <a:latin typeface="Arial"/>
              <a:ea typeface="Arial"/>
              <a:cs typeface="Arial"/>
              <a:sym typeface="Arial"/>
            </a:endParaRPr>
          </a:p>
        </p:txBody>
      </p:sp>
      <p:sp>
        <p:nvSpPr>
          <p:cNvPr id="160" name="Google Shape;160;p18"/>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Simple Transformations</a:t>
            </a:r>
            <a:endParaRPr/>
          </a:p>
        </p:txBody>
      </p:sp>
      <p:sp>
        <p:nvSpPr>
          <p:cNvPr id="161" name="Google Shape;161;p18"/>
          <p:cNvSpPr txBox="1">
            <a:spLocks noGrp="1"/>
          </p:cNvSpPr>
          <p:nvPr>
            <p:ph type="body" idx="1"/>
          </p:nvPr>
        </p:nvSpPr>
        <p:spPr>
          <a:xfrm>
            <a:off x="1752600" y="3314700"/>
            <a:ext cx="6934200" cy="1688400"/>
          </a:xfrm>
          <a:prstGeom prst="rect">
            <a:avLst/>
          </a:prstGeom>
          <a:noFill/>
          <a:ln>
            <a:noFill/>
          </a:ln>
        </p:spPr>
        <p:txBody>
          <a:bodyPr spcFirstLastPara="1" wrap="square" lIns="92075" tIns="46025" rIns="92075" bIns="46025" anchor="t" anchorCtr="0">
            <a:noAutofit/>
          </a:bodyPr>
          <a:lstStyle/>
          <a:p>
            <a:pPr marL="342900" lvl="0" indent="-342900" algn="l" rtl="0">
              <a:lnSpc>
                <a:spcPct val="100000"/>
              </a:lnSpc>
              <a:spcBef>
                <a:spcPts val="0"/>
              </a:spcBef>
              <a:spcAft>
                <a:spcPts val="0"/>
              </a:spcAft>
              <a:buClr>
                <a:schemeClr val="dk2"/>
              </a:buClr>
              <a:buSzPts val="3040"/>
              <a:buFont typeface="Noto Sans Symbols"/>
              <a:buChar char="✶"/>
            </a:pPr>
            <a:r>
              <a:rPr lang="en-US" sz="3200" b="0" i="0" u="none">
                <a:solidFill>
                  <a:schemeClr val="dk1"/>
                </a:solidFill>
                <a:latin typeface="Times New Roman"/>
                <a:ea typeface="Times New Roman"/>
                <a:cs typeface="Times New Roman"/>
                <a:sym typeface="Times New Roman"/>
              </a:rPr>
              <a:t>Can be combined</a:t>
            </a:r>
            <a:endParaRPr/>
          </a:p>
          <a:p>
            <a:pPr marL="342900" lvl="0" indent="-342900" algn="l" rtl="0">
              <a:lnSpc>
                <a:spcPct val="100000"/>
              </a:lnSpc>
              <a:spcBef>
                <a:spcPts val="640"/>
              </a:spcBef>
              <a:spcAft>
                <a:spcPts val="0"/>
              </a:spcAft>
              <a:buClr>
                <a:schemeClr val="dk2"/>
              </a:buClr>
              <a:buSzPts val="3040"/>
              <a:buFont typeface="Noto Sans Symbols"/>
              <a:buChar char="✶"/>
            </a:pPr>
            <a:r>
              <a:rPr lang="en-US" sz="3200" b="0" i="0" u="none">
                <a:solidFill>
                  <a:schemeClr val="dk1"/>
                </a:solidFill>
                <a:latin typeface="Times New Roman"/>
                <a:ea typeface="Times New Roman"/>
                <a:cs typeface="Times New Roman"/>
                <a:sym typeface="Times New Roman"/>
              </a:rPr>
              <a:t>Are these operations invertible?</a:t>
            </a:r>
            <a:br>
              <a:rPr lang="en-US" sz="3200" b="0" i="0" u="none">
                <a:solidFill>
                  <a:schemeClr val="dk1"/>
                </a:solidFill>
                <a:latin typeface="Times New Roman"/>
                <a:ea typeface="Times New Roman"/>
                <a:cs typeface="Times New Roman"/>
                <a:sym typeface="Times New Roman"/>
              </a:rPr>
            </a:br>
            <a:endParaRPr/>
          </a:p>
        </p:txBody>
      </p:sp>
      <p:sp>
        <p:nvSpPr>
          <p:cNvPr id="162" name="Google Shape;162;p18"/>
          <p:cNvSpPr txBox="1"/>
          <p:nvPr/>
        </p:nvSpPr>
        <p:spPr>
          <a:xfrm>
            <a:off x="2084387" y="4487465"/>
            <a:ext cx="31734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Yes, except scale = 0</a:t>
            </a:r>
            <a:endParaRPr sz="1400" b="0" i="0" u="none" strike="noStrike" cap="none">
              <a:solidFill>
                <a:srgbClr val="000000"/>
              </a:solidFill>
              <a:latin typeface="Arial"/>
              <a:ea typeface="Arial"/>
              <a:cs typeface="Arial"/>
              <a:sym typeface="Arial"/>
            </a:endParaRPr>
          </a:p>
        </p:txBody>
      </p:sp>
      <p:pic>
        <p:nvPicPr>
          <p:cNvPr id="163" name="Google Shape;163;p18"/>
          <p:cNvPicPr preferRelativeResize="0"/>
          <p:nvPr/>
        </p:nvPicPr>
        <p:blipFill rotWithShape="1">
          <a:blip r:embed="rId3">
            <a:alphaModFix/>
          </a:blip>
          <a:srcRect l="5686" t="17750" b="43916"/>
          <a:stretch/>
        </p:blipFill>
        <p:spPr>
          <a:xfrm>
            <a:off x="1500187" y="1600200"/>
            <a:ext cx="7162800" cy="163710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6</a:t>
            </a:fld>
            <a:endParaRPr sz="1400" b="0" i="0" u="none" strike="noStrike" cap="none">
              <a:solidFill>
                <a:srgbClr val="000000"/>
              </a:solidFill>
              <a:latin typeface="Arial"/>
              <a:ea typeface="Arial"/>
              <a:cs typeface="Arial"/>
              <a:sym typeface="Arial"/>
            </a:endParaRPr>
          </a:p>
        </p:txBody>
      </p:sp>
      <p:sp>
        <p:nvSpPr>
          <p:cNvPr id="170" name="Google Shape;170;p19"/>
          <p:cNvSpPr txBox="1">
            <a:spLocks noGrp="1"/>
          </p:cNvSpPr>
          <p:nvPr>
            <p:ph type="title"/>
          </p:nvPr>
        </p:nvSpPr>
        <p:spPr>
          <a:xfrm>
            <a:off x="1066800" y="133350"/>
            <a:ext cx="76200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Rigid-Body / Euclidean Transforms </a:t>
            </a:r>
            <a:endParaRPr/>
          </a:p>
        </p:txBody>
      </p:sp>
      <p:sp>
        <p:nvSpPr>
          <p:cNvPr id="171" name="Google Shape;171;p19"/>
          <p:cNvSpPr txBox="1">
            <a:spLocks noGrp="1"/>
          </p:cNvSpPr>
          <p:nvPr>
            <p:ph type="body" idx="1"/>
          </p:nvPr>
        </p:nvSpPr>
        <p:spPr>
          <a:xfrm>
            <a:off x="1447800" y="1257300"/>
            <a:ext cx="3124200" cy="914400"/>
          </a:xfrm>
          <a:prstGeom prst="rect">
            <a:avLst/>
          </a:prstGeom>
          <a:noFill/>
          <a:ln>
            <a:noFill/>
          </a:ln>
        </p:spPr>
        <p:txBody>
          <a:bodyPr spcFirstLastPara="1" wrap="square" lIns="0" tIns="0" rIns="0" bIns="0" anchor="t" anchorCtr="0">
            <a:noAutofit/>
          </a:bodyPr>
          <a:lstStyle/>
          <a:p>
            <a:pPr marL="339725" lvl="0" indent="-146685" algn="l" rtl="0">
              <a:lnSpc>
                <a:spcPct val="100000"/>
              </a:lnSpc>
              <a:spcBef>
                <a:spcPts val="0"/>
              </a:spcBef>
              <a:spcAft>
                <a:spcPts val="0"/>
              </a:spcAft>
              <a:buClr>
                <a:schemeClr val="dk2"/>
              </a:buClr>
              <a:buSzPts val="3040"/>
              <a:buFont typeface="Noto Sans Symbols"/>
              <a:buNone/>
            </a:pPr>
            <a:endParaRPr sz="3200" b="0" i="0" u="none">
              <a:solidFill>
                <a:schemeClr val="dk1"/>
              </a:solidFill>
              <a:latin typeface="Times New Roman"/>
              <a:ea typeface="Times New Roman"/>
              <a:cs typeface="Times New Roman"/>
              <a:sym typeface="Times New Roman"/>
            </a:endParaRPr>
          </a:p>
          <a:p>
            <a:pPr marL="339725" lvl="0" indent="-339725" algn="l" rtl="0">
              <a:lnSpc>
                <a:spcPct val="100000"/>
              </a:lnSpc>
              <a:spcBef>
                <a:spcPts val="560"/>
              </a:spcBef>
              <a:spcAft>
                <a:spcPts val="0"/>
              </a:spcAft>
              <a:buClr>
                <a:schemeClr val="dk2"/>
              </a:buClr>
              <a:buSzPts val="2660"/>
              <a:buFont typeface="Noto Sans Symbols"/>
              <a:buChar char="✶"/>
            </a:pPr>
            <a:r>
              <a:rPr lang="en-US" sz="2800" b="0" i="0" u="none">
                <a:solidFill>
                  <a:schemeClr val="dk1"/>
                </a:solidFill>
                <a:latin typeface="Times New Roman"/>
                <a:ea typeface="Times New Roman"/>
                <a:cs typeface="Times New Roman"/>
                <a:sym typeface="Times New Roman"/>
              </a:rPr>
              <a:t>Preserves distances</a:t>
            </a:r>
            <a:endParaRPr/>
          </a:p>
          <a:p>
            <a:pPr marL="339725" lvl="0" indent="-339725" algn="l" rtl="0">
              <a:lnSpc>
                <a:spcPct val="100000"/>
              </a:lnSpc>
              <a:spcBef>
                <a:spcPts val="560"/>
              </a:spcBef>
              <a:spcAft>
                <a:spcPts val="0"/>
              </a:spcAft>
              <a:buClr>
                <a:schemeClr val="dk2"/>
              </a:buClr>
              <a:buSzPts val="2660"/>
              <a:buFont typeface="Noto Sans Symbols"/>
              <a:buChar char="✶"/>
            </a:pPr>
            <a:r>
              <a:rPr lang="en-US" sz="2800" b="0" i="0" u="none">
                <a:solidFill>
                  <a:schemeClr val="dk1"/>
                </a:solidFill>
                <a:latin typeface="Times New Roman"/>
                <a:ea typeface="Times New Roman"/>
                <a:cs typeface="Times New Roman"/>
                <a:sym typeface="Times New Roman"/>
              </a:rPr>
              <a:t>Preserves angles</a:t>
            </a:r>
            <a:endParaRPr/>
          </a:p>
        </p:txBody>
      </p:sp>
      <p:pic>
        <p:nvPicPr>
          <p:cNvPr id="172" name="Google Shape;172;p19"/>
          <p:cNvPicPr preferRelativeResize="0"/>
          <p:nvPr/>
        </p:nvPicPr>
        <p:blipFill rotWithShape="1">
          <a:blip r:embed="rId3">
            <a:alphaModFix/>
          </a:blip>
          <a:srcRect l="48500" t="14749" r="3062" b="10664"/>
          <a:stretch/>
        </p:blipFill>
        <p:spPr>
          <a:xfrm>
            <a:off x="4953000" y="1143000"/>
            <a:ext cx="3962400" cy="3361134"/>
          </a:xfrm>
          <a:prstGeom prst="rect">
            <a:avLst/>
          </a:prstGeom>
          <a:noFill/>
          <a:ln>
            <a:noFill/>
          </a:ln>
        </p:spPr>
      </p:pic>
      <p:sp>
        <p:nvSpPr>
          <p:cNvPr id="173" name="Google Shape;173;p19"/>
          <p:cNvSpPr txBox="1"/>
          <p:nvPr/>
        </p:nvSpPr>
        <p:spPr>
          <a:xfrm>
            <a:off x="2076450" y="3543300"/>
            <a:ext cx="133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174" name="Google Shape;174;p19"/>
          <p:cNvSpPr txBox="1"/>
          <p:nvPr/>
        </p:nvSpPr>
        <p:spPr>
          <a:xfrm>
            <a:off x="3810000" y="371475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Rotation</a:t>
            </a:r>
            <a:endParaRPr sz="1400" b="0" i="0" u="none" strike="noStrike" cap="none">
              <a:solidFill>
                <a:srgbClr val="000000"/>
              </a:solidFill>
              <a:latin typeface="Arial"/>
              <a:ea typeface="Arial"/>
              <a:cs typeface="Arial"/>
              <a:sym typeface="Arial"/>
            </a:endParaRPr>
          </a:p>
        </p:txBody>
      </p:sp>
      <p:sp>
        <p:nvSpPr>
          <p:cNvPr id="175" name="Google Shape;175;p19"/>
          <p:cNvSpPr txBox="1"/>
          <p:nvPr/>
        </p:nvSpPr>
        <p:spPr>
          <a:xfrm>
            <a:off x="1828800" y="2800350"/>
            <a:ext cx="2819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1" i="1" u="none" strike="noStrike" cap="none">
                <a:solidFill>
                  <a:srgbClr val="FF0000"/>
                </a:solidFill>
                <a:latin typeface="Times New Roman"/>
                <a:ea typeface="Times New Roman"/>
                <a:cs typeface="Times New Roman"/>
                <a:sym typeface="Times New Roman"/>
              </a:rPr>
              <a:t>Rigid / Euclidean</a:t>
            </a:r>
            <a:endParaRPr sz="1400" b="0" i="0" u="none" strike="noStrike" cap="none">
              <a:solidFill>
                <a:srgbClr val="000000"/>
              </a:solidFill>
              <a:latin typeface="Arial"/>
              <a:ea typeface="Arial"/>
              <a:cs typeface="Arial"/>
              <a:sym typeface="Arial"/>
            </a:endParaRPr>
          </a:p>
        </p:txBody>
      </p:sp>
      <p:sp>
        <p:nvSpPr>
          <p:cNvPr id="176" name="Google Shape;176;p19"/>
          <p:cNvSpPr txBox="1"/>
          <p:nvPr/>
        </p:nvSpPr>
        <p:spPr>
          <a:xfrm>
            <a:off x="3886200" y="3371850"/>
            <a:ext cx="1143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Identity</a:t>
            </a:r>
            <a:endParaRPr sz="1400" b="0" i="0" u="none" strike="noStrike" cap="none">
              <a:solidFill>
                <a:srgbClr val="000000"/>
              </a:solidFill>
              <a:latin typeface="Arial"/>
              <a:ea typeface="Arial"/>
              <a:cs typeface="Arial"/>
              <a:sym typeface="Arial"/>
            </a:endParaRPr>
          </a:p>
        </p:txBody>
      </p:sp>
      <p:sp>
        <p:nvSpPr>
          <p:cNvPr id="177" name="Google Shape;177;p19"/>
          <p:cNvSpPr/>
          <p:nvPr/>
        </p:nvSpPr>
        <p:spPr>
          <a:xfrm>
            <a:off x="1600200" y="3162300"/>
            <a:ext cx="3429000" cy="1143000"/>
          </a:xfrm>
          <a:prstGeom prst="ellipse">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0"/>
          <p:cNvPicPr preferRelativeResize="0"/>
          <p:nvPr/>
        </p:nvPicPr>
        <p:blipFill rotWithShape="1">
          <a:blip r:embed="rId3">
            <a:alphaModFix/>
          </a:blip>
          <a:srcRect/>
          <a:stretch/>
        </p:blipFill>
        <p:spPr>
          <a:xfrm>
            <a:off x="5780087" y="1370409"/>
            <a:ext cx="2157412" cy="2650331"/>
          </a:xfrm>
          <a:prstGeom prst="rect">
            <a:avLst/>
          </a:prstGeom>
          <a:noFill/>
          <a:ln>
            <a:noFill/>
          </a:ln>
        </p:spPr>
      </p:pic>
      <p:sp>
        <p:nvSpPr>
          <p:cNvPr id="184" name="Google Shape;184;p20"/>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7</a:t>
            </a:fld>
            <a:endParaRPr sz="1400" b="0" i="0" u="none" strike="noStrike" cap="none">
              <a:solidFill>
                <a:srgbClr val="000000"/>
              </a:solidFill>
              <a:latin typeface="Arial"/>
              <a:ea typeface="Arial"/>
              <a:cs typeface="Arial"/>
              <a:sym typeface="Arial"/>
            </a:endParaRPr>
          </a:p>
        </p:txBody>
      </p:sp>
      <p:sp>
        <p:nvSpPr>
          <p:cNvPr id="185" name="Google Shape;185;p20"/>
          <p:cNvSpPr txBox="1">
            <a:spLocks noGrp="1"/>
          </p:cNvSpPr>
          <p:nvPr>
            <p:ph type="title"/>
          </p:nvPr>
        </p:nvSpPr>
        <p:spPr>
          <a:xfrm>
            <a:off x="1066800" y="152400"/>
            <a:ext cx="74676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Similitudes / Similarity Transforms</a:t>
            </a:r>
            <a:endParaRPr/>
          </a:p>
        </p:txBody>
      </p:sp>
      <p:sp>
        <p:nvSpPr>
          <p:cNvPr id="186" name="Google Shape;186;p20"/>
          <p:cNvSpPr txBox="1">
            <a:spLocks noGrp="1"/>
          </p:cNvSpPr>
          <p:nvPr>
            <p:ph type="body" idx="1"/>
          </p:nvPr>
        </p:nvSpPr>
        <p:spPr>
          <a:xfrm>
            <a:off x="1219200" y="1143000"/>
            <a:ext cx="7543800" cy="3545700"/>
          </a:xfrm>
          <a:prstGeom prst="rect">
            <a:avLst/>
          </a:prstGeom>
          <a:noFill/>
          <a:ln>
            <a:noFill/>
          </a:ln>
        </p:spPr>
        <p:txBody>
          <a:bodyPr spcFirstLastPara="1" wrap="square" lIns="0" tIns="0" rIns="0" bIns="0" anchor="t" anchorCtr="0">
            <a:noAutofit/>
          </a:bodyPr>
          <a:lstStyle/>
          <a:p>
            <a:pPr marL="339725" lvl="0" indent="-146685" algn="l" rtl="0">
              <a:lnSpc>
                <a:spcPct val="100000"/>
              </a:lnSpc>
              <a:spcBef>
                <a:spcPts val="0"/>
              </a:spcBef>
              <a:spcAft>
                <a:spcPts val="0"/>
              </a:spcAft>
              <a:buClr>
                <a:schemeClr val="dk2"/>
              </a:buClr>
              <a:buSzPts val="3040"/>
              <a:buFont typeface="Noto Sans Symbols"/>
              <a:buNone/>
            </a:pPr>
            <a:endParaRPr sz="3200" b="0" i="0" u="none">
              <a:solidFill>
                <a:schemeClr val="dk1"/>
              </a:solidFill>
              <a:latin typeface="Times New Roman"/>
              <a:ea typeface="Times New Roman"/>
              <a:cs typeface="Times New Roman"/>
              <a:sym typeface="Times New Roman"/>
            </a:endParaRPr>
          </a:p>
          <a:p>
            <a:pPr marL="339725" lvl="0" indent="-339725" algn="l" rtl="0">
              <a:lnSpc>
                <a:spcPct val="100000"/>
              </a:lnSpc>
              <a:spcBef>
                <a:spcPts val="640"/>
              </a:spcBef>
              <a:spcAft>
                <a:spcPts val="0"/>
              </a:spcAft>
              <a:buClr>
                <a:schemeClr val="dk2"/>
              </a:buClr>
              <a:buSzPts val="3040"/>
              <a:buFont typeface="Noto Sans Symbols"/>
              <a:buChar char="✶"/>
            </a:pPr>
            <a:r>
              <a:rPr lang="en-US" sz="3200" b="0" i="0" u="none">
                <a:solidFill>
                  <a:schemeClr val="dk1"/>
                </a:solidFill>
                <a:latin typeface="Times New Roman"/>
                <a:ea typeface="Times New Roman"/>
                <a:cs typeface="Times New Roman"/>
                <a:sym typeface="Times New Roman"/>
              </a:rPr>
              <a:t>Preserves angles</a:t>
            </a:r>
            <a:endParaRPr/>
          </a:p>
        </p:txBody>
      </p:sp>
      <p:sp>
        <p:nvSpPr>
          <p:cNvPr id="187" name="Google Shape;187;p20"/>
          <p:cNvSpPr txBox="1"/>
          <p:nvPr/>
        </p:nvSpPr>
        <p:spPr>
          <a:xfrm>
            <a:off x="1543050" y="3543300"/>
            <a:ext cx="133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188" name="Google Shape;188;p20"/>
          <p:cNvSpPr txBox="1"/>
          <p:nvPr/>
        </p:nvSpPr>
        <p:spPr>
          <a:xfrm>
            <a:off x="3276600" y="371475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Rotation</a:t>
            </a:r>
            <a:endParaRPr sz="1400" b="0" i="0" u="none" strike="noStrike" cap="none">
              <a:solidFill>
                <a:srgbClr val="000000"/>
              </a:solidFill>
              <a:latin typeface="Arial"/>
              <a:ea typeface="Arial"/>
              <a:cs typeface="Arial"/>
              <a:sym typeface="Arial"/>
            </a:endParaRPr>
          </a:p>
        </p:txBody>
      </p:sp>
      <p:sp>
        <p:nvSpPr>
          <p:cNvPr id="189" name="Google Shape;189;p20"/>
          <p:cNvSpPr txBox="1"/>
          <p:nvPr/>
        </p:nvSpPr>
        <p:spPr>
          <a:xfrm>
            <a:off x="1295400" y="2800350"/>
            <a:ext cx="2819400" cy="464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1" i="1" u="none" strike="noStrike" cap="none">
                <a:solidFill>
                  <a:schemeClr val="dk1"/>
                </a:solidFill>
                <a:latin typeface="Times New Roman"/>
                <a:ea typeface="Times New Roman"/>
                <a:cs typeface="Times New Roman"/>
                <a:sym typeface="Times New Roman"/>
              </a:rPr>
              <a:t>Rigid / Euclidean</a:t>
            </a:r>
            <a:endParaRPr sz="1400" b="0" i="0" u="none" strike="noStrike" cap="none">
              <a:solidFill>
                <a:srgbClr val="000000"/>
              </a:solidFill>
              <a:latin typeface="Arial"/>
              <a:ea typeface="Arial"/>
              <a:cs typeface="Arial"/>
              <a:sym typeface="Arial"/>
            </a:endParaRPr>
          </a:p>
        </p:txBody>
      </p:sp>
      <p:sp>
        <p:nvSpPr>
          <p:cNvPr id="190" name="Google Shape;190;p20"/>
          <p:cNvSpPr/>
          <p:nvPr/>
        </p:nvSpPr>
        <p:spPr>
          <a:xfrm>
            <a:off x="609600" y="2628900"/>
            <a:ext cx="6988200" cy="1714500"/>
          </a:xfrm>
          <a:prstGeom prst="ellipse">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91" name="Google Shape;191;p20"/>
          <p:cNvSpPr txBox="1"/>
          <p:nvPr/>
        </p:nvSpPr>
        <p:spPr>
          <a:xfrm>
            <a:off x="2514600" y="2190750"/>
            <a:ext cx="1905000" cy="464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1" i="1" u="none" strike="noStrike" cap="none">
                <a:solidFill>
                  <a:srgbClr val="FF0000"/>
                </a:solidFill>
                <a:latin typeface="Times New Roman"/>
                <a:ea typeface="Times New Roman"/>
                <a:cs typeface="Times New Roman"/>
                <a:sym typeface="Times New Roman"/>
              </a:rPr>
              <a:t>Similitudes</a:t>
            </a:r>
            <a:endParaRPr sz="1400" b="0" i="0" u="none" strike="noStrike" cap="none">
              <a:solidFill>
                <a:srgbClr val="000000"/>
              </a:solidFill>
              <a:latin typeface="Arial"/>
              <a:ea typeface="Arial"/>
              <a:cs typeface="Arial"/>
              <a:sym typeface="Arial"/>
            </a:endParaRPr>
          </a:p>
        </p:txBody>
      </p:sp>
      <p:sp>
        <p:nvSpPr>
          <p:cNvPr id="192" name="Google Shape;192;p20"/>
          <p:cNvSpPr txBox="1"/>
          <p:nvPr/>
        </p:nvSpPr>
        <p:spPr>
          <a:xfrm>
            <a:off x="4812153" y="3131100"/>
            <a:ext cx="1398600" cy="710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Isotropic Scaling</a:t>
            </a:r>
            <a:endParaRPr sz="1400" b="0" i="0" u="none" strike="noStrike" cap="none">
              <a:solidFill>
                <a:srgbClr val="000000"/>
              </a:solidFill>
              <a:latin typeface="Arial"/>
              <a:ea typeface="Arial"/>
              <a:cs typeface="Arial"/>
              <a:sym typeface="Arial"/>
            </a:endParaRPr>
          </a:p>
        </p:txBody>
      </p:sp>
      <p:sp>
        <p:nvSpPr>
          <p:cNvPr id="193" name="Google Shape;193;p20"/>
          <p:cNvSpPr txBox="1"/>
          <p:nvPr/>
        </p:nvSpPr>
        <p:spPr>
          <a:xfrm>
            <a:off x="3352800" y="3371850"/>
            <a:ext cx="1143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Identity</a:t>
            </a:r>
            <a:endParaRPr sz="1400" b="0" i="0" u="none" strike="noStrike" cap="none">
              <a:solidFill>
                <a:srgbClr val="000000"/>
              </a:solidFill>
              <a:latin typeface="Arial"/>
              <a:ea typeface="Arial"/>
              <a:cs typeface="Arial"/>
              <a:sym typeface="Arial"/>
            </a:endParaRPr>
          </a:p>
        </p:txBody>
      </p:sp>
      <p:sp>
        <p:nvSpPr>
          <p:cNvPr id="194" name="Google Shape;194;p20"/>
          <p:cNvSpPr/>
          <p:nvPr/>
        </p:nvSpPr>
        <p:spPr>
          <a:xfrm>
            <a:off x="1219200" y="3264450"/>
            <a:ext cx="3429000" cy="9648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1"/>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8</a:t>
            </a:fld>
            <a:endParaRPr sz="1400" b="0" i="0" u="none" strike="noStrike" cap="none">
              <a:solidFill>
                <a:srgbClr val="000000"/>
              </a:solidFill>
              <a:latin typeface="Arial"/>
              <a:ea typeface="Arial"/>
              <a:cs typeface="Arial"/>
              <a:sym typeface="Arial"/>
            </a:endParaRPr>
          </a:p>
        </p:txBody>
      </p:sp>
      <p:sp>
        <p:nvSpPr>
          <p:cNvPr id="201" name="Google Shape;201;p21"/>
          <p:cNvSpPr txBox="1">
            <a:spLocks noGrp="1"/>
          </p:cNvSpPr>
          <p:nvPr>
            <p:ph type="title"/>
          </p:nvPr>
        </p:nvSpPr>
        <p:spPr>
          <a:xfrm>
            <a:off x="1600200" y="114300"/>
            <a:ext cx="8766300" cy="688200"/>
          </a:xfrm>
          <a:prstGeom prst="rect">
            <a:avLst/>
          </a:prstGeom>
          <a:noFill/>
          <a:ln>
            <a:noFill/>
          </a:ln>
        </p:spPr>
        <p:txBody>
          <a:bodyPr spcFirstLastPara="1" wrap="square" lIns="90000" tIns="46800" rIns="90000" bIns="46800"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Linear Transformations</a:t>
            </a:r>
            <a:endParaRPr/>
          </a:p>
        </p:txBody>
      </p:sp>
      <p:sp>
        <p:nvSpPr>
          <p:cNvPr id="202" name="Google Shape;202;p21"/>
          <p:cNvSpPr txBox="1"/>
          <p:nvPr/>
        </p:nvSpPr>
        <p:spPr>
          <a:xfrm>
            <a:off x="2381250" y="4000500"/>
            <a:ext cx="133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203" name="Google Shape;203;p21"/>
          <p:cNvSpPr txBox="1"/>
          <p:nvPr/>
        </p:nvSpPr>
        <p:spPr>
          <a:xfrm>
            <a:off x="4114800" y="4171950"/>
            <a:ext cx="1066800" cy="3717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Rotation</a:t>
            </a:r>
            <a:endParaRPr sz="1400" b="0" i="0" u="none" strike="noStrike" cap="none">
              <a:solidFill>
                <a:srgbClr val="000000"/>
              </a:solidFill>
              <a:latin typeface="Arial"/>
              <a:ea typeface="Arial"/>
              <a:cs typeface="Arial"/>
              <a:sym typeface="Arial"/>
            </a:endParaRPr>
          </a:p>
        </p:txBody>
      </p:sp>
      <p:sp>
        <p:nvSpPr>
          <p:cNvPr id="204" name="Google Shape;204;p21"/>
          <p:cNvSpPr txBox="1"/>
          <p:nvPr/>
        </p:nvSpPr>
        <p:spPr>
          <a:xfrm>
            <a:off x="2133600" y="3257550"/>
            <a:ext cx="2819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Rigid / Euclidean</a:t>
            </a:r>
            <a:endParaRPr sz="1400" b="0" i="0" u="none" strike="noStrike" cap="none">
              <a:solidFill>
                <a:srgbClr val="000000"/>
              </a:solidFill>
              <a:latin typeface="Arial"/>
              <a:ea typeface="Arial"/>
              <a:cs typeface="Arial"/>
              <a:sym typeface="Arial"/>
            </a:endParaRPr>
          </a:p>
        </p:txBody>
      </p:sp>
      <p:sp>
        <p:nvSpPr>
          <p:cNvPr id="205" name="Google Shape;205;p21"/>
          <p:cNvSpPr txBox="1"/>
          <p:nvPr/>
        </p:nvSpPr>
        <p:spPr>
          <a:xfrm>
            <a:off x="6924675" y="2952750"/>
            <a:ext cx="8937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1" i="1" u="none" strike="noStrike" cap="none">
                <a:solidFill>
                  <a:srgbClr val="FF0000"/>
                </a:solidFill>
                <a:latin typeface="Times New Roman"/>
                <a:ea typeface="Times New Roman"/>
                <a:cs typeface="Times New Roman"/>
                <a:sym typeface="Times New Roman"/>
              </a:rPr>
              <a:t>Linear</a:t>
            </a:r>
            <a:endParaRPr sz="1400" b="0" i="0" u="none" strike="noStrike" cap="none">
              <a:solidFill>
                <a:srgbClr val="000000"/>
              </a:solidFill>
              <a:latin typeface="Arial"/>
              <a:ea typeface="Arial"/>
              <a:cs typeface="Arial"/>
              <a:sym typeface="Arial"/>
            </a:endParaRPr>
          </a:p>
        </p:txBody>
      </p:sp>
      <p:sp>
        <p:nvSpPr>
          <p:cNvPr id="206" name="Google Shape;206;p21"/>
          <p:cNvSpPr/>
          <p:nvPr/>
        </p:nvSpPr>
        <p:spPr>
          <a:xfrm>
            <a:off x="1447800" y="3086100"/>
            <a:ext cx="5867400" cy="17145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07" name="Google Shape;207;p21"/>
          <p:cNvSpPr txBox="1"/>
          <p:nvPr/>
        </p:nvSpPr>
        <p:spPr>
          <a:xfrm>
            <a:off x="3770312" y="2724150"/>
            <a:ext cx="1359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Similitudes</a:t>
            </a:r>
            <a:endParaRPr sz="1400" b="0" i="0" u="none" strike="noStrike" cap="none">
              <a:solidFill>
                <a:srgbClr val="000000"/>
              </a:solidFill>
              <a:latin typeface="Arial"/>
              <a:ea typeface="Arial"/>
              <a:cs typeface="Arial"/>
              <a:sym typeface="Arial"/>
            </a:endParaRPr>
          </a:p>
        </p:txBody>
      </p:sp>
      <p:sp>
        <p:nvSpPr>
          <p:cNvPr id="208" name="Google Shape;208;p21"/>
          <p:cNvSpPr txBox="1"/>
          <p:nvPr/>
        </p:nvSpPr>
        <p:spPr>
          <a:xfrm>
            <a:off x="5402262" y="4000500"/>
            <a:ext cx="1752600" cy="3717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Isotropic Scaling</a:t>
            </a:r>
            <a:endParaRPr sz="1400" b="0" i="0" u="none" strike="noStrike" cap="none">
              <a:solidFill>
                <a:srgbClr val="000000"/>
              </a:solidFill>
              <a:latin typeface="Arial"/>
              <a:ea typeface="Arial"/>
              <a:cs typeface="Arial"/>
              <a:sym typeface="Arial"/>
            </a:endParaRPr>
          </a:p>
        </p:txBody>
      </p:sp>
      <p:sp>
        <p:nvSpPr>
          <p:cNvPr id="209" name="Google Shape;209;p21"/>
          <p:cNvSpPr txBox="1"/>
          <p:nvPr/>
        </p:nvSpPr>
        <p:spPr>
          <a:xfrm>
            <a:off x="4191000" y="3829050"/>
            <a:ext cx="1143000" cy="3717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Identity</a:t>
            </a:r>
            <a:endParaRPr sz="1400" b="0" i="0" u="none" strike="noStrike" cap="none">
              <a:solidFill>
                <a:srgbClr val="000000"/>
              </a:solidFill>
              <a:latin typeface="Arial"/>
              <a:ea typeface="Arial"/>
              <a:cs typeface="Arial"/>
              <a:sym typeface="Arial"/>
            </a:endParaRPr>
          </a:p>
        </p:txBody>
      </p:sp>
      <p:sp>
        <p:nvSpPr>
          <p:cNvPr id="210" name="Google Shape;210;p21"/>
          <p:cNvSpPr/>
          <p:nvPr/>
        </p:nvSpPr>
        <p:spPr>
          <a:xfrm>
            <a:off x="3962400" y="3314700"/>
            <a:ext cx="4953000" cy="1600200"/>
          </a:xfrm>
          <a:prstGeom prst="ellipse">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11" name="Google Shape;211;p21"/>
          <p:cNvSpPr/>
          <p:nvPr/>
        </p:nvSpPr>
        <p:spPr>
          <a:xfrm>
            <a:off x="1905000" y="3543300"/>
            <a:ext cx="3429000" cy="11430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12" name="Google Shape;212;p21"/>
          <p:cNvSpPr txBox="1"/>
          <p:nvPr/>
        </p:nvSpPr>
        <p:spPr>
          <a:xfrm>
            <a:off x="7543800" y="3657600"/>
            <a:ext cx="1066800" cy="3717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1800"/>
              <a:buFont typeface="Times New Roman"/>
              <a:buNone/>
            </a:pPr>
            <a:r>
              <a:rPr lang="en-US" sz="1800" b="0" i="0" u="none" strike="noStrike" cap="none">
                <a:solidFill>
                  <a:srgbClr val="FF0000"/>
                </a:solidFill>
                <a:latin typeface="Times New Roman"/>
                <a:ea typeface="Times New Roman"/>
                <a:cs typeface="Times New Roman"/>
                <a:sym typeface="Times New Roman"/>
              </a:rPr>
              <a:t>Scaling</a:t>
            </a:r>
            <a:endParaRPr sz="1400" b="0" i="0" u="none" strike="noStrike" cap="none">
              <a:solidFill>
                <a:srgbClr val="000000"/>
              </a:solidFill>
              <a:latin typeface="Arial"/>
              <a:ea typeface="Arial"/>
              <a:cs typeface="Arial"/>
              <a:sym typeface="Arial"/>
            </a:endParaRPr>
          </a:p>
        </p:txBody>
      </p:sp>
      <p:sp>
        <p:nvSpPr>
          <p:cNvPr id="213" name="Google Shape;213;p21"/>
          <p:cNvSpPr txBox="1"/>
          <p:nvPr/>
        </p:nvSpPr>
        <p:spPr>
          <a:xfrm>
            <a:off x="7620000" y="4343400"/>
            <a:ext cx="914400" cy="3717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1800"/>
              <a:buFont typeface="Times New Roman"/>
              <a:buNone/>
            </a:pPr>
            <a:r>
              <a:rPr lang="en-US" sz="1800" b="0" i="0" u="none" strike="noStrike" cap="none">
                <a:solidFill>
                  <a:srgbClr val="FF0000"/>
                </a:solidFill>
                <a:latin typeface="Times New Roman"/>
                <a:ea typeface="Times New Roman"/>
                <a:cs typeface="Times New Roman"/>
                <a:sym typeface="Times New Roman"/>
              </a:rPr>
              <a:t>Shear</a:t>
            </a:r>
            <a:endParaRPr sz="1400" b="0" i="0" u="none" strike="noStrike" cap="none">
              <a:solidFill>
                <a:srgbClr val="000000"/>
              </a:solidFill>
              <a:latin typeface="Arial"/>
              <a:ea typeface="Arial"/>
              <a:cs typeface="Arial"/>
              <a:sym typeface="Arial"/>
            </a:endParaRPr>
          </a:p>
        </p:txBody>
      </p:sp>
      <p:sp>
        <p:nvSpPr>
          <p:cNvPr id="214" name="Google Shape;214;p21"/>
          <p:cNvSpPr txBox="1"/>
          <p:nvPr/>
        </p:nvSpPr>
        <p:spPr>
          <a:xfrm>
            <a:off x="7539037" y="4000500"/>
            <a:ext cx="1143000" cy="3717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1800"/>
              <a:buFont typeface="Times New Roman"/>
              <a:buNone/>
            </a:pPr>
            <a:r>
              <a:rPr lang="en-US" sz="1800" b="0" i="0" u="none" strike="noStrike" cap="none">
                <a:solidFill>
                  <a:srgbClr val="FF0000"/>
                </a:solidFill>
                <a:latin typeface="Times New Roman"/>
                <a:ea typeface="Times New Roman"/>
                <a:cs typeface="Times New Roman"/>
                <a:sym typeface="Times New Roman"/>
              </a:rPr>
              <a:t>Reflection</a:t>
            </a:r>
            <a:endParaRPr sz="1400" b="0" i="0" u="none" strike="noStrike" cap="none">
              <a:solidFill>
                <a:srgbClr val="000000"/>
              </a:solidFill>
              <a:latin typeface="Arial"/>
              <a:ea typeface="Arial"/>
              <a:cs typeface="Arial"/>
              <a:sym typeface="Arial"/>
            </a:endParaRPr>
          </a:p>
        </p:txBody>
      </p:sp>
      <p:pic>
        <p:nvPicPr>
          <p:cNvPr id="215" name="Google Shape;215;p21"/>
          <p:cNvPicPr preferRelativeResize="0"/>
          <p:nvPr/>
        </p:nvPicPr>
        <p:blipFill rotWithShape="1">
          <a:blip r:embed="rId3">
            <a:alphaModFix/>
          </a:blip>
          <a:srcRect l="3625" t="15167" r="3250" b="57583"/>
          <a:stretch/>
        </p:blipFill>
        <p:spPr>
          <a:xfrm>
            <a:off x="184150" y="1200150"/>
            <a:ext cx="8731252" cy="14370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2"/>
          <p:cNvSpPr txBox="1"/>
          <p:nvPr/>
        </p:nvSpPr>
        <p:spPr>
          <a:xfrm>
            <a:off x="7226300" y="48006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9</a:t>
            </a:fld>
            <a:endParaRPr sz="1400" b="0" i="0" u="none" strike="noStrike" cap="none">
              <a:solidFill>
                <a:srgbClr val="000000"/>
              </a:solidFill>
              <a:latin typeface="Arial"/>
              <a:ea typeface="Arial"/>
              <a:cs typeface="Arial"/>
              <a:sym typeface="Arial"/>
            </a:endParaRPr>
          </a:p>
        </p:txBody>
      </p:sp>
      <p:sp>
        <p:nvSpPr>
          <p:cNvPr id="222" name="Google Shape;222;p22"/>
          <p:cNvSpPr txBox="1">
            <a:spLocks noGrp="1"/>
          </p:cNvSpPr>
          <p:nvPr>
            <p:ph type="title"/>
          </p:nvPr>
        </p:nvSpPr>
        <p:spPr>
          <a:xfrm>
            <a:off x="1524000" y="114300"/>
            <a:ext cx="8766300" cy="688200"/>
          </a:xfrm>
          <a:prstGeom prst="rect">
            <a:avLst/>
          </a:prstGeom>
          <a:noFill/>
          <a:ln>
            <a:noFill/>
          </a:ln>
        </p:spPr>
        <p:txBody>
          <a:bodyPr spcFirstLastPara="1" wrap="square" lIns="90000" tIns="46800" rIns="90000" bIns="46800"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Linear Transformations</a:t>
            </a:r>
            <a:endParaRPr/>
          </a:p>
        </p:txBody>
      </p:sp>
      <p:sp>
        <p:nvSpPr>
          <p:cNvPr id="223" name="Google Shape;223;p22"/>
          <p:cNvSpPr txBox="1">
            <a:spLocks noGrp="1"/>
          </p:cNvSpPr>
          <p:nvPr>
            <p:ph type="body" idx="1"/>
          </p:nvPr>
        </p:nvSpPr>
        <p:spPr>
          <a:xfrm>
            <a:off x="1524000" y="1138238"/>
            <a:ext cx="4700100" cy="976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700" b="1" i="1"/>
              <a:t>Additivity: </a:t>
            </a:r>
            <a:r>
              <a:rPr lang="en-US" sz="2700" b="1" i="1" u="none">
                <a:solidFill>
                  <a:schemeClr val="dk1"/>
                </a:solidFill>
              </a:rPr>
              <a:t>L(p + q) = L(p) + L(q)</a:t>
            </a:r>
            <a:endParaRPr sz="2700" b="1"/>
          </a:p>
          <a:p>
            <a:pPr marL="0" lvl="0" indent="0" algn="l" rtl="0">
              <a:lnSpc>
                <a:spcPct val="100000"/>
              </a:lnSpc>
              <a:spcBef>
                <a:spcPts val="640"/>
              </a:spcBef>
              <a:spcAft>
                <a:spcPts val="0"/>
              </a:spcAft>
              <a:buSzPts val="1400"/>
              <a:buNone/>
            </a:pPr>
            <a:r>
              <a:rPr lang="en-US" sz="2700" b="1" i="1"/>
              <a:t>Homogeneity</a:t>
            </a:r>
            <a:r>
              <a:rPr lang="en-US" sz="2700" b="1"/>
              <a:t>: </a:t>
            </a:r>
            <a:r>
              <a:rPr lang="en-US" sz="2700" b="1" i="1" u="none">
                <a:solidFill>
                  <a:schemeClr val="dk1"/>
                </a:solidFill>
              </a:rPr>
              <a:t>L(ap) = a L(p)</a:t>
            </a:r>
            <a:endParaRPr sz="2700" b="1"/>
          </a:p>
        </p:txBody>
      </p:sp>
      <p:sp>
        <p:nvSpPr>
          <p:cNvPr id="224" name="Google Shape;224;p22"/>
          <p:cNvSpPr txBox="1"/>
          <p:nvPr/>
        </p:nvSpPr>
        <p:spPr>
          <a:xfrm>
            <a:off x="1600200" y="3657600"/>
            <a:ext cx="1222500" cy="8334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225" name="Google Shape;225;p22"/>
          <p:cNvSpPr txBox="1"/>
          <p:nvPr/>
        </p:nvSpPr>
        <p:spPr>
          <a:xfrm>
            <a:off x="3276600" y="382905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Rotation</a:t>
            </a:r>
            <a:endParaRPr sz="1400" b="0" i="0" u="none" strike="noStrike" cap="none">
              <a:solidFill>
                <a:srgbClr val="000000"/>
              </a:solidFill>
              <a:latin typeface="Arial"/>
              <a:ea typeface="Arial"/>
              <a:cs typeface="Arial"/>
              <a:sym typeface="Arial"/>
            </a:endParaRPr>
          </a:p>
        </p:txBody>
      </p:sp>
      <p:sp>
        <p:nvSpPr>
          <p:cNvPr id="226" name="Google Shape;226;p22"/>
          <p:cNvSpPr txBox="1"/>
          <p:nvPr/>
        </p:nvSpPr>
        <p:spPr>
          <a:xfrm>
            <a:off x="1295400" y="2914650"/>
            <a:ext cx="2819400" cy="464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1" i="1" u="none" strike="noStrike" cap="none">
                <a:solidFill>
                  <a:schemeClr val="dk1"/>
                </a:solidFill>
                <a:latin typeface="Times New Roman"/>
                <a:ea typeface="Times New Roman"/>
                <a:cs typeface="Times New Roman"/>
                <a:sym typeface="Times New Roman"/>
              </a:rPr>
              <a:t>Rigid / Euclidean</a:t>
            </a:r>
            <a:endParaRPr sz="1400" b="0" i="0" u="none" strike="noStrike" cap="none">
              <a:solidFill>
                <a:srgbClr val="000000"/>
              </a:solidFill>
              <a:latin typeface="Arial"/>
              <a:ea typeface="Arial"/>
              <a:cs typeface="Arial"/>
              <a:sym typeface="Arial"/>
            </a:endParaRPr>
          </a:p>
        </p:txBody>
      </p:sp>
      <p:sp>
        <p:nvSpPr>
          <p:cNvPr id="227" name="Google Shape;227;p22"/>
          <p:cNvSpPr txBox="1"/>
          <p:nvPr/>
        </p:nvSpPr>
        <p:spPr>
          <a:xfrm>
            <a:off x="5943600" y="2533650"/>
            <a:ext cx="1027200" cy="464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1" i="1" u="none" strike="noStrike" cap="none">
                <a:solidFill>
                  <a:srgbClr val="FF0000"/>
                </a:solidFill>
                <a:latin typeface="Times New Roman"/>
                <a:ea typeface="Times New Roman"/>
                <a:cs typeface="Times New Roman"/>
                <a:sym typeface="Times New Roman"/>
              </a:rPr>
              <a:t>Linear</a:t>
            </a:r>
            <a:endParaRPr sz="1400" b="0" i="0" u="none" strike="noStrike" cap="none">
              <a:solidFill>
                <a:srgbClr val="000000"/>
              </a:solidFill>
              <a:latin typeface="Arial"/>
              <a:ea typeface="Arial"/>
              <a:cs typeface="Arial"/>
              <a:sym typeface="Arial"/>
            </a:endParaRPr>
          </a:p>
        </p:txBody>
      </p:sp>
      <p:sp>
        <p:nvSpPr>
          <p:cNvPr id="228" name="Google Shape;228;p22"/>
          <p:cNvSpPr/>
          <p:nvPr/>
        </p:nvSpPr>
        <p:spPr>
          <a:xfrm>
            <a:off x="609600" y="2743200"/>
            <a:ext cx="5867400" cy="19284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29" name="Google Shape;229;p22"/>
          <p:cNvSpPr txBox="1"/>
          <p:nvPr/>
        </p:nvSpPr>
        <p:spPr>
          <a:xfrm>
            <a:off x="2667000" y="2305050"/>
            <a:ext cx="1808400" cy="464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1" i="1" u="none" strike="noStrike" cap="none">
                <a:solidFill>
                  <a:schemeClr val="dk1"/>
                </a:solidFill>
                <a:latin typeface="Times New Roman"/>
                <a:ea typeface="Times New Roman"/>
                <a:cs typeface="Times New Roman"/>
                <a:sym typeface="Times New Roman"/>
              </a:rPr>
              <a:t>Similitudes</a:t>
            </a:r>
            <a:endParaRPr sz="1400" b="0" i="0" u="none" strike="noStrike" cap="none">
              <a:solidFill>
                <a:srgbClr val="000000"/>
              </a:solidFill>
              <a:latin typeface="Arial"/>
              <a:ea typeface="Arial"/>
              <a:cs typeface="Arial"/>
              <a:sym typeface="Arial"/>
            </a:endParaRPr>
          </a:p>
        </p:txBody>
      </p:sp>
      <p:sp>
        <p:nvSpPr>
          <p:cNvPr id="230" name="Google Shape;230;p22"/>
          <p:cNvSpPr txBox="1"/>
          <p:nvPr/>
        </p:nvSpPr>
        <p:spPr>
          <a:xfrm>
            <a:off x="4478337" y="3657600"/>
            <a:ext cx="19242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Isotropic Scaling</a:t>
            </a:r>
            <a:endParaRPr sz="1400" b="0" i="0" u="none" strike="noStrike" cap="none">
              <a:solidFill>
                <a:srgbClr val="000000"/>
              </a:solidFill>
              <a:latin typeface="Arial"/>
              <a:ea typeface="Arial"/>
              <a:cs typeface="Arial"/>
              <a:sym typeface="Arial"/>
            </a:endParaRPr>
          </a:p>
        </p:txBody>
      </p:sp>
      <p:sp>
        <p:nvSpPr>
          <p:cNvPr id="231" name="Google Shape;231;p22"/>
          <p:cNvSpPr txBox="1"/>
          <p:nvPr/>
        </p:nvSpPr>
        <p:spPr>
          <a:xfrm>
            <a:off x="6705600" y="331470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Scaling</a:t>
            </a:r>
            <a:endParaRPr sz="1400" b="0" i="0" u="none" strike="noStrike" cap="none">
              <a:solidFill>
                <a:srgbClr val="000000"/>
              </a:solidFill>
              <a:latin typeface="Arial"/>
              <a:ea typeface="Arial"/>
              <a:cs typeface="Arial"/>
              <a:sym typeface="Arial"/>
            </a:endParaRPr>
          </a:p>
        </p:txBody>
      </p:sp>
      <p:sp>
        <p:nvSpPr>
          <p:cNvPr id="232" name="Google Shape;232;p22"/>
          <p:cNvSpPr txBox="1"/>
          <p:nvPr/>
        </p:nvSpPr>
        <p:spPr>
          <a:xfrm>
            <a:off x="6781800" y="4000500"/>
            <a:ext cx="914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Shear</a:t>
            </a:r>
            <a:endParaRPr sz="1400" b="0" i="0" u="none" strike="noStrike" cap="none">
              <a:solidFill>
                <a:srgbClr val="000000"/>
              </a:solidFill>
              <a:latin typeface="Arial"/>
              <a:ea typeface="Arial"/>
              <a:cs typeface="Arial"/>
              <a:sym typeface="Arial"/>
            </a:endParaRPr>
          </a:p>
        </p:txBody>
      </p:sp>
      <p:sp>
        <p:nvSpPr>
          <p:cNvPr id="233" name="Google Shape;233;p22"/>
          <p:cNvSpPr txBox="1"/>
          <p:nvPr/>
        </p:nvSpPr>
        <p:spPr>
          <a:xfrm>
            <a:off x="6648450" y="3657600"/>
            <a:ext cx="12477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Reflection</a:t>
            </a:r>
            <a:endParaRPr sz="1400" b="0" i="0" u="none" strike="noStrike" cap="none">
              <a:solidFill>
                <a:srgbClr val="000000"/>
              </a:solidFill>
              <a:latin typeface="Arial"/>
              <a:ea typeface="Arial"/>
              <a:cs typeface="Arial"/>
              <a:sym typeface="Arial"/>
            </a:endParaRPr>
          </a:p>
        </p:txBody>
      </p:sp>
      <p:sp>
        <p:nvSpPr>
          <p:cNvPr id="234" name="Google Shape;234;p22"/>
          <p:cNvSpPr txBox="1"/>
          <p:nvPr/>
        </p:nvSpPr>
        <p:spPr>
          <a:xfrm>
            <a:off x="3352800" y="3486150"/>
            <a:ext cx="1143000" cy="464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Identity</a:t>
            </a:r>
            <a:endParaRPr sz="1400" b="0" i="0" u="none" strike="noStrike" cap="none">
              <a:solidFill>
                <a:srgbClr val="000000"/>
              </a:solidFill>
              <a:latin typeface="Arial"/>
              <a:ea typeface="Arial"/>
              <a:cs typeface="Arial"/>
              <a:sym typeface="Arial"/>
            </a:endParaRPr>
          </a:p>
        </p:txBody>
      </p:sp>
      <p:sp>
        <p:nvSpPr>
          <p:cNvPr id="235" name="Google Shape;235;p22"/>
          <p:cNvSpPr/>
          <p:nvPr/>
        </p:nvSpPr>
        <p:spPr>
          <a:xfrm>
            <a:off x="3124200" y="2971800"/>
            <a:ext cx="4953000" cy="1600200"/>
          </a:xfrm>
          <a:prstGeom prst="ellipse">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36" name="Google Shape;236;p22"/>
          <p:cNvSpPr/>
          <p:nvPr/>
        </p:nvSpPr>
        <p:spPr>
          <a:xfrm>
            <a:off x="1066800" y="3314700"/>
            <a:ext cx="3505200" cy="11763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pic>
        <p:nvPicPr>
          <p:cNvPr id="237" name="Google Shape;237;p22"/>
          <p:cNvPicPr preferRelativeResize="0"/>
          <p:nvPr/>
        </p:nvPicPr>
        <p:blipFill rotWithShape="1">
          <a:blip r:embed="rId3">
            <a:alphaModFix/>
          </a:blip>
          <a:srcRect l="52810" t="13998" r="4251" b="56251"/>
          <a:stretch/>
        </p:blipFill>
        <p:spPr>
          <a:xfrm>
            <a:off x="6053625" y="1437084"/>
            <a:ext cx="3090376" cy="120491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3"/>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200"/>
              <a:buFont typeface="Times New Roman"/>
              <a:buNone/>
            </a:pPr>
            <a:fld id="{00000000-1234-1234-1234-123412341234}" type="slidenum">
              <a:rPr lang="en-US" sz="1200" b="0" i="0" u="none" strike="noStrike" cap="none">
                <a:solidFill>
                  <a:schemeClr val="dk2"/>
                </a:solidFill>
                <a:latin typeface="Times New Roman"/>
                <a:ea typeface="Times New Roman"/>
                <a:cs typeface="Times New Roman"/>
                <a:sym typeface="Times New Roman"/>
              </a:rPr>
              <a:t>10</a:t>
            </a:fld>
            <a:endParaRPr sz="1400" b="0" i="0" u="none" strike="noStrike" cap="none">
              <a:solidFill>
                <a:srgbClr val="000000"/>
              </a:solidFill>
              <a:latin typeface="Arial"/>
              <a:ea typeface="Arial"/>
              <a:cs typeface="Arial"/>
              <a:sym typeface="Arial"/>
            </a:endParaRPr>
          </a:p>
        </p:txBody>
      </p:sp>
      <p:sp>
        <p:nvSpPr>
          <p:cNvPr id="244" name="Google Shape;244;p23"/>
          <p:cNvSpPr txBox="1">
            <a:spLocks noGrp="1"/>
          </p:cNvSpPr>
          <p:nvPr>
            <p:ph type="title"/>
          </p:nvPr>
        </p:nvSpPr>
        <p:spPr>
          <a:xfrm>
            <a:off x="1676400" y="114300"/>
            <a:ext cx="60198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Affine Transformations</a:t>
            </a:r>
            <a:endParaRPr/>
          </a:p>
        </p:txBody>
      </p:sp>
      <p:sp>
        <p:nvSpPr>
          <p:cNvPr id="245" name="Google Shape;245;p23"/>
          <p:cNvSpPr txBox="1">
            <a:spLocks noGrp="1"/>
          </p:cNvSpPr>
          <p:nvPr>
            <p:ph type="body" idx="1"/>
          </p:nvPr>
        </p:nvSpPr>
        <p:spPr>
          <a:xfrm>
            <a:off x="1600200" y="1143000"/>
            <a:ext cx="2667000" cy="796500"/>
          </a:xfrm>
          <a:prstGeom prst="rect">
            <a:avLst/>
          </a:prstGeom>
          <a:noFill/>
          <a:ln>
            <a:noFill/>
          </a:ln>
        </p:spPr>
        <p:txBody>
          <a:bodyPr spcFirstLastPara="1" wrap="square" lIns="0" tIns="0" rIns="0" bIns="0" anchor="t" anchorCtr="0">
            <a:noAutofit/>
          </a:bodyPr>
          <a:lstStyle/>
          <a:p>
            <a:pPr marL="339725" lvl="0" indent="-339725" algn="l" rtl="0">
              <a:lnSpc>
                <a:spcPct val="100000"/>
              </a:lnSpc>
              <a:spcBef>
                <a:spcPts val="0"/>
              </a:spcBef>
              <a:spcAft>
                <a:spcPts val="0"/>
              </a:spcAft>
              <a:buClr>
                <a:schemeClr val="dk2"/>
              </a:buClr>
              <a:buSzPts val="2660"/>
              <a:buFont typeface="Noto Sans Symbols"/>
              <a:buChar char="✶"/>
            </a:pPr>
            <a:r>
              <a:rPr lang="en-US" sz="2800" b="0" i="0" u="none">
                <a:solidFill>
                  <a:schemeClr val="dk1"/>
                </a:solidFill>
                <a:latin typeface="Times New Roman"/>
                <a:ea typeface="Times New Roman"/>
                <a:cs typeface="Times New Roman"/>
                <a:sym typeface="Times New Roman"/>
              </a:rPr>
              <a:t>preserves </a:t>
            </a:r>
            <a:br>
              <a:rPr lang="en-US" sz="2800" b="0" i="0" u="none">
                <a:solidFill>
                  <a:schemeClr val="dk1"/>
                </a:solidFill>
                <a:latin typeface="Times New Roman"/>
                <a:ea typeface="Times New Roman"/>
                <a:cs typeface="Times New Roman"/>
                <a:sym typeface="Times New Roman"/>
              </a:rPr>
            </a:br>
            <a:r>
              <a:rPr lang="en-US" sz="2800" b="0" i="0" u="none">
                <a:solidFill>
                  <a:schemeClr val="dk1"/>
                </a:solidFill>
                <a:latin typeface="Times New Roman"/>
                <a:ea typeface="Times New Roman"/>
                <a:cs typeface="Times New Roman"/>
                <a:sym typeface="Times New Roman"/>
              </a:rPr>
              <a:t>parallel lines</a:t>
            </a:r>
            <a:endParaRPr/>
          </a:p>
        </p:txBody>
      </p:sp>
      <p:sp>
        <p:nvSpPr>
          <p:cNvPr id="246" name="Google Shape;246;p23"/>
          <p:cNvSpPr txBox="1"/>
          <p:nvPr/>
        </p:nvSpPr>
        <p:spPr>
          <a:xfrm>
            <a:off x="2076450" y="3543300"/>
            <a:ext cx="133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247" name="Google Shape;247;p23"/>
          <p:cNvSpPr txBox="1"/>
          <p:nvPr/>
        </p:nvSpPr>
        <p:spPr>
          <a:xfrm>
            <a:off x="3810000" y="371475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Rotation</a:t>
            </a:r>
            <a:endParaRPr sz="1400" b="0" i="0" u="none" strike="noStrike" cap="none">
              <a:solidFill>
                <a:srgbClr val="000000"/>
              </a:solidFill>
              <a:latin typeface="Arial"/>
              <a:ea typeface="Arial"/>
              <a:cs typeface="Arial"/>
              <a:sym typeface="Arial"/>
            </a:endParaRPr>
          </a:p>
        </p:txBody>
      </p:sp>
      <p:sp>
        <p:nvSpPr>
          <p:cNvPr id="248" name="Google Shape;248;p23"/>
          <p:cNvSpPr txBox="1"/>
          <p:nvPr/>
        </p:nvSpPr>
        <p:spPr>
          <a:xfrm>
            <a:off x="1828800" y="2800350"/>
            <a:ext cx="2819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Rigid / Euclidean</a:t>
            </a:r>
            <a:endParaRPr sz="1400" b="0" i="0" u="none" strike="noStrike" cap="none">
              <a:solidFill>
                <a:srgbClr val="000000"/>
              </a:solidFill>
              <a:latin typeface="Arial"/>
              <a:ea typeface="Arial"/>
              <a:cs typeface="Arial"/>
              <a:sym typeface="Arial"/>
            </a:endParaRPr>
          </a:p>
        </p:txBody>
      </p:sp>
      <p:sp>
        <p:nvSpPr>
          <p:cNvPr id="249" name="Google Shape;249;p23"/>
          <p:cNvSpPr txBox="1"/>
          <p:nvPr/>
        </p:nvSpPr>
        <p:spPr>
          <a:xfrm>
            <a:off x="6543675" y="2571750"/>
            <a:ext cx="8937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Linear</a:t>
            </a:r>
            <a:endParaRPr sz="1400" b="0" i="0" u="none" strike="noStrike" cap="none">
              <a:solidFill>
                <a:srgbClr val="000000"/>
              </a:solidFill>
              <a:latin typeface="Arial"/>
              <a:ea typeface="Arial"/>
              <a:cs typeface="Arial"/>
              <a:sym typeface="Arial"/>
            </a:endParaRPr>
          </a:p>
        </p:txBody>
      </p:sp>
      <p:sp>
        <p:nvSpPr>
          <p:cNvPr id="250" name="Google Shape;250;p23"/>
          <p:cNvSpPr/>
          <p:nvPr/>
        </p:nvSpPr>
        <p:spPr>
          <a:xfrm>
            <a:off x="914400" y="2228850"/>
            <a:ext cx="8001000" cy="2457600"/>
          </a:xfrm>
          <a:prstGeom prst="ellipse">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51" name="Google Shape;251;p23"/>
          <p:cNvSpPr/>
          <p:nvPr/>
        </p:nvSpPr>
        <p:spPr>
          <a:xfrm>
            <a:off x="1143000" y="2628900"/>
            <a:ext cx="5867400" cy="18288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52" name="Google Shape;252;p23"/>
          <p:cNvSpPr txBox="1"/>
          <p:nvPr/>
        </p:nvSpPr>
        <p:spPr>
          <a:xfrm>
            <a:off x="3465512" y="2266950"/>
            <a:ext cx="1359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Similitudes</a:t>
            </a:r>
            <a:endParaRPr sz="1400" b="0" i="0" u="none" strike="noStrike" cap="none">
              <a:solidFill>
                <a:srgbClr val="000000"/>
              </a:solidFill>
              <a:latin typeface="Arial"/>
              <a:ea typeface="Arial"/>
              <a:cs typeface="Arial"/>
              <a:sym typeface="Arial"/>
            </a:endParaRPr>
          </a:p>
        </p:txBody>
      </p:sp>
      <p:sp>
        <p:nvSpPr>
          <p:cNvPr id="253" name="Google Shape;253;p23"/>
          <p:cNvSpPr txBox="1"/>
          <p:nvPr/>
        </p:nvSpPr>
        <p:spPr>
          <a:xfrm>
            <a:off x="5011737" y="3543300"/>
            <a:ext cx="19242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Isotropic Scaling</a:t>
            </a:r>
            <a:endParaRPr sz="1400" b="0" i="0" u="none" strike="noStrike" cap="none">
              <a:solidFill>
                <a:srgbClr val="000000"/>
              </a:solidFill>
              <a:latin typeface="Arial"/>
              <a:ea typeface="Arial"/>
              <a:cs typeface="Arial"/>
              <a:sym typeface="Arial"/>
            </a:endParaRPr>
          </a:p>
        </p:txBody>
      </p:sp>
      <p:sp>
        <p:nvSpPr>
          <p:cNvPr id="254" name="Google Shape;254;p23"/>
          <p:cNvSpPr txBox="1"/>
          <p:nvPr/>
        </p:nvSpPr>
        <p:spPr>
          <a:xfrm>
            <a:off x="7239000" y="320040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Scaling</a:t>
            </a:r>
            <a:endParaRPr sz="1400" b="0" i="0" u="none" strike="noStrike" cap="none">
              <a:solidFill>
                <a:srgbClr val="000000"/>
              </a:solidFill>
              <a:latin typeface="Arial"/>
              <a:ea typeface="Arial"/>
              <a:cs typeface="Arial"/>
              <a:sym typeface="Arial"/>
            </a:endParaRPr>
          </a:p>
        </p:txBody>
      </p:sp>
      <p:sp>
        <p:nvSpPr>
          <p:cNvPr id="255" name="Google Shape;255;p23"/>
          <p:cNvSpPr txBox="1"/>
          <p:nvPr/>
        </p:nvSpPr>
        <p:spPr>
          <a:xfrm>
            <a:off x="7315200" y="3886200"/>
            <a:ext cx="914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Shear</a:t>
            </a:r>
            <a:endParaRPr sz="1400" b="0" i="0" u="none" strike="noStrike" cap="none">
              <a:solidFill>
                <a:srgbClr val="000000"/>
              </a:solidFill>
              <a:latin typeface="Arial"/>
              <a:ea typeface="Arial"/>
              <a:cs typeface="Arial"/>
              <a:sym typeface="Arial"/>
            </a:endParaRPr>
          </a:p>
        </p:txBody>
      </p:sp>
      <p:sp>
        <p:nvSpPr>
          <p:cNvPr id="256" name="Google Shape;256;p23"/>
          <p:cNvSpPr txBox="1"/>
          <p:nvPr/>
        </p:nvSpPr>
        <p:spPr>
          <a:xfrm>
            <a:off x="7181850" y="3543300"/>
            <a:ext cx="12477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Reflection</a:t>
            </a:r>
            <a:endParaRPr sz="1400" b="0" i="0" u="none" strike="noStrike" cap="none">
              <a:solidFill>
                <a:srgbClr val="000000"/>
              </a:solidFill>
              <a:latin typeface="Arial"/>
              <a:ea typeface="Arial"/>
              <a:cs typeface="Arial"/>
              <a:sym typeface="Arial"/>
            </a:endParaRPr>
          </a:p>
        </p:txBody>
      </p:sp>
      <p:sp>
        <p:nvSpPr>
          <p:cNvPr id="257" name="Google Shape;257;p23"/>
          <p:cNvSpPr txBox="1"/>
          <p:nvPr/>
        </p:nvSpPr>
        <p:spPr>
          <a:xfrm>
            <a:off x="3886200" y="3371850"/>
            <a:ext cx="1143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Identity</a:t>
            </a:r>
            <a:endParaRPr sz="1400" b="0" i="0" u="none" strike="noStrike" cap="none">
              <a:solidFill>
                <a:srgbClr val="000000"/>
              </a:solidFill>
              <a:latin typeface="Arial"/>
              <a:ea typeface="Arial"/>
              <a:cs typeface="Arial"/>
              <a:sym typeface="Arial"/>
            </a:endParaRPr>
          </a:p>
        </p:txBody>
      </p:sp>
      <p:sp>
        <p:nvSpPr>
          <p:cNvPr id="258" name="Google Shape;258;p23"/>
          <p:cNvSpPr/>
          <p:nvPr/>
        </p:nvSpPr>
        <p:spPr>
          <a:xfrm>
            <a:off x="3657600" y="2857500"/>
            <a:ext cx="4953000" cy="16002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59" name="Google Shape;259;p23"/>
          <p:cNvSpPr/>
          <p:nvPr/>
        </p:nvSpPr>
        <p:spPr>
          <a:xfrm>
            <a:off x="1600200" y="3200400"/>
            <a:ext cx="3429000" cy="10881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pic>
        <p:nvPicPr>
          <p:cNvPr id="260" name="Google Shape;260;p23"/>
          <p:cNvPicPr preferRelativeResize="0"/>
          <p:nvPr/>
        </p:nvPicPr>
        <p:blipFill rotWithShape="1">
          <a:blip r:embed="rId3">
            <a:alphaModFix/>
          </a:blip>
          <a:srcRect l="47124" t="14166" r="4436" b="59750"/>
          <a:stretch/>
        </p:blipFill>
        <p:spPr>
          <a:xfrm>
            <a:off x="4264025" y="689371"/>
            <a:ext cx="4708524" cy="1425177"/>
          </a:xfrm>
          <a:prstGeom prst="rect">
            <a:avLst/>
          </a:prstGeom>
          <a:noFill/>
          <a:ln>
            <a:noFill/>
          </a:ln>
        </p:spPr>
      </p:pic>
      <p:sp>
        <p:nvSpPr>
          <p:cNvPr id="261" name="Google Shape;261;p23"/>
          <p:cNvSpPr txBox="1"/>
          <p:nvPr/>
        </p:nvSpPr>
        <p:spPr>
          <a:xfrm>
            <a:off x="3951287" y="1781175"/>
            <a:ext cx="846000" cy="402300"/>
          </a:xfrm>
          <a:prstGeom prst="rect">
            <a:avLst/>
          </a:prstGeom>
          <a:solidFill>
            <a:schemeClr val="lt1"/>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1" i="1" u="none" strike="noStrike" cap="none">
                <a:solidFill>
                  <a:srgbClr val="FF0000"/>
                </a:solidFill>
                <a:latin typeface="Times New Roman"/>
                <a:ea typeface="Times New Roman"/>
                <a:cs typeface="Times New Roman"/>
                <a:sym typeface="Times New Roman"/>
              </a:rPr>
              <a:t>Affine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4"/>
          <p:cNvSpPr txBox="1"/>
          <p:nvPr/>
        </p:nvSpPr>
        <p:spPr>
          <a:xfrm>
            <a:off x="3797300" y="4686300"/>
            <a:ext cx="2895600" cy="342900"/>
          </a:xfrm>
          <a:prstGeom prst="rect">
            <a:avLst/>
          </a:prstGeom>
          <a:noFill/>
          <a:ln>
            <a:noFill/>
          </a:ln>
        </p:spPr>
        <p:txBody>
          <a:bodyPr spcFirstLastPara="1" wrap="square" lIns="92075" tIns="46025" rIns="92075" bIns="46025" anchor="ctr" anchorCtr="0">
            <a:noAutofit/>
          </a:bodyPr>
          <a:lstStyle/>
          <a:p>
            <a:pPr marL="0" marR="0" lvl="0" indent="0" algn="ctr" rtl="0">
              <a:lnSpc>
                <a:spcPct val="100000"/>
              </a:lnSpc>
              <a:spcBef>
                <a:spcPts val="0"/>
              </a:spcBef>
              <a:spcAft>
                <a:spcPts val="0"/>
              </a:spcAft>
              <a:buClr>
                <a:schemeClr val="dk2"/>
              </a:buClr>
              <a:buSzPts val="1200"/>
              <a:buFont typeface="Times New Roman"/>
              <a:buNone/>
            </a:pPr>
            <a:r>
              <a:rPr lang="en-US" sz="1200" b="0" i="0" u="none" strike="noStrike" cap="none">
                <a:solidFill>
                  <a:schemeClr val="dk2"/>
                </a:solidFill>
                <a:latin typeface="Times New Roman"/>
                <a:ea typeface="Times New Roman"/>
                <a:cs typeface="Times New Roman"/>
                <a:sym typeface="Times New Roman"/>
              </a:rPr>
              <a:t>6.837 Fall 06 – Durand </a:t>
            </a:r>
            <a:endParaRPr sz="1400" b="0" i="0" u="none" strike="noStrike" cap="none">
              <a:solidFill>
                <a:srgbClr val="000000"/>
              </a:solidFill>
              <a:latin typeface="Arial"/>
              <a:ea typeface="Arial"/>
              <a:cs typeface="Arial"/>
              <a:sym typeface="Arial"/>
            </a:endParaRPr>
          </a:p>
        </p:txBody>
      </p:sp>
      <p:sp>
        <p:nvSpPr>
          <p:cNvPr id="268" name="Google Shape;268;p24"/>
          <p:cNvSpPr txBox="1"/>
          <p:nvPr/>
        </p:nvSpPr>
        <p:spPr>
          <a:xfrm>
            <a:off x="72390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200"/>
              <a:buFont typeface="Times New Roman"/>
              <a:buNone/>
            </a:pPr>
            <a:fld id="{00000000-1234-1234-1234-123412341234}" type="slidenum">
              <a:rPr lang="en-US" sz="1200" b="0" i="0" u="none" strike="noStrike" cap="none">
                <a:solidFill>
                  <a:schemeClr val="dk2"/>
                </a:solidFill>
                <a:latin typeface="Times New Roman"/>
                <a:ea typeface="Times New Roman"/>
                <a:cs typeface="Times New Roman"/>
                <a:sym typeface="Times New Roman"/>
              </a:rPr>
              <a:t>11</a:t>
            </a:fld>
            <a:endParaRPr sz="1400" b="0" i="0" u="none" strike="noStrike" cap="none">
              <a:solidFill>
                <a:srgbClr val="000000"/>
              </a:solidFill>
              <a:latin typeface="Arial"/>
              <a:ea typeface="Arial"/>
              <a:cs typeface="Arial"/>
              <a:sym typeface="Arial"/>
            </a:endParaRPr>
          </a:p>
        </p:txBody>
      </p:sp>
      <p:sp>
        <p:nvSpPr>
          <p:cNvPr id="269" name="Google Shape;269;p24"/>
          <p:cNvSpPr txBox="1"/>
          <p:nvPr/>
        </p:nvSpPr>
        <p:spPr>
          <a:xfrm>
            <a:off x="2590800" y="4572000"/>
            <a:ext cx="3581400" cy="5715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70" name="Google Shape;270;p24"/>
          <p:cNvSpPr txBox="1">
            <a:spLocks noGrp="1"/>
          </p:cNvSpPr>
          <p:nvPr>
            <p:ph type="title"/>
          </p:nvPr>
        </p:nvSpPr>
        <p:spPr>
          <a:xfrm>
            <a:off x="990600" y="209550"/>
            <a:ext cx="64008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Projective Transformations</a:t>
            </a:r>
            <a:endParaRPr/>
          </a:p>
        </p:txBody>
      </p:sp>
      <p:sp>
        <p:nvSpPr>
          <p:cNvPr id="271" name="Google Shape;271;p24"/>
          <p:cNvSpPr txBox="1">
            <a:spLocks noGrp="1"/>
          </p:cNvSpPr>
          <p:nvPr>
            <p:ph type="body" idx="1"/>
          </p:nvPr>
        </p:nvSpPr>
        <p:spPr>
          <a:xfrm>
            <a:off x="1524000" y="1089422"/>
            <a:ext cx="2667000" cy="396600"/>
          </a:xfrm>
          <a:prstGeom prst="rect">
            <a:avLst/>
          </a:prstGeom>
          <a:noFill/>
          <a:ln>
            <a:noFill/>
          </a:ln>
        </p:spPr>
        <p:txBody>
          <a:bodyPr spcFirstLastPara="1" wrap="square" lIns="0" tIns="0" rIns="0" bIns="0" anchor="t" anchorCtr="0">
            <a:noAutofit/>
          </a:bodyPr>
          <a:lstStyle/>
          <a:p>
            <a:pPr marL="339725" lvl="0" indent="-339725" algn="l" rtl="0">
              <a:lnSpc>
                <a:spcPct val="100000"/>
              </a:lnSpc>
              <a:spcBef>
                <a:spcPts val="0"/>
              </a:spcBef>
              <a:spcAft>
                <a:spcPts val="0"/>
              </a:spcAft>
              <a:buClr>
                <a:schemeClr val="dk2"/>
              </a:buClr>
              <a:buSzPts val="2280"/>
              <a:buFont typeface="Noto Sans Symbols"/>
              <a:buChar char="✶"/>
            </a:pPr>
            <a:r>
              <a:rPr lang="en-US" sz="2400" b="0" i="0" u="none">
                <a:solidFill>
                  <a:schemeClr val="dk1"/>
                </a:solidFill>
                <a:latin typeface="Times New Roman"/>
                <a:ea typeface="Times New Roman"/>
                <a:cs typeface="Times New Roman"/>
                <a:sym typeface="Times New Roman"/>
              </a:rPr>
              <a:t>preserves lines</a:t>
            </a:r>
            <a:endParaRPr/>
          </a:p>
        </p:txBody>
      </p:sp>
      <p:sp>
        <p:nvSpPr>
          <p:cNvPr id="272" name="Google Shape;272;p24"/>
          <p:cNvSpPr txBox="1"/>
          <p:nvPr/>
        </p:nvSpPr>
        <p:spPr>
          <a:xfrm>
            <a:off x="1543050" y="3543300"/>
            <a:ext cx="133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Translation</a:t>
            </a:r>
            <a:endParaRPr sz="1400" b="0" i="0" u="none" strike="noStrike" cap="none">
              <a:solidFill>
                <a:srgbClr val="000000"/>
              </a:solidFill>
              <a:latin typeface="Arial"/>
              <a:ea typeface="Arial"/>
              <a:cs typeface="Arial"/>
              <a:sym typeface="Arial"/>
            </a:endParaRPr>
          </a:p>
        </p:txBody>
      </p:sp>
      <p:sp>
        <p:nvSpPr>
          <p:cNvPr id="273" name="Google Shape;273;p24"/>
          <p:cNvSpPr txBox="1"/>
          <p:nvPr/>
        </p:nvSpPr>
        <p:spPr>
          <a:xfrm>
            <a:off x="3276600" y="371475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Rotation</a:t>
            </a:r>
            <a:endParaRPr sz="1400" b="0" i="0" u="none" strike="noStrike" cap="none">
              <a:solidFill>
                <a:srgbClr val="000000"/>
              </a:solidFill>
              <a:latin typeface="Arial"/>
              <a:ea typeface="Arial"/>
              <a:cs typeface="Arial"/>
              <a:sym typeface="Arial"/>
            </a:endParaRPr>
          </a:p>
        </p:txBody>
      </p:sp>
      <p:sp>
        <p:nvSpPr>
          <p:cNvPr id="274" name="Google Shape;274;p24"/>
          <p:cNvSpPr txBox="1"/>
          <p:nvPr/>
        </p:nvSpPr>
        <p:spPr>
          <a:xfrm>
            <a:off x="1295400" y="2800350"/>
            <a:ext cx="2819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Rigid / Euclidean</a:t>
            </a:r>
            <a:endParaRPr sz="1400" b="0" i="0" u="none" strike="noStrike" cap="none">
              <a:solidFill>
                <a:srgbClr val="000000"/>
              </a:solidFill>
              <a:latin typeface="Arial"/>
              <a:ea typeface="Arial"/>
              <a:cs typeface="Arial"/>
              <a:sym typeface="Arial"/>
            </a:endParaRPr>
          </a:p>
        </p:txBody>
      </p:sp>
      <p:sp>
        <p:nvSpPr>
          <p:cNvPr id="275" name="Google Shape;275;p24"/>
          <p:cNvSpPr txBox="1"/>
          <p:nvPr/>
        </p:nvSpPr>
        <p:spPr>
          <a:xfrm>
            <a:off x="6010275" y="2571750"/>
            <a:ext cx="8937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Linear</a:t>
            </a:r>
            <a:endParaRPr sz="1400" b="0" i="0" u="none" strike="noStrike" cap="none">
              <a:solidFill>
                <a:srgbClr val="000000"/>
              </a:solidFill>
              <a:latin typeface="Arial"/>
              <a:ea typeface="Arial"/>
              <a:cs typeface="Arial"/>
              <a:sym typeface="Arial"/>
            </a:endParaRPr>
          </a:p>
        </p:txBody>
      </p:sp>
      <p:sp>
        <p:nvSpPr>
          <p:cNvPr id="276" name="Google Shape;276;p24"/>
          <p:cNvSpPr/>
          <p:nvPr/>
        </p:nvSpPr>
        <p:spPr>
          <a:xfrm>
            <a:off x="381000" y="2228850"/>
            <a:ext cx="8001000" cy="24576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77" name="Google Shape;277;p24"/>
          <p:cNvSpPr txBox="1"/>
          <p:nvPr/>
        </p:nvSpPr>
        <p:spPr>
          <a:xfrm>
            <a:off x="3951287" y="1885950"/>
            <a:ext cx="846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Affine</a:t>
            </a:r>
            <a:endParaRPr sz="1400" b="0" i="0" u="none" strike="noStrike" cap="none">
              <a:solidFill>
                <a:srgbClr val="000000"/>
              </a:solidFill>
              <a:latin typeface="Arial"/>
              <a:ea typeface="Arial"/>
              <a:cs typeface="Arial"/>
              <a:sym typeface="Arial"/>
            </a:endParaRPr>
          </a:p>
        </p:txBody>
      </p:sp>
      <p:sp>
        <p:nvSpPr>
          <p:cNvPr id="278" name="Google Shape;278;p24"/>
          <p:cNvSpPr/>
          <p:nvPr/>
        </p:nvSpPr>
        <p:spPr>
          <a:xfrm>
            <a:off x="609600" y="2628900"/>
            <a:ext cx="5867400" cy="17145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79" name="Google Shape;279;p24"/>
          <p:cNvSpPr txBox="1"/>
          <p:nvPr/>
        </p:nvSpPr>
        <p:spPr>
          <a:xfrm>
            <a:off x="3763962" y="1485900"/>
            <a:ext cx="12336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1" i="1" u="none" strike="noStrike" cap="none">
                <a:solidFill>
                  <a:srgbClr val="FF0000"/>
                </a:solidFill>
                <a:latin typeface="Times New Roman"/>
                <a:ea typeface="Times New Roman"/>
                <a:cs typeface="Times New Roman"/>
                <a:sym typeface="Times New Roman"/>
              </a:rPr>
              <a:t>Projective</a:t>
            </a:r>
            <a:endParaRPr sz="1400" b="0" i="0" u="none" strike="noStrike" cap="none">
              <a:solidFill>
                <a:srgbClr val="000000"/>
              </a:solidFill>
              <a:latin typeface="Arial"/>
              <a:ea typeface="Arial"/>
              <a:cs typeface="Arial"/>
              <a:sym typeface="Arial"/>
            </a:endParaRPr>
          </a:p>
        </p:txBody>
      </p:sp>
      <p:sp>
        <p:nvSpPr>
          <p:cNvPr id="280" name="Google Shape;280;p24"/>
          <p:cNvSpPr txBox="1"/>
          <p:nvPr/>
        </p:nvSpPr>
        <p:spPr>
          <a:xfrm>
            <a:off x="2932112" y="2343150"/>
            <a:ext cx="1359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1" i="1" u="none" strike="noStrike" cap="none">
                <a:solidFill>
                  <a:schemeClr val="dk1"/>
                </a:solidFill>
                <a:latin typeface="Times New Roman"/>
                <a:ea typeface="Times New Roman"/>
                <a:cs typeface="Times New Roman"/>
                <a:sym typeface="Times New Roman"/>
              </a:rPr>
              <a:t>Similitudes</a:t>
            </a:r>
            <a:endParaRPr sz="1400" b="0" i="0" u="none" strike="noStrike" cap="none">
              <a:solidFill>
                <a:srgbClr val="000000"/>
              </a:solidFill>
              <a:latin typeface="Arial"/>
              <a:ea typeface="Arial"/>
              <a:cs typeface="Arial"/>
              <a:sym typeface="Arial"/>
            </a:endParaRPr>
          </a:p>
        </p:txBody>
      </p:sp>
      <p:sp>
        <p:nvSpPr>
          <p:cNvPr id="281" name="Google Shape;281;p24"/>
          <p:cNvSpPr txBox="1"/>
          <p:nvPr/>
        </p:nvSpPr>
        <p:spPr>
          <a:xfrm>
            <a:off x="4478337" y="3543300"/>
            <a:ext cx="19242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Isotropic Scaling</a:t>
            </a:r>
            <a:endParaRPr sz="1400" b="0" i="0" u="none" strike="noStrike" cap="none">
              <a:solidFill>
                <a:srgbClr val="000000"/>
              </a:solidFill>
              <a:latin typeface="Arial"/>
              <a:ea typeface="Arial"/>
              <a:cs typeface="Arial"/>
              <a:sym typeface="Arial"/>
            </a:endParaRPr>
          </a:p>
        </p:txBody>
      </p:sp>
      <p:sp>
        <p:nvSpPr>
          <p:cNvPr id="282" name="Google Shape;282;p24"/>
          <p:cNvSpPr txBox="1"/>
          <p:nvPr/>
        </p:nvSpPr>
        <p:spPr>
          <a:xfrm>
            <a:off x="6705600" y="3200400"/>
            <a:ext cx="10668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Scaling</a:t>
            </a:r>
            <a:endParaRPr sz="1400" b="0" i="0" u="none" strike="noStrike" cap="none">
              <a:solidFill>
                <a:srgbClr val="000000"/>
              </a:solidFill>
              <a:latin typeface="Arial"/>
              <a:ea typeface="Arial"/>
              <a:cs typeface="Arial"/>
              <a:sym typeface="Arial"/>
            </a:endParaRPr>
          </a:p>
        </p:txBody>
      </p:sp>
      <p:sp>
        <p:nvSpPr>
          <p:cNvPr id="283" name="Google Shape;283;p24"/>
          <p:cNvSpPr txBox="1"/>
          <p:nvPr/>
        </p:nvSpPr>
        <p:spPr>
          <a:xfrm>
            <a:off x="6781800" y="3886200"/>
            <a:ext cx="9144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Shear</a:t>
            </a:r>
            <a:endParaRPr sz="1400" b="0" i="0" u="none" strike="noStrike" cap="none">
              <a:solidFill>
                <a:srgbClr val="000000"/>
              </a:solidFill>
              <a:latin typeface="Arial"/>
              <a:ea typeface="Arial"/>
              <a:cs typeface="Arial"/>
              <a:sym typeface="Arial"/>
            </a:endParaRPr>
          </a:p>
        </p:txBody>
      </p:sp>
      <p:sp>
        <p:nvSpPr>
          <p:cNvPr id="284" name="Google Shape;284;p24"/>
          <p:cNvSpPr txBox="1"/>
          <p:nvPr/>
        </p:nvSpPr>
        <p:spPr>
          <a:xfrm>
            <a:off x="6648450" y="3543300"/>
            <a:ext cx="12477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Reflection</a:t>
            </a:r>
            <a:endParaRPr sz="1400" b="0" i="0" u="none" strike="noStrike" cap="none">
              <a:solidFill>
                <a:srgbClr val="000000"/>
              </a:solidFill>
              <a:latin typeface="Arial"/>
              <a:ea typeface="Arial"/>
              <a:cs typeface="Arial"/>
              <a:sym typeface="Arial"/>
            </a:endParaRPr>
          </a:p>
        </p:txBody>
      </p:sp>
      <p:sp>
        <p:nvSpPr>
          <p:cNvPr id="285" name="Google Shape;285;p24"/>
          <p:cNvSpPr txBox="1"/>
          <p:nvPr/>
        </p:nvSpPr>
        <p:spPr>
          <a:xfrm>
            <a:off x="3822700" y="4686300"/>
            <a:ext cx="1362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0000"/>
              </a:buClr>
              <a:buSzPts val="2000"/>
              <a:buFont typeface="Times New Roman"/>
              <a:buNone/>
            </a:pPr>
            <a:r>
              <a:rPr lang="en-US" sz="2000" b="0" i="0" u="none" strike="noStrike" cap="none">
                <a:solidFill>
                  <a:srgbClr val="FF0000"/>
                </a:solidFill>
                <a:latin typeface="Times New Roman"/>
                <a:ea typeface="Times New Roman"/>
                <a:cs typeface="Times New Roman"/>
                <a:sym typeface="Times New Roman"/>
              </a:rPr>
              <a:t>Perspective</a:t>
            </a:r>
            <a:endParaRPr sz="1400" b="0" i="0" u="none" strike="noStrike" cap="none">
              <a:solidFill>
                <a:srgbClr val="000000"/>
              </a:solidFill>
              <a:latin typeface="Arial"/>
              <a:ea typeface="Arial"/>
              <a:cs typeface="Arial"/>
              <a:sym typeface="Arial"/>
            </a:endParaRPr>
          </a:p>
        </p:txBody>
      </p:sp>
      <p:sp>
        <p:nvSpPr>
          <p:cNvPr id="286" name="Google Shape;286;p24"/>
          <p:cNvSpPr txBox="1"/>
          <p:nvPr/>
        </p:nvSpPr>
        <p:spPr>
          <a:xfrm>
            <a:off x="3352800" y="3371850"/>
            <a:ext cx="1143000" cy="4023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Identity</a:t>
            </a:r>
            <a:endParaRPr sz="1400" b="0" i="0" u="none" strike="noStrike" cap="none">
              <a:solidFill>
                <a:srgbClr val="000000"/>
              </a:solidFill>
              <a:latin typeface="Arial"/>
              <a:ea typeface="Arial"/>
              <a:cs typeface="Arial"/>
              <a:sym typeface="Arial"/>
            </a:endParaRPr>
          </a:p>
        </p:txBody>
      </p:sp>
      <p:sp>
        <p:nvSpPr>
          <p:cNvPr id="287" name="Google Shape;287;p24"/>
          <p:cNvSpPr/>
          <p:nvPr/>
        </p:nvSpPr>
        <p:spPr>
          <a:xfrm>
            <a:off x="3124200" y="2857500"/>
            <a:ext cx="4953000" cy="16002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88" name="Google Shape;288;p24"/>
          <p:cNvSpPr/>
          <p:nvPr/>
        </p:nvSpPr>
        <p:spPr>
          <a:xfrm>
            <a:off x="1066800" y="3086100"/>
            <a:ext cx="3429000" cy="1143000"/>
          </a:xfrm>
          <a:prstGeom prst="ellipse">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289" name="Google Shape;289;p24"/>
          <p:cNvSpPr/>
          <p:nvPr/>
        </p:nvSpPr>
        <p:spPr>
          <a:xfrm>
            <a:off x="288125" y="1915675"/>
            <a:ext cx="8607300" cy="3200400"/>
          </a:xfrm>
          <a:prstGeom prst="ellipse">
            <a:avLst/>
          </a:prstGeom>
          <a:noFill/>
          <a:ln w="762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pic>
        <p:nvPicPr>
          <p:cNvPr id="290" name="Google Shape;290;p24"/>
          <p:cNvPicPr preferRelativeResize="0"/>
          <p:nvPr/>
        </p:nvPicPr>
        <p:blipFill rotWithShape="1">
          <a:blip r:embed="rId3">
            <a:alphaModFix/>
          </a:blip>
          <a:srcRect l="73500" t="2166" r="1811" b="54497"/>
          <a:stretch/>
        </p:blipFill>
        <p:spPr>
          <a:xfrm>
            <a:off x="6742112" y="0"/>
            <a:ext cx="2401888" cy="2371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5"/>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12</a:t>
            </a:fld>
            <a:endParaRPr sz="1400" b="0" i="0" u="none" strike="noStrike" cap="none">
              <a:solidFill>
                <a:srgbClr val="000000"/>
              </a:solidFill>
              <a:latin typeface="Arial"/>
              <a:ea typeface="Arial"/>
              <a:cs typeface="Arial"/>
              <a:sym typeface="Arial"/>
            </a:endParaRPr>
          </a:p>
        </p:txBody>
      </p:sp>
      <p:sp>
        <p:nvSpPr>
          <p:cNvPr id="297" name="Google Shape;297;p25"/>
          <p:cNvSpPr txBox="1">
            <a:spLocks noGrp="1"/>
          </p:cNvSpPr>
          <p:nvPr>
            <p:ph type="title"/>
          </p:nvPr>
        </p:nvSpPr>
        <p:spPr>
          <a:xfrm>
            <a:off x="990600" y="323850"/>
            <a:ext cx="87663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How are Transforms Represented?</a:t>
            </a:r>
            <a:endParaRPr/>
          </a:p>
        </p:txBody>
      </p:sp>
      <p:sp>
        <p:nvSpPr>
          <p:cNvPr id="298" name="Google Shape;298;p25"/>
          <p:cNvSpPr txBox="1"/>
          <p:nvPr/>
        </p:nvSpPr>
        <p:spPr>
          <a:xfrm>
            <a:off x="2819400" y="1108472"/>
            <a:ext cx="27432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 = ax + by + 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 = dx + ey + f</a:t>
            </a:r>
            <a:endParaRPr sz="1400" b="0" i="0" u="none" strike="noStrike" cap="none">
              <a:solidFill>
                <a:srgbClr val="000000"/>
              </a:solidFill>
              <a:latin typeface="Arial"/>
              <a:ea typeface="Arial"/>
              <a:cs typeface="Arial"/>
              <a:sym typeface="Arial"/>
            </a:endParaRPr>
          </a:p>
        </p:txBody>
      </p:sp>
      <p:sp>
        <p:nvSpPr>
          <p:cNvPr id="299" name="Google Shape;299;p25"/>
          <p:cNvSpPr/>
          <p:nvPr/>
        </p:nvSpPr>
        <p:spPr>
          <a:xfrm>
            <a:off x="3657600" y="2422926"/>
            <a:ext cx="1295400" cy="1126200"/>
          </a:xfrm>
          <a:prstGeom prst="bracketPair">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0" name="Google Shape;300;p25"/>
          <p:cNvSpPr/>
          <p:nvPr/>
        </p:nvSpPr>
        <p:spPr>
          <a:xfrm>
            <a:off x="6324600" y="2422926"/>
            <a:ext cx="533400" cy="1074900"/>
          </a:xfrm>
          <a:prstGeom prst="bracketPair">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1" name="Google Shape;301;p25"/>
          <p:cNvSpPr/>
          <p:nvPr/>
        </p:nvSpPr>
        <p:spPr>
          <a:xfrm>
            <a:off x="2438400" y="2422926"/>
            <a:ext cx="609600" cy="1126200"/>
          </a:xfrm>
          <a:prstGeom prst="bracketPair">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2" name="Google Shape;302;p25"/>
          <p:cNvSpPr txBox="1"/>
          <p:nvPr/>
        </p:nvSpPr>
        <p:spPr>
          <a:xfrm>
            <a:off x="2590800" y="2480072"/>
            <a:ext cx="3810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303" name="Google Shape;303;p25"/>
          <p:cNvSpPr txBox="1"/>
          <p:nvPr/>
        </p:nvSpPr>
        <p:spPr>
          <a:xfrm>
            <a:off x="3886200" y="2480072"/>
            <a:ext cx="8382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a    b</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d    e</a:t>
            </a:r>
            <a:endParaRPr sz="1400" b="0" i="0" u="none" strike="noStrike" cap="none">
              <a:solidFill>
                <a:srgbClr val="000000"/>
              </a:solidFill>
              <a:latin typeface="Arial"/>
              <a:ea typeface="Arial"/>
              <a:cs typeface="Arial"/>
              <a:sym typeface="Arial"/>
            </a:endParaRPr>
          </a:p>
        </p:txBody>
      </p:sp>
      <p:sp>
        <p:nvSpPr>
          <p:cNvPr id="304" name="Google Shape;304;p25"/>
          <p:cNvSpPr txBox="1"/>
          <p:nvPr/>
        </p:nvSpPr>
        <p:spPr>
          <a:xfrm>
            <a:off x="6477000" y="2474119"/>
            <a:ext cx="2286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sp>
        <p:nvSpPr>
          <p:cNvPr id="305" name="Google Shape;305;p25"/>
          <p:cNvSpPr txBox="1"/>
          <p:nvPr/>
        </p:nvSpPr>
        <p:spPr>
          <a:xfrm>
            <a:off x="3200400" y="2708672"/>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06" name="Google Shape;306;p25"/>
          <p:cNvSpPr txBox="1"/>
          <p:nvPr/>
        </p:nvSpPr>
        <p:spPr>
          <a:xfrm>
            <a:off x="5334000" y="2474119"/>
            <a:ext cx="3810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307" name="Google Shape;307;p25"/>
          <p:cNvSpPr/>
          <p:nvPr/>
        </p:nvSpPr>
        <p:spPr>
          <a:xfrm>
            <a:off x="5181600" y="2422926"/>
            <a:ext cx="533400" cy="1126200"/>
          </a:xfrm>
          <a:prstGeom prst="bracketPair">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08" name="Google Shape;308;p25"/>
          <p:cNvSpPr txBox="1"/>
          <p:nvPr/>
        </p:nvSpPr>
        <p:spPr>
          <a:xfrm>
            <a:off x="5867400" y="2686050"/>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09" name="Google Shape;309;p25"/>
          <p:cNvSpPr txBox="1"/>
          <p:nvPr/>
        </p:nvSpPr>
        <p:spPr>
          <a:xfrm>
            <a:off x="2522537" y="3794522"/>
            <a:ext cx="4206900" cy="710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0" i="1" u="none" strike="noStrike" cap="none">
                <a:solidFill>
                  <a:schemeClr val="dk1"/>
                </a:solidFill>
                <a:latin typeface="Times New Roman"/>
                <a:ea typeface="Times New Roman"/>
                <a:cs typeface="Times New Roman"/>
                <a:sym typeface="Times New Roman"/>
              </a:rPr>
              <a:t>p'   =      </a:t>
            </a:r>
            <a:r>
              <a:rPr lang="en-US" sz="4000" b="0" i="1" u="none" strike="noStrike" cap="none">
                <a:solidFill>
                  <a:srgbClr val="FF0000"/>
                </a:solidFill>
                <a:latin typeface="Times New Roman"/>
                <a:ea typeface="Times New Roman"/>
                <a:cs typeface="Times New Roman"/>
                <a:sym typeface="Times New Roman"/>
              </a:rPr>
              <a:t>M</a:t>
            </a:r>
            <a:r>
              <a:rPr lang="en-US" sz="4000" b="0" i="1" u="none" strike="noStrike" cap="none">
                <a:solidFill>
                  <a:schemeClr val="dk1"/>
                </a:solidFill>
                <a:latin typeface="Times New Roman"/>
                <a:ea typeface="Times New Roman"/>
                <a:cs typeface="Times New Roman"/>
                <a:sym typeface="Times New Roman"/>
              </a:rPr>
              <a:t> p    +   </a:t>
            </a:r>
            <a:r>
              <a:rPr lang="en-US" sz="4000" b="0" i="1" u="none" strike="noStrike" cap="none">
                <a:solidFill>
                  <a:srgbClr val="FF0000"/>
                </a:solidFill>
                <a:latin typeface="Times New Roman"/>
                <a:ea typeface="Times New Roman"/>
                <a:cs typeface="Times New Roman"/>
                <a:sym typeface="Times New Roman"/>
              </a:rPr>
              <a:t>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6"/>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13</a:t>
            </a:fld>
            <a:endParaRPr sz="1400" b="0" i="0" u="none" strike="noStrike" cap="none">
              <a:solidFill>
                <a:srgbClr val="000000"/>
              </a:solidFill>
              <a:latin typeface="Arial"/>
              <a:ea typeface="Arial"/>
              <a:cs typeface="Arial"/>
              <a:sym typeface="Arial"/>
            </a:endParaRPr>
          </a:p>
        </p:txBody>
      </p:sp>
      <p:sp>
        <p:nvSpPr>
          <p:cNvPr id="316" name="Google Shape;316;p26"/>
          <p:cNvSpPr txBox="1">
            <a:spLocks noGrp="1"/>
          </p:cNvSpPr>
          <p:nvPr>
            <p:ph type="title"/>
          </p:nvPr>
        </p:nvSpPr>
        <p:spPr>
          <a:xfrm>
            <a:off x="866775" y="133350"/>
            <a:ext cx="80010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3600"/>
              <a:buFont typeface="Times New Roman"/>
              <a:buNone/>
            </a:pPr>
            <a:r>
              <a:rPr lang="en-US" sz="3600" b="0" i="1" u="none">
                <a:solidFill>
                  <a:srgbClr val="663300"/>
                </a:solidFill>
                <a:latin typeface="Times New Roman"/>
                <a:ea typeface="Times New Roman"/>
                <a:cs typeface="Times New Roman"/>
                <a:sym typeface="Times New Roman"/>
              </a:rPr>
              <a:t>Translation in homogeneous coordinates</a:t>
            </a:r>
            <a:endParaRPr/>
          </a:p>
        </p:txBody>
      </p:sp>
      <p:sp>
        <p:nvSpPr>
          <p:cNvPr id="317" name="Google Shape;317;p26"/>
          <p:cNvSpPr txBox="1"/>
          <p:nvPr/>
        </p:nvSpPr>
        <p:spPr>
          <a:xfrm>
            <a:off x="3200400" y="775097"/>
            <a:ext cx="2743200" cy="951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1" u="none" strike="noStrike" cap="none">
                <a:solidFill>
                  <a:schemeClr val="dk1"/>
                </a:solidFill>
                <a:latin typeface="Times New Roman"/>
                <a:ea typeface="Times New Roman"/>
                <a:cs typeface="Times New Roman"/>
                <a:sym typeface="Times New Roman"/>
              </a:rPr>
              <a:t>x' = ax + by + 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800"/>
              <a:buFont typeface="Times New Roman"/>
              <a:buNone/>
            </a:pPr>
            <a:r>
              <a:rPr lang="en-US" sz="2800" b="0" i="1" u="none" strike="noStrike" cap="none">
                <a:solidFill>
                  <a:schemeClr val="dk1"/>
                </a:solidFill>
                <a:latin typeface="Times New Roman"/>
                <a:ea typeface="Times New Roman"/>
                <a:cs typeface="Times New Roman"/>
                <a:sym typeface="Times New Roman"/>
              </a:rPr>
              <a:t>y' = dx + ey + f</a:t>
            </a:r>
            <a:endParaRPr sz="1400" b="0" i="0" u="none" strike="noStrike" cap="none">
              <a:solidFill>
                <a:srgbClr val="000000"/>
              </a:solidFill>
              <a:latin typeface="Arial"/>
              <a:ea typeface="Arial"/>
              <a:cs typeface="Arial"/>
              <a:sym typeface="Arial"/>
            </a:endParaRPr>
          </a:p>
        </p:txBody>
      </p:sp>
      <p:sp>
        <p:nvSpPr>
          <p:cNvPr id="318" name="Google Shape;318;p26"/>
          <p:cNvSpPr/>
          <p:nvPr/>
        </p:nvSpPr>
        <p:spPr>
          <a:xfrm>
            <a:off x="6429375" y="2422926"/>
            <a:ext cx="1704900" cy="1657200"/>
          </a:xfrm>
          <a:prstGeom prst="bracketPair">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19" name="Google Shape;319;p26"/>
          <p:cNvSpPr/>
          <p:nvPr/>
        </p:nvSpPr>
        <p:spPr>
          <a:xfrm>
            <a:off x="5210175" y="2422926"/>
            <a:ext cx="609600" cy="1657200"/>
          </a:xfrm>
          <a:prstGeom prst="bracketPair">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20" name="Google Shape;320;p26"/>
          <p:cNvSpPr txBox="1"/>
          <p:nvPr/>
        </p:nvSpPr>
        <p:spPr>
          <a:xfrm>
            <a:off x="5362575" y="2480071"/>
            <a:ext cx="381000" cy="165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321" name="Google Shape;321;p26"/>
          <p:cNvSpPr txBox="1"/>
          <p:nvPr/>
        </p:nvSpPr>
        <p:spPr>
          <a:xfrm>
            <a:off x="6657975" y="2480071"/>
            <a:ext cx="838200" cy="16568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dirty="0">
                <a:solidFill>
                  <a:srgbClr val="FF0000"/>
                </a:solidFill>
                <a:latin typeface="Times New Roman"/>
                <a:ea typeface="Times New Roman"/>
                <a:cs typeface="Times New Roman"/>
                <a:sym typeface="Times New Roman"/>
              </a:rPr>
              <a:t>a    b</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dirty="0">
                <a:solidFill>
                  <a:srgbClr val="FF0000"/>
                </a:solidFill>
                <a:latin typeface="Times New Roman"/>
                <a:ea typeface="Times New Roman"/>
                <a:cs typeface="Times New Roman"/>
                <a:sym typeface="Times New Roman"/>
              </a:rPr>
              <a:t>d    e</a:t>
            </a:r>
            <a:endParaRPr lang="en-BD" sz="1400" b="0" i="0" u="none" strike="noStrike" cap="none" dirty="0">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i="1" dirty="0">
                <a:solidFill>
                  <a:srgbClr val="FF0000"/>
                </a:solidFill>
                <a:latin typeface="Times New Roman"/>
                <a:ea typeface="Times New Roman"/>
                <a:cs typeface="Times New Roman"/>
                <a:sym typeface="Times New Roman"/>
              </a:rPr>
              <a:t>0</a:t>
            </a:r>
            <a:r>
              <a:rPr lang="en-US" sz="3200" b="0" i="1" u="none" strike="noStrike" cap="none" dirty="0">
                <a:solidFill>
                  <a:srgbClr val="FF0000"/>
                </a:solidFill>
                <a:latin typeface="Times New Roman"/>
                <a:ea typeface="Times New Roman"/>
                <a:cs typeface="Times New Roman"/>
                <a:sym typeface="Times New Roman"/>
              </a:rPr>
              <a:t>   0</a:t>
            </a:r>
            <a:endParaRPr lang="en-BD" sz="1400" b="0" i="0" u="none" strike="noStrike" cap="none" dirty="0">
              <a:solidFill>
                <a:srgbClr val="000000"/>
              </a:solidFill>
              <a:latin typeface="Arial"/>
              <a:ea typeface="Arial"/>
              <a:cs typeface="Arial"/>
              <a:sym typeface="Arial"/>
            </a:endParaRPr>
          </a:p>
        </p:txBody>
      </p:sp>
      <p:sp>
        <p:nvSpPr>
          <p:cNvPr id="322" name="Google Shape;322;p26"/>
          <p:cNvSpPr txBox="1"/>
          <p:nvPr/>
        </p:nvSpPr>
        <p:spPr>
          <a:xfrm>
            <a:off x="7753350" y="2474119"/>
            <a:ext cx="228600" cy="165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323" name="Google Shape;323;p26"/>
          <p:cNvSpPr txBox="1"/>
          <p:nvPr/>
        </p:nvSpPr>
        <p:spPr>
          <a:xfrm>
            <a:off x="5972175" y="2708672"/>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24" name="Google Shape;324;p26"/>
          <p:cNvSpPr txBox="1"/>
          <p:nvPr/>
        </p:nvSpPr>
        <p:spPr>
          <a:xfrm>
            <a:off x="8458200" y="2474119"/>
            <a:ext cx="381000" cy="165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325" name="Google Shape;325;p26"/>
          <p:cNvSpPr/>
          <p:nvPr/>
        </p:nvSpPr>
        <p:spPr>
          <a:xfrm>
            <a:off x="8334375" y="2422926"/>
            <a:ext cx="533400" cy="1657200"/>
          </a:xfrm>
          <a:prstGeom prst="bracketPair">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26" name="Google Shape;326;p26"/>
          <p:cNvSpPr txBox="1"/>
          <p:nvPr/>
        </p:nvSpPr>
        <p:spPr>
          <a:xfrm>
            <a:off x="5294312" y="4094559"/>
            <a:ext cx="2833800" cy="710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0" i="1" u="none" strike="noStrike" cap="none">
                <a:solidFill>
                  <a:schemeClr val="dk1"/>
                </a:solidFill>
                <a:latin typeface="Times New Roman"/>
                <a:ea typeface="Times New Roman"/>
                <a:cs typeface="Times New Roman"/>
                <a:sym typeface="Times New Roman"/>
              </a:rPr>
              <a:t>p' = </a:t>
            </a:r>
            <a:r>
              <a:rPr lang="en-US" sz="4000" b="0" i="1" u="none" strike="noStrike" cap="none">
                <a:solidFill>
                  <a:srgbClr val="FF0000"/>
                </a:solidFill>
                <a:latin typeface="Times New Roman"/>
                <a:ea typeface="Times New Roman"/>
                <a:cs typeface="Times New Roman"/>
                <a:sym typeface="Times New Roman"/>
              </a:rPr>
              <a:t>M</a:t>
            </a:r>
            <a:r>
              <a:rPr lang="en-US" sz="4000" b="0" i="1" u="none" strike="noStrike" cap="none">
                <a:solidFill>
                  <a:schemeClr val="dk1"/>
                </a:solidFill>
                <a:latin typeface="Times New Roman"/>
                <a:ea typeface="Times New Roman"/>
                <a:cs typeface="Times New Roman"/>
                <a:sym typeface="Times New Roman"/>
              </a:rPr>
              <a:t> p</a:t>
            </a:r>
            <a:endParaRPr sz="1400" b="0" i="0" u="none" strike="noStrike" cap="none">
              <a:solidFill>
                <a:srgbClr val="000000"/>
              </a:solidFill>
              <a:latin typeface="Arial"/>
              <a:ea typeface="Arial"/>
              <a:cs typeface="Arial"/>
              <a:sym typeface="Arial"/>
            </a:endParaRPr>
          </a:p>
        </p:txBody>
      </p:sp>
      <p:sp>
        <p:nvSpPr>
          <p:cNvPr id="327" name="Google Shape;327;p26"/>
          <p:cNvSpPr/>
          <p:nvPr/>
        </p:nvSpPr>
        <p:spPr>
          <a:xfrm>
            <a:off x="1219200" y="2687252"/>
            <a:ext cx="1295400" cy="1126200"/>
          </a:xfrm>
          <a:prstGeom prst="bracketPair">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28" name="Google Shape;328;p26"/>
          <p:cNvSpPr/>
          <p:nvPr/>
        </p:nvSpPr>
        <p:spPr>
          <a:xfrm>
            <a:off x="3886200" y="2687252"/>
            <a:ext cx="533400" cy="1126200"/>
          </a:xfrm>
          <a:prstGeom prst="bracketPair">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29" name="Google Shape;329;p26"/>
          <p:cNvSpPr/>
          <p:nvPr/>
        </p:nvSpPr>
        <p:spPr>
          <a:xfrm>
            <a:off x="0" y="2687240"/>
            <a:ext cx="609600" cy="914400"/>
          </a:xfrm>
          <a:prstGeom prst="bracketPair">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30" name="Google Shape;330;p26"/>
          <p:cNvSpPr txBox="1"/>
          <p:nvPr/>
        </p:nvSpPr>
        <p:spPr>
          <a:xfrm>
            <a:off x="152400" y="2744390"/>
            <a:ext cx="3810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331" name="Google Shape;331;p26"/>
          <p:cNvSpPr txBox="1"/>
          <p:nvPr/>
        </p:nvSpPr>
        <p:spPr>
          <a:xfrm>
            <a:off x="1447800" y="2744390"/>
            <a:ext cx="8382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a    b</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d    e</a:t>
            </a:r>
            <a:endParaRPr sz="1400" b="0" i="0" u="none" strike="noStrike" cap="none">
              <a:solidFill>
                <a:srgbClr val="000000"/>
              </a:solidFill>
              <a:latin typeface="Arial"/>
              <a:ea typeface="Arial"/>
              <a:cs typeface="Arial"/>
              <a:sym typeface="Arial"/>
            </a:endParaRPr>
          </a:p>
        </p:txBody>
      </p:sp>
      <p:sp>
        <p:nvSpPr>
          <p:cNvPr id="332" name="Google Shape;332;p26"/>
          <p:cNvSpPr txBox="1"/>
          <p:nvPr/>
        </p:nvSpPr>
        <p:spPr>
          <a:xfrm>
            <a:off x="4038600" y="2738438"/>
            <a:ext cx="2286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c</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f</a:t>
            </a:r>
            <a:endParaRPr sz="1400" b="0" i="0" u="none" strike="noStrike" cap="none">
              <a:solidFill>
                <a:srgbClr val="000000"/>
              </a:solidFill>
              <a:latin typeface="Arial"/>
              <a:ea typeface="Arial"/>
              <a:cs typeface="Arial"/>
              <a:sym typeface="Arial"/>
            </a:endParaRPr>
          </a:p>
        </p:txBody>
      </p:sp>
      <p:sp>
        <p:nvSpPr>
          <p:cNvPr id="333" name="Google Shape;333;p26"/>
          <p:cNvSpPr txBox="1"/>
          <p:nvPr/>
        </p:nvSpPr>
        <p:spPr>
          <a:xfrm>
            <a:off x="762000" y="2972990"/>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34" name="Google Shape;334;p26"/>
          <p:cNvSpPr txBox="1"/>
          <p:nvPr/>
        </p:nvSpPr>
        <p:spPr>
          <a:xfrm>
            <a:off x="2895600" y="2738438"/>
            <a:ext cx="381000" cy="1074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335" name="Google Shape;335;p26"/>
          <p:cNvSpPr/>
          <p:nvPr/>
        </p:nvSpPr>
        <p:spPr>
          <a:xfrm>
            <a:off x="2743200" y="2687252"/>
            <a:ext cx="533400" cy="1126200"/>
          </a:xfrm>
          <a:prstGeom prst="bracketPair">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36" name="Google Shape;336;p26"/>
          <p:cNvSpPr txBox="1"/>
          <p:nvPr/>
        </p:nvSpPr>
        <p:spPr>
          <a:xfrm>
            <a:off x="3429000" y="2950369"/>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37" name="Google Shape;337;p26"/>
          <p:cNvSpPr txBox="1"/>
          <p:nvPr/>
        </p:nvSpPr>
        <p:spPr>
          <a:xfrm>
            <a:off x="84137" y="4058840"/>
            <a:ext cx="4206900" cy="710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0" i="1" u="none" strike="noStrike" cap="none">
                <a:solidFill>
                  <a:schemeClr val="dk1"/>
                </a:solidFill>
                <a:latin typeface="Times New Roman"/>
                <a:ea typeface="Times New Roman"/>
                <a:cs typeface="Times New Roman"/>
                <a:sym typeface="Times New Roman"/>
              </a:rPr>
              <a:t>p' = </a:t>
            </a:r>
            <a:r>
              <a:rPr lang="en-US" sz="4000" b="0" i="1" u="none" strike="noStrike" cap="none">
                <a:solidFill>
                  <a:srgbClr val="FF0000"/>
                </a:solidFill>
                <a:latin typeface="Times New Roman"/>
                <a:ea typeface="Times New Roman"/>
                <a:cs typeface="Times New Roman"/>
                <a:sym typeface="Times New Roman"/>
              </a:rPr>
              <a:t>M</a:t>
            </a:r>
            <a:r>
              <a:rPr lang="en-US" sz="4000" b="0" i="1" u="none" strike="noStrike" cap="none">
                <a:solidFill>
                  <a:schemeClr val="dk1"/>
                </a:solidFill>
                <a:latin typeface="Times New Roman"/>
                <a:ea typeface="Times New Roman"/>
                <a:cs typeface="Times New Roman"/>
                <a:sym typeface="Times New Roman"/>
              </a:rPr>
              <a:t> p + </a:t>
            </a:r>
            <a:r>
              <a:rPr lang="en-US" sz="4000" b="0" i="1" u="none" strike="noStrike" cap="none">
                <a:solidFill>
                  <a:srgbClr val="FF0000"/>
                </a:solidFill>
                <a:latin typeface="Times New Roman"/>
                <a:ea typeface="Times New Roman"/>
                <a:cs typeface="Times New Roman"/>
                <a:sym typeface="Times New Roman"/>
              </a:rPr>
              <a:t>t</a:t>
            </a:r>
            <a:endParaRPr sz="1400" b="0" i="0" u="none" strike="noStrike" cap="none">
              <a:solidFill>
                <a:srgbClr val="000000"/>
              </a:solidFill>
              <a:latin typeface="Arial"/>
              <a:ea typeface="Arial"/>
              <a:cs typeface="Arial"/>
              <a:sym typeface="Arial"/>
            </a:endParaRPr>
          </a:p>
        </p:txBody>
      </p:sp>
      <p:cxnSp>
        <p:nvCxnSpPr>
          <p:cNvPr id="338" name="Google Shape;338;p26"/>
          <p:cNvCxnSpPr/>
          <p:nvPr/>
        </p:nvCxnSpPr>
        <p:spPr>
          <a:xfrm>
            <a:off x="4800600" y="2193131"/>
            <a:ext cx="0" cy="2407500"/>
          </a:xfrm>
          <a:prstGeom prst="straightConnector1">
            <a:avLst/>
          </a:prstGeom>
          <a:noFill/>
          <a:ln w="76200" cap="flat" cmpd="sng">
            <a:solidFill>
              <a:schemeClr val="dk1"/>
            </a:solidFill>
            <a:prstDash val="solid"/>
            <a:miter lim="800000"/>
            <a:headEnd type="none" w="sm" len="sm"/>
            <a:tailEnd type="none" w="sm" len="sm"/>
          </a:ln>
        </p:spPr>
      </p:cxnSp>
      <p:sp>
        <p:nvSpPr>
          <p:cNvPr id="339" name="Google Shape;339;p26"/>
          <p:cNvSpPr txBox="1"/>
          <p:nvPr/>
        </p:nvSpPr>
        <p:spPr>
          <a:xfrm>
            <a:off x="641350" y="2071688"/>
            <a:ext cx="28734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Cartesian formulation</a:t>
            </a:r>
            <a:endParaRPr sz="1400" b="0" i="0" u="none" strike="noStrike" cap="none">
              <a:solidFill>
                <a:srgbClr val="000000"/>
              </a:solidFill>
              <a:latin typeface="Arial"/>
              <a:ea typeface="Arial"/>
              <a:cs typeface="Arial"/>
              <a:sym typeface="Arial"/>
            </a:endParaRPr>
          </a:p>
        </p:txBody>
      </p:sp>
      <p:sp>
        <p:nvSpPr>
          <p:cNvPr id="340" name="Google Shape;340;p26"/>
          <p:cNvSpPr txBox="1"/>
          <p:nvPr/>
        </p:nvSpPr>
        <p:spPr>
          <a:xfrm>
            <a:off x="5146675" y="1919300"/>
            <a:ext cx="36924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Homogeneous formulation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7"/>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14</a:t>
            </a:fld>
            <a:endParaRPr sz="1400" b="0" i="0" u="none" strike="noStrike" cap="none">
              <a:solidFill>
                <a:srgbClr val="000000"/>
              </a:solidFill>
              <a:latin typeface="Arial"/>
              <a:ea typeface="Arial"/>
              <a:cs typeface="Arial"/>
              <a:sym typeface="Arial"/>
            </a:endParaRPr>
          </a:p>
        </p:txBody>
      </p:sp>
      <p:sp>
        <p:nvSpPr>
          <p:cNvPr id="347" name="Google Shape;347;p27"/>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Homogeneous Coordinates</a:t>
            </a:r>
            <a:endParaRPr/>
          </a:p>
        </p:txBody>
      </p:sp>
      <p:sp>
        <p:nvSpPr>
          <p:cNvPr id="348" name="Google Shape;348;p27"/>
          <p:cNvSpPr txBox="1">
            <a:spLocks noGrp="1"/>
          </p:cNvSpPr>
          <p:nvPr>
            <p:ph type="body" idx="1"/>
          </p:nvPr>
        </p:nvSpPr>
        <p:spPr>
          <a:xfrm>
            <a:off x="628650" y="1369219"/>
            <a:ext cx="7886700" cy="3263400"/>
          </a:xfrm>
          <a:prstGeom prst="rect">
            <a:avLst/>
          </a:prstGeom>
          <a:noFill/>
          <a:ln>
            <a:noFill/>
          </a:ln>
        </p:spPr>
        <p:txBody>
          <a:bodyPr spcFirstLastPara="1" wrap="square" lIns="92075" tIns="46025" rIns="92075" bIns="46025" anchor="t" anchorCtr="0">
            <a:noAutofit/>
          </a:bodyPr>
          <a:lstStyle/>
          <a:p>
            <a:pPr marL="342900" lvl="0" indent="-311150" algn="l" rtl="0">
              <a:lnSpc>
                <a:spcPct val="90000"/>
              </a:lnSpc>
              <a:spcBef>
                <a:spcPts val="0"/>
              </a:spcBef>
              <a:spcAft>
                <a:spcPts val="0"/>
              </a:spcAft>
              <a:buClr>
                <a:schemeClr val="dk2"/>
              </a:buClr>
              <a:buSzPts val="2160"/>
              <a:buFont typeface="Noto Sans Symbols"/>
              <a:buChar char="✶"/>
            </a:pPr>
            <a:r>
              <a:rPr lang="en-US" sz="2300" b="0" i="0" u="none">
                <a:solidFill>
                  <a:schemeClr val="dk1"/>
                </a:solidFill>
                <a:latin typeface="Times New Roman"/>
                <a:ea typeface="Times New Roman"/>
                <a:cs typeface="Times New Roman"/>
                <a:sym typeface="Times New Roman"/>
              </a:rPr>
              <a:t>Translation, scaling and rotation are expressed (non-homogeneously) as:</a:t>
            </a:r>
            <a:endParaRPr sz="1600"/>
          </a:p>
          <a:p>
            <a:pPr marL="742950" lvl="1" indent="-254000" algn="l" rtl="0">
              <a:lnSpc>
                <a:spcPct val="90000"/>
              </a:lnSpc>
              <a:spcBef>
                <a:spcPts val="480"/>
              </a:spcBef>
              <a:spcAft>
                <a:spcPts val="0"/>
              </a:spcAft>
              <a:buClr>
                <a:schemeClr val="dk1"/>
              </a:buClr>
              <a:buSzPts val="1900"/>
              <a:buFont typeface="Times New Roman"/>
              <a:buChar char="–"/>
            </a:pPr>
            <a:r>
              <a:rPr lang="en-US" sz="1900" b="0" i="0" u="none">
                <a:solidFill>
                  <a:schemeClr val="dk1"/>
                </a:solidFill>
                <a:latin typeface="Times New Roman"/>
                <a:ea typeface="Times New Roman"/>
                <a:cs typeface="Times New Roman"/>
                <a:sym typeface="Times New Roman"/>
              </a:rPr>
              <a:t>translation: P′ = P + T</a:t>
            </a:r>
            <a:endParaRPr sz="1300"/>
          </a:p>
          <a:p>
            <a:pPr marL="742950" lvl="1" indent="-254000" algn="l" rtl="0">
              <a:lnSpc>
                <a:spcPct val="90000"/>
              </a:lnSpc>
              <a:spcBef>
                <a:spcPts val="480"/>
              </a:spcBef>
              <a:spcAft>
                <a:spcPts val="0"/>
              </a:spcAft>
              <a:buClr>
                <a:schemeClr val="dk1"/>
              </a:buClr>
              <a:buSzPts val="1900"/>
              <a:buFont typeface="Times New Roman"/>
              <a:buChar char="–"/>
            </a:pPr>
            <a:r>
              <a:rPr lang="en-US" sz="1900" b="0" i="0" u="none">
                <a:solidFill>
                  <a:schemeClr val="dk1"/>
                </a:solidFill>
                <a:latin typeface="Times New Roman"/>
                <a:ea typeface="Times New Roman"/>
                <a:cs typeface="Times New Roman"/>
                <a:sym typeface="Times New Roman"/>
              </a:rPr>
              <a:t>Scale: P′ = S · P</a:t>
            </a:r>
            <a:endParaRPr sz="1300"/>
          </a:p>
          <a:p>
            <a:pPr marL="742950" lvl="1" indent="-254000" algn="l" rtl="0">
              <a:lnSpc>
                <a:spcPct val="90000"/>
              </a:lnSpc>
              <a:spcBef>
                <a:spcPts val="480"/>
              </a:spcBef>
              <a:spcAft>
                <a:spcPts val="0"/>
              </a:spcAft>
              <a:buClr>
                <a:schemeClr val="dk1"/>
              </a:buClr>
              <a:buSzPts val="1900"/>
              <a:buFont typeface="Times New Roman"/>
              <a:buChar char="–"/>
            </a:pPr>
            <a:r>
              <a:rPr lang="en-US" sz="1900" b="0" i="0" u="none">
                <a:solidFill>
                  <a:schemeClr val="dk1"/>
                </a:solidFill>
                <a:latin typeface="Times New Roman"/>
                <a:ea typeface="Times New Roman"/>
                <a:cs typeface="Times New Roman"/>
                <a:sym typeface="Times New Roman"/>
              </a:rPr>
              <a:t>Rotate: P′ = R · P</a:t>
            </a:r>
            <a:endParaRPr sz="1300"/>
          </a:p>
          <a:p>
            <a:pPr marL="342900" lvl="0" indent="-311150" algn="l" rtl="0">
              <a:lnSpc>
                <a:spcPct val="90000"/>
              </a:lnSpc>
              <a:spcBef>
                <a:spcPts val="560"/>
              </a:spcBef>
              <a:spcAft>
                <a:spcPts val="0"/>
              </a:spcAft>
              <a:buClr>
                <a:schemeClr val="dk2"/>
              </a:buClr>
              <a:buSzPts val="2160"/>
              <a:buFont typeface="Noto Sans Symbols"/>
              <a:buChar char="✶"/>
            </a:pPr>
            <a:r>
              <a:rPr lang="en-US" sz="2300" b="0" i="0" u="none">
                <a:solidFill>
                  <a:schemeClr val="dk1"/>
                </a:solidFill>
                <a:latin typeface="Times New Roman"/>
                <a:ea typeface="Times New Roman"/>
                <a:cs typeface="Times New Roman"/>
                <a:sym typeface="Times New Roman"/>
              </a:rPr>
              <a:t>Composition is difficult to express, since translation not expressed as a matrix multiplication</a:t>
            </a:r>
            <a:endParaRPr sz="1600"/>
          </a:p>
          <a:p>
            <a:pPr marL="342900" lvl="0" indent="-311150" algn="l" rtl="0">
              <a:lnSpc>
                <a:spcPct val="90000"/>
              </a:lnSpc>
              <a:spcBef>
                <a:spcPts val="560"/>
              </a:spcBef>
              <a:spcAft>
                <a:spcPts val="0"/>
              </a:spcAft>
              <a:buClr>
                <a:schemeClr val="dk2"/>
              </a:buClr>
              <a:buSzPts val="2160"/>
              <a:buFont typeface="Noto Sans Symbols"/>
              <a:buChar char="✶"/>
            </a:pPr>
            <a:r>
              <a:rPr lang="en-US" sz="2300" b="0" i="0" u="none">
                <a:solidFill>
                  <a:schemeClr val="dk1"/>
                </a:solidFill>
                <a:latin typeface="Times New Roman"/>
                <a:ea typeface="Times New Roman"/>
                <a:cs typeface="Times New Roman"/>
                <a:sym typeface="Times New Roman"/>
              </a:rPr>
              <a:t>Homogeneous coordinates allow all three to be expressed homogeneously, using multiplication by 3 </a:t>
            </a:r>
            <a:r>
              <a:rPr lang="en-US" sz="2300" b="0" i="0" u="none">
                <a:solidFill>
                  <a:schemeClr val="dk1"/>
                </a:solidFill>
                <a:latin typeface="Noto Sans Symbols"/>
                <a:ea typeface="Noto Sans Symbols"/>
                <a:cs typeface="Noto Sans Symbols"/>
                <a:sym typeface="Noto Sans Symbols"/>
              </a:rPr>
              <a:t>× 3</a:t>
            </a:r>
            <a:r>
              <a:rPr lang="en-US" sz="2300" b="0" i="0" u="none">
                <a:solidFill>
                  <a:schemeClr val="dk1"/>
                </a:solidFill>
                <a:latin typeface="Times New Roman"/>
                <a:ea typeface="Times New Roman"/>
                <a:cs typeface="Times New Roman"/>
                <a:sym typeface="Times New Roman"/>
              </a:rPr>
              <a:t> matrices</a:t>
            </a:r>
            <a:endParaRPr sz="1600"/>
          </a:p>
          <a:p>
            <a:pPr marL="342900" lvl="0" indent="-311150" algn="l" rtl="0">
              <a:lnSpc>
                <a:spcPct val="90000"/>
              </a:lnSpc>
              <a:spcBef>
                <a:spcPts val="560"/>
              </a:spcBef>
              <a:spcAft>
                <a:spcPts val="0"/>
              </a:spcAft>
              <a:buClr>
                <a:schemeClr val="dk2"/>
              </a:buClr>
              <a:buSzPts val="2160"/>
              <a:buFont typeface="Noto Sans Symbols"/>
              <a:buChar char="✶"/>
            </a:pPr>
            <a:r>
              <a:rPr lang="en-US" sz="2300" b="0" i="0" u="none">
                <a:solidFill>
                  <a:schemeClr val="dk1"/>
                </a:solidFill>
                <a:latin typeface="Times New Roman"/>
                <a:ea typeface="Times New Roman"/>
                <a:cs typeface="Times New Roman"/>
                <a:sym typeface="Times New Roman"/>
              </a:rPr>
              <a:t>W is 1 for affine transformations in graphics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8"/>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15</a:t>
            </a:fld>
            <a:endParaRPr sz="1400" b="0" i="0" u="none" strike="noStrike" cap="none">
              <a:solidFill>
                <a:srgbClr val="000000"/>
              </a:solidFill>
              <a:latin typeface="Arial"/>
              <a:ea typeface="Arial"/>
              <a:cs typeface="Arial"/>
              <a:sym typeface="Arial"/>
            </a:endParaRPr>
          </a:p>
        </p:txBody>
      </p:sp>
      <p:sp>
        <p:nvSpPr>
          <p:cNvPr id="355" name="Google Shape;355;p28"/>
          <p:cNvSpPr txBox="1">
            <a:spLocks noGrp="1"/>
          </p:cNvSpPr>
          <p:nvPr>
            <p:ph type="title"/>
          </p:nvPr>
        </p:nvSpPr>
        <p:spPr>
          <a:xfrm>
            <a:off x="1600200" y="114300"/>
            <a:ext cx="73152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Homogeneous Coordinates</a:t>
            </a:r>
            <a:endParaRPr/>
          </a:p>
        </p:txBody>
      </p:sp>
      <p:sp>
        <p:nvSpPr>
          <p:cNvPr id="356" name="Google Shape;356;p28"/>
          <p:cNvSpPr txBox="1">
            <a:spLocks noGrp="1"/>
          </p:cNvSpPr>
          <p:nvPr>
            <p:ph type="body" idx="1"/>
          </p:nvPr>
        </p:nvSpPr>
        <p:spPr>
          <a:xfrm>
            <a:off x="1295400" y="1028700"/>
            <a:ext cx="5791200" cy="3888600"/>
          </a:xfrm>
          <a:prstGeom prst="rect">
            <a:avLst/>
          </a:prstGeom>
          <a:noFill/>
          <a:ln>
            <a:noFill/>
          </a:ln>
        </p:spPr>
        <p:txBody>
          <a:bodyPr spcFirstLastPara="1" wrap="square" lIns="0" tIns="0" rIns="0" bIns="0" anchor="t" anchorCtr="0">
            <a:noAutofit/>
          </a:bodyPr>
          <a:lstStyle/>
          <a:p>
            <a:pPr marL="339725" lvl="0" indent="-257175" algn="l" rtl="0">
              <a:lnSpc>
                <a:spcPct val="100000"/>
              </a:lnSpc>
              <a:spcBef>
                <a:spcPts val="0"/>
              </a:spcBef>
              <a:spcAft>
                <a:spcPts val="0"/>
              </a:spcAft>
              <a:buClr>
                <a:schemeClr val="dk2"/>
              </a:buClr>
              <a:buSzPts val="1740"/>
              <a:buFont typeface="Noto Sans Symbols"/>
              <a:buChar char="✶"/>
            </a:pPr>
            <a:r>
              <a:rPr lang="en-US" sz="1900" b="0" i="0" u="none">
                <a:solidFill>
                  <a:schemeClr val="dk1"/>
                </a:solidFill>
                <a:latin typeface="Times New Roman"/>
                <a:ea typeface="Times New Roman"/>
                <a:cs typeface="Times New Roman"/>
                <a:sym typeface="Times New Roman"/>
              </a:rPr>
              <a:t>Add an extra dimension</a:t>
            </a:r>
            <a:endParaRPr sz="800"/>
          </a:p>
          <a:p>
            <a:pPr marL="1143000" lvl="2" indent="-184150" algn="l" rtl="0">
              <a:lnSpc>
                <a:spcPct val="100000"/>
              </a:lnSpc>
              <a:spcBef>
                <a:spcPts val="480"/>
              </a:spcBef>
              <a:spcAft>
                <a:spcPts val="0"/>
              </a:spcAft>
              <a:buClr>
                <a:schemeClr val="dk1"/>
              </a:buClr>
              <a:buSzPts val="1700"/>
              <a:buFont typeface="Times New Roman"/>
              <a:buChar char="•"/>
            </a:pPr>
            <a:r>
              <a:rPr lang="en-US" sz="1700" b="0" i="0" u="none">
                <a:solidFill>
                  <a:schemeClr val="dk1"/>
                </a:solidFill>
                <a:latin typeface="Times New Roman"/>
                <a:ea typeface="Times New Roman"/>
                <a:cs typeface="Times New Roman"/>
                <a:sym typeface="Times New Roman"/>
              </a:rPr>
              <a:t>in 2D, we use 3 x 3 matrices</a:t>
            </a:r>
            <a:endParaRPr sz="800"/>
          </a:p>
          <a:p>
            <a:pPr marL="1143000" lvl="2" indent="-184150" algn="l" rtl="0">
              <a:lnSpc>
                <a:spcPct val="100000"/>
              </a:lnSpc>
              <a:spcBef>
                <a:spcPts val="480"/>
              </a:spcBef>
              <a:spcAft>
                <a:spcPts val="0"/>
              </a:spcAft>
              <a:buClr>
                <a:schemeClr val="dk1"/>
              </a:buClr>
              <a:buSzPts val="1700"/>
              <a:buFont typeface="Times New Roman"/>
              <a:buChar char="•"/>
            </a:pPr>
            <a:r>
              <a:rPr lang="en-US" sz="1700" b="0" i="0" u="none">
                <a:solidFill>
                  <a:schemeClr val="dk1"/>
                </a:solidFill>
                <a:latin typeface="Times New Roman"/>
                <a:ea typeface="Times New Roman"/>
                <a:cs typeface="Times New Roman"/>
                <a:sym typeface="Times New Roman"/>
              </a:rPr>
              <a:t>In 3D, we use 4 x 4 matrices</a:t>
            </a:r>
            <a:endParaRPr sz="800"/>
          </a:p>
          <a:p>
            <a:pPr marL="339725" lvl="0" indent="-257175" algn="l" rtl="0">
              <a:lnSpc>
                <a:spcPct val="100000"/>
              </a:lnSpc>
              <a:spcBef>
                <a:spcPts val="640"/>
              </a:spcBef>
              <a:spcAft>
                <a:spcPts val="0"/>
              </a:spcAft>
              <a:buClr>
                <a:schemeClr val="dk2"/>
              </a:buClr>
              <a:buSzPts val="1740"/>
              <a:buFont typeface="Noto Sans Symbols"/>
              <a:buChar char="✶"/>
            </a:pPr>
            <a:r>
              <a:rPr lang="en-US" sz="1900" b="0" i="0" u="none">
                <a:solidFill>
                  <a:schemeClr val="dk1"/>
                </a:solidFill>
                <a:latin typeface="Times New Roman"/>
                <a:ea typeface="Times New Roman"/>
                <a:cs typeface="Times New Roman"/>
                <a:sym typeface="Times New Roman"/>
              </a:rPr>
              <a:t>Each point has an extra value, </a:t>
            </a:r>
            <a:r>
              <a:rPr lang="en-US" sz="1900" b="0" i="1" u="none">
                <a:solidFill>
                  <a:schemeClr val="dk1"/>
                </a:solidFill>
                <a:latin typeface="Times New Roman"/>
                <a:ea typeface="Times New Roman"/>
                <a:cs typeface="Times New Roman"/>
                <a:sym typeface="Times New Roman"/>
              </a:rPr>
              <a:t>w</a:t>
            </a:r>
            <a:endParaRPr sz="800"/>
          </a:p>
        </p:txBody>
      </p:sp>
      <p:sp>
        <p:nvSpPr>
          <p:cNvPr id="357" name="Google Shape;357;p28"/>
          <p:cNvSpPr/>
          <p:nvPr/>
        </p:nvSpPr>
        <p:spPr>
          <a:xfrm>
            <a:off x="3048000" y="2483644"/>
            <a:ext cx="2514600" cy="18144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58" name="Google Shape;358;p28"/>
          <p:cNvSpPr/>
          <p:nvPr/>
        </p:nvSpPr>
        <p:spPr>
          <a:xfrm>
            <a:off x="1828800" y="2407444"/>
            <a:ext cx="685800" cy="18144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59" name="Google Shape;359;p28"/>
          <p:cNvSpPr txBox="1"/>
          <p:nvPr/>
        </p:nvSpPr>
        <p:spPr>
          <a:xfrm>
            <a:off x="1905000" y="2457450"/>
            <a:ext cx="5334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x'</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y'</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z'</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w'</a:t>
            </a:r>
            <a:endParaRPr sz="600" b="0" i="0" u="none" strike="noStrike" cap="none">
              <a:solidFill>
                <a:srgbClr val="000000"/>
              </a:solidFill>
              <a:latin typeface="Arial"/>
              <a:ea typeface="Arial"/>
              <a:cs typeface="Arial"/>
              <a:sym typeface="Arial"/>
            </a:endParaRPr>
          </a:p>
        </p:txBody>
      </p:sp>
      <p:sp>
        <p:nvSpPr>
          <p:cNvPr id="360" name="Google Shape;360;p28"/>
          <p:cNvSpPr txBox="1"/>
          <p:nvPr/>
        </p:nvSpPr>
        <p:spPr>
          <a:xfrm>
            <a:off x="2743200" y="3078956"/>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61" name="Google Shape;361;p28"/>
          <p:cNvSpPr txBox="1"/>
          <p:nvPr/>
        </p:nvSpPr>
        <p:spPr>
          <a:xfrm>
            <a:off x="6019800" y="2451496"/>
            <a:ext cx="5334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x</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y</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z</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w</a:t>
            </a:r>
            <a:endParaRPr sz="600" b="0" i="0" u="none" strike="noStrike" cap="none">
              <a:solidFill>
                <a:srgbClr val="000000"/>
              </a:solidFill>
              <a:latin typeface="Arial"/>
              <a:ea typeface="Arial"/>
              <a:cs typeface="Arial"/>
              <a:sym typeface="Arial"/>
            </a:endParaRPr>
          </a:p>
        </p:txBody>
      </p:sp>
      <p:sp>
        <p:nvSpPr>
          <p:cNvPr id="362" name="Google Shape;362;p28"/>
          <p:cNvSpPr/>
          <p:nvPr/>
        </p:nvSpPr>
        <p:spPr>
          <a:xfrm>
            <a:off x="6019800" y="2407444"/>
            <a:ext cx="533400" cy="18144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363" name="Google Shape;363;p28"/>
          <p:cNvSpPr txBox="1"/>
          <p:nvPr/>
        </p:nvSpPr>
        <p:spPr>
          <a:xfrm>
            <a:off x="3276600" y="2450300"/>
            <a:ext cx="4479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a</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e</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i</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m</a:t>
            </a:r>
            <a:endParaRPr sz="600" b="0" i="0" u="none" strike="noStrike" cap="none">
              <a:solidFill>
                <a:srgbClr val="000000"/>
              </a:solidFill>
              <a:latin typeface="Arial"/>
              <a:ea typeface="Arial"/>
              <a:cs typeface="Arial"/>
              <a:sym typeface="Arial"/>
            </a:endParaRPr>
          </a:p>
        </p:txBody>
      </p:sp>
      <p:sp>
        <p:nvSpPr>
          <p:cNvPr id="364" name="Google Shape;364;p28"/>
          <p:cNvSpPr txBox="1"/>
          <p:nvPr/>
        </p:nvSpPr>
        <p:spPr>
          <a:xfrm>
            <a:off x="3788341" y="2450300"/>
            <a:ext cx="4479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b</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f</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j</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n</a:t>
            </a:r>
            <a:endParaRPr sz="600" b="0" i="0" u="none" strike="noStrike" cap="none">
              <a:solidFill>
                <a:srgbClr val="000000"/>
              </a:solidFill>
              <a:latin typeface="Arial"/>
              <a:ea typeface="Arial"/>
              <a:cs typeface="Arial"/>
              <a:sym typeface="Arial"/>
            </a:endParaRPr>
          </a:p>
        </p:txBody>
      </p:sp>
      <p:sp>
        <p:nvSpPr>
          <p:cNvPr id="365" name="Google Shape;365;p28"/>
          <p:cNvSpPr txBox="1"/>
          <p:nvPr/>
        </p:nvSpPr>
        <p:spPr>
          <a:xfrm>
            <a:off x="4300082" y="2450300"/>
            <a:ext cx="4479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c</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g</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k</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o</a:t>
            </a:r>
            <a:endParaRPr sz="600" b="0" i="0" u="none" strike="noStrike" cap="none">
              <a:solidFill>
                <a:srgbClr val="000000"/>
              </a:solidFill>
              <a:latin typeface="Arial"/>
              <a:ea typeface="Arial"/>
              <a:cs typeface="Arial"/>
              <a:sym typeface="Arial"/>
            </a:endParaRPr>
          </a:p>
        </p:txBody>
      </p:sp>
      <p:sp>
        <p:nvSpPr>
          <p:cNvPr id="366" name="Google Shape;366;p28"/>
          <p:cNvSpPr txBox="1"/>
          <p:nvPr/>
        </p:nvSpPr>
        <p:spPr>
          <a:xfrm>
            <a:off x="4811824" y="2450300"/>
            <a:ext cx="4479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d</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h</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l</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p</a:t>
            </a:r>
            <a:endParaRPr sz="600" b="0" i="0" u="none" strike="noStrike" cap="none">
              <a:solidFill>
                <a:srgbClr val="000000"/>
              </a:solidFill>
              <a:latin typeface="Arial"/>
              <a:ea typeface="Arial"/>
              <a:cs typeface="Arial"/>
              <a:sym typeface="Arial"/>
            </a:endParaRPr>
          </a:p>
        </p:txBody>
      </p:sp>
      <p:sp>
        <p:nvSpPr>
          <p:cNvPr id="367" name="Google Shape;367;p28"/>
          <p:cNvSpPr txBox="1"/>
          <p:nvPr/>
        </p:nvSpPr>
        <p:spPr>
          <a:xfrm>
            <a:off x="1992312" y="4300538"/>
            <a:ext cx="4476900" cy="587100"/>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3200" b="0" i="1" u="none" strike="noStrike" cap="none">
                <a:solidFill>
                  <a:schemeClr val="dk1"/>
                </a:solidFill>
                <a:latin typeface="Times New Roman"/>
                <a:ea typeface="Times New Roman"/>
                <a:cs typeface="Times New Roman"/>
                <a:sym typeface="Times New Roman"/>
              </a:rPr>
              <a:t>p' = </a:t>
            </a:r>
            <a:r>
              <a:rPr lang="en-US" sz="3200" b="0" i="1" u="none" strike="noStrike" cap="none">
                <a:solidFill>
                  <a:srgbClr val="FF0000"/>
                </a:solidFill>
                <a:latin typeface="Times New Roman"/>
                <a:ea typeface="Times New Roman"/>
                <a:cs typeface="Times New Roman"/>
                <a:sym typeface="Times New Roman"/>
              </a:rPr>
              <a:t>M</a:t>
            </a:r>
            <a:r>
              <a:rPr lang="en-US" sz="3200" b="0" i="1" u="none" strike="noStrike" cap="none">
                <a:solidFill>
                  <a:schemeClr val="dk1"/>
                </a:solidFill>
                <a:latin typeface="Times New Roman"/>
                <a:ea typeface="Times New Roman"/>
                <a:cs typeface="Times New Roman"/>
                <a:sym typeface="Times New Roman"/>
              </a:rPr>
              <a:t> p</a:t>
            </a:r>
            <a:endParaRPr sz="6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9"/>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16</a:t>
            </a:fld>
            <a:endParaRPr sz="1400" b="0" i="0" u="none" strike="noStrike" cap="none">
              <a:solidFill>
                <a:srgbClr val="000000"/>
              </a:solidFill>
              <a:latin typeface="Arial"/>
              <a:ea typeface="Arial"/>
              <a:cs typeface="Arial"/>
              <a:sym typeface="Arial"/>
            </a:endParaRPr>
          </a:p>
        </p:txBody>
      </p:sp>
      <p:sp>
        <p:nvSpPr>
          <p:cNvPr id="374" name="Google Shape;374;p29"/>
          <p:cNvSpPr txBox="1">
            <a:spLocks noGrp="1"/>
          </p:cNvSpPr>
          <p:nvPr>
            <p:ph type="title"/>
          </p:nvPr>
        </p:nvSpPr>
        <p:spPr>
          <a:xfrm>
            <a:off x="1676400" y="57150"/>
            <a:ext cx="6019800" cy="688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Homogeneous Coordinates</a:t>
            </a:r>
            <a:endParaRPr/>
          </a:p>
        </p:txBody>
      </p:sp>
      <p:sp>
        <p:nvSpPr>
          <p:cNvPr id="375" name="Google Shape;375;p29"/>
          <p:cNvSpPr txBox="1">
            <a:spLocks noGrp="1"/>
          </p:cNvSpPr>
          <p:nvPr>
            <p:ph type="body" idx="1"/>
          </p:nvPr>
        </p:nvSpPr>
        <p:spPr>
          <a:xfrm>
            <a:off x="1444625" y="1026319"/>
            <a:ext cx="7394700" cy="3888600"/>
          </a:xfrm>
          <a:prstGeom prst="rect">
            <a:avLst/>
          </a:prstGeom>
          <a:noFill/>
          <a:ln>
            <a:noFill/>
          </a:ln>
        </p:spPr>
        <p:txBody>
          <a:bodyPr spcFirstLastPara="1" wrap="square" lIns="0" tIns="0" rIns="0" bIns="0" anchor="t" anchorCtr="0">
            <a:noAutofit/>
          </a:bodyPr>
          <a:lstStyle/>
          <a:p>
            <a:pPr marL="339725" lvl="0" indent="-339725" algn="l" rtl="0">
              <a:lnSpc>
                <a:spcPct val="100000"/>
              </a:lnSpc>
              <a:spcBef>
                <a:spcPts val="0"/>
              </a:spcBef>
              <a:spcAft>
                <a:spcPts val="0"/>
              </a:spcAft>
              <a:buClr>
                <a:schemeClr val="dk2"/>
              </a:buClr>
              <a:buSzPts val="2660"/>
              <a:buFont typeface="Noto Sans Symbols"/>
              <a:buChar char="✶"/>
            </a:pPr>
            <a:r>
              <a:rPr lang="en-US" sz="2800" b="0" i="0" u="none">
                <a:solidFill>
                  <a:schemeClr val="dk1"/>
                </a:solidFill>
                <a:latin typeface="Times New Roman"/>
                <a:ea typeface="Times New Roman"/>
                <a:cs typeface="Times New Roman"/>
                <a:sym typeface="Times New Roman"/>
              </a:rPr>
              <a:t>Most of the time w = 1, and we can ignore it</a:t>
            </a:r>
            <a:endParaRPr/>
          </a:p>
          <a:p>
            <a:pPr marL="339725" lvl="0" indent="-170815" algn="l" rtl="0">
              <a:lnSpc>
                <a:spcPct val="100000"/>
              </a:lnSpc>
              <a:spcBef>
                <a:spcPts val="560"/>
              </a:spcBef>
              <a:spcAft>
                <a:spcPts val="0"/>
              </a:spcAft>
              <a:buClr>
                <a:schemeClr val="dk2"/>
              </a:buClr>
              <a:buSzPts val="2660"/>
              <a:buFont typeface="Noto Sans Symbols"/>
              <a:buNone/>
            </a:pPr>
            <a:endParaRPr sz="2800" b="0" i="0" u="none">
              <a:solidFill>
                <a:schemeClr val="dk1"/>
              </a:solidFill>
              <a:latin typeface="Times New Roman"/>
              <a:ea typeface="Times New Roman"/>
              <a:cs typeface="Times New Roman"/>
              <a:sym typeface="Times New Roman"/>
            </a:endParaRPr>
          </a:p>
          <a:p>
            <a:pPr marL="339725" lvl="0" indent="-170815" algn="l" rtl="0">
              <a:lnSpc>
                <a:spcPct val="100000"/>
              </a:lnSpc>
              <a:spcBef>
                <a:spcPts val="560"/>
              </a:spcBef>
              <a:spcAft>
                <a:spcPts val="0"/>
              </a:spcAft>
              <a:buClr>
                <a:schemeClr val="dk2"/>
              </a:buClr>
              <a:buSzPts val="2660"/>
              <a:buFont typeface="Noto Sans Symbols"/>
              <a:buNone/>
            </a:pPr>
            <a:endParaRPr sz="2800" b="0" i="0" u="none">
              <a:solidFill>
                <a:schemeClr val="dk1"/>
              </a:solidFill>
              <a:latin typeface="Times New Roman"/>
              <a:ea typeface="Times New Roman"/>
              <a:cs typeface="Times New Roman"/>
              <a:sym typeface="Times New Roman"/>
            </a:endParaRPr>
          </a:p>
          <a:p>
            <a:pPr marL="339725" lvl="0" indent="-170815" algn="l" rtl="0">
              <a:lnSpc>
                <a:spcPct val="100000"/>
              </a:lnSpc>
              <a:spcBef>
                <a:spcPts val="560"/>
              </a:spcBef>
              <a:spcAft>
                <a:spcPts val="0"/>
              </a:spcAft>
              <a:buClr>
                <a:schemeClr val="dk2"/>
              </a:buClr>
              <a:buSzPts val="2660"/>
              <a:buFont typeface="Noto Sans Symbols"/>
              <a:buNone/>
            </a:pPr>
            <a:endParaRPr sz="2800" b="0" i="0" u="none">
              <a:solidFill>
                <a:schemeClr val="dk1"/>
              </a:solidFill>
              <a:latin typeface="Times New Roman"/>
              <a:ea typeface="Times New Roman"/>
              <a:cs typeface="Times New Roman"/>
              <a:sym typeface="Times New Roman"/>
            </a:endParaRPr>
          </a:p>
          <a:p>
            <a:pPr marL="339725" lvl="0" indent="-170815" algn="l" rtl="0">
              <a:lnSpc>
                <a:spcPct val="100000"/>
              </a:lnSpc>
              <a:spcBef>
                <a:spcPts val="560"/>
              </a:spcBef>
              <a:spcAft>
                <a:spcPts val="0"/>
              </a:spcAft>
              <a:buClr>
                <a:schemeClr val="dk2"/>
              </a:buClr>
              <a:buSzPts val="2660"/>
              <a:buFont typeface="Noto Sans Symbols"/>
              <a:buNone/>
            </a:pPr>
            <a:endParaRPr sz="2800" b="0" i="0" u="none">
              <a:solidFill>
                <a:schemeClr val="dk1"/>
              </a:solidFill>
              <a:latin typeface="Times New Roman"/>
              <a:ea typeface="Times New Roman"/>
              <a:cs typeface="Times New Roman"/>
              <a:sym typeface="Times New Roman"/>
            </a:endParaRPr>
          </a:p>
          <a:p>
            <a:pPr marL="339725" lvl="0" indent="-170815" algn="l" rtl="0">
              <a:lnSpc>
                <a:spcPct val="100000"/>
              </a:lnSpc>
              <a:spcBef>
                <a:spcPts val="560"/>
              </a:spcBef>
              <a:spcAft>
                <a:spcPts val="0"/>
              </a:spcAft>
              <a:buClr>
                <a:schemeClr val="dk2"/>
              </a:buClr>
              <a:buSzPts val="2660"/>
              <a:buFont typeface="Noto Sans Symbols"/>
              <a:buNone/>
            </a:pPr>
            <a:endParaRPr sz="2800" b="0" i="0" u="none">
              <a:solidFill>
                <a:schemeClr val="dk1"/>
              </a:solidFill>
              <a:latin typeface="Times New Roman"/>
              <a:ea typeface="Times New Roman"/>
              <a:cs typeface="Times New Roman"/>
              <a:sym typeface="Times New Roman"/>
            </a:endParaRPr>
          </a:p>
          <a:p>
            <a:pPr marL="339725" lvl="0" indent="-339725" algn="l" rtl="0">
              <a:lnSpc>
                <a:spcPct val="100000"/>
              </a:lnSpc>
              <a:spcBef>
                <a:spcPts val="560"/>
              </a:spcBef>
              <a:spcAft>
                <a:spcPts val="0"/>
              </a:spcAft>
              <a:buClr>
                <a:schemeClr val="dk2"/>
              </a:buClr>
              <a:buSzPts val="2660"/>
              <a:buFont typeface="Noto Sans Symbols"/>
              <a:buChar char="✶"/>
            </a:pPr>
            <a:r>
              <a:rPr lang="en-US" sz="2800" b="0" i="0" u="none">
                <a:solidFill>
                  <a:schemeClr val="dk1"/>
                </a:solidFill>
                <a:latin typeface="Times New Roman"/>
                <a:ea typeface="Times New Roman"/>
                <a:cs typeface="Times New Roman"/>
                <a:sym typeface="Times New Roman"/>
              </a:rPr>
              <a:t>If we multiply a homogeneous coordinate </a:t>
            </a:r>
            <a:br>
              <a:rPr lang="en-US" sz="2800" b="0" i="0" u="none">
                <a:solidFill>
                  <a:schemeClr val="dk1"/>
                </a:solidFill>
                <a:latin typeface="Times New Roman"/>
                <a:ea typeface="Times New Roman"/>
                <a:cs typeface="Times New Roman"/>
                <a:sym typeface="Times New Roman"/>
              </a:rPr>
            </a:br>
            <a:r>
              <a:rPr lang="en-US" sz="2800" b="0" i="0" u="none">
                <a:solidFill>
                  <a:schemeClr val="dk1"/>
                </a:solidFill>
                <a:latin typeface="Times New Roman"/>
                <a:ea typeface="Times New Roman"/>
                <a:cs typeface="Times New Roman"/>
                <a:sym typeface="Times New Roman"/>
              </a:rPr>
              <a:t>by an </a:t>
            </a:r>
            <a:r>
              <a:rPr lang="en-US" sz="2800" b="0" i="1" u="none">
                <a:solidFill>
                  <a:srgbClr val="FF0000"/>
                </a:solidFill>
                <a:latin typeface="Times New Roman"/>
                <a:ea typeface="Times New Roman"/>
                <a:cs typeface="Times New Roman"/>
                <a:sym typeface="Times New Roman"/>
              </a:rPr>
              <a:t>affine matrix</a:t>
            </a:r>
            <a:r>
              <a:rPr lang="en-US" sz="2800" b="0" i="0" u="none">
                <a:solidFill>
                  <a:schemeClr val="dk1"/>
                </a:solidFill>
                <a:latin typeface="Times New Roman"/>
                <a:ea typeface="Times New Roman"/>
                <a:cs typeface="Times New Roman"/>
                <a:sym typeface="Times New Roman"/>
              </a:rPr>
              <a:t>, w is unchanged</a:t>
            </a:r>
            <a:endParaRPr/>
          </a:p>
        </p:txBody>
      </p:sp>
      <p:sp>
        <p:nvSpPr>
          <p:cNvPr id="376" name="Google Shape;376;p29"/>
          <p:cNvSpPr/>
          <p:nvPr/>
        </p:nvSpPr>
        <p:spPr>
          <a:xfrm>
            <a:off x="3581400" y="1821656"/>
            <a:ext cx="2524200" cy="18144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77" name="Google Shape;377;p29"/>
          <p:cNvSpPr/>
          <p:nvPr/>
        </p:nvSpPr>
        <p:spPr>
          <a:xfrm>
            <a:off x="2286000" y="1821656"/>
            <a:ext cx="609600" cy="18144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78" name="Google Shape;378;p29"/>
          <p:cNvSpPr txBox="1"/>
          <p:nvPr/>
        </p:nvSpPr>
        <p:spPr>
          <a:xfrm>
            <a:off x="2371725" y="1871663"/>
            <a:ext cx="523800" cy="1685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300" b="0" i="1" u="none" strike="noStrike" cap="none">
                <a:solidFill>
                  <a:schemeClr val="dk1"/>
                </a:solidFill>
                <a:latin typeface="Times New Roman"/>
                <a:ea typeface="Times New Roman"/>
                <a:cs typeface="Times New Roman"/>
                <a:sym typeface="Times New Roman"/>
              </a:rPr>
              <a:t>x'</a:t>
            </a:r>
            <a:endParaRPr sz="5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300" b="0" i="1" u="none" strike="noStrike" cap="none">
                <a:solidFill>
                  <a:schemeClr val="dk1"/>
                </a:solidFill>
                <a:latin typeface="Times New Roman"/>
                <a:ea typeface="Times New Roman"/>
                <a:cs typeface="Times New Roman"/>
                <a:sym typeface="Times New Roman"/>
              </a:rPr>
              <a:t>y'</a:t>
            </a:r>
            <a:endParaRPr sz="5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300" b="0" i="1" u="none" strike="noStrike" cap="none">
                <a:solidFill>
                  <a:schemeClr val="dk1"/>
                </a:solidFill>
                <a:latin typeface="Times New Roman"/>
                <a:ea typeface="Times New Roman"/>
                <a:cs typeface="Times New Roman"/>
                <a:sym typeface="Times New Roman"/>
              </a:rPr>
              <a:t>z'</a:t>
            </a:r>
            <a:endParaRPr sz="5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2300" b="0" i="0" u="none" strike="noStrike" cap="none">
                <a:solidFill>
                  <a:srgbClr val="FF0000"/>
                </a:solidFill>
                <a:latin typeface="Times New Roman"/>
                <a:ea typeface="Times New Roman"/>
                <a:cs typeface="Times New Roman"/>
                <a:sym typeface="Times New Roman"/>
              </a:rPr>
              <a:t>1</a:t>
            </a:r>
            <a:endParaRPr sz="500" b="0" i="0" u="none" strike="noStrike" cap="none">
              <a:solidFill>
                <a:srgbClr val="000000"/>
              </a:solidFill>
              <a:latin typeface="Arial"/>
              <a:ea typeface="Arial"/>
              <a:cs typeface="Arial"/>
              <a:sym typeface="Arial"/>
            </a:endParaRPr>
          </a:p>
        </p:txBody>
      </p:sp>
      <p:sp>
        <p:nvSpPr>
          <p:cNvPr id="379" name="Google Shape;379;p29"/>
          <p:cNvSpPr txBox="1"/>
          <p:nvPr/>
        </p:nvSpPr>
        <p:spPr>
          <a:xfrm>
            <a:off x="3124200" y="2493169"/>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380" name="Google Shape;380;p29"/>
          <p:cNvSpPr txBox="1"/>
          <p:nvPr/>
        </p:nvSpPr>
        <p:spPr>
          <a:xfrm>
            <a:off x="6433919" y="1902586"/>
            <a:ext cx="523800" cy="1685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300" b="0" i="1" u="none" strike="noStrike" cap="none">
                <a:solidFill>
                  <a:schemeClr val="dk1"/>
                </a:solidFill>
                <a:latin typeface="Times New Roman"/>
                <a:ea typeface="Times New Roman"/>
                <a:cs typeface="Times New Roman"/>
                <a:sym typeface="Times New Roman"/>
              </a:rPr>
              <a:t>x</a:t>
            </a:r>
            <a:endParaRPr sz="5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300" b="0" i="1" u="none" strike="noStrike" cap="none">
                <a:solidFill>
                  <a:schemeClr val="dk1"/>
                </a:solidFill>
                <a:latin typeface="Times New Roman"/>
                <a:ea typeface="Times New Roman"/>
                <a:cs typeface="Times New Roman"/>
                <a:sym typeface="Times New Roman"/>
              </a:rPr>
              <a:t>y</a:t>
            </a:r>
            <a:endParaRPr sz="5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300" b="0" i="1" u="none" strike="noStrike" cap="none">
                <a:solidFill>
                  <a:schemeClr val="dk1"/>
                </a:solidFill>
                <a:latin typeface="Times New Roman"/>
                <a:ea typeface="Times New Roman"/>
                <a:cs typeface="Times New Roman"/>
                <a:sym typeface="Times New Roman"/>
              </a:rPr>
              <a:t>z</a:t>
            </a:r>
            <a:endParaRPr sz="5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2300" b="0" i="0" u="none" strike="noStrike" cap="none">
                <a:solidFill>
                  <a:srgbClr val="FF0000"/>
                </a:solidFill>
                <a:latin typeface="Times New Roman"/>
                <a:ea typeface="Times New Roman"/>
                <a:cs typeface="Times New Roman"/>
                <a:sym typeface="Times New Roman"/>
              </a:rPr>
              <a:t>1</a:t>
            </a:r>
            <a:endParaRPr sz="500" b="0" i="0" u="none" strike="noStrike" cap="none">
              <a:solidFill>
                <a:srgbClr val="000000"/>
              </a:solidFill>
              <a:latin typeface="Arial"/>
              <a:ea typeface="Arial"/>
              <a:cs typeface="Arial"/>
              <a:sym typeface="Arial"/>
            </a:endParaRPr>
          </a:p>
        </p:txBody>
      </p:sp>
      <p:sp>
        <p:nvSpPr>
          <p:cNvPr id="381" name="Google Shape;381;p29"/>
          <p:cNvSpPr/>
          <p:nvPr/>
        </p:nvSpPr>
        <p:spPr>
          <a:xfrm>
            <a:off x="6400800" y="1821656"/>
            <a:ext cx="533400" cy="18144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300" b="0" i="0" u="none" strike="noStrike" cap="none">
              <a:solidFill>
                <a:schemeClr val="dk1"/>
              </a:solidFill>
              <a:latin typeface="Times New Roman"/>
              <a:ea typeface="Times New Roman"/>
              <a:cs typeface="Times New Roman"/>
              <a:sym typeface="Times New Roman"/>
            </a:endParaRPr>
          </a:p>
        </p:txBody>
      </p:sp>
      <p:sp>
        <p:nvSpPr>
          <p:cNvPr id="382" name="Google Shape;382;p29"/>
          <p:cNvSpPr txBox="1"/>
          <p:nvPr/>
        </p:nvSpPr>
        <p:spPr>
          <a:xfrm>
            <a:off x="3667125" y="1864519"/>
            <a:ext cx="5238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a</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e</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i</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2400" b="0" i="0" u="none" strike="noStrike" cap="none">
                <a:solidFill>
                  <a:srgbClr val="FF0000"/>
                </a:solidFill>
                <a:latin typeface="Times New Roman"/>
                <a:ea typeface="Times New Roman"/>
                <a:cs typeface="Times New Roman"/>
                <a:sym typeface="Times New Roman"/>
              </a:rPr>
              <a:t>0</a:t>
            </a:r>
            <a:endParaRPr sz="600" b="0" i="0" u="none" strike="noStrike" cap="none">
              <a:solidFill>
                <a:srgbClr val="000000"/>
              </a:solidFill>
              <a:latin typeface="Arial"/>
              <a:ea typeface="Arial"/>
              <a:cs typeface="Arial"/>
              <a:sym typeface="Arial"/>
            </a:endParaRPr>
          </a:p>
        </p:txBody>
      </p:sp>
      <p:sp>
        <p:nvSpPr>
          <p:cNvPr id="383" name="Google Shape;383;p29"/>
          <p:cNvSpPr txBox="1"/>
          <p:nvPr/>
        </p:nvSpPr>
        <p:spPr>
          <a:xfrm>
            <a:off x="4276725" y="1864519"/>
            <a:ext cx="5238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b</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f</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j</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2400" b="0" i="0" u="none" strike="noStrike" cap="none">
                <a:solidFill>
                  <a:srgbClr val="FF0000"/>
                </a:solidFill>
                <a:latin typeface="Times New Roman"/>
                <a:ea typeface="Times New Roman"/>
                <a:cs typeface="Times New Roman"/>
                <a:sym typeface="Times New Roman"/>
              </a:rPr>
              <a:t>0</a:t>
            </a:r>
            <a:endParaRPr sz="600" b="0" i="0" u="none" strike="noStrike" cap="none">
              <a:solidFill>
                <a:srgbClr val="000000"/>
              </a:solidFill>
              <a:latin typeface="Arial"/>
              <a:ea typeface="Arial"/>
              <a:cs typeface="Arial"/>
              <a:sym typeface="Arial"/>
            </a:endParaRPr>
          </a:p>
        </p:txBody>
      </p:sp>
      <p:sp>
        <p:nvSpPr>
          <p:cNvPr id="384" name="Google Shape;384;p29"/>
          <p:cNvSpPr txBox="1"/>
          <p:nvPr/>
        </p:nvSpPr>
        <p:spPr>
          <a:xfrm>
            <a:off x="4886325" y="1864519"/>
            <a:ext cx="5238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c</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g</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k</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2400" b="0" i="0" u="none" strike="noStrike" cap="none">
                <a:solidFill>
                  <a:srgbClr val="FF0000"/>
                </a:solidFill>
                <a:latin typeface="Times New Roman"/>
                <a:ea typeface="Times New Roman"/>
                <a:cs typeface="Times New Roman"/>
                <a:sym typeface="Times New Roman"/>
              </a:rPr>
              <a:t>0</a:t>
            </a:r>
            <a:endParaRPr sz="600" b="0" i="0" u="none" strike="noStrike" cap="none">
              <a:solidFill>
                <a:srgbClr val="000000"/>
              </a:solidFill>
              <a:latin typeface="Arial"/>
              <a:ea typeface="Arial"/>
              <a:cs typeface="Arial"/>
              <a:sym typeface="Arial"/>
            </a:endParaRPr>
          </a:p>
        </p:txBody>
      </p:sp>
      <p:sp>
        <p:nvSpPr>
          <p:cNvPr id="385" name="Google Shape;385;p29"/>
          <p:cNvSpPr txBox="1"/>
          <p:nvPr/>
        </p:nvSpPr>
        <p:spPr>
          <a:xfrm>
            <a:off x="5495925" y="1864519"/>
            <a:ext cx="523800" cy="1746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d</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h</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2400" b="0" i="1" u="none" strike="noStrike" cap="none">
                <a:solidFill>
                  <a:schemeClr val="dk1"/>
                </a:solidFill>
                <a:latin typeface="Times New Roman"/>
                <a:ea typeface="Times New Roman"/>
                <a:cs typeface="Times New Roman"/>
                <a:sym typeface="Times New Roman"/>
              </a:rPr>
              <a:t>l</a:t>
            </a:r>
            <a:endParaRPr sz="6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2400" b="0" i="0" u="none" strike="noStrike" cap="none">
                <a:solidFill>
                  <a:srgbClr val="FF0000"/>
                </a:solidFill>
                <a:latin typeface="Times New Roman"/>
                <a:ea typeface="Times New Roman"/>
                <a:cs typeface="Times New Roman"/>
                <a:sym typeface="Times New Roman"/>
              </a:rPr>
              <a:t>1</a:t>
            </a:r>
            <a:endParaRPr sz="6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0"/>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17</a:t>
            </a:fld>
            <a:endParaRPr sz="1400" b="0" i="0" u="none" strike="noStrike" cap="none">
              <a:solidFill>
                <a:srgbClr val="000000"/>
              </a:solidFill>
              <a:latin typeface="Arial"/>
              <a:ea typeface="Arial"/>
              <a:cs typeface="Arial"/>
              <a:sym typeface="Arial"/>
            </a:endParaRPr>
          </a:p>
        </p:txBody>
      </p:sp>
      <p:sp>
        <p:nvSpPr>
          <p:cNvPr id="391" name="Google Shape;391;p30"/>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Homogeneous Coordinates</a:t>
            </a:r>
            <a:endParaRPr/>
          </a:p>
        </p:txBody>
      </p:sp>
      <p:sp>
        <p:nvSpPr>
          <p:cNvPr id="392" name="Google Shape;392;p30"/>
          <p:cNvSpPr txBox="1">
            <a:spLocks noGrp="1"/>
          </p:cNvSpPr>
          <p:nvPr>
            <p:ph type="body" idx="1"/>
          </p:nvPr>
        </p:nvSpPr>
        <p:spPr>
          <a:xfrm>
            <a:off x="1455763" y="1235275"/>
            <a:ext cx="7626300" cy="2396700"/>
          </a:xfrm>
          <a:prstGeom prst="rect">
            <a:avLst/>
          </a:prstGeom>
          <a:noFill/>
          <a:ln>
            <a:noFill/>
          </a:ln>
        </p:spPr>
        <p:txBody>
          <a:bodyPr spcFirstLastPara="1" wrap="square" lIns="92075" tIns="46025" rIns="92075" bIns="46025" anchor="t" anchorCtr="0">
            <a:noAutofit/>
          </a:bodyPr>
          <a:lstStyle/>
          <a:p>
            <a:pPr marL="342900" lvl="0" indent="-317500" algn="l" rtl="0">
              <a:lnSpc>
                <a:spcPct val="100000"/>
              </a:lnSpc>
              <a:spcBef>
                <a:spcPts val="0"/>
              </a:spcBef>
              <a:spcAft>
                <a:spcPts val="0"/>
              </a:spcAft>
              <a:buClr>
                <a:schemeClr val="dk2"/>
              </a:buClr>
              <a:buSzPts val="2260"/>
              <a:buFont typeface="Noto Sans Symbols"/>
              <a:buChar char="✶"/>
            </a:pPr>
            <a:r>
              <a:rPr lang="en-US" sz="2400" b="0" i="0" u="none">
                <a:solidFill>
                  <a:schemeClr val="dk1"/>
                </a:solidFill>
                <a:latin typeface="Times New Roman"/>
                <a:ea typeface="Times New Roman"/>
                <a:cs typeface="Times New Roman"/>
                <a:sym typeface="Times New Roman"/>
              </a:rPr>
              <a:t>P</a:t>
            </a:r>
            <a:r>
              <a:rPr lang="en-US" sz="2400" b="0" i="0" u="none" baseline="-25000">
                <a:solidFill>
                  <a:schemeClr val="dk1"/>
                </a:solidFill>
                <a:latin typeface="Times New Roman"/>
                <a:ea typeface="Times New Roman"/>
                <a:cs typeface="Times New Roman"/>
                <a:sym typeface="Times New Roman"/>
              </a:rPr>
              <a:t>2d</a:t>
            </a:r>
            <a:r>
              <a:rPr lang="en-US" sz="2400" b="0" i="0" u="none">
                <a:solidFill>
                  <a:schemeClr val="dk1"/>
                </a:solidFill>
                <a:latin typeface="Times New Roman"/>
                <a:ea typeface="Times New Roman"/>
                <a:cs typeface="Times New Roman"/>
                <a:sym typeface="Times New Roman"/>
              </a:rPr>
              <a:t> is a projection of P</a:t>
            </a:r>
            <a:r>
              <a:rPr lang="en-US" sz="2400" b="0" i="0" u="none" baseline="-25000">
                <a:solidFill>
                  <a:schemeClr val="dk1"/>
                </a:solidFill>
                <a:latin typeface="Times New Roman"/>
                <a:ea typeface="Times New Roman"/>
                <a:cs typeface="Times New Roman"/>
                <a:sym typeface="Times New Roman"/>
              </a:rPr>
              <a:t>h</a:t>
            </a:r>
            <a:r>
              <a:rPr lang="en-US" sz="2400" b="0" i="0" u="none">
                <a:solidFill>
                  <a:schemeClr val="dk1"/>
                </a:solidFill>
                <a:latin typeface="Times New Roman"/>
                <a:ea typeface="Times New Roman"/>
                <a:cs typeface="Times New Roman"/>
                <a:sym typeface="Times New Roman"/>
              </a:rPr>
              <a:t> onto the </a:t>
            </a:r>
            <a:r>
              <a:rPr lang="en-US" sz="2400" b="0" i="1" u="none">
                <a:solidFill>
                  <a:schemeClr val="dk1"/>
                </a:solidFill>
                <a:latin typeface="Times New Roman"/>
                <a:ea typeface="Times New Roman"/>
                <a:cs typeface="Times New Roman"/>
                <a:sym typeface="Times New Roman"/>
              </a:rPr>
              <a:t>w </a:t>
            </a:r>
            <a:r>
              <a:rPr lang="en-US" sz="2400" b="0" i="0" u="none">
                <a:solidFill>
                  <a:schemeClr val="dk1"/>
                </a:solidFill>
                <a:latin typeface="Times New Roman"/>
                <a:ea typeface="Times New Roman"/>
                <a:cs typeface="Times New Roman"/>
                <a:sym typeface="Times New Roman"/>
              </a:rPr>
              <a:t>= 1 plane</a:t>
            </a:r>
            <a:endParaRPr sz="1700"/>
          </a:p>
          <a:p>
            <a:pPr marL="342900" lvl="0" indent="-317500" algn="l" rtl="0">
              <a:lnSpc>
                <a:spcPct val="100000"/>
              </a:lnSpc>
              <a:spcBef>
                <a:spcPts val="560"/>
              </a:spcBef>
              <a:spcAft>
                <a:spcPts val="0"/>
              </a:spcAft>
              <a:buClr>
                <a:schemeClr val="dk2"/>
              </a:buClr>
              <a:buSzPts val="2260"/>
              <a:buFont typeface="Noto Sans Symbols"/>
              <a:buChar char="✶"/>
            </a:pPr>
            <a:r>
              <a:rPr lang="en-US" sz="2400" b="0" i="0" u="none">
                <a:solidFill>
                  <a:schemeClr val="dk1"/>
                </a:solidFill>
                <a:latin typeface="Times New Roman"/>
                <a:ea typeface="Times New Roman"/>
                <a:cs typeface="Times New Roman"/>
                <a:sym typeface="Times New Roman"/>
              </a:rPr>
              <a:t>So an infinite number of points correspond to : they constitute the whole line (tx, ty, tw)</a:t>
            </a:r>
            <a:endParaRPr sz="1700"/>
          </a:p>
        </p:txBody>
      </p:sp>
      <p:grpSp>
        <p:nvGrpSpPr>
          <p:cNvPr id="393" name="Google Shape;393;p30"/>
          <p:cNvGrpSpPr/>
          <p:nvPr/>
        </p:nvGrpSpPr>
        <p:grpSpPr>
          <a:xfrm>
            <a:off x="3505200" y="2857500"/>
            <a:ext cx="3527425" cy="2014538"/>
            <a:chOff x="3024" y="1536"/>
            <a:chExt cx="2222" cy="1692"/>
          </a:xfrm>
        </p:grpSpPr>
        <p:cxnSp>
          <p:nvCxnSpPr>
            <p:cNvPr id="394" name="Google Shape;394;p30"/>
            <p:cNvCxnSpPr/>
            <p:nvPr/>
          </p:nvCxnSpPr>
          <p:spPr>
            <a:xfrm rot="10800000">
              <a:off x="3648" y="1632"/>
              <a:ext cx="0" cy="1056"/>
            </a:xfrm>
            <a:prstGeom prst="straightConnector1">
              <a:avLst/>
            </a:prstGeom>
            <a:noFill/>
            <a:ln w="9525" cap="flat" cmpd="sng">
              <a:solidFill>
                <a:schemeClr val="dk1"/>
              </a:solidFill>
              <a:prstDash val="solid"/>
              <a:miter lim="800000"/>
              <a:headEnd type="none" w="sm" len="sm"/>
              <a:tailEnd type="triangle" w="med" len="med"/>
            </a:ln>
          </p:spPr>
        </p:cxnSp>
        <p:cxnSp>
          <p:nvCxnSpPr>
            <p:cNvPr id="395" name="Google Shape;395;p30"/>
            <p:cNvCxnSpPr/>
            <p:nvPr/>
          </p:nvCxnSpPr>
          <p:spPr>
            <a:xfrm>
              <a:off x="3648" y="2688"/>
              <a:ext cx="1008" cy="0"/>
            </a:xfrm>
            <a:prstGeom prst="straightConnector1">
              <a:avLst/>
            </a:prstGeom>
            <a:noFill/>
            <a:ln w="9525" cap="flat" cmpd="sng">
              <a:solidFill>
                <a:schemeClr val="dk1"/>
              </a:solidFill>
              <a:prstDash val="solid"/>
              <a:miter lim="800000"/>
              <a:headEnd type="none" w="sm" len="sm"/>
              <a:tailEnd type="triangle" w="med" len="med"/>
            </a:ln>
          </p:spPr>
        </p:cxnSp>
        <p:cxnSp>
          <p:nvCxnSpPr>
            <p:cNvPr id="396" name="Google Shape;396;p30"/>
            <p:cNvCxnSpPr/>
            <p:nvPr/>
          </p:nvCxnSpPr>
          <p:spPr>
            <a:xfrm flipH="1">
              <a:off x="3024" y="2688"/>
              <a:ext cx="624" cy="336"/>
            </a:xfrm>
            <a:prstGeom prst="straightConnector1">
              <a:avLst/>
            </a:prstGeom>
            <a:noFill/>
            <a:ln w="9525" cap="flat" cmpd="sng">
              <a:solidFill>
                <a:schemeClr val="dk1"/>
              </a:solidFill>
              <a:prstDash val="solid"/>
              <a:miter lim="800000"/>
              <a:headEnd type="none" w="sm" len="sm"/>
              <a:tailEnd type="triangle" w="med" len="med"/>
            </a:ln>
          </p:spPr>
        </p:cxnSp>
        <p:sp>
          <p:nvSpPr>
            <p:cNvPr id="397" name="Google Shape;397;p30"/>
            <p:cNvSpPr txBox="1"/>
            <p:nvPr/>
          </p:nvSpPr>
          <p:spPr>
            <a:xfrm>
              <a:off x="3117" y="2928"/>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x</a:t>
              </a:r>
              <a:endParaRPr sz="1400" b="0" i="0" u="none" strike="noStrike" cap="none">
                <a:solidFill>
                  <a:srgbClr val="000000"/>
                </a:solidFill>
                <a:latin typeface="Arial"/>
                <a:ea typeface="Arial"/>
                <a:cs typeface="Arial"/>
                <a:sym typeface="Arial"/>
              </a:endParaRPr>
            </a:p>
          </p:txBody>
        </p:sp>
        <p:sp>
          <p:nvSpPr>
            <p:cNvPr id="398" name="Google Shape;398;p30"/>
            <p:cNvSpPr txBox="1"/>
            <p:nvPr/>
          </p:nvSpPr>
          <p:spPr>
            <a:xfrm>
              <a:off x="4464" y="2688"/>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y</a:t>
              </a:r>
              <a:endParaRPr sz="1400" b="0" i="0" u="none" strike="noStrike" cap="none">
                <a:solidFill>
                  <a:srgbClr val="000000"/>
                </a:solidFill>
                <a:latin typeface="Arial"/>
                <a:ea typeface="Arial"/>
                <a:cs typeface="Arial"/>
                <a:sym typeface="Arial"/>
              </a:endParaRPr>
            </a:p>
          </p:txBody>
        </p:sp>
        <p:sp>
          <p:nvSpPr>
            <p:cNvPr id="399" name="Google Shape;399;p30"/>
            <p:cNvSpPr txBox="1"/>
            <p:nvPr/>
          </p:nvSpPr>
          <p:spPr>
            <a:xfrm>
              <a:off x="3648" y="1536"/>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w</a:t>
              </a:r>
              <a:endParaRPr sz="1400" b="0" i="0" u="none" strike="noStrike" cap="none">
                <a:solidFill>
                  <a:srgbClr val="000000"/>
                </a:solidFill>
                <a:latin typeface="Arial"/>
                <a:ea typeface="Arial"/>
                <a:cs typeface="Arial"/>
                <a:sym typeface="Arial"/>
              </a:endParaRPr>
            </a:p>
          </p:txBody>
        </p:sp>
        <p:sp>
          <p:nvSpPr>
            <p:cNvPr id="400" name="Google Shape;400;p30"/>
            <p:cNvSpPr/>
            <p:nvPr/>
          </p:nvSpPr>
          <p:spPr>
            <a:xfrm>
              <a:off x="3024" y="2208"/>
              <a:ext cx="1632" cy="336"/>
            </a:xfrm>
            <a:prstGeom prst="parallelogram">
              <a:avLst>
                <a:gd name="adj" fmla="val 8378"/>
              </a:avLst>
            </a:prstGeom>
            <a:gradFill>
              <a:gsLst>
                <a:gs pos="0">
                  <a:schemeClr val="accent1"/>
                </a:gs>
                <a:gs pos="100000">
                  <a:schemeClr val="lt1"/>
                </a:gs>
              </a:gsLst>
              <a:lin ang="27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401" name="Google Shape;401;p30"/>
            <p:cNvSpPr/>
            <p:nvPr/>
          </p:nvSpPr>
          <p:spPr>
            <a:xfrm>
              <a:off x="3984" y="2304"/>
              <a:ext cx="48" cy="48"/>
            </a:xfrm>
            <a:prstGeom prst="ellipse">
              <a:avLst/>
            </a:prstGeom>
            <a:solidFill>
              <a:srgbClr val="000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cxnSp>
          <p:nvCxnSpPr>
            <p:cNvPr id="402" name="Google Shape;402;p30"/>
            <p:cNvCxnSpPr/>
            <p:nvPr/>
          </p:nvCxnSpPr>
          <p:spPr>
            <a:xfrm rot="10800000" flipH="1">
              <a:off x="3648" y="1728"/>
              <a:ext cx="960" cy="960"/>
            </a:xfrm>
            <a:prstGeom prst="straightConnector1">
              <a:avLst/>
            </a:prstGeom>
            <a:noFill/>
            <a:ln w="9525" cap="flat" cmpd="sng">
              <a:solidFill>
                <a:schemeClr val="lt2"/>
              </a:solidFill>
              <a:prstDash val="solid"/>
              <a:miter lim="800000"/>
              <a:headEnd type="none" w="sm" len="sm"/>
              <a:tailEnd type="triangle" w="med" len="med"/>
            </a:ln>
          </p:spPr>
        </p:cxnSp>
        <p:cxnSp>
          <p:nvCxnSpPr>
            <p:cNvPr id="403" name="Google Shape;403;p30"/>
            <p:cNvCxnSpPr/>
            <p:nvPr/>
          </p:nvCxnSpPr>
          <p:spPr>
            <a:xfrm rot="10800000" flipH="1">
              <a:off x="3648" y="2544"/>
              <a:ext cx="144" cy="144"/>
            </a:xfrm>
            <a:prstGeom prst="straightConnector1">
              <a:avLst/>
            </a:prstGeom>
            <a:noFill/>
            <a:ln w="9525" cap="flat" cmpd="sng">
              <a:solidFill>
                <a:schemeClr val="dk1"/>
              </a:solidFill>
              <a:prstDash val="solid"/>
              <a:miter lim="800000"/>
              <a:headEnd type="none" w="sm" len="sm"/>
              <a:tailEnd type="none" w="sm" len="sm"/>
            </a:ln>
          </p:spPr>
        </p:cxnSp>
        <p:cxnSp>
          <p:nvCxnSpPr>
            <p:cNvPr id="404" name="Google Shape;404;p30"/>
            <p:cNvCxnSpPr/>
            <p:nvPr/>
          </p:nvCxnSpPr>
          <p:spPr>
            <a:xfrm rot="10800000" flipH="1">
              <a:off x="3984" y="1728"/>
              <a:ext cx="624" cy="624"/>
            </a:xfrm>
            <a:prstGeom prst="straightConnector1">
              <a:avLst/>
            </a:prstGeom>
            <a:noFill/>
            <a:ln w="9525" cap="flat" cmpd="sng">
              <a:solidFill>
                <a:schemeClr val="dk1"/>
              </a:solidFill>
              <a:prstDash val="solid"/>
              <a:miter lim="800000"/>
              <a:headEnd type="none" w="sm" len="sm"/>
              <a:tailEnd type="triangle" w="med" len="med"/>
            </a:ln>
          </p:spPr>
        </p:cxnSp>
        <p:sp>
          <p:nvSpPr>
            <p:cNvPr id="405" name="Google Shape;405;p30"/>
            <p:cNvSpPr/>
            <p:nvPr/>
          </p:nvSpPr>
          <p:spPr>
            <a:xfrm>
              <a:off x="4596" y="1692"/>
              <a:ext cx="48" cy="48"/>
            </a:xfrm>
            <a:prstGeom prst="ellipse">
              <a:avLst/>
            </a:prstGeom>
            <a:solidFill>
              <a:srgbClr val="000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406" name="Google Shape;406;p30"/>
            <p:cNvSpPr txBox="1"/>
            <p:nvPr/>
          </p:nvSpPr>
          <p:spPr>
            <a:xfrm>
              <a:off x="4646" y="1604"/>
              <a:ext cx="6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800"/>
                <a:buFont typeface="Tahoma"/>
                <a:buNone/>
              </a:pPr>
              <a:r>
                <a:rPr lang="en-US" sz="1800" b="0" i="0" u="none" strike="noStrike" cap="none">
                  <a:solidFill>
                    <a:srgbClr val="000066"/>
                  </a:solidFill>
                  <a:latin typeface="Tahoma"/>
                  <a:ea typeface="Tahoma"/>
                  <a:cs typeface="Tahoma"/>
                  <a:sym typeface="Tahoma"/>
                </a:rPr>
                <a:t>P</a:t>
              </a:r>
              <a:r>
                <a:rPr lang="en-US" sz="1800" b="0" i="0" u="none" strike="noStrike" cap="none" baseline="-25000">
                  <a:solidFill>
                    <a:srgbClr val="000066"/>
                  </a:solidFill>
                  <a:latin typeface="Tahoma"/>
                  <a:ea typeface="Tahoma"/>
                  <a:cs typeface="Tahoma"/>
                  <a:sym typeface="Tahoma"/>
                </a:rPr>
                <a:t>h</a:t>
              </a:r>
              <a:r>
                <a:rPr lang="en-US" sz="1800" b="0" i="0" u="none" strike="noStrike" cap="none">
                  <a:solidFill>
                    <a:srgbClr val="000066"/>
                  </a:solidFill>
                  <a:latin typeface="Tahoma"/>
                  <a:ea typeface="Tahoma"/>
                  <a:cs typeface="Tahoma"/>
                  <a:sym typeface="Tahoma"/>
                </a:rPr>
                <a:t>(x,y,w)</a:t>
              </a:r>
              <a:endParaRPr sz="1400" b="0" i="0" u="none" strike="noStrike" cap="none">
                <a:solidFill>
                  <a:srgbClr val="000000"/>
                </a:solidFill>
                <a:latin typeface="Arial"/>
                <a:ea typeface="Arial"/>
                <a:cs typeface="Arial"/>
                <a:sym typeface="Arial"/>
              </a:endParaRPr>
            </a:p>
          </p:txBody>
        </p:sp>
        <p:sp>
          <p:nvSpPr>
            <p:cNvPr id="407" name="Google Shape;407;p30"/>
            <p:cNvSpPr txBox="1"/>
            <p:nvPr/>
          </p:nvSpPr>
          <p:spPr>
            <a:xfrm>
              <a:off x="4272" y="2304"/>
              <a:ext cx="9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800"/>
                <a:buFont typeface="Tahoma"/>
                <a:buNone/>
              </a:pPr>
              <a:r>
                <a:rPr lang="en-US" sz="1800" b="0" i="0" u="none" strike="noStrike" cap="none">
                  <a:solidFill>
                    <a:srgbClr val="000066"/>
                  </a:solidFill>
                  <a:latin typeface="Tahoma"/>
                  <a:ea typeface="Tahoma"/>
                  <a:cs typeface="Tahoma"/>
                  <a:sym typeface="Tahoma"/>
                </a:rPr>
                <a:t>P</a:t>
              </a:r>
              <a:r>
                <a:rPr lang="en-US" sz="1800" b="0" i="0" u="none" strike="noStrike" cap="none" baseline="-25000">
                  <a:solidFill>
                    <a:srgbClr val="000066"/>
                  </a:solidFill>
                  <a:latin typeface="Tahoma"/>
                  <a:ea typeface="Tahoma"/>
                  <a:cs typeface="Tahoma"/>
                  <a:sym typeface="Tahoma"/>
                </a:rPr>
                <a:t>2d</a:t>
              </a:r>
              <a:r>
                <a:rPr lang="en-US" sz="1800" b="0" i="0" u="none" strike="noStrike" cap="none">
                  <a:solidFill>
                    <a:srgbClr val="000066"/>
                  </a:solidFill>
                  <a:latin typeface="Tahoma"/>
                  <a:ea typeface="Tahoma"/>
                  <a:cs typeface="Tahoma"/>
                  <a:sym typeface="Tahoma"/>
                </a:rPr>
                <a:t>(x,y,1)</a:t>
              </a:r>
              <a:endParaRPr sz="1400" b="0" i="0" u="none" strike="noStrike" cap="none">
                <a:solidFill>
                  <a:srgbClr val="000000"/>
                </a:solidFill>
                <a:latin typeface="Arial"/>
                <a:ea typeface="Arial"/>
                <a:cs typeface="Arial"/>
                <a:sym typeface="Arial"/>
              </a:endParaRPr>
            </a:p>
          </p:txBody>
        </p:sp>
        <p:sp>
          <p:nvSpPr>
            <p:cNvPr id="408" name="Google Shape;408;p30"/>
            <p:cNvSpPr txBox="1"/>
            <p:nvPr/>
          </p:nvSpPr>
          <p:spPr>
            <a:xfrm>
              <a:off x="3264" y="2016"/>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800"/>
                <a:buFont typeface="Tahoma"/>
                <a:buNone/>
              </a:pPr>
              <a:r>
                <a:rPr lang="en-US" sz="1800" b="0" i="0" u="none" strike="noStrike" cap="none">
                  <a:solidFill>
                    <a:srgbClr val="000066"/>
                  </a:solidFill>
                  <a:latin typeface="Tahoma"/>
                  <a:ea typeface="Tahoma"/>
                  <a:cs typeface="Tahoma"/>
                  <a:sym typeface="Tahoma"/>
                </a:rPr>
                <a:t>w=1</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1"/>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Homogeneous Visualization</a:t>
            </a:r>
            <a:endParaRPr/>
          </a:p>
        </p:txBody>
      </p:sp>
      <p:pic>
        <p:nvPicPr>
          <p:cNvPr id="415" name="Google Shape;415;p31"/>
          <p:cNvPicPr preferRelativeResize="0"/>
          <p:nvPr/>
        </p:nvPicPr>
        <p:blipFill rotWithShape="1">
          <a:blip r:embed="rId3">
            <a:alphaModFix/>
          </a:blip>
          <a:srcRect l="2499" t="17968" b="9375"/>
          <a:stretch/>
        </p:blipFill>
        <p:spPr>
          <a:xfrm>
            <a:off x="914400" y="1390650"/>
            <a:ext cx="7543802" cy="337304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2"/>
          <p:cNvSpPr txBox="1">
            <a:spLocks noGrp="1"/>
          </p:cNvSpPr>
          <p:nvPr>
            <p:ph type="ctrTitle"/>
          </p:nvPr>
        </p:nvSpPr>
        <p:spPr>
          <a:xfrm>
            <a:off x="1143000" y="841772"/>
            <a:ext cx="6858000" cy="17907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Mechanics of Rigid Transformations</a:t>
            </a:r>
            <a:endParaRPr/>
          </a:p>
        </p:txBody>
      </p:sp>
      <p:sp>
        <p:nvSpPr>
          <p:cNvPr id="421" name="Google Shape;421;p32"/>
          <p:cNvSpPr txBox="1">
            <a:spLocks noGrp="1"/>
          </p:cNvSpPr>
          <p:nvPr>
            <p:ph type="subTitle" idx="1"/>
          </p:nvPr>
        </p:nvSpPr>
        <p:spPr>
          <a:xfrm>
            <a:off x="1143000" y="2701529"/>
            <a:ext cx="6858000" cy="1241700"/>
          </a:xfrm>
          <a:prstGeom prst="rect">
            <a:avLst/>
          </a:prstGeom>
          <a:noFill/>
          <a:ln>
            <a:noFill/>
          </a:ln>
        </p:spPr>
        <p:txBody>
          <a:bodyPr spcFirstLastPara="1" wrap="square" lIns="92075" tIns="46025" rIns="92075" bIns="46025" anchor="t" anchorCtr="0">
            <a:noAutofit/>
          </a:bodyPr>
          <a:lstStyle/>
          <a:p>
            <a:pPr marL="0" lvl="0" indent="0" algn="l" rtl="0">
              <a:lnSpc>
                <a:spcPct val="100000"/>
              </a:lnSpc>
              <a:spcBef>
                <a:spcPts val="0"/>
              </a:spcBef>
              <a:spcAft>
                <a:spcPts val="0"/>
              </a:spcAft>
              <a:buSzPts val="3040"/>
              <a:buNone/>
            </a:pPr>
            <a:r>
              <a:rPr lang="en-US" sz="3200" b="0" i="0" u="none">
                <a:solidFill>
                  <a:schemeClr val="dk1"/>
                </a:solidFill>
                <a:latin typeface="Times New Roman"/>
                <a:ea typeface="Times New Roman"/>
                <a:cs typeface="Times New Roman"/>
                <a:sym typeface="Times New Roman"/>
              </a:rPr>
              <a:t>Translate</a:t>
            </a:r>
            <a:endParaRPr/>
          </a:p>
          <a:p>
            <a:pPr marL="0" lvl="0" indent="0" algn="l" rtl="0">
              <a:lnSpc>
                <a:spcPct val="100000"/>
              </a:lnSpc>
              <a:spcBef>
                <a:spcPts val="640"/>
              </a:spcBef>
              <a:spcAft>
                <a:spcPts val="0"/>
              </a:spcAft>
              <a:buSzPts val="3040"/>
              <a:buNone/>
            </a:pPr>
            <a:r>
              <a:rPr lang="en-US" sz="3200" b="0" i="0" u="none">
                <a:solidFill>
                  <a:schemeClr val="dk1"/>
                </a:solidFill>
                <a:latin typeface="Times New Roman"/>
                <a:ea typeface="Times New Roman"/>
                <a:cs typeface="Times New Roman"/>
                <a:sym typeface="Times New Roman"/>
              </a:rPr>
              <a:t>Rotate</a:t>
            </a:r>
            <a:endParaRPr/>
          </a:p>
          <a:p>
            <a:pPr marL="0" lvl="0" indent="0" algn="l" rtl="0">
              <a:lnSpc>
                <a:spcPct val="100000"/>
              </a:lnSpc>
              <a:spcBef>
                <a:spcPts val="640"/>
              </a:spcBef>
              <a:spcAft>
                <a:spcPts val="0"/>
              </a:spcAft>
              <a:buSzPts val="3040"/>
              <a:buNone/>
            </a:pPr>
            <a:r>
              <a:rPr lang="en-US" sz="3200" b="0" i="0" u="none">
                <a:solidFill>
                  <a:schemeClr val="dk1"/>
                </a:solidFill>
                <a:latin typeface="Times New Roman"/>
                <a:ea typeface="Times New Roman"/>
                <a:cs typeface="Times New Roman"/>
                <a:sym typeface="Times New Roman"/>
              </a:rPr>
              <a:t>Scale</a:t>
            </a:r>
            <a:endParaRPr/>
          </a:p>
        </p:txBody>
      </p:sp>
      <p:sp>
        <p:nvSpPr>
          <p:cNvPr id="422" name="Google Shape;422;p32"/>
          <p:cNvSpPr txBox="1"/>
          <p:nvPr/>
        </p:nvSpPr>
        <p:spPr>
          <a:xfrm>
            <a:off x="7391400" y="4762500"/>
            <a:ext cx="1724100" cy="342900"/>
          </a:xfrm>
          <a:prstGeom prst="rect">
            <a:avLst/>
          </a:prstGeom>
          <a:noFill/>
          <a:ln>
            <a:noFill/>
          </a:ln>
        </p:spPr>
        <p:txBody>
          <a:bodyPr spcFirstLastPara="1" wrap="square" lIns="92075" tIns="46025" rIns="92075" bIns="46025" anchor="b"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19</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3"/>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20</a:t>
            </a:fld>
            <a:endParaRPr sz="1400" b="0" i="0" u="none" strike="noStrike" cap="none">
              <a:solidFill>
                <a:srgbClr val="000000"/>
              </a:solidFill>
              <a:latin typeface="Arial"/>
              <a:ea typeface="Arial"/>
              <a:cs typeface="Arial"/>
              <a:sym typeface="Arial"/>
            </a:endParaRPr>
          </a:p>
        </p:txBody>
      </p:sp>
      <p:sp>
        <p:nvSpPr>
          <p:cNvPr id="429" name="Google Shape;429;p33"/>
          <p:cNvSpPr txBox="1">
            <a:spLocks noGrp="1"/>
          </p:cNvSpPr>
          <p:nvPr>
            <p:ph type="title"/>
          </p:nvPr>
        </p:nvSpPr>
        <p:spPr>
          <a:xfrm>
            <a:off x="1528762" y="285750"/>
            <a:ext cx="7564500" cy="6288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Translation – 2D</a:t>
            </a:r>
            <a:endParaRPr/>
          </a:p>
        </p:txBody>
      </p:sp>
      <p:pic>
        <p:nvPicPr>
          <p:cNvPr id="430" name="Google Shape;430;p33"/>
          <p:cNvPicPr preferRelativeResize="0"/>
          <p:nvPr/>
        </p:nvPicPr>
        <p:blipFill rotWithShape="1">
          <a:blip r:embed="rId3">
            <a:alphaModFix/>
          </a:blip>
          <a:srcRect/>
          <a:stretch/>
        </p:blipFill>
        <p:spPr>
          <a:xfrm>
            <a:off x="2355850" y="1026319"/>
            <a:ext cx="2181224" cy="1921669"/>
          </a:xfrm>
          <a:prstGeom prst="rect">
            <a:avLst/>
          </a:prstGeom>
          <a:noFill/>
          <a:ln>
            <a:noFill/>
          </a:ln>
        </p:spPr>
      </p:pic>
      <p:pic>
        <p:nvPicPr>
          <p:cNvPr id="431" name="Google Shape;431;p33"/>
          <p:cNvPicPr preferRelativeResize="0"/>
          <p:nvPr/>
        </p:nvPicPr>
        <p:blipFill rotWithShape="1">
          <a:blip r:embed="rId4">
            <a:alphaModFix/>
          </a:blip>
          <a:srcRect/>
          <a:stretch/>
        </p:blipFill>
        <p:spPr>
          <a:xfrm>
            <a:off x="3124200" y="3049190"/>
            <a:ext cx="4114800" cy="2094309"/>
          </a:xfrm>
          <a:prstGeom prst="rect">
            <a:avLst/>
          </a:prstGeom>
          <a:noFill/>
          <a:ln>
            <a:noFill/>
          </a:ln>
        </p:spPr>
      </p:pic>
      <p:grpSp>
        <p:nvGrpSpPr>
          <p:cNvPr id="432" name="Google Shape;432;p33"/>
          <p:cNvGrpSpPr/>
          <p:nvPr/>
        </p:nvGrpSpPr>
        <p:grpSpPr>
          <a:xfrm>
            <a:off x="1447800" y="1028700"/>
            <a:ext cx="7270750" cy="2828925"/>
            <a:chOff x="912" y="864"/>
            <a:chExt cx="4580" cy="2376"/>
          </a:xfrm>
        </p:grpSpPr>
        <p:sp>
          <p:nvSpPr>
            <p:cNvPr id="433" name="Google Shape;433;p33"/>
            <p:cNvSpPr txBox="1"/>
            <p:nvPr/>
          </p:nvSpPr>
          <p:spPr>
            <a:xfrm>
              <a:off x="912" y="2640"/>
              <a:ext cx="900" cy="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0" i="0" u="none" strike="noStrike" cap="none">
                  <a:solidFill>
                    <a:schemeClr val="dk1"/>
                  </a:solidFill>
                  <a:latin typeface="Tahoma"/>
                  <a:ea typeface="Tahoma"/>
                  <a:cs typeface="Tahoma"/>
                  <a:sym typeface="Tahoma"/>
                </a:rPr>
                <a:t>x’ = x + d</a:t>
              </a:r>
              <a:r>
                <a:rPr lang="en-US" sz="1800" b="0" i="0" u="none" strike="noStrike" cap="none" baseline="-25000">
                  <a:solidFill>
                    <a:schemeClr val="dk1"/>
                  </a:solidFill>
                  <a:latin typeface="Tahoma"/>
                  <a:ea typeface="Tahoma"/>
                  <a:cs typeface="Tahoma"/>
                  <a:sym typeface="Tahoma"/>
                </a:rPr>
                <a:t>x</a:t>
              </a:r>
              <a:r>
                <a:rPr lang="en-US" sz="1800" b="0" i="0" u="none" strike="noStrike" cap="none">
                  <a:solidFill>
                    <a:schemeClr val="dk1"/>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Tahoma"/>
                <a:buNone/>
              </a:pPr>
              <a:r>
                <a:rPr lang="en-US" sz="1800" b="0" i="0" u="none" strike="noStrike" cap="none">
                  <a:solidFill>
                    <a:schemeClr val="dk1"/>
                  </a:solidFill>
                  <a:latin typeface="Tahoma"/>
                  <a:ea typeface="Tahoma"/>
                  <a:cs typeface="Tahoma"/>
                  <a:sym typeface="Tahoma"/>
                </a:rPr>
                <a:t>y’ = y + d</a:t>
              </a:r>
              <a:r>
                <a:rPr lang="en-US" sz="1800" b="0" i="0" u="none" strike="noStrike" cap="none" baseline="-25000">
                  <a:solidFill>
                    <a:schemeClr val="dk1"/>
                  </a:solidFill>
                  <a:latin typeface="Tahoma"/>
                  <a:ea typeface="Tahoma"/>
                  <a:cs typeface="Tahoma"/>
                  <a:sym typeface="Tahoma"/>
                </a:rPr>
                <a:t>y</a:t>
              </a:r>
              <a:endParaRPr sz="1400" b="0" i="0" u="none" strike="noStrike" cap="none">
                <a:solidFill>
                  <a:srgbClr val="000000"/>
                </a:solidFill>
                <a:latin typeface="Arial"/>
                <a:ea typeface="Arial"/>
                <a:cs typeface="Arial"/>
                <a:sym typeface="Arial"/>
              </a:endParaRPr>
            </a:p>
          </p:txBody>
        </p:sp>
        <p:pic>
          <p:nvPicPr>
            <p:cNvPr id="434" name="Google Shape;434;p33"/>
            <p:cNvPicPr preferRelativeResize="0"/>
            <p:nvPr/>
          </p:nvPicPr>
          <p:blipFill rotWithShape="1">
            <a:blip r:embed="rId5">
              <a:alphaModFix/>
            </a:blip>
            <a:srcRect/>
            <a:stretch/>
          </p:blipFill>
          <p:spPr>
            <a:xfrm>
              <a:off x="3408" y="864"/>
              <a:ext cx="2084" cy="1604"/>
            </a:xfrm>
            <a:prstGeom prst="rect">
              <a:avLst/>
            </a:prstGeom>
            <a:noFill/>
            <a:ln>
              <a:noFill/>
            </a:ln>
          </p:spPr>
        </p:pic>
      </p:grpSp>
      <p:pic>
        <p:nvPicPr>
          <p:cNvPr id="435" name="Google Shape;435;p33"/>
          <p:cNvPicPr preferRelativeResize="0"/>
          <p:nvPr/>
        </p:nvPicPr>
        <p:blipFill rotWithShape="1">
          <a:blip r:embed="rId5">
            <a:alphaModFix/>
          </a:blip>
          <a:srcRect/>
          <a:stretch/>
        </p:blipFill>
        <p:spPr>
          <a:xfrm>
            <a:off x="0" y="0"/>
            <a:ext cx="0" cy="0"/>
          </a:xfrm>
          <a:prstGeom prst="rect">
            <a:avLst/>
          </a:prstGeom>
          <a:noFill/>
          <a:ln>
            <a:noFill/>
          </a:ln>
        </p:spPr>
      </p:pic>
      <p:pic>
        <p:nvPicPr>
          <p:cNvPr id="436" name="Google Shape;436;p33"/>
          <p:cNvPicPr preferRelativeResize="0"/>
          <p:nvPr/>
        </p:nvPicPr>
        <p:blipFill rotWithShape="1">
          <a:blip r:embed="rId5">
            <a:alphaModFix/>
          </a:blip>
          <a:srcRect/>
          <a:stretch/>
        </p:blipFill>
        <p:spPr>
          <a:xfrm>
            <a:off x="0" y="0"/>
            <a:ext cx="0" cy="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34"/>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21</a:t>
            </a:fld>
            <a:endParaRPr sz="1400" b="0" i="0" u="none" strike="noStrike" cap="none">
              <a:solidFill>
                <a:srgbClr val="000000"/>
              </a:solidFill>
              <a:latin typeface="Arial"/>
              <a:ea typeface="Arial"/>
              <a:cs typeface="Arial"/>
              <a:sym typeface="Arial"/>
            </a:endParaRPr>
          </a:p>
        </p:txBody>
      </p:sp>
      <p:sp>
        <p:nvSpPr>
          <p:cNvPr id="442" name="Google Shape;442;p34"/>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Translation – 3D</a:t>
            </a:r>
            <a:endParaRPr/>
          </a:p>
        </p:txBody>
      </p:sp>
      <p:pic>
        <p:nvPicPr>
          <p:cNvPr id="443" name="Google Shape;443;p34"/>
          <p:cNvPicPr preferRelativeResize="0"/>
          <p:nvPr/>
        </p:nvPicPr>
        <p:blipFill rotWithShape="1">
          <a:blip r:embed="rId3">
            <a:alphaModFix/>
          </a:blip>
          <a:srcRect/>
          <a:stretch/>
        </p:blipFill>
        <p:spPr>
          <a:xfrm>
            <a:off x="4495800" y="2743200"/>
            <a:ext cx="2952751" cy="2134790"/>
          </a:xfrm>
          <a:prstGeom prst="rect">
            <a:avLst/>
          </a:prstGeom>
          <a:noFill/>
          <a:ln>
            <a:noFill/>
          </a:ln>
        </p:spPr>
      </p:pic>
      <p:pic>
        <p:nvPicPr>
          <p:cNvPr id="444" name="Google Shape;444;p34" descr="D:\USERS\STEVE\4ba6\teapot normal axes.png"/>
          <p:cNvPicPr preferRelativeResize="0"/>
          <p:nvPr/>
        </p:nvPicPr>
        <p:blipFill rotWithShape="1">
          <a:blip r:embed="rId4">
            <a:alphaModFix/>
          </a:blip>
          <a:srcRect/>
          <a:stretch/>
        </p:blipFill>
        <p:spPr>
          <a:xfrm>
            <a:off x="1295400" y="1028700"/>
            <a:ext cx="2813050" cy="1714500"/>
          </a:xfrm>
          <a:prstGeom prst="rect">
            <a:avLst/>
          </a:prstGeom>
          <a:noFill/>
          <a:ln>
            <a:noFill/>
          </a:ln>
        </p:spPr>
      </p:pic>
      <p:pic>
        <p:nvPicPr>
          <p:cNvPr id="445" name="Google Shape;445;p34" descr="D:\USERS\STEVE\4ba6\teapot off axes.png"/>
          <p:cNvPicPr preferRelativeResize="0"/>
          <p:nvPr/>
        </p:nvPicPr>
        <p:blipFill rotWithShape="1">
          <a:blip r:embed="rId5">
            <a:alphaModFix/>
          </a:blip>
          <a:srcRect/>
          <a:stretch/>
        </p:blipFill>
        <p:spPr>
          <a:xfrm>
            <a:off x="1295400" y="3257550"/>
            <a:ext cx="2814637" cy="1714500"/>
          </a:xfrm>
          <a:prstGeom prst="rect">
            <a:avLst/>
          </a:prstGeom>
          <a:noFill/>
          <a:ln>
            <a:noFill/>
          </a:ln>
        </p:spPr>
      </p:pic>
      <p:pic>
        <p:nvPicPr>
          <p:cNvPr id="446" name="Google Shape;446;p34"/>
          <p:cNvPicPr preferRelativeResize="0"/>
          <p:nvPr/>
        </p:nvPicPr>
        <p:blipFill rotWithShape="1">
          <a:blip r:embed="rId6">
            <a:alphaModFix/>
          </a:blip>
          <a:srcRect/>
          <a:stretch/>
        </p:blipFill>
        <p:spPr>
          <a:xfrm>
            <a:off x="5486400" y="1085850"/>
            <a:ext cx="1047751" cy="1048940"/>
          </a:xfrm>
          <a:prstGeom prst="rect">
            <a:avLst/>
          </a:prstGeom>
          <a:noFill/>
          <a:ln>
            <a:noFill/>
          </a:ln>
        </p:spPr>
      </p:pic>
      <p:sp>
        <p:nvSpPr>
          <p:cNvPr id="447" name="Google Shape;447;p34"/>
          <p:cNvSpPr/>
          <p:nvPr/>
        </p:nvSpPr>
        <p:spPr>
          <a:xfrm>
            <a:off x="5791200" y="2286000"/>
            <a:ext cx="609600" cy="342900"/>
          </a:xfrm>
          <a:prstGeom prst="downArrow">
            <a:avLst>
              <a:gd name="adj1" fmla="val 50000"/>
              <a:gd name="adj2" fmla="val 50000"/>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448" name="Google Shape;448;p34"/>
          <p:cNvSpPr/>
          <p:nvPr/>
        </p:nvSpPr>
        <p:spPr>
          <a:xfrm>
            <a:off x="2438400" y="2800350"/>
            <a:ext cx="609600" cy="342900"/>
          </a:xfrm>
          <a:prstGeom prst="downArrow">
            <a:avLst>
              <a:gd name="adj1" fmla="val 50000"/>
              <a:gd name="adj2" fmla="val 50000"/>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35"/>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22</a:t>
            </a:fld>
            <a:endParaRPr sz="1400" b="0" i="0" u="none" strike="noStrike" cap="none">
              <a:solidFill>
                <a:srgbClr val="000000"/>
              </a:solidFill>
              <a:latin typeface="Arial"/>
              <a:ea typeface="Arial"/>
              <a:cs typeface="Arial"/>
              <a:sym typeface="Arial"/>
            </a:endParaRPr>
          </a:p>
        </p:txBody>
      </p:sp>
      <p:sp>
        <p:nvSpPr>
          <p:cNvPr id="454" name="Google Shape;454;p35"/>
          <p:cNvSpPr txBox="1">
            <a:spLocks noGrp="1"/>
          </p:cNvSpPr>
          <p:nvPr>
            <p:ph type="title"/>
          </p:nvPr>
        </p:nvSpPr>
        <p:spPr>
          <a:xfrm>
            <a:off x="1528762" y="57150"/>
            <a:ext cx="6700800" cy="8574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Scaling – 2D</a:t>
            </a:r>
            <a:endParaRPr/>
          </a:p>
        </p:txBody>
      </p:sp>
      <p:pic>
        <p:nvPicPr>
          <p:cNvPr id="455" name="Google Shape;455;p35"/>
          <p:cNvPicPr preferRelativeResize="0"/>
          <p:nvPr/>
        </p:nvPicPr>
        <p:blipFill rotWithShape="1">
          <a:blip r:embed="rId3">
            <a:alphaModFix/>
          </a:blip>
          <a:srcRect/>
          <a:stretch/>
        </p:blipFill>
        <p:spPr>
          <a:xfrm>
            <a:off x="1524000" y="1218009"/>
            <a:ext cx="3371848" cy="1468040"/>
          </a:xfrm>
          <a:prstGeom prst="rect">
            <a:avLst/>
          </a:prstGeom>
          <a:noFill/>
          <a:ln>
            <a:noFill/>
          </a:ln>
        </p:spPr>
      </p:pic>
      <p:pic>
        <p:nvPicPr>
          <p:cNvPr id="456" name="Google Shape;456;p35"/>
          <p:cNvPicPr preferRelativeResize="0"/>
          <p:nvPr/>
        </p:nvPicPr>
        <p:blipFill rotWithShape="1">
          <a:blip r:embed="rId4">
            <a:alphaModFix/>
          </a:blip>
          <a:srcRect/>
          <a:stretch/>
        </p:blipFill>
        <p:spPr>
          <a:xfrm>
            <a:off x="1628775" y="2800350"/>
            <a:ext cx="2230039" cy="2152650"/>
          </a:xfrm>
          <a:prstGeom prst="rect">
            <a:avLst/>
          </a:prstGeom>
          <a:noFill/>
          <a:ln>
            <a:noFill/>
          </a:ln>
        </p:spPr>
      </p:pic>
      <p:sp>
        <p:nvSpPr>
          <p:cNvPr id="457" name="Google Shape;457;p35"/>
          <p:cNvSpPr txBox="1"/>
          <p:nvPr/>
        </p:nvSpPr>
        <p:spPr>
          <a:xfrm>
            <a:off x="6051550" y="1245394"/>
            <a:ext cx="2863800" cy="163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2000" b="0" i="0" u="none" strike="noStrike" cap="none">
                <a:solidFill>
                  <a:schemeClr val="dk1"/>
                </a:solidFill>
                <a:latin typeface="Tahoma"/>
                <a:ea typeface="Tahoma"/>
                <a:cs typeface="Tahoma"/>
                <a:sym typeface="Tahoma"/>
              </a:rPr>
              <a:t>Types of Scaling: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Times New Roman"/>
              <a:buNone/>
            </a:pPr>
            <a:endParaRPr sz="20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Tahoma"/>
                <a:ea typeface="Tahoma"/>
                <a:cs typeface="Tahoma"/>
                <a:sym typeface="Tahoma"/>
              </a:rPr>
              <a:t>Differential ( s</a:t>
            </a:r>
            <a:r>
              <a:rPr lang="en-US" sz="2000" b="0" i="0" u="none" strike="noStrike" cap="none" baseline="-25000">
                <a:solidFill>
                  <a:schemeClr val="dk1"/>
                </a:solidFill>
                <a:latin typeface="Tahoma"/>
                <a:ea typeface="Tahoma"/>
                <a:cs typeface="Tahoma"/>
                <a:sym typeface="Tahoma"/>
              </a:rPr>
              <a:t>x</a:t>
            </a:r>
            <a:r>
              <a:rPr lang="en-US" sz="2000" b="0" i="0" u="none" strike="noStrike" cap="none">
                <a:solidFill>
                  <a:schemeClr val="dk1"/>
                </a:solidFill>
                <a:latin typeface="Tahoma"/>
                <a:ea typeface="Tahoma"/>
                <a:cs typeface="Tahoma"/>
                <a:sym typeface="Tahoma"/>
              </a:rPr>
              <a:t> != s</a:t>
            </a:r>
            <a:r>
              <a:rPr lang="en-US" sz="2000" b="0" i="0" u="none" strike="noStrike" cap="none" baseline="-25000">
                <a:solidFill>
                  <a:schemeClr val="dk1"/>
                </a:solidFill>
                <a:latin typeface="Tahoma"/>
                <a:ea typeface="Tahoma"/>
                <a:cs typeface="Tahoma"/>
                <a:sym typeface="Tahoma"/>
              </a:rPr>
              <a:t>y</a:t>
            </a:r>
            <a:r>
              <a:rPr lang="en-US" sz="2000" b="0" i="0" u="none" strike="noStrike" cap="none">
                <a:solidFill>
                  <a:schemeClr val="dk1"/>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Noto Sans Symbols"/>
              <a:buChar char="⮚"/>
            </a:pPr>
            <a:r>
              <a:rPr lang="en-US" sz="2000" b="0" i="0" u="none" strike="noStrike" cap="none">
                <a:solidFill>
                  <a:schemeClr val="dk1"/>
                </a:solidFill>
                <a:latin typeface="Tahoma"/>
                <a:ea typeface="Tahoma"/>
                <a:cs typeface="Tahoma"/>
                <a:sym typeface="Tahoma"/>
              </a:rPr>
              <a:t>Uniform ( s</a:t>
            </a:r>
            <a:r>
              <a:rPr lang="en-US" sz="2000" b="0" i="0" u="none" strike="noStrike" cap="none" baseline="-25000">
                <a:solidFill>
                  <a:schemeClr val="dk1"/>
                </a:solidFill>
                <a:latin typeface="Tahoma"/>
                <a:ea typeface="Tahoma"/>
                <a:cs typeface="Tahoma"/>
                <a:sym typeface="Tahoma"/>
              </a:rPr>
              <a:t>x</a:t>
            </a:r>
            <a:r>
              <a:rPr lang="en-US" sz="2000" b="0" i="0" u="none" strike="noStrike" cap="none">
                <a:solidFill>
                  <a:schemeClr val="dk1"/>
                </a:solidFill>
                <a:latin typeface="Tahoma"/>
                <a:ea typeface="Tahoma"/>
                <a:cs typeface="Tahoma"/>
                <a:sym typeface="Tahoma"/>
              </a:rPr>
              <a:t> = s</a:t>
            </a:r>
            <a:r>
              <a:rPr lang="en-US" sz="2000" b="0" i="0" u="none" strike="noStrike" cap="none" baseline="-25000">
                <a:solidFill>
                  <a:schemeClr val="dk1"/>
                </a:solidFill>
                <a:latin typeface="Tahoma"/>
                <a:ea typeface="Tahoma"/>
                <a:cs typeface="Tahoma"/>
                <a:sym typeface="Tahoma"/>
              </a:rPr>
              <a:t>y</a:t>
            </a:r>
            <a:r>
              <a:rPr lang="en-US" sz="2000" b="0" i="0" u="none" strike="noStrike" cap="none">
                <a:solidFill>
                  <a:schemeClr val="dk1"/>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ahoma"/>
              <a:ea typeface="Tahoma"/>
              <a:cs typeface="Tahoma"/>
              <a:sym typeface="Tahoma"/>
            </a:endParaRPr>
          </a:p>
        </p:txBody>
      </p:sp>
      <p:grpSp>
        <p:nvGrpSpPr>
          <p:cNvPr id="458" name="Google Shape;458;p35"/>
          <p:cNvGrpSpPr/>
          <p:nvPr/>
        </p:nvGrpSpPr>
        <p:grpSpPr>
          <a:xfrm>
            <a:off x="4495800" y="3506390"/>
            <a:ext cx="4100512" cy="1438275"/>
            <a:chOff x="3024" y="2945"/>
            <a:chExt cx="2583" cy="1208"/>
          </a:xfrm>
        </p:grpSpPr>
        <p:pic>
          <p:nvPicPr>
            <p:cNvPr id="459" name="Google Shape;459;p35"/>
            <p:cNvPicPr preferRelativeResize="0"/>
            <p:nvPr/>
          </p:nvPicPr>
          <p:blipFill rotWithShape="1">
            <a:blip r:embed="rId5">
              <a:alphaModFix/>
            </a:blip>
            <a:srcRect/>
            <a:stretch/>
          </p:blipFill>
          <p:spPr>
            <a:xfrm>
              <a:off x="3593" y="2945"/>
              <a:ext cx="2014" cy="1208"/>
            </a:xfrm>
            <a:prstGeom prst="rect">
              <a:avLst/>
            </a:prstGeom>
            <a:noFill/>
            <a:ln>
              <a:noFill/>
            </a:ln>
          </p:spPr>
        </p:pic>
        <p:sp>
          <p:nvSpPr>
            <p:cNvPr id="460" name="Google Shape;460;p35"/>
            <p:cNvSpPr/>
            <p:nvPr/>
          </p:nvSpPr>
          <p:spPr>
            <a:xfrm>
              <a:off x="3024" y="3648"/>
              <a:ext cx="384" cy="336"/>
            </a:xfrm>
            <a:prstGeom prst="rightArrow">
              <a:avLst>
                <a:gd name="adj1" fmla="val 50000"/>
                <a:gd name="adj2" fmla="val 50000"/>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57"/>
                                        </p:tgtEl>
                                        <p:attrNameLst>
                                          <p:attrName>style.visibility</p:attrName>
                                        </p:attrNameLst>
                                      </p:cBhvr>
                                      <p:to>
                                        <p:strVal val="visible"/>
                                      </p:to>
                                    </p:set>
                                    <p:anim calcmode="lin" valueType="num">
                                      <p:cBhvr additive="base">
                                        <p:cTn id="7" dur="500"/>
                                        <p:tgtEl>
                                          <p:spTgt spid="457"/>
                                        </p:tgtEl>
                                        <p:attrNameLst>
                                          <p:attrName>ppt_w</p:attrName>
                                        </p:attrNameLst>
                                      </p:cBhvr>
                                      <p:tavLst>
                                        <p:tav tm="0">
                                          <p:val>
                                            <p:strVal val="0"/>
                                          </p:val>
                                        </p:tav>
                                        <p:tav tm="100000">
                                          <p:val>
                                            <p:strVal val="#ppt_w"/>
                                          </p:val>
                                        </p:tav>
                                      </p:tavLst>
                                    </p:anim>
                                    <p:anim calcmode="lin" valueType="num">
                                      <p:cBhvr additive="base">
                                        <p:cTn id="8" dur="500"/>
                                        <p:tgtEl>
                                          <p:spTgt spid="45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6"/>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23</a:t>
            </a:fld>
            <a:endParaRPr sz="1400" b="0" i="0" u="none" strike="noStrike" cap="none">
              <a:solidFill>
                <a:srgbClr val="000000"/>
              </a:solidFill>
              <a:latin typeface="Arial"/>
              <a:ea typeface="Arial"/>
              <a:cs typeface="Arial"/>
              <a:sym typeface="Arial"/>
            </a:endParaRPr>
          </a:p>
        </p:txBody>
      </p:sp>
      <p:sp>
        <p:nvSpPr>
          <p:cNvPr id="466" name="Google Shape;466;p36"/>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Scaling – 3D</a:t>
            </a:r>
            <a:endParaRPr/>
          </a:p>
        </p:txBody>
      </p:sp>
      <p:pic>
        <p:nvPicPr>
          <p:cNvPr id="467" name="Google Shape;467;p36"/>
          <p:cNvPicPr preferRelativeResize="0"/>
          <p:nvPr/>
        </p:nvPicPr>
        <p:blipFill rotWithShape="1">
          <a:blip r:embed="rId3">
            <a:alphaModFix/>
          </a:blip>
          <a:srcRect/>
          <a:stretch/>
        </p:blipFill>
        <p:spPr>
          <a:xfrm>
            <a:off x="4792662" y="2828925"/>
            <a:ext cx="3263502" cy="2314576"/>
          </a:xfrm>
          <a:prstGeom prst="rect">
            <a:avLst/>
          </a:prstGeom>
          <a:noFill/>
          <a:ln>
            <a:noFill/>
          </a:ln>
        </p:spPr>
      </p:pic>
      <p:sp>
        <p:nvSpPr>
          <p:cNvPr id="468" name="Google Shape;468;p36"/>
          <p:cNvSpPr/>
          <p:nvPr/>
        </p:nvSpPr>
        <p:spPr>
          <a:xfrm flipH="1">
            <a:off x="7924800" y="2343150"/>
            <a:ext cx="533400" cy="342900"/>
          </a:xfrm>
          <a:prstGeom prst="downArrow">
            <a:avLst>
              <a:gd name="adj1" fmla="val 50000"/>
              <a:gd name="adj2" fmla="val 50000"/>
            </a:avLst>
          </a:prstGeom>
          <a:gradFill>
            <a:gsLst>
              <a:gs pos="0">
                <a:schemeClr val="lt1"/>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nvGrpSpPr>
          <p:cNvPr id="469" name="Google Shape;469;p36"/>
          <p:cNvGrpSpPr/>
          <p:nvPr/>
        </p:nvGrpSpPr>
        <p:grpSpPr>
          <a:xfrm>
            <a:off x="1447800" y="1028700"/>
            <a:ext cx="2813050" cy="1714500"/>
            <a:chOff x="528" y="864"/>
            <a:chExt cx="1772" cy="1440"/>
          </a:xfrm>
        </p:grpSpPr>
        <p:pic>
          <p:nvPicPr>
            <p:cNvPr id="470" name="Google Shape;470;p36" descr="D:\USERS\STEVE\4ba6\teapot normal axes.png"/>
            <p:cNvPicPr preferRelativeResize="0"/>
            <p:nvPr/>
          </p:nvPicPr>
          <p:blipFill rotWithShape="1">
            <a:blip r:embed="rId4">
              <a:alphaModFix/>
            </a:blip>
            <a:srcRect/>
            <a:stretch/>
          </p:blipFill>
          <p:spPr>
            <a:xfrm>
              <a:off x="528" y="864"/>
              <a:ext cx="1772" cy="1440"/>
            </a:xfrm>
            <a:prstGeom prst="rect">
              <a:avLst/>
            </a:prstGeom>
            <a:noFill/>
            <a:ln>
              <a:noFill/>
            </a:ln>
          </p:spPr>
        </p:pic>
        <p:sp>
          <p:nvSpPr>
            <p:cNvPr id="471" name="Google Shape;471;p36"/>
            <p:cNvSpPr txBox="1"/>
            <p:nvPr/>
          </p:nvSpPr>
          <p:spPr>
            <a:xfrm>
              <a:off x="1274" y="1824"/>
              <a:ext cx="6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Original</a:t>
              </a:r>
              <a:endParaRPr sz="1400" b="0" i="0" u="none" strike="noStrike" cap="none">
                <a:solidFill>
                  <a:srgbClr val="000000"/>
                </a:solidFill>
                <a:latin typeface="Arial"/>
                <a:ea typeface="Arial"/>
                <a:cs typeface="Arial"/>
                <a:sym typeface="Arial"/>
              </a:endParaRPr>
            </a:p>
          </p:txBody>
        </p:sp>
      </p:grpSp>
      <p:grpSp>
        <p:nvGrpSpPr>
          <p:cNvPr id="472" name="Google Shape;472;p36"/>
          <p:cNvGrpSpPr/>
          <p:nvPr/>
        </p:nvGrpSpPr>
        <p:grpSpPr>
          <a:xfrm>
            <a:off x="1524000" y="3086100"/>
            <a:ext cx="2814637" cy="1714500"/>
            <a:chOff x="672" y="2304"/>
            <a:chExt cx="1773" cy="1440"/>
          </a:xfrm>
        </p:grpSpPr>
        <p:pic>
          <p:nvPicPr>
            <p:cNvPr id="473" name="Google Shape;473;p36" descr="D:\USERS\STEVE\4ba6\teapot scale all.png"/>
            <p:cNvPicPr preferRelativeResize="0"/>
            <p:nvPr/>
          </p:nvPicPr>
          <p:blipFill rotWithShape="1">
            <a:blip r:embed="rId5">
              <a:alphaModFix/>
            </a:blip>
            <a:srcRect/>
            <a:stretch/>
          </p:blipFill>
          <p:spPr>
            <a:xfrm>
              <a:off x="672" y="2304"/>
              <a:ext cx="1773" cy="1440"/>
            </a:xfrm>
            <a:prstGeom prst="rect">
              <a:avLst/>
            </a:prstGeom>
            <a:noFill/>
            <a:ln>
              <a:noFill/>
            </a:ln>
          </p:spPr>
        </p:pic>
        <p:sp>
          <p:nvSpPr>
            <p:cNvPr id="474" name="Google Shape;474;p36"/>
            <p:cNvSpPr txBox="1"/>
            <p:nvPr/>
          </p:nvSpPr>
          <p:spPr>
            <a:xfrm>
              <a:off x="1263" y="3312"/>
              <a:ext cx="9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scale all axes</a:t>
              </a:r>
              <a:endParaRPr sz="1400" b="0" i="0" u="none" strike="noStrike" cap="none">
                <a:solidFill>
                  <a:srgbClr val="000000"/>
                </a:solidFill>
                <a:latin typeface="Arial"/>
                <a:ea typeface="Arial"/>
                <a:cs typeface="Arial"/>
                <a:sym typeface="Arial"/>
              </a:endParaRPr>
            </a:p>
          </p:txBody>
        </p:sp>
      </p:grpSp>
      <p:grpSp>
        <p:nvGrpSpPr>
          <p:cNvPr id="475" name="Google Shape;475;p36"/>
          <p:cNvGrpSpPr/>
          <p:nvPr/>
        </p:nvGrpSpPr>
        <p:grpSpPr>
          <a:xfrm>
            <a:off x="4267200" y="1028700"/>
            <a:ext cx="2814637" cy="1714500"/>
            <a:chOff x="3723" y="960"/>
            <a:chExt cx="1773" cy="1440"/>
          </a:xfrm>
        </p:grpSpPr>
        <p:pic>
          <p:nvPicPr>
            <p:cNvPr id="476" name="Google Shape;476;p36" descr="D:\USERS\STEVE\4ba6\teapot scale X.png"/>
            <p:cNvPicPr preferRelativeResize="0"/>
            <p:nvPr/>
          </p:nvPicPr>
          <p:blipFill rotWithShape="1">
            <a:blip r:embed="rId6">
              <a:alphaModFix/>
            </a:blip>
            <a:srcRect/>
            <a:stretch/>
          </p:blipFill>
          <p:spPr>
            <a:xfrm>
              <a:off x="3723" y="960"/>
              <a:ext cx="1773" cy="1440"/>
            </a:xfrm>
            <a:prstGeom prst="rect">
              <a:avLst/>
            </a:prstGeom>
            <a:noFill/>
            <a:ln>
              <a:noFill/>
            </a:ln>
          </p:spPr>
        </p:pic>
        <p:sp>
          <p:nvSpPr>
            <p:cNvPr id="477" name="Google Shape;477;p36"/>
            <p:cNvSpPr txBox="1"/>
            <p:nvPr/>
          </p:nvSpPr>
          <p:spPr>
            <a:xfrm>
              <a:off x="4324" y="1929"/>
              <a:ext cx="9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scale Y axis</a:t>
              </a:r>
              <a:endParaRPr sz="1400" b="0" i="0" u="none" strike="noStrike" cap="none">
                <a:solidFill>
                  <a:srgbClr val="000000"/>
                </a:solidFill>
                <a:latin typeface="Arial"/>
                <a:ea typeface="Arial"/>
                <a:cs typeface="Arial"/>
                <a:sym typeface="Arial"/>
              </a:endParaRPr>
            </a:p>
          </p:txBody>
        </p:sp>
      </p:grpSp>
      <p:pic>
        <p:nvPicPr>
          <p:cNvPr id="478" name="Google Shape;478;p36"/>
          <p:cNvPicPr preferRelativeResize="0"/>
          <p:nvPr/>
        </p:nvPicPr>
        <p:blipFill rotWithShape="1">
          <a:blip r:embed="rId7">
            <a:alphaModFix/>
          </a:blip>
          <a:srcRect/>
          <a:stretch/>
        </p:blipFill>
        <p:spPr>
          <a:xfrm>
            <a:off x="7543800" y="1143000"/>
            <a:ext cx="1052512" cy="1137045"/>
          </a:xfrm>
          <a:prstGeom prst="rect">
            <a:avLst/>
          </a:prstGeom>
          <a:noFill/>
          <a:ln>
            <a:noFill/>
          </a:ln>
        </p:spPr>
      </p:pic>
      <p:sp>
        <p:nvSpPr>
          <p:cNvPr id="479" name="Google Shape;479;p36"/>
          <p:cNvSpPr/>
          <p:nvPr/>
        </p:nvSpPr>
        <p:spPr>
          <a:xfrm>
            <a:off x="4038600" y="1657350"/>
            <a:ext cx="609600" cy="342900"/>
          </a:xfrm>
          <a:prstGeom prst="rightArrow">
            <a:avLst>
              <a:gd name="adj1" fmla="val 50000"/>
              <a:gd name="adj2" fmla="val 50000"/>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480" name="Google Shape;480;p36"/>
          <p:cNvSpPr/>
          <p:nvPr/>
        </p:nvSpPr>
        <p:spPr>
          <a:xfrm>
            <a:off x="2743200" y="2686050"/>
            <a:ext cx="533400" cy="285900"/>
          </a:xfrm>
          <a:prstGeom prst="downArrow">
            <a:avLst>
              <a:gd name="adj1" fmla="val 50000"/>
              <a:gd name="adj2" fmla="val 50000"/>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37"/>
          <p:cNvSpPr txBox="1">
            <a:spLocks noGrp="1"/>
          </p:cNvSpPr>
          <p:nvPr>
            <p:ph type="title"/>
          </p:nvPr>
        </p:nvSpPr>
        <p:spPr>
          <a:xfrm>
            <a:off x="1371600" y="114300"/>
            <a:ext cx="7772400" cy="8574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Rotation – 2D </a:t>
            </a:r>
            <a:endParaRPr/>
          </a:p>
        </p:txBody>
      </p:sp>
      <p:pic>
        <p:nvPicPr>
          <p:cNvPr id="486" name="Google Shape;486;p37" descr="D:\USERS\STEVE\4ba6\rotate.png"/>
          <p:cNvPicPr preferRelativeResize="0"/>
          <p:nvPr/>
        </p:nvPicPr>
        <p:blipFill rotWithShape="1">
          <a:blip r:embed="rId3">
            <a:alphaModFix/>
          </a:blip>
          <a:srcRect/>
          <a:stretch/>
        </p:blipFill>
        <p:spPr>
          <a:xfrm>
            <a:off x="5715000" y="625078"/>
            <a:ext cx="2674938" cy="2127646"/>
          </a:xfrm>
          <a:prstGeom prst="rect">
            <a:avLst/>
          </a:prstGeom>
          <a:noFill/>
          <a:ln>
            <a:noFill/>
          </a:ln>
        </p:spPr>
      </p:pic>
      <p:grpSp>
        <p:nvGrpSpPr>
          <p:cNvPr id="487" name="Google Shape;487;p37"/>
          <p:cNvGrpSpPr/>
          <p:nvPr/>
        </p:nvGrpSpPr>
        <p:grpSpPr>
          <a:xfrm>
            <a:off x="1905000" y="102193"/>
            <a:ext cx="6281833" cy="2468366"/>
            <a:chOff x="1200" y="86"/>
            <a:chExt cx="3957" cy="2073"/>
          </a:xfrm>
        </p:grpSpPr>
        <p:pic>
          <p:nvPicPr>
            <p:cNvPr id="488" name="Google Shape;488;p37"/>
            <p:cNvPicPr preferRelativeResize="0"/>
            <p:nvPr/>
          </p:nvPicPr>
          <p:blipFill rotWithShape="1">
            <a:blip r:embed="rId4">
              <a:alphaModFix/>
            </a:blip>
            <a:srcRect/>
            <a:stretch/>
          </p:blipFill>
          <p:spPr>
            <a:xfrm>
              <a:off x="1200" y="1584"/>
              <a:ext cx="1437" cy="575"/>
            </a:xfrm>
            <a:prstGeom prst="rect">
              <a:avLst/>
            </a:prstGeom>
            <a:noFill/>
            <a:ln>
              <a:noFill/>
            </a:ln>
          </p:spPr>
        </p:pic>
        <p:sp>
          <p:nvSpPr>
            <p:cNvPr id="489" name="Google Shape;489;p37"/>
            <p:cNvSpPr txBox="1"/>
            <p:nvPr/>
          </p:nvSpPr>
          <p:spPr>
            <a:xfrm rot="-3806097">
              <a:off x="4482" y="269"/>
              <a:ext cx="671" cy="4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rotated</a:t>
              </a:r>
              <a:endParaRPr sz="1400" b="0" i="0" u="none" strike="noStrike" cap="none">
                <a:solidFill>
                  <a:srgbClr val="000000"/>
                </a:solidFill>
                <a:latin typeface="Arial"/>
                <a:ea typeface="Arial"/>
                <a:cs typeface="Arial"/>
                <a:sym typeface="Arial"/>
              </a:endParaRPr>
            </a:p>
          </p:txBody>
        </p:sp>
      </p:grpSp>
      <p:pic>
        <p:nvPicPr>
          <p:cNvPr id="490" name="Google Shape;490;p37"/>
          <p:cNvPicPr preferRelativeResize="0"/>
          <p:nvPr/>
        </p:nvPicPr>
        <p:blipFill rotWithShape="1">
          <a:blip r:embed="rId5">
            <a:alphaModFix/>
          </a:blip>
          <a:srcRect/>
          <a:stretch/>
        </p:blipFill>
        <p:spPr>
          <a:xfrm>
            <a:off x="1509712" y="2971800"/>
            <a:ext cx="4469606" cy="684609"/>
          </a:xfrm>
          <a:prstGeom prst="rect">
            <a:avLst/>
          </a:prstGeom>
          <a:noFill/>
          <a:ln>
            <a:noFill/>
          </a:ln>
        </p:spPr>
      </p:pic>
      <p:pic>
        <p:nvPicPr>
          <p:cNvPr id="491" name="Google Shape;491;p37"/>
          <p:cNvPicPr preferRelativeResize="0"/>
          <p:nvPr/>
        </p:nvPicPr>
        <p:blipFill rotWithShape="1">
          <a:blip r:embed="rId6">
            <a:alphaModFix/>
          </a:blip>
          <a:srcRect/>
          <a:stretch/>
        </p:blipFill>
        <p:spPr>
          <a:xfrm>
            <a:off x="2044700" y="3943350"/>
            <a:ext cx="3536154" cy="644128"/>
          </a:xfrm>
          <a:prstGeom prst="rect">
            <a:avLst/>
          </a:prstGeom>
          <a:noFill/>
          <a:ln>
            <a:noFill/>
          </a:ln>
        </p:spPr>
      </p:pic>
      <p:grpSp>
        <p:nvGrpSpPr>
          <p:cNvPr id="492" name="Google Shape;492;p37"/>
          <p:cNvGrpSpPr/>
          <p:nvPr/>
        </p:nvGrpSpPr>
        <p:grpSpPr>
          <a:xfrm>
            <a:off x="2286000" y="989817"/>
            <a:ext cx="7030705" cy="808795"/>
            <a:chOff x="1440" y="831"/>
            <a:chExt cx="4428" cy="679"/>
          </a:xfrm>
        </p:grpSpPr>
        <p:sp>
          <p:nvSpPr>
            <p:cNvPr id="493" name="Google Shape;493;p37"/>
            <p:cNvSpPr txBox="1"/>
            <p:nvPr/>
          </p:nvSpPr>
          <p:spPr>
            <a:xfrm rot="-1593903">
              <a:off x="5138" y="959"/>
              <a:ext cx="671" cy="4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original</a:t>
              </a:r>
              <a:endParaRPr sz="1400" b="0" i="0" u="none" strike="noStrike" cap="none">
                <a:solidFill>
                  <a:srgbClr val="000000"/>
                </a:solidFill>
                <a:latin typeface="Arial"/>
                <a:ea typeface="Arial"/>
                <a:cs typeface="Arial"/>
                <a:sym typeface="Arial"/>
              </a:endParaRPr>
            </a:p>
          </p:txBody>
        </p:sp>
        <p:pic>
          <p:nvPicPr>
            <p:cNvPr id="494" name="Google Shape;494;p37"/>
            <p:cNvPicPr preferRelativeResize="0"/>
            <p:nvPr/>
          </p:nvPicPr>
          <p:blipFill rotWithShape="1">
            <a:blip r:embed="rId7">
              <a:alphaModFix/>
            </a:blip>
            <a:srcRect/>
            <a:stretch/>
          </p:blipFill>
          <p:spPr>
            <a:xfrm>
              <a:off x="1440" y="864"/>
              <a:ext cx="1022" cy="575"/>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500"/>
                                        <p:tgtEl>
                                          <p:spTgt spid="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8"/>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25</a:t>
            </a:fld>
            <a:endParaRPr sz="1400" b="0" i="0" u="none" strike="noStrike" cap="none">
              <a:solidFill>
                <a:srgbClr val="000000"/>
              </a:solidFill>
              <a:latin typeface="Arial"/>
              <a:ea typeface="Arial"/>
              <a:cs typeface="Arial"/>
              <a:sym typeface="Arial"/>
            </a:endParaRPr>
          </a:p>
        </p:txBody>
      </p:sp>
      <p:sp>
        <p:nvSpPr>
          <p:cNvPr id="500" name="Google Shape;500;p38"/>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Rotation – 2D</a:t>
            </a:r>
            <a:endParaRPr/>
          </a:p>
        </p:txBody>
      </p:sp>
      <p:pic>
        <p:nvPicPr>
          <p:cNvPr id="501" name="Google Shape;501;p38"/>
          <p:cNvPicPr preferRelativeResize="0"/>
          <p:nvPr/>
        </p:nvPicPr>
        <p:blipFill rotWithShape="1">
          <a:blip r:embed="rId3">
            <a:alphaModFix/>
          </a:blip>
          <a:srcRect/>
          <a:stretch/>
        </p:blipFill>
        <p:spPr>
          <a:xfrm>
            <a:off x="1905000" y="1085850"/>
            <a:ext cx="4286249" cy="1865709"/>
          </a:xfrm>
          <a:prstGeom prst="rect">
            <a:avLst/>
          </a:prstGeom>
          <a:noFill/>
          <a:ln>
            <a:noFill/>
          </a:ln>
        </p:spPr>
      </p:pic>
      <p:pic>
        <p:nvPicPr>
          <p:cNvPr id="502" name="Google Shape;502;p38"/>
          <p:cNvPicPr preferRelativeResize="0"/>
          <p:nvPr/>
        </p:nvPicPr>
        <p:blipFill rotWithShape="1">
          <a:blip r:embed="rId4">
            <a:alphaModFix/>
          </a:blip>
          <a:srcRect/>
          <a:stretch/>
        </p:blipFill>
        <p:spPr>
          <a:xfrm>
            <a:off x="5726112" y="3750469"/>
            <a:ext cx="2457449" cy="1240631"/>
          </a:xfrm>
          <a:prstGeom prst="rect">
            <a:avLst/>
          </a:prstGeom>
          <a:noFill/>
          <a:ln>
            <a:noFill/>
          </a:ln>
        </p:spPr>
      </p:pic>
      <p:pic>
        <p:nvPicPr>
          <p:cNvPr id="503" name="Google Shape;503;p38"/>
          <p:cNvPicPr preferRelativeResize="0"/>
          <p:nvPr/>
        </p:nvPicPr>
        <p:blipFill rotWithShape="1">
          <a:blip r:embed="rId5">
            <a:alphaModFix/>
          </a:blip>
          <a:srcRect/>
          <a:stretch/>
        </p:blipFill>
        <p:spPr>
          <a:xfrm>
            <a:off x="609600" y="3886200"/>
            <a:ext cx="3408759" cy="1078706"/>
          </a:xfrm>
          <a:prstGeom prst="rect">
            <a:avLst/>
          </a:prstGeom>
          <a:noFill/>
          <a:ln>
            <a:noFill/>
          </a:ln>
        </p:spPr>
      </p:pic>
      <p:pic>
        <p:nvPicPr>
          <p:cNvPr id="504" name="Google Shape;504;p38"/>
          <p:cNvPicPr preferRelativeResize="0"/>
          <p:nvPr/>
        </p:nvPicPr>
        <p:blipFill rotWithShape="1">
          <a:blip r:embed="rId6">
            <a:alphaModFix/>
          </a:blip>
          <a:srcRect/>
          <a:stretch/>
        </p:blipFill>
        <p:spPr>
          <a:xfrm>
            <a:off x="1524000" y="3028950"/>
            <a:ext cx="1783555" cy="67984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9"/>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26</a:t>
            </a:fld>
            <a:endParaRPr sz="1400" b="0" i="0" u="none" strike="noStrike" cap="none">
              <a:solidFill>
                <a:srgbClr val="000000"/>
              </a:solidFill>
              <a:latin typeface="Arial"/>
              <a:ea typeface="Arial"/>
              <a:cs typeface="Arial"/>
              <a:sym typeface="Arial"/>
            </a:endParaRPr>
          </a:p>
        </p:txBody>
      </p:sp>
      <p:sp>
        <p:nvSpPr>
          <p:cNvPr id="510" name="Google Shape;510;p39"/>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Rotation – 3D</a:t>
            </a:r>
            <a:endParaRPr/>
          </a:p>
        </p:txBody>
      </p:sp>
      <p:pic>
        <p:nvPicPr>
          <p:cNvPr id="511" name="Google Shape;511;p39"/>
          <p:cNvPicPr preferRelativeResize="0"/>
          <p:nvPr/>
        </p:nvPicPr>
        <p:blipFill rotWithShape="1">
          <a:blip r:embed="rId3">
            <a:alphaModFix/>
          </a:blip>
          <a:srcRect/>
          <a:stretch/>
        </p:blipFill>
        <p:spPr>
          <a:xfrm>
            <a:off x="2362200" y="3187303"/>
            <a:ext cx="4171950" cy="1841896"/>
          </a:xfrm>
          <a:prstGeom prst="rect">
            <a:avLst/>
          </a:prstGeom>
          <a:noFill/>
          <a:ln>
            <a:noFill/>
          </a:ln>
        </p:spPr>
      </p:pic>
      <p:pic>
        <p:nvPicPr>
          <p:cNvPr id="512" name="Google Shape;512;p39" descr="D:\USERS\STEVE\4ba6\teapot normal axes.png"/>
          <p:cNvPicPr preferRelativeResize="0"/>
          <p:nvPr/>
        </p:nvPicPr>
        <p:blipFill rotWithShape="1">
          <a:blip r:embed="rId4">
            <a:alphaModFix/>
          </a:blip>
          <a:srcRect/>
          <a:stretch/>
        </p:blipFill>
        <p:spPr>
          <a:xfrm>
            <a:off x="4038600" y="1428750"/>
            <a:ext cx="2814637" cy="1714500"/>
          </a:xfrm>
          <a:prstGeom prst="rect">
            <a:avLst/>
          </a:prstGeom>
          <a:noFill/>
          <a:ln>
            <a:noFill/>
          </a:ln>
        </p:spPr>
      </p:pic>
      <p:pic>
        <p:nvPicPr>
          <p:cNvPr id="513" name="Google Shape;513;p39" descr="D:\USERS\STEVE\4ba6\teapot rotate Z.png"/>
          <p:cNvPicPr preferRelativeResize="0"/>
          <p:nvPr/>
        </p:nvPicPr>
        <p:blipFill rotWithShape="1">
          <a:blip r:embed="rId5">
            <a:alphaModFix/>
          </a:blip>
          <a:srcRect/>
          <a:stretch/>
        </p:blipFill>
        <p:spPr>
          <a:xfrm>
            <a:off x="6553200" y="1428750"/>
            <a:ext cx="2814637" cy="1714500"/>
          </a:xfrm>
          <a:prstGeom prst="rect">
            <a:avLst/>
          </a:prstGeom>
          <a:noFill/>
          <a:ln>
            <a:noFill/>
          </a:ln>
        </p:spPr>
      </p:pic>
      <p:sp>
        <p:nvSpPr>
          <p:cNvPr id="514" name="Google Shape;514;p39"/>
          <p:cNvSpPr/>
          <p:nvPr/>
        </p:nvSpPr>
        <p:spPr>
          <a:xfrm rot="6037179" flipH="1">
            <a:off x="6953192" y="2111328"/>
            <a:ext cx="230313" cy="349360"/>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1"/>
          </a:solidFill>
          <a:ln w="9525" cap="flat" cmpd="sng">
            <a:solidFill>
              <a:schemeClr val="dk1"/>
            </a:solidFill>
            <a:prstDash val="solid"/>
            <a:miter lim="524288"/>
            <a:headEnd type="none" w="sm" len="sm"/>
            <a:tailEnd type="none" w="sm" len="sm"/>
          </a:ln>
          <a:effectLst>
            <a:outerShdw blurRad="63500" dist="35921" dir="2700000">
              <a:schemeClr val="lt2"/>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515" name="Google Shape;515;p39"/>
          <p:cNvSpPr txBox="1"/>
          <p:nvPr/>
        </p:nvSpPr>
        <p:spPr>
          <a:xfrm>
            <a:off x="781050" y="1085850"/>
            <a:ext cx="4171800" cy="1730100"/>
          </a:xfrm>
          <a:prstGeom prst="rect">
            <a:avLst/>
          </a:prstGeom>
          <a:noFill/>
          <a:ln>
            <a:noFill/>
          </a:ln>
        </p:spPr>
        <p:txBody>
          <a:bodyPr spcFirstLastPara="1" wrap="square" lIns="91425" tIns="45700" rIns="91425" bIns="45700" anchor="t" anchorCtr="0">
            <a:spAutoFit/>
          </a:bodyPr>
          <a:lstStyle/>
          <a:p>
            <a:pPr marL="293687" marR="0" lvl="0" indent="-293687" algn="l" rtl="0">
              <a:lnSpc>
                <a:spcPct val="9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For 3D-Rotation 2 parameters are needed</a:t>
            </a:r>
            <a:endParaRPr sz="1400" b="0" i="0" u="none" strike="noStrike" cap="none">
              <a:solidFill>
                <a:srgbClr val="000000"/>
              </a:solidFill>
              <a:latin typeface="Arial"/>
              <a:ea typeface="Arial"/>
              <a:cs typeface="Arial"/>
              <a:sym typeface="Arial"/>
            </a:endParaRPr>
          </a:p>
          <a:p>
            <a:pPr marL="293687" marR="0" lvl="0" indent="-293687" algn="l" rtl="0">
              <a:lnSpc>
                <a:spcPct val="90000"/>
              </a:lnSpc>
              <a:spcBef>
                <a:spcPts val="1200"/>
              </a:spcBef>
              <a:spcAft>
                <a:spcPts val="0"/>
              </a:spcAft>
              <a:buClr>
                <a:schemeClr val="dk2"/>
              </a:buClr>
              <a:buSzPts val="2280"/>
              <a:buFont typeface="Noto Sans Symbols"/>
              <a:buChar char="✶"/>
            </a:pPr>
            <a:r>
              <a:rPr lang="en-US" sz="2400" b="0" i="0" u="none" strike="noStrike" cap="none">
                <a:solidFill>
                  <a:schemeClr val="dk1"/>
                </a:solidFill>
                <a:latin typeface="Times New Roman"/>
                <a:ea typeface="Times New Roman"/>
                <a:cs typeface="Times New Roman"/>
                <a:sym typeface="Times New Roman"/>
              </a:rPr>
              <a:t>Angle of rotation</a:t>
            </a:r>
            <a:endParaRPr sz="1400" b="0" i="0" u="none" strike="noStrike" cap="none">
              <a:solidFill>
                <a:srgbClr val="000000"/>
              </a:solidFill>
              <a:latin typeface="Arial"/>
              <a:ea typeface="Arial"/>
              <a:cs typeface="Arial"/>
              <a:sym typeface="Arial"/>
            </a:endParaRPr>
          </a:p>
          <a:p>
            <a:pPr marL="293687" marR="0" lvl="0" indent="-293687" algn="l" rtl="0">
              <a:lnSpc>
                <a:spcPct val="90000"/>
              </a:lnSpc>
              <a:spcBef>
                <a:spcPts val="1200"/>
              </a:spcBef>
              <a:spcAft>
                <a:spcPts val="0"/>
              </a:spcAft>
              <a:buClr>
                <a:schemeClr val="dk2"/>
              </a:buClr>
              <a:buSzPts val="2280"/>
              <a:buFont typeface="Noto Sans Symbols"/>
              <a:buChar char="✶"/>
            </a:pPr>
            <a:r>
              <a:rPr lang="en-US" sz="2400" b="0" i="0" u="none" strike="noStrike" cap="none">
                <a:solidFill>
                  <a:schemeClr val="dk1"/>
                </a:solidFill>
                <a:latin typeface="Times New Roman"/>
                <a:ea typeface="Times New Roman"/>
                <a:cs typeface="Times New Roman"/>
                <a:sym typeface="Times New Roman"/>
              </a:rPr>
              <a:t>Axis of rotation</a:t>
            </a:r>
            <a:endParaRPr sz="1400" b="0" i="0" u="none" strike="noStrike" cap="none">
              <a:solidFill>
                <a:srgbClr val="000000"/>
              </a:solidFill>
              <a:latin typeface="Arial"/>
              <a:ea typeface="Arial"/>
              <a:cs typeface="Arial"/>
              <a:sym typeface="Arial"/>
            </a:endParaRPr>
          </a:p>
        </p:txBody>
      </p:sp>
      <p:sp>
        <p:nvSpPr>
          <p:cNvPr id="516" name="Google Shape;516;p39"/>
          <p:cNvSpPr txBox="1"/>
          <p:nvPr/>
        </p:nvSpPr>
        <p:spPr>
          <a:xfrm>
            <a:off x="5334000" y="1085850"/>
            <a:ext cx="34665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Rotation about z-axis: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0"/>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27</a:t>
            </a:fld>
            <a:endParaRPr sz="1400" b="0" i="0" u="none" strike="noStrike" cap="none">
              <a:solidFill>
                <a:srgbClr val="000000"/>
              </a:solidFill>
              <a:latin typeface="Arial"/>
              <a:ea typeface="Arial"/>
              <a:cs typeface="Arial"/>
              <a:sym typeface="Arial"/>
            </a:endParaRPr>
          </a:p>
        </p:txBody>
      </p:sp>
      <p:sp>
        <p:nvSpPr>
          <p:cNvPr id="523" name="Google Shape;523;p40"/>
          <p:cNvSpPr txBox="1">
            <a:spLocks noGrp="1"/>
          </p:cNvSpPr>
          <p:nvPr>
            <p:ph type="title"/>
          </p:nvPr>
        </p:nvSpPr>
        <p:spPr>
          <a:xfrm>
            <a:off x="758150" y="120100"/>
            <a:ext cx="7564500" cy="8574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Rotation about Z axis: </a:t>
            </a:r>
            <a:r>
              <a:rPr lang="en-US" sz="4400" i="1">
                <a:solidFill>
                  <a:srgbClr val="663300"/>
                </a:solidFill>
                <a:latin typeface="Times New Roman"/>
                <a:ea typeface="Times New Roman"/>
                <a:cs typeface="Times New Roman"/>
                <a:sym typeface="Times New Roman"/>
              </a:rPr>
              <a:t>R</a:t>
            </a:r>
            <a:r>
              <a:rPr lang="en-US" sz="4400" i="1" baseline="-25000">
                <a:solidFill>
                  <a:srgbClr val="663300"/>
                </a:solidFill>
                <a:latin typeface="Times New Roman"/>
                <a:ea typeface="Times New Roman"/>
                <a:cs typeface="Times New Roman"/>
                <a:sym typeface="Times New Roman"/>
              </a:rPr>
              <a:t>θ,k</a:t>
            </a:r>
            <a:endParaRPr/>
          </a:p>
        </p:txBody>
      </p:sp>
      <p:sp>
        <p:nvSpPr>
          <p:cNvPr id="524" name="Google Shape;524;p40"/>
          <p:cNvSpPr txBox="1">
            <a:spLocks noGrp="1"/>
          </p:cNvSpPr>
          <p:nvPr>
            <p:ph type="body" idx="1"/>
          </p:nvPr>
        </p:nvSpPr>
        <p:spPr>
          <a:xfrm>
            <a:off x="628650" y="1369219"/>
            <a:ext cx="7886700" cy="3263400"/>
          </a:xfrm>
          <a:prstGeom prst="rect">
            <a:avLst/>
          </a:prstGeom>
          <a:noFill/>
          <a:ln>
            <a:noFill/>
          </a:ln>
        </p:spPr>
        <p:txBody>
          <a:bodyPr spcFirstLastPara="1" wrap="square" lIns="92075" tIns="46025" rIns="92075" bIns="46025" anchor="t" anchorCtr="0">
            <a:noAutofit/>
          </a:bodyPr>
          <a:lstStyle/>
          <a:p>
            <a:pPr marL="342900" lvl="0" indent="-342900" algn="l" rtl="0">
              <a:lnSpc>
                <a:spcPct val="100000"/>
              </a:lnSpc>
              <a:spcBef>
                <a:spcPts val="0"/>
              </a:spcBef>
              <a:spcAft>
                <a:spcPts val="0"/>
              </a:spcAft>
              <a:buClr>
                <a:schemeClr val="dk2"/>
              </a:buClr>
              <a:buSzPts val="3040"/>
              <a:buFont typeface="Noto Sans Symbols"/>
              <a:buChar char="✶"/>
            </a:pPr>
            <a:r>
              <a:rPr lang="en-US" sz="3200" b="0" i="0" u="none">
                <a:solidFill>
                  <a:schemeClr val="dk1"/>
                </a:solidFill>
                <a:latin typeface="Times New Roman"/>
                <a:ea typeface="Times New Roman"/>
                <a:cs typeface="Times New Roman"/>
                <a:sym typeface="Times New Roman"/>
              </a:rPr>
              <a:t>About z axis</a:t>
            </a:r>
            <a:endParaRPr/>
          </a:p>
        </p:txBody>
      </p:sp>
      <p:sp>
        <p:nvSpPr>
          <p:cNvPr id="525" name="Google Shape;525;p40"/>
          <p:cNvSpPr/>
          <p:nvPr/>
        </p:nvSpPr>
        <p:spPr>
          <a:xfrm>
            <a:off x="2908300" y="2571750"/>
            <a:ext cx="3810000" cy="22395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526" name="Google Shape;526;p40"/>
          <p:cNvSpPr/>
          <p:nvPr/>
        </p:nvSpPr>
        <p:spPr>
          <a:xfrm>
            <a:off x="1460500" y="2571750"/>
            <a:ext cx="685800" cy="22395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527" name="Google Shape;527;p40"/>
          <p:cNvSpPr txBox="1"/>
          <p:nvPr/>
        </p:nvSpPr>
        <p:spPr>
          <a:xfrm>
            <a:off x="1536700" y="2621756"/>
            <a:ext cx="533400" cy="2239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528" name="Google Shape;528;p40"/>
          <p:cNvSpPr txBox="1"/>
          <p:nvPr/>
        </p:nvSpPr>
        <p:spPr>
          <a:xfrm>
            <a:off x="2374900" y="3243263"/>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529" name="Google Shape;529;p40"/>
          <p:cNvSpPr txBox="1"/>
          <p:nvPr/>
        </p:nvSpPr>
        <p:spPr>
          <a:xfrm>
            <a:off x="7023100" y="2615803"/>
            <a:ext cx="533400" cy="2239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530" name="Google Shape;530;p40"/>
          <p:cNvSpPr/>
          <p:nvPr/>
        </p:nvSpPr>
        <p:spPr>
          <a:xfrm>
            <a:off x="7023100" y="2571750"/>
            <a:ext cx="533400" cy="22395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531" name="Google Shape;531;p40"/>
          <p:cNvSpPr txBox="1"/>
          <p:nvPr/>
        </p:nvSpPr>
        <p:spPr>
          <a:xfrm>
            <a:off x="2984500" y="2614613"/>
            <a:ext cx="1066800" cy="2239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cos θ</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sin θ</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532" name="Google Shape;532;p40"/>
          <p:cNvSpPr txBox="1"/>
          <p:nvPr/>
        </p:nvSpPr>
        <p:spPr>
          <a:xfrm>
            <a:off x="4203700" y="2614613"/>
            <a:ext cx="1143000" cy="2239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-sin θ</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3200"/>
              <a:buFont typeface="Times New Roman"/>
              <a:buNone/>
            </a:pPr>
            <a:r>
              <a:rPr lang="en-US" sz="3200" b="0" i="1" u="none" strike="noStrike" cap="none">
                <a:solidFill>
                  <a:srgbClr val="FF0000"/>
                </a:solidFill>
                <a:latin typeface="Times New Roman"/>
                <a:ea typeface="Times New Roman"/>
                <a:cs typeface="Times New Roman"/>
                <a:sym typeface="Times New Roman"/>
              </a:rPr>
              <a:t> cos θ</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533" name="Google Shape;533;p40"/>
          <p:cNvSpPr txBox="1"/>
          <p:nvPr/>
        </p:nvSpPr>
        <p:spPr>
          <a:xfrm>
            <a:off x="5499100" y="2614613"/>
            <a:ext cx="533400" cy="2239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534" name="Google Shape;534;p40"/>
          <p:cNvSpPr txBox="1"/>
          <p:nvPr/>
        </p:nvSpPr>
        <p:spPr>
          <a:xfrm>
            <a:off x="6108700" y="2614613"/>
            <a:ext cx="533400" cy="2239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3200"/>
              <a:buFont typeface="Times New Roman"/>
              <a:buNone/>
            </a:pPr>
            <a:r>
              <a:rPr lang="en-US" sz="32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535" name="Google Shape;535;p40"/>
          <p:cNvSpPr/>
          <p:nvPr/>
        </p:nvSpPr>
        <p:spPr>
          <a:xfrm>
            <a:off x="8344046" y="1546403"/>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536" name="Google Shape;536;p40"/>
          <p:cNvSpPr/>
          <p:nvPr/>
        </p:nvSpPr>
        <p:spPr>
          <a:xfrm>
            <a:off x="7867285" y="116677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cxnSp>
        <p:nvCxnSpPr>
          <p:cNvPr id="537" name="Google Shape;537;p40"/>
          <p:cNvCxnSpPr/>
          <p:nvPr/>
        </p:nvCxnSpPr>
        <p:spPr>
          <a:xfrm rot="10800000" flipH="1">
            <a:off x="7365338" y="851562"/>
            <a:ext cx="1200" cy="1048800"/>
          </a:xfrm>
          <a:prstGeom prst="straightConnector1">
            <a:avLst/>
          </a:prstGeom>
          <a:noFill/>
          <a:ln w="38100" cap="flat" cmpd="sng">
            <a:solidFill>
              <a:schemeClr val="dk1"/>
            </a:solidFill>
            <a:prstDash val="solid"/>
            <a:miter lim="800000"/>
            <a:headEnd type="none" w="sm" len="sm"/>
            <a:tailEnd type="triangle" w="med" len="med"/>
          </a:ln>
        </p:spPr>
      </p:cxnSp>
      <p:cxnSp>
        <p:nvCxnSpPr>
          <p:cNvPr id="538" name="Google Shape;538;p40"/>
          <p:cNvCxnSpPr/>
          <p:nvPr/>
        </p:nvCxnSpPr>
        <p:spPr>
          <a:xfrm>
            <a:off x="7365338" y="1900363"/>
            <a:ext cx="1388400" cy="1200"/>
          </a:xfrm>
          <a:prstGeom prst="straightConnector1">
            <a:avLst/>
          </a:prstGeom>
          <a:noFill/>
          <a:ln w="38100" cap="flat" cmpd="sng">
            <a:solidFill>
              <a:schemeClr val="dk1"/>
            </a:solidFill>
            <a:prstDash val="solid"/>
            <a:miter lim="800000"/>
            <a:headEnd type="none" w="sm" len="sm"/>
            <a:tailEnd type="triangle" w="med" len="med"/>
          </a:ln>
        </p:spPr>
      </p:cxnSp>
      <p:cxnSp>
        <p:nvCxnSpPr>
          <p:cNvPr id="539" name="Google Shape;539;p40"/>
          <p:cNvCxnSpPr/>
          <p:nvPr/>
        </p:nvCxnSpPr>
        <p:spPr>
          <a:xfrm flipH="1">
            <a:off x="7019147" y="1901408"/>
            <a:ext cx="347400" cy="399300"/>
          </a:xfrm>
          <a:prstGeom prst="straightConnector1">
            <a:avLst/>
          </a:prstGeom>
          <a:noFill/>
          <a:ln w="38100" cap="flat" cmpd="sng">
            <a:solidFill>
              <a:schemeClr val="dk1"/>
            </a:solidFill>
            <a:prstDash val="solid"/>
            <a:miter lim="800000"/>
            <a:headEnd type="none" w="sm" len="sm"/>
            <a:tailEnd type="triangle" w="med" len="med"/>
          </a:ln>
        </p:spPr>
      </p:cxnSp>
      <p:sp>
        <p:nvSpPr>
          <p:cNvPr id="540" name="Google Shape;540;p40"/>
          <p:cNvSpPr txBox="1"/>
          <p:nvPr/>
        </p:nvSpPr>
        <p:spPr>
          <a:xfrm>
            <a:off x="8651558" y="1791803"/>
            <a:ext cx="2310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000" b="1" i="0" u="none" strike="noStrike" cap="none">
                <a:solidFill>
                  <a:srgbClr val="000000"/>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541" name="Google Shape;541;p40"/>
          <p:cNvSpPr txBox="1"/>
          <p:nvPr/>
        </p:nvSpPr>
        <p:spPr>
          <a:xfrm>
            <a:off x="7108962" y="601846"/>
            <a:ext cx="2310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000" b="1" i="0" u="none" strike="noStrike" cap="none">
                <a:solidFill>
                  <a:srgbClr val="000000"/>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sp>
        <p:nvSpPr>
          <p:cNvPr id="542" name="Google Shape;542;p40"/>
          <p:cNvSpPr txBox="1"/>
          <p:nvPr/>
        </p:nvSpPr>
        <p:spPr>
          <a:xfrm>
            <a:off x="6729777" y="2040062"/>
            <a:ext cx="2310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000" b="1" i="0" u="none" strike="noStrike" cap="none">
                <a:solidFill>
                  <a:srgbClr val="000000"/>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543" name="Google Shape;543;p40"/>
          <p:cNvSpPr txBox="1"/>
          <p:nvPr/>
        </p:nvSpPr>
        <p:spPr>
          <a:xfrm>
            <a:off x="8371589" y="1359417"/>
            <a:ext cx="2310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000" b="1" i="1" u="none" strike="noStrike" cap="none">
                <a:solidFill>
                  <a:srgbClr val="000000"/>
                </a:solidFill>
                <a:latin typeface="Times New Roman"/>
                <a:ea typeface="Times New Roman"/>
                <a:cs typeface="Times New Roman"/>
                <a:sym typeface="Times New Roman"/>
              </a:rPr>
              <a:t>p</a:t>
            </a:r>
            <a:endParaRPr sz="1400" b="0" i="0" u="none" strike="noStrike" cap="none">
              <a:solidFill>
                <a:srgbClr val="000000"/>
              </a:solidFill>
              <a:latin typeface="Arial"/>
              <a:ea typeface="Arial"/>
              <a:cs typeface="Arial"/>
              <a:sym typeface="Arial"/>
            </a:endParaRPr>
          </a:p>
        </p:txBody>
      </p:sp>
      <p:sp>
        <p:nvSpPr>
          <p:cNvPr id="544" name="Google Shape;544;p40"/>
          <p:cNvSpPr txBox="1"/>
          <p:nvPr/>
        </p:nvSpPr>
        <p:spPr>
          <a:xfrm>
            <a:off x="7646508" y="845763"/>
            <a:ext cx="4200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000" b="1" i="1" u="none" strike="noStrike" cap="none">
                <a:solidFill>
                  <a:srgbClr val="000000"/>
                </a:solidFill>
                <a:latin typeface="Times New Roman"/>
                <a:ea typeface="Times New Roman"/>
                <a:cs typeface="Times New Roman"/>
                <a:sym typeface="Times New Roman"/>
              </a:rPr>
              <a:t>p'</a:t>
            </a:r>
            <a:endParaRPr sz="1400" b="0" i="0" u="none" strike="noStrike" cap="none">
              <a:solidFill>
                <a:srgbClr val="000000"/>
              </a:solidFill>
              <a:latin typeface="Arial"/>
              <a:ea typeface="Arial"/>
              <a:cs typeface="Arial"/>
              <a:sym typeface="Arial"/>
            </a:endParaRPr>
          </a:p>
        </p:txBody>
      </p:sp>
      <p:sp>
        <p:nvSpPr>
          <p:cNvPr id="545" name="Google Shape;545;p40"/>
          <p:cNvSpPr/>
          <p:nvPr/>
        </p:nvSpPr>
        <p:spPr>
          <a:xfrm>
            <a:off x="7365338" y="1198781"/>
            <a:ext cx="984490" cy="702602"/>
          </a:xfrm>
          <a:custGeom>
            <a:avLst/>
            <a:gdLst/>
            <a:ahLst/>
            <a:cxnLst/>
            <a:rect l="l" t="t" r="r" b="b"/>
            <a:pathLst>
              <a:path w="19374" h="17845" fill="none" extrusionOk="0">
                <a:moveTo>
                  <a:pt x="12170" y="-1"/>
                </a:moveTo>
                <a:cubicBezTo>
                  <a:pt x="15246" y="2097"/>
                  <a:pt x="17727" y="4955"/>
                  <a:pt x="19374" y="8294"/>
                </a:cubicBezTo>
              </a:path>
              <a:path w="19374" h="17845" extrusionOk="0">
                <a:moveTo>
                  <a:pt x="12170" y="-1"/>
                </a:moveTo>
                <a:cubicBezTo>
                  <a:pt x="15246" y="2097"/>
                  <a:pt x="17727" y="4955"/>
                  <a:pt x="19374" y="8294"/>
                </a:cubicBezTo>
                <a:lnTo>
                  <a:pt x="0" y="17845"/>
                </a:lnTo>
                <a:lnTo>
                  <a:pt x="12170" y="-1"/>
                </a:lnTo>
                <a:close/>
              </a:path>
            </a:pathLst>
          </a:cu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cxnSp>
        <p:nvCxnSpPr>
          <p:cNvPr id="546" name="Google Shape;546;p40"/>
          <p:cNvCxnSpPr/>
          <p:nvPr/>
        </p:nvCxnSpPr>
        <p:spPr>
          <a:xfrm flipH="1">
            <a:off x="7362702" y="1170551"/>
            <a:ext cx="551700" cy="727800"/>
          </a:xfrm>
          <a:prstGeom prst="straightConnector1">
            <a:avLst/>
          </a:prstGeom>
          <a:noFill/>
          <a:ln w="9525" cap="flat" cmpd="sng">
            <a:solidFill>
              <a:schemeClr val="dk1"/>
            </a:solidFill>
            <a:prstDash val="solid"/>
            <a:miter lim="800000"/>
            <a:headEnd type="none" w="sm" len="sm"/>
            <a:tailEnd type="none" w="sm" len="sm"/>
          </a:ln>
        </p:spPr>
      </p:cxnSp>
      <p:cxnSp>
        <p:nvCxnSpPr>
          <p:cNvPr id="547" name="Google Shape;547;p40"/>
          <p:cNvCxnSpPr/>
          <p:nvPr/>
        </p:nvCxnSpPr>
        <p:spPr>
          <a:xfrm flipH="1">
            <a:off x="7355808" y="1578326"/>
            <a:ext cx="1023000" cy="319800"/>
          </a:xfrm>
          <a:prstGeom prst="straightConnector1">
            <a:avLst/>
          </a:prstGeom>
          <a:noFill/>
          <a:ln w="9525" cap="flat" cmpd="sng">
            <a:solidFill>
              <a:schemeClr val="dk1"/>
            </a:solidFill>
            <a:prstDash val="solid"/>
            <a:miter lim="800000"/>
            <a:headEnd type="none" w="sm" len="sm"/>
            <a:tailEnd type="none" w="sm" len="sm"/>
          </a:ln>
        </p:spPr>
      </p:cxnSp>
      <p:sp>
        <p:nvSpPr>
          <p:cNvPr id="548" name="Google Shape;548;p40"/>
          <p:cNvSpPr txBox="1"/>
          <p:nvPr/>
        </p:nvSpPr>
        <p:spPr>
          <a:xfrm>
            <a:off x="7558597" y="1459056"/>
            <a:ext cx="231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1800" b="0" i="1" u="none" strike="noStrike" cap="none">
                <a:solidFill>
                  <a:schemeClr val="dk1"/>
                </a:solidFill>
                <a:latin typeface="Times New Roman"/>
                <a:ea typeface="Times New Roman"/>
                <a:cs typeface="Times New Roman"/>
                <a:sym typeface="Times New Roman"/>
              </a:rPr>
              <a:t>θ</a:t>
            </a:r>
            <a:endParaRPr sz="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3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1"/>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28</a:t>
            </a:fld>
            <a:endParaRPr sz="1400" b="0" i="0" u="none" strike="noStrike" cap="none">
              <a:solidFill>
                <a:srgbClr val="000000"/>
              </a:solidFill>
              <a:latin typeface="Arial"/>
              <a:ea typeface="Arial"/>
              <a:cs typeface="Arial"/>
              <a:sym typeface="Arial"/>
            </a:endParaRPr>
          </a:p>
        </p:txBody>
      </p:sp>
      <p:sp>
        <p:nvSpPr>
          <p:cNvPr id="554" name="Google Shape;554;p41"/>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Rotation about Y-axis &amp; X-axis</a:t>
            </a:r>
            <a:endParaRPr/>
          </a:p>
        </p:txBody>
      </p:sp>
      <p:pic>
        <p:nvPicPr>
          <p:cNvPr id="555" name="Google Shape;555;p41"/>
          <p:cNvPicPr preferRelativeResize="0"/>
          <p:nvPr/>
        </p:nvPicPr>
        <p:blipFill rotWithShape="1">
          <a:blip r:embed="rId3">
            <a:alphaModFix/>
          </a:blip>
          <a:srcRect/>
          <a:stretch/>
        </p:blipFill>
        <p:spPr>
          <a:xfrm>
            <a:off x="2667000" y="1200150"/>
            <a:ext cx="3886198" cy="1662113"/>
          </a:xfrm>
          <a:prstGeom prst="rect">
            <a:avLst/>
          </a:prstGeom>
          <a:noFill/>
          <a:ln>
            <a:noFill/>
          </a:ln>
        </p:spPr>
      </p:pic>
      <p:pic>
        <p:nvPicPr>
          <p:cNvPr id="556" name="Google Shape;556;p41"/>
          <p:cNvPicPr preferRelativeResize="0"/>
          <p:nvPr/>
        </p:nvPicPr>
        <p:blipFill rotWithShape="1">
          <a:blip r:embed="rId4">
            <a:alphaModFix/>
          </a:blip>
          <a:srcRect/>
          <a:stretch/>
        </p:blipFill>
        <p:spPr>
          <a:xfrm>
            <a:off x="2667000" y="3200400"/>
            <a:ext cx="3886200" cy="1714499"/>
          </a:xfrm>
          <a:prstGeom prst="rect">
            <a:avLst/>
          </a:prstGeom>
          <a:noFill/>
          <a:ln>
            <a:noFill/>
          </a:ln>
        </p:spPr>
      </p:pic>
      <p:sp>
        <p:nvSpPr>
          <p:cNvPr id="557" name="Google Shape;557;p41"/>
          <p:cNvSpPr txBox="1"/>
          <p:nvPr/>
        </p:nvSpPr>
        <p:spPr>
          <a:xfrm>
            <a:off x="1433512" y="3086100"/>
            <a:ext cx="17670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About x-axis</a:t>
            </a:r>
            <a:endParaRPr sz="1400" b="0" i="0" u="none" strike="noStrike" cap="none">
              <a:solidFill>
                <a:srgbClr val="000000"/>
              </a:solidFill>
              <a:latin typeface="Arial"/>
              <a:ea typeface="Arial"/>
              <a:cs typeface="Arial"/>
              <a:sym typeface="Arial"/>
            </a:endParaRPr>
          </a:p>
        </p:txBody>
      </p:sp>
      <p:sp>
        <p:nvSpPr>
          <p:cNvPr id="558" name="Google Shape;558;p41"/>
          <p:cNvSpPr txBox="1"/>
          <p:nvPr/>
        </p:nvSpPr>
        <p:spPr>
          <a:xfrm>
            <a:off x="1357312" y="1085850"/>
            <a:ext cx="17670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About y-axis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42"/>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Properties of rotation matrix</a:t>
            </a:r>
            <a:endParaRPr/>
          </a:p>
        </p:txBody>
      </p:sp>
      <p:sp>
        <p:nvSpPr>
          <p:cNvPr id="564" name="Google Shape;564;p42"/>
          <p:cNvSpPr txBox="1">
            <a:spLocks noGrp="1"/>
          </p:cNvSpPr>
          <p:nvPr>
            <p:ph type="body" idx="1"/>
          </p:nvPr>
        </p:nvSpPr>
        <p:spPr>
          <a:xfrm>
            <a:off x="628650" y="1369219"/>
            <a:ext cx="7886700" cy="3263400"/>
          </a:xfrm>
          <a:prstGeom prst="rect">
            <a:avLst/>
          </a:prstGeom>
          <a:noFill/>
          <a:ln>
            <a:noFill/>
          </a:ln>
        </p:spPr>
        <p:txBody>
          <a:bodyPr spcFirstLastPara="1" wrap="square" lIns="92075" tIns="46025" rIns="92075" bIns="46025" anchor="t" anchorCtr="0">
            <a:noAutofit/>
          </a:bodyPr>
          <a:lstStyle/>
          <a:p>
            <a:pPr marL="342900" marR="0" lvl="0" indent="-304800" algn="l" rtl="0">
              <a:lnSpc>
                <a:spcPct val="100000"/>
              </a:lnSpc>
              <a:spcBef>
                <a:spcPts val="0"/>
              </a:spcBef>
              <a:spcAft>
                <a:spcPts val="0"/>
              </a:spcAft>
              <a:buClr>
                <a:schemeClr val="dk2"/>
              </a:buClr>
              <a:buSzPts val="2060"/>
              <a:buFont typeface="Noto Sans Symbols"/>
              <a:buChar char="✶"/>
            </a:pPr>
            <a:r>
              <a:rPr lang="en-US" sz="2200" b="0" i="0" u="none">
                <a:solidFill>
                  <a:schemeClr val="dk1"/>
                </a:solidFill>
                <a:latin typeface="Times New Roman"/>
                <a:ea typeface="Times New Roman"/>
                <a:cs typeface="Times New Roman"/>
                <a:sym typeface="Times New Roman"/>
              </a:rPr>
              <a:t>The columns of rotation matrix are unit vectors perpendicular to each other</a:t>
            </a:r>
            <a:endParaRPr sz="1500"/>
          </a:p>
          <a:p>
            <a:pPr marL="342900" marR="0" lvl="0" indent="-304800" algn="l" rtl="0">
              <a:lnSpc>
                <a:spcPct val="100000"/>
              </a:lnSpc>
              <a:spcBef>
                <a:spcPts val="560"/>
              </a:spcBef>
              <a:spcAft>
                <a:spcPts val="0"/>
              </a:spcAft>
              <a:buClr>
                <a:schemeClr val="dk2"/>
              </a:buClr>
              <a:buSzPts val="2060"/>
              <a:buFont typeface="Noto Sans Symbols"/>
              <a:buChar char="✶"/>
            </a:pPr>
            <a:r>
              <a:rPr lang="en-US" sz="2200" b="0" i="0" u="none">
                <a:solidFill>
                  <a:schemeClr val="dk1"/>
                </a:solidFill>
                <a:latin typeface="Times New Roman"/>
                <a:ea typeface="Times New Roman"/>
                <a:cs typeface="Times New Roman"/>
                <a:sym typeface="Times New Roman"/>
              </a:rPr>
              <a:t>The column vectors indicate where the unit vectors along the principal axes are transformed</a:t>
            </a:r>
            <a:endParaRPr sz="1500"/>
          </a:p>
          <a:p>
            <a:pPr marL="342900" marR="0" lvl="0" indent="-304800" algn="l" rtl="0">
              <a:lnSpc>
                <a:spcPct val="100000"/>
              </a:lnSpc>
              <a:spcBef>
                <a:spcPts val="560"/>
              </a:spcBef>
              <a:spcAft>
                <a:spcPts val="0"/>
              </a:spcAft>
              <a:buClr>
                <a:schemeClr val="dk2"/>
              </a:buClr>
              <a:buSzPts val="2060"/>
              <a:buFont typeface="Noto Sans Symbols"/>
              <a:buChar char="✶"/>
            </a:pPr>
            <a:r>
              <a:rPr lang="en-US" sz="2200" b="0" i="0" u="none">
                <a:solidFill>
                  <a:schemeClr val="dk1"/>
                </a:solidFill>
                <a:latin typeface="Times New Roman"/>
                <a:ea typeface="Times New Roman"/>
                <a:cs typeface="Times New Roman"/>
                <a:sym typeface="Times New Roman"/>
              </a:rPr>
              <a:t>The rows of rotation matrix are unit vectors perpendicular to each other</a:t>
            </a:r>
            <a:endParaRPr sz="1500"/>
          </a:p>
          <a:p>
            <a:pPr marL="342900" marR="0" lvl="0" indent="-304800" algn="l" rtl="0">
              <a:lnSpc>
                <a:spcPct val="100000"/>
              </a:lnSpc>
              <a:spcBef>
                <a:spcPts val="560"/>
              </a:spcBef>
              <a:spcAft>
                <a:spcPts val="0"/>
              </a:spcAft>
              <a:buClr>
                <a:schemeClr val="dk2"/>
              </a:buClr>
              <a:buSzPts val="2060"/>
              <a:buFont typeface="Noto Sans Symbols"/>
              <a:buChar char="✶"/>
            </a:pPr>
            <a:r>
              <a:rPr lang="en-US" sz="2200" b="0" i="0" u="none">
                <a:solidFill>
                  <a:schemeClr val="dk1"/>
                </a:solidFill>
                <a:latin typeface="Times New Roman"/>
                <a:ea typeface="Times New Roman"/>
                <a:cs typeface="Times New Roman"/>
                <a:sym typeface="Times New Roman"/>
              </a:rPr>
              <a:t>The row vectors indicate the vectors that are transformed into the unit vectors along the principal axes</a:t>
            </a:r>
            <a:endParaRPr sz="1500"/>
          </a:p>
          <a:p>
            <a:pPr marL="342900" marR="0" lvl="0" indent="-304800" algn="l" rtl="0">
              <a:lnSpc>
                <a:spcPct val="100000"/>
              </a:lnSpc>
              <a:spcBef>
                <a:spcPts val="560"/>
              </a:spcBef>
              <a:spcAft>
                <a:spcPts val="0"/>
              </a:spcAft>
              <a:buClr>
                <a:schemeClr val="dk2"/>
              </a:buClr>
              <a:buSzPts val="2060"/>
              <a:buFont typeface="Noto Sans Symbols"/>
              <a:buChar char="✶"/>
            </a:pPr>
            <a:r>
              <a:rPr lang="en-US" sz="2200" b="0" i="0" u="none">
                <a:solidFill>
                  <a:schemeClr val="dk1"/>
                </a:solidFill>
                <a:latin typeface="Times New Roman"/>
                <a:ea typeface="Times New Roman"/>
                <a:cs typeface="Times New Roman"/>
                <a:sym typeface="Times New Roman"/>
              </a:rPr>
              <a:t>The inverse of rotation matrix is its transpose</a:t>
            </a:r>
            <a:endParaRPr sz="1500"/>
          </a:p>
          <a:p>
            <a:pPr marL="342900" marR="0" lvl="0" indent="-149860" algn="l" rtl="0">
              <a:lnSpc>
                <a:spcPct val="100000"/>
              </a:lnSpc>
              <a:spcBef>
                <a:spcPts val="640"/>
              </a:spcBef>
              <a:spcAft>
                <a:spcPts val="0"/>
              </a:spcAft>
              <a:buClr>
                <a:schemeClr val="dk2"/>
              </a:buClr>
              <a:buSzPts val="3040"/>
              <a:buFont typeface="Noto Sans Symbols"/>
              <a:buNone/>
            </a:pPr>
            <a:endParaRPr sz="2600" b="0" i="0" u="none">
              <a:solidFill>
                <a:schemeClr val="dk1"/>
              </a:solidFill>
              <a:latin typeface="Times New Roman"/>
              <a:ea typeface="Times New Roman"/>
              <a:cs typeface="Times New Roman"/>
              <a:sym typeface="Times New Roman"/>
            </a:endParaRPr>
          </a:p>
          <a:p>
            <a:pPr marL="342900" marR="0" lvl="0" indent="-149860" algn="l" rtl="0">
              <a:lnSpc>
                <a:spcPct val="100000"/>
              </a:lnSpc>
              <a:spcBef>
                <a:spcPts val="640"/>
              </a:spcBef>
              <a:spcAft>
                <a:spcPts val="0"/>
              </a:spcAft>
              <a:buClr>
                <a:schemeClr val="dk2"/>
              </a:buClr>
              <a:buSzPts val="3040"/>
              <a:buFont typeface="Noto Sans Symbols"/>
              <a:buNone/>
            </a:pPr>
            <a:endParaRPr sz="2600" b="0" i="0" u="none">
              <a:solidFill>
                <a:schemeClr val="dk1"/>
              </a:solidFill>
              <a:latin typeface="Times New Roman"/>
              <a:ea typeface="Times New Roman"/>
              <a:cs typeface="Times New Roman"/>
              <a:sym typeface="Times New Roman"/>
            </a:endParaRPr>
          </a:p>
        </p:txBody>
      </p:sp>
      <p:sp>
        <p:nvSpPr>
          <p:cNvPr id="565" name="Google Shape;565;p42"/>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29</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3"/>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30</a:t>
            </a:fld>
            <a:endParaRPr sz="1400" b="0" i="0" u="none" strike="noStrike" cap="none">
              <a:solidFill>
                <a:srgbClr val="000000"/>
              </a:solidFill>
              <a:latin typeface="Arial"/>
              <a:ea typeface="Arial"/>
              <a:cs typeface="Arial"/>
              <a:sym typeface="Arial"/>
            </a:endParaRPr>
          </a:p>
        </p:txBody>
      </p:sp>
      <p:sp>
        <p:nvSpPr>
          <p:cNvPr id="571" name="Google Shape;571;p43"/>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Mirror Reflection</a:t>
            </a:r>
            <a:endParaRPr/>
          </a:p>
        </p:txBody>
      </p:sp>
      <p:pic>
        <p:nvPicPr>
          <p:cNvPr id="572" name="Google Shape;572;p43"/>
          <p:cNvPicPr preferRelativeResize="0"/>
          <p:nvPr/>
        </p:nvPicPr>
        <p:blipFill rotWithShape="1">
          <a:blip r:embed="rId3">
            <a:alphaModFix/>
          </a:blip>
          <a:srcRect/>
          <a:stretch/>
        </p:blipFill>
        <p:spPr>
          <a:xfrm>
            <a:off x="1600200" y="3200400"/>
            <a:ext cx="2514600" cy="1874043"/>
          </a:xfrm>
          <a:prstGeom prst="rect">
            <a:avLst/>
          </a:prstGeom>
          <a:noFill/>
          <a:ln>
            <a:noFill/>
          </a:ln>
        </p:spPr>
      </p:pic>
      <p:pic>
        <p:nvPicPr>
          <p:cNvPr id="573" name="Google Shape;573;p43"/>
          <p:cNvPicPr preferRelativeResize="0"/>
          <p:nvPr/>
        </p:nvPicPr>
        <p:blipFill rotWithShape="1">
          <a:blip r:embed="rId4">
            <a:alphaModFix/>
          </a:blip>
          <a:srcRect/>
          <a:stretch/>
        </p:blipFill>
        <p:spPr>
          <a:xfrm>
            <a:off x="5334000" y="3200400"/>
            <a:ext cx="2400300" cy="1789508"/>
          </a:xfrm>
          <a:prstGeom prst="rect">
            <a:avLst/>
          </a:prstGeom>
          <a:noFill/>
          <a:ln>
            <a:noFill/>
          </a:ln>
        </p:spPr>
      </p:pic>
      <p:pic>
        <p:nvPicPr>
          <p:cNvPr id="574" name="Google Shape;574;p43"/>
          <p:cNvPicPr preferRelativeResize="0"/>
          <p:nvPr/>
        </p:nvPicPr>
        <p:blipFill rotWithShape="1">
          <a:blip r:embed="rId5">
            <a:alphaModFix/>
          </a:blip>
          <a:srcRect/>
          <a:stretch/>
        </p:blipFill>
        <p:spPr>
          <a:xfrm>
            <a:off x="1524000" y="1088231"/>
            <a:ext cx="2272904" cy="2116930"/>
          </a:xfrm>
          <a:prstGeom prst="rect">
            <a:avLst/>
          </a:prstGeom>
          <a:noFill/>
          <a:ln>
            <a:noFill/>
          </a:ln>
        </p:spPr>
      </p:pic>
      <p:pic>
        <p:nvPicPr>
          <p:cNvPr id="575" name="Google Shape;575;p43"/>
          <p:cNvPicPr preferRelativeResize="0"/>
          <p:nvPr/>
        </p:nvPicPr>
        <p:blipFill rotWithShape="1">
          <a:blip r:embed="rId6">
            <a:alphaModFix/>
          </a:blip>
          <a:srcRect/>
          <a:stretch/>
        </p:blipFill>
        <p:spPr>
          <a:xfrm>
            <a:off x="4572000" y="1085850"/>
            <a:ext cx="2805114" cy="2116930"/>
          </a:xfrm>
          <a:prstGeom prst="rect">
            <a:avLst/>
          </a:prstGeom>
          <a:noFill/>
          <a:ln>
            <a:noFill/>
          </a:ln>
        </p:spPr>
      </p:pic>
      <p:cxnSp>
        <p:nvCxnSpPr>
          <p:cNvPr id="576" name="Google Shape;576;p43"/>
          <p:cNvCxnSpPr/>
          <p:nvPr/>
        </p:nvCxnSpPr>
        <p:spPr>
          <a:xfrm>
            <a:off x="1524000" y="2146696"/>
            <a:ext cx="2085900" cy="81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44"/>
          <p:cNvSpPr txBox="1">
            <a:spLocks noGrp="1"/>
          </p:cNvSpPr>
          <p:nvPr>
            <p:ph type="sldNum" idx="12"/>
          </p:nvPr>
        </p:nvSpPr>
        <p:spPr>
          <a:xfrm>
            <a:off x="7696025" y="5367413"/>
            <a:ext cx="1905000" cy="342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31</a:t>
            </a:fld>
            <a:endParaRPr sz="900"/>
          </a:p>
        </p:txBody>
      </p:sp>
      <p:sp>
        <p:nvSpPr>
          <p:cNvPr id="582" name="Google Shape;582;p44"/>
          <p:cNvSpPr txBox="1"/>
          <p:nvPr/>
        </p:nvSpPr>
        <p:spPr>
          <a:xfrm>
            <a:off x="1541750" y="821606"/>
            <a:ext cx="2612100" cy="368100"/>
          </a:xfrm>
          <a:prstGeom prst="rect">
            <a:avLst/>
          </a:prstGeom>
          <a:blipFill rotWithShape="1">
            <a:blip r:embed="rId3">
              <a:alphaModFix/>
            </a:blip>
            <a:stretch>
              <a:fillRect l="-2097" t="-624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83" name="Google Shape;583;p44"/>
          <p:cNvSpPr txBox="1"/>
          <p:nvPr/>
        </p:nvSpPr>
        <p:spPr>
          <a:xfrm>
            <a:off x="5557125" y="961650"/>
            <a:ext cx="1818300" cy="368100"/>
          </a:xfrm>
          <a:prstGeom prst="rect">
            <a:avLst/>
          </a:prstGeom>
          <a:blipFill rotWithShape="1">
            <a:blip r:embed="rId4">
              <a:alphaModFix/>
            </a:blip>
            <a:stretch>
              <a:fillRect l="-2678" t="-624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84" name="Google Shape;584;p44"/>
          <p:cNvSpPr txBox="1"/>
          <p:nvPr/>
        </p:nvSpPr>
        <p:spPr>
          <a:xfrm>
            <a:off x="1234275" y="2888344"/>
            <a:ext cx="1667400" cy="346200"/>
          </a:xfrm>
          <a:prstGeom prst="rect">
            <a:avLst/>
          </a:prstGeom>
          <a:blipFill rotWithShape="1">
            <a:blip r:embed="rId5">
              <a:alphaModFix/>
            </a:blip>
            <a:stretch>
              <a:fillRect l="-3296" t="-799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85" name="Google Shape;585;p44"/>
          <p:cNvSpPr txBox="1"/>
          <p:nvPr/>
        </p:nvSpPr>
        <p:spPr>
          <a:xfrm>
            <a:off x="6138817" y="2814504"/>
            <a:ext cx="2595900" cy="346200"/>
          </a:xfrm>
          <a:prstGeom prst="rect">
            <a:avLst/>
          </a:prstGeom>
          <a:blipFill rotWithShape="1">
            <a:blip r:embed="rId6">
              <a:alphaModFix/>
            </a:blip>
            <a:stretch>
              <a:fillRect l="-1878" t="-657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586" name="Google Shape;586;p44"/>
          <p:cNvSpPr txBox="1"/>
          <p:nvPr/>
        </p:nvSpPr>
        <p:spPr>
          <a:xfrm>
            <a:off x="3374795" y="2888351"/>
            <a:ext cx="2592000" cy="346200"/>
          </a:xfrm>
          <a:prstGeom prst="rect">
            <a:avLst/>
          </a:prstGeom>
          <a:blipFill rotWithShape="1">
            <a:blip r:embed="rId7">
              <a:alphaModFix/>
            </a:blip>
            <a:stretch>
              <a:fillRect l="-2117" t="-657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587" name="Google Shape;587;p44"/>
          <p:cNvPicPr preferRelativeResize="0"/>
          <p:nvPr/>
        </p:nvPicPr>
        <p:blipFill rotWithShape="1">
          <a:blip r:embed="rId8">
            <a:alphaModFix/>
          </a:blip>
          <a:srcRect/>
          <a:stretch/>
        </p:blipFill>
        <p:spPr>
          <a:xfrm>
            <a:off x="3832559" y="3452494"/>
            <a:ext cx="1257300" cy="1153715"/>
          </a:xfrm>
          <a:prstGeom prst="rect">
            <a:avLst/>
          </a:prstGeom>
          <a:noFill/>
          <a:ln>
            <a:noFill/>
          </a:ln>
        </p:spPr>
      </p:pic>
      <p:pic>
        <p:nvPicPr>
          <p:cNvPr id="588" name="Google Shape;588;p44"/>
          <p:cNvPicPr preferRelativeResize="0"/>
          <p:nvPr/>
        </p:nvPicPr>
        <p:blipFill rotWithShape="1">
          <a:blip r:embed="rId9">
            <a:alphaModFix/>
          </a:blip>
          <a:srcRect/>
          <a:stretch/>
        </p:blipFill>
        <p:spPr>
          <a:xfrm>
            <a:off x="6598568" y="3372891"/>
            <a:ext cx="1257300" cy="1153715"/>
          </a:xfrm>
          <a:prstGeom prst="rect">
            <a:avLst/>
          </a:prstGeom>
          <a:noFill/>
          <a:ln>
            <a:noFill/>
          </a:ln>
        </p:spPr>
      </p:pic>
      <p:pic>
        <p:nvPicPr>
          <p:cNvPr id="589" name="Google Shape;589;p44"/>
          <p:cNvPicPr preferRelativeResize="0"/>
          <p:nvPr/>
        </p:nvPicPr>
        <p:blipFill rotWithShape="1">
          <a:blip r:embed="rId10">
            <a:alphaModFix/>
          </a:blip>
          <a:srcRect/>
          <a:stretch/>
        </p:blipFill>
        <p:spPr>
          <a:xfrm>
            <a:off x="1158075" y="3554498"/>
            <a:ext cx="1533524" cy="964407"/>
          </a:xfrm>
          <a:prstGeom prst="rect">
            <a:avLst/>
          </a:prstGeom>
          <a:noFill/>
          <a:ln>
            <a:noFill/>
          </a:ln>
        </p:spPr>
      </p:pic>
      <p:pic>
        <p:nvPicPr>
          <p:cNvPr id="590" name="Google Shape;590;p44"/>
          <p:cNvPicPr preferRelativeResize="0"/>
          <p:nvPr/>
        </p:nvPicPr>
        <p:blipFill rotWithShape="1">
          <a:blip r:embed="rId11">
            <a:alphaModFix/>
          </a:blip>
          <a:srcRect/>
          <a:stretch/>
        </p:blipFill>
        <p:spPr>
          <a:xfrm>
            <a:off x="1938400" y="1293094"/>
            <a:ext cx="1101329" cy="1028699"/>
          </a:xfrm>
          <a:prstGeom prst="rect">
            <a:avLst/>
          </a:prstGeom>
          <a:noFill/>
          <a:ln>
            <a:noFill/>
          </a:ln>
        </p:spPr>
      </p:pic>
      <p:pic>
        <p:nvPicPr>
          <p:cNvPr id="591" name="Google Shape;591;p44"/>
          <p:cNvPicPr preferRelativeResize="0"/>
          <p:nvPr/>
        </p:nvPicPr>
        <p:blipFill rotWithShape="1">
          <a:blip r:embed="rId12">
            <a:alphaModFix/>
          </a:blip>
          <a:srcRect/>
          <a:stretch/>
        </p:blipFill>
        <p:spPr>
          <a:xfrm>
            <a:off x="5696826" y="1387895"/>
            <a:ext cx="1258490" cy="11191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45"/>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32</a:t>
            </a:fld>
            <a:endParaRPr sz="1400" b="0" i="0" u="none" strike="noStrike" cap="none">
              <a:solidFill>
                <a:srgbClr val="000000"/>
              </a:solidFill>
              <a:latin typeface="Arial"/>
              <a:ea typeface="Arial"/>
              <a:cs typeface="Arial"/>
              <a:sym typeface="Arial"/>
            </a:endParaRPr>
          </a:p>
        </p:txBody>
      </p:sp>
      <p:sp>
        <p:nvSpPr>
          <p:cNvPr id="597" name="Google Shape;597;p45"/>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3600"/>
              <a:buFont typeface="Times New Roman"/>
              <a:buNone/>
            </a:pPr>
            <a:r>
              <a:rPr lang="en-US" sz="3600" b="0" i="1" u="none">
                <a:solidFill>
                  <a:srgbClr val="663300"/>
                </a:solidFill>
                <a:latin typeface="Times New Roman"/>
                <a:ea typeface="Times New Roman"/>
                <a:cs typeface="Times New Roman"/>
                <a:sym typeface="Times New Roman"/>
              </a:rPr>
              <a:t>Shearing Transformation</a:t>
            </a:r>
            <a:endParaRPr/>
          </a:p>
        </p:txBody>
      </p:sp>
      <p:pic>
        <p:nvPicPr>
          <p:cNvPr id="598" name="Google Shape;598;p45"/>
          <p:cNvPicPr preferRelativeResize="0"/>
          <p:nvPr/>
        </p:nvPicPr>
        <p:blipFill rotWithShape="1">
          <a:blip r:embed="rId3">
            <a:alphaModFix/>
          </a:blip>
          <a:srcRect/>
          <a:stretch/>
        </p:blipFill>
        <p:spPr>
          <a:xfrm>
            <a:off x="1524000" y="1714500"/>
            <a:ext cx="5543549" cy="932259"/>
          </a:xfrm>
          <a:prstGeom prst="rect">
            <a:avLst/>
          </a:prstGeom>
          <a:noFill/>
          <a:ln>
            <a:noFill/>
          </a:ln>
        </p:spPr>
      </p:pic>
      <p:pic>
        <p:nvPicPr>
          <p:cNvPr id="599" name="Google Shape;599;p45"/>
          <p:cNvPicPr preferRelativeResize="0"/>
          <p:nvPr/>
        </p:nvPicPr>
        <p:blipFill rotWithShape="1">
          <a:blip r:embed="rId4">
            <a:alphaModFix/>
          </a:blip>
          <a:srcRect/>
          <a:stretch/>
        </p:blipFill>
        <p:spPr>
          <a:xfrm>
            <a:off x="1905000" y="2914650"/>
            <a:ext cx="4944668" cy="153709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46"/>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33</a:t>
            </a:fld>
            <a:endParaRPr sz="1400" b="0" i="0" u="none" strike="noStrike" cap="none">
              <a:solidFill>
                <a:srgbClr val="000000"/>
              </a:solidFill>
              <a:latin typeface="Arial"/>
              <a:ea typeface="Arial"/>
              <a:cs typeface="Arial"/>
              <a:sym typeface="Arial"/>
            </a:endParaRPr>
          </a:p>
        </p:txBody>
      </p:sp>
      <p:sp>
        <p:nvSpPr>
          <p:cNvPr id="605" name="Google Shape;605;p46"/>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Shear along Z-axis</a:t>
            </a:r>
            <a:endParaRPr/>
          </a:p>
        </p:txBody>
      </p:sp>
      <p:pic>
        <p:nvPicPr>
          <p:cNvPr id="606" name="Google Shape;606;p46"/>
          <p:cNvPicPr preferRelativeResize="0"/>
          <p:nvPr/>
        </p:nvPicPr>
        <p:blipFill rotWithShape="1">
          <a:blip r:embed="rId3">
            <a:alphaModFix/>
          </a:blip>
          <a:srcRect/>
          <a:stretch/>
        </p:blipFill>
        <p:spPr>
          <a:xfrm>
            <a:off x="1752600" y="1543050"/>
            <a:ext cx="5143500" cy="3184922"/>
          </a:xfrm>
          <a:prstGeom prst="rect">
            <a:avLst/>
          </a:prstGeom>
          <a:noFill/>
          <a:ln>
            <a:noFill/>
          </a:ln>
        </p:spPr>
      </p:pic>
      <p:grpSp>
        <p:nvGrpSpPr>
          <p:cNvPr id="607" name="Google Shape;607;p46"/>
          <p:cNvGrpSpPr/>
          <p:nvPr/>
        </p:nvGrpSpPr>
        <p:grpSpPr>
          <a:xfrm>
            <a:off x="6679125" y="145274"/>
            <a:ext cx="1934801" cy="1343013"/>
            <a:chOff x="4290" y="84"/>
            <a:chExt cx="1219" cy="1128"/>
          </a:xfrm>
        </p:grpSpPr>
        <p:cxnSp>
          <p:nvCxnSpPr>
            <p:cNvPr id="608" name="Google Shape;608;p46"/>
            <p:cNvCxnSpPr/>
            <p:nvPr/>
          </p:nvCxnSpPr>
          <p:spPr>
            <a:xfrm rot="10800000">
              <a:off x="4560" y="192"/>
              <a:ext cx="0" cy="624"/>
            </a:xfrm>
            <a:prstGeom prst="straightConnector1">
              <a:avLst/>
            </a:prstGeom>
            <a:noFill/>
            <a:ln w="12700" cap="flat" cmpd="sng">
              <a:solidFill>
                <a:schemeClr val="dk1"/>
              </a:solidFill>
              <a:prstDash val="solid"/>
              <a:miter lim="800000"/>
              <a:headEnd type="none" w="sm" len="sm"/>
              <a:tailEnd type="triangle" w="med" len="med"/>
            </a:ln>
          </p:spPr>
        </p:cxnSp>
        <p:cxnSp>
          <p:nvCxnSpPr>
            <p:cNvPr id="609" name="Google Shape;609;p46"/>
            <p:cNvCxnSpPr/>
            <p:nvPr/>
          </p:nvCxnSpPr>
          <p:spPr>
            <a:xfrm rot="10800000" flipH="1">
              <a:off x="4560" y="805"/>
              <a:ext cx="723" cy="11"/>
            </a:xfrm>
            <a:prstGeom prst="straightConnector1">
              <a:avLst/>
            </a:prstGeom>
            <a:noFill/>
            <a:ln w="12700" cap="flat" cmpd="sng">
              <a:solidFill>
                <a:schemeClr val="dk1"/>
              </a:solidFill>
              <a:prstDash val="solid"/>
              <a:miter lim="800000"/>
              <a:headEnd type="none" w="sm" len="sm"/>
              <a:tailEnd type="triangle" w="med" len="med"/>
            </a:ln>
          </p:spPr>
        </p:cxnSp>
        <p:cxnSp>
          <p:nvCxnSpPr>
            <p:cNvPr id="610" name="Google Shape;610;p46"/>
            <p:cNvCxnSpPr/>
            <p:nvPr/>
          </p:nvCxnSpPr>
          <p:spPr>
            <a:xfrm flipH="1">
              <a:off x="4320" y="816"/>
              <a:ext cx="240" cy="288"/>
            </a:xfrm>
            <a:prstGeom prst="straightConnector1">
              <a:avLst/>
            </a:prstGeom>
            <a:noFill/>
            <a:ln w="12700" cap="flat" cmpd="sng">
              <a:solidFill>
                <a:schemeClr val="dk1"/>
              </a:solidFill>
              <a:prstDash val="solid"/>
              <a:miter lim="800000"/>
              <a:headEnd type="none" w="sm" len="sm"/>
              <a:tailEnd type="triangle" w="med" len="med"/>
            </a:ln>
          </p:spPr>
        </p:cxnSp>
        <p:sp>
          <p:nvSpPr>
            <p:cNvPr id="611" name="Google Shape;611;p46"/>
            <p:cNvSpPr txBox="1"/>
            <p:nvPr/>
          </p:nvSpPr>
          <p:spPr>
            <a:xfrm>
              <a:off x="4560" y="480"/>
              <a:ext cx="336" cy="336"/>
            </a:xfrm>
            <a:prstGeom prst="rect">
              <a:avLst/>
            </a:prstGeom>
            <a:noFill/>
            <a:ln w="19050"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12" name="Google Shape;612;p46"/>
            <p:cNvSpPr txBox="1"/>
            <p:nvPr/>
          </p:nvSpPr>
          <p:spPr>
            <a:xfrm>
              <a:off x="4656" y="672"/>
              <a:ext cx="432" cy="432"/>
            </a:xfrm>
            <a:prstGeom prst="rect">
              <a:avLst/>
            </a:prstGeom>
            <a:noFill/>
            <a:ln w="19050"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cxnSp>
          <p:nvCxnSpPr>
            <p:cNvPr id="613" name="Google Shape;613;p46"/>
            <p:cNvCxnSpPr/>
            <p:nvPr/>
          </p:nvCxnSpPr>
          <p:spPr>
            <a:xfrm rot="10800000">
              <a:off x="4560" y="480"/>
              <a:ext cx="107" cy="226"/>
            </a:xfrm>
            <a:prstGeom prst="straightConnector1">
              <a:avLst/>
            </a:prstGeom>
            <a:noFill/>
            <a:ln w="19050" cap="flat" cmpd="sng">
              <a:solidFill>
                <a:srgbClr val="800000"/>
              </a:solidFill>
              <a:prstDash val="solid"/>
              <a:miter lim="800000"/>
              <a:headEnd type="none" w="sm" len="sm"/>
              <a:tailEnd type="none" w="sm" len="sm"/>
            </a:ln>
          </p:spPr>
        </p:cxnSp>
        <p:cxnSp>
          <p:nvCxnSpPr>
            <p:cNvPr id="614" name="Google Shape;614;p46"/>
            <p:cNvCxnSpPr/>
            <p:nvPr/>
          </p:nvCxnSpPr>
          <p:spPr>
            <a:xfrm rot="10800000">
              <a:off x="4896" y="480"/>
              <a:ext cx="184" cy="192"/>
            </a:xfrm>
            <a:prstGeom prst="straightConnector1">
              <a:avLst/>
            </a:prstGeom>
            <a:noFill/>
            <a:ln w="19050" cap="flat" cmpd="sng">
              <a:solidFill>
                <a:srgbClr val="800000"/>
              </a:solidFill>
              <a:prstDash val="solid"/>
              <a:miter lim="800000"/>
              <a:headEnd type="none" w="sm" len="sm"/>
              <a:tailEnd type="none" w="sm" len="sm"/>
            </a:ln>
          </p:spPr>
        </p:cxnSp>
        <p:cxnSp>
          <p:nvCxnSpPr>
            <p:cNvPr id="615" name="Google Shape;615;p46"/>
            <p:cNvCxnSpPr/>
            <p:nvPr/>
          </p:nvCxnSpPr>
          <p:spPr>
            <a:xfrm rot="10800000">
              <a:off x="4560" y="816"/>
              <a:ext cx="118" cy="305"/>
            </a:xfrm>
            <a:prstGeom prst="straightConnector1">
              <a:avLst/>
            </a:prstGeom>
            <a:noFill/>
            <a:ln w="19050" cap="flat" cmpd="sng">
              <a:solidFill>
                <a:srgbClr val="800000"/>
              </a:solidFill>
              <a:prstDash val="solid"/>
              <a:miter lim="800000"/>
              <a:headEnd type="none" w="sm" len="sm"/>
              <a:tailEnd type="none" w="sm" len="sm"/>
            </a:ln>
          </p:spPr>
        </p:cxnSp>
        <p:cxnSp>
          <p:nvCxnSpPr>
            <p:cNvPr id="616" name="Google Shape;616;p46"/>
            <p:cNvCxnSpPr/>
            <p:nvPr/>
          </p:nvCxnSpPr>
          <p:spPr>
            <a:xfrm rot="10800000">
              <a:off x="4896" y="816"/>
              <a:ext cx="184" cy="283"/>
            </a:xfrm>
            <a:prstGeom prst="straightConnector1">
              <a:avLst/>
            </a:prstGeom>
            <a:noFill/>
            <a:ln w="19050" cap="flat" cmpd="sng">
              <a:solidFill>
                <a:srgbClr val="800000"/>
              </a:solidFill>
              <a:prstDash val="solid"/>
              <a:miter lim="800000"/>
              <a:headEnd type="none" w="sm" len="sm"/>
              <a:tailEnd type="none" w="sm" len="sm"/>
            </a:ln>
          </p:spPr>
        </p:cxnSp>
        <p:sp>
          <p:nvSpPr>
            <p:cNvPr id="617" name="Google Shape;617;p46"/>
            <p:cNvSpPr txBox="1"/>
            <p:nvPr/>
          </p:nvSpPr>
          <p:spPr>
            <a:xfrm>
              <a:off x="4320" y="84"/>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z</a:t>
              </a:r>
              <a:endParaRPr sz="1400" b="0" i="0" u="none" strike="noStrike" cap="none">
                <a:solidFill>
                  <a:srgbClr val="000000"/>
                </a:solidFill>
                <a:latin typeface="Arial"/>
                <a:ea typeface="Arial"/>
                <a:cs typeface="Arial"/>
                <a:sym typeface="Arial"/>
              </a:endParaRPr>
            </a:p>
          </p:txBody>
        </p:sp>
        <p:sp>
          <p:nvSpPr>
            <p:cNvPr id="618" name="Google Shape;618;p46"/>
            <p:cNvSpPr txBox="1"/>
            <p:nvPr/>
          </p:nvSpPr>
          <p:spPr>
            <a:xfrm>
              <a:off x="5209" y="61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x</a:t>
              </a:r>
              <a:endParaRPr sz="1400" b="0" i="0" u="none" strike="noStrike" cap="none">
                <a:solidFill>
                  <a:srgbClr val="000000"/>
                </a:solidFill>
                <a:latin typeface="Arial"/>
                <a:ea typeface="Arial"/>
                <a:cs typeface="Arial"/>
                <a:sym typeface="Arial"/>
              </a:endParaRPr>
            </a:p>
          </p:txBody>
        </p:sp>
        <p:sp>
          <p:nvSpPr>
            <p:cNvPr id="619" name="Google Shape;619;p46"/>
            <p:cNvSpPr txBox="1"/>
            <p:nvPr/>
          </p:nvSpPr>
          <p:spPr>
            <a:xfrm>
              <a:off x="4290" y="912"/>
              <a:ext cx="300" cy="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y</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47"/>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34</a:t>
            </a:fld>
            <a:endParaRPr sz="1400" b="0" i="0" u="none" strike="noStrike" cap="none">
              <a:solidFill>
                <a:srgbClr val="000000"/>
              </a:solidFill>
              <a:latin typeface="Arial"/>
              <a:ea typeface="Arial"/>
              <a:cs typeface="Arial"/>
              <a:sym typeface="Arial"/>
            </a:endParaRPr>
          </a:p>
        </p:txBody>
      </p:sp>
      <p:sp>
        <p:nvSpPr>
          <p:cNvPr id="625" name="Google Shape;625;p47"/>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Shear along X-axis</a:t>
            </a:r>
            <a:endParaRPr/>
          </a:p>
        </p:txBody>
      </p:sp>
      <p:sp>
        <p:nvSpPr>
          <p:cNvPr id="626" name="Google Shape;626;p47"/>
          <p:cNvSpPr/>
          <p:nvPr/>
        </p:nvSpPr>
        <p:spPr>
          <a:xfrm>
            <a:off x="4419600" y="2457450"/>
            <a:ext cx="3048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27" name="Google Shape;627;p47"/>
          <p:cNvPicPr preferRelativeResize="0"/>
          <p:nvPr/>
        </p:nvPicPr>
        <p:blipFill rotWithShape="1">
          <a:blip r:embed="rId3">
            <a:alphaModFix/>
          </a:blip>
          <a:srcRect/>
          <a:stretch/>
        </p:blipFill>
        <p:spPr>
          <a:xfrm>
            <a:off x="1828800" y="1697824"/>
            <a:ext cx="4885599" cy="2494050"/>
          </a:xfrm>
          <a:prstGeom prst="rect">
            <a:avLst/>
          </a:prstGeom>
          <a:noFill/>
          <a:ln>
            <a:noFill/>
          </a:ln>
        </p:spPr>
      </p:pic>
      <p:pic>
        <p:nvPicPr>
          <p:cNvPr id="628" name="Google Shape;628;p47"/>
          <p:cNvPicPr preferRelativeResize="0"/>
          <p:nvPr/>
        </p:nvPicPr>
        <p:blipFill rotWithShape="1">
          <a:blip r:embed="rId4">
            <a:alphaModFix/>
          </a:blip>
          <a:srcRect/>
          <a:stretch/>
        </p:blipFill>
        <p:spPr>
          <a:xfrm>
            <a:off x="6706535" y="201249"/>
            <a:ext cx="1767700" cy="11666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48"/>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35</a:t>
            </a:fld>
            <a:endParaRPr sz="1400" b="0" i="0" u="none" strike="noStrike" cap="none">
              <a:solidFill>
                <a:srgbClr val="000000"/>
              </a:solidFill>
              <a:latin typeface="Arial"/>
              <a:ea typeface="Arial"/>
              <a:cs typeface="Arial"/>
              <a:sym typeface="Arial"/>
            </a:endParaRPr>
          </a:p>
        </p:txBody>
      </p:sp>
      <p:sp>
        <p:nvSpPr>
          <p:cNvPr id="634" name="Google Shape;634;p48"/>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Shear along </a:t>
            </a:r>
            <a:r>
              <a:rPr lang="en-US" sz="4400" i="1">
                <a:solidFill>
                  <a:srgbClr val="663300"/>
                </a:solidFill>
                <a:latin typeface="Times New Roman"/>
                <a:ea typeface="Times New Roman"/>
                <a:cs typeface="Times New Roman"/>
                <a:sym typeface="Times New Roman"/>
              </a:rPr>
              <a:t>Y</a:t>
            </a:r>
            <a:r>
              <a:rPr lang="en-US" sz="4400" b="0" i="1" u="none">
                <a:solidFill>
                  <a:srgbClr val="663300"/>
                </a:solidFill>
                <a:latin typeface="Times New Roman"/>
                <a:ea typeface="Times New Roman"/>
                <a:cs typeface="Times New Roman"/>
                <a:sym typeface="Times New Roman"/>
              </a:rPr>
              <a:t>-axis</a:t>
            </a:r>
            <a:endParaRPr/>
          </a:p>
        </p:txBody>
      </p:sp>
      <p:sp>
        <p:nvSpPr>
          <p:cNvPr id="635" name="Google Shape;635;p48"/>
          <p:cNvSpPr txBox="1"/>
          <p:nvPr/>
        </p:nvSpPr>
        <p:spPr>
          <a:xfrm>
            <a:off x="1913350" y="4373156"/>
            <a:ext cx="15600" cy="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chemeClr val="dk1"/>
              </a:solidFill>
              <a:latin typeface="Times New Roman"/>
              <a:ea typeface="Times New Roman"/>
              <a:cs typeface="Times New Roman"/>
              <a:sym typeface="Times New Roman"/>
            </a:endParaRPr>
          </a:p>
        </p:txBody>
      </p:sp>
      <p:pic>
        <p:nvPicPr>
          <p:cNvPr id="636" name="Google Shape;636;p48"/>
          <p:cNvPicPr preferRelativeResize="0"/>
          <p:nvPr/>
        </p:nvPicPr>
        <p:blipFill rotWithShape="1">
          <a:blip r:embed="rId3">
            <a:alphaModFix/>
          </a:blip>
          <a:srcRect/>
          <a:stretch/>
        </p:blipFill>
        <p:spPr>
          <a:xfrm>
            <a:off x="1510000" y="1712798"/>
            <a:ext cx="4684750" cy="2387125"/>
          </a:xfrm>
          <a:prstGeom prst="rect">
            <a:avLst/>
          </a:prstGeom>
          <a:noFill/>
          <a:ln>
            <a:noFill/>
          </a:ln>
        </p:spPr>
      </p:pic>
      <p:pic>
        <p:nvPicPr>
          <p:cNvPr id="637" name="Google Shape;637;p48"/>
          <p:cNvPicPr preferRelativeResize="0"/>
          <p:nvPr/>
        </p:nvPicPr>
        <p:blipFill rotWithShape="1">
          <a:blip r:embed="rId4">
            <a:alphaModFix/>
          </a:blip>
          <a:srcRect/>
          <a:stretch/>
        </p:blipFill>
        <p:spPr>
          <a:xfrm>
            <a:off x="6473000" y="273849"/>
            <a:ext cx="1905000" cy="128054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49"/>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Inverse Transforms</a:t>
            </a:r>
            <a:endParaRPr/>
          </a:p>
        </p:txBody>
      </p:sp>
      <p:sp>
        <p:nvSpPr>
          <p:cNvPr id="643" name="Google Shape;643;p49"/>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36</a:t>
            </a:fld>
            <a:endParaRPr sz="1400" b="0" i="0" u="none" strike="noStrike" cap="none">
              <a:solidFill>
                <a:srgbClr val="000000"/>
              </a:solidFill>
              <a:latin typeface="Arial"/>
              <a:ea typeface="Arial"/>
              <a:cs typeface="Arial"/>
              <a:sym typeface="Arial"/>
            </a:endParaRPr>
          </a:p>
        </p:txBody>
      </p:sp>
      <p:pic>
        <p:nvPicPr>
          <p:cNvPr id="644" name="Google Shape;644;p49"/>
          <p:cNvPicPr preferRelativeResize="0"/>
          <p:nvPr/>
        </p:nvPicPr>
        <p:blipFill rotWithShape="1">
          <a:blip r:embed="rId3">
            <a:alphaModFix/>
          </a:blip>
          <a:srcRect/>
          <a:stretch/>
        </p:blipFill>
        <p:spPr>
          <a:xfrm>
            <a:off x="693325" y="1268050"/>
            <a:ext cx="5787175" cy="34499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0"/>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37</a:t>
            </a:fld>
            <a:endParaRPr sz="1400" b="0" i="0" u="none" strike="noStrike" cap="none">
              <a:solidFill>
                <a:srgbClr val="000000"/>
              </a:solidFill>
              <a:latin typeface="Arial"/>
              <a:ea typeface="Arial"/>
              <a:cs typeface="Arial"/>
              <a:sym typeface="Arial"/>
            </a:endParaRPr>
          </a:p>
        </p:txBody>
      </p:sp>
      <p:sp>
        <p:nvSpPr>
          <p:cNvPr id="650" name="Google Shape;650;p50"/>
          <p:cNvSpPr txBox="1">
            <a:spLocks noGrp="1"/>
          </p:cNvSpPr>
          <p:nvPr>
            <p:ph type="title"/>
          </p:nvPr>
        </p:nvSpPr>
        <p:spPr>
          <a:xfrm>
            <a:off x="628650" y="135119"/>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Inverse Transformations</a:t>
            </a:r>
            <a:endParaRPr/>
          </a:p>
        </p:txBody>
      </p:sp>
      <p:sp>
        <p:nvSpPr>
          <p:cNvPr id="651" name="Google Shape;651;p50"/>
          <p:cNvSpPr txBox="1"/>
          <p:nvPr/>
        </p:nvSpPr>
        <p:spPr>
          <a:xfrm>
            <a:off x="1177425" y="953473"/>
            <a:ext cx="5762400" cy="39270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100"/>
              <a:buFont typeface="Arial"/>
              <a:buNone/>
            </a:pPr>
            <a:r>
              <a:rPr lang="en-US" sz="3000" b="0" i="0" u="none" strike="noStrike" cap="none">
                <a:solidFill>
                  <a:srgbClr val="000000"/>
                </a:solidFill>
                <a:latin typeface="Times New Roman"/>
                <a:ea typeface="Times New Roman"/>
                <a:cs typeface="Times New Roman"/>
                <a:sym typeface="Times New Roman"/>
              </a:rPr>
              <a:t>Translation  :   </a:t>
            </a:r>
            <a:r>
              <a:rPr lang="en-US" sz="3000" b="0" i="1" u="none" strike="noStrike" cap="none">
                <a:solidFill>
                  <a:srgbClr val="000000"/>
                </a:solidFill>
                <a:latin typeface="Times New Roman"/>
                <a:ea typeface="Times New Roman"/>
                <a:cs typeface="Times New Roman"/>
                <a:sym typeface="Times New Roman"/>
              </a:rPr>
              <a:t>T </a:t>
            </a:r>
            <a:r>
              <a:rPr lang="en-US" sz="3000" b="0" i="0" u="none" strike="noStrike" cap="none" baseline="30000">
                <a:solidFill>
                  <a:srgbClr val="000000"/>
                </a:solidFill>
                <a:latin typeface="Times New Roman"/>
                <a:ea typeface="Times New Roman"/>
                <a:cs typeface="Times New Roman"/>
                <a:sym typeface="Times New Roman"/>
              </a:rPr>
              <a:t>-1</a:t>
            </a:r>
            <a:r>
              <a:rPr lang="en-US" sz="3000" b="0" i="1" u="none" strike="noStrike" cap="none" baseline="-25000">
                <a:solidFill>
                  <a:srgbClr val="000000"/>
                </a:solidFill>
                <a:latin typeface="Times New Roman"/>
                <a:ea typeface="Times New Roman"/>
                <a:cs typeface="Times New Roman"/>
                <a:sym typeface="Times New Roman"/>
              </a:rPr>
              <a:t>(dx, dy)</a:t>
            </a:r>
            <a:r>
              <a:rPr lang="en-US" sz="3000" b="0" i="1" u="none" strike="noStrike" cap="none">
                <a:solidFill>
                  <a:srgbClr val="000000"/>
                </a:solidFill>
                <a:latin typeface="Times New Roman"/>
                <a:ea typeface="Times New Roman"/>
                <a:cs typeface="Times New Roman"/>
                <a:sym typeface="Times New Roman"/>
              </a:rPr>
              <a:t>= T</a:t>
            </a:r>
            <a:r>
              <a:rPr lang="en-US" sz="3000" b="0" i="1" u="none" strike="noStrike" cap="none" baseline="-25000">
                <a:solidFill>
                  <a:srgbClr val="000000"/>
                </a:solidFill>
                <a:latin typeface="Times New Roman"/>
                <a:ea typeface="Times New Roman"/>
                <a:cs typeface="Times New Roman"/>
                <a:sym typeface="Times New Roman"/>
              </a:rPr>
              <a:t>(-dx,- dy)</a:t>
            </a:r>
            <a:r>
              <a:rPr lang="en-US" sz="3000" b="0" i="1" u="none" strike="noStrike" cap="none">
                <a:solidFill>
                  <a:srgbClr val="000000"/>
                </a:solidFill>
                <a:latin typeface="Times New Roman"/>
                <a:ea typeface="Times New Roman"/>
                <a:cs typeface="Times New Roman"/>
                <a:sym typeface="Times New Roman"/>
              </a:rPr>
              <a:t> </a:t>
            </a:r>
            <a:endParaRPr sz="3000" b="0" i="1" u="none" strike="noStrike" cap="none">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100"/>
              <a:buFont typeface="Arial"/>
              <a:buNone/>
            </a:pPr>
            <a:r>
              <a:rPr lang="en-US" sz="3000" b="0" i="0" u="none" strike="noStrike" cap="none">
                <a:solidFill>
                  <a:srgbClr val="000000"/>
                </a:solidFill>
                <a:latin typeface="Times New Roman"/>
                <a:ea typeface="Times New Roman"/>
                <a:cs typeface="Times New Roman"/>
                <a:sym typeface="Times New Roman"/>
              </a:rPr>
              <a:t>Rotation      :  </a:t>
            </a:r>
            <a:r>
              <a:rPr lang="en-US" sz="3000" b="0" i="1" u="none" strike="noStrike" cap="none">
                <a:solidFill>
                  <a:srgbClr val="000000"/>
                </a:solidFill>
                <a:latin typeface="Times New Roman"/>
                <a:ea typeface="Times New Roman"/>
                <a:cs typeface="Times New Roman"/>
                <a:sym typeface="Times New Roman"/>
              </a:rPr>
              <a:t>R</a:t>
            </a:r>
            <a:r>
              <a:rPr lang="en-US" sz="3000" b="0" i="0" u="none" strike="noStrike" cap="none" baseline="30000">
                <a:solidFill>
                  <a:srgbClr val="000000"/>
                </a:solidFill>
                <a:latin typeface="Times New Roman"/>
                <a:ea typeface="Times New Roman"/>
                <a:cs typeface="Times New Roman"/>
                <a:sym typeface="Times New Roman"/>
              </a:rPr>
              <a:t>-1</a:t>
            </a:r>
            <a:r>
              <a:rPr lang="en-US" sz="3000" b="0" i="1" u="none" strike="noStrike" cap="none" baseline="-25000">
                <a:solidFill>
                  <a:srgbClr val="000000"/>
                </a:solidFill>
                <a:latin typeface="Times New Roman"/>
                <a:ea typeface="Times New Roman"/>
                <a:cs typeface="Times New Roman"/>
                <a:sym typeface="Times New Roman"/>
              </a:rPr>
              <a:t>(θ)</a:t>
            </a:r>
            <a:r>
              <a:rPr lang="en-US" sz="3000" b="0" i="1" u="none" strike="noStrike" cap="none">
                <a:solidFill>
                  <a:srgbClr val="000000"/>
                </a:solidFill>
                <a:latin typeface="Times New Roman"/>
                <a:ea typeface="Times New Roman"/>
                <a:cs typeface="Times New Roman"/>
                <a:sym typeface="Times New Roman"/>
              </a:rPr>
              <a:t>  = R</a:t>
            </a:r>
            <a:r>
              <a:rPr lang="en-US" sz="3000" b="0" i="1" u="none" strike="noStrike" cap="none" baseline="-25000">
                <a:solidFill>
                  <a:srgbClr val="000000"/>
                </a:solidFill>
                <a:latin typeface="Times New Roman"/>
                <a:ea typeface="Times New Roman"/>
                <a:cs typeface="Times New Roman"/>
                <a:sym typeface="Times New Roman"/>
              </a:rPr>
              <a:t>(-θ)</a:t>
            </a:r>
            <a:r>
              <a:rPr lang="en-US" sz="3000" b="0" i="1" u="none" strike="noStrike" cap="none">
                <a:solidFill>
                  <a:srgbClr val="000000"/>
                </a:solidFill>
                <a:latin typeface="Times New Roman"/>
                <a:ea typeface="Times New Roman"/>
                <a:cs typeface="Times New Roman"/>
                <a:sym typeface="Times New Roman"/>
              </a:rPr>
              <a:t>   = R</a:t>
            </a:r>
            <a:r>
              <a:rPr lang="en-US" sz="3000" b="0" i="1" u="none" strike="noStrike" cap="none" baseline="30000">
                <a:solidFill>
                  <a:srgbClr val="000000"/>
                </a:solidFill>
                <a:latin typeface="Times New Roman"/>
                <a:ea typeface="Times New Roman"/>
                <a:cs typeface="Times New Roman"/>
                <a:sym typeface="Times New Roman"/>
              </a:rPr>
              <a:t>T</a:t>
            </a:r>
            <a:r>
              <a:rPr lang="en-US" sz="3000" b="0" i="1" u="none" strike="noStrike" cap="none" baseline="-25000">
                <a:solidFill>
                  <a:srgbClr val="000000"/>
                </a:solidFill>
                <a:latin typeface="Times New Roman"/>
                <a:ea typeface="Times New Roman"/>
                <a:cs typeface="Times New Roman"/>
                <a:sym typeface="Times New Roman"/>
              </a:rPr>
              <a:t>(θ)</a:t>
            </a:r>
            <a:r>
              <a:rPr lang="en-US" sz="3000" b="0" i="1" u="none" strike="noStrike" cap="none">
                <a:solidFill>
                  <a:srgbClr val="000000"/>
                </a:solidFill>
                <a:latin typeface="Times New Roman"/>
                <a:ea typeface="Times New Roman"/>
                <a:cs typeface="Times New Roman"/>
                <a:sym typeface="Times New Roman"/>
              </a:rPr>
              <a:t>  </a:t>
            </a:r>
            <a:endParaRPr sz="3000" b="0" i="0" u="none" strike="noStrike" cap="none">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100"/>
              <a:buFont typeface="Arial"/>
              <a:buNone/>
            </a:pPr>
            <a:r>
              <a:rPr lang="en-US" sz="3000" b="0" i="0" u="none" strike="noStrike" cap="none">
                <a:solidFill>
                  <a:srgbClr val="000000"/>
                </a:solidFill>
                <a:latin typeface="Times New Roman"/>
                <a:ea typeface="Times New Roman"/>
                <a:cs typeface="Times New Roman"/>
                <a:sym typeface="Times New Roman"/>
              </a:rPr>
              <a:t>Scaling        :  </a:t>
            </a:r>
            <a:r>
              <a:rPr lang="en-US" sz="3000" b="0" i="1" u="none" strike="noStrike" cap="none">
                <a:solidFill>
                  <a:srgbClr val="000000"/>
                </a:solidFill>
                <a:latin typeface="Times New Roman"/>
                <a:ea typeface="Times New Roman"/>
                <a:cs typeface="Times New Roman"/>
                <a:sym typeface="Times New Roman"/>
              </a:rPr>
              <a:t>S </a:t>
            </a:r>
            <a:r>
              <a:rPr lang="en-US" sz="3000" b="0" i="0" u="none" strike="noStrike" cap="none" baseline="30000">
                <a:solidFill>
                  <a:srgbClr val="000000"/>
                </a:solidFill>
                <a:latin typeface="Times New Roman"/>
                <a:ea typeface="Times New Roman"/>
                <a:cs typeface="Times New Roman"/>
                <a:sym typeface="Times New Roman"/>
              </a:rPr>
              <a:t>-1</a:t>
            </a:r>
            <a:r>
              <a:rPr lang="en-US" sz="3000" b="0" i="1" u="none" strike="noStrike" cap="none" baseline="-25000">
                <a:solidFill>
                  <a:srgbClr val="000000"/>
                </a:solidFill>
                <a:latin typeface="Times New Roman"/>
                <a:ea typeface="Times New Roman"/>
                <a:cs typeface="Times New Roman"/>
                <a:sym typeface="Times New Roman"/>
              </a:rPr>
              <a:t>(sx, sy)</a:t>
            </a:r>
            <a:r>
              <a:rPr lang="en-US" sz="3000" b="0" i="1" u="none" strike="noStrike" cap="none" baseline="30000">
                <a:solidFill>
                  <a:srgbClr val="000000"/>
                </a:solidFill>
                <a:latin typeface="Times New Roman"/>
                <a:ea typeface="Times New Roman"/>
                <a:cs typeface="Times New Roman"/>
                <a:sym typeface="Times New Roman"/>
              </a:rPr>
              <a:t>= </a:t>
            </a:r>
            <a:r>
              <a:rPr lang="en-US" sz="3000" b="0" i="1" u="none" strike="noStrike" cap="none">
                <a:solidFill>
                  <a:srgbClr val="000000"/>
                </a:solidFill>
                <a:latin typeface="Times New Roman"/>
                <a:ea typeface="Times New Roman"/>
                <a:cs typeface="Times New Roman"/>
                <a:sym typeface="Times New Roman"/>
              </a:rPr>
              <a:t>S </a:t>
            </a:r>
            <a:r>
              <a:rPr lang="en-US" sz="3000" b="0" i="1" u="none" strike="noStrike" cap="none" baseline="-25000">
                <a:solidFill>
                  <a:srgbClr val="000000"/>
                </a:solidFill>
                <a:latin typeface="Times New Roman"/>
                <a:ea typeface="Times New Roman"/>
                <a:cs typeface="Times New Roman"/>
                <a:sym typeface="Times New Roman"/>
              </a:rPr>
              <a:t>(1/sx, 1/sy)</a:t>
            </a:r>
            <a:endParaRPr sz="3000" b="0" i="0" u="none" strike="noStrike" cap="none">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100"/>
              <a:buFont typeface="Arial"/>
              <a:buNone/>
            </a:pPr>
            <a:r>
              <a:rPr lang="en-US" sz="3000" b="0" i="0" u="none" strike="noStrike" cap="none">
                <a:solidFill>
                  <a:srgbClr val="000000"/>
                </a:solidFill>
                <a:latin typeface="Times New Roman"/>
                <a:ea typeface="Times New Roman"/>
                <a:cs typeface="Times New Roman"/>
                <a:sym typeface="Times New Roman"/>
              </a:rPr>
              <a:t>Mirror Ref  </a:t>
            </a:r>
            <a:r>
              <a:rPr lang="en-US" sz="2100" b="0" i="0" u="none" strike="noStrike" cap="none">
                <a:solidFill>
                  <a:srgbClr val="000000"/>
                </a:solidFill>
                <a:latin typeface="Times New Roman"/>
                <a:ea typeface="Times New Roman"/>
                <a:cs typeface="Times New Roman"/>
                <a:sym typeface="Times New Roman"/>
              </a:rPr>
              <a:t> </a:t>
            </a:r>
            <a:r>
              <a:rPr lang="en-US" sz="3000" b="0" i="0" u="none" strike="noStrike" cap="none">
                <a:solidFill>
                  <a:srgbClr val="000000"/>
                </a:solidFill>
                <a:latin typeface="Times New Roman"/>
                <a:ea typeface="Times New Roman"/>
                <a:cs typeface="Times New Roman"/>
                <a:sym typeface="Times New Roman"/>
              </a:rPr>
              <a:t>:  </a:t>
            </a:r>
            <a:r>
              <a:rPr lang="en-US" sz="3000" b="0" i="1" u="none" strike="noStrike" cap="none">
                <a:solidFill>
                  <a:srgbClr val="000000"/>
                </a:solidFill>
                <a:latin typeface="Times New Roman"/>
                <a:ea typeface="Times New Roman"/>
                <a:cs typeface="Times New Roman"/>
                <a:sym typeface="Times New Roman"/>
              </a:rPr>
              <a:t>M</a:t>
            </a:r>
            <a:r>
              <a:rPr lang="en-US" sz="3000" b="0" i="1" u="none" strike="noStrike" cap="none" baseline="-25000">
                <a:solidFill>
                  <a:srgbClr val="000000"/>
                </a:solidFill>
                <a:latin typeface="Times New Roman"/>
                <a:ea typeface="Times New Roman"/>
                <a:cs typeface="Times New Roman"/>
                <a:sym typeface="Times New Roman"/>
              </a:rPr>
              <a:t>x</a:t>
            </a:r>
            <a:r>
              <a:rPr lang="en-US" sz="3000" b="0" i="0" u="none" strike="noStrike" cap="none" baseline="30000">
                <a:solidFill>
                  <a:srgbClr val="000000"/>
                </a:solidFill>
                <a:latin typeface="Times New Roman"/>
                <a:ea typeface="Times New Roman"/>
                <a:cs typeface="Times New Roman"/>
                <a:sym typeface="Times New Roman"/>
              </a:rPr>
              <a:t>-1</a:t>
            </a:r>
            <a:r>
              <a:rPr lang="en-US" sz="3000" b="0" i="1" u="none" strike="noStrike" cap="none">
                <a:solidFill>
                  <a:srgbClr val="000000"/>
                </a:solidFill>
                <a:latin typeface="Times New Roman"/>
                <a:ea typeface="Times New Roman"/>
                <a:cs typeface="Times New Roman"/>
                <a:sym typeface="Times New Roman"/>
              </a:rPr>
              <a:t>= M </a:t>
            </a:r>
            <a:r>
              <a:rPr lang="en-US" sz="3000" b="0" i="1" u="none" strike="noStrike" cap="none" baseline="-25000">
                <a:solidFill>
                  <a:srgbClr val="000000"/>
                </a:solidFill>
                <a:latin typeface="Times New Roman"/>
                <a:ea typeface="Times New Roman"/>
                <a:cs typeface="Times New Roman"/>
                <a:sym typeface="Times New Roman"/>
              </a:rPr>
              <a:t>x</a:t>
            </a:r>
            <a:endParaRPr sz="3000" b="0" i="1" u="none" strike="noStrike" cap="none" baseline="-25000">
              <a:solidFill>
                <a:srgbClr val="000000"/>
              </a:solidFill>
              <a:latin typeface="Times New Roman"/>
              <a:ea typeface="Times New Roman"/>
              <a:cs typeface="Times New Roman"/>
              <a:sym typeface="Times New Roman"/>
            </a:endParaRPr>
          </a:p>
          <a:p>
            <a:pPr marL="1828800" marR="0" lvl="0" indent="0" algn="l" rtl="0">
              <a:lnSpc>
                <a:spcPct val="150000"/>
              </a:lnSpc>
              <a:spcBef>
                <a:spcPts val="0"/>
              </a:spcBef>
              <a:spcAft>
                <a:spcPts val="0"/>
              </a:spcAft>
              <a:buClr>
                <a:srgbClr val="000000"/>
              </a:buClr>
              <a:buSzPts val="1100"/>
              <a:buFont typeface="Arial"/>
              <a:buNone/>
            </a:pPr>
            <a:r>
              <a:rPr lang="en-US" sz="3000" b="0" i="1" u="none" strike="noStrike" cap="none">
                <a:solidFill>
                  <a:srgbClr val="000000"/>
                </a:solidFill>
                <a:latin typeface="Times New Roman"/>
                <a:ea typeface="Times New Roman"/>
                <a:cs typeface="Times New Roman"/>
                <a:sym typeface="Times New Roman"/>
              </a:rPr>
              <a:t>    M</a:t>
            </a:r>
            <a:r>
              <a:rPr lang="en-US" sz="3000" b="0" i="1" u="none" strike="noStrike" cap="none" baseline="-25000">
                <a:solidFill>
                  <a:srgbClr val="000000"/>
                </a:solidFill>
                <a:latin typeface="Times New Roman"/>
                <a:ea typeface="Times New Roman"/>
                <a:cs typeface="Times New Roman"/>
                <a:sym typeface="Times New Roman"/>
              </a:rPr>
              <a:t>y</a:t>
            </a:r>
            <a:r>
              <a:rPr lang="en-US" sz="3000" b="0" i="0" u="none" strike="noStrike" cap="none" baseline="30000">
                <a:solidFill>
                  <a:srgbClr val="000000"/>
                </a:solidFill>
                <a:latin typeface="Times New Roman"/>
                <a:ea typeface="Times New Roman"/>
                <a:cs typeface="Times New Roman"/>
                <a:sym typeface="Times New Roman"/>
              </a:rPr>
              <a:t>-1</a:t>
            </a:r>
            <a:r>
              <a:rPr lang="en-US" sz="3000" b="0" i="1" u="none" strike="noStrike" cap="none">
                <a:solidFill>
                  <a:srgbClr val="000000"/>
                </a:solidFill>
                <a:latin typeface="Times New Roman"/>
                <a:ea typeface="Times New Roman"/>
                <a:cs typeface="Times New Roman"/>
                <a:sym typeface="Times New Roman"/>
              </a:rPr>
              <a:t>= M</a:t>
            </a:r>
            <a:r>
              <a:rPr lang="en-US" sz="3000" b="0" i="1" u="none" strike="noStrike" cap="none" baseline="-25000">
                <a:solidFill>
                  <a:srgbClr val="000000"/>
                </a:solidFill>
                <a:latin typeface="Times New Roman"/>
                <a:ea typeface="Times New Roman"/>
                <a:cs typeface="Times New Roman"/>
                <a:sym typeface="Times New Roman"/>
              </a:rPr>
              <a:t>y</a:t>
            </a:r>
            <a:endParaRPr sz="3000" b="0" i="1" u="none" strike="noStrike" cap="none" baseline="-25000">
              <a:solidFill>
                <a:srgbClr val="00000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3500"/>
              <a:buFont typeface="Arial"/>
              <a:buNone/>
            </a:pPr>
            <a:r>
              <a:rPr lang="en-US" sz="3000" b="0" i="0" u="none" strike="noStrike" cap="none">
                <a:solidFill>
                  <a:srgbClr val="000000"/>
                </a:solidFill>
                <a:latin typeface="Times New Roman"/>
                <a:ea typeface="Times New Roman"/>
                <a:cs typeface="Times New Roman"/>
                <a:sym typeface="Times New Roman"/>
              </a:rPr>
              <a:t>Shear           :  </a:t>
            </a:r>
            <a:r>
              <a:rPr lang="en-US" sz="3000" b="0" i="1" u="none" strike="noStrike" cap="none">
                <a:solidFill>
                  <a:srgbClr val="000000"/>
                </a:solidFill>
                <a:latin typeface="Times New Roman"/>
                <a:ea typeface="Times New Roman"/>
                <a:cs typeface="Times New Roman"/>
                <a:sym typeface="Times New Roman"/>
              </a:rPr>
              <a:t>Sh</a:t>
            </a:r>
            <a:r>
              <a:rPr lang="en-US" sz="3000" b="0" i="1" u="none" strike="noStrike" cap="none" baseline="-25000">
                <a:solidFill>
                  <a:srgbClr val="000000"/>
                </a:solidFill>
                <a:latin typeface="Times New Roman"/>
                <a:ea typeface="Times New Roman"/>
                <a:cs typeface="Times New Roman"/>
                <a:sym typeface="Times New Roman"/>
              </a:rPr>
              <a:t>x</a:t>
            </a:r>
            <a:r>
              <a:rPr lang="en-US" sz="3000" b="0" i="0" u="none" strike="noStrike" cap="none" baseline="30000">
                <a:solidFill>
                  <a:srgbClr val="000000"/>
                </a:solidFill>
                <a:latin typeface="Times New Roman"/>
                <a:ea typeface="Times New Roman"/>
                <a:cs typeface="Times New Roman"/>
                <a:sym typeface="Times New Roman"/>
              </a:rPr>
              <a:t>-1</a:t>
            </a:r>
            <a:r>
              <a:rPr lang="en-US" sz="3000" b="0" i="1" u="none" strike="noStrike" cap="none">
                <a:solidFill>
                  <a:srgbClr val="000000"/>
                </a:solidFill>
                <a:latin typeface="Times New Roman"/>
                <a:ea typeface="Times New Roman"/>
                <a:cs typeface="Times New Roman"/>
                <a:sym typeface="Times New Roman"/>
              </a:rPr>
              <a:t> = Sh</a:t>
            </a:r>
            <a:r>
              <a:rPr lang="en-US" sz="3000" b="0" i="1" u="none" strike="noStrike" cap="none" baseline="-25000">
                <a:solidFill>
                  <a:srgbClr val="000000"/>
                </a:solidFill>
                <a:latin typeface="Times New Roman"/>
                <a:ea typeface="Times New Roman"/>
                <a:cs typeface="Times New Roman"/>
                <a:sym typeface="Times New Roman"/>
              </a:rPr>
              <a:t>-x</a:t>
            </a:r>
            <a:endParaRPr sz="3000" b="0" i="1" u="none" strike="noStrike" cap="none" baseline="-25000">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51"/>
          <p:cNvSpPr txBox="1">
            <a:spLocks noGrp="1"/>
          </p:cNvSpPr>
          <p:nvPr>
            <p:ph type="ctrTitle"/>
          </p:nvPr>
        </p:nvSpPr>
        <p:spPr>
          <a:xfrm>
            <a:off x="1143000" y="841772"/>
            <a:ext cx="6858000" cy="17907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Composing Transformations</a:t>
            </a:r>
            <a:endParaRPr/>
          </a:p>
        </p:txBody>
      </p:sp>
      <p:sp>
        <p:nvSpPr>
          <p:cNvPr id="657" name="Google Shape;657;p51"/>
          <p:cNvSpPr txBox="1"/>
          <p:nvPr/>
        </p:nvSpPr>
        <p:spPr>
          <a:xfrm>
            <a:off x="7391400" y="4762500"/>
            <a:ext cx="1724100" cy="342900"/>
          </a:xfrm>
          <a:prstGeom prst="rect">
            <a:avLst/>
          </a:prstGeom>
          <a:noFill/>
          <a:ln>
            <a:noFill/>
          </a:ln>
        </p:spPr>
        <p:txBody>
          <a:bodyPr spcFirstLastPara="1" wrap="square" lIns="92075" tIns="46025" rIns="92075" bIns="46025" anchor="b"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38</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52"/>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39</a:t>
            </a:fld>
            <a:endParaRPr sz="1400" b="0" i="0" u="none" strike="noStrike" cap="none">
              <a:solidFill>
                <a:srgbClr val="000000"/>
              </a:solidFill>
              <a:latin typeface="Arial"/>
              <a:ea typeface="Arial"/>
              <a:cs typeface="Arial"/>
              <a:sym typeface="Arial"/>
            </a:endParaRPr>
          </a:p>
        </p:txBody>
      </p:sp>
      <p:sp>
        <p:nvSpPr>
          <p:cNvPr id="664" name="Google Shape;664;p52"/>
          <p:cNvSpPr txBox="1">
            <a:spLocks noGrp="1"/>
          </p:cNvSpPr>
          <p:nvPr>
            <p:ph type="title"/>
          </p:nvPr>
        </p:nvSpPr>
        <p:spPr>
          <a:xfrm>
            <a:off x="476250" y="452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How are transforms combined?</a:t>
            </a:r>
            <a:endParaRPr/>
          </a:p>
        </p:txBody>
      </p:sp>
      <p:sp>
        <p:nvSpPr>
          <p:cNvPr id="665" name="Google Shape;665;p52"/>
          <p:cNvSpPr txBox="1"/>
          <p:nvPr/>
        </p:nvSpPr>
        <p:spPr>
          <a:xfrm>
            <a:off x="7591425" y="1750219"/>
            <a:ext cx="304800" cy="2262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66" name="Google Shape;666;p52"/>
          <p:cNvSpPr txBox="1"/>
          <p:nvPr/>
        </p:nvSpPr>
        <p:spPr>
          <a:xfrm>
            <a:off x="4116387" y="1863328"/>
            <a:ext cx="303300" cy="227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67" name="Google Shape;667;p52"/>
          <p:cNvSpPr txBox="1"/>
          <p:nvPr/>
        </p:nvSpPr>
        <p:spPr>
          <a:xfrm>
            <a:off x="1081087" y="1976438"/>
            <a:ext cx="150900" cy="1131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68" name="Google Shape;668;p52"/>
          <p:cNvSpPr/>
          <p:nvPr/>
        </p:nvSpPr>
        <p:spPr>
          <a:xfrm>
            <a:off x="7858125" y="1714500"/>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69" name="Google Shape;669;p52"/>
          <p:cNvSpPr/>
          <p:nvPr/>
        </p:nvSpPr>
        <p:spPr>
          <a:xfrm>
            <a:off x="1193800" y="194071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70" name="Google Shape;670;p52"/>
          <p:cNvSpPr/>
          <p:nvPr/>
        </p:nvSpPr>
        <p:spPr>
          <a:xfrm>
            <a:off x="1042987" y="205501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71" name="Google Shape;671;p52"/>
          <p:cNvSpPr/>
          <p:nvPr/>
        </p:nvSpPr>
        <p:spPr>
          <a:xfrm>
            <a:off x="7553325" y="194190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72" name="Google Shape;672;p52"/>
          <p:cNvSpPr/>
          <p:nvPr/>
        </p:nvSpPr>
        <p:spPr>
          <a:xfrm>
            <a:off x="4381500" y="1828800"/>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73" name="Google Shape;673;p52"/>
          <p:cNvSpPr/>
          <p:nvPr/>
        </p:nvSpPr>
        <p:spPr>
          <a:xfrm>
            <a:off x="4078287" y="205501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74" name="Google Shape;674;p52"/>
          <p:cNvSpPr txBox="1"/>
          <p:nvPr/>
        </p:nvSpPr>
        <p:spPr>
          <a:xfrm>
            <a:off x="549275" y="2034778"/>
            <a:ext cx="5907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(0,0)</a:t>
            </a:r>
            <a:endParaRPr sz="1400" b="0" i="0" u="none" strike="noStrike" cap="none">
              <a:solidFill>
                <a:srgbClr val="000000"/>
              </a:solidFill>
              <a:latin typeface="Arial"/>
              <a:ea typeface="Arial"/>
              <a:cs typeface="Arial"/>
              <a:sym typeface="Arial"/>
            </a:endParaRPr>
          </a:p>
        </p:txBody>
      </p:sp>
      <p:sp>
        <p:nvSpPr>
          <p:cNvPr id="675" name="Google Shape;675;p52"/>
          <p:cNvSpPr txBox="1"/>
          <p:nvPr/>
        </p:nvSpPr>
        <p:spPr>
          <a:xfrm>
            <a:off x="1231900" y="1806178"/>
            <a:ext cx="5907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(1,1)</a:t>
            </a:r>
            <a:endParaRPr sz="1400" b="0" i="0" u="none" strike="noStrike" cap="none">
              <a:solidFill>
                <a:srgbClr val="000000"/>
              </a:solidFill>
              <a:latin typeface="Arial"/>
              <a:ea typeface="Arial"/>
              <a:cs typeface="Arial"/>
              <a:sym typeface="Arial"/>
            </a:endParaRPr>
          </a:p>
        </p:txBody>
      </p:sp>
      <p:sp>
        <p:nvSpPr>
          <p:cNvPr id="676" name="Google Shape;676;p52"/>
          <p:cNvSpPr txBox="1"/>
          <p:nvPr/>
        </p:nvSpPr>
        <p:spPr>
          <a:xfrm>
            <a:off x="4435475" y="1668065"/>
            <a:ext cx="5907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(2,2)</a:t>
            </a:r>
            <a:endParaRPr sz="1400" b="0" i="0" u="none" strike="noStrike" cap="none">
              <a:solidFill>
                <a:srgbClr val="000000"/>
              </a:solidFill>
              <a:latin typeface="Arial"/>
              <a:ea typeface="Arial"/>
              <a:cs typeface="Arial"/>
              <a:sym typeface="Arial"/>
            </a:endParaRPr>
          </a:p>
        </p:txBody>
      </p:sp>
      <p:sp>
        <p:nvSpPr>
          <p:cNvPr id="677" name="Google Shape;677;p52"/>
          <p:cNvSpPr txBox="1"/>
          <p:nvPr/>
        </p:nvSpPr>
        <p:spPr>
          <a:xfrm>
            <a:off x="3602037" y="2033588"/>
            <a:ext cx="5907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(0,0)</a:t>
            </a:r>
            <a:endParaRPr sz="1400" b="0" i="0" u="none" strike="noStrike" cap="none">
              <a:solidFill>
                <a:srgbClr val="000000"/>
              </a:solidFill>
              <a:latin typeface="Arial"/>
              <a:ea typeface="Arial"/>
              <a:cs typeface="Arial"/>
              <a:sym typeface="Arial"/>
            </a:endParaRPr>
          </a:p>
        </p:txBody>
      </p:sp>
      <p:sp>
        <p:nvSpPr>
          <p:cNvPr id="678" name="Google Shape;678;p52"/>
          <p:cNvSpPr txBox="1"/>
          <p:nvPr/>
        </p:nvSpPr>
        <p:spPr>
          <a:xfrm>
            <a:off x="7912100" y="1553765"/>
            <a:ext cx="5907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(5,3)</a:t>
            </a:r>
            <a:endParaRPr sz="1400" b="0" i="0" u="none" strike="noStrike" cap="none">
              <a:solidFill>
                <a:srgbClr val="000000"/>
              </a:solidFill>
              <a:latin typeface="Arial"/>
              <a:ea typeface="Arial"/>
              <a:cs typeface="Arial"/>
              <a:sym typeface="Arial"/>
            </a:endParaRPr>
          </a:p>
        </p:txBody>
      </p:sp>
      <p:sp>
        <p:nvSpPr>
          <p:cNvPr id="679" name="Google Shape;679;p52"/>
          <p:cNvSpPr txBox="1"/>
          <p:nvPr/>
        </p:nvSpPr>
        <p:spPr>
          <a:xfrm>
            <a:off x="7061200" y="1838325"/>
            <a:ext cx="5907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Times New Roman"/>
              <a:buNone/>
            </a:pPr>
            <a:r>
              <a:rPr lang="en-US" sz="1600" b="0" i="0" u="none" strike="noStrike" cap="none">
                <a:solidFill>
                  <a:srgbClr val="000000"/>
                </a:solidFill>
                <a:latin typeface="Times New Roman"/>
                <a:ea typeface="Times New Roman"/>
                <a:cs typeface="Times New Roman"/>
                <a:sym typeface="Times New Roman"/>
              </a:rPr>
              <a:t>(3,1)</a:t>
            </a:r>
            <a:endParaRPr sz="1400" b="0" i="0" u="none" strike="noStrike" cap="none">
              <a:solidFill>
                <a:srgbClr val="000000"/>
              </a:solidFill>
              <a:latin typeface="Arial"/>
              <a:ea typeface="Arial"/>
              <a:cs typeface="Arial"/>
              <a:sym typeface="Arial"/>
            </a:endParaRPr>
          </a:p>
        </p:txBody>
      </p:sp>
      <p:cxnSp>
        <p:nvCxnSpPr>
          <p:cNvPr id="680" name="Google Shape;680;p52"/>
          <p:cNvCxnSpPr/>
          <p:nvPr/>
        </p:nvCxnSpPr>
        <p:spPr>
          <a:xfrm rot="10800000">
            <a:off x="7135812" y="1408537"/>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681" name="Google Shape;681;p52"/>
          <p:cNvCxnSpPr/>
          <p:nvPr/>
        </p:nvCxnSpPr>
        <p:spPr>
          <a:xfrm>
            <a:off x="7135812" y="2090738"/>
            <a:ext cx="15192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682" name="Google Shape;682;p52"/>
          <p:cNvCxnSpPr/>
          <p:nvPr/>
        </p:nvCxnSpPr>
        <p:spPr>
          <a:xfrm rot="10800000">
            <a:off x="4114800" y="1408537"/>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683" name="Google Shape;683;p52"/>
          <p:cNvCxnSpPr/>
          <p:nvPr/>
        </p:nvCxnSpPr>
        <p:spPr>
          <a:xfrm>
            <a:off x="4114800" y="2090738"/>
            <a:ext cx="15192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684" name="Google Shape;684;p52"/>
          <p:cNvCxnSpPr/>
          <p:nvPr/>
        </p:nvCxnSpPr>
        <p:spPr>
          <a:xfrm rot="10800000">
            <a:off x="1081087" y="1408537"/>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685" name="Google Shape;685;p52"/>
          <p:cNvCxnSpPr/>
          <p:nvPr/>
        </p:nvCxnSpPr>
        <p:spPr>
          <a:xfrm>
            <a:off x="1081087" y="2090738"/>
            <a:ext cx="1519200" cy="0"/>
          </a:xfrm>
          <a:prstGeom prst="straightConnector1">
            <a:avLst/>
          </a:prstGeom>
          <a:noFill/>
          <a:ln w="38100" cap="flat" cmpd="sng">
            <a:solidFill>
              <a:schemeClr val="dk1"/>
            </a:solidFill>
            <a:prstDash val="solid"/>
            <a:miter lim="800000"/>
            <a:headEnd type="none" w="sm" len="sm"/>
            <a:tailEnd type="triangle" w="med" len="med"/>
          </a:ln>
        </p:spPr>
      </p:cxnSp>
      <p:sp>
        <p:nvSpPr>
          <p:cNvPr id="686" name="Google Shape;686;p52"/>
          <p:cNvSpPr txBox="1"/>
          <p:nvPr/>
        </p:nvSpPr>
        <p:spPr>
          <a:xfrm>
            <a:off x="2674937" y="1693069"/>
            <a:ext cx="11223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600"/>
              <a:buFont typeface="Times New Roman"/>
              <a:buNone/>
            </a:pPr>
            <a:r>
              <a:rPr lang="en-US" sz="1600" b="0" i="0" u="none" strike="noStrike" cap="none">
                <a:solidFill>
                  <a:srgbClr val="FF0000"/>
                </a:solidFill>
                <a:latin typeface="Times New Roman"/>
                <a:ea typeface="Times New Roman"/>
                <a:cs typeface="Times New Roman"/>
                <a:sym typeface="Times New Roman"/>
              </a:rPr>
              <a:t>Scale(2,2)</a:t>
            </a:r>
            <a:endParaRPr sz="1400" b="0" i="0" u="none" strike="noStrike" cap="none">
              <a:solidFill>
                <a:srgbClr val="000000"/>
              </a:solidFill>
              <a:latin typeface="Arial"/>
              <a:ea typeface="Arial"/>
              <a:cs typeface="Arial"/>
              <a:sym typeface="Arial"/>
            </a:endParaRPr>
          </a:p>
        </p:txBody>
      </p:sp>
      <p:cxnSp>
        <p:nvCxnSpPr>
          <p:cNvPr id="687" name="Google Shape;687;p52"/>
          <p:cNvCxnSpPr/>
          <p:nvPr/>
        </p:nvCxnSpPr>
        <p:spPr>
          <a:xfrm>
            <a:off x="2809875" y="1635919"/>
            <a:ext cx="684300" cy="0"/>
          </a:xfrm>
          <a:prstGeom prst="straightConnector1">
            <a:avLst/>
          </a:prstGeom>
          <a:noFill/>
          <a:ln w="76200" cap="flat" cmpd="sng">
            <a:solidFill>
              <a:srgbClr val="FF0000"/>
            </a:solidFill>
            <a:prstDash val="solid"/>
            <a:miter lim="800000"/>
            <a:headEnd type="none" w="sm" len="sm"/>
            <a:tailEnd type="triangle" w="med" len="med"/>
          </a:ln>
        </p:spPr>
      </p:cxnSp>
      <p:sp>
        <p:nvSpPr>
          <p:cNvPr id="688" name="Google Shape;688;p52"/>
          <p:cNvSpPr txBox="1"/>
          <p:nvPr/>
        </p:nvSpPr>
        <p:spPr>
          <a:xfrm>
            <a:off x="5618162" y="1693069"/>
            <a:ext cx="14256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600"/>
              <a:buFont typeface="Times New Roman"/>
              <a:buNone/>
            </a:pPr>
            <a:r>
              <a:rPr lang="en-US" sz="1600" b="0" i="0" u="none" strike="noStrike" cap="none">
                <a:solidFill>
                  <a:srgbClr val="FF0000"/>
                </a:solidFill>
                <a:latin typeface="Times New Roman"/>
                <a:ea typeface="Times New Roman"/>
                <a:cs typeface="Times New Roman"/>
                <a:sym typeface="Times New Roman"/>
              </a:rPr>
              <a:t>Translate(3,1)</a:t>
            </a:r>
            <a:endParaRPr sz="1400" b="0" i="0" u="none" strike="noStrike" cap="none">
              <a:solidFill>
                <a:srgbClr val="000000"/>
              </a:solidFill>
              <a:latin typeface="Arial"/>
              <a:ea typeface="Arial"/>
              <a:cs typeface="Arial"/>
              <a:sym typeface="Arial"/>
            </a:endParaRPr>
          </a:p>
        </p:txBody>
      </p:sp>
      <p:cxnSp>
        <p:nvCxnSpPr>
          <p:cNvPr id="689" name="Google Shape;689;p52"/>
          <p:cNvCxnSpPr/>
          <p:nvPr/>
        </p:nvCxnSpPr>
        <p:spPr>
          <a:xfrm>
            <a:off x="5922962" y="1635919"/>
            <a:ext cx="684300" cy="0"/>
          </a:xfrm>
          <a:prstGeom prst="straightConnector1">
            <a:avLst/>
          </a:prstGeom>
          <a:noFill/>
          <a:ln w="76200" cap="flat" cmpd="sng">
            <a:solidFill>
              <a:srgbClr val="FF0000"/>
            </a:solidFill>
            <a:prstDash val="solid"/>
            <a:miter lim="800000"/>
            <a:headEnd type="none" w="sm" len="sm"/>
            <a:tailEnd type="triangle" w="med" len="med"/>
          </a:ln>
        </p:spPr>
      </p:cxnSp>
      <p:sp>
        <p:nvSpPr>
          <p:cNvPr id="690" name="Google Shape;690;p52"/>
          <p:cNvSpPr txBox="1"/>
          <p:nvPr/>
        </p:nvSpPr>
        <p:spPr>
          <a:xfrm>
            <a:off x="1219200" y="3421856"/>
            <a:ext cx="1066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TS  =</a:t>
            </a:r>
            <a:endParaRPr sz="1400" b="0" i="0" u="none" strike="noStrike" cap="none">
              <a:solidFill>
                <a:srgbClr val="000000"/>
              </a:solidFill>
              <a:latin typeface="Arial"/>
              <a:ea typeface="Arial"/>
              <a:cs typeface="Arial"/>
              <a:sym typeface="Arial"/>
            </a:endParaRPr>
          </a:p>
        </p:txBody>
      </p:sp>
      <p:sp>
        <p:nvSpPr>
          <p:cNvPr id="691" name="Google Shape;691;p52"/>
          <p:cNvSpPr/>
          <p:nvPr/>
        </p:nvSpPr>
        <p:spPr>
          <a:xfrm>
            <a:off x="4191000" y="3021799"/>
            <a:ext cx="1524000" cy="14289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92" name="Google Shape;692;p52"/>
          <p:cNvSpPr txBox="1"/>
          <p:nvPr/>
        </p:nvSpPr>
        <p:spPr>
          <a:xfrm>
            <a:off x="4267200" y="3064669"/>
            <a:ext cx="457200" cy="138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2</a:t>
            </a:r>
            <a:endParaRPr sz="1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imes New Roman"/>
              <a:ea typeface="Times New Roman"/>
              <a:cs typeface="Times New Roman"/>
              <a:sym typeface="Times New Roman"/>
            </a:endParaRPr>
          </a:p>
        </p:txBody>
      </p:sp>
      <p:sp>
        <p:nvSpPr>
          <p:cNvPr id="693" name="Google Shape;693;p52"/>
          <p:cNvSpPr txBox="1"/>
          <p:nvPr/>
        </p:nvSpPr>
        <p:spPr>
          <a:xfrm>
            <a:off x="4724400" y="3056334"/>
            <a:ext cx="457200" cy="1167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2</a:t>
            </a:r>
            <a:endParaRPr sz="1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1" u="none" strike="noStrike" cap="none">
              <a:solidFill>
                <a:srgbClr val="FF0000"/>
              </a:solidFill>
              <a:latin typeface="Times New Roman"/>
              <a:ea typeface="Times New Roman"/>
              <a:cs typeface="Times New Roman"/>
              <a:sym typeface="Times New Roman"/>
            </a:endParaRPr>
          </a:p>
        </p:txBody>
      </p:sp>
      <p:sp>
        <p:nvSpPr>
          <p:cNvPr id="694" name="Google Shape;694;p52"/>
          <p:cNvSpPr txBox="1"/>
          <p:nvPr/>
        </p:nvSpPr>
        <p:spPr>
          <a:xfrm>
            <a:off x="5181600" y="3064669"/>
            <a:ext cx="457200" cy="138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imes New Roman"/>
              <a:ea typeface="Times New Roman"/>
              <a:cs typeface="Times New Roman"/>
              <a:sym typeface="Times New Roman"/>
            </a:endParaRPr>
          </a:p>
        </p:txBody>
      </p:sp>
      <p:sp>
        <p:nvSpPr>
          <p:cNvPr id="695" name="Google Shape;695;p52"/>
          <p:cNvSpPr/>
          <p:nvPr/>
        </p:nvSpPr>
        <p:spPr>
          <a:xfrm>
            <a:off x="2438400" y="3021799"/>
            <a:ext cx="1524000" cy="14646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696" name="Google Shape;696;p52"/>
          <p:cNvSpPr txBox="1"/>
          <p:nvPr/>
        </p:nvSpPr>
        <p:spPr>
          <a:xfrm>
            <a:off x="2514600" y="3064669"/>
            <a:ext cx="457200" cy="138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1</a:t>
            </a:r>
            <a:endParaRPr sz="1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imes New Roman"/>
              <a:ea typeface="Times New Roman"/>
              <a:cs typeface="Times New Roman"/>
              <a:sym typeface="Times New Roman"/>
            </a:endParaRPr>
          </a:p>
        </p:txBody>
      </p:sp>
      <p:sp>
        <p:nvSpPr>
          <p:cNvPr id="697" name="Google Shape;697;p52"/>
          <p:cNvSpPr txBox="1"/>
          <p:nvPr/>
        </p:nvSpPr>
        <p:spPr>
          <a:xfrm>
            <a:off x="2971800" y="3056334"/>
            <a:ext cx="457200" cy="1167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1</a:t>
            </a:r>
            <a:endParaRPr sz="1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p:txBody>
      </p:sp>
      <p:sp>
        <p:nvSpPr>
          <p:cNvPr id="698" name="Google Shape;698;p52"/>
          <p:cNvSpPr txBox="1"/>
          <p:nvPr/>
        </p:nvSpPr>
        <p:spPr>
          <a:xfrm>
            <a:off x="3429000" y="3064669"/>
            <a:ext cx="457200" cy="138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0" i="1" u="none" strike="noStrike" cap="none">
              <a:solidFill>
                <a:srgbClr val="FF0000"/>
              </a:solidFill>
              <a:latin typeface="Times New Roman"/>
              <a:ea typeface="Times New Roman"/>
              <a:cs typeface="Times New Roman"/>
              <a:sym typeface="Times New Roman"/>
            </a:endParaRPr>
          </a:p>
        </p:txBody>
      </p:sp>
      <p:sp>
        <p:nvSpPr>
          <p:cNvPr id="699" name="Google Shape;699;p52"/>
          <p:cNvSpPr/>
          <p:nvPr/>
        </p:nvSpPr>
        <p:spPr>
          <a:xfrm>
            <a:off x="6477000" y="3021799"/>
            <a:ext cx="1524000" cy="14646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00" name="Google Shape;700;p52"/>
          <p:cNvSpPr txBox="1"/>
          <p:nvPr/>
        </p:nvSpPr>
        <p:spPr>
          <a:xfrm>
            <a:off x="6553200" y="3064669"/>
            <a:ext cx="457200" cy="138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2</a:t>
            </a:r>
            <a:endParaRPr sz="1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imes New Roman"/>
              <a:ea typeface="Times New Roman"/>
              <a:cs typeface="Times New Roman"/>
              <a:sym typeface="Times New Roman"/>
            </a:endParaRPr>
          </a:p>
        </p:txBody>
      </p:sp>
      <p:sp>
        <p:nvSpPr>
          <p:cNvPr id="701" name="Google Shape;701;p52"/>
          <p:cNvSpPr txBox="1"/>
          <p:nvPr/>
        </p:nvSpPr>
        <p:spPr>
          <a:xfrm>
            <a:off x="7010400" y="3056334"/>
            <a:ext cx="457200" cy="1167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2</a:t>
            </a:r>
            <a:endParaRPr sz="1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endParaRPr sz="1400" b="0" i="1" u="none" strike="noStrike" cap="none">
              <a:solidFill>
                <a:srgbClr val="FF0000"/>
              </a:solidFill>
              <a:latin typeface="Times New Roman"/>
              <a:ea typeface="Times New Roman"/>
              <a:cs typeface="Times New Roman"/>
              <a:sym typeface="Times New Roman"/>
            </a:endParaRPr>
          </a:p>
        </p:txBody>
      </p:sp>
      <p:sp>
        <p:nvSpPr>
          <p:cNvPr id="702" name="Google Shape;702;p52"/>
          <p:cNvSpPr txBox="1"/>
          <p:nvPr/>
        </p:nvSpPr>
        <p:spPr>
          <a:xfrm>
            <a:off x="7467600" y="3064669"/>
            <a:ext cx="457200" cy="138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800"/>
              <a:buFont typeface="Times New Roman"/>
              <a:buNone/>
            </a:pPr>
            <a:r>
              <a:rPr lang="en-US" sz="2800" b="0" i="1" u="none" strike="noStrike" cap="none">
                <a:solidFill>
                  <a:srgbClr val="FF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0" i="1" u="none" strike="noStrike" cap="none">
              <a:solidFill>
                <a:srgbClr val="FF0000"/>
              </a:solidFill>
              <a:latin typeface="Times New Roman"/>
              <a:ea typeface="Times New Roman"/>
              <a:cs typeface="Times New Roman"/>
              <a:sym typeface="Times New Roman"/>
            </a:endParaRPr>
          </a:p>
        </p:txBody>
      </p:sp>
      <p:sp>
        <p:nvSpPr>
          <p:cNvPr id="703" name="Google Shape;703;p52"/>
          <p:cNvSpPr txBox="1"/>
          <p:nvPr/>
        </p:nvSpPr>
        <p:spPr>
          <a:xfrm>
            <a:off x="5943600" y="3421856"/>
            <a:ext cx="304800" cy="492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704" name="Google Shape;704;p52"/>
          <p:cNvSpPr txBox="1"/>
          <p:nvPr/>
        </p:nvSpPr>
        <p:spPr>
          <a:xfrm>
            <a:off x="450850" y="879872"/>
            <a:ext cx="3481500" cy="477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Times New Roman"/>
              <a:buNone/>
            </a:pPr>
            <a:r>
              <a:rPr lang="en-US" sz="2500" b="0" i="0" u="none" strike="noStrike" cap="none">
                <a:solidFill>
                  <a:srgbClr val="000000"/>
                </a:solidFill>
                <a:latin typeface="Times New Roman"/>
                <a:ea typeface="Times New Roman"/>
                <a:cs typeface="Times New Roman"/>
                <a:sym typeface="Times New Roman"/>
              </a:rPr>
              <a:t>Scale then Translate</a:t>
            </a:r>
            <a:endParaRPr sz="700" b="0" i="0" u="none" strike="noStrike" cap="none">
              <a:solidFill>
                <a:srgbClr val="000000"/>
              </a:solidFill>
              <a:latin typeface="Arial"/>
              <a:ea typeface="Arial"/>
              <a:cs typeface="Arial"/>
              <a:sym typeface="Arial"/>
            </a:endParaRPr>
          </a:p>
        </p:txBody>
      </p:sp>
      <p:sp>
        <p:nvSpPr>
          <p:cNvPr id="705" name="Google Shape;705;p52"/>
          <p:cNvSpPr txBox="1"/>
          <p:nvPr/>
        </p:nvSpPr>
        <p:spPr>
          <a:xfrm>
            <a:off x="192150" y="2426313"/>
            <a:ext cx="84549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Times New Roman"/>
              <a:buNone/>
            </a:pPr>
            <a:r>
              <a:rPr lang="en-US" sz="2300" b="0" i="0" u="none" strike="noStrike" cap="none">
                <a:solidFill>
                  <a:srgbClr val="000000"/>
                </a:solidFill>
                <a:latin typeface="Times New Roman"/>
                <a:ea typeface="Times New Roman"/>
                <a:cs typeface="Times New Roman"/>
                <a:sym typeface="Times New Roman"/>
              </a:rPr>
              <a:t>Use matrix multiplication:   p'  =  T ( S p )  =  TS</a:t>
            </a:r>
            <a:r>
              <a:rPr lang="en-US" sz="2400" b="0" i="0" u="none" strike="noStrike" cap="none">
                <a:solidFill>
                  <a:srgbClr val="000000"/>
                </a:solidFill>
                <a:latin typeface="Times New Roman"/>
                <a:ea typeface="Times New Roman"/>
                <a:cs typeface="Times New Roman"/>
                <a:sym typeface="Times New Roman"/>
              </a:rPr>
              <a:t> p</a:t>
            </a:r>
            <a:endParaRPr sz="600" b="0" i="0" u="none" strike="noStrike" cap="none">
              <a:solidFill>
                <a:srgbClr val="000000"/>
              </a:solidFill>
              <a:latin typeface="Arial"/>
              <a:ea typeface="Arial"/>
              <a:cs typeface="Arial"/>
              <a:sym typeface="Arial"/>
            </a:endParaRPr>
          </a:p>
        </p:txBody>
      </p:sp>
      <p:sp>
        <p:nvSpPr>
          <p:cNvPr id="706" name="Google Shape;706;p52"/>
          <p:cNvSpPr txBox="1"/>
          <p:nvPr/>
        </p:nvSpPr>
        <p:spPr>
          <a:xfrm>
            <a:off x="261875" y="4495668"/>
            <a:ext cx="8796300" cy="477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Times New Roman"/>
              <a:buNone/>
            </a:pPr>
            <a:r>
              <a:rPr lang="en-US" sz="2500" b="0" i="0" u="none" strike="noStrike" cap="none">
                <a:solidFill>
                  <a:srgbClr val="000000"/>
                </a:solidFill>
                <a:latin typeface="Times New Roman"/>
                <a:ea typeface="Times New Roman"/>
                <a:cs typeface="Times New Roman"/>
                <a:sym typeface="Times New Roman"/>
              </a:rPr>
              <a:t>Caution: matrix multiplication is NOT commutative!</a:t>
            </a:r>
            <a:endParaRPr sz="700" b="0" i="0" u="none" strike="noStrike" cap="none">
              <a:solidFill>
                <a:srgbClr val="000000"/>
              </a:solidFill>
              <a:latin typeface="Arial"/>
              <a:ea typeface="Arial"/>
              <a:cs typeface="Arial"/>
              <a:sym typeface="Arial"/>
            </a:endParaRPr>
          </a:p>
        </p:txBody>
      </p:sp>
      <p:grpSp>
        <p:nvGrpSpPr>
          <p:cNvPr id="707" name="Google Shape;707;p52"/>
          <p:cNvGrpSpPr/>
          <p:nvPr/>
        </p:nvGrpSpPr>
        <p:grpSpPr>
          <a:xfrm>
            <a:off x="2517775" y="3057525"/>
            <a:ext cx="1390650" cy="1428750"/>
            <a:chOff x="252" y="3189"/>
            <a:chExt cx="876" cy="1200"/>
          </a:xfrm>
        </p:grpSpPr>
        <p:sp>
          <p:nvSpPr>
            <p:cNvPr id="708" name="Google Shape;708;p52"/>
            <p:cNvSpPr txBox="1"/>
            <p:nvPr/>
          </p:nvSpPr>
          <p:spPr>
            <a:xfrm>
              <a:off x="252"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9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9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900" b="0" i="0" u="none" strike="noStrike" cap="none">
                  <a:solidFill>
                    <a:schemeClr val="dk1"/>
                  </a:solidFill>
                  <a:latin typeface="Times New Roman"/>
                  <a:ea typeface="Times New Roman"/>
                  <a:cs typeface="Times New Roman"/>
                  <a:sym typeface="Times New Roman"/>
                </a:rPr>
                <a:t>0</a:t>
              </a:r>
              <a:endParaRPr sz="1500" b="0" i="0" u="none" strike="noStrike" cap="none">
                <a:solidFill>
                  <a:srgbClr val="000000"/>
                </a:solidFill>
                <a:latin typeface="Arial"/>
                <a:ea typeface="Arial"/>
                <a:cs typeface="Arial"/>
                <a:sym typeface="Arial"/>
              </a:endParaRPr>
            </a:p>
          </p:txBody>
        </p:sp>
        <p:sp>
          <p:nvSpPr>
            <p:cNvPr id="709" name="Google Shape;709;p52"/>
            <p:cNvSpPr txBox="1"/>
            <p:nvPr/>
          </p:nvSpPr>
          <p:spPr>
            <a:xfrm>
              <a:off x="537"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9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9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900" b="0" i="0" u="none" strike="noStrike" cap="none">
                  <a:solidFill>
                    <a:schemeClr val="dk1"/>
                  </a:solidFill>
                  <a:latin typeface="Times New Roman"/>
                  <a:ea typeface="Times New Roman"/>
                  <a:cs typeface="Times New Roman"/>
                  <a:sym typeface="Times New Roman"/>
                </a:rPr>
                <a:t>0</a:t>
              </a:r>
              <a:endParaRPr sz="1500" b="0" i="0" u="none" strike="noStrike" cap="none">
                <a:solidFill>
                  <a:srgbClr val="000000"/>
                </a:solidFill>
                <a:latin typeface="Arial"/>
                <a:ea typeface="Arial"/>
                <a:cs typeface="Arial"/>
                <a:sym typeface="Arial"/>
              </a:endParaRPr>
            </a:p>
          </p:txBody>
        </p:sp>
        <p:sp>
          <p:nvSpPr>
            <p:cNvPr id="710" name="Google Shape;710;p52"/>
            <p:cNvSpPr txBox="1"/>
            <p:nvPr/>
          </p:nvSpPr>
          <p:spPr>
            <a:xfrm>
              <a:off x="828"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9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9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900" b="0" i="0" u="none" strike="noStrike" cap="none">
                  <a:solidFill>
                    <a:schemeClr val="dk1"/>
                  </a:solidFill>
                  <a:latin typeface="Times New Roman"/>
                  <a:ea typeface="Times New Roman"/>
                  <a:cs typeface="Times New Roman"/>
                  <a:sym typeface="Times New Roman"/>
                </a:rPr>
                <a:t>1</a:t>
              </a:r>
              <a:endParaRPr sz="1500" b="0" i="0" u="none" strike="noStrike" cap="none">
                <a:solidFill>
                  <a:srgbClr val="000000"/>
                </a:solidFill>
                <a:latin typeface="Arial"/>
                <a:ea typeface="Arial"/>
                <a:cs typeface="Arial"/>
                <a:sym typeface="Arial"/>
              </a:endParaRPr>
            </a:p>
          </p:txBody>
        </p:sp>
      </p:grpSp>
      <p:grpSp>
        <p:nvGrpSpPr>
          <p:cNvPr id="711" name="Google Shape;711;p52"/>
          <p:cNvGrpSpPr/>
          <p:nvPr/>
        </p:nvGrpSpPr>
        <p:grpSpPr>
          <a:xfrm>
            <a:off x="4268787" y="3057525"/>
            <a:ext cx="1390650" cy="1428750"/>
            <a:chOff x="252" y="3189"/>
            <a:chExt cx="876" cy="1200"/>
          </a:xfrm>
        </p:grpSpPr>
        <p:sp>
          <p:nvSpPr>
            <p:cNvPr id="712" name="Google Shape;712;p52"/>
            <p:cNvSpPr txBox="1"/>
            <p:nvPr/>
          </p:nvSpPr>
          <p:spPr>
            <a:xfrm>
              <a:off x="252"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7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7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700" b="0" i="0" u="none" strike="noStrike" cap="none">
                  <a:solidFill>
                    <a:schemeClr val="dk1"/>
                  </a:solidFill>
                  <a:latin typeface="Times New Roman"/>
                  <a:ea typeface="Times New Roman"/>
                  <a:cs typeface="Times New Roman"/>
                  <a:sym typeface="Times New Roman"/>
                </a:rPr>
                <a:t>0</a:t>
              </a:r>
              <a:endParaRPr sz="1300" b="0" i="0" u="none" strike="noStrike" cap="none">
                <a:solidFill>
                  <a:srgbClr val="000000"/>
                </a:solidFill>
                <a:latin typeface="Arial"/>
                <a:ea typeface="Arial"/>
                <a:cs typeface="Arial"/>
                <a:sym typeface="Arial"/>
              </a:endParaRPr>
            </a:p>
          </p:txBody>
        </p:sp>
        <p:sp>
          <p:nvSpPr>
            <p:cNvPr id="713" name="Google Shape;713;p52"/>
            <p:cNvSpPr txBox="1"/>
            <p:nvPr/>
          </p:nvSpPr>
          <p:spPr>
            <a:xfrm>
              <a:off x="537"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14" name="Google Shape;714;p52"/>
            <p:cNvSpPr txBox="1"/>
            <p:nvPr/>
          </p:nvSpPr>
          <p:spPr>
            <a:xfrm>
              <a:off x="828"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grpSp>
      <p:grpSp>
        <p:nvGrpSpPr>
          <p:cNvPr id="715" name="Google Shape;715;p52"/>
          <p:cNvGrpSpPr/>
          <p:nvPr/>
        </p:nvGrpSpPr>
        <p:grpSpPr>
          <a:xfrm>
            <a:off x="6545262" y="3057525"/>
            <a:ext cx="1390650" cy="1428750"/>
            <a:chOff x="252" y="3189"/>
            <a:chExt cx="876" cy="1200"/>
          </a:xfrm>
        </p:grpSpPr>
        <p:sp>
          <p:nvSpPr>
            <p:cNvPr id="716" name="Google Shape;716;p52"/>
            <p:cNvSpPr txBox="1"/>
            <p:nvPr/>
          </p:nvSpPr>
          <p:spPr>
            <a:xfrm>
              <a:off x="252"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8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17" name="Google Shape;717;p52"/>
            <p:cNvSpPr txBox="1"/>
            <p:nvPr/>
          </p:nvSpPr>
          <p:spPr>
            <a:xfrm>
              <a:off x="537"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18" name="Google Shape;718;p52"/>
            <p:cNvSpPr txBox="1"/>
            <p:nvPr/>
          </p:nvSpPr>
          <p:spPr>
            <a:xfrm>
              <a:off x="828"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800"/>
                <a:buFont typeface="Times New Roman"/>
                <a:buNone/>
              </a:pPr>
              <a:r>
                <a:rPr lang="en-US" sz="28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9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9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9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9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0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53"/>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200"/>
              <a:buFont typeface="Times New Roman"/>
              <a:buNone/>
            </a:pPr>
            <a:fld id="{00000000-1234-1234-1234-123412341234}" type="slidenum">
              <a:rPr lang="en-US" sz="1200" b="0" i="0" u="none" strike="noStrike" cap="none">
                <a:solidFill>
                  <a:schemeClr val="dk2"/>
                </a:solidFill>
                <a:latin typeface="Times New Roman"/>
                <a:ea typeface="Times New Roman"/>
                <a:cs typeface="Times New Roman"/>
                <a:sym typeface="Times New Roman"/>
              </a:rPr>
              <a:t>40</a:t>
            </a:fld>
            <a:endParaRPr sz="1400" b="0" i="0" u="none" strike="noStrike" cap="none">
              <a:solidFill>
                <a:srgbClr val="000000"/>
              </a:solidFill>
              <a:latin typeface="Arial"/>
              <a:ea typeface="Arial"/>
              <a:cs typeface="Arial"/>
              <a:sym typeface="Arial"/>
            </a:endParaRPr>
          </a:p>
        </p:txBody>
      </p:sp>
      <p:sp>
        <p:nvSpPr>
          <p:cNvPr id="725" name="Google Shape;725;p53"/>
          <p:cNvSpPr txBox="1"/>
          <p:nvPr/>
        </p:nvSpPr>
        <p:spPr>
          <a:xfrm>
            <a:off x="8047037" y="3684984"/>
            <a:ext cx="303300" cy="227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26" name="Google Shape;726;p53"/>
          <p:cNvSpPr txBox="1"/>
          <p:nvPr/>
        </p:nvSpPr>
        <p:spPr>
          <a:xfrm>
            <a:off x="4572000" y="3912394"/>
            <a:ext cx="150900" cy="1131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27" name="Google Shape;727;p53"/>
          <p:cNvSpPr txBox="1"/>
          <p:nvPr/>
        </p:nvSpPr>
        <p:spPr>
          <a:xfrm>
            <a:off x="1081087" y="4026694"/>
            <a:ext cx="150900" cy="1131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28" name="Google Shape;728;p53"/>
          <p:cNvSpPr txBox="1"/>
          <p:nvPr/>
        </p:nvSpPr>
        <p:spPr>
          <a:xfrm>
            <a:off x="7591425" y="1750219"/>
            <a:ext cx="304800" cy="2262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29" name="Google Shape;729;p53"/>
          <p:cNvSpPr txBox="1"/>
          <p:nvPr/>
        </p:nvSpPr>
        <p:spPr>
          <a:xfrm>
            <a:off x="4116387" y="1863328"/>
            <a:ext cx="303300" cy="227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30" name="Google Shape;730;p53"/>
          <p:cNvSpPr txBox="1"/>
          <p:nvPr/>
        </p:nvSpPr>
        <p:spPr>
          <a:xfrm>
            <a:off x="1081087" y="1976438"/>
            <a:ext cx="150900" cy="1131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31" name="Google Shape;731;p53"/>
          <p:cNvSpPr txBox="1">
            <a:spLocks noGrp="1"/>
          </p:cNvSpPr>
          <p:nvPr>
            <p:ph type="title"/>
          </p:nvPr>
        </p:nvSpPr>
        <p:spPr>
          <a:xfrm>
            <a:off x="581475" y="167269"/>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Non-commutative Composition</a:t>
            </a:r>
            <a:endParaRPr/>
          </a:p>
        </p:txBody>
      </p:sp>
      <p:sp>
        <p:nvSpPr>
          <p:cNvPr id="732" name="Google Shape;732;p53"/>
          <p:cNvSpPr txBox="1"/>
          <p:nvPr/>
        </p:nvSpPr>
        <p:spPr>
          <a:xfrm>
            <a:off x="917550" y="962119"/>
            <a:ext cx="66738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Times New Roman"/>
              <a:buNone/>
            </a:pPr>
            <a:r>
              <a:rPr lang="en-US" sz="2200" b="0" i="0" u="none" strike="noStrike" cap="none">
                <a:solidFill>
                  <a:srgbClr val="000000"/>
                </a:solidFill>
                <a:latin typeface="Times New Roman"/>
                <a:ea typeface="Times New Roman"/>
                <a:cs typeface="Times New Roman"/>
                <a:sym typeface="Times New Roman"/>
              </a:rPr>
              <a:t>Scale then Translate:   p'  =  T ( S p )  =  TS p</a:t>
            </a:r>
            <a:endParaRPr sz="800" b="0" i="0" u="none" strike="noStrike" cap="none">
              <a:solidFill>
                <a:srgbClr val="000000"/>
              </a:solidFill>
              <a:latin typeface="Arial"/>
              <a:ea typeface="Arial"/>
              <a:cs typeface="Arial"/>
              <a:sym typeface="Arial"/>
            </a:endParaRPr>
          </a:p>
        </p:txBody>
      </p:sp>
      <p:sp>
        <p:nvSpPr>
          <p:cNvPr id="733" name="Google Shape;733;p53"/>
          <p:cNvSpPr txBox="1"/>
          <p:nvPr/>
        </p:nvSpPr>
        <p:spPr>
          <a:xfrm>
            <a:off x="927975" y="2653784"/>
            <a:ext cx="6680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Times New Roman"/>
              <a:buNone/>
            </a:pPr>
            <a:r>
              <a:rPr lang="en-US" sz="2400" b="0" i="0" u="none" strike="noStrike" cap="none">
                <a:solidFill>
                  <a:srgbClr val="000000"/>
                </a:solidFill>
                <a:latin typeface="Times New Roman"/>
                <a:ea typeface="Times New Roman"/>
                <a:cs typeface="Times New Roman"/>
                <a:sym typeface="Times New Roman"/>
              </a:rPr>
              <a:t>Translate then Scale:   p'  =  S ( T p )  =  ST p</a:t>
            </a:r>
            <a:endParaRPr sz="1000" b="0" i="0" u="none" strike="noStrike" cap="none">
              <a:solidFill>
                <a:srgbClr val="000000"/>
              </a:solidFill>
              <a:latin typeface="Arial"/>
              <a:ea typeface="Arial"/>
              <a:cs typeface="Arial"/>
              <a:sym typeface="Arial"/>
            </a:endParaRPr>
          </a:p>
        </p:txBody>
      </p:sp>
      <p:cxnSp>
        <p:nvCxnSpPr>
          <p:cNvPr id="734" name="Google Shape;734;p53"/>
          <p:cNvCxnSpPr/>
          <p:nvPr/>
        </p:nvCxnSpPr>
        <p:spPr>
          <a:xfrm rot="10800000">
            <a:off x="7151687" y="3457603"/>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735" name="Google Shape;735;p53"/>
          <p:cNvCxnSpPr/>
          <p:nvPr/>
        </p:nvCxnSpPr>
        <p:spPr>
          <a:xfrm>
            <a:off x="7151687" y="4139803"/>
            <a:ext cx="1519200" cy="0"/>
          </a:xfrm>
          <a:prstGeom prst="straightConnector1">
            <a:avLst/>
          </a:prstGeom>
          <a:noFill/>
          <a:ln w="38100" cap="flat" cmpd="sng">
            <a:solidFill>
              <a:schemeClr val="dk1"/>
            </a:solidFill>
            <a:prstDash val="solid"/>
            <a:miter lim="800000"/>
            <a:headEnd type="none" w="sm" len="sm"/>
            <a:tailEnd type="triangle" w="med" len="med"/>
          </a:ln>
        </p:spPr>
      </p:cxnSp>
      <p:sp>
        <p:nvSpPr>
          <p:cNvPr id="736" name="Google Shape;736;p53"/>
          <p:cNvSpPr/>
          <p:nvPr/>
        </p:nvSpPr>
        <p:spPr>
          <a:xfrm>
            <a:off x="1193800" y="3990975"/>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37" name="Google Shape;737;p53"/>
          <p:cNvSpPr/>
          <p:nvPr/>
        </p:nvSpPr>
        <p:spPr>
          <a:xfrm>
            <a:off x="1042987" y="4105275"/>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38" name="Google Shape;738;p53"/>
          <p:cNvSpPr/>
          <p:nvPr/>
        </p:nvSpPr>
        <p:spPr>
          <a:xfrm>
            <a:off x="4533900" y="3990975"/>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39" name="Google Shape;739;p53"/>
          <p:cNvSpPr/>
          <p:nvPr/>
        </p:nvSpPr>
        <p:spPr>
          <a:xfrm>
            <a:off x="4684712" y="3876675"/>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0" name="Google Shape;740;p53"/>
          <p:cNvSpPr/>
          <p:nvPr/>
        </p:nvSpPr>
        <p:spPr>
          <a:xfrm>
            <a:off x="8008937" y="3876675"/>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1" name="Google Shape;741;p53"/>
          <p:cNvSpPr/>
          <p:nvPr/>
        </p:nvSpPr>
        <p:spPr>
          <a:xfrm>
            <a:off x="8312150" y="3649265"/>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2" name="Google Shape;742;p53"/>
          <p:cNvSpPr/>
          <p:nvPr/>
        </p:nvSpPr>
        <p:spPr>
          <a:xfrm>
            <a:off x="7858125" y="1714500"/>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3" name="Google Shape;743;p53"/>
          <p:cNvSpPr/>
          <p:nvPr/>
        </p:nvSpPr>
        <p:spPr>
          <a:xfrm>
            <a:off x="1193800" y="194071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4" name="Google Shape;744;p53"/>
          <p:cNvSpPr/>
          <p:nvPr/>
        </p:nvSpPr>
        <p:spPr>
          <a:xfrm>
            <a:off x="1042987" y="205501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5" name="Google Shape;745;p53"/>
          <p:cNvSpPr/>
          <p:nvPr/>
        </p:nvSpPr>
        <p:spPr>
          <a:xfrm>
            <a:off x="7553325" y="194190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6" name="Google Shape;746;p53"/>
          <p:cNvSpPr/>
          <p:nvPr/>
        </p:nvSpPr>
        <p:spPr>
          <a:xfrm>
            <a:off x="4381500" y="1828800"/>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7" name="Google Shape;747;p53"/>
          <p:cNvSpPr/>
          <p:nvPr/>
        </p:nvSpPr>
        <p:spPr>
          <a:xfrm>
            <a:off x="4078287" y="2055019"/>
            <a:ext cx="76200" cy="57000"/>
          </a:xfrm>
          <a:prstGeom prst="ellipse">
            <a:avLst/>
          </a:prstGeom>
          <a:solidFill>
            <a:schemeClr val="dk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48" name="Google Shape;748;p53"/>
          <p:cNvSpPr txBox="1"/>
          <p:nvPr/>
        </p:nvSpPr>
        <p:spPr>
          <a:xfrm>
            <a:off x="549275" y="4083844"/>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(0,0)</a:t>
            </a:r>
            <a:endParaRPr sz="1400" b="0" i="0" u="none" strike="noStrike" cap="none">
              <a:solidFill>
                <a:srgbClr val="000000"/>
              </a:solidFill>
              <a:latin typeface="Arial"/>
              <a:ea typeface="Arial"/>
              <a:cs typeface="Arial"/>
              <a:sym typeface="Arial"/>
            </a:endParaRPr>
          </a:p>
        </p:txBody>
      </p:sp>
      <p:sp>
        <p:nvSpPr>
          <p:cNvPr id="749" name="Google Shape;749;p53"/>
          <p:cNvSpPr txBox="1"/>
          <p:nvPr/>
        </p:nvSpPr>
        <p:spPr>
          <a:xfrm>
            <a:off x="1231900" y="3831431"/>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(1,1)</a:t>
            </a:r>
            <a:endParaRPr sz="1400" b="0" i="0" u="none" strike="noStrike" cap="none">
              <a:solidFill>
                <a:srgbClr val="000000"/>
              </a:solidFill>
              <a:latin typeface="Arial"/>
              <a:ea typeface="Arial"/>
              <a:cs typeface="Arial"/>
              <a:sym typeface="Arial"/>
            </a:endParaRPr>
          </a:p>
        </p:txBody>
      </p:sp>
      <p:sp>
        <p:nvSpPr>
          <p:cNvPr id="750" name="Google Shape;750;p53"/>
          <p:cNvSpPr txBox="1"/>
          <p:nvPr/>
        </p:nvSpPr>
        <p:spPr>
          <a:xfrm>
            <a:off x="4722812" y="3717131"/>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(4,2)</a:t>
            </a:r>
            <a:endParaRPr sz="1400" b="0" i="0" u="none" strike="noStrike" cap="none">
              <a:solidFill>
                <a:srgbClr val="000000"/>
              </a:solidFill>
              <a:latin typeface="Arial"/>
              <a:ea typeface="Arial"/>
              <a:cs typeface="Arial"/>
              <a:sym typeface="Arial"/>
            </a:endParaRPr>
          </a:p>
        </p:txBody>
      </p:sp>
      <p:sp>
        <p:nvSpPr>
          <p:cNvPr id="751" name="Google Shape;751;p53"/>
          <p:cNvSpPr txBox="1"/>
          <p:nvPr/>
        </p:nvSpPr>
        <p:spPr>
          <a:xfrm>
            <a:off x="4040187" y="3887390"/>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(3,1)</a:t>
            </a:r>
            <a:endParaRPr sz="1400" b="0" i="0" u="none" strike="noStrike" cap="none">
              <a:solidFill>
                <a:srgbClr val="000000"/>
              </a:solidFill>
              <a:latin typeface="Arial"/>
              <a:ea typeface="Arial"/>
              <a:cs typeface="Arial"/>
              <a:sym typeface="Arial"/>
            </a:endParaRPr>
          </a:p>
        </p:txBody>
      </p:sp>
      <p:sp>
        <p:nvSpPr>
          <p:cNvPr id="752" name="Google Shape;752;p53"/>
          <p:cNvSpPr txBox="1"/>
          <p:nvPr/>
        </p:nvSpPr>
        <p:spPr>
          <a:xfrm>
            <a:off x="8366125" y="3489721"/>
            <a:ext cx="758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(8,4)</a:t>
            </a:r>
            <a:endParaRPr sz="1400" b="0" i="0" u="none" strike="noStrike" cap="none">
              <a:solidFill>
                <a:srgbClr val="000000"/>
              </a:solidFill>
              <a:latin typeface="Arial"/>
              <a:ea typeface="Arial"/>
              <a:cs typeface="Arial"/>
              <a:sym typeface="Arial"/>
            </a:endParaRPr>
          </a:p>
        </p:txBody>
      </p:sp>
      <p:sp>
        <p:nvSpPr>
          <p:cNvPr id="753" name="Google Shape;753;p53"/>
          <p:cNvSpPr txBox="1"/>
          <p:nvPr/>
        </p:nvSpPr>
        <p:spPr>
          <a:xfrm>
            <a:off x="7516812" y="3799284"/>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(6,2)</a:t>
            </a:r>
            <a:endParaRPr sz="1400" b="0" i="0" u="none" strike="noStrike" cap="none">
              <a:solidFill>
                <a:srgbClr val="000000"/>
              </a:solidFill>
              <a:latin typeface="Arial"/>
              <a:ea typeface="Arial"/>
              <a:cs typeface="Arial"/>
              <a:sym typeface="Arial"/>
            </a:endParaRPr>
          </a:p>
        </p:txBody>
      </p:sp>
      <p:sp>
        <p:nvSpPr>
          <p:cNvPr id="754" name="Google Shape;754;p53"/>
          <p:cNvSpPr txBox="1"/>
          <p:nvPr/>
        </p:nvSpPr>
        <p:spPr>
          <a:xfrm>
            <a:off x="549275" y="2034778"/>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(0,0)</a:t>
            </a:r>
            <a:endParaRPr sz="1400" b="0" i="0" u="none" strike="noStrike" cap="none">
              <a:solidFill>
                <a:srgbClr val="000000"/>
              </a:solidFill>
              <a:latin typeface="Arial"/>
              <a:ea typeface="Arial"/>
              <a:cs typeface="Arial"/>
              <a:sym typeface="Arial"/>
            </a:endParaRPr>
          </a:p>
        </p:txBody>
      </p:sp>
      <p:sp>
        <p:nvSpPr>
          <p:cNvPr id="755" name="Google Shape;755;p53"/>
          <p:cNvSpPr txBox="1"/>
          <p:nvPr/>
        </p:nvSpPr>
        <p:spPr>
          <a:xfrm>
            <a:off x="1231900" y="1806178"/>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(1,1)</a:t>
            </a:r>
            <a:endParaRPr sz="1400" b="0" i="0" u="none" strike="noStrike" cap="none">
              <a:solidFill>
                <a:srgbClr val="000000"/>
              </a:solidFill>
              <a:latin typeface="Arial"/>
              <a:ea typeface="Arial"/>
              <a:cs typeface="Arial"/>
              <a:sym typeface="Arial"/>
            </a:endParaRPr>
          </a:p>
        </p:txBody>
      </p:sp>
      <p:sp>
        <p:nvSpPr>
          <p:cNvPr id="756" name="Google Shape;756;p53"/>
          <p:cNvSpPr txBox="1"/>
          <p:nvPr/>
        </p:nvSpPr>
        <p:spPr>
          <a:xfrm>
            <a:off x="4435475" y="1668065"/>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(2,2)</a:t>
            </a:r>
            <a:endParaRPr sz="1400" b="0" i="0" u="none" strike="noStrike" cap="none">
              <a:solidFill>
                <a:srgbClr val="000000"/>
              </a:solidFill>
              <a:latin typeface="Arial"/>
              <a:ea typeface="Arial"/>
              <a:cs typeface="Arial"/>
              <a:sym typeface="Arial"/>
            </a:endParaRPr>
          </a:p>
        </p:txBody>
      </p:sp>
      <p:sp>
        <p:nvSpPr>
          <p:cNvPr id="757" name="Google Shape;757;p53"/>
          <p:cNvSpPr txBox="1"/>
          <p:nvPr/>
        </p:nvSpPr>
        <p:spPr>
          <a:xfrm>
            <a:off x="3602037" y="2033588"/>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(0,0)</a:t>
            </a:r>
            <a:endParaRPr sz="1400" b="0" i="0" u="none" strike="noStrike" cap="none">
              <a:solidFill>
                <a:srgbClr val="000000"/>
              </a:solidFill>
              <a:latin typeface="Arial"/>
              <a:ea typeface="Arial"/>
              <a:cs typeface="Arial"/>
              <a:sym typeface="Arial"/>
            </a:endParaRPr>
          </a:p>
        </p:txBody>
      </p:sp>
      <p:sp>
        <p:nvSpPr>
          <p:cNvPr id="758" name="Google Shape;758;p53"/>
          <p:cNvSpPr txBox="1"/>
          <p:nvPr/>
        </p:nvSpPr>
        <p:spPr>
          <a:xfrm>
            <a:off x="7912100" y="1553765"/>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(5,3)</a:t>
            </a:r>
            <a:endParaRPr sz="1400" b="0" i="0" u="none" strike="noStrike" cap="none">
              <a:solidFill>
                <a:srgbClr val="000000"/>
              </a:solidFill>
              <a:latin typeface="Arial"/>
              <a:ea typeface="Arial"/>
              <a:cs typeface="Arial"/>
              <a:sym typeface="Arial"/>
            </a:endParaRPr>
          </a:p>
        </p:txBody>
      </p:sp>
      <p:sp>
        <p:nvSpPr>
          <p:cNvPr id="759" name="Google Shape;759;p53"/>
          <p:cNvSpPr txBox="1"/>
          <p:nvPr/>
        </p:nvSpPr>
        <p:spPr>
          <a:xfrm>
            <a:off x="7061200" y="1838325"/>
            <a:ext cx="5907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(3,1)</a:t>
            </a:r>
            <a:endParaRPr sz="1400" b="0" i="0" u="none" strike="noStrike" cap="none">
              <a:solidFill>
                <a:srgbClr val="000000"/>
              </a:solidFill>
              <a:latin typeface="Arial"/>
              <a:ea typeface="Arial"/>
              <a:cs typeface="Arial"/>
              <a:sym typeface="Arial"/>
            </a:endParaRPr>
          </a:p>
        </p:txBody>
      </p:sp>
      <p:cxnSp>
        <p:nvCxnSpPr>
          <p:cNvPr id="760" name="Google Shape;760;p53"/>
          <p:cNvCxnSpPr/>
          <p:nvPr/>
        </p:nvCxnSpPr>
        <p:spPr>
          <a:xfrm rot="10800000">
            <a:off x="4114800" y="3457603"/>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761" name="Google Shape;761;p53"/>
          <p:cNvCxnSpPr/>
          <p:nvPr/>
        </p:nvCxnSpPr>
        <p:spPr>
          <a:xfrm>
            <a:off x="4114800" y="4139803"/>
            <a:ext cx="15192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762" name="Google Shape;762;p53"/>
          <p:cNvCxnSpPr/>
          <p:nvPr/>
        </p:nvCxnSpPr>
        <p:spPr>
          <a:xfrm rot="10800000">
            <a:off x="1079500" y="3457603"/>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763" name="Google Shape;763;p53"/>
          <p:cNvCxnSpPr/>
          <p:nvPr/>
        </p:nvCxnSpPr>
        <p:spPr>
          <a:xfrm>
            <a:off x="1079500" y="4139803"/>
            <a:ext cx="15192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764" name="Google Shape;764;p53"/>
          <p:cNvCxnSpPr/>
          <p:nvPr/>
        </p:nvCxnSpPr>
        <p:spPr>
          <a:xfrm rot="10800000">
            <a:off x="7135812" y="1408537"/>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765" name="Google Shape;765;p53"/>
          <p:cNvCxnSpPr/>
          <p:nvPr/>
        </p:nvCxnSpPr>
        <p:spPr>
          <a:xfrm>
            <a:off x="7135812" y="2090738"/>
            <a:ext cx="15192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766" name="Google Shape;766;p53"/>
          <p:cNvCxnSpPr/>
          <p:nvPr/>
        </p:nvCxnSpPr>
        <p:spPr>
          <a:xfrm rot="10800000">
            <a:off x="4114800" y="1408537"/>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767" name="Google Shape;767;p53"/>
          <p:cNvCxnSpPr/>
          <p:nvPr/>
        </p:nvCxnSpPr>
        <p:spPr>
          <a:xfrm>
            <a:off x="4114800" y="2090738"/>
            <a:ext cx="15192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768" name="Google Shape;768;p53"/>
          <p:cNvCxnSpPr/>
          <p:nvPr/>
        </p:nvCxnSpPr>
        <p:spPr>
          <a:xfrm rot="10800000">
            <a:off x="1081087" y="1408537"/>
            <a:ext cx="0" cy="682200"/>
          </a:xfrm>
          <a:prstGeom prst="straightConnector1">
            <a:avLst/>
          </a:prstGeom>
          <a:noFill/>
          <a:ln w="38100" cap="flat" cmpd="sng">
            <a:solidFill>
              <a:schemeClr val="dk1"/>
            </a:solidFill>
            <a:prstDash val="solid"/>
            <a:miter lim="800000"/>
            <a:headEnd type="none" w="sm" len="sm"/>
            <a:tailEnd type="triangle" w="med" len="med"/>
          </a:ln>
        </p:spPr>
      </p:cxnSp>
      <p:cxnSp>
        <p:nvCxnSpPr>
          <p:cNvPr id="769" name="Google Shape;769;p53"/>
          <p:cNvCxnSpPr/>
          <p:nvPr/>
        </p:nvCxnSpPr>
        <p:spPr>
          <a:xfrm>
            <a:off x="1081087" y="2090738"/>
            <a:ext cx="1519200" cy="0"/>
          </a:xfrm>
          <a:prstGeom prst="straightConnector1">
            <a:avLst/>
          </a:prstGeom>
          <a:noFill/>
          <a:ln w="38100" cap="flat" cmpd="sng">
            <a:solidFill>
              <a:schemeClr val="dk1"/>
            </a:solidFill>
            <a:prstDash val="solid"/>
            <a:miter lim="800000"/>
            <a:headEnd type="none" w="sm" len="sm"/>
            <a:tailEnd type="triangle" w="med" len="med"/>
          </a:ln>
        </p:spPr>
      </p:cxnSp>
      <p:sp>
        <p:nvSpPr>
          <p:cNvPr id="770" name="Google Shape;770;p53"/>
          <p:cNvSpPr txBox="1"/>
          <p:nvPr/>
        </p:nvSpPr>
        <p:spPr>
          <a:xfrm>
            <a:off x="2674937" y="1693069"/>
            <a:ext cx="11223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400"/>
              <a:buFont typeface="Times New Roman"/>
              <a:buNone/>
            </a:pPr>
            <a:r>
              <a:rPr lang="en-US" sz="1400" b="0" i="0" u="none" strike="noStrike" cap="none">
                <a:solidFill>
                  <a:srgbClr val="FF0000"/>
                </a:solidFill>
                <a:latin typeface="Times New Roman"/>
                <a:ea typeface="Times New Roman"/>
                <a:cs typeface="Times New Roman"/>
                <a:sym typeface="Times New Roman"/>
              </a:rPr>
              <a:t>Scale(2,2)</a:t>
            </a:r>
            <a:endParaRPr sz="1400" b="0" i="0" u="none" strike="noStrike" cap="none">
              <a:solidFill>
                <a:srgbClr val="000000"/>
              </a:solidFill>
              <a:latin typeface="Arial"/>
              <a:ea typeface="Arial"/>
              <a:cs typeface="Arial"/>
              <a:sym typeface="Arial"/>
            </a:endParaRPr>
          </a:p>
        </p:txBody>
      </p:sp>
      <p:cxnSp>
        <p:nvCxnSpPr>
          <p:cNvPr id="771" name="Google Shape;771;p53"/>
          <p:cNvCxnSpPr/>
          <p:nvPr/>
        </p:nvCxnSpPr>
        <p:spPr>
          <a:xfrm>
            <a:off x="2809875" y="1635919"/>
            <a:ext cx="684300" cy="0"/>
          </a:xfrm>
          <a:prstGeom prst="straightConnector1">
            <a:avLst/>
          </a:prstGeom>
          <a:noFill/>
          <a:ln w="76200" cap="flat" cmpd="sng">
            <a:solidFill>
              <a:srgbClr val="FF0000"/>
            </a:solidFill>
            <a:prstDash val="solid"/>
            <a:miter lim="800000"/>
            <a:headEnd type="none" w="sm" len="sm"/>
            <a:tailEnd type="triangle" w="med" len="med"/>
          </a:ln>
        </p:spPr>
      </p:cxnSp>
      <p:sp>
        <p:nvSpPr>
          <p:cNvPr id="772" name="Google Shape;772;p53"/>
          <p:cNvSpPr txBox="1"/>
          <p:nvPr/>
        </p:nvSpPr>
        <p:spPr>
          <a:xfrm>
            <a:off x="5618162" y="1693069"/>
            <a:ext cx="1425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400"/>
              <a:buFont typeface="Times New Roman"/>
              <a:buNone/>
            </a:pPr>
            <a:r>
              <a:rPr lang="en-US" sz="1400" b="0" i="0" u="none" strike="noStrike" cap="none">
                <a:solidFill>
                  <a:srgbClr val="FF0000"/>
                </a:solidFill>
                <a:latin typeface="Times New Roman"/>
                <a:ea typeface="Times New Roman"/>
                <a:cs typeface="Times New Roman"/>
                <a:sym typeface="Times New Roman"/>
              </a:rPr>
              <a:t>Translate(3,1)</a:t>
            </a:r>
            <a:endParaRPr sz="1400" b="0" i="0" u="none" strike="noStrike" cap="none">
              <a:solidFill>
                <a:srgbClr val="000000"/>
              </a:solidFill>
              <a:latin typeface="Arial"/>
              <a:ea typeface="Arial"/>
              <a:cs typeface="Arial"/>
              <a:sym typeface="Arial"/>
            </a:endParaRPr>
          </a:p>
        </p:txBody>
      </p:sp>
      <p:cxnSp>
        <p:nvCxnSpPr>
          <p:cNvPr id="773" name="Google Shape;773;p53"/>
          <p:cNvCxnSpPr/>
          <p:nvPr/>
        </p:nvCxnSpPr>
        <p:spPr>
          <a:xfrm>
            <a:off x="5922962" y="1635919"/>
            <a:ext cx="684300" cy="0"/>
          </a:xfrm>
          <a:prstGeom prst="straightConnector1">
            <a:avLst/>
          </a:prstGeom>
          <a:noFill/>
          <a:ln w="76200" cap="flat" cmpd="sng">
            <a:solidFill>
              <a:srgbClr val="FF0000"/>
            </a:solidFill>
            <a:prstDash val="solid"/>
            <a:miter lim="800000"/>
            <a:headEnd type="none" w="sm" len="sm"/>
            <a:tailEnd type="triangle" w="med" len="med"/>
          </a:ln>
        </p:spPr>
      </p:cxnSp>
      <p:sp>
        <p:nvSpPr>
          <p:cNvPr id="774" name="Google Shape;774;p53"/>
          <p:cNvSpPr txBox="1"/>
          <p:nvPr/>
        </p:nvSpPr>
        <p:spPr>
          <a:xfrm>
            <a:off x="2522537" y="3742134"/>
            <a:ext cx="1425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400"/>
              <a:buFont typeface="Times New Roman"/>
              <a:buNone/>
            </a:pPr>
            <a:r>
              <a:rPr lang="en-US" sz="1400" b="0" i="0" u="none" strike="noStrike" cap="none">
                <a:solidFill>
                  <a:srgbClr val="FF0000"/>
                </a:solidFill>
                <a:latin typeface="Times New Roman"/>
                <a:ea typeface="Times New Roman"/>
                <a:cs typeface="Times New Roman"/>
                <a:sym typeface="Times New Roman"/>
              </a:rPr>
              <a:t>Translate(3,1)</a:t>
            </a:r>
            <a:endParaRPr sz="1400" b="0" i="0" u="none" strike="noStrike" cap="none">
              <a:solidFill>
                <a:srgbClr val="000000"/>
              </a:solidFill>
              <a:latin typeface="Arial"/>
              <a:ea typeface="Arial"/>
              <a:cs typeface="Arial"/>
              <a:sym typeface="Arial"/>
            </a:endParaRPr>
          </a:p>
        </p:txBody>
      </p:sp>
      <p:cxnSp>
        <p:nvCxnSpPr>
          <p:cNvPr id="775" name="Google Shape;775;p53"/>
          <p:cNvCxnSpPr/>
          <p:nvPr/>
        </p:nvCxnSpPr>
        <p:spPr>
          <a:xfrm>
            <a:off x="2827337" y="3684984"/>
            <a:ext cx="684300" cy="0"/>
          </a:xfrm>
          <a:prstGeom prst="straightConnector1">
            <a:avLst/>
          </a:prstGeom>
          <a:noFill/>
          <a:ln w="76200" cap="flat" cmpd="sng">
            <a:solidFill>
              <a:srgbClr val="FF0000"/>
            </a:solidFill>
            <a:prstDash val="solid"/>
            <a:miter lim="800000"/>
            <a:headEnd type="none" w="sm" len="sm"/>
            <a:tailEnd type="triangle" w="med" len="med"/>
          </a:ln>
        </p:spPr>
      </p:cxnSp>
      <p:sp>
        <p:nvSpPr>
          <p:cNvPr id="776" name="Google Shape;776;p53"/>
          <p:cNvSpPr txBox="1"/>
          <p:nvPr/>
        </p:nvSpPr>
        <p:spPr>
          <a:xfrm>
            <a:off x="5770562" y="3742134"/>
            <a:ext cx="11223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400"/>
              <a:buFont typeface="Times New Roman"/>
              <a:buNone/>
            </a:pPr>
            <a:r>
              <a:rPr lang="en-US" sz="1400" b="0" i="0" u="none" strike="noStrike" cap="none">
                <a:solidFill>
                  <a:srgbClr val="FF0000"/>
                </a:solidFill>
                <a:latin typeface="Times New Roman"/>
                <a:ea typeface="Times New Roman"/>
                <a:cs typeface="Times New Roman"/>
                <a:sym typeface="Times New Roman"/>
              </a:rPr>
              <a:t>Scale(2,2)</a:t>
            </a:r>
            <a:endParaRPr sz="1400" b="0" i="0" u="none" strike="noStrike" cap="none">
              <a:solidFill>
                <a:srgbClr val="000000"/>
              </a:solidFill>
              <a:latin typeface="Arial"/>
              <a:ea typeface="Arial"/>
              <a:cs typeface="Arial"/>
              <a:sym typeface="Arial"/>
            </a:endParaRPr>
          </a:p>
        </p:txBody>
      </p:sp>
      <p:cxnSp>
        <p:nvCxnSpPr>
          <p:cNvPr id="777" name="Google Shape;777;p53"/>
          <p:cNvCxnSpPr/>
          <p:nvPr/>
        </p:nvCxnSpPr>
        <p:spPr>
          <a:xfrm>
            <a:off x="5905500" y="3684984"/>
            <a:ext cx="684300" cy="0"/>
          </a:xfrm>
          <a:prstGeom prst="straightConnector1">
            <a:avLst/>
          </a:prstGeom>
          <a:noFill/>
          <a:ln w="76200" cap="flat" cmpd="sng">
            <a:solidFill>
              <a:srgbClr val="FF0000"/>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54"/>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200"/>
              <a:buFont typeface="Times New Roman"/>
              <a:buNone/>
            </a:pPr>
            <a:fld id="{00000000-1234-1234-1234-123412341234}" type="slidenum">
              <a:rPr lang="en-US" sz="1200" b="0" i="0" u="none" strike="noStrike" cap="none">
                <a:solidFill>
                  <a:schemeClr val="dk2"/>
                </a:solidFill>
                <a:latin typeface="Times New Roman"/>
                <a:ea typeface="Times New Roman"/>
                <a:cs typeface="Times New Roman"/>
                <a:sym typeface="Times New Roman"/>
              </a:rPr>
              <a:t>41</a:t>
            </a:fld>
            <a:endParaRPr sz="1400" b="0" i="0" u="none" strike="noStrike" cap="none">
              <a:solidFill>
                <a:srgbClr val="000000"/>
              </a:solidFill>
              <a:latin typeface="Arial"/>
              <a:ea typeface="Arial"/>
              <a:cs typeface="Arial"/>
              <a:sym typeface="Arial"/>
            </a:endParaRPr>
          </a:p>
        </p:txBody>
      </p:sp>
      <p:sp>
        <p:nvSpPr>
          <p:cNvPr id="783" name="Google Shape;783;p54"/>
          <p:cNvSpPr txBox="1"/>
          <p:nvPr/>
        </p:nvSpPr>
        <p:spPr>
          <a:xfrm>
            <a:off x="1219200" y="1771650"/>
            <a:ext cx="1066800" cy="431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1" u="none" strike="noStrike" cap="none">
                <a:solidFill>
                  <a:schemeClr val="dk1"/>
                </a:solidFill>
                <a:latin typeface="Times New Roman"/>
                <a:ea typeface="Times New Roman"/>
                <a:cs typeface="Times New Roman"/>
                <a:sym typeface="Times New Roman"/>
              </a:rPr>
              <a:t>TS  =</a:t>
            </a:r>
            <a:endParaRPr sz="1400" b="0" i="0" u="none" strike="noStrike" cap="none">
              <a:solidFill>
                <a:srgbClr val="000000"/>
              </a:solidFill>
              <a:latin typeface="Arial"/>
              <a:ea typeface="Arial"/>
              <a:cs typeface="Arial"/>
              <a:sym typeface="Arial"/>
            </a:endParaRPr>
          </a:p>
        </p:txBody>
      </p:sp>
      <p:sp>
        <p:nvSpPr>
          <p:cNvPr id="784" name="Google Shape;784;p54"/>
          <p:cNvSpPr/>
          <p:nvPr/>
        </p:nvSpPr>
        <p:spPr>
          <a:xfrm>
            <a:off x="4191000" y="1371600"/>
            <a:ext cx="1524000" cy="12003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85" name="Google Shape;785;p54"/>
          <p:cNvSpPr txBox="1"/>
          <p:nvPr/>
        </p:nvSpPr>
        <p:spPr>
          <a:xfrm>
            <a:off x="4267200" y="1414463"/>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86" name="Google Shape;786;p54"/>
          <p:cNvSpPr txBox="1"/>
          <p:nvPr/>
        </p:nvSpPr>
        <p:spPr>
          <a:xfrm>
            <a:off x="4724400" y="1406128"/>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87" name="Google Shape;787;p54"/>
          <p:cNvSpPr txBox="1"/>
          <p:nvPr/>
        </p:nvSpPr>
        <p:spPr>
          <a:xfrm>
            <a:off x="5181600" y="1414463"/>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88" name="Google Shape;788;p54"/>
          <p:cNvSpPr/>
          <p:nvPr/>
        </p:nvSpPr>
        <p:spPr>
          <a:xfrm>
            <a:off x="2438400" y="1371600"/>
            <a:ext cx="1524000" cy="12003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89" name="Google Shape;789;p54"/>
          <p:cNvSpPr txBox="1"/>
          <p:nvPr/>
        </p:nvSpPr>
        <p:spPr>
          <a:xfrm>
            <a:off x="2514600" y="1414463"/>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90" name="Google Shape;790;p54"/>
          <p:cNvSpPr txBox="1"/>
          <p:nvPr/>
        </p:nvSpPr>
        <p:spPr>
          <a:xfrm>
            <a:off x="2971800" y="1406128"/>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791" name="Google Shape;791;p54"/>
          <p:cNvSpPr txBox="1"/>
          <p:nvPr/>
        </p:nvSpPr>
        <p:spPr>
          <a:xfrm>
            <a:off x="3429000" y="1414463"/>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792" name="Google Shape;792;p54"/>
          <p:cNvSpPr txBox="1"/>
          <p:nvPr/>
        </p:nvSpPr>
        <p:spPr>
          <a:xfrm>
            <a:off x="1219200" y="3714750"/>
            <a:ext cx="1066800" cy="431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1" u="none" strike="noStrike" cap="none">
                <a:solidFill>
                  <a:schemeClr val="dk1"/>
                </a:solidFill>
                <a:latin typeface="Times New Roman"/>
                <a:ea typeface="Times New Roman"/>
                <a:cs typeface="Times New Roman"/>
                <a:sym typeface="Times New Roman"/>
              </a:rPr>
              <a:t>ST  =</a:t>
            </a:r>
            <a:endParaRPr sz="1400" b="0" i="0" u="none" strike="noStrike" cap="none">
              <a:solidFill>
                <a:srgbClr val="000000"/>
              </a:solidFill>
              <a:latin typeface="Arial"/>
              <a:ea typeface="Arial"/>
              <a:cs typeface="Arial"/>
              <a:sym typeface="Arial"/>
            </a:endParaRPr>
          </a:p>
        </p:txBody>
      </p:sp>
      <p:sp>
        <p:nvSpPr>
          <p:cNvPr id="793" name="Google Shape;793;p54"/>
          <p:cNvSpPr/>
          <p:nvPr/>
        </p:nvSpPr>
        <p:spPr>
          <a:xfrm>
            <a:off x="2438400" y="3314700"/>
            <a:ext cx="1524000" cy="12003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94" name="Google Shape;794;p54"/>
          <p:cNvSpPr txBox="1"/>
          <p:nvPr/>
        </p:nvSpPr>
        <p:spPr>
          <a:xfrm>
            <a:off x="2514600" y="3357563"/>
            <a:ext cx="457200" cy="119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95" name="Google Shape;795;p54"/>
          <p:cNvSpPr txBox="1"/>
          <p:nvPr/>
        </p:nvSpPr>
        <p:spPr>
          <a:xfrm>
            <a:off x="2971800" y="3349228"/>
            <a:ext cx="457200" cy="101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FF0000"/>
              </a:solidFill>
              <a:latin typeface="Times New Roman"/>
              <a:ea typeface="Times New Roman"/>
              <a:cs typeface="Times New Roman"/>
              <a:sym typeface="Times New Roman"/>
            </a:endParaRPr>
          </a:p>
        </p:txBody>
      </p:sp>
      <p:sp>
        <p:nvSpPr>
          <p:cNvPr id="796" name="Google Shape;796;p54"/>
          <p:cNvSpPr txBox="1"/>
          <p:nvPr/>
        </p:nvSpPr>
        <p:spPr>
          <a:xfrm>
            <a:off x="3429000" y="3357563"/>
            <a:ext cx="457200" cy="119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97" name="Google Shape;797;p54"/>
          <p:cNvSpPr/>
          <p:nvPr/>
        </p:nvSpPr>
        <p:spPr>
          <a:xfrm>
            <a:off x="4191000" y="3314700"/>
            <a:ext cx="1524000" cy="12003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98" name="Google Shape;798;p54"/>
          <p:cNvSpPr txBox="1"/>
          <p:nvPr/>
        </p:nvSpPr>
        <p:spPr>
          <a:xfrm>
            <a:off x="4267200" y="3357563"/>
            <a:ext cx="457200" cy="119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799" name="Google Shape;799;p54"/>
          <p:cNvSpPr txBox="1"/>
          <p:nvPr/>
        </p:nvSpPr>
        <p:spPr>
          <a:xfrm>
            <a:off x="4724400" y="3349228"/>
            <a:ext cx="457200" cy="101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Times New Roman"/>
              <a:ea typeface="Times New Roman"/>
              <a:cs typeface="Times New Roman"/>
              <a:sym typeface="Times New Roman"/>
            </a:endParaRPr>
          </a:p>
        </p:txBody>
      </p:sp>
      <p:sp>
        <p:nvSpPr>
          <p:cNvPr id="800" name="Google Shape;800;p54"/>
          <p:cNvSpPr txBox="1"/>
          <p:nvPr/>
        </p:nvSpPr>
        <p:spPr>
          <a:xfrm>
            <a:off x="5181600" y="3357563"/>
            <a:ext cx="457200" cy="119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1" u="none" strike="noStrike" cap="none">
              <a:solidFill>
                <a:srgbClr val="FF0000"/>
              </a:solidFill>
              <a:latin typeface="Times New Roman"/>
              <a:ea typeface="Times New Roman"/>
              <a:cs typeface="Times New Roman"/>
              <a:sym typeface="Times New Roman"/>
            </a:endParaRPr>
          </a:p>
        </p:txBody>
      </p:sp>
      <p:sp>
        <p:nvSpPr>
          <p:cNvPr id="801" name="Google Shape;801;p54"/>
          <p:cNvSpPr txBox="1">
            <a:spLocks noGrp="1"/>
          </p:cNvSpPr>
          <p:nvPr>
            <p:ph type="title"/>
          </p:nvPr>
        </p:nvSpPr>
        <p:spPr>
          <a:xfrm>
            <a:off x="628650" y="6149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Non-commutative Composition</a:t>
            </a:r>
            <a:endParaRPr/>
          </a:p>
        </p:txBody>
      </p:sp>
      <p:sp>
        <p:nvSpPr>
          <p:cNvPr id="802" name="Google Shape;802;p54"/>
          <p:cNvSpPr txBox="1"/>
          <p:nvPr/>
        </p:nvSpPr>
        <p:spPr>
          <a:xfrm>
            <a:off x="1158900" y="909894"/>
            <a:ext cx="66738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Times New Roman"/>
              <a:buNone/>
            </a:pPr>
            <a:r>
              <a:rPr lang="en-US" sz="2400" b="0" i="0" u="none" strike="noStrike" cap="none">
                <a:solidFill>
                  <a:srgbClr val="000000"/>
                </a:solidFill>
                <a:latin typeface="Times New Roman"/>
                <a:ea typeface="Times New Roman"/>
                <a:cs typeface="Times New Roman"/>
                <a:sym typeface="Times New Roman"/>
              </a:rPr>
              <a:t>Scale then Translate:   p'  =  T ( S p )  =  TS p</a:t>
            </a:r>
            <a:endParaRPr sz="1000" b="0" i="0" u="none" strike="noStrike" cap="none">
              <a:solidFill>
                <a:srgbClr val="000000"/>
              </a:solidFill>
              <a:latin typeface="Arial"/>
              <a:ea typeface="Arial"/>
              <a:cs typeface="Arial"/>
              <a:sym typeface="Arial"/>
            </a:endParaRPr>
          </a:p>
        </p:txBody>
      </p:sp>
      <p:sp>
        <p:nvSpPr>
          <p:cNvPr id="803" name="Google Shape;803;p54"/>
          <p:cNvSpPr/>
          <p:nvPr/>
        </p:nvSpPr>
        <p:spPr>
          <a:xfrm>
            <a:off x="6477000" y="1371600"/>
            <a:ext cx="1524000" cy="12003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04" name="Google Shape;804;p54"/>
          <p:cNvSpPr txBox="1"/>
          <p:nvPr/>
        </p:nvSpPr>
        <p:spPr>
          <a:xfrm>
            <a:off x="6553200" y="1414463"/>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05" name="Google Shape;805;p54"/>
          <p:cNvSpPr txBox="1"/>
          <p:nvPr/>
        </p:nvSpPr>
        <p:spPr>
          <a:xfrm>
            <a:off x="7010400" y="1406128"/>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06" name="Google Shape;806;p54"/>
          <p:cNvSpPr txBox="1"/>
          <p:nvPr/>
        </p:nvSpPr>
        <p:spPr>
          <a:xfrm>
            <a:off x="7467600" y="1414463"/>
            <a:ext cx="457200" cy="128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sp>
        <p:nvSpPr>
          <p:cNvPr id="807" name="Google Shape;807;p54"/>
          <p:cNvSpPr/>
          <p:nvPr/>
        </p:nvSpPr>
        <p:spPr>
          <a:xfrm>
            <a:off x="6477000" y="3314700"/>
            <a:ext cx="1524000" cy="1200300"/>
          </a:xfrm>
          <a:prstGeom prst="bracketPair">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08" name="Google Shape;808;p54"/>
          <p:cNvSpPr txBox="1"/>
          <p:nvPr/>
        </p:nvSpPr>
        <p:spPr>
          <a:xfrm>
            <a:off x="6553200" y="3357563"/>
            <a:ext cx="457200" cy="119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09" name="Google Shape;809;p54"/>
          <p:cNvSpPr txBox="1"/>
          <p:nvPr/>
        </p:nvSpPr>
        <p:spPr>
          <a:xfrm>
            <a:off x="7010400" y="3349228"/>
            <a:ext cx="457200" cy="101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2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b="0" i="1" u="none" strike="noStrike" cap="none">
              <a:solidFill>
                <a:srgbClr val="FF0000"/>
              </a:solidFill>
              <a:latin typeface="Times New Roman"/>
              <a:ea typeface="Times New Roman"/>
              <a:cs typeface="Times New Roman"/>
              <a:sym typeface="Times New Roman"/>
            </a:endParaRPr>
          </a:p>
        </p:txBody>
      </p:sp>
      <p:sp>
        <p:nvSpPr>
          <p:cNvPr id="810" name="Google Shape;810;p54"/>
          <p:cNvSpPr txBox="1"/>
          <p:nvPr/>
        </p:nvSpPr>
        <p:spPr>
          <a:xfrm>
            <a:off x="7467600" y="3357563"/>
            <a:ext cx="457200" cy="1197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6</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700"/>
              </a:spcBef>
              <a:spcAft>
                <a:spcPts val="0"/>
              </a:spcAft>
              <a:buClr>
                <a:srgbClr val="FF0000"/>
              </a:buClr>
              <a:buSzPts val="2400"/>
              <a:buFont typeface="Times New Roman"/>
              <a:buNone/>
            </a:pPr>
            <a:r>
              <a:rPr lang="en-US" sz="2400" b="0" i="1" u="none" strike="noStrike" cap="none">
                <a:solidFill>
                  <a:srgbClr val="FF0000"/>
                </a:solidFill>
                <a:latin typeface="Times New Roman"/>
                <a:ea typeface="Times New Roman"/>
                <a:cs typeface="Times New Roman"/>
                <a:sym typeface="Times New Roman"/>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1" u="none" strike="noStrike" cap="none">
              <a:solidFill>
                <a:srgbClr val="FF0000"/>
              </a:solidFill>
              <a:latin typeface="Times New Roman"/>
              <a:ea typeface="Times New Roman"/>
              <a:cs typeface="Times New Roman"/>
              <a:sym typeface="Times New Roman"/>
            </a:endParaRPr>
          </a:p>
        </p:txBody>
      </p:sp>
      <p:sp>
        <p:nvSpPr>
          <p:cNvPr id="811" name="Google Shape;811;p54"/>
          <p:cNvSpPr txBox="1"/>
          <p:nvPr/>
        </p:nvSpPr>
        <p:spPr>
          <a:xfrm>
            <a:off x="5943600" y="1771650"/>
            <a:ext cx="304800" cy="431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812" name="Google Shape;812;p54"/>
          <p:cNvSpPr txBox="1"/>
          <p:nvPr/>
        </p:nvSpPr>
        <p:spPr>
          <a:xfrm>
            <a:off x="5943600" y="3714750"/>
            <a:ext cx="304800" cy="431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1"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813" name="Google Shape;813;p54"/>
          <p:cNvSpPr txBox="1"/>
          <p:nvPr/>
        </p:nvSpPr>
        <p:spPr>
          <a:xfrm>
            <a:off x="549350" y="2773509"/>
            <a:ext cx="66801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Times New Roman"/>
              <a:buNone/>
            </a:pPr>
            <a:r>
              <a:rPr lang="en-US" sz="2400" b="0" i="0" u="none" strike="noStrike" cap="none">
                <a:solidFill>
                  <a:srgbClr val="000000"/>
                </a:solidFill>
                <a:latin typeface="Times New Roman"/>
                <a:ea typeface="Times New Roman"/>
                <a:cs typeface="Times New Roman"/>
                <a:sym typeface="Times New Roman"/>
              </a:rPr>
              <a:t>Translate then Scale:   p'  =  S ( T p )  =  ST p</a:t>
            </a:r>
            <a:endParaRPr sz="1000" b="0" i="0" u="none" strike="noStrike" cap="none">
              <a:solidFill>
                <a:srgbClr val="000000"/>
              </a:solidFill>
              <a:latin typeface="Arial"/>
              <a:ea typeface="Arial"/>
              <a:cs typeface="Arial"/>
              <a:sym typeface="Arial"/>
            </a:endParaRPr>
          </a:p>
        </p:txBody>
      </p:sp>
      <p:grpSp>
        <p:nvGrpSpPr>
          <p:cNvPr id="814" name="Google Shape;814;p54"/>
          <p:cNvGrpSpPr/>
          <p:nvPr/>
        </p:nvGrpSpPr>
        <p:grpSpPr>
          <a:xfrm>
            <a:off x="2517775" y="3342084"/>
            <a:ext cx="1390650" cy="1428750"/>
            <a:chOff x="252" y="3189"/>
            <a:chExt cx="876" cy="1200"/>
          </a:xfrm>
        </p:grpSpPr>
        <p:sp>
          <p:nvSpPr>
            <p:cNvPr id="815" name="Google Shape;815;p54"/>
            <p:cNvSpPr txBox="1"/>
            <p:nvPr/>
          </p:nvSpPr>
          <p:spPr>
            <a:xfrm>
              <a:off x="252"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16" name="Google Shape;816;p54"/>
            <p:cNvSpPr txBox="1"/>
            <p:nvPr/>
          </p:nvSpPr>
          <p:spPr>
            <a:xfrm>
              <a:off x="537"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17" name="Google Shape;817;p54"/>
            <p:cNvSpPr txBox="1"/>
            <p:nvPr/>
          </p:nvSpPr>
          <p:spPr>
            <a:xfrm>
              <a:off x="828"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grpSp>
      <p:grpSp>
        <p:nvGrpSpPr>
          <p:cNvPr id="818" name="Google Shape;818;p54"/>
          <p:cNvGrpSpPr/>
          <p:nvPr/>
        </p:nvGrpSpPr>
        <p:grpSpPr>
          <a:xfrm>
            <a:off x="4268787" y="3368278"/>
            <a:ext cx="1390650" cy="1428750"/>
            <a:chOff x="252" y="3189"/>
            <a:chExt cx="876" cy="1200"/>
          </a:xfrm>
        </p:grpSpPr>
        <p:sp>
          <p:nvSpPr>
            <p:cNvPr id="819" name="Google Shape;819;p54"/>
            <p:cNvSpPr txBox="1"/>
            <p:nvPr/>
          </p:nvSpPr>
          <p:spPr>
            <a:xfrm>
              <a:off x="252"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20" name="Google Shape;820;p54"/>
            <p:cNvSpPr txBox="1"/>
            <p:nvPr/>
          </p:nvSpPr>
          <p:spPr>
            <a:xfrm>
              <a:off x="537"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21" name="Google Shape;821;p54"/>
            <p:cNvSpPr txBox="1"/>
            <p:nvPr/>
          </p:nvSpPr>
          <p:spPr>
            <a:xfrm>
              <a:off x="828"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grpSp>
      <p:grpSp>
        <p:nvGrpSpPr>
          <p:cNvPr id="822" name="Google Shape;822;p54"/>
          <p:cNvGrpSpPr/>
          <p:nvPr/>
        </p:nvGrpSpPr>
        <p:grpSpPr>
          <a:xfrm>
            <a:off x="6545262" y="3368278"/>
            <a:ext cx="1390650" cy="1428750"/>
            <a:chOff x="252" y="3189"/>
            <a:chExt cx="876" cy="1200"/>
          </a:xfrm>
        </p:grpSpPr>
        <p:sp>
          <p:nvSpPr>
            <p:cNvPr id="823" name="Google Shape;823;p54"/>
            <p:cNvSpPr txBox="1"/>
            <p:nvPr/>
          </p:nvSpPr>
          <p:spPr>
            <a:xfrm>
              <a:off x="252"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1"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24" name="Google Shape;824;p54"/>
            <p:cNvSpPr txBox="1"/>
            <p:nvPr/>
          </p:nvSpPr>
          <p:spPr>
            <a:xfrm>
              <a:off x="537"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p:txBody>
        </p:sp>
        <p:sp>
          <p:nvSpPr>
            <p:cNvPr id="825" name="Google Shape;825;p54"/>
            <p:cNvSpPr txBox="1"/>
            <p:nvPr/>
          </p:nvSpPr>
          <p:spPr>
            <a:xfrm>
              <a:off x="828" y="3189"/>
              <a:ext cx="300" cy="1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70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55"/>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42</a:t>
            </a:fld>
            <a:endParaRPr sz="1400" b="0" i="0" u="none" strike="noStrike" cap="none">
              <a:solidFill>
                <a:srgbClr val="000000"/>
              </a:solidFill>
              <a:latin typeface="Arial"/>
              <a:ea typeface="Arial"/>
              <a:cs typeface="Arial"/>
              <a:sym typeface="Arial"/>
            </a:endParaRPr>
          </a:p>
        </p:txBody>
      </p:sp>
      <p:sp>
        <p:nvSpPr>
          <p:cNvPr id="831" name="Google Shape;831;p55"/>
          <p:cNvSpPr txBox="1"/>
          <p:nvPr/>
        </p:nvSpPr>
        <p:spPr>
          <a:xfrm>
            <a:off x="1201550" y="354450"/>
            <a:ext cx="7010400" cy="514500"/>
          </a:xfrm>
          <a:prstGeom prst="rect">
            <a:avLst/>
          </a:prstGeom>
          <a:noFill/>
          <a:ln>
            <a:noFill/>
          </a:ln>
        </p:spPr>
        <p:txBody>
          <a:bodyPr spcFirstLastPara="1" wrap="square" lIns="92075" tIns="46025" rIns="92075" bIns="46025" anchor="ctr" anchorCtr="0">
            <a:noAutofit/>
          </a:bodyPr>
          <a:lstStyle/>
          <a:p>
            <a:pPr marL="0" marR="0" lvl="0" indent="0" algn="l" rtl="0">
              <a:lnSpc>
                <a:spcPct val="100000"/>
              </a:lnSpc>
              <a:spcBef>
                <a:spcPts val="0"/>
              </a:spcBef>
              <a:spcAft>
                <a:spcPts val="0"/>
              </a:spcAft>
              <a:buClr>
                <a:srgbClr val="663300"/>
              </a:buClr>
              <a:buSzPts val="3600"/>
              <a:buFont typeface="Times New Roman"/>
              <a:buNone/>
            </a:pPr>
            <a:r>
              <a:rPr lang="en-US" sz="3600" b="0" i="1" u="none" strike="noStrike" cap="none">
                <a:solidFill>
                  <a:srgbClr val="663300"/>
                </a:solidFill>
                <a:latin typeface="Times New Roman"/>
                <a:ea typeface="Times New Roman"/>
                <a:cs typeface="Times New Roman"/>
                <a:sym typeface="Times New Roman"/>
              </a:rPr>
              <a:t>Combining Translations, Rotations</a:t>
            </a:r>
            <a:endParaRPr sz="1400" b="0" i="0" u="none" strike="noStrike" cap="none">
              <a:solidFill>
                <a:srgbClr val="000000"/>
              </a:solidFill>
              <a:latin typeface="Arial"/>
              <a:ea typeface="Arial"/>
              <a:cs typeface="Arial"/>
              <a:sym typeface="Arial"/>
            </a:endParaRPr>
          </a:p>
        </p:txBody>
      </p:sp>
      <p:sp>
        <p:nvSpPr>
          <p:cNvPr id="832" name="Google Shape;832;p55"/>
          <p:cNvSpPr txBox="1"/>
          <p:nvPr/>
        </p:nvSpPr>
        <p:spPr>
          <a:xfrm>
            <a:off x="1201550" y="1329469"/>
            <a:ext cx="7467600" cy="3250500"/>
          </a:xfrm>
          <a:prstGeom prst="rect">
            <a:avLst/>
          </a:prstGeom>
          <a:noFill/>
          <a:ln>
            <a:noFill/>
          </a:ln>
        </p:spPr>
        <p:txBody>
          <a:bodyPr spcFirstLastPara="1" wrap="square" lIns="91425" tIns="45700" rIns="91425" bIns="45700" anchor="t" anchorCtr="0">
            <a:noAutofit/>
          </a:bodyPr>
          <a:lstStyle/>
          <a:p>
            <a:pPr marL="342900" marR="0" lvl="0" indent="-317500" algn="l" rtl="0">
              <a:lnSpc>
                <a:spcPct val="100000"/>
              </a:lnSpc>
              <a:spcBef>
                <a:spcPts val="0"/>
              </a:spcBef>
              <a:spcAft>
                <a:spcPts val="0"/>
              </a:spcAft>
              <a:buClr>
                <a:schemeClr val="dk2"/>
              </a:buClr>
              <a:buSzPts val="2640"/>
              <a:buFont typeface="Noto Sans Symbols"/>
              <a:buChar char="✶"/>
            </a:pPr>
            <a:r>
              <a:rPr lang="en-US" sz="2800" b="0" i="0" u="none" strike="noStrike" cap="none">
                <a:solidFill>
                  <a:schemeClr val="dk1"/>
                </a:solidFill>
                <a:latin typeface="Times New Roman"/>
                <a:ea typeface="Times New Roman"/>
                <a:cs typeface="Times New Roman"/>
                <a:sym typeface="Times New Roman"/>
              </a:rPr>
              <a:t>Order matters!!  TR is not the same as RT (demo)</a:t>
            </a:r>
            <a:endParaRPr sz="1000" b="0" i="0" u="none" strike="noStrike" cap="none">
              <a:solidFill>
                <a:srgbClr val="000000"/>
              </a:solidFill>
              <a:latin typeface="Arial"/>
              <a:ea typeface="Arial"/>
              <a:cs typeface="Arial"/>
              <a:sym typeface="Arial"/>
            </a:endParaRPr>
          </a:p>
          <a:p>
            <a:pPr marL="342900" marR="0" lvl="0" indent="-317500" algn="l" rtl="0">
              <a:lnSpc>
                <a:spcPct val="100000"/>
              </a:lnSpc>
              <a:spcBef>
                <a:spcPts val="640"/>
              </a:spcBef>
              <a:spcAft>
                <a:spcPts val="0"/>
              </a:spcAft>
              <a:buClr>
                <a:schemeClr val="dk2"/>
              </a:buClr>
              <a:buSzPts val="2640"/>
              <a:buFont typeface="Noto Sans Symbols"/>
              <a:buChar char="✶"/>
            </a:pPr>
            <a:r>
              <a:rPr lang="en-US" sz="2800" b="0" i="0" u="none" strike="noStrike" cap="none">
                <a:solidFill>
                  <a:schemeClr val="dk1"/>
                </a:solidFill>
                <a:latin typeface="Times New Roman"/>
                <a:ea typeface="Times New Roman"/>
                <a:cs typeface="Times New Roman"/>
                <a:sym typeface="Times New Roman"/>
              </a:rPr>
              <a:t>General form for rigid body transforms</a:t>
            </a:r>
            <a:endParaRPr sz="1000" b="0" i="0" u="none" strike="noStrike" cap="none">
              <a:solidFill>
                <a:srgbClr val="000000"/>
              </a:solidFill>
              <a:latin typeface="Arial"/>
              <a:ea typeface="Arial"/>
              <a:cs typeface="Arial"/>
              <a:sym typeface="Arial"/>
            </a:endParaRPr>
          </a:p>
          <a:p>
            <a:pPr marL="342900" marR="0" lvl="0" indent="-317500" algn="l" rtl="0">
              <a:lnSpc>
                <a:spcPct val="100000"/>
              </a:lnSpc>
              <a:spcBef>
                <a:spcPts val="640"/>
              </a:spcBef>
              <a:spcAft>
                <a:spcPts val="0"/>
              </a:spcAft>
              <a:buClr>
                <a:schemeClr val="dk2"/>
              </a:buClr>
              <a:buSzPts val="2640"/>
              <a:buFont typeface="Noto Sans Symbols"/>
              <a:buChar char="✶"/>
            </a:pPr>
            <a:r>
              <a:rPr lang="en-US" sz="2800" b="0" i="0" u="none" strike="noStrike" cap="none">
                <a:solidFill>
                  <a:schemeClr val="dk1"/>
                </a:solidFill>
                <a:latin typeface="Times New Roman"/>
                <a:ea typeface="Times New Roman"/>
                <a:cs typeface="Times New Roman"/>
                <a:sym typeface="Times New Roman"/>
              </a:rPr>
              <a:t>We show rotation first, then translation (commonly used to position objects) on next slide.  Slide after that works it out the other way </a:t>
            </a:r>
            <a:endParaRPr sz="1000" b="0" i="0" u="none" strike="noStrike" cap="none">
              <a:solidFill>
                <a:srgbClr val="000000"/>
              </a:solidFill>
              <a:latin typeface="Arial"/>
              <a:ea typeface="Arial"/>
              <a:cs typeface="Arial"/>
              <a:sym typeface="Arial"/>
            </a:endParaRPr>
          </a:p>
        </p:txBody>
      </p:sp>
      <p:sp>
        <p:nvSpPr>
          <p:cNvPr id="833" name="Google Shape;833;p55"/>
          <p:cNvSpPr txBox="1"/>
          <p:nvPr/>
        </p:nvSpPr>
        <p:spPr>
          <a:xfrm>
            <a:off x="4479925" y="4413647"/>
            <a:ext cx="1842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56"/>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43</a:t>
            </a:fld>
            <a:endParaRPr sz="1400" b="0" i="0" u="none" strike="noStrike" cap="none">
              <a:solidFill>
                <a:srgbClr val="000000"/>
              </a:solidFill>
              <a:latin typeface="Arial"/>
              <a:ea typeface="Arial"/>
              <a:cs typeface="Arial"/>
              <a:sym typeface="Arial"/>
            </a:endParaRPr>
          </a:p>
        </p:txBody>
      </p:sp>
      <p:sp>
        <p:nvSpPr>
          <p:cNvPr id="839" name="Google Shape;839;p56"/>
          <p:cNvSpPr txBox="1">
            <a:spLocks noGrp="1"/>
          </p:cNvSpPr>
          <p:nvPr>
            <p:ph type="title"/>
          </p:nvPr>
        </p:nvSpPr>
        <p:spPr>
          <a:xfrm>
            <a:off x="1524000" y="228600"/>
            <a:ext cx="7748700" cy="5145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Rotate then Translate</a:t>
            </a:r>
            <a:endParaRPr/>
          </a:p>
        </p:txBody>
      </p:sp>
      <p:sp>
        <p:nvSpPr>
          <p:cNvPr id="840" name="Google Shape;840;p56"/>
          <p:cNvSpPr txBox="1"/>
          <p:nvPr/>
        </p:nvSpPr>
        <p:spPr>
          <a:xfrm>
            <a:off x="457200" y="1321594"/>
            <a:ext cx="8229600" cy="3364800"/>
          </a:xfrm>
          <a:prstGeom prst="rect">
            <a:avLst/>
          </a:prstGeom>
          <a:noFill/>
          <a:ln>
            <a:noFill/>
          </a:ln>
        </p:spPr>
        <p:txBody>
          <a:bodyPr spcFirstLastPara="1" wrap="square" lIns="91425" tIns="45700" rIns="91425" bIns="45700" anchor="t" anchorCtr="0">
            <a:noAutofit/>
          </a:bodyPr>
          <a:lstStyle/>
          <a:p>
            <a:pPr marL="342900" marR="0" lvl="0" indent="-149860" algn="l" rtl="0">
              <a:lnSpc>
                <a:spcPct val="100000"/>
              </a:lnSpc>
              <a:spcBef>
                <a:spcPts val="0"/>
              </a:spcBef>
              <a:spcAft>
                <a:spcPts val="0"/>
              </a:spcAft>
              <a:buClr>
                <a:schemeClr val="dk2"/>
              </a:buClr>
              <a:buSzPts val="3040"/>
              <a:buFont typeface="Noto Sans Symbols"/>
              <a:buNone/>
            </a:pPr>
            <a:endParaRPr sz="3200" b="0" i="0" u="none" strike="noStrike" cap="none">
              <a:solidFill>
                <a:schemeClr val="dk1"/>
              </a:solidFill>
              <a:latin typeface="Times New Roman"/>
              <a:ea typeface="Times New Roman"/>
              <a:cs typeface="Times New Roman"/>
              <a:sym typeface="Times New Roman"/>
            </a:endParaRPr>
          </a:p>
          <a:p>
            <a:pPr marL="742950" marR="0" lvl="1" indent="-107950" algn="l" rtl="0">
              <a:lnSpc>
                <a:spcPct val="100000"/>
              </a:lnSpc>
              <a:spcBef>
                <a:spcPts val="56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imes New Roman"/>
              <a:ea typeface="Times New Roman"/>
              <a:cs typeface="Times New Roman"/>
              <a:sym typeface="Times New Roman"/>
            </a:endParaRPr>
          </a:p>
        </p:txBody>
      </p:sp>
      <p:pic>
        <p:nvPicPr>
          <p:cNvPr id="841" name="Google Shape;841;p56"/>
          <p:cNvPicPr preferRelativeResize="0"/>
          <p:nvPr/>
        </p:nvPicPr>
        <p:blipFill rotWithShape="1">
          <a:blip r:embed="rId3">
            <a:alphaModFix/>
          </a:blip>
          <a:srcRect/>
          <a:stretch/>
        </p:blipFill>
        <p:spPr>
          <a:xfrm>
            <a:off x="1366837" y="1148953"/>
            <a:ext cx="4717256" cy="565547"/>
          </a:xfrm>
          <a:prstGeom prst="rect">
            <a:avLst/>
          </a:prstGeom>
          <a:noFill/>
          <a:ln>
            <a:noFill/>
          </a:ln>
        </p:spPr>
      </p:pic>
      <p:grpSp>
        <p:nvGrpSpPr>
          <p:cNvPr id="842" name="Google Shape;842;p56"/>
          <p:cNvGrpSpPr/>
          <p:nvPr/>
        </p:nvGrpSpPr>
        <p:grpSpPr>
          <a:xfrm>
            <a:off x="366712" y="2183606"/>
            <a:ext cx="8528050" cy="1634728"/>
            <a:chOff x="231" y="1834"/>
            <a:chExt cx="5372" cy="1373"/>
          </a:xfrm>
        </p:grpSpPr>
        <p:pic>
          <p:nvPicPr>
            <p:cNvPr id="843" name="Google Shape;843;p56"/>
            <p:cNvPicPr preferRelativeResize="0"/>
            <p:nvPr/>
          </p:nvPicPr>
          <p:blipFill rotWithShape="1">
            <a:blip r:embed="rId4">
              <a:alphaModFix/>
            </a:blip>
            <a:srcRect/>
            <a:stretch/>
          </p:blipFill>
          <p:spPr>
            <a:xfrm>
              <a:off x="231" y="1834"/>
              <a:ext cx="5372" cy="1373"/>
            </a:xfrm>
            <a:prstGeom prst="rect">
              <a:avLst/>
            </a:prstGeom>
            <a:noFill/>
            <a:ln>
              <a:noFill/>
            </a:ln>
          </p:spPr>
        </p:pic>
        <p:cxnSp>
          <p:nvCxnSpPr>
            <p:cNvPr id="844" name="Google Shape;844;p56"/>
            <p:cNvCxnSpPr/>
            <p:nvPr/>
          </p:nvCxnSpPr>
          <p:spPr>
            <a:xfrm>
              <a:off x="4504" y="1870"/>
              <a:ext cx="0" cy="1227"/>
            </a:xfrm>
            <a:prstGeom prst="straightConnector1">
              <a:avLst/>
            </a:prstGeom>
            <a:noFill/>
            <a:ln w="9525" cap="flat" cmpd="sng">
              <a:solidFill>
                <a:schemeClr val="dk1"/>
              </a:solidFill>
              <a:prstDash val="solid"/>
              <a:miter lim="800000"/>
              <a:headEnd type="none" w="sm" len="sm"/>
              <a:tailEnd type="none" w="sm" len="sm"/>
            </a:ln>
          </p:spPr>
        </p:cxnSp>
        <p:cxnSp>
          <p:nvCxnSpPr>
            <p:cNvPr id="845" name="Google Shape;845;p56"/>
            <p:cNvCxnSpPr/>
            <p:nvPr/>
          </p:nvCxnSpPr>
          <p:spPr>
            <a:xfrm>
              <a:off x="3409" y="2852"/>
              <a:ext cx="1388" cy="0"/>
            </a:xfrm>
            <a:prstGeom prst="straightConnector1">
              <a:avLst/>
            </a:prstGeom>
            <a:noFill/>
            <a:ln w="9525" cap="flat" cmpd="sng">
              <a:solidFill>
                <a:schemeClr val="dk1"/>
              </a:solidFill>
              <a:prstDash val="solid"/>
              <a:miter lim="800000"/>
              <a:headEnd type="none" w="sm" len="sm"/>
              <a:tailEnd type="none" w="sm" len="sm"/>
            </a:ln>
          </p:spPr>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57"/>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44</a:t>
            </a:fld>
            <a:endParaRPr sz="1400" b="0" i="0" u="none" strike="noStrike" cap="none">
              <a:solidFill>
                <a:srgbClr val="000000"/>
              </a:solidFill>
              <a:latin typeface="Arial"/>
              <a:ea typeface="Arial"/>
              <a:cs typeface="Arial"/>
              <a:sym typeface="Arial"/>
            </a:endParaRPr>
          </a:p>
        </p:txBody>
      </p:sp>
      <p:sp>
        <p:nvSpPr>
          <p:cNvPr id="851" name="Google Shape;851;p57"/>
          <p:cNvSpPr txBox="1">
            <a:spLocks noGrp="1"/>
          </p:cNvSpPr>
          <p:nvPr>
            <p:ph type="title"/>
          </p:nvPr>
        </p:nvSpPr>
        <p:spPr>
          <a:xfrm>
            <a:off x="1471612" y="228600"/>
            <a:ext cx="6758100" cy="5145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000"/>
              <a:buFont typeface="Times New Roman"/>
              <a:buNone/>
            </a:pPr>
            <a:r>
              <a:rPr lang="en-US" sz="4000" b="0" i="1" u="none">
                <a:solidFill>
                  <a:srgbClr val="663300"/>
                </a:solidFill>
                <a:latin typeface="Times New Roman"/>
                <a:ea typeface="Times New Roman"/>
                <a:cs typeface="Times New Roman"/>
                <a:sym typeface="Times New Roman"/>
              </a:rPr>
              <a:t>Translate then Rotate</a:t>
            </a:r>
            <a:endParaRPr/>
          </a:p>
        </p:txBody>
      </p:sp>
      <p:sp>
        <p:nvSpPr>
          <p:cNvPr id="852" name="Google Shape;852;p57"/>
          <p:cNvSpPr txBox="1"/>
          <p:nvPr/>
        </p:nvSpPr>
        <p:spPr>
          <a:xfrm>
            <a:off x="457200" y="1321594"/>
            <a:ext cx="8229600" cy="3250500"/>
          </a:xfrm>
          <a:prstGeom prst="rect">
            <a:avLst/>
          </a:prstGeom>
          <a:noFill/>
          <a:ln>
            <a:noFill/>
          </a:ln>
        </p:spPr>
        <p:txBody>
          <a:bodyPr spcFirstLastPara="1" wrap="square" lIns="91425" tIns="45700" rIns="91425" bIns="45700" anchor="t" anchorCtr="0">
            <a:noAutofit/>
          </a:bodyPr>
          <a:lstStyle/>
          <a:p>
            <a:pPr marL="342900" marR="0" lvl="0" indent="-149860" algn="l" rtl="0">
              <a:lnSpc>
                <a:spcPct val="100000"/>
              </a:lnSpc>
              <a:spcBef>
                <a:spcPts val="0"/>
              </a:spcBef>
              <a:spcAft>
                <a:spcPts val="0"/>
              </a:spcAft>
              <a:buClr>
                <a:schemeClr val="dk2"/>
              </a:buClr>
              <a:buSzPts val="3040"/>
              <a:buFont typeface="Noto Sans Symbols"/>
              <a:buNone/>
            </a:pPr>
            <a:endParaRPr sz="3200" b="0" i="0" u="none" strike="noStrike" cap="none">
              <a:solidFill>
                <a:schemeClr val="dk1"/>
              </a:solidFill>
              <a:latin typeface="Times New Roman"/>
              <a:ea typeface="Times New Roman"/>
              <a:cs typeface="Times New Roman"/>
              <a:sym typeface="Times New Roman"/>
            </a:endParaRPr>
          </a:p>
          <a:p>
            <a:pPr marL="742950" marR="0" lvl="1" indent="-107950" algn="l" rtl="0">
              <a:lnSpc>
                <a:spcPct val="100000"/>
              </a:lnSpc>
              <a:spcBef>
                <a:spcPts val="56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Times New Roman"/>
              <a:ea typeface="Times New Roman"/>
              <a:cs typeface="Times New Roman"/>
              <a:sym typeface="Times New Roman"/>
            </a:endParaRPr>
          </a:p>
        </p:txBody>
      </p:sp>
      <p:pic>
        <p:nvPicPr>
          <p:cNvPr id="853" name="Google Shape;853;p57"/>
          <p:cNvPicPr preferRelativeResize="0"/>
          <p:nvPr/>
        </p:nvPicPr>
        <p:blipFill rotWithShape="1">
          <a:blip r:embed="rId3">
            <a:alphaModFix/>
          </a:blip>
          <a:srcRect/>
          <a:stretch/>
        </p:blipFill>
        <p:spPr>
          <a:xfrm>
            <a:off x="522287" y="1176338"/>
            <a:ext cx="6282925" cy="506015"/>
          </a:xfrm>
          <a:prstGeom prst="rect">
            <a:avLst/>
          </a:prstGeom>
          <a:noFill/>
          <a:ln>
            <a:noFill/>
          </a:ln>
        </p:spPr>
      </p:pic>
      <p:pic>
        <p:nvPicPr>
          <p:cNvPr id="854" name="Google Shape;854;p57"/>
          <p:cNvPicPr preferRelativeResize="0"/>
          <p:nvPr/>
        </p:nvPicPr>
        <p:blipFill rotWithShape="1">
          <a:blip r:embed="rId4">
            <a:alphaModFix/>
          </a:blip>
          <a:srcRect/>
          <a:stretch/>
        </p:blipFill>
        <p:spPr>
          <a:xfrm>
            <a:off x="1146175" y="2170509"/>
            <a:ext cx="5006579" cy="163472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58"/>
          <p:cNvSpPr txBox="1"/>
          <p:nvPr/>
        </p:nvSpPr>
        <p:spPr>
          <a:xfrm>
            <a:off x="67691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200" b="0" i="0" u="none" strike="noStrike" cap="none">
                <a:solidFill>
                  <a:schemeClr val="dk2"/>
                </a:solidFill>
                <a:latin typeface="Times New Roman"/>
                <a:ea typeface="Times New Roman"/>
                <a:cs typeface="Times New Roman"/>
                <a:sym typeface="Times New Roman"/>
              </a:rPr>
              <a:t>45</a:t>
            </a:fld>
            <a:endParaRPr sz="1200" b="0" i="0" u="none" strike="noStrike" cap="none">
              <a:solidFill>
                <a:srgbClr val="000000"/>
              </a:solidFill>
              <a:latin typeface="Arial"/>
              <a:ea typeface="Arial"/>
              <a:cs typeface="Arial"/>
              <a:sym typeface="Arial"/>
            </a:endParaRPr>
          </a:p>
        </p:txBody>
      </p:sp>
      <p:sp>
        <p:nvSpPr>
          <p:cNvPr id="860" name="Google Shape;860;p58"/>
          <p:cNvSpPr txBox="1">
            <a:spLocks noGrp="1"/>
          </p:cNvSpPr>
          <p:nvPr>
            <p:ph type="title"/>
          </p:nvPr>
        </p:nvSpPr>
        <p:spPr>
          <a:xfrm>
            <a:off x="1219200" y="228600"/>
            <a:ext cx="7391400" cy="6288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3600"/>
              <a:buFont typeface="Times New Roman"/>
              <a:buNone/>
            </a:pPr>
            <a:r>
              <a:rPr lang="en-US" sz="3400" b="0" i="1" u="none">
                <a:solidFill>
                  <a:srgbClr val="663300"/>
                </a:solidFill>
                <a:latin typeface="Times New Roman"/>
                <a:ea typeface="Times New Roman"/>
                <a:cs typeface="Times New Roman"/>
                <a:sym typeface="Times New Roman"/>
              </a:rPr>
              <a:t>Associativity of Matrix Multiplication</a:t>
            </a:r>
            <a:endParaRPr sz="3100"/>
          </a:p>
        </p:txBody>
      </p:sp>
      <p:sp>
        <p:nvSpPr>
          <p:cNvPr id="861" name="Google Shape;861;p58"/>
          <p:cNvSpPr txBox="1"/>
          <p:nvPr/>
        </p:nvSpPr>
        <p:spPr>
          <a:xfrm>
            <a:off x="990600" y="1085850"/>
            <a:ext cx="7365900" cy="1593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1700" b="0" i="0" u="none" strike="noStrike" cap="none">
                <a:solidFill>
                  <a:schemeClr val="dk1"/>
                </a:solidFill>
                <a:latin typeface="Tahoma"/>
                <a:ea typeface="Tahoma"/>
                <a:cs typeface="Tahoma"/>
                <a:sym typeface="Tahoma"/>
              </a:rPr>
              <a:t>Create new affine transformations by multiplying sequences of the above basic transformations.</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2000"/>
              <a:buFont typeface="Times New Roman"/>
              <a:buNone/>
            </a:pP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Times New Roman"/>
                <a:ea typeface="Times New Roman"/>
                <a:cs typeface="Times New Roman"/>
                <a:sym typeface="Times New Roman"/>
              </a:rPr>
              <a:t>q</a:t>
            </a:r>
            <a:r>
              <a:rPr lang="en-US" sz="1700" b="0" i="0" u="none" strike="noStrike" cap="none">
                <a:solidFill>
                  <a:schemeClr val="dk1"/>
                </a:solidFill>
                <a:latin typeface="Times New Roman"/>
                <a:ea typeface="Times New Roman"/>
                <a:cs typeface="Times New Roman"/>
                <a:sym typeface="Times New Roman"/>
              </a:rPr>
              <a:t> = </a:t>
            </a:r>
            <a:r>
              <a:rPr lang="en-US" sz="1700" b="1" i="0" u="none" strike="noStrike" cap="none">
                <a:solidFill>
                  <a:schemeClr val="dk1"/>
                </a:solidFill>
                <a:latin typeface="Arial"/>
                <a:ea typeface="Arial"/>
                <a:cs typeface="Arial"/>
                <a:sym typeface="Arial"/>
              </a:rPr>
              <a:t>CBA</a:t>
            </a:r>
            <a:r>
              <a:rPr lang="en-US" sz="1700" b="1" i="0" u="none" strike="noStrike" cap="none">
                <a:solidFill>
                  <a:schemeClr val="dk1"/>
                </a:solidFill>
                <a:latin typeface="Times New Roman"/>
                <a:ea typeface="Times New Roman"/>
                <a:cs typeface="Times New Roman"/>
                <a:sym typeface="Times New Roman"/>
              </a:rPr>
              <a:t>p</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2000"/>
              <a:buFont typeface="Times New Roman"/>
              <a:buNone/>
            </a:pP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Times New Roman"/>
                <a:ea typeface="Times New Roman"/>
                <a:cs typeface="Times New Roman"/>
                <a:sym typeface="Times New Roman"/>
              </a:rPr>
              <a:t>q</a:t>
            </a:r>
            <a:r>
              <a:rPr lang="en-US" sz="1700" b="0" i="0" u="none" strike="noStrike" cap="none">
                <a:solidFill>
                  <a:schemeClr val="dk1"/>
                </a:solidFill>
                <a:latin typeface="Times New Roman"/>
                <a:ea typeface="Times New Roman"/>
                <a:cs typeface="Times New Roman"/>
                <a:sym typeface="Times New Roman"/>
              </a:rPr>
              <a:t>  =  ( (</a:t>
            </a:r>
            <a:r>
              <a:rPr lang="en-US" sz="1700" b="1" i="0" u="none" strike="noStrike" cap="none">
                <a:solidFill>
                  <a:schemeClr val="dk1"/>
                </a:solidFill>
                <a:latin typeface="Arial"/>
                <a:ea typeface="Arial"/>
                <a:cs typeface="Arial"/>
                <a:sym typeface="Arial"/>
              </a:rPr>
              <a:t>CB</a:t>
            </a: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Arial"/>
                <a:ea typeface="Arial"/>
                <a:cs typeface="Arial"/>
                <a:sym typeface="Arial"/>
              </a:rPr>
              <a:t>A</a:t>
            </a: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Times New Roman"/>
                <a:ea typeface="Times New Roman"/>
                <a:cs typeface="Times New Roman"/>
                <a:sym typeface="Times New Roman"/>
              </a:rPr>
              <a:t>p</a:t>
            </a:r>
            <a:r>
              <a:rPr lang="en-US" sz="1700" b="0" i="0" u="none" strike="noStrike" cap="none">
                <a:solidFill>
                  <a:schemeClr val="dk1"/>
                </a:solidFill>
                <a:latin typeface="Times New Roman"/>
                <a:ea typeface="Times New Roman"/>
                <a:cs typeface="Times New Roman"/>
                <a:sym typeface="Times New Roman"/>
              </a:rPr>
              <a:t> = (</a:t>
            </a:r>
            <a:r>
              <a:rPr lang="en-US" sz="1700" b="1" i="0" u="none" strike="noStrike" cap="none">
                <a:solidFill>
                  <a:schemeClr val="dk1"/>
                </a:solidFill>
                <a:latin typeface="Arial"/>
                <a:ea typeface="Arial"/>
                <a:cs typeface="Arial"/>
                <a:sym typeface="Arial"/>
              </a:rPr>
              <a:t>C</a:t>
            </a: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Arial"/>
                <a:ea typeface="Arial"/>
                <a:cs typeface="Arial"/>
                <a:sym typeface="Arial"/>
              </a:rPr>
              <a:t>B A</a:t>
            </a:r>
            <a:r>
              <a:rPr lang="en-US" sz="1700" b="0" i="0" u="none" strike="noStrike" cap="none">
                <a:solidFill>
                  <a:schemeClr val="dk1"/>
                </a:solidFill>
                <a:latin typeface="Times New Roman"/>
                <a:ea typeface="Times New Roman"/>
                <a:cs typeface="Times New Roman"/>
                <a:sym typeface="Times New Roman"/>
              </a:rPr>
              <a:t>))</a:t>
            </a:r>
            <a:r>
              <a:rPr lang="en-US" sz="1700" b="1" i="0" u="none" strike="noStrike" cap="none">
                <a:solidFill>
                  <a:schemeClr val="dk1"/>
                </a:solidFill>
                <a:latin typeface="Times New Roman"/>
                <a:ea typeface="Times New Roman"/>
                <a:cs typeface="Times New Roman"/>
                <a:sym typeface="Times New Roman"/>
              </a:rPr>
              <a:t>p</a:t>
            </a:r>
            <a:r>
              <a:rPr lang="en-US" sz="1700" b="0" i="0" u="none" strike="noStrike" cap="none">
                <a:solidFill>
                  <a:schemeClr val="dk1"/>
                </a:solidFill>
                <a:latin typeface="Times New Roman"/>
                <a:ea typeface="Times New Roman"/>
                <a:cs typeface="Times New Roman"/>
                <a:sym typeface="Times New Roman"/>
              </a:rPr>
              <a:t> = </a:t>
            </a:r>
            <a:r>
              <a:rPr lang="en-US" sz="1700" b="1" i="0" u="none" strike="noStrike" cap="none">
                <a:solidFill>
                  <a:schemeClr val="dk1"/>
                </a:solidFill>
                <a:latin typeface="Arial"/>
                <a:ea typeface="Arial"/>
                <a:cs typeface="Arial"/>
                <a:sym typeface="Arial"/>
              </a:rPr>
              <a:t>C</a:t>
            </a: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Arial"/>
                <a:ea typeface="Arial"/>
                <a:cs typeface="Arial"/>
                <a:sym typeface="Arial"/>
              </a:rPr>
              <a:t>B</a:t>
            </a:r>
            <a:r>
              <a:rPr lang="en-US" sz="1700" b="0" i="0" u="none" strike="noStrike" cap="none">
                <a:solidFill>
                  <a:schemeClr val="dk1"/>
                </a:solidFill>
                <a:latin typeface="Times New Roman"/>
                <a:ea typeface="Times New Roman"/>
                <a:cs typeface="Times New Roman"/>
                <a:sym typeface="Times New Roman"/>
              </a:rPr>
              <a:t> (</a:t>
            </a:r>
            <a:r>
              <a:rPr lang="en-US" sz="1700" b="1" i="0" u="none" strike="noStrike" cap="none">
                <a:solidFill>
                  <a:schemeClr val="dk1"/>
                </a:solidFill>
                <a:latin typeface="Arial"/>
                <a:ea typeface="Arial"/>
                <a:cs typeface="Arial"/>
                <a:sym typeface="Arial"/>
              </a:rPr>
              <a:t>A</a:t>
            </a:r>
            <a:r>
              <a:rPr lang="en-US" sz="1700" b="1" i="0" u="none" strike="noStrike" cap="none">
                <a:solidFill>
                  <a:schemeClr val="dk1"/>
                </a:solidFill>
                <a:latin typeface="Times New Roman"/>
                <a:ea typeface="Times New Roman"/>
                <a:cs typeface="Times New Roman"/>
                <a:sym typeface="Times New Roman"/>
              </a:rPr>
              <a:t>p</a:t>
            </a:r>
            <a:r>
              <a:rPr lang="en-US" sz="1700" b="0" i="0" u="none" strike="noStrike" cap="none">
                <a:solidFill>
                  <a:schemeClr val="dk1"/>
                </a:solidFill>
                <a:latin typeface="Times New Roman"/>
                <a:ea typeface="Times New Roman"/>
                <a:cs typeface="Times New Roman"/>
                <a:sym typeface="Times New Roman"/>
              </a:rPr>
              <a:t>) ) etc.</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2000"/>
              <a:buFont typeface="Times New Roman"/>
              <a:buNone/>
            </a:pPr>
            <a:r>
              <a:rPr lang="en-US" sz="1700" b="0" i="0" u="none" strike="noStrike" cap="none">
                <a:solidFill>
                  <a:schemeClr val="dk1"/>
                </a:solidFill>
                <a:latin typeface="Times New Roman"/>
                <a:ea typeface="Times New Roman"/>
                <a:cs typeface="Times New Roman"/>
                <a:sym typeface="Times New Roman"/>
              </a:rPr>
              <a:t> 		</a:t>
            </a:r>
            <a:r>
              <a:rPr lang="en-US" sz="1700" b="0" i="0" u="none" strike="noStrike" cap="none">
                <a:solidFill>
                  <a:schemeClr val="dk1"/>
                </a:solidFill>
                <a:latin typeface="Tahoma"/>
                <a:ea typeface="Tahoma"/>
                <a:cs typeface="Tahoma"/>
                <a:sym typeface="Tahoma"/>
              </a:rPr>
              <a:t>matrix multiplication is associative.</a:t>
            </a:r>
            <a:endParaRPr sz="1100" b="0" i="0" u="none" strike="noStrike" cap="none">
              <a:solidFill>
                <a:srgbClr val="000000"/>
              </a:solidFill>
              <a:latin typeface="Arial"/>
              <a:ea typeface="Arial"/>
              <a:cs typeface="Arial"/>
              <a:sym typeface="Arial"/>
            </a:endParaRPr>
          </a:p>
        </p:txBody>
      </p:sp>
      <p:sp>
        <p:nvSpPr>
          <p:cNvPr id="862" name="Google Shape;862;p58"/>
          <p:cNvSpPr txBox="1"/>
          <p:nvPr/>
        </p:nvSpPr>
        <p:spPr>
          <a:xfrm>
            <a:off x="990600" y="3124200"/>
            <a:ext cx="7239000" cy="1051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ahoma"/>
              <a:buNone/>
            </a:pPr>
            <a:r>
              <a:rPr lang="en-US" sz="1800" b="0" i="0" u="none" strike="noStrike" cap="none">
                <a:solidFill>
                  <a:schemeClr val="dk1"/>
                </a:solidFill>
                <a:latin typeface="Tahoma"/>
                <a:ea typeface="Tahoma"/>
                <a:cs typeface="Tahoma"/>
                <a:sym typeface="Tahoma"/>
              </a:rPr>
              <a:t>But to transform many points, best to do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2000"/>
              <a:buFont typeface="Times New Roman"/>
              <a:buNone/>
            </a:pPr>
            <a:r>
              <a:rPr lang="en-US" sz="1800" b="0" i="0" u="none" strike="noStrike" cap="none">
                <a:solidFill>
                  <a:schemeClr val="dk1"/>
                </a:solidFill>
                <a:latin typeface="Times New Roman"/>
                <a:ea typeface="Times New Roman"/>
                <a:cs typeface="Times New Roman"/>
                <a:sym typeface="Times New Roman"/>
              </a:rPr>
              <a:t>                             </a:t>
            </a:r>
            <a:r>
              <a:rPr lang="en-US" sz="1800" b="1" i="0" u="none" strike="noStrike" cap="none">
                <a:solidFill>
                  <a:schemeClr val="dk1"/>
                </a:solidFill>
                <a:latin typeface="Arial"/>
                <a:ea typeface="Arial"/>
                <a:cs typeface="Arial"/>
                <a:sym typeface="Arial"/>
              </a:rPr>
              <a:t>M </a:t>
            </a:r>
            <a:r>
              <a:rPr lang="en-US" sz="1800" b="0" i="0" u="none" strike="noStrike" cap="none">
                <a:solidFill>
                  <a:schemeClr val="dk1"/>
                </a:solidFill>
                <a:latin typeface="Times New Roman"/>
                <a:ea typeface="Times New Roman"/>
                <a:cs typeface="Times New Roman"/>
                <a:sym typeface="Times New Roman"/>
              </a:rPr>
              <a:t>= </a:t>
            </a:r>
            <a:r>
              <a:rPr lang="en-US" sz="1800" b="1" i="0" u="none" strike="noStrike" cap="none">
                <a:solidFill>
                  <a:schemeClr val="dk1"/>
                </a:solidFill>
                <a:latin typeface="Arial"/>
                <a:ea typeface="Arial"/>
                <a:cs typeface="Arial"/>
                <a:sym typeface="Arial"/>
              </a:rPr>
              <a:t>CBA</a:t>
            </a:r>
            <a:r>
              <a:rPr lang="en-US" sz="1800" b="0" i="0" u="none" strike="noStrike" cap="none">
                <a:solidFill>
                  <a:schemeClr val="dk1"/>
                </a:solidFill>
                <a:latin typeface="Times New Roman"/>
                <a:ea typeface="Times New Roman"/>
                <a:cs typeface="Times New Roman"/>
                <a:sym typeface="Times New Roman"/>
              </a:rPr>
              <a:t>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2000"/>
              <a:buFont typeface="Tahoma"/>
              <a:buNone/>
            </a:pPr>
            <a:r>
              <a:rPr lang="en-US" sz="1800" b="0" i="0" u="none" strike="noStrike" cap="none">
                <a:solidFill>
                  <a:schemeClr val="dk1"/>
                </a:solidFill>
                <a:latin typeface="Tahoma"/>
                <a:ea typeface="Tahoma"/>
                <a:cs typeface="Tahoma"/>
                <a:sym typeface="Tahoma"/>
              </a:rPr>
              <a:t>then do </a:t>
            </a:r>
            <a:r>
              <a:rPr lang="en-US" sz="1800" b="0" i="0" u="none" strike="noStrike" cap="none">
                <a:solidFill>
                  <a:schemeClr val="dk1"/>
                </a:solidFill>
                <a:latin typeface="Times New Roman"/>
                <a:ea typeface="Times New Roman"/>
                <a:cs typeface="Times New Roman"/>
                <a:sym typeface="Times New Roman"/>
              </a:rPr>
              <a:t>                </a:t>
            </a:r>
            <a:r>
              <a:rPr lang="en-US" sz="1800" b="1" i="0" u="none" strike="noStrike" cap="none">
                <a:solidFill>
                  <a:schemeClr val="dk1"/>
                </a:solidFill>
                <a:latin typeface="Times New Roman"/>
                <a:ea typeface="Times New Roman"/>
                <a:cs typeface="Times New Roman"/>
                <a:sym typeface="Times New Roman"/>
              </a:rPr>
              <a:t>q </a:t>
            </a:r>
            <a:r>
              <a:rPr lang="en-US" sz="1800" b="0" i="0" u="none" strike="noStrike" cap="none">
                <a:solidFill>
                  <a:schemeClr val="dk1"/>
                </a:solidFill>
                <a:latin typeface="Times New Roman"/>
                <a:ea typeface="Times New Roman"/>
                <a:cs typeface="Times New Roman"/>
                <a:sym typeface="Times New Roman"/>
              </a:rPr>
              <a:t>= </a:t>
            </a:r>
            <a:r>
              <a:rPr lang="en-US" sz="1800" b="1" i="0" u="none" strike="noStrike" cap="none">
                <a:solidFill>
                  <a:schemeClr val="dk1"/>
                </a:solidFill>
                <a:latin typeface="Arial"/>
                <a:ea typeface="Arial"/>
                <a:cs typeface="Arial"/>
                <a:sym typeface="Arial"/>
              </a:rPr>
              <a:t>M</a:t>
            </a:r>
            <a:r>
              <a:rPr lang="en-US" sz="1800" b="1" i="0" u="none" strike="noStrike" cap="none">
                <a:solidFill>
                  <a:schemeClr val="dk1"/>
                </a:solidFill>
                <a:latin typeface="Times New Roman"/>
                <a:ea typeface="Times New Roman"/>
                <a:cs typeface="Times New Roman"/>
                <a:sym typeface="Times New Roman"/>
              </a:rPr>
              <a:t>p           </a:t>
            </a:r>
            <a:r>
              <a:rPr lang="en-US" sz="1800" b="0" i="0" u="none" strike="noStrike" cap="none">
                <a:solidFill>
                  <a:schemeClr val="dk1"/>
                </a:solidFill>
                <a:latin typeface="Tahoma"/>
                <a:ea typeface="Tahoma"/>
                <a:cs typeface="Tahoma"/>
                <a:sym typeface="Tahoma"/>
              </a:rPr>
              <a:t>for any point </a:t>
            </a:r>
            <a:r>
              <a:rPr lang="en-US" sz="1800" b="1" i="0" u="none" strike="noStrike" cap="none">
                <a:solidFill>
                  <a:schemeClr val="dk1"/>
                </a:solidFill>
                <a:latin typeface="Tahoma"/>
                <a:ea typeface="Tahoma"/>
                <a:cs typeface="Tahoma"/>
                <a:sym typeface="Tahoma"/>
              </a:rPr>
              <a:t>p </a:t>
            </a:r>
            <a:r>
              <a:rPr lang="en-US" sz="1800" b="0" i="0" u="none" strike="noStrike" cap="none">
                <a:solidFill>
                  <a:schemeClr val="dk1"/>
                </a:solidFill>
                <a:latin typeface="Tahoma"/>
                <a:ea typeface="Tahoma"/>
                <a:cs typeface="Tahoma"/>
                <a:sym typeface="Tahoma"/>
              </a:rPr>
              <a:t>to be rendered.</a:t>
            </a:r>
            <a:endParaRPr sz="1200" b="0" i="0" u="none" strike="noStrike" cap="none">
              <a:solidFill>
                <a:srgbClr val="000000"/>
              </a:solidFill>
              <a:latin typeface="Arial"/>
              <a:ea typeface="Arial"/>
              <a:cs typeface="Arial"/>
              <a:sym typeface="Arial"/>
            </a:endParaRPr>
          </a:p>
        </p:txBody>
      </p:sp>
      <p:sp>
        <p:nvSpPr>
          <p:cNvPr id="863" name="Google Shape;863;p58"/>
          <p:cNvSpPr txBox="1"/>
          <p:nvPr/>
        </p:nvSpPr>
        <p:spPr>
          <a:xfrm>
            <a:off x="977850" y="2765925"/>
            <a:ext cx="73914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2000"/>
              <a:buFont typeface="Tahoma"/>
              <a:buNone/>
            </a:pPr>
            <a:r>
              <a:rPr lang="en-US" sz="1700" b="0" i="0" u="none" strike="noStrike" cap="none">
                <a:solidFill>
                  <a:srgbClr val="CC3300"/>
                </a:solidFill>
                <a:latin typeface="Tahoma"/>
                <a:ea typeface="Tahoma"/>
                <a:cs typeface="Tahoma"/>
                <a:sym typeface="Tahoma"/>
              </a:rPr>
              <a:t>To transform just a point, better to do</a:t>
            </a:r>
            <a:r>
              <a:rPr lang="en-US" sz="1700" b="0" i="0" u="none" strike="noStrike" cap="none">
                <a:solidFill>
                  <a:srgbClr val="CC3300"/>
                </a:solidFill>
                <a:latin typeface="Times New Roman"/>
                <a:ea typeface="Times New Roman"/>
                <a:cs typeface="Times New Roman"/>
                <a:sym typeface="Times New Roman"/>
              </a:rPr>
              <a:t>    </a:t>
            </a:r>
            <a:r>
              <a:rPr lang="en-US" sz="1700" b="1" i="0" u="none" strike="noStrike" cap="none">
                <a:solidFill>
                  <a:srgbClr val="CC3300"/>
                </a:solidFill>
                <a:latin typeface="Times New Roman"/>
                <a:ea typeface="Times New Roman"/>
                <a:cs typeface="Times New Roman"/>
                <a:sym typeface="Times New Roman"/>
              </a:rPr>
              <a:t>q</a:t>
            </a:r>
            <a:r>
              <a:rPr lang="en-US" sz="1700" b="0" i="0" u="none" strike="noStrike" cap="none">
                <a:solidFill>
                  <a:srgbClr val="CC3300"/>
                </a:solidFill>
                <a:latin typeface="Times New Roman"/>
                <a:ea typeface="Times New Roman"/>
                <a:cs typeface="Times New Roman"/>
                <a:sym typeface="Times New Roman"/>
              </a:rPr>
              <a:t> = </a:t>
            </a:r>
            <a:r>
              <a:rPr lang="en-US" sz="1700" b="1" i="0" u="none" strike="noStrike" cap="none">
                <a:solidFill>
                  <a:srgbClr val="CC3300"/>
                </a:solidFill>
                <a:latin typeface="Arial"/>
                <a:ea typeface="Arial"/>
                <a:cs typeface="Arial"/>
                <a:sym typeface="Arial"/>
              </a:rPr>
              <a:t>C</a:t>
            </a:r>
            <a:r>
              <a:rPr lang="en-US" sz="1700" b="0" i="0" u="none" strike="noStrike" cap="none">
                <a:solidFill>
                  <a:srgbClr val="CC3300"/>
                </a:solidFill>
                <a:latin typeface="Times New Roman"/>
                <a:ea typeface="Times New Roman"/>
                <a:cs typeface="Times New Roman"/>
                <a:sym typeface="Times New Roman"/>
              </a:rPr>
              <a:t>(</a:t>
            </a:r>
            <a:r>
              <a:rPr lang="en-US" sz="1700" b="1" i="0" u="none" strike="noStrike" cap="none">
                <a:solidFill>
                  <a:srgbClr val="CC3300"/>
                </a:solidFill>
                <a:latin typeface="Arial"/>
                <a:ea typeface="Arial"/>
                <a:cs typeface="Arial"/>
                <a:sym typeface="Arial"/>
              </a:rPr>
              <a:t>B</a:t>
            </a:r>
            <a:r>
              <a:rPr lang="en-US" sz="1700" b="0" i="0" u="none" strike="noStrike" cap="none">
                <a:solidFill>
                  <a:srgbClr val="CC3300"/>
                </a:solidFill>
                <a:latin typeface="Times New Roman"/>
                <a:ea typeface="Times New Roman"/>
                <a:cs typeface="Times New Roman"/>
                <a:sym typeface="Times New Roman"/>
              </a:rPr>
              <a:t>(</a:t>
            </a:r>
            <a:r>
              <a:rPr lang="en-US" sz="1700" b="1" i="0" u="none" strike="noStrike" cap="none">
                <a:solidFill>
                  <a:srgbClr val="CC3300"/>
                </a:solidFill>
                <a:latin typeface="Arial"/>
                <a:ea typeface="Arial"/>
                <a:cs typeface="Arial"/>
                <a:sym typeface="Arial"/>
              </a:rPr>
              <a:t>A</a:t>
            </a:r>
            <a:r>
              <a:rPr lang="en-US" sz="1700" b="1" i="0" u="none" strike="noStrike" cap="none">
                <a:solidFill>
                  <a:srgbClr val="CC3300"/>
                </a:solidFill>
                <a:latin typeface="Times New Roman"/>
                <a:ea typeface="Times New Roman"/>
                <a:cs typeface="Times New Roman"/>
                <a:sym typeface="Times New Roman"/>
              </a:rPr>
              <a:t>p</a:t>
            </a:r>
            <a:r>
              <a:rPr lang="en-US" sz="1700" b="0" i="0" u="none" strike="noStrike" cap="none">
                <a:solidFill>
                  <a:srgbClr val="CC3300"/>
                </a:solidFill>
                <a:latin typeface="Times New Roman"/>
                <a:ea typeface="Times New Roman"/>
                <a:cs typeface="Times New Roman"/>
                <a:sym typeface="Times New Roman"/>
              </a:rPr>
              <a:t>))</a:t>
            </a:r>
            <a:endParaRPr sz="1100" b="0" i="0" u="none" strike="noStrike" cap="none">
              <a:solidFill>
                <a:srgbClr val="000000"/>
              </a:solidFill>
              <a:latin typeface="Arial"/>
              <a:ea typeface="Arial"/>
              <a:cs typeface="Arial"/>
              <a:sym typeface="Arial"/>
            </a:endParaRPr>
          </a:p>
        </p:txBody>
      </p:sp>
      <p:sp>
        <p:nvSpPr>
          <p:cNvPr id="864" name="Google Shape;864;p58"/>
          <p:cNvSpPr txBox="1"/>
          <p:nvPr/>
        </p:nvSpPr>
        <p:spPr>
          <a:xfrm>
            <a:off x="990600" y="4268400"/>
            <a:ext cx="72390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3300"/>
              </a:buClr>
              <a:buSzPts val="2000"/>
              <a:buFont typeface="Tahoma"/>
              <a:buNone/>
            </a:pPr>
            <a:r>
              <a:rPr lang="en-US" sz="1600" b="0" i="0" u="none" strike="noStrike" cap="none">
                <a:solidFill>
                  <a:srgbClr val="CC3300"/>
                </a:solidFill>
                <a:latin typeface="Tahoma"/>
                <a:ea typeface="Tahoma"/>
                <a:cs typeface="Tahoma"/>
                <a:sym typeface="Tahoma"/>
              </a:rPr>
              <a:t>For geometric pipeline transformation, define </a:t>
            </a:r>
            <a:r>
              <a:rPr lang="en-US" sz="1600" b="1" i="0" u="none" strike="noStrike" cap="none">
                <a:solidFill>
                  <a:srgbClr val="CC3300"/>
                </a:solidFill>
                <a:latin typeface="Tahoma"/>
                <a:ea typeface="Tahoma"/>
                <a:cs typeface="Tahoma"/>
                <a:sym typeface="Tahoma"/>
              </a:rPr>
              <a:t>M</a:t>
            </a:r>
            <a:r>
              <a:rPr lang="en-US" sz="1600" b="0" i="0" u="none" strike="noStrike" cap="none">
                <a:solidFill>
                  <a:srgbClr val="CC3300"/>
                </a:solidFill>
                <a:latin typeface="Tahoma"/>
                <a:ea typeface="Tahoma"/>
                <a:cs typeface="Tahoma"/>
                <a:sym typeface="Tahoma"/>
              </a:rPr>
              <a:t> and set it up with the model-view matrix and apply it to any vertex subsequently defined to its setting.</a:t>
            </a:r>
            <a:endParaRPr sz="10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61"/>
                                        </p:tgtEl>
                                        <p:attrNameLst>
                                          <p:attrName>style.visibility</p:attrName>
                                        </p:attrNameLst>
                                      </p:cBhvr>
                                      <p:to>
                                        <p:strVal val="visible"/>
                                      </p:to>
                                    </p:set>
                                    <p:anim calcmode="lin" valueType="num">
                                      <p:cBhvr additive="base">
                                        <p:cTn id="7" dur="500"/>
                                        <p:tgtEl>
                                          <p:spTgt spid="86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863"/>
                                        </p:tgtEl>
                                        <p:attrNameLst>
                                          <p:attrName>style.visibility</p:attrName>
                                        </p:attrNameLst>
                                      </p:cBhvr>
                                      <p:to>
                                        <p:strVal val="visible"/>
                                      </p:to>
                                    </p:set>
                                    <p:anim calcmode="lin" valueType="num">
                                      <p:cBhvr additive="base">
                                        <p:cTn id="12" dur="500"/>
                                        <p:tgtEl>
                                          <p:spTgt spid="86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862"/>
                                        </p:tgtEl>
                                        <p:attrNameLst>
                                          <p:attrName>style.visibility</p:attrName>
                                        </p:attrNameLst>
                                      </p:cBhvr>
                                      <p:to>
                                        <p:strVal val="visible"/>
                                      </p:to>
                                    </p:set>
                                    <p:anim calcmode="lin" valueType="num">
                                      <p:cBhvr additive="base">
                                        <p:cTn id="17" dur="500"/>
                                        <p:tgtEl>
                                          <p:spTgt spid="862"/>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864"/>
                                        </p:tgtEl>
                                        <p:attrNameLst>
                                          <p:attrName>style.visibility</p:attrName>
                                        </p:attrNameLst>
                                      </p:cBhvr>
                                      <p:to>
                                        <p:strVal val="visible"/>
                                      </p:to>
                                    </p:set>
                                    <p:anim calcmode="lin" valueType="num">
                                      <p:cBhvr additive="base">
                                        <p:cTn id="22" dur="500"/>
                                        <p:tgtEl>
                                          <p:spTgt spid="86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59"/>
          <p:cNvSpPr txBox="1">
            <a:spLocks noGrp="1"/>
          </p:cNvSpPr>
          <p:nvPr>
            <p:ph type="ctrTitle"/>
          </p:nvPr>
        </p:nvSpPr>
        <p:spPr>
          <a:xfrm>
            <a:off x="1143000" y="841772"/>
            <a:ext cx="6858000" cy="17907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Example Composite Transforms</a:t>
            </a:r>
            <a:endParaRPr/>
          </a:p>
        </p:txBody>
      </p:sp>
      <p:sp>
        <p:nvSpPr>
          <p:cNvPr id="870" name="Google Shape;870;p59"/>
          <p:cNvSpPr txBox="1"/>
          <p:nvPr/>
        </p:nvSpPr>
        <p:spPr>
          <a:xfrm>
            <a:off x="7391400" y="4762500"/>
            <a:ext cx="1724100" cy="342900"/>
          </a:xfrm>
          <a:prstGeom prst="rect">
            <a:avLst/>
          </a:prstGeom>
          <a:noFill/>
          <a:ln>
            <a:noFill/>
          </a:ln>
        </p:spPr>
        <p:txBody>
          <a:bodyPr spcFirstLastPara="1" wrap="square" lIns="92075" tIns="46025" rIns="92075" bIns="46025" anchor="b"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46</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60"/>
          <p:cNvSpPr txBox="1">
            <a:spLocks noGrp="1"/>
          </p:cNvSpPr>
          <p:nvPr>
            <p:ph type="title"/>
          </p:nvPr>
        </p:nvSpPr>
        <p:spPr>
          <a:xfrm>
            <a:off x="946925" y="415250"/>
            <a:ext cx="7772400" cy="6288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Rotation of θ about P(h,k): R</a:t>
            </a:r>
            <a:r>
              <a:rPr lang="en-US" sz="4400" b="0" i="1" u="none" baseline="-25000">
                <a:solidFill>
                  <a:srgbClr val="663300"/>
                </a:solidFill>
                <a:latin typeface="Times New Roman"/>
                <a:ea typeface="Times New Roman"/>
                <a:cs typeface="Times New Roman"/>
                <a:sym typeface="Times New Roman"/>
              </a:rPr>
              <a:t>θ,P</a:t>
            </a:r>
            <a:endParaRPr/>
          </a:p>
        </p:txBody>
      </p:sp>
      <p:sp>
        <p:nvSpPr>
          <p:cNvPr id="876" name="Google Shape;876;p60"/>
          <p:cNvSpPr txBox="1"/>
          <p:nvPr/>
        </p:nvSpPr>
        <p:spPr>
          <a:xfrm>
            <a:off x="1298075" y="3157463"/>
            <a:ext cx="990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R</a:t>
            </a:r>
            <a:r>
              <a:rPr lang="en-US" sz="2400" b="1" i="0" u="none" strike="noStrike" cap="none" baseline="-25000">
                <a:solidFill>
                  <a:schemeClr val="dk1"/>
                </a:solidFill>
                <a:latin typeface="Tahoma"/>
                <a:ea typeface="Tahoma"/>
                <a:cs typeface="Tahoma"/>
                <a:sym typeface="Tahoma"/>
              </a:rPr>
              <a:t>θ,P</a:t>
            </a:r>
            <a:r>
              <a:rPr lang="en-US" sz="2400" b="1" i="0" u="none" strike="noStrike" cap="none">
                <a:solidFill>
                  <a:schemeClr val="dk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grpSp>
        <p:nvGrpSpPr>
          <p:cNvPr id="877" name="Google Shape;877;p60"/>
          <p:cNvGrpSpPr/>
          <p:nvPr/>
        </p:nvGrpSpPr>
        <p:grpSpPr>
          <a:xfrm>
            <a:off x="1298075" y="2230285"/>
            <a:ext cx="7004911" cy="1284365"/>
            <a:chOff x="480" y="1286"/>
            <a:chExt cx="4412" cy="1078"/>
          </a:xfrm>
        </p:grpSpPr>
        <p:sp>
          <p:nvSpPr>
            <p:cNvPr id="878" name="Google Shape;878;p60"/>
            <p:cNvSpPr txBox="1"/>
            <p:nvPr/>
          </p:nvSpPr>
          <p:spPr>
            <a:xfrm>
              <a:off x="480" y="1632"/>
              <a:ext cx="36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Step 3:</a:t>
              </a:r>
              <a:r>
                <a:rPr lang="en-US" sz="2400" b="0" i="0" u="none" strike="noStrike" cap="none">
                  <a:solidFill>
                    <a:schemeClr val="dk1"/>
                  </a:solidFill>
                  <a:latin typeface="Tahoma"/>
                  <a:ea typeface="Tahoma"/>
                  <a:cs typeface="Tahoma"/>
                  <a:sym typeface="Tahoma"/>
                </a:rPr>
                <a:t> Translate (0,0) to P(h,k)</a:t>
              </a:r>
              <a:endParaRPr sz="1400" b="0" i="0" u="none" strike="noStrike" cap="none">
                <a:solidFill>
                  <a:srgbClr val="000000"/>
                </a:solidFill>
                <a:latin typeface="Arial"/>
                <a:ea typeface="Arial"/>
                <a:cs typeface="Arial"/>
                <a:sym typeface="Arial"/>
              </a:endParaRPr>
            </a:p>
          </p:txBody>
        </p:sp>
        <p:sp>
          <p:nvSpPr>
            <p:cNvPr id="879" name="Google Shape;879;p60"/>
            <p:cNvSpPr txBox="1"/>
            <p:nvPr/>
          </p:nvSpPr>
          <p:spPr>
            <a:xfrm>
              <a:off x="1056" y="2064"/>
              <a:ext cx="12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T(h ,k) *</a:t>
              </a:r>
              <a:endParaRPr sz="1400" b="0" i="0" u="none" strike="noStrike" cap="none">
                <a:solidFill>
                  <a:srgbClr val="000000"/>
                </a:solidFill>
                <a:latin typeface="Arial"/>
                <a:ea typeface="Arial"/>
                <a:cs typeface="Arial"/>
                <a:sym typeface="Arial"/>
              </a:endParaRPr>
            </a:p>
          </p:txBody>
        </p:sp>
        <p:grpSp>
          <p:nvGrpSpPr>
            <p:cNvPr id="880" name="Google Shape;880;p60"/>
            <p:cNvGrpSpPr/>
            <p:nvPr/>
          </p:nvGrpSpPr>
          <p:grpSpPr>
            <a:xfrm rot="2160075">
              <a:off x="4405" y="1325"/>
              <a:ext cx="336" cy="624"/>
              <a:chOff x="686" y="3134"/>
              <a:chExt cx="336" cy="624"/>
            </a:xfrm>
          </p:grpSpPr>
          <p:sp>
            <p:nvSpPr>
              <p:cNvPr id="881" name="Google Shape;881;p60"/>
              <p:cNvSpPr/>
              <p:nvPr/>
            </p:nvSpPr>
            <p:spPr>
              <a:xfrm>
                <a:off x="1022" y="3134"/>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82" name="Google Shape;882;p60"/>
              <p:cNvSpPr/>
              <p:nvPr/>
            </p:nvSpPr>
            <p:spPr>
              <a:xfrm>
                <a:off x="686" y="3758"/>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grpSp>
      <p:sp>
        <p:nvSpPr>
          <p:cNvPr id="883" name="Google Shape;883;p60"/>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47</a:t>
            </a:fld>
            <a:endParaRPr sz="1400" b="0" i="0" u="none" strike="noStrike" cap="none">
              <a:solidFill>
                <a:srgbClr val="000000"/>
              </a:solidFill>
              <a:latin typeface="Arial"/>
              <a:ea typeface="Arial"/>
              <a:cs typeface="Arial"/>
              <a:sym typeface="Arial"/>
            </a:endParaRPr>
          </a:p>
        </p:txBody>
      </p:sp>
      <p:grpSp>
        <p:nvGrpSpPr>
          <p:cNvPr id="884" name="Google Shape;884;p60"/>
          <p:cNvGrpSpPr/>
          <p:nvPr/>
        </p:nvGrpSpPr>
        <p:grpSpPr>
          <a:xfrm>
            <a:off x="1298075" y="2185912"/>
            <a:ext cx="6319111" cy="3339163"/>
            <a:chOff x="480" y="1248"/>
            <a:chExt cx="3980" cy="2804"/>
          </a:xfrm>
        </p:grpSpPr>
        <p:sp>
          <p:nvSpPr>
            <p:cNvPr id="885" name="Google Shape;885;p60"/>
            <p:cNvSpPr txBox="1"/>
            <p:nvPr/>
          </p:nvSpPr>
          <p:spPr>
            <a:xfrm>
              <a:off x="480" y="1248"/>
              <a:ext cx="3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Step 2:</a:t>
              </a:r>
              <a:r>
                <a:rPr lang="en-US" sz="2400" b="0" i="0" u="none" strike="noStrike" cap="none">
                  <a:solidFill>
                    <a:schemeClr val="dk1"/>
                  </a:solidFill>
                  <a:latin typeface="Tahoma"/>
                  <a:ea typeface="Tahoma"/>
                  <a:cs typeface="Tahoma"/>
                  <a:sym typeface="Tahoma"/>
                </a:rPr>
                <a:t> Rotate θ w.r.t to origin</a:t>
              </a:r>
              <a:endParaRPr sz="1400" b="0" i="0" u="none" strike="noStrike" cap="none">
                <a:solidFill>
                  <a:srgbClr val="000000"/>
                </a:solidFill>
                <a:latin typeface="Arial"/>
                <a:ea typeface="Arial"/>
                <a:cs typeface="Arial"/>
                <a:sym typeface="Arial"/>
              </a:endParaRPr>
            </a:p>
          </p:txBody>
        </p:sp>
        <p:sp>
          <p:nvSpPr>
            <p:cNvPr id="886" name="Google Shape;886;p60"/>
            <p:cNvSpPr txBox="1"/>
            <p:nvPr/>
          </p:nvSpPr>
          <p:spPr>
            <a:xfrm>
              <a:off x="1968" y="2064"/>
              <a:ext cx="6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R</a:t>
              </a:r>
              <a:r>
                <a:rPr lang="en-US" sz="2400" b="1" i="0" u="none" strike="noStrike" cap="none" baseline="-25000">
                  <a:solidFill>
                    <a:schemeClr val="dk1"/>
                  </a:solidFill>
                  <a:latin typeface="Tahoma"/>
                  <a:ea typeface="Tahoma"/>
                  <a:cs typeface="Tahoma"/>
                  <a:sym typeface="Tahoma"/>
                </a:rPr>
                <a:t>θ</a:t>
              </a:r>
              <a:r>
                <a:rPr lang="en-US" sz="2400" b="1" i="0" u="none" strike="noStrike" cap="none">
                  <a:solidFill>
                    <a:schemeClr val="dk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grpSp>
          <p:nvGrpSpPr>
            <p:cNvPr id="887" name="Google Shape;887;p60"/>
            <p:cNvGrpSpPr/>
            <p:nvPr/>
          </p:nvGrpSpPr>
          <p:grpSpPr>
            <a:xfrm rot="2160075">
              <a:off x="3973" y="3389"/>
              <a:ext cx="336" cy="624"/>
              <a:chOff x="686" y="3134"/>
              <a:chExt cx="336" cy="624"/>
            </a:xfrm>
          </p:grpSpPr>
          <p:sp>
            <p:nvSpPr>
              <p:cNvPr id="888" name="Google Shape;888;p60"/>
              <p:cNvSpPr/>
              <p:nvPr/>
            </p:nvSpPr>
            <p:spPr>
              <a:xfrm>
                <a:off x="1022" y="3134"/>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89" name="Google Shape;889;p60"/>
              <p:cNvSpPr/>
              <p:nvPr/>
            </p:nvSpPr>
            <p:spPr>
              <a:xfrm>
                <a:off x="686" y="3758"/>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grpSp>
      <p:grpSp>
        <p:nvGrpSpPr>
          <p:cNvPr id="890" name="Google Shape;890;p60"/>
          <p:cNvGrpSpPr/>
          <p:nvPr/>
        </p:nvGrpSpPr>
        <p:grpSpPr>
          <a:xfrm>
            <a:off x="1298075" y="1728725"/>
            <a:ext cx="5928225" cy="3559950"/>
            <a:chOff x="480" y="864"/>
            <a:chExt cx="3000" cy="2990"/>
          </a:xfrm>
        </p:grpSpPr>
        <p:sp>
          <p:nvSpPr>
            <p:cNvPr id="891" name="Google Shape;891;p60"/>
            <p:cNvSpPr txBox="1"/>
            <p:nvPr/>
          </p:nvSpPr>
          <p:spPr>
            <a:xfrm>
              <a:off x="480" y="864"/>
              <a:ext cx="30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Step 1:</a:t>
              </a:r>
              <a:r>
                <a:rPr lang="en-US" sz="2400" b="0" i="0" u="none" strike="noStrike" cap="none">
                  <a:solidFill>
                    <a:schemeClr val="dk1"/>
                  </a:solidFill>
                  <a:latin typeface="Tahoma"/>
                  <a:ea typeface="Tahoma"/>
                  <a:cs typeface="Tahoma"/>
                  <a:sym typeface="Tahoma"/>
                </a:rPr>
                <a:t> Translate P(-h,-k) to origin</a:t>
              </a:r>
              <a:endParaRPr sz="1400" b="0" i="0" u="none" strike="noStrike" cap="none">
                <a:solidFill>
                  <a:srgbClr val="000000"/>
                </a:solidFill>
                <a:latin typeface="Arial"/>
                <a:ea typeface="Arial"/>
                <a:cs typeface="Arial"/>
                <a:sym typeface="Arial"/>
              </a:endParaRPr>
            </a:p>
          </p:txBody>
        </p:sp>
        <p:sp>
          <p:nvSpPr>
            <p:cNvPr id="892" name="Google Shape;892;p60"/>
            <p:cNvSpPr txBox="1"/>
            <p:nvPr/>
          </p:nvSpPr>
          <p:spPr>
            <a:xfrm>
              <a:off x="2092" y="2064"/>
              <a:ext cx="900" cy="300"/>
            </a:xfrm>
            <a:prstGeom prst="rect">
              <a:avLst/>
            </a:prstGeom>
            <a:noFill/>
            <a:ln>
              <a:noFill/>
            </a:ln>
          </p:spPr>
          <p:txBody>
            <a:bodyPr spcFirstLastPara="1" wrap="square" lIns="91425" tIns="45700" rIns="0"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T(-h ,-k)</a:t>
              </a:r>
              <a:endParaRPr sz="1400" b="0" i="0" u="none" strike="noStrike" cap="none">
                <a:solidFill>
                  <a:srgbClr val="000000"/>
                </a:solidFill>
                <a:latin typeface="Arial"/>
                <a:ea typeface="Arial"/>
                <a:cs typeface="Arial"/>
                <a:sym typeface="Arial"/>
              </a:endParaRPr>
            </a:p>
          </p:txBody>
        </p:sp>
        <p:grpSp>
          <p:nvGrpSpPr>
            <p:cNvPr id="893" name="Google Shape;893;p60"/>
            <p:cNvGrpSpPr/>
            <p:nvPr/>
          </p:nvGrpSpPr>
          <p:grpSpPr>
            <a:xfrm>
              <a:off x="2064" y="3230"/>
              <a:ext cx="336" cy="624"/>
              <a:chOff x="3038" y="1310"/>
              <a:chExt cx="336" cy="624"/>
            </a:xfrm>
          </p:grpSpPr>
          <p:sp>
            <p:nvSpPr>
              <p:cNvPr id="894" name="Google Shape;894;p60"/>
              <p:cNvSpPr/>
              <p:nvPr/>
            </p:nvSpPr>
            <p:spPr>
              <a:xfrm>
                <a:off x="3374" y="1310"/>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895" name="Google Shape;895;p60"/>
              <p:cNvSpPr/>
              <p:nvPr/>
            </p:nvSpPr>
            <p:spPr>
              <a:xfrm>
                <a:off x="3038" y="1934"/>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75"/>
                                        </p:tgtEl>
                                        <p:attrNameLst>
                                          <p:attrName>style.visibility</p:attrName>
                                        </p:attrNameLst>
                                      </p:cBhvr>
                                      <p:to>
                                        <p:strVal val="visible"/>
                                      </p:to>
                                    </p:set>
                                    <p:animEffect transition="in" filter="fade">
                                      <p:cBhvr>
                                        <p:cTn id="7" dur="500"/>
                                        <p:tgtEl>
                                          <p:spTgt spid="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grpSp>
        <p:nvGrpSpPr>
          <p:cNvPr id="900" name="Google Shape;900;p61"/>
          <p:cNvGrpSpPr/>
          <p:nvPr/>
        </p:nvGrpSpPr>
        <p:grpSpPr>
          <a:xfrm>
            <a:off x="5750657" y="3801436"/>
            <a:ext cx="607276" cy="736778"/>
            <a:chOff x="1727200" y="685800"/>
            <a:chExt cx="685800" cy="1143000"/>
          </a:xfrm>
        </p:grpSpPr>
        <p:sp>
          <p:nvSpPr>
            <p:cNvPr id="901" name="Google Shape;901;p61"/>
            <p:cNvSpPr/>
            <p:nvPr/>
          </p:nvSpPr>
          <p:spPr>
            <a:xfrm>
              <a:off x="2260600" y="6858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02" name="Google Shape;902;p61"/>
            <p:cNvSpPr/>
            <p:nvPr/>
          </p:nvSpPr>
          <p:spPr>
            <a:xfrm>
              <a:off x="1727200"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03" name="Google Shape;903;p61"/>
            <p:cNvCxnSpPr>
              <a:stCxn id="902" idx="7"/>
              <a:endCxn id="901" idx="3"/>
            </p:cNvCxnSpPr>
            <p:nvPr/>
          </p:nvCxnSpPr>
          <p:spPr>
            <a:xfrm rot="10800000" flipH="1">
              <a:off x="1857282" y="815818"/>
              <a:ext cx="425700" cy="8829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904" name="Google Shape;904;p61"/>
            <p:cNvCxnSpPr>
              <a:endCxn id="901" idx="4"/>
            </p:cNvCxnSpPr>
            <p:nvPr/>
          </p:nvCxnSpPr>
          <p:spPr>
            <a:xfrm rot="10800000" flipH="1">
              <a:off x="2290900" y="838200"/>
              <a:ext cx="45900" cy="9144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905" name="Google Shape;905;p61"/>
            <p:cNvCxnSpPr>
              <a:stCxn id="902" idx="6"/>
            </p:cNvCxnSpPr>
            <p:nvPr/>
          </p:nvCxnSpPr>
          <p:spPr>
            <a:xfrm>
              <a:off x="1879600" y="1752600"/>
              <a:ext cx="434100" cy="0"/>
            </a:xfrm>
            <a:prstGeom prst="straightConnector1">
              <a:avLst/>
            </a:prstGeom>
            <a:solidFill>
              <a:schemeClr val="lt1"/>
            </a:solidFill>
            <a:ln w="12700" cap="flat" cmpd="sng">
              <a:solidFill>
                <a:schemeClr val="dk1"/>
              </a:solidFill>
              <a:prstDash val="dot"/>
              <a:miter lim="800000"/>
              <a:headEnd type="none" w="sm" len="sm"/>
              <a:tailEnd type="none" w="sm" len="sm"/>
            </a:ln>
          </p:spPr>
        </p:cxnSp>
        <p:sp>
          <p:nvSpPr>
            <p:cNvPr id="906" name="Google Shape;906;p61"/>
            <p:cNvSpPr/>
            <p:nvPr/>
          </p:nvSpPr>
          <p:spPr>
            <a:xfrm>
              <a:off x="2210594"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sp>
        <p:nvSpPr>
          <p:cNvPr id="907" name="Google Shape;907;p61"/>
          <p:cNvSpPr txBox="1">
            <a:spLocks noGrp="1"/>
          </p:cNvSpPr>
          <p:nvPr>
            <p:ph type="sldNum" idx="12"/>
          </p:nvPr>
        </p:nvSpPr>
        <p:spPr>
          <a:xfrm>
            <a:off x="7444487" y="4734524"/>
            <a:ext cx="1686900" cy="294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48</a:t>
            </a:fld>
            <a:endParaRPr sz="900"/>
          </a:p>
        </p:txBody>
      </p:sp>
      <p:cxnSp>
        <p:nvCxnSpPr>
          <p:cNvPr id="908" name="Google Shape;908;p61"/>
          <p:cNvCxnSpPr/>
          <p:nvPr/>
        </p:nvCxnSpPr>
        <p:spPr>
          <a:xfrm>
            <a:off x="1585625" y="2573567"/>
            <a:ext cx="2159100" cy="0"/>
          </a:xfrm>
          <a:prstGeom prst="straightConnector1">
            <a:avLst/>
          </a:prstGeom>
          <a:noFill/>
          <a:ln w="9525" cap="flat" cmpd="sng">
            <a:solidFill>
              <a:schemeClr val="dk1"/>
            </a:solidFill>
            <a:prstDash val="solid"/>
            <a:round/>
            <a:headEnd type="none" w="sm" len="sm"/>
            <a:tailEnd type="triangle" w="med" len="med"/>
          </a:ln>
        </p:spPr>
      </p:cxnSp>
      <p:cxnSp>
        <p:nvCxnSpPr>
          <p:cNvPr id="909" name="Google Shape;909;p61"/>
          <p:cNvCxnSpPr/>
          <p:nvPr/>
        </p:nvCxnSpPr>
        <p:spPr>
          <a:xfrm rot="10800000">
            <a:off x="1585625" y="1198367"/>
            <a:ext cx="0" cy="1375200"/>
          </a:xfrm>
          <a:prstGeom prst="straightConnector1">
            <a:avLst/>
          </a:prstGeom>
          <a:noFill/>
          <a:ln w="9525" cap="flat" cmpd="sng">
            <a:solidFill>
              <a:schemeClr val="dk1"/>
            </a:solidFill>
            <a:prstDash val="solid"/>
            <a:round/>
            <a:headEnd type="none" w="sm" len="sm"/>
            <a:tailEnd type="triangle" w="med" len="med"/>
          </a:ln>
        </p:spPr>
      </p:cxnSp>
      <p:sp>
        <p:nvSpPr>
          <p:cNvPr id="910" name="Google Shape;910;p61"/>
          <p:cNvSpPr txBox="1"/>
          <p:nvPr/>
        </p:nvSpPr>
        <p:spPr>
          <a:xfrm>
            <a:off x="2181200" y="1875750"/>
            <a:ext cx="1219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P(h,k)</a:t>
            </a:r>
            <a:endParaRPr sz="1400" b="0" i="0" u="none" strike="noStrike" cap="none">
              <a:solidFill>
                <a:srgbClr val="000000"/>
              </a:solidFill>
              <a:latin typeface="Arial"/>
              <a:ea typeface="Arial"/>
              <a:cs typeface="Arial"/>
              <a:sym typeface="Arial"/>
            </a:endParaRPr>
          </a:p>
        </p:txBody>
      </p:sp>
      <p:grpSp>
        <p:nvGrpSpPr>
          <p:cNvPr id="911" name="Google Shape;911;p61"/>
          <p:cNvGrpSpPr/>
          <p:nvPr/>
        </p:nvGrpSpPr>
        <p:grpSpPr>
          <a:xfrm>
            <a:off x="2575281" y="1149353"/>
            <a:ext cx="607276" cy="736778"/>
            <a:chOff x="1727200" y="685800"/>
            <a:chExt cx="685800" cy="1143000"/>
          </a:xfrm>
        </p:grpSpPr>
        <p:sp>
          <p:nvSpPr>
            <p:cNvPr id="912" name="Google Shape;912;p61"/>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13" name="Google Shape;913;p61"/>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14" name="Google Shape;914;p61"/>
            <p:cNvCxnSpPr>
              <a:stCxn id="913" idx="7"/>
              <a:endCxn id="912" idx="3"/>
            </p:cNvCxnSpPr>
            <p:nvPr/>
          </p:nvCxnSpPr>
          <p:spPr>
            <a:xfrm rot="10800000" flipH="1">
              <a:off x="1857282" y="815818"/>
              <a:ext cx="425700" cy="882900"/>
            </a:xfrm>
            <a:prstGeom prst="straightConnector1">
              <a:avLst/>
            </a:prstGeom>
            <a:noFill/>
            <a:ln w="9525" cap="flat" cmpd="sng">
              <a:solidFill>
                <a:schemeClr val="dk1"/>
              </a:solidFill>
              <a:prstDash val="solid"/>
              <a:round/>
              <a:headEnd type="none" w="sm" len="sm"/>
              <a:tailEnd type="none" w="sm" len="sm"/>
            </a:ln>
          </p:spPr>
        </p:cxnSp>
        <p:cxnSp>
          <p:nvCxnSpPr>
            <p:cNvPr id="915" name="Google Shape;915;p61"/>
            <p:cNvCxnSpPr>
              <a:endCxn id="912" idx="4"/>
            </p:cNvCxnSpPr>
            <p:nvPr/>
          </p:nvCxnSpPr>
          <p:spPr>
            <a:xfrm rot="10800000" flipH="1">
              <a:off x="2290900" y="838200"/>
              <a:ext cx="45900" cy="914400"/>
            </a:xfrm>
            <a:prstGeom prst="straightConnector1">
              <a:avLst/>
            </a:prstGeom>
            <a:noFill/>
            <a:ln w="9525" cap="flat" cmpd="sng">
              <a:solidFill>
                <a:schemeClr val="dk1"/>
              </a:solidFill>
              <a:prstDash val="solid"/>
              <a:round/>
              <a:headEnd type="none" w="sm" len="sm"/>
              <a:tailEnd type="none" w="sm" len="sm"/>
            </a:ln>
          </p:spPr>
        </p:cxnSp>
        <p:cxnSp>
          <p:nvCxnSpPr>
            <p:cNvPr id="916" name="Google Shape;916;p61"/>
            <p:cNvCxnSpPr>
              <a:stCxn id="913" idx="6"/>
            </p:cNvCxnSpPr>
            <p:nvPr/>
          </p:nvCxnSpPr>
          <p:spPr>
            <a:xfrm>
              <a:off x="1879600" y="1752600"/>
              <a:ext cx="434100" cy="0"/>
            </a:xfrm>
            <a:prstGeom prst="straightConnector1">
              <a:avLst/>
            </a:prstGeom>
            <a:noFill/>
            <a:ln w="9525" cap="flat" cmpd="sng">
              <a:solidFill>
                <a:schemeClr val="dk1"/>
              </a:solidFill>
              <a:prstDash val="solid"/>
              <a:round/>
              <a:headEnd type="none" w="sm" len="sm"/>
              <a:tailEnd type="none" w="sm" len="sm"/>
            </a:ln>
          </p:spPr>
        </p:cxnSp>
        <p:sp>
          <p:nvSpPr>
            <p:cNvPr id="917" name="Google Shape;917;p61"/>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cxnSp>
        <p:nvCxnSpPr>
          <p:cNvPr id="918" name="Google Shape;918;p61"/>
          <p:cNvCxnSpPr/>
          <p:nvPr/>
        </p:nvCxnSpPr>
        <p:spPr>
          <a:xfrm>
            <a:off x="6352872" y="2617943"/>
            <a:ext cx="2159100" cy="0"/>
          </a:xfrm>
          <a:prstGeom prst="straightConnector1">
            <a:avLst/>
          </a:prstGeom>
          <a:noFill/>
          <a:ln w="9525" cap="flat" cmpd="sng">
            <a:solidFill>
              <a:schemeClr val="dk1"/>
            </a:solidFill>
            <a:prstDash val="solid"/>
            <a:round/>
            <a:headEnd type="none" w="sm" len="sm"/>
            <a:tailEnd type="triangle" w="med" len="med"/>
          </a:ln>
        </p:spPr>
      </p:cxnSp>
      <p:cxnSp>
        <p:nvCxnSpPr>
          <p:cNvPr id="919" name="Google Shape;919;p61"/>
          <p:cNvCxnSpPr/>
          <p:nvPr/>
        </p:nvCxnSpPr>
        <p:spPr>
          <a:xfrm rot="10800000">
            <a:off x="6352872" y="1242743"/>
            <a:ext cx="0" cy="1375200"/>
          </a:xfrm>
          <a:prstGeom prst="straightConnector1">
            <a:avLst/>
          </a:prstGeom>
          <a:noFill/>
          <a:ln w="9525" cap="flat" cmpd="sng">
            <a:solidFill>
              <a:schemeClr val="dk1"/>
            </a:solidFill>
            <a:prstDash val="solid"/>
            <a:round/>
            <a:headEnd type="none" w="sm" len="sm"/>
            <a:tailEnd type="triangle" w="med" len="med"/>
          </a:ln>
        </p:spPr>
      </p:cxnSp>
      <p:sp>
        <p:nvSpPr>
          <p:cNvPr id="920" name="Google Shape;920;p61"/>
          <p:cNvSpPr txBox="1"/>
          <p:nvPr/>
        </p:nvSpPr>
        <p:spPr>
          <a:xfrm>
            <a:off x="5881419" y="2636738"/>
            <a:ext cx="1012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P’(0,0)</a:t>
            </a:r>
            <a:endParaRPr sz="1400" b="0" i="0" u="none" strike="noStrike" cap="none">
              <a:solidFill>
                <a:srgbClr val="000000"/>
              </a:solidFill>
              <a:latin typeface="Arial"/>
              <a:ea typeface="Arial"/>
              <a:cs typeface="Arial"/>
              <a:sym typeface="Arial"/>
            </a:endParaRPr>
          </a:p>
        </p:txBody>
      </p:sp>
      <p:grpSp>
        <p:nvGrpSpPr>
          <p:cNvPr id="921" name="Google Shape;921;p61"/>
          <p:cNvGrpSpPr/>
          <p:nvPr/>
        </p:nvGrpSpPr>
        <p:grpSpPr>
          <a:xfrm>
            <a:off x="6282250" y="1923368"/>
            <a:ext cx="607276" cy="736778"/>
            <a:chOff x="1727200" y="685800"/>
            <a:chExt cx="685800" cy="1143000"/>
          </a:xfrm>
        </p:grpSpPr>
        <p:sp>
          <p:nvSpPr>
            <p:cNvPr id="922" name="Google Shape;922;p61"/>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23" name="Google Shape;923;p61"/>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24" name="Google Shape;924;p61"/>
            <p:cNvCxnSpPr>
              <a:stCxn id="923" idx="7"/>
              <a:endCxn id="922" idx="3"/>
            </p:cNvCxnSpPr>
            <p:nvPr/>
          </p:nvCxnSpPr>
          <p:spPr>
            <a:xfrm rot="10800000" flipH="1">
              <a:off x="1857282" y="815818"/>
              <a:ext cx="425700" cy="882900"/>
            </a:xfrm>
            <a:prstGeom prst="straightConnector1">
              <a:avLst/>
            </a:prstGeom>
            <a:noFill/>
            <a:ln w="9525" cap="flat" cmpd="sng">
              <a:solidFill>
                <a:schemeClr val="dk1"/>
              </a:solidFill>
              <a:prstDash val="solid"/>
              <a:round/>
              <a:headEnd type="none" w="sm" len="sm"/>
              <a:tailEnd type="none" w="sm" len="sm"/>
            </a:ln>
          </p:spPr>
        </p:cxnSp>
        <p:cxnSp>
          <p:nvCxnSpPr>
            <p:cNvPr id="925" name="Google Shape;925;p61"/>
            <p:cNvCxnSpPr>
              <a:endCxn id="922" idx="4"/>
            </p:cNvCxnSpPr>
            <p:nvPr/>
          </p:nvCxnSpPr>
          <p:spPr>
            <a:xfrm rot="10800000" flipH="1">
              <a:off x="2290900" y="838200"/>
              <a:ext cx="45900" cy="914400"/>
            </a:xfrm>
            <a:prstGeom prst="straightConnector1">
              <a:avLst/>
            </a:prstGeom>
            <a:noFill/>
            <a:ln w="9525" cap="flat" cmpd="sng">
              <a:solidFill>
                <a:schemeClr val="dk1"/>
              </a:solidFill>
              <a:prstDash val="solid"/>
              <a:round/>
              <a:headEnd type="none" w="sm" len="sm"/>
              <a:tailEnd type="none" w="sm" len="sm"/>
            </a:ln>
          </p:spPr>
        </p:cxnSp>
        <p:cxnSp>
          <p:nvCxnSpPr>
            <p:cNvPr id="926" name="Google Shape;926;p61"/>
            <p:cNvCxnSpPr>
              <a:stCxn id="923" idx="6"/>
            </p:cNvCxnSpPr>
            <p:nvPr/>
          </p:nvCxnSpPr>
          <p:spPr>
            <a:xfrm>
              <a:off x="1879600" y="1752600"/>
              <a:ext cx="434100" cy="0"/>
            </a:xfrm>
            <a:prstGeom prst="straightConnector1">
              <a:avLst/>
            </a:prstGeom>
            <a:noFill/>
            <a:ln w="9525" cap="flat" cmpd="sng">
              <a:solidFill>
                <a:schemeClr val="dk1"/>
              </a:solidFill>
              <a:prstDash val="solid"/>
              <a:round/>
              <a:headEnd type="none" w="sm" len="sm"/>
              <a:tailEnd type="none" w="sm" len="sm"/>
            </a:ln>
          </p:spPr>
        </p:cxnSp>
        <p:sp>
          <p:nvSpPr>
            <p:cNvPr id="927" name="Google Shape;927;p61"/>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928" name="Google Shape;928;p61"/>
          <p:cNvGrpSpPr/>
          <p:nvPr/>
        </p:nvGrpSpPr>
        <p:grpSpPr>
          <a:xfrm rot="5400000">
            <a:off x="6035567" y="4148660"/>
            <a:ext cx="442067" cy="1012126"/>
            <a:chOff x="1727200" y="685800"/>
            <a:chExt cx="685800" cy="1143000"/>
          </a:xfrm>
        </p:grpSpPr>
        <p:sp>
          <p:nvSpPr>
            <p:cNvPr id="929" name="Google Shape;929;p61"/>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30" name="Google Shape;930;p61"/>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31" name="Google Shape;931;p61"/>
            <p:cNvCxnSpPr/>
            <p:nvPr/>
          </p:nvCxnSpPr>
          <p:spPr>
            <a:xfrm rot="-5400000">
              <a:off x="1626718" y="1032434"/>
              <a:ext cx="882900" cy="425700"/>
            </a:xfrm>
            <a:prstGeom prst="straightConnector1">
              <a:avLst/>
            </a:prstGeom>
            <a:noFill/>
            <a:ln w="9525" cap="flat" cmpd="sng">
              <a:solidFill>
                <a:schemeClr val="dk1"/>
              </a:solidFill>
              <a:prstDash val="solid"/>
              <a:round/>
              <a:headEnd type="none" w="sm" len="sm"/>
              <a:tailEnd type="none" w="sm" len="sm"/>
            </a:ln>
          </p:spPr>
        </p:cxnSp>
        <p:cxnSp>
          <p:nvCxnSpPr>
            <p:cNvPr id="932" name="Google Shape;932;p61"/>
            <p:cNvCxnSpPr>
              <a:endCxn id="929" idx="4"/>
            </p:cNvCxnSpPr>
            <p:nvPr/>
          </p:nvCxnSpPr>
          <p:spPr>
            <a:xfrm rot="-5400000">
              <a:off x="1856650" y="1272450"/>
              <a:ext cx="914400" cy="45900"/>
            </a:xfrm>
            <a:prstGeom prst="straightConnector1">
              <a:avLst/>
            </a:prstGeom>
            <a:noFill/>
            <a:ln w="9525" cap="flat" cmpd="sng">
              <a:solidFill>
                <a:schemeClr val="dk1"/>
              </a:solidFill>
              <a:prstDash val="solid"/>
              <a:round/>
              <a:headEnd type="none" w="sm" len="sm"/>
              <a:tailEnd type="none" w="sm" len="sm"/>
            </a:ln>
          </p:spPr>
        </p:cxnSp>
        <p:cxnSp>
          <p:nvCxnSpPr>
            <p:cNvPr id="933" name="Google Shape;933;p61"/>
            <p:cNvCxnSpPr>
              <a:stCxn id="930" idx="6"/>
              <a:endCxn id="934" idx="2"/>
            </p:cNvCxnSpPr>
            <p:nvPr/>
          </p:nvCxnSpPr>
          <p:spPr>
            <a:xfrm rot="10800000">
              <a:off x="2045050" y="1587150"/>
              <a:ext cx="0" cy="330900"/>
            </a:xfrm>
            <a:prstGeom prst="straightConnector1">
              <a:avLst/>
            </a:prstGeom>
            <a:noFill/>
            <a:ln w="9525" cap="flat" cmpd="sng">
              <a:solidFill>
                <a:schemeClr val="dk1"/>
              </a:solidFill>
              <a:prstDash val="solid"/>
              <a:round/>
              <a:headEnd type="none" w="sm" len="sm"/>
              <a:tailEnd type="none" w="sm" len="sm"/>
            </a:ln>
          </p:spPr>
        </p:cxnSp>
        <p:sp>
          <p:nvSpPr>
            <p:cNvPr id="934" name="Google Shape;934;p61"/>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sp>
        <p:nvSpPr>
          <p:cNvPr id="935" name="Google Shape;935;p61"/>
          <p:cNvSpPr/>
          <p:nvPr/>
        </p:nvSpPr>
        <p:spPr>
          <a:xfrm rot="4103766">
            <a:off x="5672747" y="4223846"/>
            <a:ext cx="387846" cy="504982"/>
          </a:xfrm>
          <a:prstGeom prst="arc">
            <a:avLst>
              <a:gd name="adj1" fmla="val 17511222"/>
              <a:gd name="adj2" fmla="val 1682414"/>
            </a:avLst>
          </a:prstGeom>
          <a:noFill/>
          <a:ln w="28575" cap="flat" cmpd="sng">
            <a:solidFill>
              <a:schemeClr val="accent1"/>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36" name="Google Shape;936;p61"/>
          <p:cNvSpPr/>
          <p:nvPr/>
        </p:nvSpPr>
        <p:spPr>
          <a:xfrm>
            <a:off x="4859508" y="1846881"/>
            <a:ext cx="353400" cy="16260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937" name="Google Shape;937;p61"/>
          <p:cNvCxnSpPr/>
          <p:nvPr/>
        </p:nvCxnSpPr>
        <p:spPr>
          <a:xfrm>
            <a:off x="1662181" y="4483055"/>
            <a:ext cx="2159100" cy="0"/>
          </a:xfrm>
          <a:prstGeom prst="straightConnector1">
            <a:avLst/>
          </a:prstGeom>
          <a:noFill/>
          <a:ln w="9525" cap="flat" cmpd="sng">
            <a:solidFill>
              <a:schemeClr val="dk1"/>
            </a:solidFill>
            <a:prstDash val="solid"/>
            <a:round/>
            <a:headEnd type="none" w="sm" len="sm"/>
            <a:tailEnd type="triangle" w="med" len="med"/>
          </a:ln>
        </p:spPr>
      </p:cxnSp>
      <p:cxnSp>
        <p:nvCxnSpPr>
          <p:cNvPr id="938" name="Google Shape;938;p61"/>
          <p:cNvCxnSpPr/>
          <p:nvPr/>
        </p:nvCxnSpPr>
        <p:spPr>
          <a:xfrm rot="10800000">
            <a:off x="1662181" y="3107855"/>
            <a:ext cx="0" cy="1375200"/>
          </a:xfrm>
          <a:prstGeom prst="straightConnector1">
            <a:avLst/>
          </a:prstGeom>
          <a:noFill/>
          <a:ln w="9525" cap="flat" cmpd="sng">
            <a:solidFill>
              <a:schemeClr val="dk1"/>
            </a:solidFill>
            <a:prstDash val="solid"/>
            <a:round/>
            <a:headEnd type="none" w="sm" len="sm"/>
            <a:tailEnd type="triangle" w="med" len="med"/>
          </a:ln>
        </p:spPr>
      </p:cxnSp>
      <p:sp>
        <p:nvSpPr>
          <p:cNvPr id="939" name="Google Shape;939;p61"/>
          <p:cNvSpPr txBox="1"/>
          <p:nvPr/>
        </p:nvSpPr>
        <p:spPr>
          <a:xfrm>
            <a:off x="1890128" y="3154075"/>
            <a:ext cx="10563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P(h,k)</a:t>
            </a:r>
            <a:endParaRPr sz="1400" b="0" i="0" u="none" strike="noStrike" cap="none">
              <a:solidFill>
                <a:srgbClr val="000000"/>
              </a:solidFill>
              <a:latin typeface="Arial"/>
              <a:ea typeface="Arial"/>
              <a:cs typeface="Arial"/>
              <a:sym typeface="Arial"/>
            </a:endParaRPr>
          </a:p>
        </p:txBody>
      </p:sp>
      <p:grpSp>
        <p:nvGrpSpPr>
          <p:cNvPr id="940" name="Google Shape;940;p61"/>
          <p:cNvGrpSpPr/>
          <p:nvPr/>
        </p:nvGrpSpPr>
        <p:grpSpPr>
          <a:xfrm rot="5400000">
            <a:off x="2860190" y="3096349"/>
            <a:ext cx="442067" cy="1012127"/>
            <a:chOff x="1727200" y="685800"/>
            <a:chExt cx="685800" cy="1143000"/>
          </a:xfrm>
        </p:grpSpPr>
        <p:sp>
          <p:nvSpPr>
            <p:cNvPr id="941" name="Google Shape;941;p61"/>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42" name="Google Shape;942;p61"/>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43" name="Google Shape;943;p61"/>
            <p:cNvCxnSpPr>
              <a:stCxn id="942" idx="7"/>
              <a:endCxn id="941" idx="3"/>
            </p:cNvCxnSpPr>
            <p:nvPr/>
          </p:nvCxnSpPr>
          <p:spPr>
            <a:xfrm rot="-5400000">
              <a:off x="1628682" y="1044418"/>
              <a:ext cx="882900" cy="425700"/>
            </a:xfrm>
            <a:prstGeom prst="straightConnector1">
              <a:avLst/>
            </a:prstGeom>
            <a:noFill/>
            <a:ln w="9525" cap="flat" cmpd="sng">
              <a:solidFill>
                <a:schemeClr val="dk1"/>
              </a:solidFill>
              <a:prstDash val="solid"/>
              <a:round/>
              <a:headEnd type="none" w="sm" len="sm"/>
              <a:tailEnd type="none" w="sm" len="sm"/>
            </a:ln>
          </p:spPr>
        </p:cxnSp>
        <p:cxnSp>
          <p:nvCxnSpPr>
            <p:cNvPr id="944" name="Google Shape;944;p61"/>
            <p:cNvCxnSpPr>
              <a:endCxn id="941" idx="4"/>
            </p:cNvCxnSpPr>
            <p:nvPr/>
          </p:nvCxnSpPr>
          <p:spPr>
            <a:xfrm rot="-5400000">
              <a:off x="1856650" y="1272450"/>
              <a:ext cx="914400" cy="45900"/>
            </a:xfrm>
            <a:prstGeom prst="straightConnector1">
              <a:avLst/>
            </a:prstGeom>
            <a:noFill/>
            <a:ln w="9525" cap="flat" cmpd="sng">
              <a:solidFill>
                <a:schemeClr val="dk1"/>
              </a:solidFill>
              <a:prstDash val="solid"/>
              <a:round/>
              <a:headEnd type="none" w="sm" len="sm"/>
              <a:tailEnd type="none" w="sm" len="sm"/>
            </a:ln>
          </p:spPr>
        </p:cxnSp>
        <p:cxnSp>
          <p:nvCxnSpPr>
            <p:cNvPr id="945" name="Google Shape;945;p61"/>
            <p:cNvCxnSpPr>
              <a:stCxn id="942" idx="6"/>
              <a:endCxn id="946" idx="2"/>
            </p:cNvCxnSpPr>
            <p:nvPr/>
          </p:nvCxnSpPr>
          <p:spPr>
            <a:xfrm rot="10800000">
              <a:off x="2045050" y="1587150"/>
              <a:ext cx="0" cy="330900"/>
            </a:xfrm>
            <a:prstGeom prst="straightConnector1">
              <a:avLst/>
            </a:prstGeom>
            <a:noFill/>
            <a:ln w="9525" cap="flat" cmpd="sng">
              <a:solidFill>
                <a:schemeClr val="dk1"/>
              </a:solidFill>
              <a:prstDash val="solid"/>
              <a:round/>
              <a:headEnd type="none" w="sm" len="sm"/>
              <a:tailEnd type="none" w="sm" len="sm"/>
            </a:ln>
          </p:spPr>
        </p:cxnSp>
        <p:sp>
          <p:nvSpPr>
            <p:cNvPr id="946" name="Google Shape;946;p61"/>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sp>
        <p:nvSpPr>
          <p:cNvPr id="947" name="Google Shape;947;p61"/>
          <p:cNvSpPr txBox="1"/>
          <p:nvPr/>
        </p:nvSpPr>
        <p:spPr>
          <a:xfrm>
            <a:off x="4596868" y="1307569"/>
            <a:ext cx="14430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Translate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(-h,-k)</a:t>
            </a:r>
            <a:endParaRPr sz="1400" b="0" i="0" u="none" strike="noStrike" cap="none">
              <a:solidFill>
                <a:srgbClr val="000000"/>
              </a:solidFill>
              <a:latin typeface="Arial"/>
              <a:ea typeface="Arial"/>
              <a:cs typeface="Arial"/>
              <a:sym typeface="Arial"/>
            </a:endParaRPr>
          </a:p>
        </p:txBody>
      </p:sp>
      <p:cxnSp>
        <p:nvCxnSpPr>
          <p:cNvPr id="948" name="Google Shape;948;p61"/>
          <p:cNvCxnSpPr/>
          <p:nvPr/>
        </p:nvCxnSpPr>
        <p:spPr>
          <a:xfrm>
            <a:off x="5809607" y="4495308"/>
            <a:ext cx="2159100" cy="0"/>
          </a:xfrm>
          <a:prstGeom prst="straightConnector1">
            <a:avLst/>
          </a:prstGeom>
          <a:noFill/>
          <a:ln w="9525" cap="flat" cmpd="sng">
            <a:solidFill>
              <a:schemeClr val="dk1"/>
            </a:solidFill>
            <a:prstDash val="solid"/>
            <a:round/>
            <a:headEnd type="none" w="sm" len="sm"/>
            <a:tailEnd type="triangle" w="med" len="med"/>
          </a:ln>
        </p:spPr>
      </p:cxnSp>
      <p:cxnSp>
        <p:nvCxnSpPr>
          <p:cNvPr id="949" name="Google Shape;949;p61"/>
          <p:cNvCxnSpPr/>
          <p:nvPr/>
        </p:nvCxnSpPr>
        <p:spPr>
          <a:xfrm rot="10800000">
            <a:off x="5809607" y="3120108"/>
            <a:ext cx="0" cy="1375200"/>
          </a:xfrm>
          <a:prstGeom prst="straightConnector1">
            <a:avLst/>
          </a:prstGeom>
          <a:noFill/>
          <a:ln w="9525" cap="flat" cmpd="sng">
            <a:solidFill>
              <a:schemeClr val="dk1"/>
            </a:solidFill>
            <a:prstDash val="solid"/>
            <a:round/>
            <a:headEnd type="none" w="sm" len="sm"/>
            <a:tailEnd type="triangle" w="med" len="med"/>
          </a:ln>
        </p:spPr>
      </p:cxnSp>
      <p:sp>
        <p:nvSpPr>
          <p:cNvPr id="950" name="Google Shape;950;p61"/>
          <p:cNvSpPr/>
          <p:nvPr/>
        </p:nvSpPr>
        <p:spPr>
          <a:xfrm rot="5400000">
            <a:off x="6745880" y="3473270"/>
            <a:ext cx="257100" cy="22350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1" name="Google Shape;951;p61"/>
          <p:cNvSpPr txBox="1"/>
          <p:nvPr/>
        </p:nvSpPr>
        <p:spPr>
          <a:xfrm>
            <a:off x="7024299" y="3380016"/>
            <a:ext cx="16869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Rotate(-90)</a:t>
            </a:r>
            <a:endParaRPr sz="1400" b="0" i="0" u="none" strike="noStrike" cap="none">
              <a:solidFill>
                <a:srgbClr val="000000"/>
              </a:solidFill>
              <a:latin typeface="Arial"/>
              <a:ea typeface="Arial"/>
              <a:cs typeface="Arial"/>
              <a:sym typeface="Arial"/>
            </a:endParaRPr>
          </a:p>
        </p:txBody>
      </p:sp>
      <p:sp>
        <p:nvSpPr>
          <p:cNvPr id="952" name="Google Shape;952;p61"/>
          <p:cNvSpPr/>
          <p:nvPr/>
        </p:nvSpPr>
        <p:spPr>
          <a:xfrm rot="10689049">
            <a:off x="4433802" y="3698267"/>
            <a:ext cx="353284" cy="162866"/>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3" name="Google Shape;953;p61"/>
          <p:cNvSpPr txBox="1"/>
          <p:nvPr/>
        </p:nvSpPr>
        <p:spPr>
          <a:xfrm>
            <a:off x="4116650" y="3126956"/>
            <a:ext cx="1336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Translate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(h,k)</a:t>
            </a:r>
            <a:endParaRPr sz="1400" b="0" i="0" u="none" strike="noStrike" cap="none">
              <a:solidFill>
                <a:srgbClr val="000000"/>
              </a:solidFill>
              <a:latin typeface="Arial"/>
              <a:ea typeface="Arial"/>
              <a:cs typeface="Arial"/>
              <a:sym typeface="Arial"/>
            </a:endParaRPr>
          </a:p>
        </p:txBody>
      </p:sp>
      <p:grpSp>
        <p:nvGrpSpPr>
          <p:cNvPr id="954" name="Google Shape;954;p61"/>
          <p:cNvGrpSpPr/>
          <p:nvPr/>
        </p:nvGrpSpPr>
        <p:grpSpPr>
          <a:xfrm>
            <a:off x="7236490" y="1242841"/>
            <a:ext cx="607276" cy="736778"/>
            <a:chOff x="1727200" y="685800"/>
            <a:chExt cx="685800" cy="1143000"/>
          </a:xfrm>
        </p:grpSpPr>
        <p:sp>
          <p:nvSpPr>
            <p:cNvPr id="955" name="Google Shape;955;p61"/>
            <p:cNvSpPr/>
            <p:nvPr/>
          </p:nvSpPr>
          <p:spPr>
            <a:xfrm>
              <a:off x="2260600" y="6858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56" name="Google Shape;956;p61"/>
            <p:cNvSpPr/>
            <p:nvPr/>
          </p:nvSpPr>
          <p:spPr>
            <a:xfrm>
              <a:off x="1727200"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57" name="Google Shape;957;p61"/>
            <p:cNvCxnSpPr>
              <a:stCxn id="956" idx="7"/>
              <a:endCxn id="955" idx="3"/>
            </p:cNvCxnSpPr>
            <p:nvPr/>
          </p:nvCxnSpPr>
          <p:spPr>
            <a:xfrm rot="10800000" flipH="1">
              <a:off x="1857282" y="815818"/>
              <a:ext cx="425700" cy="8829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958" name="Google Shape;958;p61"/>
            <p:cNvCxnSpPr>
              <a:endCxn id="955" idx="4"/>
            </p:cNvCxnSpPr>
            <p:nvPr/>
          </p:nvCxnSpPr>
          <p:spPr>
            <a:xfrm rot="10800000" flipH="1">
              <a:off x="2290900" y="838200"/>
              <a:ext cx="45900" cy="9144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959" name="Google Shape;959;p61"/>
            <p:cNvCxnSpPr>
              <a:stCxn id="956" idx="6"/>
            </p:cNvCxnSpPr>
            <p:nvPr/>
          </p:nvCxnSpPr>
          <p:spPr>
            <a:xfrm>
              <a:off x="1879600" y="1752600"/>
              <a:ext cx="434100" cy="0"/>
            </a:xfrm>
            <a:prstGeom prst="straightConnector1">
              <a:avLst/>
            </a:prstGeom>
            <a:solidFill>
              <a:schemeClr val="lt1"/>
            </a:solidFill>
            <a:ln w="12700" cap="flat" cmpd="sng">
              <a:solidFill>
                <a:schemeClr val="dk1"/>
              </a:solidFill>
              <a:prstDash val="dot"/>
              <a:miter lim="800000"/>
              <a:headEnd type="none" w="sm" len="sm"/>
              <a:tailEnd type="none" w="sm" len="sm"/>
            </a:ln>
          </p:spPr>
        </p:cxnSp>
        <p:sp>
          <p:nvSpPr>
            <p:cNvPr id="960" name="Google Shape;960;p61"/>
            <p:cNvSpPr/>
            <p:nvPr/>
          </p:nvSpPr>
          <p:spPr>
            <a:xfrm>
              <a:off x="2210594"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cxnSp>
        <p:nvCxnSpPr>
          <p:cNvPr id="961" name="Google Shape;961;p61"/>
          <p:cNvCxnSpPr>
            <a:stCxn id="956" idx="3"/>
            <a:endCxn id="923" idx="7"/>
          </p:cNvCxnSpPr>
          <p:nvPr/>
        </p:nvCxnSpPr>
        <p:spPr>
          <a:xfrm flipH="1">
            <a:off x="6397353" y="1965233"/>
            <a:ext cx="858900" cy="611100"/>
          </a:xfrm>
          <a:prstGeom prst="straightConnector1">
            <a:avLst/>
          </a:prstGeom>
          <a:noFill/>
          <a:ln w="9525" cap="flat" cmpd="sng">
            <a:solidFill>
              <a:schemeClr val="accent1"/>
            </a:solidFill>
            <a:prstDash val="solid"/>
            <a:miter lim="800000"/>
            <a:headEnd type="none" w="sm" len="sm"/>
            <a:tailEnd type="triangle" w="med" len="med"/>
          </a:ln>
        </p:spPr>
      </p:cxnSp>
      <p:grpSp>
        <p:nvGrpSpPr>
          <p:cNvPr id="962" name="Google Shape;962;p61"/>
          <p:cNvGrpSpPr/>
          <p:nvPr/>
        </p:nvGrpSpPr>
        <p:grpSpPr>
          <a:xfrm rot="5400000">
            <a:off x="1899356" y="4147394"/>
            <a:ext cx="442067" cy="1012126"/>
            <a:chOff x="1727200" y="685800"/>
            <a:chExt cx="685800" cy="1143000"/>
          </a:xfrm>
        </p:grpSpPr>
        <p:sp>
          <p:nvSpPr>
            <p:cNvPr id="963" name="Google Shape;963;p61"/>
            <p:cNvSpPr/>
            <p:nvPr/>
          </p:nvSpPr>
          <p:spPr>
            <a:xfrm>
              <a:off x="2260600" y="6858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964" name="Google Shape;964;p61"/>
            <p:cNvSpPr/>
            <p:nvPr/>
          </p:nvSpPr>
          <p:spPr>
            <a:xfrm>
              <a:off x="1727200"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965" name="Google Shape;965;p61"/>
            <p:cNvCxnSpPr>
              <a:stCxn id="964" idx="7"/>
              <a:endCxn id="963" idx="3"/>
            </p:cNvCxnSpPr>
            <p:nvPr/>
          </p:nvCxnSpPr>
          <p:spPr>
            <a:xfrm rot="-5400000">
              <a:off x="1628682" y="1044418"/>
              <a:ext cx="882900" cy="4257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966" name="Google Shape;966;p61"/>
            <p:cNvCxnSpPr>
              <a:endCxn id="963" idx="4"/>
            </p:cNvCxnSpPr>
            <p:nvPr/>
          </p:nvCxnSpPr>
          <p:spPr>
            <a:xfrm rot="-5400000">
              <a:off x="1856650" y="1272450"/>
              <a:ext cx="914400" cy="459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967" name="Google Shape;967;p61"/>
            <p:cNvCxnSpPr>
              <a:stCxn id="964" idx="6"/>
              <a:endCxn id="968" idx="2"/>
            </p:cNvCxnSpPr>
            <p:nvPr/>
          </p:nvCxnSpPr>
          <p:spPr>
            <a:xfrm rot="10800000">
              <a:off x="2045050" y="1587150"/>
              <a:ext cx="0" cy="330900"/>
            </a:xfrm>
            <a:prstGeom prst="straightConnector1">
              <a:avLst/>
            </a:prstGeom>
            <a:solidFill>
              <a:schemeClr val="lt1"/>
            </a:solidFill>
            <a:ln w="12700" cap="flat" cmpd="sng">
              <a:solidFill>
                <a:schemeClr val="dk1"/>
              </a:solidFill>
              <a:prstDash val="dot"/>
              <a:miter lim="800000"/>
              <a:headEnd type="none" w="sm" len="sm"/>
              <a:tailEnd type="none" w="sm" len="sm"/>
            </a:ln>
          </p:spPr>
        </p:cxnSp>
        <p:sp>
          <p:nvSpPr>
            <p:cNvPr id="968" name="Google Shape;968;p61"/>
            <p:cNvSpPr/>
            <p:nvPr/>
          </p:nvSpPr>
          <p:spPr>
            <a:xfrm>
              <a:off x="2210594"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cxnSp>
        <p:nvCxnSpPr>
          <p:cNvPr id="969" name="Google Shape;969;p61"/>
          <p:cNvCxnSpPr>
            <a:endCxn id="942" idx="4"/>
          </p:cNvCxnSpPr>
          <p:nvPr/>
        </p:nvCxnSpPr>
        <p:spPr>
          <a:xfrm rot="10800000" flipH="1">
            <a:off x="1590860" y="3430498"/>
            <a:ext cx="984300" cy="1106700"/>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6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49</a:t>
            </a:fld>
            <a:endParaRPr sz="900"/>
          </a:p>
        </p:txBody>
      </p:sp>
      <p:sp>
        <p:nvSpPr>
          <p:cNvPr id="975" name="Google Shape;975;p62"/>
          <p:cNvSpPr txBox="1"/>
          <p:nvPr/>
        </p:nvSpPr>
        <p:spPr>
          <a:xfrm>
            <a:off x="1022800" y="1321650"/>
            <a:ext cx="8229600" cy="3364800"/>
          </a:xfrm>
          <a:prstGeom prst="rect">
            <a:avLst/>
          </a:prstGeom>
          <a:noFill/>
          <a:ln>
            <a:noFill/>
          </a:ln>
        </p:spPr>
        <p:txBody>
          <a:bodyPr spcFirstLastPara="1" wrap="square" lIns="91425" tIns="45700" rIns="91425" bIns="45700" anchor="t" anchorCtr="0">
            <a:noAutofit/>
          </a:bodyPr>
          <a:lstStyle/>
          <a:p>
            <a:pPr marL="342900" marR="0" lvl="0" indent="-149860" algn="l" rtl="0">
              <a:lnSpc>
                <a:spcPct val="100000"/>
              </a:lnSpc>
              <a:spcBef>
                <a:spcPts val="0"/>
              </a:spcBef>
              <a:spcAft>
                <a:spcPts val="0"/>
              </a:spcAft>
              <a:buClr>
                <a:schemeClr val="dk2"/>
              </a:buClr>
              <a:buSzPts val="3040"/>
              <a:buFont typeface="Noto Sans Symbols"/>
              <a:buNone/>
            </a:pPr>
            <a:endParaRPr sz="3200" b="0" i="0" u="none" strike="noStrike" cap="none">
              <a:solidFill>
                <a:schemeClr val="dk1"/>
              </a:solidFill>
              <a:latin typeface="Calibri"/>
              <a:ea typeface="Calibri"/>
              <a:cs typeface="Calibri"/>
              <a:sym typeface="Calibri"/>
            </a:endParaRPr>
          </a:p>
          <a:p>
            <a:pPr marL="742950" marR="0" lvl="1" indent="-107950" algn="l" rtl="0">
              <a:lnSpc>
                <a:spcPct val="100000"/>
              </a:lnSpc>
              <a:spcBef>
                <a:spcPts val="560"/>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a:p>
            <a:pPr marL="342900" marR="0" lvl="0" indent="-149860" algn="l" rtl="0">
              <a:lnSpc>
                <a:spcPct val="100000"/>
              </a:lnSpc>
              <a:spcBef>
                <a:spcPts val="640"/>
              </a:spcBef>
              <a:spcAft>
                <a:spcPts val="0"/>
              </a:spcAft>
              <a:buClr>
                <a:schemeClr val="dk2"/>
              </a:buClr>
              <a:buSzPts val="3040"/>
              <a:buFont typeface="Noto Sans Symbols"/>
              <a:buNone/>
            </a:pPr>
            <a:endParaRPr sz="3200" b="0" i="0" u="none" strike="noStrike" cap="none">
              <a:solidFill>
                <a:schemeClr val="dk1"/>
              </a:solidFill>
              <a:latin typeface="Calibri"/>
              <a:ea typeface="Calibri"/>
              <a:cs typeface="Calibri"/>
              <a:sym typeface="Calibri"/>
            </a:endParaRPr>
          </a:p>
        </p:txBody>
      </p:sp>
      <p:pic>
        <p:nvPicPr>
          <p:cNvPr id="976" name="Google Shape;976;p62"/>
          <p:cNvPicPr preferRelativeResize="0"/>
          <p:nvPr/>
        </p:nvPicPr>
        <p:blipFill rotWithShape="1">
          <a:blip r:embed="rId3">
            <a:alphaModFix/>
          </a:blip>
          <a:srcRect/>
          <a:stretch/>
        </p:blipFill>
        <p:spPr>
          <a:xfrm>
            <a:off x="3227388" y="2356247"/>
            <a:ext cx="4000498" cy="1028700"/>
          </a:xfrm>
          <a:prstGeom prst="rect">
            <a:avLst/>
          </a:prstGeom>
          <a:noFill/>
          <a:ln>
            <a:noFill/>
          </a:ln>
        </p:spPr>
      </p:pic>
      <p:sp>
        <p:nvSpPr>
          <p:cNvPr id="977" name="Google Shape;977;p62"/>
          <p:cNvSpPr txBox="1"/>
          <p:nvPr/>
        </p:nvSpPr>
        <p:spPr>
          <a:xfrm>
            <a:off x="2294625" y="1205009"/>
            <a:ext cx="4266900" cy="3039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78" name="Google Shape;978;p62"/>
          <p:cNvSpPr txBox="1"/>
          <p:nvPr/>
        </p:nvSpPr>
        <p:spPr>
          <a:xfrm>
            <a:off x="760425" y="1780637"/>
            <a:ext cx="6315300" cy="3039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6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50</a:t>
            </a:fld>
            <a:endParaRPr sz="900"/>
          </a:p>
        </p:txBody>
      </p:sp>
      <p:sp>
        <p:nvSpPr>
          <p:cNvPr id="984" name="Google Shape;984;p63"/>
          <p:cNvSpPr txBox="1"/>
          <p:nvPr/>
        </p:nvSpPr>
        <p:spPr>
          <a:xfrm>
            <a:off x="895350" y="1153806"/>
            <a:ext cx="7620000" cy="186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Calibri"/>
                <a:ea typeface="Calibri"/>
                <a:cs typeface="Calibri"/>
                <a:sym typeface="Calibri"/>
              </a:rPr>
              <a:t>Suppose, a composite transformation is defined as rotating 90 degree counterclockwise with respect to point (5, 5). Calculate the composite transformation matrix in homogeneous form. Then, find the new coordinates of the point (10, 10) after transformation.</a:t>
            </a:r>
            <a:endParaRPr sz="2100" b="0" i="0" u="none" strike="noStrike" cap="none">
              <a:solidFill>
                <a:srgbClr val="000000"/>
              </a:solidFill>
              <a:latin typeface="Arial"/>
              <a:ea typeface="Arial"/>
              <a:cs typeface="Arial"/>
              <a:sym typeface="Arial"/>
            </a:endParaRPr>
          </a:p>
        </p:txBody>
      </p:sp>
      <p:sp>
        <p:nvSpPr>
          <p:cNvPr id="985" name="Google Shape;985;p63"/>
          <p:cNvSpPr txBox="1"/>
          <p:nvPr/>
        </p:nvSpPr>
        <p:spPr>
          <a:xfrm>
            <a:off x="-101950" y="3512169"/>
            <a:ext cx="8172000" cy="5946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rgbClr val="000000"/>
                </a:solidFill>
                <a:latin typeface="Calibri"/>
                <a:ea typeface="Calibri"/>
                <a:cs typeface="Calibri"/>
                <a:sym typeface="Calibri"/>
              </a:rPr>
              <a:t> </a:t>
            </a:r>
            <a:endParaRPr sz="15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64"/>
          <p:cNvSpPr txBox="1">
            <a:spLocks noGrp="1"/>
          </p:cNvSpPr>
          <p:nvPr>
            <p:ph type="sldNum" idx="12"/>
          </p:nvPr>
        </p:nvSpPr>
        <p:spPr>
          <a:xfrm>
            <a:off x="6457950" y="4767263"/>
            <a:ext cx="2057400" cy="273900"/>
          </a:xfrm>
          <a:prstGeom prst="rect">
            <a:avLst/>
          </a:prstGeom>
          <a:noFill/>
          <a:ln>
            <a:noFill/>
          </a:ln>
        </p:spPr>
        <p:txBody>
          <a:bodyPr spcFirstLastPara="1" wrap="square" lIns="92075" tIns="46025" rIns="92075" bIns="4602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51</a:t>
            </a:fld>
            <a:endParaRPr sz="900"/>
          </a:p>
        </p:txBody>
      </p:sp>
      <p:pic>
        <p:nvPicPr>
          <p:cNvPr id="992" name="Google Shape;992;p64"/>
          <p:cNvPicPr preferRelativeResize="0"/>
          <p:nvPr/>
        </p:nvPicPr>
        <p:blipFill rotWithShape="1">
          <a:blip r:embed="rId3">
            <a:alphaModFix/>
          </a:blip>
          <a:srcRect/>
          <a:stretch/>
        </p:blipFill>
        <p:spPr>
          <a:xfrm>
            <a:off x="1806575" y="1824679"/>
            <a:ext cx="4148136" cy="3086100"/>
          </a:xfrm>
          <a:prstGeom prst="rect">
            <a:avLst/>
          </a:prstGeom>
          <a:noFill/>
          <a:ln>
            <a:noFill/>
          </a:ln>
        </p:spPr>
      </p:pic>
      <p:sp>
        <p:nvSpPr>
          <p:cNvPr id="993" name="Google Shape;993;p64"/>
          <p:cNvSpPr txBox="1"/>
          <p:nvPr/>
        </p:nvSpPr>
        <p:spPr>
          <a:xfrm>
            <a:off x="1064425" y="1312968"/>
            <a:ext cx="6348600" cy="3039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p6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52</a:t>
            </a:fld>
            <a:endParaRPr sz="900"/>
          </a:p>
        </p:txBody>
      </p:sp>
      <p:sp>
        <p:nvSpPr>
          <p:cNvPr id="999" name="Google Shape;999;p65"/>
          <p:cNvSpPr txBox="1"/>
          <p:nvPr/>
        </p:nvSpPr>
        <p:spPr>
          <a:xfrm>
            <a:off x="1782625" y="1202623"/>
            <a:ext cx="2886600" cy="407100"/>
          </a:xfrm>
          <a:prstGeom prst="rect">
            <a:avLst/>
          </a:prstGeom>
          <a:blipFill rotWithShape="1">
            <a:blip r:embed="rId3">
              <a:alphaModFix/>
            </a:blip>
            <a:stretch>
              <a:fillRect t="-163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000" name="Google Shape;1000;p65"/>
          <p:cNvPicPr preferRelativeResize="0"/>
          <p:nvPr/>
        </p:nvPicPr>
        <p:blipFill rotWithShape="1">
          <a:blip r:embed="rId4">
            <a:alphaModFix/>
          </a:blip>
          <a:srcRect/>
          <a:stretch/>
        </p:blipFill>
        <p:spPr>
          <a:xfrm>
            <a:off x="1676400" y="1828800"/>
            <a:ext cx="1762125" cy="2057400"/>
          </a:xfrm>
          <a:prstGeom prst="rect">
            <a:avLst/>
          </a:prstGeom>
          <a:noFill/>
          <a:ln>
            <a:noFill/>
          </a:ln>
        </p:spPr>
      </p:pic>
      <p:sp>
        <p:nvSpPr>
          <p:cNvPr id="1001" name="Google Shape;1001;p65"/>
          <p:cNvSpPr txBox="1"/>
          <p:nvPr/>
        </p:nvSpPr>
        <p:spPr>
          <a:xfrm>
            <a:off x="1676400" y="4230881"/>
            <a:ext cx="47529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So, the new coordinate of P is (0, 10)</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66"/>
          <p:cNvSpPr txBox="1">
            <a:spLocks noGrp="1"/>
          </p:cNvSpPr>
          <p:nvPr>
            <p:ph type="title"/>
          </p:nvPr>
        </p:nvSpPr>
        <p:spPr>
          <a:xfrm>
            <a:off x="1080600" y="352325"/>
            <a:ext cx="7772400" cy="6288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300" b="0" i="1" u="none">
                <a:solidFill>
                  <a:srgbClr val="663300"/>
                </a:solidFill>
                <a:latin typeface="Times New Roman"/>
                <a:ea typeface="Times New Roman"/>
                <a:cs typeface="Times New Roman"/>
                <a:sym typeface="Times New Roman"/>
              </a:rPr>
              <a:t>Scaling of S</a:t>
            </a:r>
            <a:r>
              <a:rPr lang="en-US" sz="4300" i="1" baseline="-25000">
                <a:solidFill>
                  <a:srgbClr val="663300"/>
                </a:solidFill>
                <a:latin typeface="Times New Roman"/>
                <a:ea typeface="Times New Roman"/>
                <a:cs typeface="Times New Roman"/>
                <a:sym typeface="Times New Roman"/>
              </a:rPr>
              <a:t>a,b</a:t>
            </a:r>
            <a:r>
              <a:rPr lang="en-US" sz="4300" i="1">
                <a:solidFill>
                  <a:srgbClr val="663300"/>
                </a:solidFill>
                <a:latin typeface="Times New Roman"/>
                <a:ea typeface="Times New Roman"/>
                <a:cs typeface="Times New Roman"/>
                <a:sym typeface="Times New Roman"/>
              </a:rPr>
              <a:t> </a:t>
            </a:r>
            <a:r>
              <a:rPr lang="en-US" sz="4300" b="0" i="1" u="none">
                <a:solidFill>
                  <a:srgbClr val="663300"/>
                </a:solidFill>
                <a:latin typeface="Times New Roman"/>
                <a:ea typeface="Times New Roman"/>
                <a:cs typeface="Times New Roman"/>
                <a:sym typeface="Times New Roman"/>
              </a:rPr>
              <a:t>about P(h,k): R</a:t>
            </a:r>
            <a:r>
              <a:rPr lang="en-US" sz="4300" b="0" i="1" u="none" baseline="-25000">
                <a:solidFill>
                  <a:srgbClr val="663300"/>
                </a:solidFill>
                <a:latin typeface="Times New Roman"/>
                <a:ea typeface="Times New Roman"/>
                <a:cs typeface="Times New Roman"/>
                <a:sym typeface="Times New Roman"/>
              </a:rPr>
              <a:t>S,</a:t>
            </a:r>
            <a:r>
              <a:rPr lang="en-US" sz="4300" i="1" baseline="-25000">
                <a:solidFill>
                  <a:srgbClr val="663300"/>
                </a:solidFill>
                <a:latin typeface="Times New Roman"/>
                <a:ea typeface="Times New Roman"/>
                <a:cs typeface="Times New Roman"/>
                <a:sym typeface="Times New Roman"/>
              </a:rPr>
              <a:t>P</a:t>
            </a:r>
            <a:endParaRPr sz="3200"/>
          </a:p>
        </p:txBody>
      </p:sp>
      <p:sp>
        <p:nvSpPr>
          <p:cNvPr id="1007" name="Google Shape;1007;p66"/>
          <p:cNvSpPr txBox="1"/>
          <p:nvPr/>
        </p:nvSpPr>
        <p:spPr>
          <a:xfrm>
            <a:off x="1298075" y="3081263"/>
            <a:ext cx="990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R</a:t>
            </a:r>
            <a:r>
              <a:rPr lang="en-US" sz="2400" b="1" i="0" u="none" strike="noStrike" cap="none" baseline="-25000">
                <a:solidFill>
                  <a:schemeClr val="dk1"/>
                </a:solidFill>
                <a:latin typeface="Tahoma"/>
                <a:ea typeface="Tahoma"/>
                <a:cs typeface="Tahoma"/>
                <a:sym typeface="Tahoma"/>
              </a:rPr>
              <a:t>S,P</a:t>
            </a:r>
            <a:r>
              <a:rPr lang="en-US" sz="2400" b="1" i="0" u="none" strike="noStrike" cap="none">
                <a:solidFill>
                  <a:schemeClr val="dk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grpSp>
        <p:nvGrpSpPr>
          <p:cNvPr id="1008" name="Google Shape;1008;p66"/>
          <p:cNvGrpSpPr/>
          <p:nvPr/>
        </p:nvGrpSpPr>
        <p:grpSpPr>
          <a:xfrm>
            <a:off x="1298075" y="2154085"/>
            <a:ext cx="7004911" cy="1284365"/>
            <a:chOff x="480" y="1286"/>
            <a:chExt cx="4412" cy="1078"/>
          </a:xfrm>
        </p:grpSpPr>
        <p:sp>
          <p:nvSpPr>
            <p:cNvPr id="1009" name="Google Shape;1009;p66"/>
            <p:cNvSpPr txBox="1"/>
            <p:nvPr/>
          </p:nvSpPr>
          <p:spPr>
            <a:xfrm>
              <a:off x="480" y="1632"/>
              <a:ext cx="36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Step 3:</a:t>
              </a:r>
              <a:r>
                <a:rPr lang="en-US" sz="2400" b="0" i="0" u="none" strike="noStrike" cap="none">
                  <a:solidFill>
                    <a:schemeClr val="dk1"/>
                  </a:solidFill>
                  <a:latin typeface="Tahoma"/>
                  <a:ea typeface="Tahoma"/>
                  <a:cs typeface="Tahoma"/>
                  <a:sym typeface="Tahoma"/>
                </a:rPr>
                <a:t> Translate (0,0) to P(h,k)</a:t>
              </a:r>
              <a:endParaRPr sz="1400" b="0" i="0" u="none" strike="noStrike" cap="none">
                <a:solidFill>
                  <a:srgbClr val="000000"/>
                </a:solidFill>
                <a:latin typeface="Arial"/>
                <a:ea typeface="Arial"/>
                <a:cs typeface="Arial"/>
                <a:sym typeface="Arial"/>
              </a:endParaRPr>
            </a:p>
          </p:txBody>
        </p:sp>
        <p:sp>
          <p:nvSpPr>
            <p:cNvPr id="1010" name="Google Shape;1010;p66"/>
            <p:cNvSpPr txBox="1"/>
            <p:nvPr/>
          </p:nvSpPr>
          <p:spPr>
            <a:xfrm>
              <a:off x="1056" y="2064"/>
              <a:ext cx="12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T(h ,k) *</a:t>
              </a:r>
              <a:endParaRPr sz="1400" b="0" i="0" u="none" strike="noStrike" cap="none">
                <a:solidFill>
                  <a:srgbClr val="000000"/>
                </a:solidFill>
                <a:latin typeface="Arial"/>
                <a:ea typeface="Arial"/>
                <a:cs typeface="Arial"/>
                <a:sym typeface="Arial"/>
              </a:endParaRPr>
            </a:p>
          </p:txBody>
        </p:sp>
        <p:grpSp>
          <p:nvGrpSpPr>
            <p:cNvPr id="1011" name="Google Shape;1011;p66"/>
            <p:cNvGrpSpPr/>
            <p:nvPr/>
          </p:nvGrpSpPr>
          <p:grpSpPr>
            <a:xfrm rot="2160075">
              <a:off x="4405" y="1325"/>
              <a:ext cx="336" cy="624"/>
              <a:chOff x="686" y="3134"/>
              <a:chExt cx="336" cy="624"/>
            </a:xfrm>
          </p:grpSpPr>
          <p:sp>
            <p:nvSpPr>
              <p:cNvPr id="1012" name="Google Shape;1012;p66"/>
              <p:cNvSpPr/>
              <p:nvPr/>
            </p:nvSpPr>
            <p:spPr>
              <a:xfrm>
                <a:off x="1022" y="3134"/>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13" name="Google Shape;1013;p66"/>
              <p:cNvSpPr/>
              <p:nvPr/>
            </p:nvSpPr>
            <p:spPr>
              <a:xfrm>
                <a:off x="686" y="3758"/>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grpSp>
      <p:sp>
        <p:nvSpPr>
          <p:cNvPr id="1014" name="Google Shape;1014;p66"/>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53</a:t>
            </a:fld>
            <a:endParaRPr sz="1400" b="0" i="0" u="none" strike="noStrike" cap="none">
              <a:solidFill>
                <a:srgbClr val="000000"/>
              </a:solidFill>
              <a:latin typeface="Arial"/>
              <a:ea typeface="Arial"/>
              <a:cs typeface="Arial"/>
              <a:sym typeface="Arial"/>
            </a:endParaRPr>
          </a:p>
        </p:txBody>
      </p:sp>
      <p:grpSp>
        <p:nvGrpSpPr>
          <p:cNvPr id="1015" name="Google Shape;1015;p66"/>
          <p:cNvGrpSpPr/>
          <p:nvPr/>
        </p:nvGrpSpPr>
        <p:grpSpPr>
          <a:xfrm>
            <a:off x="1298075" y="2109712"/>
            <a:ext cx="6319111" cy="3339163"/>
            <a:chOff x="480" y="1248"/>
            <a:chExt cx="3980" cy="2804"/>
          </a:xfrm>
        </p:grpSpPr>
        <p:sp>
          <p:nvSpPr>
            <p:cNvPr id="1016" name="Google Shape;1016;p66"/>
            <p:cNvSpPr txBox="1"/>
            <p:nvPr/>
          </p:nvSpPr>
          <p:spPr>
            <a:xfrm>
              <a:off x="480" y="1248"/>
              <a:ext cx="3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Step 2:</a:t>
              </a:r>
              <a:r>
                <a:rPr lang="en-US" sz="2400" b="0" i="0" u="none" strike="noStrike" cap="none">
                  <a:solidFill>
                    <a:schemeClr val="dk1"/>
                  </a:solidFill>
                  <a:latin typeface="Tahoma"/>
                  <a:ea typeface="Tahoma"/>
                  <a:cs typeface="Tahoma"/>
                  <a:sym typeface="Tahoma"/>
                </a:rPr>
                <a:t> Scale S</a:t>
              </a:r>
              <a:r>
                <a:rPr lang="en-US" sz="2400" b="0" i="0" u="none" strike="noStrike" cap="none" baseline="-25000">
                  <a:solidFill>
                    <a:schemeClr val="dk1"/>
                  </a:solidFill>
                  <a:latin typeface="Tahoma"/>
                  <a:ea typeface="Tahoma"/>
                  <a:cs typeface="Tahoma"/>
                  <a:sym typeface="Tahoma"/>
                </a:rPr>
                <a:t>a,b</a:t>
              </a:r>
              <a:r>
                <a:rPr lang="en-US" sz="2400" b="0" i="0" u="none" strike="noStrike" cap="none">
                  <a:solidFill>
                    <a:schemeClr val="dk1"/>
                  </a:solidFill>
                  <a:latin typeface="Tahoma"/>
                  <a:ea typeface="Tahoma"/>
                  <a:cs typeface="Tahoma"/>
                  <a:sym typeface="Tahoma"/>
                </a:rPr>
                <a:t> w.r.t to origin</a:t>
              </a:r>
              <a:endParaRPr sz="1400" b="0" i="0" u="none" strike="noStrike" cap="none">
                <a:solidFill>
                  <a:srgbClr val="000000"/>
                </a:solidFill>
                <a:latin typeface="Arial"/>
                <a:ea typeface="Arial"/>
                <a:cs typeface="Arial"/>
                <a:sym typeface="Arial"/>
              </a:endParaRPr>
            </a:p>
          </p:txBody>
        </p:sp>
        <p:sp>
          <p:nvSpPr>
            <p:cNvPr id="1017" name="Google Shape;1017;p66"/>
            <p:cNvSpPr txBox="1"/>
            <p:nvPr/>
          </p:nvSpPr>
          <p:spPr>
            <a:xfrm>
              <a:off x="1968" y="2064"/>
              <a:ext cx="12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S(a,b)*</a:t>
              </a:r>
              <a:endParaRPr sz="1400" b="0" i="0" u="none" strike="noStrike" cap="none">
                <a:solidFill>
                  <a:srgbClr val="000000"/>
                </a:solidFill>
                <a:latin typeface="Arial"/>
                <a:ea typeface="Arial"/>
                <a:cs typeface="Arial"/>
                <a:sym typeface="Arial"/>
              </a:endParaRPr>
            </a:p>
          </p:txBody>
        </p:sp>
        <p:grpSp>
          <p:nvGrpSpPr>
            <p:cNvPr id="1018" name="Google Shape;1018;p66"/>
            <p:cNvGrpSpPr/>
            <p:nvPr/>
          </p:nvGrpSpPr>
          <p:grpSpPr>
            <a:xfrm rot="2160075">
              <a:off x="3973" y="3389"/>
              <a:ext cx="336" cy="624"/>
              <a:chOff x="686" y="3134"/>
              <a:chExt cx="336" cy="624"/>
            </a:xfrm>
          </p:grpSpPr>
          <p:sp>
            <p:nvSpPr>
              <p:cNvPr id="1019" name="Google Shape;1019;p66"/>
              <p:cNvSpPr/>
              <p:nvPr/>
            </p:nvSpPr>
            <p:spPr>
              <a:xfrm>
                <a:off x="1022" y="3134"/>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20" name="Google Shape;1020;p66"/>
              <p:cNvSpPr/>
              <p:nvPr/>
            </p:nvSpPr>
            <p:spPr>
              <a:xfrm>
                <a:off x="686" y="3758"/>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grpSp>
      <p:grpSp>
        <p:nvGrpSpPr>
          <p:cNvPr id="1021" name="Google Shape;1021;p66"/>
          <p:cNvGrpSpPr/>
          <p:nvPr/>
        </p:nvGrpSpPr>
        <p:grpSpPr>
          <a:xfrm>
            <a:off x="1298075" y="1652513"/>
            <a:ext cx="7268250" cy="3559969"/>
            <a:chOff x="480" y="864"/>
            <a:chExt cx="3000" cy="2990"/>
          </a:xfrm>
        </p:grpSpPr>
        <p:sp>
          <p:nvSpPr>
            <p:cNvPr id="1022" name="Google Shape;1022;p66"/>
            <p:cNvSpPr txBox="1"/>
            <p:nvPr/>
          </p:nvSpPr>
          <p:spPr>
            <a:xfrm>
              <a:off x="480" y="864"/>
              <a:ext cx="30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Step 1:</a:t>
              </a:r>
              <a:r>
                <a:rPr lang="en-US" sz="2400" b="0" i="0" u="none" strike="noStrike" cap="none">
                  <a:solidFill>
                    <a:schemeClr val="dk1"/>
                  </a:solidFill>
                  <a:latin typeface="Tahoma"/>
                  <a:ea typeface="Tahoma"/>
                  <a:cs typeface="Tahoma"/>
                  <a:sym typeface="Tahoma"/>
                </a:rPr>
                <a:t> Translate P(-h,-k) to origin</a:t>
              </a:r>
              <a:endParaRPr sz="1400" b="0" i="0" u="none" strike="noStrike" cap="none">
                <a:solidFill>
                  <a:srgbClr val="000000"/>
                </a:solidFill>
                <a:latin typeface="Arial"/>
                <a:ea typeface="Arial"/>
                <a:cs typeface="Arial"/>
                <a:sym typeface="Arial"/>
              </a:endParaRPr>
            </a:p>
          </p:txBody>
        </p:sp>
        <p:sp>
          <p:nvSpPr>
            <p:cNvPr id="1023" name="Google Shape;1023;p66"/>
            <p:cNvSpPr txBox="1"/>
            <p:nvPr/>
          </p:nvSpPr>
          <p:spPr>
            <a:xfrm>
              <a:off x="2013" y="2047"/>
              <a:ext cx="900" cy="300"/>
            </a:xfrm>
            <a:prstGeom prst="rect">
              <a:avLst/>
            </a:prstGeom>
            <a:noFill/>
            <a:ln>
              <a:noFill/>
            </a:ln>
          </p:spPr>
          <p:txBody>
            <a:bodyPr spcFirstLastPara="1" wrap="square" lIns="91425" tIns="45700" rIns="0"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T(-h ,-k)</a:t>
              </a:r>
              <a:endParaRPr sz="1400" b="0" i="0" u="none" strike="noStrike" cap="none">
                <a:solidFill>
                  <a:srgbClr val="000000"/>
                </a:solidFill>
                <a:latin typeface="Arial"/>
                <a:ea typeface="Arial"/>
                <a:cs typeface="Arial"/>
                <a:sym typeface="Arial"/>
              </a:endParaRPr>
            </a:p>
          </p:txBody>
        </p:sp>
        <p:grpSp>
          <p:nvGrpSpPr>
            <p:cNvPr id="1024" name="Google Shape;1024;p66"/>
            <p:cNvGrpSpPr/>
            <p:nvPr/>
          </p:nvGrpSpPr>
          <p:grpSpPr>
            <a:xfrm>
              <a:off x="2064" y="3230"/>
              <a:ext cx="336" cy="624"/>
              <a:chOff x="3038" y="1310"/>
              <a:chExt cx="336" cy="624"/>
            </a:xfrm>
          </p:grpSpPr>
          <p:sp>
            <p:nvSpPr>
              <p:cNvPr id="1025" name="Google Shape;1025;p66"/>
              <p:cNvSpPr/>
              <p:nvPr/>
            </p:nvSpPr>
            <p:spPr>
              <a:xfrm>
                <a:off x="3374" y="1310"/>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1026" name="Google Shape;1026;p66"/>
              <p:cNvSpPr/>
              <p:nvPr/>
            </p:nvSpPr>
            <p:spPr>
              <a:xfrm>
                <a:off x="3038" y="1934"/>
                <a:ext cx="0" cy="0"/>
              </a:xfrm>
              <a:prstGeom prst="ellipse">
                <a:avLst/>
              </a:prstGeom>
              <a:solidFill>
                <a:srgbClr val="FF0000"/>
              </a:solidFill>
              <a:ln w="9525" cap="flat" cmpd="sng">
                <a:solidFill>
                  <a:srgbClr val="8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06"/>
                                        </p:tgtEl>
                                        <p:attrNameLst>
                                          <p:attrName>style.visibility</p:attrName>
                                        </p:attrNameLst>
                                      </p:cBhvr>
                                      <p:to>
                                        <p:strVal val="visible"/>
                                      </p:to>
                                    </p:set>
                                    <p:animEffect transition="in" filter="fade">
                                      <p:cBhvr>
                                        <p:cTn id="7"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grpSp>
        <p:nvGrpSpPr>
          <p:cNvPr id="1031" name="Google Shape;1031;p67"/>
          <p:cNvGrpSpPr/>
          <p:nvPr/>
        </p:nvGrpSpPr>
        <p:grpSpPr>
          <a:xfrm>
            <a:off x="5365510" y="3566322"/>
            <a:ext cx="604670" cy="750722"/>
            <a:chOff x="1727200" y="685800"/>
            <a:chExt cx="685800" cy="1143000"/>
          </a:xfrm>
        </p:grpSpPr>
        <p:sp>
          <p:nvSpPr>
            <p:cNvPr id="1032" name="Google Shape;1032;p67"/>
            <p:cNvSpPr/>
            <p:nvPr/>
          </p:nvSpPr>
          <p:spPr>
            <a:xfrm>
              <a:off x="2260600" y="6858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33" name="Google Shape;1033;p67"/>
            <p:cNvSpPr/>
            <p:nvPr/>
          </p:nvSpPr>
          <p:spPr>
            <a:xfrm>
              <a:off x="1727200"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34" name="Google Shape;1034;p67"/>
            <p:cNvCxnSpPr>
              <a:stCxn id="1033" idx="7"/>
              <a:endCxn id="1032" idx="3"/>
            </p:cNvCxnSpPr>
            <p:nvPr/>
          </p:nvCxnSpPr>
          <p:spPr>
            <a:xfrm rot="10800000" flipH="1">
              <a:off x="1857282" y="815818"/>
              <a:ext cx="425700" cy="8829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1035" name="Google Shape;1035;p67"/>
            <p:cNvCxnSpPr>
              <a:endCxn id="1032" idx="4"/>
            </p:cNvCxnSpPr>
            <p:nvPr/>
          </p:nvCxnSpPr>
          <p:spPr>
            <a:xfrm rot="10800000" flipH="1">
              <a:off x="2290900" y="838200"/>
              <a:ext cx="45900" cy="9144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1036" name="Google Shape;1036;p67"/>
            <p:cNvCxnSpPr>
              <a:stCxn id="1033" idx="6"/>
            </p:cNvCxnSpPr>
            <p:nvPr/>
          </p:nvCxnSpPr>
          <p:spPr>
            <a:xfrm>
              <a:off x="1879600" y="1752600"/>
              <a:ext cx="434100" cy="0"/>
            </a:xfrm>
            <a:prstGeom prst="straightConnector1">
              <a:avLst/>
            </a:prstGeom>
            <a:solidFill>
              <a:schemeClr val="lt1"/>
            </a:solidFill>
            <a:ln w="12700" cap="flat" cmpd="sng">
              <a:solidFill>
                <a:schemeClr val="dk1"/>
              </a:solidFill>
              <a:prstDash val="dot"/>
              <a:miter lim="800000"/>
              <a:headEnd type="none" w="sm" len="sm"/>
              <a:tailEnd type="none" w="sm" len="sm"/>
            </a:ln>
          </p:spPr>
        </p:cxnSp>
        <p:sp>
          <p:nvSpPr>
            <p:cNvPr id="1037" name="Google Shape;1037;p67"/>
            <p:cNvSpPr/>
            <p:nvPr/>
          </p:nvSpPr>
          <p:spPr>
            <a:xfrm>
              <a:off x="2210594"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sp>
        <p:nvSpPr>
          <p:cNvPr id="1038" name="Google Shape;1038;p67"/>
          <p:cNvSpPr txBox="1">
            <a:spLocks noGrp="1"/>
          </p:cNvSpPr>
          <p:nvPr>
            <p:ph type="sldNum" idx="12"/>
          </p:nvPr>
        </p:nvSpPr>
        <p:spPr>
          <a:xfrm>
            <a:off x="7052140" y="4517247"/>
            <a:ext cx="1679700" cy="3003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54</a:t>
            </a:fld>
            <a:endParaRPr sz="900"/>
          </a:p>
        </p:txBody>
      </p:sp>
      <p:cxnSp>
        <p:nvCxnSpPr>
          <p:cNvPr id="1039" name="Google Shape;1039;p67"/>
          <p:cNvCxnSpPr/>
          <p:nvPr/>
        </p:nvCxnSpPr>
        <p:spPr>
          <a:xfrm>
            <a:off x="1218295" y="2315113"/>
            <a:ext cx="2149800" cy="0"/>
          </a:xfrm>
          <a:prstGeom prst="straightConnector1">
            <a:avLst/>
          </a:prstGeom>
          <a:noFill/>
          <a:ln w="9525" cap="flat" cmpd="sng">
            <a:solidFill>
              <a:schemeClr val="dk1"/>
            </a:solidFill>
            <a:prstDash val="solid"/>
            <a:round/>
            <a:headEnd type="none" w="sm" len="sm"/>
            <a:tailEnd type="triangle" w="med" len="med"/>
          </a:ln>
        </p:spPr>
      </p:cxnSp>
      <p:cxnSp>
        <p:nvCxnSpPr>
          <p:cNvPr id="1040" name="Google Shape;1040;p67"/>
          <p:cNvCxnSpPr/>
          <p:nvPr/>
        </p:nvCxnSpPr>
        <p:spPr>
          <a:xfrm rot="10800000">
            <a:off x="1218295" y="913813"/>
            <a:ext cx="0" cy="1401300"/>
          </a:xfrm>
          <a:prstGeom prst="straightConnector1">
            <a:avLst/>
          </a:prstGeom>
          <a:noFill/>
          <a:ln w="9525" cap="flat" cmpd="sng">
            <a:solidFill>
              <a:schemeClr val="dk1"/>
            </a:solidFill>
            <a:prstDash val="solid"/>
            <a:round/>
            <a:headEnd type="none" w="sm" len="sm"/>
            <a:tailEnd type="triangle" w="med" len="med"/>
          </a:ln>
        </p:spPr>
      </p:cxnSp>
      <p:sp>
        <p:nvSpPr>
          <p:cNvPr id="1041" name="Google Shape;1041;p67"/>
          <p:cNvSpPr txBox="1"/>
          <p:nvPr/>
        </p:nvSpPr>
        <p:spPr>
          <a:xfrm>
            <a:off x="1811323" y="1604013"/>
            <a:ext cx="12969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P(h,k)</a:t>
            </a:r>
            <a:endParaRPr sz="1400" b="0" i="0" u="none" strike="noStrike" cap="none">
              <a:solidFill>
                <a:srgbClr val="000000"/>
              </a:solidFill>
              <a:latin typeface="Arial"/>
              <a:ea typeface="Arial"/>
              <a:cs typeface="Arial"/>
              <a:sym typeface="Arial"/>
            </a:endParaRPr>
          </a:p>
        </p:txBody>
      </p:sp>
      <p:grpSp>
        <p:nvGrpSpPr>
          <p:cNvPr id="1042" name="Google Shape;1042;p67"/>
          <p:cNvGrpSpPr/>
          <p:nvPr/>
        </p:nvGrpSpPr>
        <p:grpSpPr>
          <a:xfrm>
            <a:off x="2203692" y="863703"/>
            <a:ext cx="604670" cy="750722"/>
            <a:chOff x="1727200" y="685800"/>
            <a:chExt cx="685800" cy="1143000"/>
          </a:xfrm>
        </p:grpSpPr>
        <p:sp>
          <p:nvSpPr>
            <p:cNvPr id="1043" name="Google Shape;1043;p67"/>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44" name="Google Shape;1044;p67"/>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45" name="Google Shape;1045;p67"/>
            <p:cNvCxnSpPr>
              <a:stCxn id="1044" idx="7"/>
              <a:endCxn id="1043" idx="3"/>
            </p:cNvCxnSpPr>
            <p:nvPr/>
          </p:nvCxnSpPr>
          <p:spPr>
            <a:xfrm rot="10800000" flipH="1">
              <a:off x="1857282" y="815818"/>
              <a:ext cx="425700" cy="882900"/>
            </a:xfrm>
            <a:prstGeom prst="straightConnector1">
              <a:avLst/>
            </a:prstGeom>
            <a:noFill/>
            <a:ln w="9525" cap="flat" cmpd="sng">
              <a:solidFill>
                <a:schemeClr val="dk1"/>
              </a:solidFill>
              <a:prstDash val="solid"/>
              <a:round/>
              <a:headEnd type="none" w="sm" len="sm"/>
              <a:tailEnd type="none" w="sm" len="sm"/>
            </a:ln>
          </p:spPr>
        </p:cxnSp>
        <p:cxnSp>
          <p:nvCxnSpPr>
            <p:cNvPr id="1046" name="Google Shape;1046;p67"/>
            <p:cNvCxnSpPr>
              <a:endCxn id="1043" idx="4"/>
            </p:cNvCxnSpPr>
            <p:nvPr/>
          </p:nvCxnSpPr>
          <p:spPr>
            <a:xfrm rot="10800000" flipH="1">
              <a:off x="2290900" y="838200"/>
              <a:ext cx="45900" cy="914400"/>
            </a:xfrm>
            <a:prstGeom prst="straightConnector1">
              <a:avLst/>
            </a:prstGeom>
            <a:noFill/>
            <a:ln w="9525" cap="flat" cmpd="sng">
              <a:solidFill>
                <a:schemeClr val="dk1"/>
              </a:solidFill>
              <a:prstDash val="solid"/>
              <a:round/>
              <a:headEnd type="none" w="sm" len="sm"/>
              <a:tailEnd type="none" w="sm" len="sm"/>
            </a:ln>
          </p:spPr>
        </p:cxnSp>
        <p:cxnSp>
          <p:nvCxnSpPr>
            <p:cNvPr id="1047" name="Google Shape;1047;p67"/>
            <p:cNvCxnSpPr>
              <a:stCxn id="1044" idx="6"/>
            </p:cNvCxnSpPr>
            <p:nvPr/>
          </p:nvCxnSpPr>
          <p:spPr>
            <a:xfrm>
              <a:off x="1879600" y="1752600"/>
              <a:ext cx="434100" cy="0"/>
            </a:xfrm>
            <a:prstGeom prst="straightConnector1">
              <a:avLst/>
            </a:prstGeom>
            <a:noFill/>
            <a:ln w="9525" cap="flat" cmpd="sng">
              <a:solidFill>
                <a:schemeClr val="dk1"/>
              </a:solidFill>
              <a:prstDash val="solid"/>
              <a:round/>
              <a:headEnd type="none" w="sm" len="sm"/>
              <a:tailEnd type="none" w="sm" len="sm"/>
            </a:ln>
          </p:spPr>
        </p:cxnSp>
        <p:sp>
          <p:nvSpPr>
            <p:cNvPr id="1048" name="Google Shape;1048;p67"/>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cxnSp>
        <p:nvCxnSpPr>
          <p:cNvPr id="1049" name="Google Shape;1049;p67"/>
          <p:cNvCxnSpPr/>
          <p:nvPr/>
        </p:nvCxnSpPr>
        <p:spPr>
          <a:xfrm>
            <a:off x="5965186" y="2360334"/>
            <a:ext cx="2149800" cy="0"/>
          </a:xfrm>
          <a:prstGeom prst="straightConnector1">
            <a:avLst/>
          </a:prstGeom>
          <a:noFill/>
          <a:ln w="9525" cap="flat" cmpd="sng">
            <a:solidFill>
              <a:schemeClr val="dk1"/>
            </a:solidFill>
            <a:prstDash val="solid"/>
            <a:round/>
            <a:headEnd type="none" w="sm" len="sm"/>
            <a:tailEnd type="triangle" w="med" len="med"/>
          </a:ln>
        </p:spPr>
      </p:cxnSp>
      <p:cxnSp>
        <p:nvCxnSpPr>
          <p:cNvPr id="1050" name="Google Shape;1050;p67"/>
          <p:cNvCxnSpPr/>
          <p:nvPr/>
        </p:nvCxnSpPr>
        <p:spPr>
          <a:xfrm rot="10800000">
            <a:off x="5965186" y="959034"/>
            <a:ext cx="0" cy="1401300"/>
          </a:xfrm>
          <a:prstGeom prst="straightConnector1">
            <a:avLst/>
          </a:prstGeom>
          <a:noFill/>
          <a:ln w="9525" cap="flat" cmpd="sng">
            <a:solidFill>
              <a:schemeClr val="dk1"/>
            </a:solidFill>
            <a:prstDash val="solid"/>
            <a:round/>
            <a:headEnd type="none" w="sm" len="sm"/>
            <a:tailEnd type="triangle" w="med" len="med"/>
          </a:ln>
        </p:spPr>
      </p:cxnSp>
      <p:sp>
        <p:nvSpPr>
          <p:cNvPr id="1051" name="Google Shape;1051;p67"/>
          <p:cNvSpPr txBox="1"/>
          <p:nvPr/>
        </p:nvSpPr>
        <p:spPr>
          <a:xfrm>
            <a:off x="5495742" y="2379494"/>
            <a:ext cx="10818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P’(0,0)</a:t>
            </a:r>
            <a:endParaRPr sz="1400" b="0" i="0" u="none" strike="noStrike" cap="none">
              <a:solidFill>
                <a:srgbClr val="000000"/>
              </a:solidFill>
              <a:latin typeface="Arial"/>
              <a:ea typeface="Arial"/>
              <a:cs typeface="Arial"/>
              <a:sym typeface="Arial"/>
            </a:endParaRPr>
          </a:p>
        </p:txBody>
      </p:sp>
      <p:grpSp>
        <p:nvGrpSpPr>
          <p:cNvPr id="1052" name="Google Shape;1052;p67"/>
          <p:cNvGrpSpPr/>
          <p:nvPr/>
        </p:nvGrpSpPr>
        <p:grpSpPr>
          <a:xfrm>
            <a:off x="5894833" y="1652468"/>
            <a:ext cx="604670" cy="750722"/>
            <a:chOff x="1727200" y="685800"/>
            <a:chExt cx="685800" cy="1143000"/>
          </a:xfrm>
        </p:grpSpPr>
        <p:sp>
          <p:nvSpPr>
            <p:cNvPr id="1053" name="Google Shape;1053;p67"/>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54" name="Google Shape;1054;p67"/>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55" name="Google Shape;1055;p67"/>
            <p:cNvCxnSpPr>
              <a:stCxn id="1054" idx="7"/>
              <a:endCxn id="1053" idx="3"/>
            </p:cNvCxnSpPr>
            <p:nvPr/>
          </p:nvCxnSpPr>
          <p:spPr>
            <a:xfrm rot="10800000" flipH="1">
              <a:off x="1857282" y="815818"/>
              <a:ext cx="425700" cy="882900"/>
            </a:xfrm>
            <a:prstGeom prst="straightConnector1">
              <a:avLst/>
            </a:prstGeom>
            <a:noFill/>
            <a:ln w="9525" cap="flat" cmpd="sng">
              <a:solidFill>
                <a:schemeClr val="dk1"/>
              </a:solidFill>
              <a:prstDash val="solid"/>
              <a:round/>
              <a:headEnd type="none" w="sm" len="sm"/>
              <a:tailEnd type="none" w="sm" len="sm"/>
            </a:ln>
          </p:spPr>
        </p:cxnSp>
        <p:cxnSp>
          <p:nvCxnSpPr>
            <p:cNvPr id="1056" name="Google Shape;1056;p67"/>
            <p:cNvCxnSpPr>
              <a:endCxn id="1053" idx="4"/>
            </p:cNvCxnSpPr>
            <p:nvPr/>
          </p:nvCxnSpPr>
          <p:spPr>
            <a:xfrm rot="10800000" flipH="1">
              <a:off x="2290900" y="838200"/>
              <a:ext cx="45900" cy="914400"/>
            </a:xfrm>
            <a:prstGeom prst="straightConnector1">
              <a:avLst/>
            </a:prstGeom>
            <a:noFill/>
            <a:ln w="9525" cap="flat" cmpd="sng">
              <a:solidFill>
                <a:schemeClr val="dk1"/>
              </a:solidFill>
              <a:prstDash val="solid"/>
              <a:round/>
              <a:headEnd type="none" w="sm" len="sm"/>
              <a:tailEnd type="none" w="sm" len="sm"/>
            </a:ln>
          </p:spPr>
        </p:cxnSp>
        <p:cxnSp>
          <p:nvCxnSpPr>
            <p:cNvPr id="1057" name="Google Shape;1057;p67"/>
            <p:cNvCxnSpPr>
              <a:stCxn id="1054" idx="6"/>
            </p:cNvCxnSpPr>
            <p:nvPr/>
          </p:nvCxnSpPr>
          <p:spPr>
            <a:xfrm>
              <a:off x="1879600" y="1752600"/>
              <a:ext cx="434100" cy="0"/>
            </a:xfrm>
            <a:prstGeom prst="straightConnector1">
              <a:avLst/>
            </a:prstGeom>
            <a:noFill/>
            <a:ln w="9525" cap="flat" cmpd="sng">
              <a:solidFill>
                <a:schemeClr val="dk1"/>
              </a:solidFill>
              <a:prstDash val="solid"/>
              <a:round/>
              <a:headEnd type="none" w="sm" len="sm"/>
              <a:tailEnd type="none" w="sm" len="sm"/>
            </a:ln>
          </p:spPr>
        </p:cxnSp>
        <p:sp>
          <p:nvSpPr>
            <p:cNvPr id="1058" name="Google Shape;1058;p67"/>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1059" name="Google Shape;1059;p67"/>
          <p:cNvGrpSpPr/>
          <p:nvPr/>
        </p:nvGrpSpPr>
        <p:grpSpPr>
          <a:xfrm>
            <a:off x="1172817" y="3092828"/>
            <a:ext cx="1004628" cy="1247356"/>
            <a:chOff x="1727200" y="685800"/>
            <a:chExt cx="685800" cy="1143000"/>
          </a:xfrm>
        </p:grpSpPr>
        <p:sp>
          <p:nvSpPr>
            <p:cNvPr id="1060" name="Google Shape;1060;p67"/>
            <p:cNvSpPr/>
            <p:nvPr/>
          </p:nvSpPr>
          <p:spPr>
            <a:xfrm>
              <a:off x="2260600" y="6858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61" name="Google Shape;1061;p67"/>
            <p:cNvSpPr/>
            <p:nvPr/>
          </p:nvSpPr>
          <p:spPr>
            <a:xfrm>
              <a:off x="1727200"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62" name="Google Shape;1062;p67"/>
            <p:cNvCxnSpPr>
              <a:stCxn id="1061" idx="7"/>
              <a:endCxn id="1060" idx="3"/>
            </p:cNvCxnSpPr>
            <p:nvPr/>
          </p:nvCxnSpPr>
          <p:spPr>
            <a:xfrm rot="10800000" flipH="1">
              <a:off x="1857282" y="815818"/>
              <a:ext cx="425700" cy="8829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1063" name="Google Shape;1063;p67"/>
            <p:cNvCxnSpPr>
              <a:endCxn id="1060" idx="4"/>
            </p:cNvCxnSpPr>
            <p:nvPr/>
          </p:nvCxnSpPr>
          <p:spPr>
            <a:xfrm rot="10800000" flipH="1">
              <a:off x="2290900" y="838200"/>
              <a:ext cx="45900" cy="9144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1064" name="Google Shape;1064;p67"/>
            <p:cNvCxnSpPr>
              <a:stCxn id="1061" idx="6"/>
            </p:cNvCxnSpPr>
            <p:nvPr/>
          </p:nvCxnSpPr>
          <p:spPr>
            <a:xfrm>
              <a:off x="1879600" y="1752600"/>
              <a:ext cx="434100" cy="0"/>
            </a:xfrm>
            <a:prstGeom prst="straightConnector1">
              <a:avLst/>
            </a:prstGeom>
            <a:solidFill>
              <a:schemeClr val="lt1"/>
            </a:solidFill>
            <a:ln w="12700" cap="flat" cmpd="sng">
              <a:solidFill>
                <a:schemeClr val="dk1"/>
              </a:solidFill>
              <a:prstDash val="dot"/>
              <a:miter lim="800000"/>
              <a:headEnd type="none" w="sm" len="sm"/>
              <a:tailEnd type="none" w="sm" len="sm"/>
            </a:ln>
          </p:spPr>
        </p:cxnSp>
        <p:sp>
          <p:nvSpPr>
            <p:cNvPr id="1065" name="Google Shape;1065;p67"/>
            <p:cNvSpPr/>
            <p:nvPr/>
          </p:nvSpPr>
          <p:spPr>
            <a:xfrm>
              <a:off x="2210594"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sp>
        <p:nvSpPr>
          <p:cNvPr id="1066" name="Google Shape;1066;p67"/>
          <p:cNvSpPr/>
          <p:nvPr/>
        </p:nvSpPr>
        <p:spPr>
          <a:xfrm rot="4130797">
            <a:off x="5284010" y="4002162"/>
            <a:ext cx="394052" cy="504172"/>
          </a:xfrm>
          <a:prstGeom prst="arc">
            <a:avLst>
              <a:gd name="adj1" fmla="val 17511222"/>
              <a:gd name="adj2" fmla="val 1682414"/>
            </a:avLst>
          </a:prstGeom>
          <a:noFill/>
          <a:ln w="28575" cap="flat" cmpd="sng">
            <a:solidFill>
              <a:schemeClr val="accent1"/>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67" name="Google Shape;1067;p67"/>
          <p:cNvSpPr/>
          <p:nvPr/>
        </p:nvSpPr>
        <p:spPr>
          <a:xfrm>
            <a:off x="4478198" y="1574579"/>
            <a:ext cx="351900" cy="16560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068" name="Google Shape;1068;p67"/>
          <p:cNvCxnSpPr/>
          <p:nvPr/>
        </p:nvCxnSpPr>
        <p:spPr>
          <a:xfrm>
            <a:off x="1294524" y="4260986"/>
            <a:ext cx="2149800" cy="0"/>
          </a:xfrm>
          <a:prstGeom prst="straightConnector1">
            <a:avLst/>
          </a:prstGeom>
          <a:noFill/>
          <a:ln w="9525" cap="flat" cmpd="sng">
            <a:solidFill>
              <a:schemeClr val="dk1"/>
            </a:solidFill>
            <a:prstDash val="solid"/>
            <a:round/>
            <a:headEnd type="none" w="sm" len="sm"/>
            <a:tailEnd type="triangle" w="med" len="med"/>
          </a:ln>
        </p:spPr>
      </p:cxnSp>
      <p:cxnSp>
        <p:nvCxnSpPr>
          <p:cNvPr id="1069" name="Google Shape;1069;p67"/>
          <p:cNvCxnSpPr/>
          <p:nvPr/>
        </p:nvCxnSpPr>
        <p:spPr>
          <a:xfrm rot="10800000">
            <a:off x="1294524" y="2859686"/>
            <a:ext cx="0" cy="1401300"/>
          </a:xfrm>
          <a:prstGeom prst="straightConnector1">
            <a:avLst/>
          </a:prstGeom>
          <a:noFill/>
          <a:ln w="9525" cap="flat" cmpd="sng">
            <a:solidFill>
              <a:schemeClr val="dk1"/>
            </a:solidFill>
            <a:prstDash val="solid"/>
            <a:round/>
            <a:headEnd type="none" w="sm" len="sm"/>
            <a:tailEnd type="triangle" w="med" len="med"/>
          </a:ln>
        </p:spPr>
      </p:cxnSp>
      <p:sp>
        <p:nvSpPr>
          <p:cNvPr id="1070" name="Google Shape;1070;p67"/>
          <p:cNvSpPr txBox="1"/>
          <p:nvPr/>
        </p:nvSpPr>
        <p:spPr>
          <a:xfrm>
            <a:off x="2043096" y="3555231"/>
            <a:ext cx="14013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P(h,k)</a:t>
            </a:r>
            <a:endParaRPr sz="1400" b="0" i="0" u="none" strike="noStrike" cap="none">
              <a:solidFill>
                <a:srgbClr val="000000"/>
              </a:solidFill>
              <a:latin typeface="Arial"/>
              <a:ea typeface="Arial"/>
              <a:cs typeface="Arial"/>
              <a:sym typeface="Arial"/>
            </a:endParaRPr>
          </a:p>
        </p:txBody>
      </p:sp>
      <p:sp>
        <p:nvSpPr>
          <p:cNvPr id="1071" name="Google Shape;1071;p67"/>
          <p:cNvSpPr txBox="1"/>
          <p:nvPr/>
        </p:nvSpPr>
        <p:spPr>
          <a:xfrm>
            <a:off x="4174301" y="962529"/>
            <a:ext cx="11832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Translate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(-h,-k)</a:t>
            </a:r>
            <a:endParaRPr sz="1400" b="0" i="0" u="none" strike="noStrike" cap="none">
              <a:solidFill>
                <a:srgbClr val="000000"/>
              </a:solidFill>
              <a:latin typeface="Arial"/>
              <a:ea typeface="Arial"/>
              <a:cs typeface="Arial"/>
              <a:sym typeface="Arial"/>
            </a:endParaRPr>
          </a:p>
        </p:txBody>
      </p:sp>
      <p:cxnSp>
        <p:nvCxnSpPr>
          <p:cNvPr id="1072" name="Google Shape;1072;p67"/>
          <p:cNvCxnSpPr/>
          <p:nvPr/>
        </p:nvCxnSpPr>
        <p:spPr>
          <a:xfrm>
            <a:off x="5424240" y="4273473"/>
            <a:ext cx="2149800" cy="0"/>
          </a:xfrm>
          <a:prstGeom prst="straightConnector1">
            <a:avLst/>
          </a:prstGeom>
          <a:noFill/>
          <a:ln w="9525" cap="flat" cmpd="sng">
            <a:solidFill>
              <a:schemeClr val="dk1"/>
            </a:solidFill>
            <a:prstDash val="solid"/>
            <a:round/>
            <a:headEnd type="none" w="sm" len="sm"/>
            <a:tailEnd type="triangle" w="med" len="med"/>
          </a:ln>
        </p:spPr>
      </p:cxnSp>
      <p:cxnSp>
        <p:nvCxnSpPr>
          <p:cNvPr id="1073" name="Google Shape;1073;p67"/>
          <p:cNvCxnSpPr/>
          <p:nvPr/>
        </p:nvCxnSpPr>
        <p:spPr>
          <a:xfrm rot="10800000">
            <a:off x="5424240" y="2872173"/>
            <a:ext cx="0" cy="1401300"/>
          </a:xfrm>
          <a:prstGeom prst="straightConnector1">
            <a:avLst/>
          </a:prstGeom>
          <a:noFill/>
          <a:ln w="9525" cap="flat" cmpd="sng">
            <a:solidFill>
              <a:schemeClr val="dk1"/>
            </a:solidFill>
            <a:prstDash val="solid"/>
            <a:round/>
            <a:headEnd type="none" w="sm" len="sm"/>
            <a:tailEnd type="triangle" w="med" len="med"/>
          </a:ln>
        </p:spPr>
      </p:cxnSp>
      <p:sp>
        <p:nvSpPr>
          <p:cNvPr id="1074" name="Google Shape;1074;p67"/>
          <p:cNvSpPr/>
          <p:nvPr/>
        </p:nvSpPr>
        <p:spPr>
          <a:xfrm rot="5400000">
            <a:off x="6557714" y="2765448"/>
            <a:ext cx="262200" cy="222300"/>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5" name="Google Shape;1075;p67"/>
          <p:cNvSpPr txBox="1"/>
          <p:nvPr/>
        </p:nvSpPr>
        <p:spPr>
          <a:xfrm>
            <a:off x="6837922" y="2667588"/>
            <a:ext cx="16797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Scale(1.5, 1.5)</a:t>
            </a:r>
            <a:endParaRPr sz="1400" b="0" i="0" u="none" strike="noStrike" cap="none">
              <a:solidFill>
                <a:srgbClr val="000000"/>
              </a:solidFill>
              <a:latin typeface="Arial"/>
              <a:ea typeface="Arial"/>
              <a:cs typeface="Arial"/>
              <a:sym typeface="Arial"/>
            </a:endParaRPr>
          </a:p>
        </p:txBody>
      </p:sp>
      <p:sp>
        <p:nvSpPr>
          <p:cNvPr id="1076" name="Google Shape;1076;p67"/>
          <p:cNvSpPr/>
          <p:nvPr/>
        </p:nvSpPr>
        <p:spPr>
          <a:xfrm rot="10688576">
            <a:off x="4130535" y="3575523"/>
            <a:ext cx="351785" cy="165878"/>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7" name="Google Shape;1077;p67"/>
          <p:cNvSpPr txBox="1"/>
          <p:nvPr/>
        </p:nvSpPr>
        <p:spPr>
          <a:xfrm>
            <a:off x="3890284" y="3034338"/>
            <a:ext cx="1475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Translate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66"/>
              </a:buClr>
              <a:buSzPts val="1600"/>
              <a:buFont typeface="Noto Sans Symbols"/>
              <a:buNone/>
            </a:pPr>
            <a:r>
              <a:rPr lang="en-US" sz="1600" b="1" i="1" u="none" strike="noStrike" cap="none">
                <a:solidFill>
                  <a:srgbClr val="000066"/>
                </a:solidFill>
                <a:latin typeface="Garamond"/>
                <a:ea typeface="Garamond"/>
                <a:cs typeface="Garamond"/>
                <a:sym typeface="Garamond"/>
              </a:rPr>
              <a:t>(h,k)</a:t>
            </a:r>
            <a:endParaRPr sz="1400" b="0" i="0" u="none" strike="noStrike" cap="none">
              <a:solidFill>
                <a:srgbClr val="000000"/>
              </a:solidFill>
              <a:latin typeface="Arial"/>
              <a:ea typeface="Arial"/>
              <a:cs typeface="Arial"/>
              <a:sym typeface="Arial"/>
            </a:endParaRPr>
          </a:p>
        </p:txBody>
      </p:sp>
      <p:grpSp>
        <p:nvGrpSpPr>
          <p:cNvPr id="1078" name="Google Shape;1078;p67"/>
          <p:cNvGrpSpPr/>
          <p:nvPr/>
        </p:nvGrpSpPr>
        <p:grpSpPr>
          <a:xfrm>
            <a:off x="6844998" y="958973"/>
            <a:ext cx="604670" cy="750722"/>
            <a:chOff x="1727200" y="685800"/>
            <a:chExt cx="685800" cy="1143000"/>
          </a:xfrm>
        </p:grpSpPr>
        <p:sp>
          <p:nvSpPr>
            <p:cNvPr id="1079" name="Google Shape;1079;p67"/>
            <p:cNvSpPr/>
            <p:nvPr/>
          </p:nvSpPr>
          <p:spPr>
            <a:xfrm>
              <a:off x="2260600" y="6858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80" name="Google Shape;1080;p67"/>
            <p:cNvSpPr/>
            <p:nvPr/>
          </p:nvSpPr>
          <p:spPr>
            <a:xfrm>
              <a:off x="1727200"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81" name="Google Shape;1081;p67"/>
            <p:cNvCxnSpPr>
              <a:stCxn id="1080" idx="7"/>
              <a:endCxn id="1079" idx="3"/>
            </p:cNvCxnSpPr>
            <p:nvPr/>
          </p:nvCxnSpPr>
          <p:spPr>
            <a:xfrm rot="10800000" flipH="1">
              <a:off x="1857282" y="815818"/>
              <a:ext cx="425700" cy="8829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1082" name="Google Shape;1082;p67"/>
            <p:cNvCxnSpPr>
              <a:endCxn id="1079" idx="4"/>
            </p:cNvCxnSpPr>
            <p:nvPr/>
          </p:nvCxnSpPr>
          <p:spPr>
            <a:xfrm rot="10800000" flipH="1">
              <a:off x="2290900" y="838200"/>
              <a:ext cx="45900" cy="914400"/>
            </a:xfrm>
            <a:prstGeom prst="straightConnector1">
              <a:avLst/>
            </a:prstGeom>
            <a:solidFill>
              <a:schemeClr val="lt1"/>
            </a:solidFill>
            <a:ln w="12700" cap="flat" cmpd="sng">
              <a:solidFill>
                <a:schemeClr val="dk1"/>
              </a:solidFill>
              <a:prstDash val="dot"/>
              <a:miter lim="800000"/>
              <a:headEnd type="none" w="sm" len="sm"/>
              <a:tailEnd type="none" w="sm" len="sm"/>
            </a:ln>
          </p:spPr>
        </p:cxnSp>
        <p:cxnSp>
          <p:nvCxnSpPr>
            <p:cNvPr id="1083" name="Google Shape;1083;p67"/>
            <p:cNvCxnSpPr>
              <a:stCxn id="1080" idx="6"/>
            </p:cNvCxnSpPr>
            <p:nvPr/>
          </p:nvCxnSpPr>
          <p:spPr>
            <a:xfrm>
              <a:off x="1879600" y="1752600"/>
              <a:ext cx="434100" cy="0"/>
            </a:xfrm>
            <a:prstGeom prst="straightConnector1">
              <a:avLst/>
            </a:prstGeom>
            <a:solidFill>
              <a:schemeClr val="lt1"/>
            </a:solidFill>
            <a:ln w="12700" cap="flat" cmpd="sng">
              <a:solidFill>
                <a:schemeClr val="dk1"/>
              </a:solidFill>
              <a:prstDash val="dot"/>
              <a:miter lim="800000"/>
              <a:headEnd type="none" w="sm" len="sm"/>
              <a:tailEnd type="none" w="sm" len="sm"/>
            </a:ln>
          </p:spPr>
        </p:cxnSp>
        <p:sp>
          <p:nvSpPr>
            <p:cNvPr id="1084" name="Google Shape;1084;p67"/>
            <p:cNvSpPr/>
            <p:nvPr/>
          </p:nvSpPr>
          <p:spPr>
            <a:xfrm>
              <a:off x="2210594" y="1676400"/>
              <a:ext cx="152400" cy="152400"/>
            </a:xfrm>
            <a:prstGeom prst="ellipse">
              <a:avLst/>
            </a:prstGeom>
            <a:solidFill>
              <a:schemeClr val="lt1"/>
            </a:solidFill>
            <a:ln w="127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cxnSp>
        <p:nvCxnSpPr>
          <p:cNvPr id="1085" name="Google Shape;1085;p67"/>
          <p:cNvCxnSpPr>
            <a:stCxn id="1080" idx="3"/>
            <a:endCxn id="1054" idx="7"/>
          </p:cNvCxnSpPr>
          <p:nvPr/>
        </p:nvCxnSpPr>
        <p:spPr>
          <a:xfrm flipH="1">
            <a:off x="6009376" y="1695036"/>
            <a:ext cx="855300" cy="6228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86" name="Google Shape;1086;p67"/>
          <p:cNvCxnSpPr>
            <a:stCxn id="1069" idx="0"/>
          </p:cNvCxnSpPr>
          <p:nvPr/>
        </p:nvCxnSpPr>
        <p:spPr>
          <a:xfrm rot="10800000" flipH="1">
            <a:off x="1294524" y="3541286"/>
            <a:ext cx="928800" cy="719700"/>
          </a:xfrm>
          <a:prstGeom prst="straightConnector1">
            <a:avLst/>
          </a:prstGeom>
          <a:noFill/>
          <a:ln w="9525" cap="flat" cmpd="sng">
            <a:solidFill>
              <a:schemeClr val="accent1"/>
            </a:solidFill>
            <a:prstDash val="solid"/>
            <a:miter lim="800000"/>
            <a:headEnd type="none" w="sm" len="sm"/>
            <a:tailEnd type="triangle" w="med" len="med"/>
          </a:ln>
        </p:spPr>
      </p:cxnSp>
      <p:grpSp>
        <p:nvGrpSpPr>
          <p:cNvPr id="1087" name="Google Shape;1087;p67"/>
          <p:cNvGrpSpPr/>
          <p:nvPr/>
        </p:nvGrpSpPr>
        <p:grpSpPr>
          <a:xfrm>
            <a:off x="5430842" y="3203993"/>
            <a:ext cx="1004628" cy="1247356"/>
            <a:chOff x="1727200" y="685800"/>
            <a:chExt cx="685800" cy="1143000"/>
          </a:xfrm>
        </p:grpSpPr>
        <p:sp>
          <p:nvSpPr>
            <p:cNvPr id="1088" name="Google Shape;1088;p67"/>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89" name="Google Shape;1089;p67"/>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90" name="Google Shape;1090;p67"/>
            <p:cNvCxnSpPr>
              <a:stCxn id="1089" idx="7"/>
              <a:endCxn id="1088" idx="3"/>
            </p:cNvCxnSpPr>
            <p:nvPr/>
          </p:nvCxnSpPr>
          <p:spPr>
            <a:xfrm rot="10800000" flipH="1">
              <a:off x="1857282" y="815818"/>
              <a:ext cx="425700" cy="882900"/>
            </a:xfrm>
            <a:prstGeom prst="straightConnector1">
              <a:avLst/>
            </a:prstGeom>
            <a:noFill/>
            <a:ln w="9525" cap="flat" cmpd="sng">
              <a:solidFill>
                <a:schemeClr val="dk1"/>
              </a:solidFill>
              <a:prstDash val="solid"/>
              <a:round/>
              <a:headEnd type="none" w="sm" len="sm"/>
              <a:tailEnd type="none" w="sm" len="sm"/>
            </a:ln>
          </p:spPr>
        </p:cxnSp>
        <p:cxnSp>
          <p:nvCxnSpPr>
            <p:cNvPr id="1091" name="Google Shape;1091;p67"/>
            <p:cNvCxnSpPr>
              <a:endCxn id="1088" idx="4"/>
            </p:cNvCxnSpPr>
            <p:nvPr/>
          </p:nvCxnSpPr>
          <p:spPr>
            <a:xfrm rot="10800000" flipH="1">
              <a:off x="2290900" y="838200"/>
              <a:ext cx="45900" cy="914400"/>
            </a:xfrm>
            <a:prstGeom prst="straightConnector1">
              <a:avLst/>
            </a:prstGeom>
            <a:noFill/>
            <a:ln w="9525" cap="flat" cmpd="sng">
              <a:solidFill>
                <a:schemeClr val="dk1"/>
              </a:solidFill>
              <a:prstDash val="solid"/>
              <a:round/>
              <a:headEnd type="none" w="sm" len="sm"/>
              <a:tailEnd type="none" w="sm" len="sm"/>
            </a:ln>
          </p:spPr>
        </p:cxnSp>
        <p:cxnSp>
          <p:nvCxnSpPr>
            <p:cNvPr id="1092" name="Google Shape;1092;p67"/>
            <p:cNvCxnSpPr>
              <a:stCxn id="1089" idx="6"/>
            </p:cNvCxnSpPr>
            <p:nvPr/>
          </p:nvCxnSpPr>
          <p:spPr>
            <a:xfrm>
              <a:off x="1879600" y="1752600"/>
              <a:ext cx="434100" cy="0"/>
            </a:xfrm>
            <a:prstGeom prst="straightConnector1">
              <a:avLst/>
            </a:prstGeom>
            <a:noFill/>
            <a:ln w="9525" cap="flat" cmpd="sng">
              <a:solidFill>
                <a:schemeClr val="dk1"/>
              </a:solidFill>
              <a:prstDash val="solid"/>
              <a:round/>
              <a:headEnd type="none" w="sm" len="sm"/>
              <a:tailEnd type="none" w="sm" len="sm"/>
            </a:ln>
          </p:spPr>
        </p:cxnSp>
        <p:sp>
          <p:nvSpPr>
            <p:cNvPr id="1093" name="Google Shape;1093;p67"/>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1094" name="Google Shape;1094;p67"/>
          <p:cNvGrpSpPr/>
          <p:nvPr/>
        </p:nvGrpSpPr>
        <p:grpSpPr>
          <a:xfrm>
            <a:off x="2103444" y="2400680"/>
            <a:ext cx="1004628" cy="1247356"/>
            <a:chOff x="1727200" y="685800"/>
            <a:chExt cx="685800" cy="1143000"/>
          </a:xfrm>
        </p:grpSpPr>
        <p:sp>
          <p:nvSpPr>
            <p:cNvPr id="1095" name="Google Shape;1095;p67"/>
            <p:cNvSpPr/>
            <p:nvPr/>
          </p:nvSpPr>
          <p:spPr>
            <a:xfrm>
              <a:off x="2260600" y="6858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sp>
          <p:nvSpPr>
            <p:cNvPr id="1096" name="Google Shape;1096;p67"/>
            <p:cNvSpPr/>
            <p:nvPr/>
          </p:nvSpPr>
          <p:spPr>
            <a:xfrm>
              <a:off x="1727200"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cxnSp>
          <p:nvCxnSpPr>
            <p:cNvPr id="1097" name="Google Shape;1097;p67"/>
            <p:cNvCxnSpPr>
              <a:stCxn id="1096" idx="7"/>
              <a:endCxn id="1095" idx="3"/>
            </p:cNvCxnSpPr>
            <p:nvPr/>
          </p:nvCxnSpPr>
          <p:spPr>
            <a:xfrm rot="10800000" flipH="1">
              <a:off x="1857282" y="815818"/>
              <a:ext cx="425700" cy="882900"/>
            </a:xfrm>
            <a:prstGeom prst="straightConnector1">
              <a:avLst/>
            </a:prstGeom>
            <a:noFill/>
            <a:ln w="9525" cap="flat" cmpd="sng">
              <a:solidFill>
                <a:schemeClr val="dk1"/>
              </a:solidFill>
              <a:prstDash val="solid"/>
              <a:round/>
              <a:headEnd type="none" w="sm" len="sm"/>
              <a:tailEnd type="none" w="sm" len="sm"/>
            </a:ln>
          </p:spPr>
        </p:cxnSp>
        <p:cxnSp>
          <p:nvCxnSpPr>
            <p:cNvPr id="1098" name="Google Shape;1098;p67"/>
            <p:cNvCxnSpPr>
              <a:endCxn id="1095" idx="4"/>
            </p:cNvCxnSpPr>
            <p:nvPr/>
          </p:nvCxnSpPr>
          <p:spPr>
            <a:xfrm rot="10800000" flipH="1">
              <a:off x="2290900" y="838200"/>
              <a:ext cx="45900" cy="914400"/>
            </a:xfrm>
            <a:prstGeom prst="straightConnector1">
              <a:avLst/>
            </a:prstGeom>
            <a:noFill/>
            <a:ln w="9525" cap="flat" cmpd="sng">
              <a:solidFill>
                <a:schemeClr val="dk1"/>
              </a:solidFill>
              <a:prstDash val="solid"/>
              <a:round/>
              <a:headEnd type="none" w="sm" len="sm"/>
              <a:tailEnd type="none" w="sm" len="sm"/>
            </a:ln>
          </p:spPr>
        </p:cxnSp>
        <p:cxnSp>
          <p:nvCxnSpPr>
            <p:cNvPr id="1099" name="Google Shape;1099;p67"/>
            <p:cNvCxnSpPr>
              <a:stCxn id="1096" idx="6"/>
            </p:cNvCxnSpPr>
            <p:nvPr/>
          </p:nvCxnSpPr>
          <p:spPr>
            <a:xfrm>
              <a:off x="1879600" y="1752600"/>
              <a:ext cx="434100" cy="0"/>
            </a:xfrm>
            <a:prstGeom prst="straightConnector1">
              <a:avLst/>
            </a:prstGeom>
            <a:noFill/>
            <a:ln w="9525" cap="flat" cmpd="sng">
              <a:solidFill>
                <a:schemeClr val="dk1"/>
              </a:solidFill>
              <a:prstDash val="solid"/>
              <a:round/>
              <a:headEnd type="none" w="sm" len="sm"/>
              <a:tailEnd type="none" w="sm" len="sm"/>
            </a:ln>
          </p:spPr>
        </p:cxnSp>
        <p:sp>
          <p:nvSpPr>
            <p:cNvPr id="1100" name="Google Shape;1100;p67"/>
            <p:cNvSpPr/>
            <p:nvPr/>
          </p:nvSpPr>
          <p:spPr>
            <a:xfrm>
              <a:off x="2210594" y="1676400"/>
              <a:ext cx="152400" cy="152400"/>
            </a:xfrm>
            <a:prstGeom prst="ellipse">
              <a:avLst/>
            </a:prstGeom>
            <a:solidFill>
              <a:srgbClr val="FF0000"/>
            </a:solidFill>
            <a:ln w="9525"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6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55</a:t>
            </a:fld>
            <a:endParaRPr sz="900"/>
          </a:p>
        </p:txBody>
      </p:sp>
      <p:sp>
        <p:nvSpPr>
          <p:cNvPr id="1106" name="Google Shape;1106;p68"/>
          <p:cNvSpPr txBox="1"/>
          <p:nvPr/>
        </p:nvSpPr>
        <p:spPr>
          <a:xfrm>
            <a:off x="457200" y="1321594"/>
            <a:ext cx="8229600" cy="3364800"/>
          </a:xfrm>
          <a:prstGeom prst="rect">
            <a:avLst/>
          </a:prstGeom>
          <a:noFill/>
          <a:ln>
            <a:noFill/>
          </a:ln>
        </p:spPr>
        <p:txBody>
          <a:bodyPr spcFirstLastPara="1" wrap="square" lIns="91425" tIns="45700" rIns="91425" bIns="45700" anchor="t" anchorCtr="0">
            <a:noAutofit/>
          </a:bodyPr>
          <a:lstStyle/>
          <a:p>
            <a:pPr marL="342900" marR="0" lvl="0" indent="-149860" algn="l" rtl="0">
              <a:lnSpc>
                <a:spcPct val="100000"/>
              </a:lnSpc>
              <a:spcBef>
                <a:spcPts val="0"/>
              </a:spcBef>
              <a:spcAft>
                <a:spcPts val="0"/>
              </a:spcAft>
              <a:buClr>
                <a:schemeClr val="dk2"/>
              </a:buClr>
              <a:buSzPts val="3040"/>
              <a:buFont typeface="Noto Sans Symbols"/>
              <a:buNone/>
            </a:pPr>
            <a:endParaRPr sz="3200" b="0" i="0" u="none" strike="noStrike" cap="none">
              <a:solidFill>
                <a:schemeClr val="dk1"/>
              </a:solidFill>
              <a:latin typeface="Calibri"/>
              <a:ea typeface="Calibri"/>
              <a:cs typeface="Calibri"/>
              <a:sym typeface="Calibri"/>
            </a:endParaRPr>
          </a:p>
          <a:p>
            <a:pPr marL="742950" marR="0" lvl="1" indent="-107950" algn="l" rtl="0">
              <a:lnSpc>
                <a:spcPct val="100000"/>
              </a:lnSpc>
              <a:spcBef>
                <a:spcPts val="560"/>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a:p>
            <a:pPr marL="342900" marR="0" lvl="0" indent="-149860" algn="l" rtl="0">
              <a:lnSpc>
                <a:spcPct val="100000"/>
              </a:lnSpc>
              <a:spcBef>
                <a:spcPts val="640"/>
              </a:spcBef>
              <a:spcAft>
                <a:spcPts val="0"/>
              </a:spcAft>
              <a:buClr>
                <a:schemeClr val="dk2"/>
              </a:buClr>
              <a:buSzPts val="3040"/>
              <a:buFont typeface="Noto Sans Symbols"/>
              <a:buNone/>
            </a:pPr>
            <a:endParaRPr sz="3200" b="0" i="0" u="none" strike="noStrike" cap="none">
              <a:solidFill>
                <a:schemeClr val="dk1"/>
              </a:solidFill>
              <a:latin typeface="Calibri"/>
              <a:ea typeface="Calibri"/>
              <a:cs typeface="Calibri"/>
              <a:sym typeface="Calibri"/>
            </a:endParaRPr>
          </a:p>
        </p:txBody>
      </p:sp>
      <p:pic>
        <p:nvPicPr>
          <p:cNvPr id="1107" name="Google Shape;1107;p68"/>
          <p:cNvPicPr preferRelativeResize="0"/>
          <p:nvPr/>
        </p:nvPicPr>
        <p:blipFill rotWithShape="1">
          <a:blip r:embed="rId3">
            <a:alphaModFix/>
          </a:blip>
          <a:srcRect/>
          <a:stretch/>
        </p:blipFill>
        <p:spPr>
          <a:xfrm>
            <a:off x="2758325" y="2571741"/>
            <a:ext cx="3212306" cy="1028700"/>
          </a:xfrm>
          <a:prstGeom prst="rect">
            <a:avLst/>
          </a:prstGeom>
          <a:noFill/>
          <a:ln>
            <a:noFill/>
          </a:ln>
        </p:spPr>
      </p:pic>
      <p:sp>
        <p:nvSpPr>
          <p:cNvPr id="1108" name="Google Shape;1108;p68"/>
          <p:cNvSpPr txBox="1"/>
          <p:nvPr/>
        </p:nvSpPr>
        <p:spPr>
          <a:xfrm>
            <a:off x="1929650" y="1205009"/>
            <a:ext cx="4410900" cy="3039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09" name="Google Shape;1109;p68"/>
          <p:cNvSpPr txBox="1"/>
          <p:nvPr/>
        </p:nvSpPr>
        <p:spPr>
          <a:xfrm>
            <a:off x="912500" y="1780637"/>
            <a:ext cx="6445200" cy="3039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6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56</a:t>
            </a:fld>
            <a:endParaRPr sz="900"/>
          </a:p>
        </p:txBody>
      </p:sp>
      <p:sp>
        <p:nvSpPr>
          <p:cNvPr id="1115" name="Google Shape;1115;p69"/>
          <p:cNvSpPr txBox="1"/>
          <p:nvPr/>
        </p:nvSpPr>
        <p:spPr>
          <a:xfrm>
            <a:off x="1077025" y="716625"/>
            <a:ext cx="7620000" cy="1262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Calibri"/>
                <a:ea typeface="Calibri"/>
                <a:cs typeface="Calibri"/>
                <a:sym typeface="Calibri"/>
              </a:rPr>
              <a:t>Suppose, a composite transformation is defined as scaling 2 times in both axis with respect to point (5, 5). Calculate the composite transformation matrix in homogeneous form. Then, find the new coordinates of the point (10, 10) after transformation.</a:t>
            </a:r>
            <a:endParaRPr sz="1700" b="0" i="0" u="none" strike="noStrike" cap="none">
              <a:solidFill>
                <a:srgbClr val="000000"/>
              </a:solidFill>
              <a:latin typeface="Arial"/>
              <a:ea typeface="Arial"/>
              <a:cs typeface="Arial"/>
              <a:sym typeface="Arial"/>
            </a:endParaRPr>
          </a:p>
        </p:txBody>
      </p:sp>
      <p:sp>
        <p:nvSpPr>
          <p:cNvPr id="1116" name="Google Shape;1116;p69"/>
          <p:cNvSpPr txBox="1"/>
          <p:nvPr/>
        </p:nvSpPr>
        <p:spPr>
          <a:xfrm>
            <a:off x="296925" y="2343674"/>
            <a:ext cx="6400200" cy="3039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117" name="Google Shape;1117;p69"/>
          <p:cNvPicPr preferRelativeResize="0"/>
          <p:nvPr/>
        </p:nvPicPr>
        <p:blipFill rotWithShape="1">
          <a:blip r:embed="rId4">
            <a:alphaModFix/>
          </a:blip>
          <a:srcRect/>
          <a:stretch/>
        </p:blipFill>
        <p:spPr>
          <a:xfrm>
            <a:off x="1461175" y="2787722"/>
            <a:ext cx="3157538" cy="20574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p7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57</a:t>
            </a:fld>
            <a:endParaRPr sz="900"/>
          </a:p>
        </p:txBody>
      </p:sp>
      <p:sp>
        <p:nvSpPr>
          <p:cNvPr id="1123" name="Google Shape;1123;p70"/>
          <p:cNvSpPr txBox="1"/>
          <p:nvPr/>
        </p:nvSpPr>
        <p:spPr>
          <a:xfrm>
            <a:off x="1538925" y="1018403"/>
            <a:ext cx="2457600" cy="492000"/>
          </a:xfrm>
          <a:prstGeom prst="rect">
            <a:avLst/>
          </a:prstGeom>
          <a:blipFill rotWithShape="1">
            <a:blip r:embed="rId3">
              <a:alphaModFix/>
            </a:blip>
            <a:stretch>
              <a:fillRect t="-163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124" name="Google Shape;1124;p70"/>
          <p:cNvPicPr preferRelativeResize="0"/>
          <p:nvPr/>
        </p:nvPicPr>
        <p:blipFill rotWithShape="1">
          <a:blip r:embed="rId4">
            <a:alphaModFix/>
          </a:blip>
          <a:srcRect/>
          <a:stretch/>
        </p:blipFill>
        <p:spPr>
          <a:xfrm>
            <a:off x="1712913" y="1828800"/>
            <a:ext cx="1707356" cy="2057399"/>
          </a:xfrm>
          <a:prstGeom prst="rect">
            <a:avLst/>
          </a:prstGeom>
          <a:noFill/>
          <a:ln>
            <a:noFill/>
          </a:ln>
        </p:spPr>
      </p:pic>
      <p:sp>
        <p:nvSpPr>
          <p:cNvPr id="1125" name="Google Shape;1125;p70"/>
          <p:cNvSpPr txBox="1"/>
          <p:nvPr/>
        </p:nvSpPr>
        <p:spPr>
          <a:xfrm>
            <a:off x="1570350" y="4124831"/>
            <a:ext cx="49068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chemeClr val="dk1"/>
                </a:solidFill>
                <a:latin typeface="Calibri"/>
                <a:ea typeface="Calibri"/>
                <a:cs typeface="Calibri"/>
                <a:sym typeface="Calibri"/>
              </a:rPr>
              <a:t>So, the new coordinate of P is (15, 15)</a:t>
            </a:r>
            <a:endParaRPr sz="17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71"/>
          <p:cNvSpPr txBox="1">
            <a:spLocks noGrp="1"/>
          </p:cNvSpPr>
          <p:nvPr>
            <p:ph type="sldNum" idx="12"/>
          </p:nvPr>
        </p:nvSpPr>
        <p:spPr>
          <a:xfrm>
            <a:off x="7496177" y="4734762"/>
            <a:ext cx="1555500" cy="320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58</a:t>
            </a:fld>
            <a:endParaRPr sz="900"/>
          </a:p>
        </p:txBody>
      </p:sp>
      <p:pic>
        <p:nvPicPr>
          <p:cNvPr id="1131" name="Google Shape;1131;p71"/>
          <p:cNvPicPr preferRelativeResize="0"/>
          <p:nvPr/>
        </p:nvPicPr>
        <p:blipFill rotWithShape="1">
          <a:blip r:embed="rId3">
            <a:alphaModFix/>
          </a:blip>
          <a:srcRect/>
          <a:stretch/>
        </p:blipFill>
        <p:spPr>
          <a:xfrm>
            <a:off x="1595918" y="1100629"/>
            <a:ext cx="2229424" cy="1867647"/>
          </a:xfrm>
          <a:prstGeom prst="rect">
            <a:avLst/>
          </a:prstGeom>
          <a:noFill/>
          <a:ln>
            <a:noFill/>
          </a:ln>
        </p:spPr>
      </p:pic>
      <p:pic>
        <p:nvPicPr>
          <p:cNvPr id="1132" name="Google Shape;1132;p71"/>
          <p:cNvPicPr preferRelativeResize="0"/>
          <p:nvPr/>
        </p:nvPicPr>
        <p:blipFill rotWithShape="1">
          <a:blip r:embed="rId4">
            <a:alphaModFix/>
          </a:blip>
          <a:srcRect/>
          <a:stretch/>
        </p:blipFill>
        <p:spPr>
          <a:xfrm>
            <a:off x="4136462" y="1086263"/>
            <a:ext cx="2229424" cy="1867647"/>
          </a:xfrm>
          <a:prstGeom prst="rect">
            <a:avLst/>
          </a:prstGeom>
          <a:noFill/>
          <a:ln>
            <a:noFill/>
          </a:ln>
        </p:spPr>
      </p:pic>
      <p:pic>
        <p:nvPicPr>
          <p:cNvPr id="1133" name="Google Shape;1133;p71"/>
          <p:cNvPicPr preferRelativeResize="0"/>
          <p:nvPr/>
        </p:nvPicPr>
        <p:blipFill rotWithShape="1">
          <a:blip r:embed="rId5">
            <a:alphaModFix/>
          </a:blip>
          <a:srcRect/>
          <a:stretch/>
        </p:blipFill>
        <p:spPr>
          <a:xfrm>
            <a:off x="6697724" y="1086263"/>
            <a:ext cx="2229424" cy="1867647"/>
          </a:xfrm>
          <a:prstGeom prst="rect">
            <a:avLst/>
          </a:prstGeom>
          <a:noFill/>
          <a:ln>
            <a:noFill/>
          </a:ln>
        </p:spPr>
      </p:pic>
      <p:pic>
        <p:nvPicPr>
          <p:cNvPr id="1134" name="Google Shape;1134;p71"/>
          <p:cNvPicPr preferRelativeResize="0"/>
          <p:nvPr/>
        </p:nvPicPr>
        <p:blipFill rotWithShape="1">
          <a:blip r:embed="rId6">
            <a:alphaModFix/>
          </a:blip>
          <a:srcRect/>
          <a:stretch/>
        </p:blipFill>
        <p:spPr>
          <a:xfrm>
            <a:off x="1585625" y="3183733"/>
            <a:ext cx="2229424" cy="1867647"/>
          </a:xfrm>
          <a:prstGeom prst="rect">
            <a:avLst/>
          </a:prstGeom>
          <a:noFill/>
          <a:ln>
            <a:noFill/>
          </a:ln>
        </p:spPr>
      </p:pic>
      <p:pic>
        <p:nvPicPr>
          <p:cNvPr id="1135" name="Google Shape;1135;p71"/>
          <p:cNvPicPr preferRelativeResize="0"/>
          <p:nvPr/>
        </p:nvPicPr>
        <p:blipFill rotWithShape="1">
          <a:blip r:embed="rId7">
            <a:alphaModFix/>
          </a:blip>
          <a:srcRect/>
          <a:stretch/>
        </p:blipFill>
        <p:spPr>
          <a:xfrm>
            <a:off x="4178765" y="3210713"/>
            <a:ext cx="2229424" cy="1867647"/>
          </a:xfrm>
          <a:prstGeom prst="rect">
            <a:avLst/>
          </a:prstGeom>
          <a:noFill/>
          <a:ln>
            <a:noFill/>
          </a:ln>
        </p:spPr>
      </p:pic>
      <p:pic>
        <p:nvPicPr>
          <p:cNvPr id="1136" name="Google Shape;1136;p71"/>
          <p:cNvPicPr preferRelativeResize="0"/>
          <p:nvPr/>
        </p:nvPicPr>
        <p:blipFill rotWithShape="1">
          <a:blip r:embed="rId8">
            <a:alphaModFix/>
          </a:blip>
          <a:srcRect/>
          <a:stretch/>
        </p:blipFill>
        <p:spPr>
          <a:xfrm>
            <a:off x="6724046" y="3210713"/>
            <a:ext cx="2229424" cy="1867647"/>
          </a:xfrm>
          <a:prstGeom prst="rect">
            <a:avLst/>
          </a:prstGeom>
          <a:noFill/>
          <a:ln>
            <a:noFill/>
          </a:ln>
        </p:spPr>
      </p:pic>
      <p:cxnSp>
        <p:nvCxnSpPr>
          <p:cNvPr id="1137" name="Google Shape;1137;p71"/>
          <p:cNvCxnSpPr/>
          <p:nvPr/>
        </p:nvCxnSpPr>
        <p:spPr>
          <a:xfrm>
            <a:off x="3753604" y="1906608"/>
            <a:ext cx="425100" cy="0"/>
          </a:xfrm>
          <a:prstGeom prst="straightConnector1">
            <a:avLst/>
          </a:prstGeom>
          <a:noFill/>
          <a:ln w="9525" cap="flat" cmpd="sng">
            <a:solidFill>
              <a:schemeClr val="dk1"/>
            </a:solidFill>
            <a:prstDash val="solid"/>
            <a:miter lim="800000"/>
            <a:headEnd type="none" w="sm" len="sm"/>
            <a:tailEnd type="triangle" w="med" len="med"/>
          </a:ln>
        </p:spPr>
      </p:cxnSp>
      <p:cxnSp>
        <p:nvCxnSpPr>
          <p:cNvPr id="1138" name="Google Shape;1138;p71"/>
          <p:cNvCxnSpPr/>
          <p:nvPr/>
        </p:nvCxnSpPr>
        <p:spPr>
          <a:xfrm>
            <a:off x="6511465" y="1847090"/>
            <a:ext cx="425100" cy="0"/>
          </a:xfrm>
          <a:prstGeom prst="straightConnector1">
            <a:avLst/>
          </a:prstGeom>
          <a:noFill/>
          <a:ln w="9525" cap="flat" cmpd="sng">
            <a:solidFill>
              <a:schemeClr val="dk1"/>
            </a:solidFill>
            <a:prstDash val="solid"/>
            <a:miter lim="800000"/>
            <a:headEnd type="none" w="sm" len="sm"/>
            <a:tailEnd type="triangle" w="med" len="med"/>
          </a:ln>
        </p:spPr>
      </p:cxnSp>
      <p:cxnSp>
        <p:nvCxnSpPr>
          <p:cNvPr id="1139" name="Google Shape;1139;p71"/>
          <p:cNvCxnSpPr/>
          <p:nvPr/>
        </p:nvCxnSpPr>
        <p:spPr>
          <a:xfrm>
            <a:off x="3711301" y="3827618"/>
            <a:ext cx="425100" cy="0"/>
          </a:xfrm>
          <a:prstGeom prst="straightConnector1">
            <a:avLst/>
          </a:prstGeom>
          <a:noFill/>
          <a:ln w="9525" cap="flat" cmpd="sng">
            <a:solidFill>
              <a:schemeClr val="dk1"/>
            </a:solidFill>
            <a:prstDash val="solid"/>
            <a:miter lim="800000"/>
            <a:headEnd type="none" w="sm" len="sm"/>
            <a:tailEnd type="triangle" w="med" len="med"/>
          </a:ln>
        </p:spPr>
      </p:cxnSp>
      <p:cxnSp>
        <p:nvCxnSpPr>
          <p:cNvPr id="1140" name="Google Shape;1140;p71"/>
          <p:cNvCxnSpPr/>
          <p:nvPr/>
        </p:nvCxnSpPr>
        <p:spPr>
          <a:xfrm>
            <a:off x="6485143" y="3720896"/>
            <a:ext cx="425100" cy="0"/>
          </a:xfrm>
          <a:prstGeom prst="straightConnector1">
            <a:avLst/>
          </a:prstGeom>
          <a:noFill/>
          <a:ln w="9525" cap="flat" cmpd="sng">
            <a:solidFill>
              <a:schemeClr val="dk1"/>
            </a:solidFill>
            <a:prstDash val="solid"/>
            <a:miter lim="800000"/>
            <a:headEnd type="none" w="sm" len="sm"/>
            <a:tailEnd type="triangle" w="med" len="med"/>
          </a:ln>
        </p:spPr>
      </p:cxnSp>
      <p:cxnSp>
        <p:nvCxnSpPr>
          <p:cNvPr id="1141" name="Google Shape;1141;p71"/>
          <p:cNvCxnSpPr/>
          <p:nvPr/>
        </p:nvCxnSpPr>
        <p:spPr>
          <a:xfrm flipH="1">
            <a:off x="3089127" y="2631434"/>
            <a:ext cx="3981900" cy="715800"/>
          </a:xfrm>
          <a:prstGeom prst="straightConnector1">
            <a:avLst/>
          </a:prstGeom>
          <a:noFill/>
          <a:ln w="9525" cap="flat" cmpd="sng">
            <a:solidFill>
              <a:schemeClr val="dk1"/>
            </a:solidFill>
            <a:prstDash val="solid"/>
            <a:miter lim="800000"/>
            <a:headEnd type="none" w="sm" len="sm"/>
            <a:tailEnd type="triangle" w="med" len="med"/>
          </a:ln>
        </p:spPr>
      </p:cxnSp>
      <p:sp>
        <p:nvSpPr>
          <p:cNvPr id="1142" name="Google Shape;1142;p71"/>
          <p:cNvSpPr txBox="1"/>
          <p:nvPr/>
        </p:nvSpPr>
        <p:spPr>
          <a:xfrm>
            <a:off x="2670177" y="1041829"/>
            <a:ext cx="8379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P(x,y)</a:t>
            </a:r>
            <a:endParaRPr sz="1400" b="0" i="0" u="none" strike="noStrike" cap="none">
              <a:solidFill>
                <a:srgbClr val="000000"/>
              </a:solidFill>
              <a:latin typeface="Arial"/>
              <a:ea typeface="Arial"/>
              <a:cs typeface="Arial"/>
              <a:sym typeface="Arial"/>
            </a:endParaRPr>
          </a:p>
        </p:txBody>
      </p:sp>
      <p:sp>
        <p:nvSpPr>
          <p:cNvPr id="1143" name="Google Shape;1143;p71"/>
          <p:cNvSpPr txBox="1"/>
          <p:nvPr/>
        </p:nvSpPr>
        <p:spPr>
          <a:xfrm>
            <a:off x="5354747" y="2862394"/>
            <a:ext cx="1555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Reflect(x axis)</a:t>
            </a:r>
            <a:endParaRPr sz="1400" b="0" i="0" u="none" strike="noStrike" cap="none">
              <a:solidFill>
                <a:srgbClr val="000000"/>
              </a:solidFill>
              <a:latin typeface="Arial"/>
              <a:ea typeface="Arial"/>
              <a:cs typeface="Arial"/>
              <a:sym typeface="Arial"/>
            </a:endParaRPr>
          </a:p>
        </p:txBody>
      </p:sp>
      <p:sp>
        <p:nvSpPr>
          <p:cNvPr id="1144" name="Google Shape;1144;p71"/>
          <p:cNvSpPr txBox="1"/>
          <p:nvPr/>
        </p:nvSpPr>
        <p:spPr>
          <a:xfrm>
            <a:off x="6278753" y="1532005"/>
            <a:ext cx="1145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Rotate(-θ)</a:t>
            </a:r>
            <a:endParaRPr sz="1400" b="0" i="0" u="none" strike="noStrike" cap="none">
              <a:solidFill>
                <a:srgbClr val="000000"/>
              </a:solidFill>
              <a:latin typeface="Arial"/>
              <a:ea typeface="Arial"/>
              <a:cs typeface="Arial"/>
              <a:sym typeface="Arial"/>
            </a:endParaRPr>
          </a:p>
        </p:txBody>
      </p:sp>
      <p:sp>
        <p:nvSpPr>
          <p:cNvPr id="1145" name="Google Shape;1145;p71"/>
          <p:cNvSpPr txBox="1"/>
          <p:nvPr/>
        </p:nvSpPr>
        <p:spPr>
          <a:xfrm>
            <a:off x="3324900" y="3460491"/>
            <a:ext cx="1282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Rotate(θ)</a:t>
            </a:r>
            <a:endParaRPr sz="1400" b="0" i="0" u="none" strike="noStrike" cap="none">
              <a:solidFill>
                <a:srgbClr val="000000"/>
              </a:solidFill>
              <a:latin typeface="Arial"/>
              <a:ea typeface="Arial"/>
              <a:cs typeface="Arial"/>
              <a:sym typeface="Arial"/>
            </a:endParaRPr>
          </a:p>
        </p:txBody>
      </p:sp>
      <p:sp>
        <p:nvSpPr>
          <p:cNvPr id="1146" name="Google Shape;1146;p71"/>
          <p:cNvSpPr txBox="1"/>
          <p:nvPr/>
        </p:nvSpPr>
        <p:spPr>
          <a:xfrm>
            <a:off x="6073703" y="3407119"/>
            <a:ext cx="1555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Translate(0,b)</a:t>
            </a:r>
            <a:endParaRPr sz="1400" b="0" i="0" u="none" strike="noStrike" cap="none">
              <a:solidFill>
                <a:srgbClr val="000000"/>
              </a:solidFill>
              <a:latin typeface="Arial"/>
              <a:ea typeface="Arial"/>
              <a:cs typeface="Arial"/>
              <a:sym typeface="Arial"/>
            </a:endParaRPr>
          </a:p>
        </p:txBody>
      </p:sp>
      <p:sp>
        <p:nvSpPr>
          <p:cNvPr id="1147" name="Google Shape;1147;p71"/>
          <p:cNvSpPr txBox="1"/>
          <p:nvPr/>
        </p:nvSpPr>
        <p:spPr>
          <a:xfrm>
            <a:off x="3325560" y="1592982"/>
            <a:ext cx="1495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Translate(0,-b)</a:t>
            </a:r>
            <a:endParaRPr sz="1600" b="0" i="0" u="none" strike="noStrike" cap="none">
              <a:solidFill>
                <a:srgbClr val="000000"/>
              </a:solidFill>
              <a:latin typeface="Arial"/>
              <a:ea typeface="Arial"/>
              <a:cs typeface="Arial"/>
              <a:sym typeface="Arial"/>
            </a:endParaRPr>
          </a:p>
        </p:txBody>
      </p:sp>
      <p:sp>
        <p:nvSpPr>
          <p:cNvPr id="1148" name="Google Shape;1148;p71"/>
          <p:cNvSpPr txBox="1"/>
          <p:nvPr/>
        </p:nvSpPr>
        <p:spPr>
          <a:xfrm>
            <a:off x="1504224" y="227585"/>
            <a:ext cx="7323300" cy="601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US" sz="4400" b="0" i="0" u="none" strike="noStrike" cap="none">
                <a:solidFill>
                  <a:schemeClr val="dk1"/>
                </a:solidFill>
                <a:latin typeface="Calibri"/>
                <a:ea typeface="Calibri"/>
                <a:cs typeface="Calibri"/>
                <a:sym typeface="Calibri"/>
              </a:rPr>
              <a:t>Reflection about line L, M</a:t>
            </a:r>
            <a:r>
              <a:rPr lang="en-US" sz="4400" b="0" i="0" u="none" strike="noStrike" cap="none" baseline="-25000">
                <a:solidFill>
                  <a:schemeClr val="dk1"/>
                </a:solidFill>
                <a:latin typeface="Calibri"/>
                <a:ea typeface="Calibri"/>
                <a:cs typeface="Calibri"/>
                <a:sym typeface="Calibri"/>
              </a:rPr>
              <a:t>L</a:t>
            </a:r>
            <a:endParaRPr sz="4400" b="0" i="0" u="none" strike="noStrike" cap="non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72"/>
          <p:cNvSpPr txBox="1"/>
          <p:nvPr/>
        </p:nvSpPr>
        <p:spPr>
          <a:xfrm>
            <a:off x="1167650" y="320244"/>
            <a:ext cx="6915300" cy="994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US" sz="4400" b="0" i="0" u="none" strike="noStrike" cap="none">
                <a:solidFill>
                  <a:schemeClr val="dk1"/>
                </a:solidFill>
                <a:latin typeface="Calibri"/>
                <a:ea typeface="Calibri"/>
                <a:cs typeface="Calibri"/>
                <a:sym typeface="Calibri"/>
              </a:rPr>
              <a:t>Reflection about line L, M</a:t>
            </a:r>
            <a:r>
              <a:rPr lang="en-US" sz="4400" b="0" i="0" u="none" strike="noStrike" cap="none" baseline="-25000">
                <a:solidFill>
                  <a:schemeClr val="dk1"/>
                </a:solidFill>
                <a:latin typeface="Calibri"/>
                <a:ea typeface="Calibri"/>
                <a:cs typeface="Calibri"/>
                <a:sym typeface="Calibri"/>
              </a:rPr>
              <a:t>L</a:t>
            </a:r>
            <a:endParaRPr sz="4400" b="0" i="0" u="none" strike="noStrike" cap="none">
              <a:solidFill>
                <a:schemeClr val="dk1"/>
              </a:solidFill>
              <a:latin typeface="Calibri"/>
              <a:ea typeface="Calibri"/>
              <a:cs typeface="Calibri"/>
              <a:sym typeface="Calibri"/>
            </a:endParaRPr>
          </a:p>
        </p:txBody>
      </p:sp>
      <p:sp>
        <p:nvSpPr>
          <p:cNvPr id="1154" name="Google Shape;1154;p72"/>
          <p:cNvSpPr txBox="1">
            <a:spLocks noGrp="1"/>
          </p:cNvSpPr>
          <p:nvPr>
            <p:ph type="sldNum" idx="12"/>
          </p:nvPr>
        </p:nvSpPr>
        <p:spPr>
          <a:xfrm>
            <a:off x="6076950"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59</a:t>
            </a:fld>
            <a:endParaRPr sz="900"/>
          </a:p>
        </p:txBody>
      </p:sp>
      <p:sp>
        <p:nvSpPr>
          <p:cNvPr id="1155" name="Google Shape;1155;p72"/>
          <p:cNvSpPr txBox="1"/>
          <p:nvPr/>
        </p:nvSpPr>
        <p:spPr>
          <a:xfrm>
            <a:off x="1235074" y="1638300"/>
            <a:ext cx="47367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200" b="1" i="0" u="none" strike="noStrike" cap="none">
                <a:solidFill>
                  <a:schemeClr val="dk1"/>
                </a:solidFill>
                <a:latin typeface="Tahoma"/>
                <a:ea typeface="Tahoma"/>
                <a:cs typeface="Tahoma"/>
                <a:sym typeface="Tahoma"/>
              </a:rPr>
              <a:t>Step 1:</a:t>
            </a:r>
            <a:r>
              <a:rPr lang="en-US" sz="2200" b="0" i="0" u="none" strike="noStrike" cap="none">
                <a:solidFill>
                  <a:schemeClr val="dk1"/>
                </a:solidFill>
                <a:latin typeface="Tahoma"/>
                <a:ea typeface="Tahoma"/>
                <a:cs typeface="Tahoma"/>
                <a:sym typeface="Tahoma"/>
              </a:rPr>
              <a:t> Translate (0,-b) to origin</a:t>
            </a:r>
            <a:endParaRPr sz="1200" b="0" i="0" u="none" strike="noStrike" cap="none">
              <a:solidFill>
                <a:srgbClr val="000000"/>
              </a:solidFill>
              <a:latin typeface="Arial"/>
              <a:ea typeface="Arial"/>
              <a:cs typeface="Arial"/>
              <a:sym typeface="Arial"/>
            </a:endParaRPr>
          </a:p>
        </p:txBody>
      </p:sp>
      <p:sp>
        <p:nvSpPr>
          <p:cNvPr id="1156" name="Google Shape;1156;p72"/>
          <p:cNvSpPr txBox="1"/>
          <p:nvPr/>
        </p:nvSpPr>
        <p:spPr>
          <a:xfrm>
            <a:off x="6553200" y="4343400"/>
            <a:ext cx="1600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400" b="1" i="0" u="none" strike="noStrike" cap="none">
                <a:solidFill>
                  <a:schemeClr val="dk1"/>
                </a:solidFill>
                <a:latin typeface="Tahoma"/>
                <a:ea typeface="Tahoma"/>
                <a:cs typeface="Tahoma"/>
                <a:sym typeface="Tahoma"/>
              </a:rPr>
              <a:t>T(0 ,-b)</a:t>
            </a:r>
            <a:endParaRPr sz="1400" b="0" i="0" u="none" strike="noStrike" cap="none">
              <a:solidFill>
                <a:srgbClr val="000000"/>
              </a:solidFill>
              <a:latin typeface="Arial"/>
              <a:ea typeface="Arial"/>
              <a:cs typeface="Arial"/>
              <a:sym typeface="Arial"/>
            </a:endParaRPr>
          </a:p>
        </p:txBody>
      </p:sp>
      <p:sp>
        <p:nvSpPr>
          <p:cNvPr id="1157" name="Google Shape;1157;p72"/>
          <p:cNvSpPr txBox="1"/>
          <p:nvPr/>
        </p:nvSpPr>
        <p:spPr>
          <a:xfrm>
            <a:off x="1219200" y="4343400"/>
            <a:ext cx="990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400" b="1" i="0" u="none" strike="noStrike" cap="none">
                <a:solidFill>
                  <a:schemeClr val="dk1"/>
                </a:solidFill>
                <a:latin typeface="Tahoma"/>
                <a:ea typeface="Tahoma"/>
                <a:cs typeface="Tahoma"/>
                <a:sym typeface="Tahoma"/>
              </a:rPr>
              <a:t>M</a:t>
            </a:r>
            <a:r>
              <a:rPr lang="en-US" sz="2400" b="1" i="0" u="none" strike="noStrike" cap="none" baseline="-25000">
                <a:solidFill>
                  <a:schemeClr val="dk1"/>
                </a:solidFill>
                <a:latin typeface="Tahoma"/>
                <a:ea typeface="Tahoma"/>
                <a:cs typeface="Tahoma"/>
                <a:sym typeface="Tahoma"/>
              </a:rPr>
              <a:t>L </a:t>
            </a:r>
            <a:r>
              <a:rPr lang="en-US" sz="2400" b="1" i="0" u="none" strike="noStrike" cap="none">
                <a:solidFill>
                  <a:schemeClr val="dk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158" name="Google Shape;1158;p72"/>
          <p:cNvSpPr txBox="1"/>
          <p:nvPr/>
        </p:nvSpPr>
        <p:spPr>
          <a:xfrm>
            <a:off x="1235075" y="2095500"/>
            <a:ext cx="47367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200" b="1" i="0" u="none" strike="noStrike" cap="none">
                <a:solidFill>
                  <a:schemeClr val="dk1"/>
                </a:solidFill>
                <a:latin typeface="Tahoma"/>
                <a:ea typeface="Tahoma"/>
                <a:cs typeface="Tahoma"/>
                <a:sym typeface="Tahoma"/>
              </a:rPr>
              <a:t>Step 2:</a:t>
            </a:r>
            <a:r>
              <a:rPr lang="en-US" sz="2200" b="0" i="0" u="none" strike="noStrike" cap="none">
                <a:solidFill>
                  <a:schemeClr val="dk1"/>
                </a:solidFill>
                <a:latin typeface="Tahoma"/>
                <a:ea typeface="Tahoma"/>
                <a:cs typeface="Tahoma"/>
                <a:sym typeface="Tahoma"/>
              </a:rPr>
              <a:t> Rotate -θ degrees</a:t>
            </a:r>
            <a:endParaRPr sz="2200" b="0" i="0" u="none" strike="noStrike" cap="none">
              <a:solidFill>
                <a:schemeClr val="dk1"/>
              </a:solidFill>
              <a:latin typeface="Tahoma"/>
              <a:ea typeface="Tahoma"/>
              <a:cs typeface="Tahoma"/>
              <a:sym typeface="Tahoma"/>
            </a:endParaRPr>
          </a:p>
        </p:txBody>
      </p:sp>
      <p:sp>
        <p:nvSpPr>
          <p:cNvPr id="1159" name="Google Shape;1159;p72"/>
          <p:cNvSpPr txBox="1"/>
          <p:nvPr/>
        </p:nvSpPr>
        <p:spPr>
          <a:xfrm>
            <a:off x="1235075" y="2552700"/>
            <a:ext cx="48609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200" b="1" i="0" u="none" strike="noStrike" cap="none">
                <a:solidFill>
                  <a:schemeClr val="dk1"/>
                </a:solidFill>
                <a:latin typeface="Tahoma"/>
                <a:ea typeface="Tahoma"/>
                <a:cs typeface="Tahoma"/>
                <a:sym typeface="Tahoma"/>
              </a:rPr>
              <a:t>Step 3:</a:t>
            </a:r>
            <a:r>
              <a:rPr lang="en-US" sz="2200" b="0" i="0" u="none" strike="noStrike" cap="none">
                <a:solidFill>
                  <a:schemeClr val="dk1"/>
                </a:solidFill>
                <a:latin typeface="Tahoma"/>
                <a:ea typeface="Tahoma"/>
                <a:cs typeface="Tahoma"/>
                <a:sym typeface="Tahoma"/>
              </a:rPr>
              <a:t> Mirror reflect about X-axis</a:t>
            </a:r>
            <a:endParaRPr sz="1200" b="0" i="0" u="none" strike="noStrike" cap="none">
              <a:solidFill>
                <a:srgbClr val="000000"/>
              </a:solidFill>
              <a:latin typeface="Arial"/>
              <a:ea typeface="Arial"/>
              <a:cs typeface="Arial"/>
              <a:sym typeface="Arial"/>
            </a:endParaRPr>
          </a:p>
        </p:txBody>
      </p:sp>
      <p:sp>
        <p:nvSpPr>
          <p:cNvPr id="1160" name="Google Shape;1160;p72"/>
          <p:cNvSpPr txBox="1"/>
          <p:nvPr/>
        </p:nvSpPr>
        <p:spPr>
          <a:xfrm>
            <a:off x="5334000" y="4343400"/>
            <a:ext cx="1371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400" b="1" i="0" u="none" strike="noStrike" cap="none">
                <a:solidFill>
                  <a:schemeClr val="dk1"/>
                </a:solidFill>
                <a:latin typeface="Tahoma"/>
                <a:ea typeface="Tahoma"/>
                <a:cs typeface="Tahoma"/>
                <a:sym typeface="Tahoma"/>
              </a:rPr>
              <a:t>R(-θ) *</a:t>
            </a:r>
            <a:endParaRPr sz="1400" b="0" i="0" u="none" strike="noStrike" cap="none">
              <a:solidFill>
                <a:srgbClr val="000000"/>
              </a:solidFill>
              <a:latin typeface="Arial"/>
              <a:ea typeface="Arial"/>
              <a:cs typeface="Arial"/>
              <a:sym typeface="Arial"/>
            </a:endParaRPr>
          </a:p>
        </p:txBody>
      </p:sp>
      <p:sp>
        <p:nvSpPr>
          <p:cNvPr id="1161" name="Google Shape;1161;p72"/>
          <p:cNvSpPr txBox="1"/>
          <p:nvPr/>
        </p:nvSpPr>
        <p:spPr>
          <a:xfrm>
            <a:off x="1981200" y="4343400"/>
            <a:ext cx="1600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400" b="1" i="0" u="none" strike="noStrike" cap="none">
                <a:solidFill>
                  <a:schemeClr val="dk1"/>
                </a:solidFill>
                <a:latin typeface="Tahoma"/>
                <a:ea typeface="Tahoma"/>
                <a:cs typeface="Tahoma"/>
                <a:sym typeface="Tahoma"/>
              </a:rPr>
              <a:t>T(0 ,b) *</a:t>
            </a:r>
            <a:endParaRPr sz="1400" b="0" i="0" u="none" strike="noStrike" cap="none">
              <a:solidFill>
                <a:srgbClr val="000000"/>
              </a:solidFill>
              <a:latin typeface="Arial"/>
              <a:ea typeface="Arial"/>
              <a:cs typeface="Arial"/>
              <a:sym typeface="Arial"/>
            </a:endParaRPr>
          </a:p>
        </p:txBody>
      </p:sp>
      <p:sp>
        <p:nvSpPr>
          <p:cNvPr id="1162" name="Google Shape;1162;p72"/>
          <p:cNvSpPr txBox="1"/>
          <p:nvPr/>
        </p:nvSpPr>
        <p:spPr>
          <a:xfrm>
            <a:off x="1235075" y="3011100"/>
            <a:ext cx="44283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200" b="1" i="0" u="none" strike="noStrike" cap="none">
                <a:solidFill>
                  <a:schemeClr val="dk1"/>
                </a:solidFill>
                <a:latin typeface="Tahoma"/>
                <a:ea typeface="Tahoma"/>
                <a:cs typeface="Tahoma"/>
                <a:sym typeface="Tahoma"/>
              </a:rPr>
              <a:t>Step 4:</a:t>
            </a:r>
            <a:r>
              <a:rPr lang="en-US" sz="2200" b="0" i="0" u="none" strike="noStrike" cap="none">
                <a:solidFill>
                  <a:schemeClr val="dk1"/>
                </a:solidFill>
                <a:latin typeface="Tahoma"/>
                <a:ea typeface="Tahoma"/>
                <a:cs typeface="Tahoma"/>
                <a:sym typeface="Tahoma"/>
              </a:rPr>
              <a:t> Rotate θ degrees</a:t>
            </a:r>
            <a:endParaRPr sz="1200" b="0" i="0" u="none" strike="noStrike" cap="none">
              <a:solidFill>
                <a:srgbClr val="000000"/>
              </a:solidFill>
              <a:latin typeface="Arial"/>
              <a:ea typeface="Arial"/>
              <a:cs typeface="Arial"/>
              <a:sym typeface="Arial"/>
            </a:endParaRPr>
          </a:p>
        </p:txBody>
      </p:sp>
      <p:sp>
        <p:nvSpPr>
          <p:cNvPr id="1163" name="Google Shape;1163;p72"/>
          <p:cNvSpPr txBox="1"/>
          <p:nvPr/>
        </p:nvSpPr>
        <p:spPr>
          <a:xfrm>
            <a:off x="1235075" y="3467100"/>
            <a:ext cx="45798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200" b="1" i="0" u="none" strike="noStrike" cap="none">
                <a:solidFill>
                  <a:schemeClr val="dk1"/>
                </a:solidFill>
                <a:latin typeface="Tahoma"/>
                <a:ea typeface="Tahoma"/>
                <a:cs typeface="Tahoma"/>
                <a:sym typeface="Tahoma"/>
              </a:rPr>
              <a:t>Step 5:</a:t>
            </a:r>
            <a:r>
              <a:rPr lang="en-US" sz="2200" b="0" i="0" u="none" strike="noStrike" cap="none">
                <a:solidFill>
                  <a:schemeClr val="dk1"/>
                </a:solidFill>
                <a:latin typeface="Tahoma"/>
                <a:ea typeface="Tahoma"/>
                <a:cs typeface="Tahoma"/>
                <a:sym typeface="Tahoma"/>
              </a:rPr>
              <a:t> Translate origin to (0,b)</a:t>
            </a:r>
            <a:endParaRPr sz="1200" b="0" i="0" u="none" strike="noStrike" cap="none">
              <a:solidFill>
                <a:srgbClr val="000000"/>
              </a:solidFill>
              <a:latin typeface="Arial"/>
              <a:ea typeface="Arial"/>
              <a:cs typeface="Arial"/>
              <a:sym typeface="Arial"/>
            </a:endParaRPr>
          </a:p>
        </p:txBody>
      </p:sp>
      <p:sp>
        <p:nvSpPr>
          <p:cNvPr id="1164" name="Google Shape;1164;p72"/>
          <p:cNvSpPr txBox="1"/>
          <p:nvPr/>
        </p:nvSpPr>
        <p:spPr>
          <a:xfrm>
            <a:off x="4572000" y="4343400"/>
            <a:ext cx="9906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400" b="1" i="0" u="none" strike="noStrike" cap="none">
                <a:solidFill>
                  <a:schemeClr val="dk1"/>
                </a:solidFill>
                <a:latin typeface="Tahoma"/>
                <a:ea typeface="Tahoma"/>
                <a:cs typeface="Tahoma"/>
                <a:sym typeface="Tahoma"/>
              </a:rPr>
              <a:t>M </a:t>
            </a:r>
            <a:r>
              <a:rPr lang="en-US" sz="2400" b="1" i="0" u="none" strike="noStrike" cap="none" baseline="-25000">
                <a:solidFill>
                  <a:schemeClr val="dk1"/>
                </a:solidFill>
                <a:latin typeface="Tahoma"/>
                <a:ea typeface="Tahoma"/>
                <a:cs typeface="Tahoma"/>
                <a:sym typeface="Tahoma"/>
              </a:rPr>
              <a:t>x</a:t>
            </a:r>
            <a:r>
              <a:rPr lang="en-US" sz="2400" b="1" i="0" u="none" strike="noStrike" cap="none">
                <a:solidFill>
                  <a:schemeClr val="dk1"/>
                </a:solidFill>
                <a:latin typeface="Tahoma"/>
                <a:ea typeface="Tahoma"/>
                <a:cs typeface="Tahoma"/>
                <a:sym typeface="Tahoma"/>
              </a:rPr>
              <a:t>*</a:t>
            </a:r>
            <a:endParaRPr sz="2400" b="1" i="0" u="none" strike="noStrike" cap="none">
              <a:solidFill>
                <a:schemeClr val="dk1"/>
              </a:solidFill>
              <a:latin typeface="Tahoma"/>
              <a:ea typeface="Tahoma"/>
              <a:cs typeface="Tahoma"/>
              <a:sym typeface="Tahoma"/>
            </a:endParaRPr>
          </a:p>
        </p:txBody>
      </p:sp>
      <p:sp>
        <p:nvSpPr>
          <p:cNvPr id="1165" name="Google Shape;1165;p72"/>
          <p:cNvSpPr txBox="1"/>
          <p:nvPr/>
        </p:nvSpPr>
        <p:spPr>
          <a:xfrm>
            <a:off x="3429000" y="4343400"/>
            <a:ext cx="1295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r>
              <a:rPr lang="en-US" sz="2400" b="1" i="0" u="none" strike="noStrike" cap="none">
                <a:solidFill>
                  <a:schemeClr val="dk1"/>
                </a:solidFill>
                <a:latin typeface="Tahoma"/>
                <a:ea typeface="Tahoma"/>
                <a:cs typeface="Tahoma"/>
                <a:sym typeface="Tahoma"/>
              </a:rPr>
              <a:t>R(θ) *</a:t>
            </a:r>
            <a:endParaRPr sz="1400" b="0" i="0" u="none" strike="noStrike" cap="none">
              <a:solidFill>
                <a:srgbClr val="000000"/>
              </a:solidFill>
              <a:latin typeface="Arial"/>
              <a:ea typeface="Arial"/>
              <a:cs typeface="Arial"/>
              <a:sym typeface="Arial"/>
            </a:endParaRPr>
          </a:p>
        </p:txBody>
      </p:sp>
      <p:pic>
        <p:nvPicPr>
          <p:cNvPr id="1166" name="Google Shape;1166;p72"/>
          <p:cNvPicPr preferRelativeResize="0"/>
          <p:nvPr/>
        </p:nvPicPr>
        <p:blipFill rotWithShape="1">
          <a:blip r:embed="rId3">
            <a:alphaModFix/>
          </a:blip>
          <a:srcRect/>
          <a:stretch/>
        </p:blipFill>
        <p:spPr>
          <a:xfrm>
            <a:off x="5319713" y="1314450"/>
            <a:ext cx="2868215" cy="2801543"/>
          </a:xfrm>
          <a:prstGeom prst="rect">
            <a:avLst/>
          </a:prstGeom>
          <a:noFill/>
          <a:ln>
            <a:noFill/>
          </a:ln>
        </p:spPr>
      </p:pic>
      <p:pic>
        <p:nvPicPr>
          <p:cNvPr id="1167" name="Google Shape;1167;p72"/>
          <p:cNvPicPr preferRelativeResize="0"/>
          <p:nvPr/>
        </p:nvPicPr>
        <p:blipFill rotWithShape="1">
          <a:blip r:embed="rId4">
            <a:alphaModFix/>
          </a:blip>
          <a:srcRect/>
          <a:stretch/>
        </p:blipFill>
        <p:spPr>
          <a:xfrm>
            <a:off x="5319713" y="1314450"/>
            <a:ext cx="2868215" cy="2801543"/>
          </a:xfrm>
          <a:prstGeom prst="rect">
            <a:avLst/>
          </a:prstGeom>
          <a:noFill/>
          <a:ln>
            <a:noFill/>
          </a:ln>
        </p:spPr>
      </p:pic>
      <p:pic>
        <p:nvPicPr>
          <p:cNvPr id="1168" name="Google Shape;1168;p72"/>
          <p:cNvPicPr preferRelativeResize="0"/>
          <p:nvPr/>
        </p:nvPicPr>
        <p:blipFill rotWithShape="1">
          <a:blip r:embed="rId5">
            <a:alphaModFix/>
          </a:blip>
          <a:srcRect/>
          <a:stretch/>
        </p:blipFill>
        <p:spPr>
          <a:xfrm>
            <a:off x="5319713" y="1314450"/>
            <a:ext cx="2868215" cy="2801543"/>
          </a:xfrm>
          <a:prstGeom prst="rect">
            <a:avLst/>
          </a:prstGeom>
          <a:noFill/>
          <a:ln>
            <a:noFill/>
          </a:ln>
        </p:spPr>
      </p:pic>
      <p:pic>
        <p:nvPicPr>
          <p:cNvPr id="1169" name="Google Shape;1169;p72"/>
          <p:cNvPicPr preferRelativeResize="0"/>
          <p:nvPr/>
        </p:nvPicPr>
        <p:blipFill rotWithShape="1">
          <a:blip r:embed="rId6">
            <a:alphaModFix/>
          </a:blip>
          <a:srcRect/>
          <a:stretch/>
        </p:blipFill>
        <p:spPr>
          <a:xfrm>
            <a:off x="5319713" y="1314450"/>
            <a:ext cx="2868215" cy="2801543"/>
          </a:xfrm>
          <a:prstGeom prst="rect">
            <a:avLst/>
          </a:prstGeom>
          <a:noFill/>
          <a:ln>
            <a:noFill/>
          </a:ln>
        </p:spPr>
      </p:pic>
      <p:pic>
        <p:nvPicPr>
          <p:cNvPr id="1170" name="Google Shape;1170;p72"/>
          <p:cNvPicPr preferRelativeResize="0"/>
          <p:nvPr/>
        </p:nvPicPr>
        <p:blipFill rotWithShape="1">
          <a:blip r:embed="rId7">
            <a:alphaModFix/>
          </a:blip>
          <a:srcRect/>
          <a:stretch/>
        </p:blipFill>
        <p:spPr>
          <a:xfrm>
            <a:off x="5319713" y="1314450"/>
            <a:ext cx="2868215" cy="2801543"/>
          </a:xfrm>
          <a:prstGeom prst="rect">
            <a:avLst/>
          </a:prstGeom>
          <a:noFill/>
          <a:ln>
            <a:noFill/>
          </a:ln>
        </p:spPr>
      </p:pic>
      <p:pic>
        <p:nvPicPr>
          <p:cNvPr id="1171" name="Google Shape;1171;p72"/>
          <p:cNvPicPr preferRelativeResize="0"/>
          <p:nvPr/>
        </p:nvPicPr>
        <p:blipFill rotWithShape="1">
          <a:blip r:embed="rId8">
            <a:alphaModFix/>
          </a:blip>
          <a:srcRect/>
          <a:stretch/>
        </p:blipFill>
        <p:spPr>
          <a:xfrm>
            <a:off x="5319713" y="1314450"/>
            <a:ext cx="2868215" cy="280154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73"/>
          <p:cNvSpPr txBox="1">
            <a:spLocks noGrp="1"/>
          </p:cNvSpPr>
          <p:nvPr>
            <p:ph type="sldNum" idx="12"/>
          </p:nvPr>
        </p:nvSpPr>
        <p:spPr>
          <a:xfrm>
            <a:off x="7513902" y="4668137"/>
            <a:ext cx="1617300" cy="361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sz="900"/>
              <a:t>60</a:t>
            </a:fld>
            <a:endParaRPr sz="900"/>
          </a:p>
        </p:txBody>
      </p:sp>
      <p:sp>
        <p:nvSpPr>
          <p:cNvPr id="1177" name="Google Shape;1177;p73"/>
          <p:cNvSpPr txBox="1"/>
          <p:nvPr/>
        </p:nvSpPr>
        <p:spPr>
          <a:xfrm>
            <a:off x="1517400" y="188475"/>
            <a:ext cx="7007100" cy="86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chemeClr val="dk1"/>
                </a:solidFill>
                <a:latin typeface="Calibri"/>
                <a:ea typeface="Calibri"/>
                <a:cs typeface="Calibri"/>
                <a:sym typeface="Calibri"/>
              </a:rPr>
              <a:t>Reflect the point (10, 5) with respect to the line</a:t>
            </a:r>
            <a:endParaRPr sz="25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chemeClr val="dk1"/>
                </a:solidFill>
                <a:latin typeface="Calibri"/>
                <a:ea typeface="Calibri"/>
                <a:cs typeface="Calibri"/>
                <a:sym typeface="Calibri"/>
              </a:rPr>
              <a:t> y=x+2.</a:t>
            </a:r>
            <a:endParaRPr sz="2300" b="1" i="0" u="none" strike="noStrike" cap="none">
              <a:solidFill>
                <a:srgbClr val="000000"/>
              </a:solidFill>
              <a:latin typeface="Arial"/>
              <a:ea typeface="Arial"/>
              <a:cs typeface="Arial"/>
              <a:sym typeface="Arial"/>
            </a:endParaRPr>
          </a:p>
        </p:txBody>
      </p:sp>
      <p:sp>
        <p:nvSpPr>
          <p:cNvPr id="1178" name="Google Shape;1178;p73"/>
          <p:cNvSpPr txBox="1"/>
          <p:nvPr/>
        </p:nvSpPr>
        <p:spPr>
          <a:xfrm>
            <a:off x="838200" y="1408424"/>
            <a:ext cx="7871700" cy="3039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179" name="Google Shape;1179;p73"/>
          <p:cNvPicPr preferRelativeResize="0"/>
          <p:nvPr/>
        </p:nvPicPr>
        <p:blipFill rotWithShape="1">
          <a:blip r:embed="rId4">
            <a:alphaModFix/>
          </a:blip>
          <a:srcRect/>
          <a:stretch/>
        </p:blipFill>
        <p:spPr>
          <a:xfrm>
            <a:off x="1079150" y="1712388"/>
            <a:ext cx="7527640" cy="1890564"/>
          </a:xfrm>
          <a:prstGeom prst="rect">
            <a:avLst/>
          </a:prstGeom>
          <a:noFill/>
          <a:ln>
            <a:noFill/>
          </a:ln>
        </p:spPr>
      </p:pic>
      <p:sp>
        <p:nvSpPr>
          <p:cNvPr id="1180" name="Google Shape;1180;p73"/>
          <p:cNvSpPr txBox="1"/>
          <p:nvPr/>
        </p:nvSpPr>
        <p:spPr>
          <a:xfrm>
            <a:off x="1517410" y="1062152"/>
            <a:ext cx="4342200" cy="3462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1181" name="Google Shape;1181;p73"/>
          <p:cNvPicPr preferRelativeResize="0"/>
          <p:nvPr/>
        </p:nvPicPr>
        <p:blipFill rotWithShape="1">
          <a:blip r:embed="rId6">
            <a:alphaModFix/>
          </a:blip>
          <a:srcRect/>
          <a:stretch/>
        </p:blipFill>
        <p:spPr>
          <a:xfrm>
            <a:off x="1615569" y="3873595"/>
            <a:ext cx="2868183" cy="1083187"/>
          </a:xfrm>
          <a:prstGeom prst="rect">
            <a:avLst/>
          </a:prstGeom>
          <a:noFill/>
          <a:ln>
            <a:noFill/>
          </a:ln>
        </p:spPr>
      </p:pic>
      <p:sp>
        <p:nvSpPr>
          <p:cNvPr id="1182" name="Google Shape;1182;p73"/>
          <p:cNvSpPr txBox="1"/>
          <p:nvPr/>
        </p:nvSpPr>
        <p:spPr>
          <a:xfrm>
            <a:off x="5518399" y="4103606"/>
            <a:ext cx="35268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alibri"/>
                <a:ea typeface="Calibri"/>
                <a:cs typeface="Calibri"/>
                <a:sym typeface="Calibri"/>
              </a:rPr>
              <a:t>New coordinate (3, 12)</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7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61</a:t>
            </a:fld>
            <a:endParaRPr/>
          </a:p>
        </p:txBody>
      </p:sp>
      <p:sp>
        <p:nvSpPr>
          <p:cNvPr id="1189" name="Google Shape;1189;p74"/>
          <p:cNvSpPr txBox="1">
            <a:spLocks noGrp="1"/>
          </p:cNvSpPr>
          <p:nvPr>
            <p:ph type="title"/>
          </p:nvPr>
        </p:nvSpPr>
        <p:spPr>
          <a:xfrm>
            <a:off x="225700" y="273850"/>
            <a:ext cx="8289600" cy="9942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US"/>
              <a:t>Exercise</a:t>
            </a:r>
            <a:endParaRPr/>
          </a:p>
        </p:txBody>
      </p:sp>
      <p:sp>
        <p:nvSpPr>
          <p:cNvPr id="1190" name="Google Shape;1190;p74"/>
          <p:cNvSpPr txBox="1">
            <a:spLocks noGrp="1"/>
          </p:cNvSpPr>
          <p:nvPr>
            <p:ph type="body" idx="1"/>
          </p:nvPr>
        </p:nvSpPr>
        <p:spPr>
          <a:xfrm>
            <a:off x="225700" y="1369225"/>
            <a:ext cx="8723700" cy="35424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800"/>
              </a:spcBef>
              <a:spcAft>
                <a:spcPts val="0"/>
              </a:spcAft>
              <a:buSzPts val="1400"/>
              <a:buNone/>
            </a:pPr>
            <a:r>
              <a:rPr lang="en-US" sz="2200" b="1"/>
              <a:t>Check this link for the sample problems: </a:t>
            </a:r>
            <a:endParaRPr sz="2200" b="1"/>
          </a:p>
          <a:p>
            <a:pPr marL="0" lvl="0" indent="0" algn="l" rtl="0">
              <a:lnSpc>
                <a:spcPct val="90000"/>
              </a:lnSpc>
              <a:spcBef>
                <a:spcPts val="800"/>
              </a:spcBef>
              <a:spcAft>
                <a:spcPts val="0"/>
              </a:spcAft>
              <a:buSzPts val="1400"/>
              <a:buNone/>
            </a:pPr>
            <a:r>
              <a:rPr lang="en-US" sz="1800" u="sng">
                <a:solidFill>
                  <a:schemeClr val="hlink"/>
                </a:solidFill>
                <a:hlinkClick r:id="rId3"/>
              </a:rPr>
              <a:t>https://docs.google.com/document/d/1FGYfEREicKold6MJ6hzQoVzP5hbnD-2lu23xl5vNYSQ/edit?usp=sharing</a:t>
            </a:r>
            <a:endParaRPr sz="18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75"/>
          <p:cNvSpPr txBox="1">
            <a:spLocks noGrp="1"/>
          </p:cNvSpPr>
          <p:nvPr>
            <p:ph type="title"/>
          </p:nvPr>
        </p:nvSpPr>
        <p:spPr>
          <a:xfrm>
            <a:off x="628650" y="273844"/>
            <a:ext cx="7886700" cy="994200"/>
          </a:xfrm>
          <a:prstGeom prst="rect">
            <a:avLst/>
          </a:prstGeom>
          <a:noFill/>
          <a:ln>
            <a:noFill/>
          </a:ln>
        </p:spPr>
        <p:txBody>
          <a:bodyPr spcFirstLastPara="1" wrap="square" lIns="92075" tIns="46025" rIns="92075" bIns="46025" anchor="ctr" anchorCtr="0">
            <a:noAutofit/>
          </a:bodyPr>
          <a:lstStyle/>
          <a:p>
            <a:pPr marL="0" lvl="0" indent="0" algn="l" rtl="0">
              <a:lnSpc>
                <a:spcPct val="100000"/>
              </a:lnSpc>
              <a:spcBef>
                <a:spcPts val="0"/>
              </a:spcBef>
              <a:spcAft>
                <a:spcPts val="0"/>
              </a:spcAft>
              <a:buClr>
                <a:srgbClr val="663300"/>
              </a:buClr>
              <a:buSzPts val="4400"/>
              <a:buFont typeface="Times New Roman"/>
              <a:buNone/>
            </a:pPr>
            <a:r>
              <a:rPr lang="en-US" sz="4400" b="0" i="1" u="none">
                <a:solidFill>
                  <a:srgbClr val="663300"/>
                </a:solidFill>
                <a:latin typeface="Times New Roman"/>
                <a:ea typeface="Times New Roman"/>
                <a:cs typeface="Times New Roman"/>
                <a:sym typeface="Times New Roman"/>
              </a:rPr>
              <a:t>References</a:t>
            </a:r>
            <a:endParaRPr/>
          </a:p>
        </p:txBody>
      </p:sp>
      <p:sp>
        <p:nvSpPr>
          <p:cNvPr id="1196" name="Google Shape;1196;p75"/>
          <p:cNvSpPr txBox="1">
            <a:spLocks noGrp="1"/>
          </p:cNvSpPr>
          <p:nvPr>
            <p:ph type="body" idx="1"/>
          </p:nvPr>
        </p:nvSpPr>
        <p:spPr>
          <a:xfrm>
            <a:off x="628650" y="1369219"/>
            <a:ext cx="7886700" cy="3263400"/>
          </a:xfrm>
          <a:prstGeom prst="rect">
            <a:avLst/>
          </a:prstGeom>
          <a:noFill/>
          <a:ln>
            <a:noFill/>
          </a:ln>
        </p:spPr>
        <p:txBody>
          <a:bodyPr spcFirstLastPara="1" wrap="square" lIns="92075" tIns="46025" rIns="92075" bIns="46025" anchor="t" anchorCtr="0">
            <a:noAutofit/>
          </a:bodyPr>
          <a:lstStyle/>
          <a:p>
            <a:pPr marL="342900" marR="0" lvl="0" indent="-304800" algn="l" rtl="0">
              <a:lnSpc>
                <a:spcPct val="100000"/>
              </a:lnSpc>
              <a:spcBef>
                <a:spcPts val="0"/>
              </a:spcBef>
              <a:spcAft>
                <a:spcPts val="0"/>
              </a:spcAft>
              <a:buClr>
                <a:schemeClr val="dk2"/>
              </a:buClr>
              <a:buSzPts val="2440"/>
              <a:buFont typeface="Noto Sans Symbols"/>
              <a:buChar char="✶"/>
            </a:pPr>
            <a:r>
              <a:rPr lang="en-US" sz="2600" b="0" i="0" u="none">
                <a:solidFill>
                  <a:schemeClr val="dk1"/>
                </a:solidFill>
                <a:latin typeface="Times New Roman"/>
                <a:ea typeface="Times New Roman"/>
                <a:cs typeface="Times New Roman"/>
                <a:sym typeface="Times New Roman"/>
              </a:rPr>
              <a:t>Chapter 4 and Chapter 6, Schaum's Outline of Computer Graphics (2nd Edition) by Zhigang Xiang, Roy A. Plastock</a:t>
            </a:r>
            <a:endParaRPr sz="1500"/>
          </a:p>
          <a:p>
            <a:pPr marL="342900" marR="0" lvl="0" indent="-304800" algn="l" rtl="0">
              <a:lnSpc>
                <a:spcPct val="100000"/>
              </a:lnSpc>
              <a:spcBef>
                <a:spcPts val="640"/>
              </a:spcBef>
              <a:spcAft>
                <a:spcPts val="0"/>
              </a:spcAft>
              <a:buClr>
                <a:schemeClr val="dk2"/>
              </a:buClr>
              <a:buSzPts val="2440"/>
              <a:buFont typeface="Noto Sans Symbols"/>
              <a:buChar char="✶"/>
            </a:pPr>
            <a:r>
              <a:rPr lang="en-US" sz="2600" b="0" i="0" u="none">
                <a:solidFill>
                  <a:schemeClr val="dk1"/>
                </a:solidFill>
                <a:latin typeface="Times New Roman"/>
                <a:ea typeface="Times New Roman"/>
                <a:cs typeface="Times New Roman"/>
                <a:sym typeface="Times New Roman"/>
              </a:rPr>
              <a:t>Chapter 5, Computer Graphics: Principles and Practice in C (2nd Edition) by James D. Foley, Andries van Dam, Steven K. Feiner, John F. Hughes</a:t>
            </a:r>
            <a:endParaRPr sz="1500"/>
          </a:p>
          <a:p>
            <a:pPr marL="342900" marR="0" lvl="0" indent="-304800" algn="l" rtl="0">
              <a:lnSpc>
                <a:spcPct val="100000"/>
              </a:lnSpc>
              <a:spcBef>
                <a:spcPts val="640"/>
              </a:spcBef>
              <a:spcAft>
                <a:spcPts val="0"/>
              </a:spcAft>
              <a:buClr>
                <a:schemeClr val="dk2"/>
              </a:buClr>
              <a:buSzPts val="2440"/>
              <a:buFont typeface="Noto Sans Symbols"/>
              <a:buChar char="✶"/>
            </a:pPr>
            <a:r>
              <a:rPr lang="en-US" sz="2600" b="0" i="0" u="none">
                <a:solidFill>
                  <a:schemeClr val="dk1"/>
                </a:solidFill>
                <a:latin typeface="Times New Roman"/>
                <a:ea typeface="Times New Roman"/>
                <a:cs typeface="Times New Roman"/>
                <a:sym typeface="Times New Roman"/>
              </a:rPr>
              <a:t>Chapter 6, Fundamentals of Computer Graphics, by Peter Shirley</a:t>
            </a:r>
            <a:endParaRPr sz="1500"/>
          </a:p>
          <a:p>
            <a:pPr marL="342900" marR="0" lvl="0" indent="-149860" algn="l" rtl="0">
              <a:lnSpc>
                <a:spcPct val="100000"/>
              </a:lnSpc>
              <a:spcBef>
                <a:spcPts val="640"/>
              </a:spcBef>
              <a:spcAft>
                <a:spcPts val="0"/>
              </a:spcAft>
              <a:buClr>
                <a:schemeClr val="dk2"/>
              </a:buClr>
              <a:buSzPts val="3040"/>
              <a:buFont typeface="Noto Sans Symbols"/>
              <a:buNone/>
            </a:pPr>
            <a:endParaRPr sz="2600" b="0" i="0" u="none">
              <a:solidFill>
                <a:schemeClr val="dk1"/>
              </a:solidFill>
              <a:latin typeface="Times New Roman"/>
              <a:ea typeface="Times New Roman"/>
              <a:cs typeface="Times New Roman"/>
              <a:sym typeface="Times New Roman"/>
            </a:endParaRPr>
          </a:p>
          <a:p>
            <a:pPr marL="342900" marR="0" lvl="0" indent="-149860" algn="l" rtl="0">
              <a:lnSpc>
                <a:spcPct val="100000"/>
              </a:lnSpc>
              <a:spcBef>
                <a:spcPts val="640"/>
              </a:spcBef>
              <a:spcAft>
                <a:spcPts val="0"/>
              </a:spcAft>
              <a:buClr>
                <a:schemeClr val="dk2"/>
              </a:buClr>
              <a:buSzPts val="3040"/>
              <a:buFont typeface="Noto Sans Symbols"/>
              <a:buNone/>
            </a:pPr>
            <a:endParaRPr sz="2600" b="0" i="0" u="none">
              <a:solidFill>
                <a:schemeClr val="dk1"/>
              </a:solidFill>
              <a:latin typeface="Times New Roman"/>
              <a:ea typeface="Times New Roman"/>
              <a:cs typeface="Times New Roman"/>
              <a:sym typeface="Times New Roman"/>
            </a:endParaRPr>
          </a:p>
          <a:p>
            <a:pPr marL="342900" marR="0" lvl="0" indent="-149860" algn="l" rtl="0">
              <a:lnSpc>
                <a:spcPct val="100000"/>
              </a:lnSpc>
              <a:spcBef>
                <a:spcPts val="640"/>
              </a:spcBef>
              <a:spcAft>
                <a:spcPts val="0"/>
              </a:spcAft>
              <a:buClr>
                <a:schemeClr val="dk2"/>
              </a:buClr>
              <a:buSzPts val="3040"/>
              <a:buFont typeface="Noto Sans Symbols"/>
              <a:buNone/>
            </a:pPr>
            <a:endParaRPr sz="2600" b="0" i="0" u="none">
              <a:solidFill>
                <a:schemeClr val="dk1"/>
              </a:solidFill>
              <a:latin typeface="Times New Roman"/>
              <a:ea typeface="Times New Roman"/>
              <a:cs typeface="Times New Roman"/>
              <a:sym typeface="Times New Roman"/>
            </a:endParaRPr>
          </a:p>
        </p:txBody>
      </p:sp>
      <p:sp>
        <p:nvSpPr>
          <p:cNvPr id="1197" name="Google Shape;1197;p75"/>
          <p:cNvSpPr txBox="1"/>
          <p:nvPr/>
        </p:nvSpPr>
        <p:spPr>
          <a:xfrm>
            <a:off x="72263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dk2"/>
              </a:buClr>
              <a:buSzPts val="1400"/>
              <a:buFont typeface="Times New Roman"/>
              <a:buNone/>
            </a:pPr>
            <a:fld id="{00000000-1234-1234-1234-123412341234}" type="slidenum">
              <a:rPr lang="en-US" sz="1400" b="0" i="0" u="none" strike="noStrike" cap="none">
                <a:solidFill>
                  <a:schemeClr val="dk2"/>
                </a:solidFill>
                <a:latin typeface="Times New Roman"/>
                <a:ea typeface="Times New Roman"/>
                <a:cs typeface="Times New Roman"/>
                <a:sym typeface="Times New Roman"/>
              </a:rPr>
              <a:t>62</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2057</Words>
  <Application>Microsoft Macintosh PowerPoint</Application>
  <PresentationFormat>On-screen Show (16:9)</PresentationFormat>
  <Paragraphs>637</Paragraphs>
  <Slides>62</Slides>
  <Notes>62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Noto Sans Symbols</vt:lpstr>
      <vt:lpstr>Calibri</vt:lpstr>
      <vt:lpstr>Tahoma</vt:lpstr>
      <vt:lpstr>Times New Roman</vt:lpstr>
      <vt:lpstr>Garamond</vt:lpstr>
      <vt:lpstr>Arial</vt:lpstr>
      <vt:lpstr>Office Theme</vt:lpstr>
      <vt:lpstr>Geometric Transformation</vt:lpstr>
      <vt:lpstr>What is a Transformation</vt:lpstr>
      <vt:lpstr>What is a Transformation?</vt:lpstr>
      <vt:lpstr>Examples of Transformation</vt:lpstr>
      <vt:lpstr>Simple Transformations</vt:lpstr>
      <vt:lpstr>Rigid-Body / Euclidean Transforms </vt:lpstr>
      <vt:lpstr>Similitudes / Similarity Transforms</vt:lpstr>
      <vt:lpstr>Linear Transformations</vt:lpstr>
      <vt:lpstr>Linear Transformations</vt:lpstr>
      <vt:lpstr>Affine Transformations</vt:lpstr>
      <vt:lpstr>Projective Transformations</vt:lpstr>
      <vt:lpstr>How are Transforms Represented?</vt:lpstr>
      <vt:lpstr>Translation in homogeneous coordinates</vt:lpstr>
      <vt:lpstr>Homogeneous Coordinates</vt:lpstr>
      <vt:lpstr>Homogeneous Coordinates</vt:lpstr>
      <vt:lpstr>Homogeneous Coordinates</vt:lpstr>
      <vt:lpstr>Homogeneous Coordinates</vt:lpstr>
      <vt:lpstr>Homogeneous Visualization</vt:lpstr>
      <vt:lpstr>Mechanics of Rigid Transformations</vt:lpstr>
      <vt:lpstr>Translation – 2D</vt:lpstr>
      <vt:lpstr>Translation – 3D</vt:lpstr>
      <vt:lpstr>Scaling – 2D</vt:lpstr>
      <vt:lpstr>Scaling – 3D</vt:lpstr>
      <vt:lpstr>Rotation – 2D </vt:lpstr>
      <vt:lpstr>Rotation – 2D</vt:lpstr>
      <vt:lpstr>Rotation – 3D</vt:lpstr>
      <vt:lpstr>Rotation about Z axis: Rθ,k</vt:lpstr>
      <vt:lpstr>Rotation about Y-axis &amp; X-axis</vt:lpstr>
      <vt:lpstr>Properties of rotation matrix</vt:lpstr>
      <vt:lpstr>Mirror Reflection</vt:lpstr>
      <vt:lpstr>PowerPoint Presentation</vt:lpstr>
      <vt:lpstr>Shearing Transformation</vt:lpstr>
      <vt:lpstr>Shear along Z-axis</vt:lpstr>
      <vt:lpstr>Shear along X-axis</vt:lpstr>
      <vt:lpstr>Shear along Y-axis</vt:lpstr>
      <vt:lpstr>Inverse Transforms</vt:lpstr>
      <vt:lpstr>Inverse Transformations</vt:lpstr>
      <vt:lpstr>Composing Transformations</vt:lpstr>
      <vt:lpstr>How are transforms combined?</vt:lpstr>
      <vt:lpstr>Non-commutative Composition</vt:lpstr>
      <vt:lpstr>Non-commutative Composition</vt:lpstr>
      <vt:lpstr>PowerPoint Presentation</vt:lpstr>
      <vt:lpstr>Rotate then Translate</vt:lpstr>
      <vt:lpstr>Translate then Rotate</vt:lpstr>
      <vt:lpstr>Associativity of Matrix Multiplication</vt:lpstr>
      <vt:lpstr>Example Composite Transforms</vt:lpstr>
      <vt:lpstr>Rotation of θ about P(h,k): Rθ,P</vt:lpstr>
      <vt:lpstr>PowerPoint Presentation</vt:lpstr>
      <vt:lpstr>PowerPoint Presentation</vt:lpstr>
      <vt:lpstr>PowerPoint Presentation</vt:lpstr>
      <vt:lpstr>PowerPoint Presentation</vt:lpstr>
      <vt:lpstr>PowerPoint Presentation</vt:lpstr>
      <vt:lpstr>Scaling of Sa,b about P(h,k): RS,P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Mehedi Hasan</cp:lastModifiedBy>
  <cp:revision>1</cp:revision>
  <dcterms:modified xsi:type="dcterms:W3CDTF">2026-07-26T05:08:43Z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2026-07-26T05:08:43Z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bc1e5976-f887-41cf-87d7-138b8da14090</vt:lpwstr>
  </property>
  <property fmtid="{D5CDD505-2E9C-101B-9397-08002B2CF9AE}" pid="7" name="MSIP_Label_defa4170-0d19-0005-0004-bc88714345d2_ActionId">
    <vt:lpwstr>388a7515-3673-4f57-8462-7a99c682e144</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