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 snapToObjects="1">
      <p:cViewPr varScale="1">
        <p:scale>
          <a:sx n="115" d="100"/>
          <a:sy n="115" d="100"/>
        </p:scale>
        <p:origin x="4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8.png"/><Relationship Id="rId7" Type="http://schemas.openxmlformats.org/officeDocument/2006/relationships/image" Target="../media/image3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42.png"/><Relationship Id="rId4" Type="http://schemas.openxmlformats.org/officeDocument/2006/relationships/image" Target="../media/image20.pn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69456"/>
            <a:ext cx="10287000" cy="1476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625" y="3755231"/>
            <a:ext cx="1870620" cy="790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545" y="3755231"/>
            <a:ext cx="1870769" cy="790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0615" y="3755231"/>
            <a:ext cx="1870620" cy="790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5535" y="3755231"/>
            <a:ext cx="1870769" cy="7905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605" y="3755231"/>
            <a:ext cx="1870620" cy="7905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325" y="2159793"/>
            <a:ext cx="10801350" cy="452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sz="2850" b="1" i="0" u="none">
                <a:solidFill>
                  <a:srgbClr val="0F172A"/>
                </a:solidFill>
                <a:latin typeface="Merriweather"/>
              </a:rPr>
              <a:t>Populism or Competitive Authoritarianism?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783681"/>
            <a:ext cx="10287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An Easy Guide to Understanding the Trump Presidency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356" y="3469481"/>
            <a:ext cx="1030128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1D4ED8"/>
                </a:solidFill>
                <a:latin typeface="Plus Jakarta Sans"/>
              </a:rPr>
              <a:t>COURSE: POL-</a:t>
            </a:r>
            <a:r>
              <a:rPr lang="en-US" sz="1050" b="1" i="0" u="none" dirty="0">
                <a:solidFill>
                  <a:srgbClr val="1D4ED8"/>
                </a:solidFill>
                <a:latin typeface="Plus Jakarta Sans"/>
              </a:rPr>
              <a:t>101</a:t>
            </a:r>
            <a:r>
              <a:rPr sz="1050" b="1" i="0" u="none" dirty="0">
                <a:solidFill>
                  <a:srgbClr val="1D4ED8"/>
                </a:solidFill>
                <a:latin typeface="Plus Jakarta Sans"/>
              </a:rPr>
              <a:t> </a:t>
            </a:r>
            <a:r>
              <a:rPr lang="en-US" sz="1050" b="1" i="0" u="none" dirty="0">
                <a:solidFill>
                  <a:srgbClr val="1D4ED8"/>
                </a:solidFill>
                <a:latin typeface="Plus Jakarta Sans"/>
              </a:rPr>
              <a:t>POLITICAL SCIENCE</a:t>
            </a:r>
            <a:endParaRPr sz="1050" b="1" i="0" u="none" dirty="0">
              <a:solidFill>
                <a:srgbClr val="1D4ED8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33870" y="3879056"/>
            <a:ext cx="178412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Mehedi Hasan Rowdro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6350" y="4069556"/>
            <a:ext cx="1699170" cy="164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1D4ED8"/>
                </a:solidFill>
                <a:latin typeface="Plus Jakarta Sans SemiBold"/>
              </a:rPr>
              <a:t>ID: 24101226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50" y="4271962"/>
            <a:ext cx="1699170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sz="787" b="0" i="0" u="none">
                <a:solidFill>
                  <a:srgbClr val="64748B"/>
                </a:solidFill>
                <a:latin typeface="Plus Jakarta Sans SemiBold"/>
              </a:rPr>
              <a:t>Slides 2 &amp;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787" y="3879056"/>
            <a:ext cx="178428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MD. Muhtasim Fuad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1270" y="4069556"/>
            <a:ext cx="1699319" cy="164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1D4ED8"/>
                </a:solidFill>
                <a:latin typeface="Plus Jakarta Sans SemiBold"/>
              </a:rPr>
              <a:t>ID: 23201266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1270" y="4271962"/>
            <a:ext cx="1699319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sz="787" b="0" i="0" u="none">
                <a:solidFill>
                  <a:srgbClr val="64748B"/>
                </a:solidFill>
                <a:latin typeface="Plus Jakarta Sans SemiBold"/>
              </a:rPr>
              <a:t>Slides 4 &amp;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3860" y="3879056"/>
            <a:ext cx="178412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Sadman Rahman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6340" y="4069556"/>
            <a:ext cx="1699170" cy="164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1D4ED8"/>
                </a:solidFill>
                <a:latin typeface="Plus Jakarta Sans SemiBold"/>
              </a:rPr>
              <a:t>ID: 24101331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340" y="4271962"/>
            <a:ext cx="1699170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sz="787" b="0" i="0" u="none">
                <a:solidFill>
                  <a:srgbClr val="64748B"/>
                </a:solidFill>
                <a:latin typeface="Plus Jakarta Sans SemiBold"/>
              </a:rPr>
              <a:t>Slides 6 &amp;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8777" y="3879056"/>
            <a:ext cx="178428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Monazzi Siddique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1260" y="4069556"/>
            <a:ext cx="1699319" cy="164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1D4ED8"/>
                </a:solidFill>
                <a:latin typeface="Plus Jakarta Sans SemiBold"/>
              </a:rPr>
              <a:t>ID: 24121019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1260" y="4271962"/>
            <a:ext cx="1699319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sz="787" b="0" i="0" u="none">
                <a:solidFill>
                  <a:srgbClr val="64748B"/>
                </a:solidFill>
                <a:latin typeface="Plus Jakarta Sans SemiBold"/>
              </a:rPr>
              <a:t>Slides 8 &amp; 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3851" y="3879056"/>
            <a:ext cx="178412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Shafat Ahmad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6330" y="4069556"/>
            <a:ext cx="1699170" cy="164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1D4ED8"/>
                </a:solidFill>
                <a:latin typeface="Plus Jakarta Sans SemiBold"/>
              </a:rPr>
              <a:t>ID: 1000054770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6330" y="4271962"/>
            <a:ext cx="1699170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sz="787" b="0" i="0" u="none">
                <a:solidFill>
                  <a:srgbClr val="64748B"/>
                </a:solidFill>
                <a:latin typeface="Plus Jakarta Sans SemiBold"/>
              </a:rPr>
              <a:t>Slides 10 &amp;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381000"/>
            <a:ext cx="238125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519362"/>
            <a:ext cx="5500687" cy="2752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519362"/>
            <a:ext cx="5500687" cy="2752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381000"/>
            <a:ext cx="543677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 i="0" u="none">
                <a:solidFill>
                  <a:srgbClr val="0F172A"/>
                </a:solidFill>
                <a:latin typeface="Merriweather"/>
              </a:rPr>
              <a:t>1. Academic Definition: What is Populism?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745" y="447675"/>
            <a:ext cx="70112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D4ED8"/>
                </a:solidFill>
                <a:latin typeface="Plus Jakarta Sans"/>
              </a:rPr>
              <a:t>PREPARED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2225" y="571500"/>
            <a:ext cx="1390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Mehedi Hasan Rowdro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6600" y="733425"/>
            <a:ext cx="676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Plus Jakarta Sans SemiBold"/>
              </a:rPr>
              <a:t>ID: 24101226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757487"/>
            <a:ext cx="16573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3071812"/>
            <a:ext cx="52756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3A8A"/>
                </a:solidFill>
                <a:latin typeface="Merriweather"/>
              </a:rPr>
              <a:t>"A Thin-Centered Ideology"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3548062"/>
            <a:ext cx="50244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Populism is defined as an ideology that divides society into two opposing groups: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the pure people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versus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the corrupt elite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4271962"/>
            <a:ext cx="50244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Core Concept: It argues that politics must directly represent the "will of the people" over political insiders.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187" y="2757487"/>
            <a:ext cx="1509712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53187" y="3071812"/>
            <a:ext cx="52756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3A8A"/>
                </a:solidFill>
                <a:latin typeface="Merriweather"/>
              </a:rPr>
              <a:t>Style vs. Regime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3187" y="3548062"/>
            <a:ext cx="50244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Populism is a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political style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. Leaders claim to be the only true voice of normal citizens. Crucially, populism operates </a:t>
            </a:r>
            <a:r>
              <a:rPr sz="1200" b="0" i="1" u="none">
                <a:solidFill>
                  <a:srgbClr val="334155"/>
                </a:solidFill>
                <a:latin typeface="Plus Jakarta Sans"/>
              </a:rPr>
              <a:t>inside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democratic rules and elections.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3187" y="4500562"/>
            <a:ext cx="50244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Key Takeaway: Challenging established elites does not mean destroying democracy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381000"/>
            <a:ext cx="238125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519362"/>
            <a:ext cx="5500687" cy="2752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519362"/>
            <a:ext cx="5500687" cy="2752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381000"/>
            <a:ext cx="701290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 i="0" u="none">
                <a:solidFill>
                  <a:srgbClr val="0F172A"/>
                </a:solidFill>
                <a:latin typeface="Merriweather"/>
              </a:rPr>
              <a:t>2. Academic Definition: Competitive Authoritarianism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745" y="447675"/>
            <a:ext cx="70112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D4ED8"/>
                </a:solidFill>
                <a:latin typeface="Plus Jakarta Sans"/>
              </a:rPr>
              <a:t>PREPARED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2225" y="571500"/>
            <a:ext cx="1390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Mehedi Hasan Rowdro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6600" y="733425"/>
            <a:ext cx="676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Plus Jakarta Sans SemiBold"/>
              </a:rPr>
              <a:t>ID: 24101226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757487"/>
            <a:ext cx="1890712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3071812"/>
            <a:ext cx="52756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3A8A"/>
                </a:solidFill>
                <a:latin typeface="Merriweather"/>
              </a:rPr>
              <a:t>"A Hybrid Regime Model"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3548062"/>
            <a:ext cx="50244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This is a system where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elections and democratic rules exist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, but leaders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abuse state power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so heavily that the playing field becomes unfair for opponents.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4500562"/>
            <a:ext cx="50244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Core Concept: It is neither a full democracy nor a total dictatorship, but a hybrid in-between.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187" y="2757487"/>
            <a:ext cx="1519237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53187" y="3071812"/>
            <a:ext cx="52756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3A8A"/>
                </a:solidFill>
                <a:latin typeface="Merriweather"/>
              </a:rPr>
              <a:t>Tilting the Arena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3187" y="3548062"/>
            <a:ext cx="50244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Incumbents tilt the field in four key areas: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elections, media, judiciary, and state resources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. Opposition can run, but faces massive unfair disadvantages.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3187" y="4500562"/>
            <a:ext cx="50244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Key Takeaway: Democratic institutions are kept as a cover, but weaponized to stay in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381000"/>
            <a:ext cx="238125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902743"/>
            <a:ext cx="5500687" cy="19859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381000"/>
            <a:ext cx="662098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 i="0" u="none">
                <a:solidFill>
                  <a:srgbClr val="0F172A"/>
                </a:solidFill>
                <a:latin typeface="Merriweather"/>
              </a:rPr>
              <a:t>3. Speeches &amp; Rhetoric: Fighting the Establishment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71745" y="447675"/>
            <a:ext cx="70112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D4ED8"/>
                </a:solidFill>
                <a:latin typeface="Plus Jakarta Sans"/>
              </a:rPr>
              <a:t>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53675" y="571500"/>
            <a:ext cx="1219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MD. Muhtasim Fuad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77550" y="733425"/>
            <a:ext cx="695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Plus Jakarta Sans SemiBold"/>
              </a:rPr>
              <a:t>ID: 23201266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3662" y="4488656"/>
            <a:ext cx="504348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Simple Rule: Rallying the people against elites is classic populism.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902743"/>
            <a:ext cx="52339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The "Deep State" Narrative: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Trump repeatedly claimed non-elected government workers were secretly undermining the public.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3512343"/>
            <a:ext cx="52339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"The Forgotten Americans":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Promised that working-class citizens would no longer be ignored by Washington politicians.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4121943"/>
            <a:ext cx="52339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Unmediated Direct Talk: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Used Twitter/X to speak directly to followers, bypassing news reporters.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3662" y="3140868"/>
            <a:ext cx="976312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3662" y="3455193"/>
            <a:ext cx="529566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8BDF8"/>
                </a:solidFill>
                <a:latin typeface="Merriweather"/>
              </a:rPr>
              <a:t>Populist 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662" y="3821906"/>
            <a:ext cx="504348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Trump’s rhetoric fits Cas Mudde's definition of populism. He framed political life as a moral battle between everyday voters and corrupt elites.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940843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550443"/>
            <a:ext cx="1905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160043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381000"/>
            <a:ext cx="238125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724150"/>
            <a:ext cx="3619500" cy="2343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2724150"/>
            <a:ext cx="3619500" cy="2343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2724150"/>
            <a:ext cx="3619500" cy="2343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381000"/>
            <a:ext cx="551678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 i="0" u="none">
                <a:solidFill>
                  <a:srgbClr val="0F172A"/>
                </a:solidFill>
                <a:latin typeface="Merriweather"/>
              </a:rPr>
              <a:t>4. Presidential Power: Bypassing Congress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71745" y="447675"/>
            <a:ext cx="70112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D4ED8"/>
                </a:solidFill>
                <a:latin typeface="Plus Jakarta Sans"/>
              </a:rPr>
              <a:t>PREPARED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53675" y="571500"/>
            <a:ext cx="1219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MD. Muhtasim Fuad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77550" y="733425"/>
            <a:ext cx="695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Plus Jakarta Sans SemiBold"/>
              </a:rPr>
              <a:t>ID: 23201266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3371850"/>
            <a:ext cx="334041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erriweather"/>
              </a:rPr>
              <a:t>Judicial Appointments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3800475"/>
            <a:ext cx="3181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Appointed conservative judges to federal courts to secure favorable constitutional rulings in the long 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325" y="3371850"/>
            <a:ext cx="334041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erriweather"/>
              </a:rPr>
              <a:t>Executive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325" y="3800475"/>
            <a:ext cx="3181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Declared national emergencies and used unilateral executive orders to pass policies whenever Congress refused to agree.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371850"/>
            <a:ext cx="334041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erriweather"/>
              </a:rPr>
              <a:t>OUR VERDICT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325" y="3667125"/>
            <a:ext cx="1552575" cy="2190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15325" y="4114800"/>
            <a:ext cx="3181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Testing institutional limits to expand executive power aligns with Levitsky &amp; Way's model of competitive authoritarian behavior.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990850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2990850"/>
            <a:ext cx="2762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325" y="2990850"/>
            <a:ext cx="2476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381000"/>
            <a:ext cx="238125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843212"/>
            <a:ext cx="5500687" cy="2105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843212"/>
            <a:ext cx="5500687" cy="2105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381000"/>
            <a:ext cx="498874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 i="0" u="none">
                <a:solidFill>
                  <a:srgbClr val="0F172A"/>
                </a:solidFill>
                <a:latin typeface="Merriweather"/>
              </a:rPr>
              <a:t>5. News &amp; Media: Attacking Journalists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745" y="447675"/>
            <a:ext cx="70112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D4ED8"/>
                </a:solidFill>
                <a:latin typeface="Plus Jakarta Sans"/>
              </a:rPr>
              <a:t>PREPARED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34650" y="571500"/>
            <a:ext cx="1038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Sadman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5650" y="733425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Plus Jakarta Sans SemiBold"/>
              </a:rPr>
              <a:t>ID: 24101331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081337"/>
            <a:ext cx="102870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3395662"/>
            <a:ext cx="52756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3A8A"/>
                </a:solidFill>
                <a:latin typeface="Merriweather"/>
              </a:rPr>
              <a:t>"Enemy of the People"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3871912"/>
            <a:ext cx="50244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Trump routinely called major news organizations "Fake News" and "enemies of the people," eroding trust in independent press scrutiny.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187" y="3081337"/>
            <a:ext cx="1828800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53187" y="3395662"/>
            <a:ext cx="52756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3A8A"/>
                </a:solidFill>
                <a:latin typeface="Merriweather"/>
              </a:rPr>
              <a:t>Bypassing Press Gatekeepers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3187" y="3871912"/>
            <a:ext cx="50244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By skipping regular news conferences and posting directly on social media, he created an ecosystem where supporters only heard his narrative.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381000"/>
            <a:ext cx="238125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002756"/>
            <a:ext cx="5500687" cy="17859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3002756"/>
            <a:ext cx="5500687" cy="17859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381000"/>
            <a:ext cx="473262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 i="0" u="none">
                <a:solidFill>
                  <a:srgbClr val="0F172A"/>
                </a:solidFill>
                <a:latin typeface="Merriweather"/>
              </a:rPr>
              <a:t>6. Elections: Questioning the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745" y="447675"/>
            <a:ext cx="70112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D4ED8"/>
                </a:solidFill>
                <a:latin typeface="Plus Jakarta Sans"/>
              </a:rPr>
              <a:t>PREPARED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34650" y="571500"/>
            <a:ext cx="1038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Sadman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5650" y="733425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Plus Jakarta Sans SemiBold"/>
              </a:rPr>
              <a:t>ID: 24101331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240881"/>
            <a:ext cx="15525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3555206"/>
            <a:ext cx="52756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91B1B"/>
                </a:solidFill>
                <a:latin typeface="Merriweather"/>
              </a:rPr>
              <a:t>Challenging Certified Votes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3998118"/>
            <a:ext cx="502443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334155"/>
                </a:solidFill>
                <a:latin typeface="Plus Jakarta Sans"/>
              </a:rPr>
              <a:t>Trying to overturn the 2020 election results and pressuring state election officials crossed the line into competitive authoritarian behavior.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187" y="3240881"/>
            <a:ext cx="1123950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53187" y="3555206"/>
            <a:ext cx="52756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2400E"/>
                </a:solidFill>
                <a:latin typeface="Merriweather"/>
              </a:rPr>
              <a:t>Claiming a "Rigged System"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3187" y="3998118"/>
            <a:ext cx="502443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334155"/>
                </a:solidFill>
                <a:latin typeface="Plus Jakarta Sans"/>
              </a:rPr>
              <a:t>Telling supporters the vote was rigged tapped into populist anger against democratic institutions and elite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381000"/>
            <a:ext cx="238125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981325"/>
            <a:ext cx="5500687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381000"/>
            <a:ext cx="593277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 i="0" u="none">
                <a:solidFill>
                  <a:srgbClr val="0F172A"/>
                </a:solidFill>
                <a:latin typeface="Merriweather"/>
              </a:rPr>
              <a:t>7. Protests: Using Police Force Against Dissent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71745" y="447675"/>
            <a:ext cx="70112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D4ED8"/>
                </a:solidFill>
                <a:latin typeface="Plus Jakarta Sans"/>
              </a:rPr>
              <a:t>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87025" y="571500"/>
            <a:ext cx="10858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Monazzi Siddique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733425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Plus Jakarta Sans SemiBold"/>
              </a:rPr>
              <a:t>ID: 24121019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3662" y="3209925"/>
            <a:ext cx="976312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3662" y="3555206"/>
            <a:ext cx="529566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8BDF8"/>
                </a:solidFill>
                <a:latin typeface="Merriweather"/>
              </a:rPr>
              <a:t>Authoritarian Tactic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3662" y="4029075"/>
            <a:ext cx="5043487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Deploying federal forces against domestic political dissent reflects Levitsky &amp; Way's criteria for abusing state power against opposition.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981325"/>
            <a:ext cx="52339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Deploying Federal Police: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Sent federal officers into cities to handle street protests during public unrest in 2020.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590925"/>
            <a:ext cx="52339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Aggressive Speech: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Used harsh language against peaceful protestors and political critics.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200525"/>
            <a:ext cx="52339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Restricting Demonstrations: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Suggested stricter legal rules and tougher punishments for public protests.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019425"/>
            <a:ext cx="1905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629025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238625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381000"/>
            <a:ext cx="238125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724150"/>
            <a:ext cx="3619500" cy="2343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2724150"/>
            <a:ext cx="3619500" cy="2343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2724150"/>
            <a:ext cx="3619500" cy="2343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381000"/>
            <a:ext cx="651284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 i="0" u="none">
                <a:solidFill>
                  <a:srgbClr val="0F172A"/>
                </a:solidFill>
                <a:latin typeface="Merriweather"/>
              </a:rPr>
              <a:t>8. Government Workers: Seeking Personal Loyalty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71745" y="447675"/>
            <a:ext cx="70112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D4ED8"/>
                </a:solidFill>
                <a:latin typeface="Plus Jakarta Sans"/>
              </a:rPr>
              <a:t>PREPARED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7025" y="571500"/>
            <a:ext cx="10858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Monazzi Siddique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5650" y="733425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Plus Jakarta Sans SemiBold"/>
              </a:rPr>
              <a:t>ID: 24121019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3371850"/>
            <a:ext cx="334041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erriweather"/>
              </a:rPr>
              <a:t>Schedule F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3800475"/>
            <a:ext cx="3181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Proposed reclassifying thousands of career civil servants into political appointees to ensure executive loyalty.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325" y="3371850"/>
            <a:ext cx="334041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erriweather"/>
              </a:rPr>
              <a:t>Pressuring Agencies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325" y="3800475"/>
            <a:ext cx="3181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Publicly criticized the Justice Department and FBI whenever agency actions conflicted with White House interests.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371850"/>
            <a:ext cx="334041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erriweather"/>
              </a:rPr>
              <a:t>OUR VERDICT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325" y="3667125"/>
            <a:ext cx="1552575" cy="2190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15325" y="4114800"/>
            <a:ext cx="3181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Attempting to replace neutral state administrators with loyal supporters is a clear competitive authoritarian tactic (capturing the referee).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990850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2990850"/>
            <a:ext cx="2762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325" y="2990850"/>
            <a:ext cx="3143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381000"/>
            <a:ext cx="238125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843212"/>
            <a:ext cx="5500687" cy="2105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843212"/>
            <a:ext cx="5500687" cy="2105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381000"/>
            <a:ext cx="426459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 i="0" u="none">
                <a:solidFill>
                  <a:srgbClr val="0F172A"/>
                </a:solidFill>
                <a:latin typeface="Merriweather"/>
              </a:rPr>
              <a:t>9. Foreign Policy: "America First"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745" y="447675"/>
            <a:ext cx="70112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D4ED8"/>
                </a:solidFill>
                <a:latin typeface="Plus Jakarta Sans"/>
              </a:rPr>
              <a:t>PREPARED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7050" y="571500"/>
            <a:ext cx="885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Shafat Ahmad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150" y="733425"/>
            <a:ext cx="847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Plus Jakarta Sans SemiBold"/>
              </a:rPr>
              <a:t>ID: 1000054770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081337"/>
            <a:ext cx="1604962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3395662"/>
            <a:ext cx="52756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3A8A"/>
                </a:solidFill>
                <a:latin typeface="Merriweather"/>
              </a:rPr>
              <a:t>Leaving Global Treaties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3871912"/>
            <a:ext cx="50244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Withdrew from major global agreements (like the Paris Accord) claiming international organizations were exploiting American workers.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187" y="3081337"/>
            <a:ext cx="1481137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53187" y="3395662"/>
            <a:ext cx="52756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3A8A"/>
                </a:solidFill>
                <a:latin typeface="Merriweather"/>
              </a:rPr>
              <a:t>Praising Foreign Strongmen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3187" y="3871912"/>
            <a:ext cx="50244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Expressed admiration for authoritarian leaders worldwide while criticizing traditional democratic allies in NATO.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658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381000"/>
            <a:ext cx="2381250" cy="561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381000"/>
            <a:ext cx="432069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 i="0" u="none">
                <a:solidFill>
                  <a:srgbClr val="0F172A"/>
                </a:solidFill>
                <a:latin typeface="Merriweather"/>
              </a:rPr>
              <a:t>10. Final Comparison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1745" y="447675"/>
            <a:ext cx="70112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D4ED8"/>
                </a:solidFill>
                <a:latin typeface="Plus Jakarta Sans"/>
              </a:rPr>
              <a:t>PREPARED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7050" y="571500"/>
            <a:ext cx="885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F172A"/>
                </a:solidFill>
                <a:latin typeface="Plus Jakarta Sans"/>
              </a:rPr>
              <a:t>Shafat Ahmad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150" y="733425"/>
            <a:ext cx="847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Plus Jakarta Sans SemiBold"/>
              </a:rPr>
              <a:t>ID: 1000054770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50" y="2177653"/>
            <a:ext cx="11239500" cy="3436143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987105"/>
              </p:ext>
            </p:extLst>
          </p:nvPr>
        </p:nvGraphicFramePr>
        <p:xfrm>
          <a:off x="476250" y="2177653"/>
          <a:ext cx="11229973" cy="3436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8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7228">
                <a:tc>
                  <a:txBody>
                    <a:bodyPr/>
                    <a:lstStyle/>
                    <a:p>
                      <a:pPr algn="l"/>
                      <a:r>
                        <a:rPr sz="1087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Topic Area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Populist Sign?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Authoritarian Sign?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Final Conclusion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228">
                <a:tc>
                  <a:txBody>
                    <a:bodyPr/>
                    <a:lstStyle/>
                    <a:p>
                      <a:pPr algn="l"/>
                      <a:r>
                        <a:rPr sz="1087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Speeches &amp; Rhetoric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 (Mudde: People vs. Elites)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87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228">
                <a:tc>
                  <a:txBody>
                    <a:bodyPr/>
                    <a:lstStyle/>
                    <a:p>
                      <a:pPr algn="l"/>
                      <a:r>
                        <a:rPr sz="1087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Elections &amp; Voting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 (Grievance rhetoric)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 (Levitsky: Subverting results)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87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228">
                <a:tc>
                  <a:txBody>
                    <a:bodyPr/>
                    <a:lstStyle/>
                    <a:p>
                      <a:pPr algn="l"/>
                      <a:r>
                        <a:rPr sz="1087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State Bureaucracy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 (Levitsky: Schedule F &amp; pressure)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Authoritarian Tactic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231">
                <a:tc>
                  <a:txBody>
                    <a:bodyPr/>
                    <a:lstStyle/>
                    <a:p>
                      <a:pPr algn="l"/>
                      <a:r>
                        <a:rPr sz="1087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Final Summary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Trump operated primarily as a </a:t>
                      </a:r>
                      <a:r>
                        <a:rPr sz="1087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Populist Leader</a:t>
                      </a:r>
                      <a:r>
                        <a:rPr sz="1087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who regularly deployed </a:t>
                      </a:r>
                      <a:r>
                        <a:rPr sz="1087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Competitive Authoritarian tactics</a:t>
                      </a:r>
                      <a:r>
                        <a:rPr sz="1087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against institutional limits.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7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Hybrid Behavior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81012" y="2656284"/>
            <a:ext cx="16819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62919" y="2656284"/>
            <a:ext cx="35002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3207" y="2656284"/>
            <a:ext cx="42189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882187" y="2656284"/>
            <a:ext cx="1828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1012" y="3346846"/>
            <a:ext cx="16819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62919" y="3346846"/>
            <a:ext cx="35002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3207" y="3346846"/>
            <a:ext cx="42189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882187" y="3346846"/>
            <a:ext cx="1828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1012" y="4127896"/>
            <a:ext cx="16819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62919" y="4127896"/>
            <a:ext cx="35002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3207" y="4127896"/>
            <a:ext cx="42189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82187" y="4127896"/>
            <a:ext cx="1828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1012" y="4908946"/>
            <a:ext cx="16819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162919" y="4908946"/>
            <a:ext cx="35002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3207" y="4908946"/>
            <a:ext cx="42189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82187" y="4908946"/>
            <a:ext cx="1828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1012" y="5599509"/>
            <a:ext cx="16819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162919" y="5599509"/>
            <a:ext cx="7719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882187" y="5599509"/>
            <a:ext cx="1828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3150" y="2994422"/>
            <a:ext cx="1123950" cy="25241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037" y="3582590"/>
            <a:ext cx="1481137" cy="4095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037" y="4327921"/>
            <a:ext cx="1481137" cy="4095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2186" y="5132784"/>
            <a:ext cx="1252537" cy="2524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13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41339"/>
            <a:ext cx="11239500" cy="29467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8225" y="2360414"/>
            <a:ext cx="10382250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>
                <a:solidFill>
                  <a:srgbClr val="334155"/>
                </a:solidFill>
                <a:latin typeface="Plus Jakarta Sans"/>
              </a:rPr>
              <a:t>Levitsky, S., &amp; Way, L. A. (2010). </a:t>
            </a:r>
            <a:r>
              <a:rPr sz="1012" b="0" i="1" u="none">
                <a:solidFill>
                  <a:srgbClr val="334155"/>
                </a:solidFill>
                <a:latin typeface="Plus Jakarta Sans"/>
              </a:rPr>
              <a:t>Competitive authoritarianism: Hybrid regimes in the post-cold war era</a:t>
            </a:r>
            <a:r>
              <a:rPr sz="1012" b="0" i="0" u="none">
                <a:solidFill>
                  <a:srgbClr val="334155"/>
                </a:solidFill>
                <a:latin typeface="Plus Jakarta Sans"/>
              </a:rPr>
              <a:t>. Cambridge University Press. </a:t>
            </a:r>
            <a:r>
              <a:rPr sz="1012" b="0" i="0" u="none">
                <a:solidFill>
                  <a:srgbClr val="1D4ED8"/>
                </a:solidFill>
                <a:latin typeface="Plus Jakarta Sans Medium"/>
              </a:rPr>
              <a:t>https://doi.org/10.1017/CBO9780511781353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" y="2682330"/>
            <a:ext cx="10382250" cy="598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69"/>
              </a:lnSpc>
            </a:pP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Levitsky, S., &amp; Ziblatt, D. (2018). </a:t>
            </a:r>
            <a:r>
              <a:rPr sz="1012" b="0" i="1" u="none" dirty="0">
                <a:solidFill>
                  <a:srgbClr val="334155"/>
                </a:solidFill>
                <a:latin typeface="Plus Jakarta Sans"/>
              </a:rPr>
              <a:t>How democracies die</a:t>
            </a: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. Crown Publishing. </a:t>
            </a:r>
            <a:r>
              <a:rPr lang="en-GB" sz="1012" dirty="0">
                <a:solidFill>
                  <a:srgbClr val="1D4ED8"/>
                </a:solidFill>
                <a:latin typeface="Plus Jakarta Sans Medium"/>
              </a:rPr>
              <a:t>https://</a:t>
            </a:r>
            <a:r>
              <a:rPr lang="en-GB" sz="1012" dirty="0" err="1">
                <a:solidFill>
                  <a:srgbClr val="1D4ED8"/>
                </a:solidFill>
                <a:latin typeface="Plus Jakarta Sans Medium"/>
              </a:rPr>
              <a:t>www.researchgate.net</a:t>
            </a:r>
            <a:r>
              <a:rPr lang="en-GB" sz="1012" dirty="0">
                <a:solidFill>
                  <a:srgbClr val="1D4ED8"/>
                </a:solidFill>
                <a:latin typeface="Plus Jakarta Sans Medium"/>
              </a:rPr>
              <a:t>/publication/341697827_How_democracies_die_by_Steven_Levitsky_and_Daniel_Ziblatt_New_York_Crown_Publishing_Group_2018_167_pp_2152_paperback_ISBN_9781524762957</a:t>
            </a:r>
            <a:endParaRPr sz="1012" b="0" i="0" u="none" dirty="0">
              <a:solidFill>
                <a:srgbClr val="1D4ED8"/>
              </a:solidFill>
              <a:latin typeface="Plus Jakarta Sans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8225" y="3333681"/>
            <a:ext cx="10382250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Mudde, C., &amp; Kaltwasser, C. R. (2017). </a:t>
            </a:r>
            <a:r>
              <a:rPr sz="1012" b="0" i="1" u="none" dirty="0">
                <a:solidFill>
                  <a:srgbClr val="334155"/>
                </a:solidFill>
                <a:latin typeface="Plus Jakarta Sans"/>
              </a:rPr>
              <a:t>Populism: A very short introduction</a:t>
            </a: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. Oxford University Press. </a:t>
            </a:r>
            <a:r>
              <a:rPr sz="1012" b="0" i="0" u="none" dirty="0">
                <a:solidFill>
                  <a:srgbClr val="1D4ED8"/>
                </a:solidFill>
                <a:latin typeface="Plus Jakarta Sans Medium"/>
              </a:rPr>
              <a:t>https://</a:t>
            </a:r>
            <a:r>
              <a:rPr sz="1012" b="0" i="0" u="none" dirty="0" err="1">
                <a:solidFill>
                  <a:srgbClr val="1D4ED8"/>
                </a:solidFill>
                <a:latin typeface="Plus Jakarta Sans Medium"/>
              </a:rPr>
              <a:t>doi.org</a:t>
            </a:r>
            <a:r>
              <a:rPr sz="1012" b="0" i="0" u="none" dirty="0">
                <a:solidFill>
                  <a:srgbClr val="1D4ED8"/>
                </a:solidFill>
                <a:latin typeface="Plus Jakarta Sans Medium"/>
              </a:rPr>
              <a:t>/10.1093/</a:t>
            </a:r>
            <a:r>
              <a:rPr sz="1012" b="0" i="0" u="none" dirty="0" err="1">
                <a:solidFill>
                  <a:srgbClr val="1D4ED8"/>
                </a:solidFill>
                <a:latin typeface="Plus Jakarta Sans Medium"/>
              </a:rPr>
              <a:t>actrade</a:t>
            </a:r>
            <a:r>
              <a:rPr sz="1012" b="0" i="0" u="none" dirty="0">
                <a:solidFill>
                  <a:srgbClr val="1D4ED8"/>
                </a:solidFill>
                <a:latin typeface="Plus Jakarta Sans Medium"/>
              </a:rPr>
              <a:t>/9780190234874.001.0001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674267"/>
            <a:ext cx="10382250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Norris, P., &amp; Inglehart, R. (2019). </a:t>
            </a:r>
            <a:r>
              <a:rPr sz="1012" b="0" i="1" u="none" dirty="0">
                <a:solidFill>
                  <a:srgbClr val="334155"/>
                </a:solidFill>
                <a:latin typeface="Plus Jakarta Sans"/>
              </a:rPr>
              <a:t>Cultural backlash: Trump, Brexit, and authoritarian populism</a:t>
            </a: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. Cambridge University Press. </a:t>
            </a:r>
            <a:r>
              <a:rPr sz="1012" b="0" i="0" u="none" dirty="0">
                <a:solidFill>
                  <a:srgbClr val="1D4ED8"/>
                </a:solidFill>
                <a:latin typeface="Plus Jakarta Sans Medium"/>
              </a:rPr>
              <a:t>https://</a:t>
            </a:r>
            <a:r>
              <a:rPr sz="1012" b="0" i="0" u="none" dirty="0" err="1">
                <a:solidFill>
                  <a:srgbClr val="1D4ED8"/>
                </a:solidFill>
                <a:latin typeface="Plus Jakarta Sans Medium"/>
              </a:rPr>
              <a:t>doi.org</a:t>
            </a:r>
            <a:r>
              <a:rPr sz="1012" b="0" i="0" u="none" dirty="0">
                <a:solidFill>
                  <a:srgbClr val="1D4ED8"/>
                </a:solidFill>
                <a:latin typeface="Plus Jakarta Sans Medium"/>
              </a:rPr>
              <a:t>/10.1017/9781108595841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996183"/>
            <a:ext cx="103822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Pew Research Center. (2024). </a:t>
            </a:r>
            <a:r>
              <a:rPr sz="1012" b="0" i="1" u="none" dirty="0">
                <a:solidFill>
                  <a:srgbClr val="334155"/>
                </a:solidFill>
                <a:latin typeface="Plus Jakarta Sans"/>
              </a:rPr>
              <a:t>Public trust in government: 1958–2024</a:t>
            </a: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. Pew Research Center Publications. </a:t>
            </a:r>
            <a:r>
              <a:rPr sz="1012" b="0" i="0" u="none" dirty="0">
                <a:solidFill>
                  <a:srgbClr val="1D4ED8"/>
                </a:solidFill>
                <a:latin typeface="Plus Jakarta Sans Medium"/>
              </a:rPr>
              <a:t>https://</a:t>
            </a:r>
            <a:r>
              <a:rPr sz="1012" b="0" i="0" u="none" dirty="0" err="1">
                <a:solidFill>
                  <a:srgbClr val="1D4ED8"/>
                </a:solidFill>
                <a:latin typeface="Plus Jakarta Sans Medium"/>
              </a:rPr>
              <a:t>www.pewresearch.org</a:t>
            </a:r>
            <a:r>
              <a:rPr sz="1012" b="0" i="0" u="none" dirty="0">
                <a:solidFill>
                  <a:srgbClr val="1D4ED8"/>
                </a:solidFill>
                <a:latin typeface="Plus Jakarta Sans Medium"/>
              </a:rPr>
              <a:t>/politics/2024/06/24/public-trust-in-government-1958-2024/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318099"/>
            <a:ext cx="103822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69"/>
              </a:lnSpc>
            </a:pP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Weyland, K. (2020). Populism's threat to democracy: Comparative lessons for the United States. </a:t>
            </a:r>
            <a:r>
              <a:rPr sz="1012" b="0" i="1" u="none" dirty="0">
                <a:solidFill>
                  <a:srgbClr val="334155"/>
                </a:solidFill>
                <a:latin typeface="Plus Jakarta Sans"/>
              </a:rPr>
              <a:t>Perspectives on Politics</a:t>
            </a: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, 18(2), 389–406.</a:t>
            </a:r>
            <a:r>
              <a:rPr lang="en-US" sz="1012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GB" sz="1012" dirty="0">
                <a:solidFill>
                  <a:srgbClr val="1D4ED8"/>
                </a:solidFill>
                <a:latin typeface="Plus Jakarta Sans Medium"/>
              </a:rPr>
              <a:t>https://</a:t>
            </a:r>
            <a:r>
              <a:rPr lang="en-GB" sz="1012" dirty="0" err="1">
                <a:solidFill>
                  <a:srgbClr val="1D4ED8"/>
                </a:solidFill>
                <a:latin typeface="Plus Jakarta Sans Medium"/>
              </a:rPr>
              <a:t>www.researchgate.net</a:t>
            </a:r>
            <a:r>
              <a:rPr lang="en-GB" sz="1012" dirty="0">
                <a:solidFill>
                  <a:srgbClr val="1D4ED8"/>
                </a:solidFill>
                <a:latin typeface="Plus Jakarta Sans Medium"/>
              </a:rPr>
              <a:t>/publication/338343773_Populism's_Threat_to_Democracy_Comparative_Lessons_for_the_United_States</a:t>
            </a:r>
            <a:endParaRPr sz="1012" b="0" i="0" u="none" dirty="0">
              <a:solidFill>
                <a:srgbClr val="1D4ED8"/>
              </a:solidFill>
              <a:latin typeface="Plus Jakarta Sans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26160" y="381000"/>
            <a:ext cx="355847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 i="0" u="none" dirty="0">
                <a:solidFill>
                  <a:srgbClr val="0F172A"/>
                </a:solidFill>
                <a:latin typeface="Merriweather"/>
              </a:rPr>
              <a:t>11. References (APA</a:t>
            </a:r>
            <a:r>
              <a:rPr lang="en-US" sz="2025" b="1" i="0" u="none" dirty="0">
                <a:solidFill>
                  <a:srgbClr val="0F172A"/>
                </a:solidFill>
                <a:latin typeface="Merriweather"/>
              </a:rPr>
              <a:t> </a:t>
            </a:r>
            <a:r>
              <a:rPr sz="2025" b="1" i="0" u="none" dirty="0">
                <a:solidFill>
                  <a:srgbClr val="0F172A"/>
                </a:solidFill>
                <a:latin typeface="Merriweather"/>
              </a:rPr>
              <a:t>Style)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1182</Words>
  <Application>Microsoft Macintosh PowerPoint</Application>
  <PresentationFormat>Widescreen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Merriweather</vt:lpstr>
      <vt:lpstr>Plus Jakarta Sans</vt:lpstr>
      <vt:lpstr>Plus Jakarta Sans Medium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Mehedi Hasan</cp:lastModifiedBy>
  <cp:revision>3</cp:revision>
  <dcterms:created xsi:type="dcterms:W3CDTF">2013-01-27T09:14:16Z</dcterms:created>
  <dcterms:modified xsi:type="dcterms:W3CDTF">2026-09-02T20:01:36Z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2026-09-02T19:07:41Z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bc1e5976-f887-41cf-87d7-138b8da14090</vt:lpwstr>
  </property>
  <property fmtid="{D5CDD505-2E9C-101B-9397-08002B2CF9AE}" pid="7" name="MSIP_Label_defa4170-0d19-0005-0004-bc88714345d2_ActionId">
    <vt:lpwstr>ab64e76e-4e55-4acb-9ce5-7074b7c761da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