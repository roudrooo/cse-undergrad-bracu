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y="6858000" cx="9144000"/>
  <p:notesSz cx="6858000" cy="9144000"/>
  <p:embeddedFontLst>
    <p:embeddedFont>
      <p:font typeface="Tahoma"/>
      <p:regular r:id="rId38"/>
      <p:bold r:id="rId39"/>
    </p:embeddedFont>
    <p:embeddedFont>
      <p:font typeface="Helvetica Neue"/>
      <p:regular r:id="rId40"/>
      <p:bold r:id="rId41"/>
      <p:italic r:id="rId42"/>
      <p:boldItalic r:id="rId43"/>
    </p:embeddedFont>
    <p:embeddedFont>
      <p:font typeface="Arial Black"/>
      <p:regular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5" roundtripDataSignature="AMtx7mieobqLJ8ft3Jj+8euR9U1M3v0+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D2E3529-25B0-41FA-B6E4-28771FC29BB3}">
  <a:tblStyle styleId="{1D2E3529-25B0-41FA-B6E4-28771FC29BB3}"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regular.fntdata"/><Relationship Id="rId20" Type="http://schemas.openxmlformats.org/officeDocument/2006/relationships/slide" Target="slides/slide13.xml"/><Relationship Id="rId42" Type="http://schemas.openxmlformats.org/officeDocument/2006/relationships/font" Target="fonts/HelveticaNeue-italic.fntdata"/><Relationship Id="rId41" Type="http://schemas.openxmlformats.org/officeDocument/2006/relationships/font" Target="fonts/HelveticaNeue-bold.fntdata"/><Relationship Id="rId22" Type="http://schemas.openxmlformats.org/officeDocument/2006/relationships/slide" Target="slides/slide15.xml"/><Relationship Id="rId44" Type="http://schemas.openxmlformats.org/officeDocument/2006/relationships/font" Target="fonts/ArialBlack-regular.fntdata"/><Relationship Id="rId21" Type="http://schemas.openxmlformats.org/officeDocument/2006/relationships/slide" Target="slides/slide14.xml"/><Relationship Id="rId43" Type="http://schemas.openxmlformats.org/officeDocument/2006/relationships/font" Target="fonts/HelveticaNeue-boldItalic.fntdata"/><Relationship Id="rId24" Type="http://schemas.openxmlformats.org/officeDocument/2006/relationships/slide" Target="slides/slide17.xml"/><Relationship Id="rId23" Type="http://schemas.openxmlformats.org/officeDocument/2006/relationships/slide" Target="slides/slide16.xml"/><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font" Target="fonts/Tahoma-bold.fntdata"/><Relationship Id="rId16" Type="http://schemas.openxmlformats.org/officeDocument/2006/relationships/slide" Target="slides/slide9.xml"/><Relationship Id="rId38" Type="http://schemas.openxmlformats.org/officeDocument/2006/relationships/font" Target="fonts/Tahoma-regular.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5" name="Google Shape;95;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6" name="Google Shape;9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2" name="Google Shape;11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7" name="Google Shape;127;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8" name="Google Shape;128;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43" name="Google Shape;143;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44" name="Google Shape;14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82" name="Google Shape;182;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02" name="Google Shape;202;p11: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2013 Cengage Learning. All rights reserved. May not be copied, scanned, or duplicated, in whole or in part, except for use as permitted in a license distributed with a certain product or service or otherwise on a password-protected website for classroom use.</a:t>
            </a:r>
            <a:endParaRPr b="0" i="0" sz="1400" u="none" cap="none" strike="noStrike">
              <a:solidFill>
                <a:srgbClr val="000000"/>
              </a:solidFill>
              <a:latin typeface="Arial"/>
              <a:ea typeface="Arial"/>
              <a:cs typeface="Arial"/>
              <a:sym typeface="Arial"/>
            </a:endParaRPr>
          </a:p>
        </p:txBody>
      </p:sp>
      <p:sp>
        <p:nvSpPr>
          <p:cNvPr id="203" name="Google Shape;203;p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7–</a:t>
            </a: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04" name="Google Shape;204;p11:notes"/>
          <p:cNvSpPr txBox="1"/>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Management 11e</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Griffin</a:t>
            </a:r>
            <a:endParaRPr b="0" i="0" sz="1400" u="none" cap="none" strike="noStrike">
              <a:solidFill>
                <a:srgbClr val="000000"/>
              </a:solidFill>
              <a:latin typeface="Arial"/>
              <a:ea typeface="Arial"/>
              <a:cs typeface="Arial"/>
              <a:sym typeface="Arial"/>
            </a:endParaRPr>
          </a:p>
        </p:txBody>
      </p:sp>
      <p:sp>
        <p:nvSpPr>
          <p:cNvPr id="205" name="Google Shape;205;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15" name="Google Shape;215;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29" name="Google Shape;229;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45" name="Google Shape;245;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59" name="Google Shape;259;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74" name="Google Shape;274;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764550cccd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764550cccd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g3764550cccd_0_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3" name="Google Shape;323;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0" name="Google Shape;330;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43" name="Google Shape;34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44" name="Google Shape;344;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60" name="Google Shape;360;p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61" name="Google Shape;361;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75" name="Google Shape;375;p3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76" name="Google Shape;376;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mm</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97" name="Google Shape;397;p3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98" name="Google Shape;398;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 name="Google Shape;17;p3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3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1" name="Shape 31"/>
        <p:cNvGrpSpPr/>
        <p:nvPr/>
      </p:nvGrpSpPr>
      <p:grpSpPr>
        <a:xfrm>
          <a:off x="0" y="0"/>
          <a:ext cx="0" cy="0"/>
          <a:chOff x="0" y="0"/>
          <a:chExt cx="0" cy="0"/>
        </a:xfrm>
      </p:grpSpPr>
      <p:sp>
        <p:nvSpPr>
          <p:cNvPr id="32" name="Google Shape;32;p41"/>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 name="Google Shape;33;p41"/>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4" name="Google Shape;34;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7" name="Shape 37"/>
        <p:cNvGrpSpPr/>
        <p:nvPr/>
      </p:nvGrpSpPr>
      <p:grpSpPr>
        <a:xfrm>
          <a:off x="0" y="0"/>
          <a:ext cx="0" cy="0"/>
          <a:chOff x="0" y="0"/>
          <a:chExt cx="0" cy="0"/>
        </a:xfrm>
      </p:grpSpPr>
      <p:sp>
        <p:nvSpPr>
          <p:cNvPr id="38" name="Google Shape;38;p4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 name="Google Shape;39;p42"/>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0" name="Google Shape;40;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3" name="Shape 43"/>
        <p:cNvGrpSpPr/>
        <p:nvPr/>
      </p:nvGrpSpPr>
      <p:grpSpPr>
        <a:xfrm>
          <a:off x="0" y="0"/>
          <a:ext cx="0" cy="0"/>
          <a:chOff x="0" y="0"/>
          <a:chExt cx="0" cy="0"/>
        </a:xfrm>
      </p:grpSpPr>
      <p:sp>
        <p:nvSpPr>
          <p:cNvPr id="44" name="Google Shape;44;p4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5" name="Google Shape;45;p43"/>
          <p:cNvSpPr/>
          <p:nvPr>
            <p:ph idx="2" type="pic"/>
          </p:nvPr>
        </p:nvSpPr>
        <p:spPr>
          <a:xfrm>
            <a:off x="1792288" y="612775"/>
            <a:ext cx="5486400" cy="4114800"/>
          </a:xfrm>
          <a:prstGeom prst="rect">
            <a:avLst/>
          </a:prstGeom>
          <a:noFill/>
          <a:ln>
            <a:noFill/>
          </a:ln>
        </p:spPr>
      </p:sp>
      <p:sp>
        <p:nvSpPr>
          <p:cNvPr id="46" name="Google Shape;46;p4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47" name="Google Shape;47;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4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 name="Google Shape;52;p4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3" name="Google Shape;53;p4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4" name="Google Shape;54;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4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9" name="Google Shape;59;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4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4" name="Google Shape;64;p4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65" name="Google Shape;65;p4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66" name="Google Shape;66;p4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67" name="Google Shape;67;p4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68" name="Google Shape;68;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4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3" name="Google Shape;73;p4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74" name="Google Shape;74;p4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75" name="Google Shape;75;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4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0" name="Google Shape;80;p4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81" name="Google Shape;81;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lip Art and Text" type="clipArtAndTx">
  <p:cSld name="CLIPART_AND_TEXT">
    <p:spTree>
      <p:nvGrpSpPr>
        <p:cNvPr id="88" name="Shape 88"/>
        <p:cNvGrpSpPr/>
        <p:nvPr/>
      </p:nvGrpSpPr>
      <p:grpSpPr>
        <a:xfrm>
          <a:off x="0" y="0"/>
          <a:ext cx="0" cy="0"/>
          <a:chOff x="0" y="0"/>
          <a:chExt cx="0" cy="0"/>
        </a:xfrm>
      </p:grpSpPr>
      <p:sp>
        <p:nvSpPr>
          <p:cNvPr id="89" name="Google Shape;89;p40"/>
          <p:cNvSpPr txBox="1"/>
          <p:nvPr>
            <p:ph type="title"/>
          </p:nvPr>
        </p:nvSpPr>
        <p:spPr>
          <a:xfrm>
            <a:off x="231775" y="38100"/>
            <a:ext cx="8642350" cy="13557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0" name="Google Shape;90;p40"/>
          <p:cNvSpPr/>
          <p:nvPr>
            <p:ph idx="2" type="clipArt"/>
          </p:nvPr>
        </p:nvSpPr>
        <p:spPr>
          <a:xfrm>
            <a:off x="269875" y="1393825"/>
            <a:ext cx="4205288" cy="4914900"/>
          </a:xfrm>
          <a:prstGeom prst="rect">
            <a:avLst/>
          </a:prstGeom>
          <a:noFill/>
          <a:ln>
            <a:noFill/>
          </a:ln>
        </p:spPr>
      </p:sp>
      <p:sp>
        <p:nvSpPr>
          <p:cNvPr id="91" name="Google Shape;91;p40"/>
          <p:cNvSpPr txBox="1"/>
          <p:nvPr>
            <p:ph idx="1" type="body"/>
          </p:nvPr>
        </p:nvSpPr>
        <p:spPr>
          <a:xfrm>
            <a:off x="4627563" y="1393825"/>
            <a:ext cx="4206875" cy="49149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2" name="Google Shape;92;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7-</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1957A"/>
        </a:solid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1" name="Google Shape;11;p3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1957A"/>
        </a:solidFill>
      </p:bgPr>
    </p:bg>
    <p:spTree>
      <p:nvGrpSpPr>
        <p:cNvPr id="84" name="Shape 84"/>
        <p:cNvGrpSpPr/>
        <p:nvPr/>
      </p:nvGrpSpPr>
      <p:grpSpPr>
        <a:xfrm>
          <a:off x="0" y="0"/>
          <a:ext cx="0" cy="0"/>
          <a:chOff x="0" y="0"/>
          <a:chExt cx="0" cy="0"/>
        </a:xfrm>
      </p:grpSpPr>
      <p:sp>
        <p:nvSpPr>
          <p:cNvPr id="85" name="Google Shape;85;p3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86" name="Google Shape;86;p3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7" name="Google Shape;87;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7-</a:t>
            </a: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1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sp>
        <p:nvSpPr>
          <p:cNvPr id="99" name="Google Shape;99;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a:solidFill>
                <a:srgbClr val="888888"/>
              </a:solidFill>
            </a:endParaRPr>
          </a:p>
        </p:txBody>
      </p:sp>
      <p:sp>
        <p:nvSpPr>
          <p:cNvPr id="100" name="Google Shape;100;p1"/>
          <p:cNvSpPr/>
          <p:nvPr/>
        </p:nvSpPr>
        <p:spPr>
          <a:xfrm>
            <a:off x="457200" y="381000"/>
            <a:ext cx="8153400" cy="6248400"/>
          </a:xfrm>
          <a:prstGeom prst="roundRect">
            <a:avLst>
              <a:gd fmla="val 16667" name="adj"/>
            </a:avLst>
          </a:prstGeom>
          <a:solidFill>
            <a:srgbClr val="FDD8C3"/>
          </a:solidFill>
          <a:ln cap="flat" cmpd="sng" w="9525">
            <a:solidFill>
              <a:srgbClr val="E59B5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1" name="Google Shape;101;p1"/>
          <p:cNvSpPr/>
          <p:nvPr/>
        </p:nvSpPr>
        <p:spPr>
          <a:xfrm>
            <a:off x="7315200" y="152400"/>
            <a:ext cx="1644650" cy="1600200"/>
          </a:xfrm>
          <a:prstGeom prst="ellipse">
            <a:avLst/>
          </a:prstGeom>
          <a:solidFill>
            <a:srgbClr val="660066"/>
          </a:solidFill>
          <a:ln cap="flat" cmpd="sng" w="9525">
            <a:solidFill>
              <a:srgbClr val="66006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2" name="Google Shape;102;p1"/>
          <p:cNvSpPr txBox="1"/>
          <p:nvPr/>
        </p:nvSpPr>
        <p:spPr>
          <a:xfrm>
            <a:off x="8458200" y="1143000"/>
            <a:ext cx="50165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E59B57"/>
              </a:buClr>
              <a:buSzPts val="4000"/>
              <a:buFont typeface="Calibri"/>
              <a:buNone/>
            </a:pPr>
            <a:r>
              <a:rPr b="1" i="0" lang="en-US" sz="4000" u="none" cap="none" strike="noStrike">
                <a:solidFill>
                  <a:srgbClr val="E59B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03" name="Google Shape;103;p1"/>
          <p:cNvSpPr txBox="1"/>
          <p:nvPr/>
        </p:nvSpPr>
        <p:spPr>
          <a:xfrm>
            <a:off x="7162800" y="0"/>
            <a:ext cx="6096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4000"/>
              <a:buFont typeface="Calibri"/>
              <a:buNone/>
            </a:pPr>
            <a:r>
              <a:rPr b="1" i="0" lang="en-US" sz="4000" u="none" cap="none" strike="noStrike">
                <a:solidFill>
                  <a:srgbClr val="660066"/>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04" name="Google Shape;104;p1"/>
          <p:cNvSpPr txBox="1"/>
          <p:nvPr/>
        </p:nvSpPr>
        <p:spPr>
          <a:xfrm>
            <a:off x="7315200" y="481012"/>
            <a:ext cx="1684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Helvetica Neue"/>
              <a:buNone/>
            </a:pPr>
            <a:r>
              <a:rPr b="0" i="0" lang="en-US" sz="1800" u="none" cap="none" strike="noStrike">
                <a:solidFill>
                  <a:schemeClr val="lt1"/>
                </a:solidFill>
                <a:latin typeface="Helvetica Neue"/>
                <a:ea typeface="Helvetica Neue"/>
                <a:cs typeface="Helvetica Neue"/>
                <a:sym typeface="Helvetica Neue"/>
              </a:rPr>
              <a:t>Chapter Six</a:t>
            </a:r>
            <a:endParaRPr b="0" i="0" sz="1800" u="none" cap="none" strike="noStrike">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Helvetica Neue"/>
              <a:ea typeface="Helvetica Neue"/>
              <a:cs typeface="Helvetica Neue"/>
              <a:sym typeface="Helvetica Neue"/>
            </a:endParaRPr>
          </a:p>
        </p:txBody>
      </p:sp>
      <p:sp>
        <p:nvSpPr>
          <p:cNvPr id="105" name="Google Shape;105;p1"/>
          <p:cNvSpPr/>
          <p:nvPr/>
        </p:nvSpPr>
        <p:spPr>
          <a:xfrm>
            <a:off x="685800" y="784225"/>
            <a:ext cx="4267200" cy="5464175"/>
          </a:xfrm>
          <a:prstGeom prst="roundRect">
            <a:avLst>
              <a:gd fmla="val 16667" name="adj"/>
            </a:avLst>
          </a:prstGeom>
          <a:solidFill>
            <a:srgbClr val="660066"/>
          </a:solidFill>
          <a:ln cap="flat" cmpd="sng" w="9525">
            <a:solidFill>
              <a:srgbClr val="660066"/>
            </a:solidFill>
            <a:prstDash val="solid"/>
            <a:miter lim="800000"/>
            <a:headEnd len="sm" w="sm" type="none"/>
            <a:tailEnd len="sm" w="sm" type="none"/>
          </a:ln>
          <a:effectLst>
            <a:outerShdw blurRad="63500" dir="5400000" dist="23000">
              <a:srgbClr val="808080">
                <a:alpha val="3411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Cover.psd" id="106" name="Google Shape;106;p1"/>
          <p:cNvPicPr preferRelativeResize="0"/>
          <p:nvPr/>
        </p:nvPicPr>
        <p:blipFill rotWithShape="1">
          <a:blip r:embed="rId3">
            <a:alphaModFix/>
          </a:blip>
          <a:srcRect b="0" l="0" r="0" t="0"/>
          <a:stretch/>
        </p:blipFill>
        <p:spPr>
          <a:xfrm>
            <a:off x="990600" y="1041400"/>
            <a:ext cx="3657600" cy="4749800"/>
          </a:xfrm>
          <a:prstGeom prst="rect">
            <a:avLst/>
          </a:prstGeom>
          <a:noFill/>
          <a:ln>
            <a:noFill/>
          </a:ln>
        </p:spPr>
      </p:pic>
      <p:sp>
        <p:nvSpPr>
          <p:cNvPr id="107" name="Google Shape;107;p1"/>
          <p:cNvSpPr txBox="1"/>
          <p:nvPr/>
        </p:nvSpPr>
        <p:spPr>
          <a:xfrm>
            <a:off x="5334000" y="1905000"/>
            <a:ext cx="2971800" cy="1708150"/>
          </a:xfrm>
          <a:prstGeom prst="rect">
            <a:avLst/>
          </a:prstGeom>
          <a:noFill/>
          <a:ln>
            <a:noFill/>
          </a:ln>
        </p:spPr>
        <p:txBody>
          <a:bodyPr anchorCtr="1"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500"/>
              <a:buFont typeface="Helvetica Neue"/>
              <a:buNone/>
            </a:pPr>
            <a:r>
              <a:rPr b="0" i="0" lang="en-US" sz="3500" u="none" cap="none" strike="noStrike">
                <a:solidFill>
                  <a:srgbClr val="000000"/>
                </a:solidFill>
                <a:latin typeface="Helvetica Neue"/>
                <a:ea typeface="Helvetica Neue"/>
                <a:cs typeface="Helvetica Neue"/>
                <a:sym typeface="Helvetica Neue"/>
              </a:rPr>
              <a:t>Management and Leadership</a:t>
            </a:r>
            <a:endParaRPr b="0" i="0" sz="1400" u="none" cap="none" strike="noStrike">
              <a:solidFill>
                <a:srgbClr val="000000"/>
              </a:solidFill>
              <a:latin typeface="Arial"/>
              <a:ea typeface="Arial"/>
              <a:cs typeface="Arial"/>
              <a:sym typeface="Arial"/>
            </a:endParaRPr>
          </a:p>
        </p:txBody>
      </p:sp>
      <p:sp>
        <p:nvSpPr>
          <p:cNvPr id="108" name="Google Shape;108;p1"/>
          <p:cNvSpPr txBox="1"/>
          <p:nvPr/>
        </p:nvSpPr>
        <p:spPr>
          <a:xfrm>
            <a:off x="3657600" y="6610350"/>
            <a:ext cx="54102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imes New Roman"/>
              <a:buNone/>
            </a:pPr>
            <a:r>
              <a:rPr b="1" i="1" lang="en-US" sz="1200" u="none" cap="none" strike="noStrike">
                <a:solidFill>
                  <a:schemeClr val="dk1"/>
                </a:solidFill>
                <a:latin typeface="Times New Roman"/>
                <a:ea typeface="Times New Roman"/>
                <a:cs typeface="Times New Roman"/>
                <a:sym typeface="Times New Roman"/>
              </a:rPr>
              <a:t>Copyright</a:t>
            </a:r>
            <a:r>
              <a:rPr b="0" i="0" lang="en-US" sz="1200" u="none" cap="none" strike="noStrike">
                <a:solidFill>
                  <a:schemeClr val="dk1"/>
                </a:solidFill>
                <a:latin typeface="Times New Roman"/>
                <a:ea typeface="Times New Roman"/>
                <a:cs typeface="Times New Roman"/>
                <a:sym typeface="Times New Roman"/>
              </a:rPr>
              <a:t> </a:t>
            </a:r>
            <a:r>
              <a:rPr b="1" i="1" lang="en-US" sz="1200" u="none" cap="none" strike="noStrike">
                <a:solidFill>
                  <a:schemeClr val="dk1"/>
                </a:solidFill>
                <a:latin typeface="Times New Roman"/>
                <a:ea typeface="Times New Roman"/>
                <a:cs typeface="Times New Roman"/>
                <a:sym typeface="Times New Roman"/>
              </a:rPr>
              <a:t>© 2010 by The McGraw-Hill Companies, Inc. All rights reserved.</a:t>
            </a:r>
            <a:endParaRPr b="0" i="0" sz="1400" u="none" cap="none" strike="noStrike">
              <a:solidFill>
                <a:srgbClr val="000000"/>
              </a:solidFill>
              <a:latin typeface="Arial"/>
              <a:ea typeface="Arial"/>
              <a:cs typeface="Arial"/>
              <a:sym typeface="Arial"/>
            </a:endParaRPr>
          </a:p>
        </p:txBody>
      </p:sp>
      <p:sp>
        <p:nvSpPr>
          <p:cNvPr id="109" name="Google Shape;109;p1"/>
          <p:cNvSpPr txBox="1"/>
          <p:nvPr/>
        </p:nvSpPr>
        <p:spPr>
          <a:xfrm>
            <a:off x="76200" y="6610350"/>
            <a:ext cx="2667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imes New Roman"/>
              <a:buNone/>
            </a:pPr>
            <a:r>
              <a:rPr b="1" i="1" lang="en-US" sz="1200" u="none" cap="none" strike="noStrike">
                <a:solidFill>
                  <a:schemeClr val="dk1"/>
                </a:solidFill>
                <a:latin typeface="Times New Roman"/>
                <a:ea typeface="Times New Roman"/>
                <a:cs typeface="Times New Roman"/>
                <a:sym typeface="Times New Roman"/>
              </a:rPr>
              <a:t>McGraw-Hill/Irwin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a:solidFill>
                <a:srgbClr val="888888"/>
              </a:solidFill>
            </a:endParaRPr>
          </a:p>
        </p:txBody>
      </p:sp>
      <p:sp>
        <p:nvSpPr>
          <p:cNvPr id="115" name="Google Shape;115;p2"/>
          <p:cNvSpPr/>
          <p:nvPr/>
        </p:nvSpPr>
        <p:spPr>
          <a:xfrm>
            <a:off x="457200" y="381000"/>
            <a:ext cx="8153400" cy="6248400"/>
          </a:xfrm>
          <a:prstGeom prst="roundRect">
            <a:avLst>
              <a:gd fmla="val 16667" name="adj"/>
            </a:avLst>
          </a:prstGeom>
          <a:solidFill>
            <a:srgbClr val="FDD8C3"/>
          </a:solidFill>
          <a:ln cap="flat" cmpd="sng" w="9525">
            <a:solidFill>
              <a:srgbClr val="FDD8C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6" name="Google Shape;116;p2"/>
          <p:cNvSpPr/>
          <p:nvPr/>
        </p:nvSpPr>
        <p:spPr>
          <a:xfrm>
            <a:off x="7315200" y="152400"/>
            <a:ext cx="1644650" cy="1600200"/>
          </a:xfrm>
          <a:prstGeom prst="ellipse">
            <a:avLst/>
          </a:prstGeom>
          <a:solidFill>
            <a:srgbClr val="660066"/>
          </a:solidFill>
          <a:ln cap="flat" cmpd="sng" w="9525">
            <a:solidFill>
              <a:srgbClr val="66006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7" name="Google Shape;117;p2"/>
          <p:cNvSpPr txBox="1"/>
          <p:nvPr/>
        </p:nvSpPr>
        <p:spPr>
          <a:xfrm>
            <a:off x="8458200" y="1143000"/>
            <a:ext cx="50165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E59B57"/>
              </a:buClr>
              <a:buSzPts val="4000"/>
              <a:buFont typeface="Calibri"/>
              <a:buNone/>
            </a:pPr>
            <a:r>
              <a:rPr b="1" i="0" lang="en-US" sz="4000" u="none" cap="none" strike="noStrike">
                <a:solidFill>
                  <a:srgbClr val="E59B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8" name="Google Shape;118;p2"/>
          <p:cNvSpPr txBox="1"/>
          <p:nvPr/>
        </p:nvSpPr>
        <p:spPr>
          <a:xfrm>
            <a:off x="7162800" y="0"/>
            <a:ext cx="6096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4000"/>
              <a:buFont typeface="Calibri"/>
              <a:buNone/>
            </a:pPr>
            <a:r>
              <a:rPr b="1" i="0" lang="en-US" sz="4000" u="none" cap="none" strike="noStrike">
                <a:solidFill>
                  <a:srgbClr val="660066"/>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9" name="Google Shape;119;p2"/>
          <p:cNvSpPr txBox="1"/>
          <p:nvPr/>
        </p:nvSpPr>
        <p:spPr>
          <a:xfrm>
            <a:off x="7315200" y="603250"/>
            <a:ext cx="1828800"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Helvetica Neue"/>
              <a:buNone/>
            </a:pPr>
            <a:r>
              <a:rPr b="0" i="1" lang="en-US" sz="1600" u="none" cap="none" strike="noStrike">
                <a:solidFill>
                  <a:schemeClr val="lt1"/>
                </a:solidFill>
                <a:latin typeface="Helvetica Neue"/>
                <a:ea typeface="Helvetica Neue"/>
                <a:cs typeface="Helvetica Neue"/>
                <a:sym typeface="Helvetica Neue"/>
              </a:rPr>
              <a:t>Managers’ Roles Are Evolving</a:t>
            </a:r>
            <a:endParaRPr b="0" i="0" sz="1400" u="none" cap="none" strike="noStrike">
              <a:solidFill>
                <a:srgbClr val="000000"/>
              </a:solidFill>
              <a:latin typeface="Arial"/>
              <a:ea typeface="Arial"/>
              <a:cs typeface="Arial"/>
              <a:sym typeface="Arial"/>
            </a:endParaRPr>
          </a:p>
        </p:txBody>
      </p:sp>
      <p:sp>
        <p:nvSpPr>
          <p:cNvPr id="120" name="Google Shape;120;p2"/>
          <p:cNvSpPr txBox="1"/>
          <p:nvPr/>
        </p:nvSpPr>
        <p:spPr>
          <a:xfrm>
            <a:off x="533400" y="1801812"/>
            <a:ext cx="4953000" cy="310832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sng" cap="none" strike="noStrike">
                <a:solidFill>
                  <a:schemeClr val="dk1"/>
                </a:solidFill>
                <a:latin typeface="Arial"/>
                <a:ea typeface="Arial"/>
                <a:cs typeface="Arial"/>
                <a:sym typeface="Arial"/>
              </a:rPr>
              <a:t>Management</a:t>
            </a:r>
            <a:r>
              <a:rPr b="0" i="0" lang="en-US" sz="2800" u="none" cap="none" strike="noStrike">
                <a:solidFill>
                  <a:schemeClr val="dk1"/>
                </a:solidFill>
                <a:latin typeface="Arial"/>
                <a:ea typeface="Arial"/>
                <a:cs typeface="Arial"/>
                <a:sym typeface="Arial"/>
              </a:rPr>
              <a:t> is the process used to accomplish organizational goals through </a:t>
            </a:r>
            <a:r>
              <a:rPr b="0" i="1" lang="en-US" sz="2800" u="none" cap="none" strike="noStrike">
                <a:solidFill>
                  <a:schemeClr val="dk1"/>
                </a:solidFill>
                <a:latin typeface="Arial"/>
                <a:ea typeface="Arial"/>
                <a:cs typeface="Arial"/>
                <a:sym typeface="Arial"/>
              </a:rPr>
              <a:t>planning, organizing, leading and controlling</a:t>
            </a:r>
            <a:r>
              <a:rPr b="0" i="0" lang="en-US" sz="2800" u="none" cap="none" strike="noStrike">
                <a:solidFill>
                  <a:schemeClr val="dk1"/>
                </a:solidFill>
                <a:latin typeface="Arial"/>
                <a:ea typeface="Arial"/>
                <a:cs typeface="Arial"/>
                <a:sym typeface="Arial"/>
              </a:rPr>
              <a:t> people and other organizational resources.</a:t>
            </a:r>
            <a:endParaRPr b="0" i="0" sz="1400" u="none" cap="none" strike="noStrike">
              <a:solidFill>
                <a:srgbClr val="000000"/>
              </a:solidFill>
              <a:latin typeface="Arial"/>
              <a:ea typeface="Arial"/>
              <a:cs typeface="Arial"/>
              <a:sym typeface="Arial"/>
            </a:endParaRPr>
          </a:p>
        </p:txBody>
      </p:sp>
      <p:sp>
        <p:nvSpPr>
          <p:cNvPr id="121" name="Google Shape;121;p2"/>
          <p:cNvSpPr txBox="1"/>
          <p:nvPr>
            <p:ph type="ctrTitle"/>
          </p:nvPr>
        </p:nvSpPr>
        <p:spPr>
          <a:xfrm>
            <a:off x="533400" y="76200"/>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TODAY’S MANAGEMENT</a:t>
            </a:r>
            <a:endParaRPr/>
          </a:p>
        </p:txBody>
      </p:sp>
      <p:sp>
        <p:nvSpPr>
          <p:cNvPr id="122" name="Google Shape;122;p2"/>
          <p:cNvSpPr txBox="1"/>
          <p:nvPr/>
        </p:nvSpPr>
        <p:spPr>
          <a:xfrm>
            <a:off x="7772400" y="1295400"/>
            <a:ext cx="685800" cy="3508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Helvetica Neue"/>
              <a:buNone/>
            </a:pPr>
            <a:r>
              <a:rPr b="1" i="0" lang="en-US" sz="1700" u="none" cap="none" strike="noStrike">
                <a:solidFill>
                  <a:schemeClr val="lt1"/>
                </a:solidFill>
                <a:latin typeface="Helvetica Neue"/>
                <a:ea typeface="Helvetica Neue"/>
                <a:cs typeface="Helvetica Neue"/>
                <a:sym typeface="Helvetica Neue"/>
              </a:rPr>
              <a:t>LG1</a:t>
            </a:r>
            <a:endParaRPr b="0" i="0" sz="1400" u="none" cap="none" strike="noStrike">
              <a:solidFill>
                <a:srgbClr val="000000"/>
              </a:solidFill>
              <a:latin typeface="Arial"/>
              <a:ea typeface="Arial"/>
              <a:cs typeface="Arial"/>
              <a:sym typeface="Arial"/>
            </a:endParaRPr>
          </a:p>
        </p:txBody>
      </p:sp>
      <p:pic>
        <p:nvPicPr>
          <p:cNvPr descr="Woman.gif" id="123" name="Google Shape;123;p2"/>
          <p:cNvPicPr preferRelativeResize="0"/>
          <p:nvPr/>
        </p:nvPicPr>
        <p:blipFill rotWithShape="1">
          <a:blip r:embed="rId3">
            <a:alphaModFix/>
          </a:blip>
          <a:srcRect b="0" l="0" r="0" t="0"/>
          <a:stretch/>
        </p:blipFill>
        <p:spPr>
          <a:xfrm>
            <a:off x="5486400" y="1917700"/>
            <a:ext cx="3473450" cy="3721100"/>
          </a:xfrm>
          <a:prstGeom prst="rect">
            <a:avLst/>
          </a:prstGeom>
          <a:noFill/>
          <a:ln>
            <a:noFill/>
          </a:ln>
        </p:spPr>
      </p:pic>
      <p:sp>
        <p:nvSpPr>
          <p:cNvPr id="124" name="Google Shape;124;p2"/>
          <p:cNvSpPr txBox="1"/>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7-</a:t>
            </a: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a:solidFill>
                <a:srgbClr val="888888"/>
              </a:solidFill>
            </a:endParaRPr>
          </a:p>
        </p:txBody>
      </p:sp>
      <p:sp>
        <p:nvSpPr>
          <p:cNvPr id="131" name="Google Shape;131;p3"/>
          <p:cNvSpPr/>
          <p:nvPr/>
        </p:nvSpPr>
        <p:spPr>
          <a:xfrm>
            <a:off x="457200" y="381000"/>
            <a:ext cx="8153400" cy="6248400"/>
          </a:xfrm>
          <a:prstGeom prst="roundRect">
            <a:avLst>
              <a:gd fmla="val 16667" name="adj"/>
            </a:avLst>
          </a:prstGeom>
          <a:solidFill>
            <a:srgbClr val="FDD8C3"/>
          </a:solidFill>
          <a:ln cap="flat" cmpd="sng" w="9525">
            <a:solidFill>
              <a:srgbClr val="FDD8C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2" name="Google Shape;132;p3"/>
          <p:cNvSpPr/>
          <p:nvPr/>
        </p:nvSpPr>
        <p:spPr>
          <a:xfrm>
            <a:off x="7315200" y="152400"/>
            <a:ext cx="1644650" cy="1600200"/>
          </a:xfrm>
          <a:prstGeom prst="ellipse">
            <a:avLst/>
          </a:prstGeom>
          <a:solidFill>
            <a:srgbClr val="660066"/>
          </a:solidFill>
          <a:ln cap="flat" cmpd="sng" w="9525">
            <a:solidFill>
              <a:srgbClr val="66006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3" name="Google Shape;133;p3"/>
          <p:cNvSpPr txBox="1"/>
          <p:nvPr/>
        </p:nvSpPr>
        <p:spPr>
          <a:xfrm>
            <a:off x="8458200" y="1143000"/>
            <a:ext cx="50165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E59B57"/>
              </a:buClr>
              <a:buSzPts val="4000"/>
              <a:buFont typeface="Calibri"/>
              <a:buNone/>
            </a:pPr>
            <a:r>
              <a:rPr b="1" i="0" lang="en-US" sz="4000" u="none" cap="none" strike="noStrike">
                <a:solidFill>
                  <a:srgbClr val="E59B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34" name="Google Shape;134;p3"/>
          <p:cNvSpPr txBox="1"/>
          <p:nvPr/>
        </p:nvSpPr>
        <p:spPr>
          <a:xfrm>
            <a:off x="7162800" y="0"/>
            <a:ext cx="6096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4000"/>
              <a:buFont typeface="Calibri"/>
              <a:buNone/>
            </a:pPr>
            <a:r>
              <a:rPr b="1" i="0" lang="en-US" sz="4000" u="none" cap="none" strike="noStrike">
                <a:solidFill>
                  <a:srgbClr val="660066"/>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35" name="Google Shape;135;p3"/>
          <p:cNvSpPr txBox="1"/>
          <p:nvPr/>
        </p:nvSpPr>
        <p:spPr>
          <a:xfrm>
            <a:off x="7315200" y="603250"/>
            <a:ext cx="1828800"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Helvetica Neue"/>
              <a:buNone/>
            </a:pPr>
            <a:r>
              <a:rPr b="0" i="1" lang="en-US" sz="1600" u="none" cap="none" strike="noStrike">
                <a:solidFill>
                  <a:schemeClr val="lt1"/>
                </a:solidFill>
                <a:latin typeface="Helvetica Neue"/>
                <a:ea typeface="Helvetica Neue"/>
                <a:cs typeface="Helvetica Neue"/>
                <a:sym typeface="Helvetica Neue"/>
              </a:rPr>
              <a:t>Four Functions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600"/>
              <a:buFont typeface="Helvetica Neue"/>
              <a:buNone/>
            </a:pPr>
            <a:r>
              <a:rPr b="0" i="1" lang="en-US" sz="1600" u="none" cap="none" strike="noStrike">
                <a:solidFill>
                  <a:schemeClr val="lt1"/>
                </a:solidFill>
                <a:latin typeface="Helvetica Neue"/>
                <a:ea typeface="Helvetica Neue"/>
                <a:cs typeface="Helvetica Neue"/>
                <a:sym typeface="Helvetica Neue"/>
              </a:rPr>
              <a:t>of Management </a:t>
            </a:r>
            <a:endParaRPr b="0" i="0" sz="1400" u="none" cap="none" strike="noStrike">
              <a:solidFill>
                <a:srgbClr val="000000"/>
              </a:solidFill>
              <a:latin typeface="Arial"/>
              <a:ea typeface="Arial"/>
              <a:cs typeface="Arial"/>
              <a:sym typeface="Arial"/>
            </a:endParaRPr>
          </a:p>
        </p:txBody>
      </p:sp>
      <p:sp>
        <p:nvSpPr>
          <p:cNvPr id="136" name="Google Shape;136;p3"/>
          <p:cNvSpPr txBox="1"/>
          <p:nvPr/>
        </p:nvSpPr>
        <p:spPr>
          <a:xfrm>
            <a:off x="1219200" y="2438400"/>
            <a:ext cx="2590800" cy="2651125"/>
          </a:xfrm>
          <a:prstGeom prst="rect">
            <a:avLst/>
          </a:prstGeom>
          <a:noFill/>
          <a:ln>
            <a:noFill/>
          </a:ln>
        </p:spPr>
        <p:txBody>
          <a:bodyPr anchorCtr="0" anchor="t" bIns="45700" lIns="91425" spcFirstLastPara="1" rIns="91425" wrap="square" tIns="45700">
            <a:spAutoFit/>
          </a:bodyPr>
          <a:lstStyle/>
          <a:p>
            <a:pPr indent="-334962" lvl="1" marL="334962" marR="0" rtl="0" algn="l">
              <a:lnSpc>
                <a:spcPct val="100000"/>
              </a:lnSpc>
              <a:spcBef>
                <a:spcPts val="0"/>
              </a:spcBef>
              <a:spcAft>
                <a:spcPts val="0"/>
              </a:spcAft>
              <a:buClr>
                <a:srgbClr val="000000"/>
              </a:buClr>
              <a:buSzPts val="2700"/>
              <a:buFont typeface="Calibri"/>
              <a:buAutoNum type="arabicPeriod"/>
            </a:pPr>
            <a:r>
              <a:rPr b="0" i="0" lang="en-US" sz="2700" u="none" cap="none" strike="noStrike">
                <a:solidFill>
                  <a:srgbClr val="000000"/>
                </a:solidFill>
                <a:latin typeface="Helvetica Neue"/>
                <a:ea typeface="Helvetica Neue"/>
                <a:cs typeface="Helvetica Neue"/>
                <a:sym typeface="Helvetica Neue"/>
              </a:rPr>
              <a:t>Planning</a:t>
            </a:r>
            <a:endParaRPr b="0" i="0" sz="1400" u="none" cap="none" strike="noStrike">
              <a:solidFill>
                <a:srgbClr val="000000"/>
              </a:solidFill>
              <a:latin typeface="Arial"/>
              <a:ea typeface="Arial"/>
              <a:cs typeface="Arial"/>
              <a:sym typeface="Arial"/>
            </a:endParaRPr>
          </a:p>
          <a:p>
            <a:pPr indent="-334962" lvl="1" marL="334962" marR="0" rtl="0" algn="l">
              <a:lnSpc>
                <a:spcPct val="100000"/>
              </a:lnSpc>
              <a:spcBef>
                <a:spcPts val="1800"/>
              </a:spcBef>
              <a:spcAft>
                <a:spcPts val="0"/>
              </a:spcAft>
              <a:buClr>
                <a:srgbClr val="000000"/>
              </a:buClr>
              <a:buSzPts val="2700"/>
              <a:buFont typeface="Calibri"/>
              <a:buAutoNum type="arabicPeriod"/>
            </a:pPr>
            <a:r>
              <a:rPr b="0" i="0" lang="en-US" sz="2700" u="none" cap="none" strike="noStrike">
                <a:solidFill>
                  <a:srgbClr val="000000"/>
                </a:solidFill>
                <a:latin typeface="Helvetica Neue"/>
                <a:ea typeface="Helvetica Neue"/>
                <a:cs typeface="Helvetica Neue"/>
                <a:sym typeface="Helvetica Neue"/>
              </a:rPr>
              <a:t>Organizing</a:t>
            </a:r>
            <a:endParaRPr b="0" i="0" sz="1400" u="none" cap="none" strike="noStrike">
              <a:solidFill>
                <a:srgbClr val="000000"/>
              </a:solidFill>
              <a:latin typeface="Arial"/>
              <a:ea typeface="Arial"/>
              <a:cs typeface="Arial"/>
              <a:sym typeface="Arial"/>
            </a:endParaRPr>
          </a:p>
          <a:p>
            <a:pPr indent="-334962" lvl="1" marL="334962" marR="0" rtl="0" algn="l">
              <a:lnSpc>
                <a:spcPct val="100000"/>
              </a:lnSpc>
              <a:spcBef>
                <a:spcPts val="1800"/>
              </a:spcBef>
              <a:spcAft>
                <a:spcPts val="0"/>
              </a:spcAft>
              <a:buClr>
                <a:srgbClr val="000000"/>
              </a:buClr>
              <a:buSzPts val="2700"/>
              <a:buFont typeface="Calibri"/>
              <a:buAutoNum type="arabicPeriod"/>
            </a:pPr>
            <a:r>
              <a:rPr b="0" i="0" lang="en-US" sz="2700" u="none" cap="none" strike="noStrike">
                <a:solidFill>
                  <a:srgbClr val="000000"/>
                </a:solidFill>
                <a:latin typeface="Helvetica Neue"/>
                <a:ea typeface="Helvetica Neue"/>
                <a:cs typeface="Helvetica Neue"/>
                <a:sym typeface="Helvetica Neue"/>
              </a:rPr>
              <a:t>Leading</a:t>
            </a:r>
            <a:endParaRPr b="0" i="0" sz="1400" u="none" cap="none" strike="noStrike">
              <a:solidFill>
                <a:srgbClr val="000000"/>
              </a:solidFill>
              <a:latin typeface="Arial"/>
              <a:ea typeface="Arial"/>
              <a:cs typeface="Arial"/>
              <a:sym typeface="Arial"/>
            </a:endParaRPr>
          </a:p>
          <a:p>
            <a:pPr indent="-334962" lvl="1" marL="334962" marR="0" rtl="0" algn="l">
              <a:lnSpc>
                <a:spcPct val="100000"/>
              </a:lnSpc>
              <a:spcBef>
                <a:spcPts val="1800"/>
              </a:spcBef>
              <a:spcAft>
                <a:spcPts val="0"/>
              </a:spcAft>
              <a:buClr>
                <a:srgbClr val="000000"/>
              </a:buClr>
              <a:buSzPts val="2700"/>
              <a:buFont typeface="Calibri"/>
              <a:buAutoNum type="arabicPeriod"/>
            </a:pPr>
            <a:r>
              <a:rPr b="0" i="0" lang="en-US" sz="2700" u="none" cap="none" strike="noStrike">
                <a:solidFill>
                  <a:srgbClr val="000000"/>
                </a:solidFill>
                <a:latin typeface="Helvetica Neue"/>
                <a:ea typeface="Helvetica Neue"/>
                <a:cs typeface="Helvetica Neue"/>
                <a:sym typeface="Helvetica Neue"/>
              </a:rPr>
              <a:t>Controlling</a:t>
            </a:r>
            <a:endParaRPr b="0" i="0" sz="1400" u="none" cap="none" strike="noStrike">
              <a:solidFill>
                <a:srgbClr val="000000"/>
              </a:solidFill>
              <a:latin typeface="Arial"/>
              <a:ea typeface="Arial"/>
              <a:cs typeface="Arial"/>
              <a:sym typeface="Arial"/>
            </a:endParaRPr>
          </a:p>
        </p:txBody>
      </p:sp>
      <p:sp>
        <p:nvSpPr>
          <p:cNvPr id="137" name="Google Shape;137;p3"/>
          <p:cNvSpPr txBox="1"/>
          <p:nvPr>
            <p:ph type="ctrTitle"/>
          </p:nvPr>
        </p:nvSpPr>
        <p:spPr>
          <a:xfrm>
            <a:off x="457200" y="28257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FOUR FUNCTIONS of </a:t>
            </a:r>
            <a:br>
              <a:rPr b="1" i="0" lang="en-US" sz="3200" u="none">
                <a:solidFill>
                  <a:schemeClr val="dk1"/>
                </a:solidFill>
                <a:latin typeface="Helvetica Neue"/>
                <a:ea typeface="Helvetica Neue"/>
                <a:cs typeface="Helvetica Neue"/>
                <a:sym typeface="Helvetica Neue"/>
              </a:rPr>
            </a:br>
            <a:r>
              <a:rPr b="1" i="0" lang="en-US" sz="3200" u="none">
                <a:solidFill>
                  <a:schemeClr val="dk1"/>
                </a:solidFill>
                <a:latin typeface="Helvetica Neue"/>
                <a:ea typeface="Helvetica Neue"/>
                <a:cs typeface="Helvetica Neue"/>
                <a:sym typeface="Helvetica Neue"/>
              </a:rPr>
              <a:t>MANAGEMENT</a:t>
            </a:r>
            <a:endParaRPr/>
          </a:p>
        </p:txBody>
      </p:sp>
      <p:sp>
        <p:nvSpPr>
          <p:cNvPr id="138" name="Google Shape;138;p3"/>
          <p:cNvSpPr txBox="1"/>
          <p:nvPr/>
        </p:nvSpPr>
        <p:spPr>
          <a:xfrm>
            <a:off x="7772400" y="1295400"/>
            <a:ext cx="685800" cy="3508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Helvetica Neue"/>
              <a:buNone/>
            </a:pPr>
            <a:r>
              <a:rPr b="1" i="0" lang="en-US" sz="1700" u="none" cap="none" strike="noStrike">
                <a:solidFill>
                  <a:schemeClr val="lt1"/>
                </a:solidFill>
                <a:latin typeface="Helvetica Neue"/>
                <a:ea typeface="Helvetica Neue"/>
                <a:cs typeface="Helvetica Neue"/>
                <a:sym typeface="Helvetica Neue"/>
              </a:rPr>
              <a:t>LG2</a:t>
            </a:r>
            <a:endParaRPr b="0" i="0" sz="1400" u="none" cap="none" strike="noStrike">
              <a:solidFill>
                <a:srgbClr val="000000"/>
              </a:solidFill>
              <a:latin typeface="Arial"/>
              <a:ea typeface="Arial"/>
              <a:cs typeface="Arial"/>
              <a:sym typeface="Arial"/>
            </a:endParaRPr>
          </a:p>
        </p:txBody>
      </p:sp>
      <p:pic>
        <p:nvPicPr>
          <p:cNvPr descr="New Manager.psd" id="139" name="Google Shape;139;p3"/>
          <p:cNvPicPr preferRelativeResize="0"/>
          <p:nvPr/>
        </p:nvPicPr>
        <p:blipFill rotWithShape="1">
          <a:blip r:embed="rId3">
            <a:alphaModFix/>
          </a:blip>
          <a:srcRect b="0" l="0" r="0" t="0"/>
          <a:stretch/>
        </p:blipFill>
        <p:spPr>
          <a:xfrm>
            <a:off x="4533900" y="1844675"/>
            <a:ext cx="2628900" cy="4140200"/>
          </a:xfrm>
          <a:prstGeom prst="rect">
            <a:avLst/>
          </a:prstGeom>
          <a:noFill/>
          <a:ln>
            <a:noFill/>
          </a:ln>
        </p:spPr>
      </p:pic>
      <p:sp>
        <p:nvSpPr>
          <p:cNvPr id="140" name="Google Shape;140;p3"/>
          <p:cNvSpPr txBox="1"/>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7-</a:t>
            </a: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a:solidFill>
                <a:srgbClr val="888888"/>
              </a:solidFill>
            </a:endParaRPr>
          </a:p>
        </p:txBody>
      </p:sp>
      <p:sp>
        <p:nvSpPr>
          <p:cNvPr id="147" name="Google Shape;147;p4"/>
          <p:cNvSpPr/>
          <p:nvPr/>
        </p:nvSpPr>
        <p:spPr>
          <a:xfrm>
            <a:off x="457200" y="381000"/>
            <a:ext cx="8153400" cy="6248400"/>
          </a:xfrm>
          <a:prstGeom prst="roundRect">
            <a:avLst>
              <a:gd fmla="val 16667" name="adj"/>
            </a:avLst>
          </a:prstGeom>
          <a:solidFill>
            <a:srgbClr val="FDD8C3"/>
          </a:solidFill>
          <a:ln cap="flat" cmpd="sng" w="9525">
            <a:solidFill>
              <a:srgbClr val="FDD8C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8" name="Google Shape;148;p4"/>
          <p:cNvSpPr/>
          <p:nvPr/>
        </p:nvSpPr>
        <p:spPr>
          <a:xfrm>
            <a:off x="7315200" y="152400"/>
            <a:ext cx="1644650" cy="1600200"/>
          </a:xfrm>
          <a:prstGeom prst="ellipse">
            <a:avLst/>
          </a:prstGeom>
          <a:solidFill>
            <a:srgbClr val="660066"/>
          </a:solidFill>
          <a:ln cap="flat" cmpd="sng" w="9525">
            <a:solidFill>
              <a:srgbClr val="66006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9" name="Google Shape;149;p4"/>
          <p:cNvSpPr txBox="1"/>
          <p:nvPr/>
        </p:nvSpPr>
        <p:spPr>
          <a:xfrm>
            <a:off x="8458200" y="1143000"/>
            <a:ext cx="50165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E59B57"/>
              </a:buClr>
              <a:buSzPts val="4000"/>
              <a:buFont typeface="Calibri"/>
              <a:buNone/>
            </a:pPr>
            <a:r>
              <a:rPr b="1" i="0" lang="en-US" sz="4000" u="none" cap="none" strike="noStrike">
                <a:solidFill>
                  <a:srgbClr val="E59B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50" name="Google Shape;150;p4"/>
          <p:cNvSpPr txBox="1"/>
          <p:nvPr/>
        </p:nvSpPr>
        <p:spPr>
          <a:xfrm>
            <a:off x="7162800" y="0"/>
            <a:ext cx="6096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4000"/>
              <a:buFont typeface="Calibri"/>
              <a:buNone/>
            </a:pPr>
            <a:r>
              <a:rPr b="1" i="0" lang="en-US" sz="4000" u="none" cap="none" strike="noStrike">
                <a:solidFill>
                  <a:srgbClr val="660066"/>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51" name="Google Shape;151;p4"/>
          <p:cNvSpPr txBox="1"/>
          <p:nvPr/>
        </p:nvSpPr>
        <p:spPr>
          <a:xfrm>
            <a:off x="7315200" y="603250"/>
            <a:ext cx="1828800"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Helvetica Neue"/>
              <a:buNone/>
            </a:pPr>
            <a:r>
              <a:rPr b="0" i="1" lang="en-US" sz="1600" u="none" cap="none" strike="noStrike">
                <a:solidFill>
                  <a:schemeClr val="lt1"/>
                </a:solidFill>
                <a:latin typeface="Helvetica Neue"/>
                <a:ea typeface="Helvetica Neue"/>
                <a:cs typeface="Helvetica Neue"/>
                <a:sym typeface="Helvetica Neue"/>
              </a:rPr>
              <a:t>Planning &amp; Decision Making</a:t>
            </a:r>
            <a:endParaRPr b="0" i="0" sz="1400" u="none" cap="none" strike="noStrike">
              <a:solidFill>
                <a:srgbClr val="000000"/>
              </a:solidFill>
              <a:latin typeface="Arial"/>
              <a:ea typeface="Arial"/>
              <a:cs typeface="Arial"/>
              <a:sym typeface="Arial"/>
            </a:endParaRPr>
          </a:p>
        </p:txBody>
      </p:sp>
      <p:sp>
        <p:nvSpPr>
          <p:cNvPr id="152" name="Google Shape;152;p4"/>
          <p:cNvSpPr txBox="1"/>
          <p:nvPr/>
        </p:nvSpPr>
        <p:spPr>
          <a:xfrm>
            <a:off x="533400" y="1295400"/>
            <a:ext cx="5745162" cy="626268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Helvetica Neue"/>
                <a:ea typeface="Helvetica Neue"/>
                <a:cs typeface="Helvetica Neue"/>
                <a:sym typeface="Helvetica Neue"/>
              </a:rPr>
              <a:t>Vision -- </a:t>
            </a:r>
            <a:r>
              <a:rPr b="0" i="1" lang="en-US" sz="2400" u="none" cap="none" strike="noStrike">
                <a:solidFill>
                  <a:srgbClr val="000000"/>
                </a:solidFill>
                <a:latin typeface="Helvetica Neue"/>
                <a:ea typeface="Helvetica Neue"/>
                <a:cs typeface="Helvetica Neue"/>
                <a:sym typeface="Helvetica Neue"/>
              </a:rPr>
              <a:t>More than a goal, it’s a broad explanation of why the organization exists and where it’s trying to go. (future)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1800"/>
              </a:spcBef>
              <a:spcAft>
                <a:spcPts val="0"/>
              </a:spcAft>
              <a:buClr>
                <a:schemeClr val="dk1"/>
              </a:buClr>
              <a:buSzPts val="2400"/>
              <a:buFont typeface="Arial"/>
              <a:buChar char="•"/>
            </a:pPr>
            <a:r>
              <a:rPr b="0" i="1" lang="en-US" sz="2400" u="none" cap="none" strike="noStrike">
                <a:solidFill>
                  <a:schemeClr val="dk1"/>
                </a:solidFill>
                <a:latin typeface="Arial"/>
                <a:ea typeface="Arial"/>
                <a:cs typeface="Arial"/>
                <a:sym typeface="Arial"/>
              </a:rPr>
              <a:t>A </a:t>
            </a:r>
            <a:r>
              <a:rPr b="1" i="0" lang="en-US" sz="2400" u="none" cap="none" strike="noStrike">
                <a:solidFill>
                  <a:schemeClr val="dk1"/>
                </a:solidFill>
                <a:latin typeface="Arial"/>
                <a:ea typeface="Arial"/>
                <a:cs typeface="Arial"/>
                <a:sym typeface="Arial"/>
              </a:rPr>
              <a:t>mission statement </a:t>
            </a:r>
            <a:r>
              <a:rPr b="0" i="1" lang="en-US" sz="2400" u="none" cap="none" strike="noStrike">
                <a:solidFill>
                  <a:schemeClr val="dk1"/>
                </a:solidFill>
                <a:latin typeface="Arial"/>
                <a:ea typeface="Arial"/>
                <a:cs typeface="Arial"/>
                <a:sym typeface="Arial"/>
              </a:rPr>
              <a:t>outlines the organization’s fundamental purposes. (present)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180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Goals</a:t>
            </a:r>
            <a:r>
              <a:rPr b="0" i="1" lang="en-US" sz="2400" u="none" cap="none" strike="noStrike">
                <a:solidFill>
                  <a:schemeClr val="dk1"/>
                </a:solidFill>
                <a:latin typeface="Arial"/>
                <a:ea typeface="Arial"/>
                <a:cs typeface="Arial"/>
                <a:sym typeface="Arial"/>
              </a:rPr>
              <a:t> are the broad, long term accomplishments an organization wishes to attain</a:t>
            </a:r>
            <a:r>
              <a:rPr b="0" i="0" lang="en-US" sz="2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180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Objectives</a:t>
            </a:r>
            <a:r>
              <a:rPr b="0" i="1" lang="en-US" sz="2400" u="none" cap="none" strike="noStrike">
                <a:solidFill>
                  <a:schemeClr val="dk1"/>
                </a:solidFill>
                <a:latin typeface="Arial"/>
                <a:ea typeface="Arial"/>
                <a:cs typeface="Arial"/>
                <a:sym typeface="Arial"/>
              </a:rPr>
              <a:t> are specific, short term statements detailing how to achieve the organization’s goals.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400"/>
              <a:buFont typeface="Arial"/>
              <a:buNone/>
            </a:pPr>
            <a:r>
              <a:t/>
            </a:r>
            <a:endParaRPr b="0" i="1" sz="2400" u="none" cap="none" strike="noStrike">
              <a:solidFill>
                <a:schemeClr val="dk1"/>
              </a:solidFill>
              <a:latin typeface="Arial"/>
              <a:ea typeface="Arial"/>
              <a:cs typeface="Arial"/>
              <a:sym typeface="Arial"/>
            </a:endParaRPr>
          </a:p>
        </p:txBody>
      </p:sp>
      <p:sp>
        <p:nvSpPr>
          <p:cNvPr id="153" name="Google Shape;153;p4"/>
          <p:cNvSpPr txBox="1"/>
          <p:nvPr>
            <p:ph type="ctrTitle"/>
          </p:nvPr>
        </p:nvSpPr>
        <p:spPr>
          <a:xfrm>
            <a:off x="381000" y="76200"/>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SHARING the VISION</a:t>
            </a:r>
            <a:endParaRPr/>
          </a:p>
        </p:txBody>
      </p:sp>
      <p:sp>
        <p:nvSpPr>
          <p:cNvPr id="154" name="Google Shape;154;p4"/>
          <p:cNvSpPr txBox="1"/>
          <p:nvPr/>
        </p:nvSpPr>
        <p:spPr>
          <a:xfrm>
            <a:off x="7772400" y="1295400"/>
            <a:ext cx="685800" cy="3508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Helvetica Neue"/>
              <a:buNone/>
            </a:pPr>
            <a:r>
              <a:rPr b="1" i="0" lang="en-US" sz="1700" u="none" cap="none" strike="noStrike">
                <a:solidFill>
                  <a:schemeClr val="lt1"/>
                </a:solidFill>
                <a:latin typeface="Helvetica Neue"/>
                <a:ea typeface="Helvetica Neue"/>
                <a:cs typeface="Helvetica Neue"/>
                <a:sym typeface="Helvetica Neue"/>
              </a:rPr>
              <a:t>LG3</a:t>
            </a:r>
            <a:endParaRPr b="0" i="0" sz="1400" u="none" cap="none" strike="noStrike">
              <a:solidFill>
                <a:srgbClr val="000000"/>
              </a:solidFill>
              <a:latin typeface="Arial"/>
              <a:ea typeface="Arial"/>
              <a:cs typeface="Arial"/>
              <a:sym typeface="Arial"/>
            </a:endParaRPr>
          </a:p>
        </p:txBody>
      </p:sp>
      <p:pic>
        <p:nvPicPr>
          <p:cNvPr descr="Manager.gif" id="155" name="Google Shape;155;p4"/>
          <p:cNvPicPr preferRelativeResize="0"/>
          <p:nvPr/>
        </p:nvPicPr>
        <p:blipFill rotWithShape="1">
          <a:blip r:embed="rId3">
            <a:alphaModFix/>
          </a:blip>
          <a:srcRect b="0" l="0" r="0" t="0"/>
          <a:stretch/>
        </p:blipFill>
        <p:spPr>
          <a:xfrm>
            <a:off x="6279092" y="1798638"/>
            <a:ext cx="2864908" cy="4297362"/>
          </a:xfrm>
          <a:prstGeom prst="rect">
            <a:avLst/>
          </a:prstGeom>
          <a:noFill/>
          <a:ln>
            <a:noFill/>
          </a:ln>
        </p:spPr>
      </p:pic>
      <p:sp>
        <p:nvSpPr>
          <p:cNvPr id="156" name="Google Shape;156;p4"/>
          <p:cNvSpPr txBox="1"/>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7-</a:t>
            </a: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5"/>
          <p:cNvSpPr txBox="1"/>
          <p:nvPr/>
        </p:nvSpPr>
        <p:spPr>
          <a:xfrm>
            <a:off x="1600200" y="844550"/>
            <a:ext cx="7543800" cy="48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BRAC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Our Vision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A world free from all forms of exploitation and discrimination where everyone has the opportunity to realise their potential. </a:t>
            </a:r>
            <a:r>
              <a:rPr b="1" i="0" lang="en-US"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Our Mission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Our mission is to empower people and communities in situations of poverty, illiteracy, disease and social injustice. Our interventions aim to achieve large scale, positive changes through economic and social programmes that enable men and women to realise their potential.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Our Values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Innovation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Integrity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Inclusiveness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Effectiveness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sp>
        <p:nvSpPr>
          <p:cNvPr id="167" name="Google Shape;167;p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1" i="0" lang="en-US" sz="3200" u="none" cap="none" strike="noStrike">
                <a:solidFill>
                  <a:schemeClr val="dk1"/>
                </a:solidFill>
                <a:latin typeface="Calibri"/>
                <a:ea typeface="Calibri"/>
                <a:cs typeface="Calibri"/>
                <a:sym typeface="Calibri"/>
              </a:rPr>
              <a:t>Amazon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"Our [Amazon's] vision is to be earth's most customer centric company; to build a place where people can come to find and discover anything they might want to buy online."</a:t>
            </a:r>
            <a:endParaRPr/>
          </a:p>
          <a:p>
            <a:pPr indent="-139700" lvl="0" marL="342900" marR="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sp>
        <p:nvSpPr>
          <p:cNvPr id="173" name="Google Shape;173;p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1" i="0" lang="en-US" sz="3200" u="none">
                <a:solidFill>
                  <a:schemeClr val="dk1"/>
                </a:solidFill>
                <a:latin typeface="Calibri"/>
                <a:ea typeface="Calibri"/>
                <a:cs typeface="Calibri"/>
                <a:sym typeface="Calibri"/>
              </a:rPr>
              <a:t>MISSION</a:t>
            </a:r>
            <a:br>
              <a:rPr b="0" i="0" lang="en-US" sz="3200" u="none">
                <a:solidFill>
                  <a:schemeClr val="dk1"/>
                </a:solidFill>
                <a:latin typeface="Calibri"/>
                <a:ea typeface="Calibri"/>
                <a:cs typeface="Calibri"/>
                <a:sym typeface="Calibri"/>
              </a:rPr>
            </a:br>
            <a:r>
              <a:rPr b="0" i="0" lang="en-US" sz="3200" u="none">
                <a:solidFill>
                  <a:schemeClr val="dk1"/>
                </a:solidFill>
                <a:latin typeface="Calibri"/>
                <a:ea typeface="Calibri"/>
                <a:cs typeface="Calibri"/>
                <a:sym typeface="Calibri"/>
              </a:rPr>
              <a:t>The mission of BRAC University is to foster the national development process through the creation of a centre of excellence in higher education that is responsive to society's needs, and able to develop creative leaders and actively contributes to learning and creation of knowledge. - See more at: http://www.bracu.ac.bd/about#sthash.z6eMkYZA.dpuf</a:t>
            </a:r>
            <a:endParaRPr/>
          </a:p>
          <a:p>
            <a:pPr indent="-139700" lvl="0" marL="342900" marR="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8"/>
          <p:cNvSpPr txBox="1"/>
          <p:nvPr>
            <p:ph type="title"/>
          </p:nvPr>
        </p:nvSpPr>
        <p:spPr>
          <a:xfrm>
            <a:off x="457200" y="304800"/>
            <a:ext cx="8229600" cy="2362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800"/>
              <a:buFont typeface="Calibri"/>
              <a:buNone/>
            </a:pPr>
            <a:r>
              <a:rPr b="0" i="0" lang="en-US" sz="2800" u="none">
                <a:solidFill>
                  <a:schemeClr val="dk1"/>
                </a:solidFill>
                <a:latin typeface="Calibri"/>
                <a:ea typeface="Calibri"/>
                <a:cs typeface="Calibri"/>
                <a:sym typeface="Calibri"/>
              </a:rPr>
              <a:t>Growing sales revenue in North America can be considered a goal.  </a:t>
            </a:r>
            <a:br>
              <a:rPr b="0" i="0" lang="en-US" sz="2800" u="none">
                <a:solidFill>
                  <a:schemeClr val="dk1"/>
                </a:solidFill>
                <a:latin typeface="Calibri"/>
                <a:ea typeface="Calibri"/>
                <a:cs typeface="Calibri"/>
                <a:sym typeface="Calibri"/>
              </a:rPr>
            </a:br>
            <a:br>
              <a:rPr b="0" i="0" lang="en-US" sz="2800" u="none">
                <a:solidFill>
                  <a:schemeClr val="dk1"/>
                </a:solidFill>
                <a:latin typeface="Calibri"/>
                <a:ea typeface="Calibri"/>
                <a:cs typeface="Calibri"/>
                <a:sym typeface="Calibri"/>
              </a:rPr>
            </a:br>
            <a:r>
              <a:rPr b="0" i="0" lang="en-US" sz="2800" u="none">
                <a:solidFill>
                  <a:schemeClr val="dk1"/>
                </a:solidFill>
                <a:latin typeface="Calibri"/>
                <a:ea typeface="Calibri"/>
                <a:cs typeface="Calibri"/>
                <a:sym typeface="Calibri"/>
              </a:rPr>
              <a:t>Expanding your distribution network is an objective used to reach the goal of raising company revenue.</a:t>
            </a:r>
            <a:br>
              <a:rPr b="0" i="0" lang="en-US" sz="2800" u="none">
                <a:solidFill>
                  <a:schemeClr val="dk1"/>
                </a:solidFill>
                <a:latin typeface="Calibri"/>
                <a:ea typeface="Calibri"/>
                <a:cs typeface="Calibri"/>
                <a:sym typeface="Calibri"/>
              </a:rPr>
            </a:br>
            <a:endParaRPr/>
          </a:p>
        </p:txBody>
      </p:sp>
      <p:sp>
        <p:nvSpPr>
          <p:cNvPr id="179" name="Google Shape;179;p8"/>
          <p:cNvSpPr txBox="1"/>
          <p:nvPr>
            <p:ph idx="1" type="body"/>
          </p:nvPr>
        </p:nvSpPr>
        <p:spPr>
          <a:xfrm>
            <a:off x="457200" y="28194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1" lang="en-US" sz="2800" u="none">
                <a:solidFill>
                  <a:schemeClr val="dk1"/>
                </a:solidFill>
                <a:latin typeface="Calibri"/>
                <a:ea typeface="Calibri"/>
                <a:cs typeface="Calibri"/>
                <a:sym typeface="Calibri"/>
              </a:rPr>
              <a:t>Examples of Goals and Objectives</a:t>
            </a:r>
            <a:br>
              <a:rPr b="0" i="0" lang="en-US" sz="2800" u="none">
                <a:solidFill>
                  <a:schemeClr val="dk1"/>
                </a:solidFill>
                <a:latin typeface="Calibri"/>
                <a:ea typeface="Calibri"/>
                <a:cs typeface="Calibri"/>
                <a:sym typeface="Calibri"/>
              </a:rPr>
            </a:br>
            <a:r>
              <a:rPr b="0" i="0" lang="en-US" sz="2800" u="none">
                <a:solidFill>
                  <a:schemeClr val="dk1"/>
                </a:solidFill>
                <a:latin typeface="Calibri"/>
                <a:ea typeface="Calibri"/>
                <a:cs typeface="Calibri"/>
                <a:sym typeface="Calibri"/>
              </a:rPr>
              <a:t>Goals ‘“ I want to be a better cricket player. I want to learn more about Chinese history. I want to maximize my professional performance.</a:t>
            </a:r>
            <a:br>
              <a:rPr b="0" i="0" lang="en-US" sz="2800" u="none">
                <a:solidFill>
                  <a:schemeClr val="dk1"/>
                </a:solidFill>
                <a:latin typeface="Calibri"/>
                <a:ea typeface="Calibri"/>
                <a:cs typeface="Calibri"/>
                <a:sym typeface="Calibri"/>
              </a:rPr>
            </a:b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Objectives ‘“ I want to memorize the periodic table before my next quiz. I want to increase my sales by 10% this month. I want learn to play ‘Freebird’ on the guitar.</a:t>
            </a:r>
            <a:br>
              <a:rPr b="0" i="0" lang="en-US" sz="2800" u="none">
                <a:solidFill>
                  <a:schemeClr val="dk1"/>
                </a:solidFill>
                <a:latin typeface="Calibri"/>
                <a:ea typeface="Calibri"/>
                <a:cs typeface="Calibri"/>
                <a:sym typeface="Calibri"/>
              </a:rPr>
            </a:br>
            <a:br>
              <a:rPr b="0" i="0" lang="en-US" sz="2800" u="none">
                <a:solidFill>
                  <a:schemeClr val="dk1"/>
                </a:solidFill>
                <a:latin typeface="Calibri"/>
                <a:ea typeface="Calibri"/>
                <a:cs typeface="Calibri"/>
                <a:sym typeface="Calibri"/>
              </a:rPr>
            </a:br>
            <a:endParaRPr/>
          </a:p>
          <a:p>
            <a:pPr indent="-165100" lvl="0" marL="342900" marR="0" rtl="0" algn="l">
              <a:lnSpc>
                <a:spcPct val="100000"/>
              </a:lnSpc>
              <a:spcBef>
                <a:spcPts val="56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a:solidFill>
                <a:srgbClr val="888888"/>
              </a:solidFill>
            </a:endParaRPr>
          </a:p>
        </p:txBody>
      </p:sp>
      <p:sp>
        <p:nvSpPr>
          <p:cNvPr id="185" name="Google Shape;185;p9"/>
          <p:cNvSpPr/>
          <p:nvPr/>
        </p:nvSpPr>
        <p:spPr>
          <a:xfrm>
            <a:off x="457200" y="381000"/>
            <a:ext cx="8153400" cy="6248400"/>
          </a:xfrm>
          <a:prstGeom prst="roundRect">
            <a:avLst>
              <a:gd fmla="val 16667" name="adj"/>
            </a:avLst>
          </a:prstGeom>
          <a:solidFill>
            <a:srgbClr val="FDD8C3"/>
          </a:solidFill>
          <a:ln cap="flat" cmpd="sng" w="9525">
            <a:solidFill>
              <a:srgbClr val="FDD8C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6" name="Google Shape;186;p9"/>
          <p:cNvSpPr/>
          <p:nvPr/>
        </p:nvSpPr>
        <p:spPr>
          <a:xfrm>
            <a:off x="7315200" y="152400"/>
            <a:ext cx="1644650" cy="1600200"/>
          </a:xfrm>
          <a:prstGeom prst="ellipse">
            <a:avLst/>
          </a:prstGeom>
          <a:solidFill>
            <a:srgbClr val="660066"/>
          </a:solidFill>
          <a:ln cap="flat" cmpd="sng" w="9525">
            <a:solidFill>
              <a:srgbClr val="66006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7" name="Google Shape;187;p9"/>
          <p:cNvSpPr txBox="1"/>
          <p:nvPr/>
        </p:nvSpPr>
        <p:spPr>
          <a:xfrm>
            <a:off x="8458200" y="1143000"/>
            <a:ext cx="50165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E59B57"/>
              </a:buClr>
              <a:buSzPts val="4000"/>
              <a:buFont typeface="Calibri"/>
              <a:buNone/>
            </a:pPr>
            <a:r>
              <a:rPr b="1" i="0" lang="en-US" sz="4000" u="none" cap="none" strike="noStrike">
                <a:solidFill>
                  <a:srgbClr val="E59B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88" name="Google Shape;188;p9"/>
          <p:cNvSpPr txBox="1"/>
          <p:nvPr/>
        </p:nvSpPr>
        <p:spPr>
          <a:xfrm>
            <a:off x="7162800" y="0"/>
            <a:ext cx="6096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4000"/>
              <a:buFont typeface="Calibri"/>
              <a:buNone/>
            </a:pPr>
            <a:r>
              <a:rPr b="1" i="0" lang="en-US" sz="4000" u="none" cap="none" strike="noStrike">
                <a:solidFill>
                  <a:srgbClr val="660066"/>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89" name="Google Shape;189;p9"/>
          <p:cNvSpPr txBox="1"/>
          <p:nvPr/>
        </p:nvSpPr>
        <p:spPr>
          <a:xfrm>
            <a:off x="7315200" y="603250"/>
            <a:ext cx="1828800"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Helvetica Neue"/>
              <a:buNone/>
            </a:pPr>
            <a:r>
              <a:rPr b="0" i="1" lang="en-US" sz="1600" u="none" cap="none" strike="noStrike">
                <a:solidFill>
                  <a:schemeClr val="lt1"/>
                </a:solidFill>
                <a:latin typeface="Helvetica Neue"/>
                <a:ea typeface="Helvetica Neue"/>
                <a:cs typeface="Helvetica Neue"/>
                <a:sym typeface="Helvetica Neue"/>
              </a:rPr>
              <a:t>Planning &amp; Decision Making</a:t>
            </a:r>
            <a:endParaRPr b="0" i="0" sz="1400" u="none" cap="none" strike="noStrike">
              <a:solidFill>
                <a:srgbClr val="000000"/>
              </a:solidFill>
              <a:latin typeface="Arial"/>
              <a:ea typeface="Arial"/>
              <a:cs typeface="Arial"/>
              <a:sym typeface="Arial"/>
            </a:endParaRPr>
          </a:p>
        </p:txBody>
      </p:sp>
      <p:sp>
        <p:nvSpPr>
          <p:cNvPr id="190" name="Google Shape;190;p9"/>
          <p:cNvSpPr txBox="1"/>
          <p:nvPr/>
        </p:nvSpPr>
        <p:spPr>
          <a:xfrm>
            <a:off x="533400" y="1905000"/>
            <a:ext cx="8077200" cy="3962400"/>
          </a:xfrm>
          <a:prstGeom prst="rect">
            <a:avLst/>
          </a:prstGeom>
          <a:noFill/>
          <a:ln>
            <a:noFill/>
          </a:ln>
        </p:spPr>
        <p:txBody>
          <a:bodyPr anchorCtr="0" anchor="t" bIns="45700" lIns="91425" spcFirstLastPara="1" rIns="91425" wrap="square" tIns="45700">
            <a:spAutoFit/>
          </a:bodyPr>
          <a:lstStyle/>
          <a:p>
            <a:pPr indent="-342900" lvl="1" marL="342900" marR="0" rtl="0" algn="l">
              <a:lnSpc>
                <a:spcPct val="100000"/>
              </a:lnSpc>
              <a:spcBef>
                <a:spcPts val="0"/>
              </a:spcBef>
              <a:spcAft>
                <a:spcPts val="0"/>
              </a:spcAft>
              <a:buClr>
                <a:srgbClr val="000000"/>
              </a:buClr>
              <a:buSzPts val="2700"/>
              <a:buFont typeface="Arial"/>
              <a:buChar char="•"/>
            </a:pPr>
            <a:r>
              <a:rPr b="0" i="0" lang="en-US" sz="2700" u="none" cap="none" strike="noStrike">
                <a:solidFill>
                  <a:srgbClr val="000000"/>
                </a:solidFill>
                <a:latin typeface="Helvetica Neue"/>
                <a:ea typeface="Helvetica Neue"/>
                <a:cs typeface="Helvetica Neue"/>
                <a:sym typeface="Helvetica Neue"/>
              </a:rPr>
              <a:t>What is the situation now?</a:t>
            </a:r>
            <a:endParaRPr b="0" i="0" sz="1400" u="none" cap="none" strike="noStrike">
              <a:solidFill>
                <a:srgbClr val="000000"/>
              </a:solidFill>
              <a:latin typeface="Arial"/>
              <a:ea typeface="Arial"/>
              <a:cs typeface="Arial"/>
              <a:sym typeface="Arial"/>
            </a:endParaRPr>
          </a:p>
          <a:p>
            <a:pPr indent="-342900" lvl="2" marL="920750" marR="0" rtl="0" algn="l">
              <a:lnSpc>
                <a:spcPct val="100000"/>
              </a:lnSpc>
              <a:spcBef>
                <a:spcPts val="600"/>
              </a:spcBef>
              <a:spcAft>
                <a:spcPts val="0"/>
              </a:spcAft>
              <a:buClr>
                <a:srgbClr val="000000"/>
              </a:buClr>
              <a:buSzPts val="2700"/>
              <a:buFont typeface="Helvetica Neue"/>
              <a:buNone/>
            </a:pPr>
            <a:r>
              <a:rPr b="1" i="0" lang="en-US" sz="2700" u="none" cap="none" strike="noStrike">
                <a:solidFill>
                  <a:srgbClr val="000000"/>
                </a:solidFill>
                <a:latin typeface="Helvetica Neue"/>
                <a:ea typeface="Helvetica Neue"/>
                <a:cs typeface="Helvetica Neue"/>
                <a:sym typeface="Helvetica Neue"/>
              </a:rPr>
              <a:t>SWOT Analysis </a:t>
            </a:r>
            <a:r>
              <a:rPr b="1" i="0" lang="en-US" sz="2500" u="none" cap="none" strike="noStrike">
                <a:solidFill>
                  <a:srgbClr val="000000"/>
                </a:solidFill>
                <a:latin typeface="Helvetica Neue"/>
                <a:ea typeface="Helvetica Neue"/>
                <a:cs typeface="Helvetica Neue"/>
                <a:sym typeface="Helvetica Neue"/>
              </a:rPr>
              <a:t>-- </a:t>
            </a:r>
            <a:r>
              <a:rPr b="0" i="1" lang="en-US" sz="2300" u="none" cap="none" strike="noStrike">
                <a:solidFill>
                  <a:srgbClr val="000000"/>
                </a:solidFill>
                <a:latin typeface="Helvetica Neue"/>
                <a:ea typeface="Helvetica Neue"/>
                <a:cs typeface="Helvetica Neue"/>
                <a:sym typeface="Helvetica Neue"/>
              </a:rPr>
              <a:t>Analyzes the organization’s </a:t>
            </a:r>
            <a:r>
              <a:rPr b="1" i="1" lang="en-US" sz="2300" u="sng" cap="none" strike="noStrike">
                <a:solidFill>
                  <a:srgbClr val="000000"/>
                </a:solidFill>
                <a:latin typeface="Helvetica Neue"/>
                <a:ea typeface="Helvetica Neue"/>
                <a:cs typeface="Helvetica Neue"/>
                <a:sym typeface="Helvetica Neue"/>
              </a:rPr>
              <a:t>S</a:t>
            </a:r>
            <a:r>
              <a:rPr b="0" i="1" lang="en-US" sz="2300" u="none" cap="none" strike="noStrike">
                <a:solidFill>
                  <a:srgbClr val="000000"/>
                </a:solidFill>
                <a:latin typeface="Helvetica Neue"/>
                <a:ea typeface="Helvetica Neue"/>
                <a:cs typeface="Helvetica Neue"/>
                <a:sym typeface="Helvetica Neue"/>
              </a:rPr>
              <a:t>trengths, </a:t>
            </a:r>
            <a:r>
              <a:rPr b="1" i="1" lang="en-US" sz="2300" u="sng" cap="none" strike="noStrike">
                <a:solidFill>
                  <a:srgbClr val="000000"/>
                </a:solidFill>
                <a:latin typeface="Helvetica Neue"/>
                <a:ea typeface="Helvetica Neue"/>
                <a:cs typeface="Helvetica Neue"/>
                <a:sym typeface="Helvetica Neue"/>
              </a:rPr>
              <a:t>W</a:t>
            </a:r>
            <a:r>
              <a:rPr b="0" i="1" lang="en-US" sz="2300" u="none" cap="none" strike="noStrike">
                <a:solidFill>
                  <a:srgbClr val="000000"/>
                </a:solidFill>
                <a:latin typeface="Helvetica Neue"/>
                <a:ea typeface="Helvetica Neue"/>
                <a:cs typeface="Helvetica Neue"/>
                <a:sym typeface="Helvetica Neue"/>
              </a:rPr>
              <a:t>eaknesses, </a:t>
            </a:r>
            <a:r>
              <a:rPr b="1" i="1" lang="en-US" sz="2300" u="sng" cap="none" strike="noStrike">
                <a:solidFill>
                  <a:srgbClr val="000000"/>
                </a:solidFill>
                <a:latin typeface="Helvetica Neue"/>
                <a:ea typeface="Helvetica Neue"/>
                <a:cs typeface="Helvetica Neue"/>
                <a:sym typeface="Helvetica Neue"/>
              </a:rPr>
              <a:t>O</a:t>
            </a:r>
            <a:r>
              <a:rPr b="0" i="1" lang="en-US" sz="2300" u="none" cap="none" strike="noStrike">
                <a:solidFill>
                  <a:srgbClr val="000000"/>
                </a:solidFill>
                <a:latin typeface="Helvetica Neue"/>
                <a:ea typeface="Helvetica Neue"/>
                <a:cs typeface="Helvetica Neue"/>
                <a:sym typeface="Helvetica Neue"/>
              </a:rPr>
              <a:t>pportunities and </a:t>
            </a:r>
            <a:r>
              <a:rPr b="1" i="1" lang="en-US" sz="2300" u="sng" cap="none" strike="noStrike">
                <a:solidFill>
                  <a:srgbClr val="000000"/>
                </a:solidFill>
                <a:latin typeface="Helvetica Neue"/>
                <a:ea typeface="Helvetica Neue"/>
                <a:cs typeface="Helvetica Neue"/>
                <a:sym typeface="Helvetica Neue"/>
              </a:rPr>
              <a:t>T</a:t>
            </a:r>
            <a:r>
              <a:rPr b="0" i="1" lang="en-US" sz="2300" u="none" cap="none" strike="noStrike">
                <a:solidFill>
                  <a:srgbClr val="000000"/>
                </a:solidFill>
                <a:latin typeface="Helvetica Neue"/>
                <a:ea typeface="Helvetica Neue"/>
                <a:cs typeface="Helvetica Neue"/>
                <a:sym typeface="Helvetica Neue"/>
              </a:rPr>
              <a:t>hreats.</a:t>
            </a:r>
            <a:endParaRPr b="0" i="0" sz="1400" u="none" cap="none" strike="noStrike">
              <a:solidFill>
                <a:srgbClr val="000000"/>
              </a:solidFill>
              <a:latin typeface="Arial"/>
              <a:ea typeface="Arial"/>
              <a:cs typeface="Arial"/>
              <a:sym typeface="Arial"/>
            </a:endParaRPr>
          </a:p>
          <a:p>
            <a:pPr indent="-342900" lvl="1" marL="342900" marR="0" rtl="0" algn="l">
              <a:lnSpc>
                <a:spcPct val="100000"/>
              </a:lnSpc>
              <a:spcBef>
                <a:spcPts val="2400"/>
              </a:spcBef>
              <a:spcAft>
                <a:spcPts val="0"/>
              </a:spcAft>
              <a:buClr>
                <a:srgbClr val="000000"/>
              </a:buClr>
              <a:buSzPts val="2700"/>
              <a:buFont typeface="Arial"/>
              <a:buChar char="•"/>
            </a:pPr>
            <a:r>
              <a:rPr b="0" i="0" lang="en-US" sz="2700" u="none" cap="none" strike="noStrike">
                <a:solidFill>
                  <a:srgbClr val="000000"/>
                </a:solidFill>
                <a:latin typeface="Helvetica Neue"/>
                <a:ea typeface="Helvetica Neue"/>
                <a:cs typeface="Helvetica Neue"/>
                <a:sym typeface="Helvetica Neue"/>
              </a:rPr>
              <a:t>How can we get to our goal from here?</a:t>
            </a:r>
            <a:endParaRPr b="0" i="0" sz="1400" u="none" cap="none" strike="noStrike">
              <a:solidFill>
                <a:srgbClr val="000000"/>
              </a:solidFill>
              <a:latin typeface="Arial"/>
              <a:ea typeface="Arial"/>
              <a:cs typeface="Arial"/>
              <a:sym typeface="Arial"/>
            </a:endParaRPr>
          </a:p>
          <a:p>
            <a:pPr indent="-342900" lvl="2" marL="920750" marR="0" rtl="0" algn="l">
              <a:lnSpc>
                <a:spcPct val="100000"/>
              </a:lnSpc>
              <a:spcBef>
                <a:spcPts val="600"/>
              </a:spcBef>
              <a:spcAft>
                <a:spcPts val="0"/>
              </a:spcAft>
              <a:buClr>
                <a:srgbClr val="000000"/>
              </a:buClr>
              <a:buSzPts val="2500"/>
              <a:buFont typeface="Merriweather Sans"/>
              <a:buChar char="-"/>
            </a:pPr>
            <a:r>
              <a:rPr b="0" i="0" lang="en-US" sz="2500" u="none" cap="none" strike="noStrike">
                <a:solidFill>
                  <a:srgbClr val="000000"/>
                </a:solidFill>
                <a:latin typeface="Helvetica Neue"/>
                <a:ea typeface="Helvetica Neue"/>
                <a:cs typeface="Helvetica Neue"/>
                <a:sym typeface="Helvetica Neue"/>
              </a:rPr>
              <a:t>Strategic planning</a:t>
            </a:r>
            <a:endParaRPr b="0" i="0" sz="1400" u="none" cap="none" strike="noStrike">
              <a:solidFill>
                <a:srgbClr val="000000"/>
              </a:solidFill>
              <a:latin typeface="Arial"/>
              <a:ea typeface="Arial"/>
              <a:cs typeface="Arial"/>
              <a:sym typeface="Arial"/>
            </a:endParaRPr>
          </a:p>
          <a:p>
            <a:pPr indent="-342900" lvl="2" marL="920750" marR="0" rtl="0" algn="l">
              <a:lnSpc>
                <a:spcPct val="100000"/>
              </a:lnSpc>
              <a:spcBef>
                <a:spcPts val="600"/>
              </a:spcBef>
              <a:spcAft>
                <a:spcPts val="0"/>
              </a:spcAft>
              <a:buClr>
                <a:srgbClr val="000000"/>
              </a:buClr>
              <a:buSzPts val="2500"/>
              <a:buFont typeface="Merriweather Sans"/>
              <a:buChar char="-"/>
            </a:pPr>
            <a:r>
              <a:rPr b="0" i="0" lang="en-US" sz="2500" u="none" cap="none" strike="noStrike">
                <a:solidFill>
                  <a:srgbClr val="000000"/>
                </a:solidFill>
                <a:latin typeface="Helvetica Neue"/>
                <a:ea typeface="Helvetica Neue"/>
                <a:cs typeface="Helvetica Neue"/>
                <a:sym typeface="Helvetica Neue"/>
              </a:rPr>
              <a:t>Tactical planning</a:t>
            </a:r>
            <a:endParaRPr b="0" i="0" sz="1400" u="none" cap="none" strike="noStrike">
              <a:solidFill>
                <a:srgbClr val="000000"/>
              </a:solidFill>
              <a:latin typeface="Arial"/>
              <a:ea typeface="Arial"/>
              <a:cs typeface="Arial"/>
              <a:sym typeface="Arial"/>
            </a:endParaRPr>
          </a:p>
          <a:p>
            <a:pPr indent="-342900" lvl="2" marL="920750" marR="0" rtl="0" algn="l">
              <a:lnSpc>
                <a:spcPct val="100000"/>
              </a:lnSpc>
              <a:spcBef>
                <a:spcPts val="600"/>
              </a:spcBef>
              <a:spcAft>
                <a:spcPts val="0"/>
              </a:spcAft>
              <a:buClr>
                <a:srgbClr val="000000"/>
              </a:buClr>
              <a:buSzPts val="2500"/>
              <a:buFont typeface="Merriweather Sans"/>
              <a:buChar char="-"/>
            </a:pPr>
            <a:r>
              <a:rPr b="0" i="0" lang="en-US" sz="2500" u="none" cap="none" strike="noStrike">
                <a:solidFill>
                  <a:srgbClr val="000000"/>
                </a:solidFill>
                <a:latin typeface="Helvetica Neue"/>
                <a:ea typeface="Helvetica Neue"/>
                <a:cs typeface="Helvetica Neue"/>
                <a:sym typeface="Helvetica Neue"/>
              </a:rPr>
              <a:t>Operational planning</a:t>
            </a:r>
            <a:endParaRPr b="0" i="0" sz="1400" u="none" cap="none" strike="noStrike">
              <a:solidFill>
                <a:srgbClr val="000000"/>
              </a:solidFill>
              <a:latin typeface="Arial"/>
              <a:ea typeface="Arial"/>
              <a:cs typeface="Arial"/>
              <a:sym typeface="Arial"/>
            </a:endParaRPr>
          </a:p>
          <a:p>
            <a:pPr indent="-342900" lvl="2" marL="920750" marR="0" rtl="0" algn="l">
              <a:lnSpc>
                <a:spcPct val="100000"/>
              </a:lnSpc>
              <a:spcBef>
                <a:spcPts val="600"/>
              </a:spcBef>
              <a:spcAft>
                <a:spcPts val="0"/>
              </a:spcAft>
              <a:buClr>
                <a:srgbClr val="000000"/>
              </a:buClr>
              <a:buSzPts val="2500"/>
              <a:buFont typeface="Merriweather Sans"/>
              <a:buChar char="-"/>
            </a:pPr>
            <a:r>
              <a:rPr b="0" i="0" lang="en-US" sz="2500" u="none" cap="none" strike="noStrike">
                <a:solidFill>
                  <a:srgbClr val="000000"/>
                </a:solidFill>
                <a:latin typeface="Helvetica Neue"/>
                <a:ea typeface="Helvetica Neue"/>
                <a:cs typeface="Helvetica Neue"/>
                <a:sym typeface="Helvetica Neue"/>
              </a:rPr>
              <a:t>Contingency planning</a:t>
            </a:r>
            <a:endParaRPr b="0" i="0" sz="1400" u="none" cap="none" strike="noStrike">
              <a:solidFill>
                <a:srgbClr val="000000"/>
              </a:solidFill>
              <a:latin typeface="Arial"/>
              <a:ea typeface="Arial"/>
              <a:cs typeface="Arial"/>
              <a:sym typeface="Arial"/>
            </a:endParaRPr>
          </a:p>
        </p:txBody>
      </p:sp>
      <p:sp>
        <p:nvSpPr>
          <p:cNvPr id="191" name="Google Shape;191;p9"/>
          <p:cNvSpPr txBox="1"/>
          <p:nvPr>
            <p:ph type="ctrTitle"/>
          </p:nvPr>
        </p:nvSpPr>
        <p:spPr>
          <a:xfrm>
            <a:off x="381000" y="28257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PLANNING ANSWERS </a:t>
            </a:r>
            <a:br>
              <a:rPr b="1" i="0" lang="en-US" sz="3200" u="none">
                <a:solidFill>
                  <a:schemeClr val="dk1"/>
                </a:solidFill>
                <a:latin typeface="Helvetica Neue"/>
                <a:ea typeface="Helvetica Neue"/>
                <a:cs typeface="Helvetica Neue"/>
                <a:sym typeface="Helvetica Neue"/>
              </a:rPr>
            </a:br>
            <a:r>
              <a:rPr b="1" i="0" lang="en-US" sz="3200" u="none">
                <a:solidFill>
                  <a:schemeClr val="dk1"/>
                </a:solidFill>
                <a:latin typeface="Helvetica Neue"/>
                <a:ea typeface="Helvetica Neue"/>
                <a:cs typeface="Helvetica Neue"/>
                <a:sym typeface="Helvetica Neue"/>
              </a:rPr>
              <a:t>FUNDAMENTAL QUESTIONS</a:t>
            </a:r>
            <a:endParaRPr/>
          </a:p>
        </p:txBody>
      </p:sp>
      <p:sp>
        <p:nvSpPr>
          <p:cNvPr id="192" name="Google Shape;192;p9"/>
          <p:cNvSpPr txBox="1"/>
          <p:nvPr/>
        </p:nvSpPr>
        <p:spPr>
          <a:xfrm>
            <a:off x="7772400" y="1295400"/>
            <a:ext cx="685800" cy="3508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Helvetica Neue"/>
              <a:buNone/>
            </a:pPr>
            <a:r>
              <a:rPr b="1" i="0" lang="en-US" sz="1700" u="none" cap="none" strike="noStrike">
                <a:solidFill>
                  <a:schemeClr val="lt1"/>
                </a:solidFill>
                <a:latin typeface="Helvetica Neue"/>
                <a:ea typeface="Helvetica Neue"/>
                <a:cs typeface="Helvetica Neue"/>
                <a:sym typeface="Helvetica Neue"/>
              </a:rPr>
              <a:t>LG3</a:t>
            </a:r>
            <a:endParaRPr b="0" i="0" sz="1400" u="none" cap="none" strike="noStrike">
              <a:solidFill>
                <a:srgbClr val="000000"/>
              </a:solidFill>
              <a:latin typeface="Arial"/>
              <a:ea typeface="Arial"/>
              <a:cs typeface="Arial"/>
              <a:sym typeface="Arial"/>
            </a:endParaRPr>
          </a:p>
        </p:txBody>
      </p:sp>
      <p:sp>
        <p:nvSpPr>
          <p:cNvPr id="193" name="Google Shape;193;p9"/>
          <p:cNvSpPr txBox="1"/>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7-</a:t>
            </a: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39700" lvl="0" marL="342900" marR="0" rtl="0" algn="l">
              <a:lnSpc>
                <a:spcPct val="100000"/>
              </a:lnSpc>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graphicFrame>
        <p:nvGraphicFramePr>
          <p:cNvPr id="199" name="Google Shape;199;p10"/>
          <p:cNvGraphicFramePr/>
          <p:nvPr/>
        </p:nvGraphicFramePr>
        <p:xfrm>
          <a:off x="685800" y="1981200"/>
          <a:ext cx="3000000" cy="3000000"/>
        </p:xfrm>
        <a:graphic>
          <a:graphicData uri="http://schemas.openxmlformats.org/drawingml/2006/table">
            <a:tbl>
              <a:tblPr>
                <a:noFill/>
                <a:tableStyleId>{1D2E3529-25B0-41FA-B6E4-28771FC29BB3}</a:tableStyleId>
              </a:tblPr>
              <a:tblGrid>
                <a:gridCol w="3886200"/>
                <a:gridCol w="3886200"/>
              </a:tblGrid>
              <a:tr h="2332025">
                <a:tc>
                  <a:txBody>
                    <a:bodyPr/>
                    <a:lstStyle/>
                    <a:p>
                      <a:pPr indent="0" lvl="0" marL="0" marR="0" rtl="0" algn="l">
                        <a:lnSpc>
                          <a:spcPct val="100000"/>
                        </a:lnSpc>
                        <a:spcBef>
                          <a:spcPts val="0"/>
                        </a:spcBef>
                        <a:spcAft>
                          <a:spcPts val="0"/>
                        </a:spcAft>
                        <a:buClr>
                          <a:srgbClr val="FF0000"/>
                        </a:buClr>
                        <a:buSzPts val="1800"/>
                        <a:buFont typeface="Arial"/>
                        <a:buNone/>
                      </a:pPr>
                      <a:r>
                        <a:rPr b="1" i="0" lang="en-US" sz="1800" u="none" cap="none" strike="noStrike">
                          <a:solidFill>
                            <a:srgbClr val="FF0000"/>
                          </a:solidFill>
                          <a:latin typeface="Arial"/>
                          <a:ea typeface="Arial"/>
                          <a:cs typeface="Arial"/>
                          <a:sym typeface="Arial"/>
                        </a:rPr>
                        <a:t>Potential Strengths</a:t>
                      </a:r>
                      <a:endParaRPr sz="1400" u="none" cap="none" strike="noStrike"/>
                    </a:p>
                    <a:p>
                      <a:pPr indent="-114300" lvl="0" marL="0" marR="0" rtl="0" algn="l">
                        <a:lnSpc>
                          <a:spcPct val="100000"/>
                        </a:lnSpc>
                        <a:spcBef>
                          <a:spcPts val="0"/>
                        </a:spcBef>
                        <a:spcAft>
                          <a:spcPts val="0"/>
                        </a:spcAft>
                        <a:buClr>
                          <a:srgbClr val="FEFED6"/>
                        </a:buClr>
                        <a:buSzPts val="1800"/>
                        <a:buFont typeface="Arial"/>
                        <a:buChar char="•"/>
                      </a:pPr>
                      <a:r>
                        <a:rPr b="1" i="0" lang="en-US" sz="1800" u="none" cap="none" strike="noStrike">
                          <a:solidFill>
                            <a:srgbClr val="FEFED6"/>
                          </a:solidFill>
                          <a:latin typeface="Arial"/>
                          <a:ea typeface="Arial"/>
                          <a:cs typeface="Arial"/>
                          <a:sym typeface="Arial"/>
                        </a:rPr>
                        <a:t> Market leadership</a:t>
                      </a:r>
                      <a:endParaRPr sz="1400" u="none" cap="none" strike="noStrike"/>
                    </a:p>
                    <a:p>
                      <a:pPr indent="-114300" lvl="0" marL="0" marR="0" rtl="0" algn="l">
                        <a:lnSpc>
                          <a:spcPct val="100000"/>
                        </a:lnSpc>
                        <a:spcBef>
                          <a:spcPts val="0"/>
                        </a:spcBef>
                        <a:spcAft>
                          <a:spcPts val="0"/>
                        </a:spcAft>
                        <a:buClr>
                          <a:srgbClr val="FEFED6"/>
                        </a:buClr>
                        <a:buSzPts val="1800"/>
                        <a:buFont typeface="Arial"/>
                        <a:buChar char="•"/>
                      </a:pPr>
                      <a:r>
                        <a:rPr b="1" i="0" lang="en-US" sz="1800" u="none" cap="none" strike="noStrike">
                          <a:solidFill>
                            <a:srgbClr val="FEFED6"/>
                          </a:solidFill>
                          <a:latin typeface="Arial"/>
                          <a:ea typeface="Arial"/>
                          <a:cs typeface="Arial"/>
                          <a:sym typeface="Arial"/>
                        </a:rPr>
                        <a:t> Strong research and development</a:t>
                      </a:r>
                      <a:endParaRPr sz="1400" u="none" cap="none" strike="noStrike"/>
                    </a:p>
                    <a:p>
                      <a:pPr indent="-114300" lvl="0" marL="0" marR="0" rtl="0" algn="l">
                        <a:lnSpc>
                          <a:spcPct val="100000"/>
                        </a:lnSpc>
                        <a:spcBef>
                          <a:spcPts val="0"/>
                        </a:spcBef>
                        <a:spcAft>
                          <a:spcPts val="0"/>
                        </a:spcAft>
                        <a:buClr>
                          <a:srgbClr val="FEFED6"/>
                        </a:buClr>
                        <a:buSzPts val="1800"/>
                        <a:buFont typeface="Arial"/>
                        <a:buChar char="•"/>
                      </a:pPr>
                      <a:r>
                        <a:rPr b="1" i="0" lang="en-US" sz="1800" u="none" cap="none" strike="noStrike">
                          <a:solidFill>
                            <a:srgbClr val="FEFED6"/>
                          </a:solidFill>
                          <a:latin typeface="Arial"/>
                          <a:ea typeface="Arial"/>
                          <a:cs typeface="Arial"/>
                          <a:sym typeface="Arial"/>
                        </a:rPr>
                        <a:t> High-quality products</a:t>
                      </a:r>
                      <a:endParaRPr sz="1400" u="none" cap="none" strike="noStrike"/>
                    </a:p>
                    <a:p>
                      <a:pPr indent="-114300" lvl="0" marL="0" marR="0" rtl="0" algn="l">
                        <a:lnSpc>
                          <a:spcPct val="100000"/>
                        </a:lnSpc>
                        <a:spcBef>
                          <a:spcPts val="0"/>
                        </a:spcBef>
                        <a:spcAft>
                          <a:spcPts val="0"/>
                        </a:spcAft>
                        <a:buClr>
                          <a:srgbClr val="FEFED6"/>
                        </a:buClr>
                        <a:buSzPts val="1800"/>
                        <a:buFont typeface="Arial"/>
                        <a:buChar char="•"/>
                      </a:pPr>
                      <a:r>
                        <a:rPr b="1" i="0" lang="en-US" sz="1800" u="none" cap="none" strike="noStrike">
                          <a:solidFill>
                            <a:srgbClr val="FEFED6"/>
                          </a:solidFill>
                          <a:latin typeface="Arial"/>
                          <a:ea typeface="Arial"/>
                          <a:cs typeface="Arial"/>
                          <a:sym typeface="Arial"/>
                        </a:rPr>
                        <a:t>Cost advantages</a:t>
                      </a:r>
                      <a:endParaRPr sz="1400" u="none" cap="none" strike="noStrike"/>
                    </a:p>
                    <a:p>
                      <a:pPr indent="-114300" lvl="0" marL="0" marR="0" rtl="0" algn="l">
                        <a:lnSpc>
                          <a:spcPct val="100000"/>
                        </a:lnSpc>
                        <a:spcBef>
                          <a:spcPts val="0"/>
                        </a:spcBef>
                        <a:spcAft>
                          <a:spcPts val="0"/>
                        </a:spcAft>
                        <a:buClr>
                          <a:srgbClr val="FEFED6"/>
                        </a:buClr>
                        <a:buSzPts val="1800"/>
                        <a:buFont typeface="Arial"/>
                        <a:buChar char="•"/>
                      </a:pPr>
                      <a:r>
                        <a:rPr b="1" i="0" lang="en-US" sz="1800" u="none" cap="none" strike="noStrike">
                          <a:solidFill>
                            <a:srgbClr val="FEFED6"/>
                          </a:solidFill>
                          <a:latin typeface="Arial"/>
                          <a:ea typeface="Arial"/>
                          <a:cs typeface="Arial"/>
                          <a:sym typeface="Arial"/>
                        </a:rPr>
                        <a:t>Patents</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0000"/>
                        </a:buClr>
                        <a:buSzPts val="1800"/>
                        <a:buFont typeface="Arial"/>
                        <a:buNone/>
                      </a:pPr>
                      <a:r>
                        <a:rPr b="1" i="0" lang="en-US" sz="1800" u="none" cap="none" strike="noStrike">
                          <a:solidFill>
                            <a:srgbClr val="FF0000"/>
                          </a:solidFill>
                          <a:latin typeface="Arial"/>
                          <a:ea typeface="Arial"/>
                          <a:cs typeface="Arial"/>
                          <a:sym typeface="Arial"/>
                        </a:rPr>
                        <a:t>Potential Weaknesses</a:t>
                      </a:r>
                      <a:endParaRPr sz="1400" u="none" cap="none" strike="noStrike"/>
                    </a:p>
                    <a:p>
                      <a:pPr indent="-114300" lvl="0" marL="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Arial"/>
                          <a:ea typeface="Arial"/>
                          <a:cs typeface="Arial"/>
                          <a:sym typeface="Arial"/>
                        </a:rPr>
                        <a:t>Large inventories</a:t>
                      </a:r>
                      <a:endParaRPr sz="1400" u="none" cap="none" strike="noStrike"/>
                    </a:p>
                    <a:p>
                      <a:pPr indent="-114300" lvl="0" marL="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Arial"/>
                          <a:ea typeface="Arial"/>
                          <a:cs typeface="Arial"/>
                          <a:sym typeface="Arial"/>
                        </a:rPr>
                        <a:t> Excess capacity for markets</a:t>
                      </a:r>
                      <a:endParaRPr sz="1400" u="none" cap="none" strike="noStrike"/>
                    </a:p>
                    <a:p>
                      <a:pPr indent="-114300" lvl="0" marL="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Arial"/>
                          <a:ea typeface="Arial"/>
                          <a:cs typeface="Arial"/>
                          <a:sym typeface="Arial"/>
                        </a:rPr>
                        <a:t> Management turnover</a:t>
                      </a:r>
                      <a:endParaRPr sz="1400" u="none" cap="none" strike="noStrike"/>
                    </a:p>
                    <a:p>
                      <a:pPr indent="-114300" lvl="0" marL="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Arial"/>
                          <a:ea typeface="Arial"/>
                          <a:cs typeface="Arial"/>
                          <a:sym typeface="Arial"/>
                        </a:rPr>
                        <a:t> Weak market image</a:t>
                      </a:r>
                      <a:endParaRPr sz="1400" u="none" cap="none" strike="noStrike"/>
                    </a:p>
                    <a:p>
                      <a:pPr indent="-114300" lvl="0" marL="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Arial"/>
                          <a:ea typeface="Arial"/>
                          <a:cs typeface="Arial"/>
                          <a:sym typeface="Arial"/>
                        </a:rPr>
                        <a:t> Lack of management depth</a:t>
                      </a:r>
                      <a:endParaRPr sz="1400" u="none" cap="none" strike="noStrike"/>
                    </a:p>
                    <a:p>
                      <a:pPr indent="-114300" lvl="0" marL="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Arial"/>
                          <a:ea typeface="Arial"/>
                          <a:cs typeface="Arial"/>
                          <a:sym typeface="Arial"/>
                        </a:rPr>
                        <a:t> </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2163750">
                <a:tc>
                  <a:txBody>
                    <a:bodyPr/>
                    <a:lstStyle/>
                    <a:p>
                      <a:pPr indent="0" lvl="0" marL="0" marR="0" rtl="0" algn="l">
                        <a:lnSpc>
                          <a:spcPct val="100000"/>
                        </a:lnSpc>
                        <a:spcBef>
                          <a:spcPts val="0"/>
                        </a:spcBef>
                        <a:spcAft>
                          <a:spcPts val="0"/>
                        </a:spcAft>
                        <a:buClr>
                          <a:srgbClr val="FF0000"/>
                        </a:buClr>
                        <a:buSzPts val="1800"/>
                        <a:buFont typeface="Arial"/>
                        <a:buNone/>
                      </a:pPr>
                      <a:r>
                        <a:rPr b="1" i="0" lang="en-US" sz="1800" u="none" cap="none" strike="noStrike">
                          <a:solidFill>
                            <a:srgbClr val="FF0000"/>
                          </a:solidFill>
                          <a:latin typeface="Arial"/>
                          <a:ea typeface="Arial"/>
                          <a:cs typeface="Arial"/>
                          <a:sym typeface="Arial"/>
                        </a:rPr>
                        <a:t>Potential Opportunities</a:t>
                      </a:r>
                      <a:endParaRPr sz="1400" u="none" cap="none" strike="noStrike"/>
                    </a:p>
                    <a:p>
                      <a:pPr indent="-114300" lvl="0" marL="0" marR="0" rtl="0" algn="l">
                        <a:lnSpc>
                          <a:spcPct val="100000"/>
                        </a:lnSpc>
                        <a:spcBef>
                          <a:spcPts val="0"/>
                        </a:spcBef>
                        <a:spcAft>
                          <a:spcPts val="0"/>
                        </a:spcAft>
                        <a:buClr>
                          <a:srgbClr val="8383AD"/>
                        </a:buClr>
                        <a:buSzPts val="1800"/>
                        <a:buFont typeface="Arial"/>
                        <a:buChar char="•"/>
                      </a:pPr>
                      <a:r>
                        <a:rPr b="1" i="0" lang="en-US" sz="1800" u="none" cap="none" strike="noStrike">
                          <a:solidFill>
                            <a:srgbClr val="8383AD"/>
                          </a:solidFill>
                          <a:latin typeface="Arial"/>
                          <a:ea typeface="Arial"/>
                          <a:cs typeface="Arial"/>
                          <a:sym typeface="Arial"/>
                        </a:rPr>
                        <a:t> New overseas markets</a:t>
                      </a:r>
                      <a:endParaRPr sz="1400" u="none" cap="none" strike="noStrike"/>
                    </a:p>
                    <a:p>
                      <a:pPr indent="-114300" lvl="0" marL="0" marR="0" rtl="0" algn="l">
                        <a:lnSpc>
                          <a:spcPct val="100000"/>
                        </a:lnSpc>
                        <a:spcBef>
                          <a:spcPts val="0"/>
                        </a:spcBef>
                        <a:spcAft>
                          <a:spcPts val="0"/>
                        </a:spcAft>
                        <a:buClr>
                          <a:srgbClr val="8383AD"/>
                        </a:buClr>
                        <a:buSzPts val="1800"/>
                        <a:buFont typeface="Arial"/>
                        <a:buChar char="•"/>
                      </a:pPr>
                      <a:r>
                        <a:rPr b="1" i="0" lang="en-US" sz="1800" u="none" cap="none" strike="noStrike">
                          <a:solidFill>
                            <a:srgbClr val="8383AD"/>
                          </a:solidFill>
                          <a:latin typeface="Arial"/>
                          <a:ea typeface="Arial"/>
                          <a:cs typeface="Arial"/>
                          <a:sym typeface="Arial"/>
                        </a:rPr>
                        <a:t>Falling trade barriers</a:t>
                      </a:r>
                      <a:endParaRPr sz="1400" u="none" cap="none" strike="noStrike"/>
                    </a:p>
                    <a:p>
                      <a:pPr indent="-114300" lvl="0" marL="0" marR="0" rtl="0" algn="l">
                        <a:lnSpc>
                          <a:spcPct val="100000"/>
                        </a:lnSpc>
                        <a:spcBef>
                          <a:spcPts val="0"/>
                        </a:spcBef>
                        <a:spcAft>
                          <a:spcPts val="0"/>
                        </a:spcAft>
                        <a:buClr>
                          <a:srgbClr val="8383AD"/>
                        </a:buClr>
                        <a:buSzPts val="1800"/>
                        <a:buFont typeface="Arial"/>
                        <a:buChar char="•"/>
                      </a:pPr>
                      <a:r>
                        <a:rPr b="1" i="0" lang="en-US" sz="1800" u="none" cap="none" strike="noStrike">
                          <a:solidFill>
                            <a:srgbClr val="8383AD"/>
                          </a:solidFill>
                          <a:latin typeface="Arial"/>
                          <a:ea typeface="Arial"/>
                          <a:cs typeface="Arial"/>
                          <a:sym typeface="Arial"/>
                        </a:rPr>
                        <a:t>Competitors failing</a:t>
                      </a:r>
                      <a:endParaRPr sz="1400" u="none" cap="none" strike="noStrike"/>
                    </a:p>
                    <a:p>
                      <a:pPr indent="-114300" lvl="0" marL="0" marR="0" rtl="0" algn="l">
                        <a:lnSpc>
                          <a:spcPct val="100000"/>
                        </a:lnSpc>
                        <a:spcBef>
                          <a:spcPts val="0"/>
                        </a:spcBef>
                        <a:spcAft>
                          <a:spcPts val="0"/>
                        </a:spcAft>
                        <a:buClr>
                          <a:srgbClr val="8383AD"/>
                        </a:buClr>
                        <a:buSzPts val="1800"/>
                        <a:buFont typeface="Arial"/>
                        <a:buChar char="•"/>
                      </a:pPr>
                      <a:r>
                        <a:rPr b="1" i="0" lang="en-US" sz="1800" u="none" cap="none" strike="noStrike">
                          <a:solidFill>
                            <a:srgbClr val="8383AD"/>
                          </a:solidFill>
                          <a:latin typeface="Arial"/>
                          <a:ea typeface="Arial"/>
                          <a:cs typeface="Arial"/>
                          <a:sym typeface="Arial"/>
                        </a:rPr>
                        <a:t>Diversification</a:t>
                      </a:r>
                      <a:endParaRPr sz="1400" u="none" cap="none" strike="noStrike"/>
                    </a:p>
                    <a:p>
                      <a:pPr indent="-114300" lvl="0" marL="0" marR="0" rtl="0" algn="l">
                        <a:lnSpc>
                          <a:spcPct val="100000"/>
                        </a:lnSpc>
                        <a:spcBef>
                          <a:spcPts val="0"/>
                        </a:spcBef>
                        <a:spcAft>
                          <a:spcPts val="0"/>
                        </a:spcAft>
                        <a:buClr>
                          <a:srgbClr val="8383AD"/>
                        </a:buClr>
                        <a:buSzPts val="1800"/>
                        <a:buFont typeface="Arial"/>
                        <a:buChar char="•"/>
                      </a:pPr>
                      <a:r>
                        <a:rPr b="1" i="0" lang="en-US" sz="1800" u="none" cap="none" strike="noStrike">
                          <a:solidFill>
                            <a:srgbClr val="8383AD"/>
                          </a:solidFill>
                          <a:latin typeface="Arial"/>
                          <a:ea typeface="Arial"/>
                          <a:cs typeface="Arial"/>
                          <a:sym typeface="Arial"/>
                        </a:rPr>
                        <a:t>Economy rebounding</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8DB"/>
                    </a:solidFill>
                  </a:tcPr>
                </a:tc>
                <a:tc>
                  <a:txBody>
                    <a:bodyPr/>
                    <a:lstStyle/>
                    <a:p>
                      <a:pPr indent="0" lvl="0" marL="0" marR="0" rtl="0" algn="l">
                        <a:lnSpc>
                          <a:spcPct val="100000"/>
                        </a:lnSpc>
                        <a:spcBef>
                          <a:spcPts val="0"/>
                        </a:spcBef>
                        <a:spcAft>
                          <a:spcPts val="0"/>
                        </a:spcAft>
                        <a:buClr>
                          <a:srgbClr val="FF0000"/>
                        </a:buClr>
                        <a:buSzPts val="1800"/>
                        <a:buFont typeface="Arial"/>
                        <a:buNone/>
                      </a:pPr>
                      <a:r>
                        <a:rPr b="1" i="0" lang="en-US" sz="1800" u="none" cap="none" strike="noStrike">
                          <a:solidFill>
                            <a:srgbClr val="FF0000"/>
                          </a:solidFill>
                          <a:latin typeface="Arial"/>
                          <a:ea typeface="Arial"/>
                          <a:cs typeface="Arial"/>
                          <a:sym typeface="Arial"/>
                        </a:rPr>
                        <a:t>Potential Threats</a:t>
                      </a:r>
                      <a:endParaRPr sz="1400" u="none" cap="none" strike="noStrike"/>
                    </a:p>
                    <a:p>
                      <a:pPr indent="-114300" lvl="0" marL="0" marR="0" rtl="0" algn="l">
                        <a:lnSpc>
                          <a:spcPct val="100000"/>
                        </a:lnSpc>
                        <a:spcBef>
                          <a:spcPts val="0"/>
                        </a:spcBef>
                        <a:spcAft>
                          <a:spcPts val="0"/>
                        </a:spcAft>
                        <a:buClr>
                          <a:srgbClr val="8383AD"/>
                        </a:buClr>
                        <a:buSzPts val="1800"/>
                        <a:buFont typeface="Arial"/>
                        <a:buChar char="•"/>
                      </a:pPr>
                      <a:r>
                        <a:rPr b="1" i="0" lang="en-US" sz="1800" u="none" cap="none" strike="noStrike">
                          <a:solidFill>
                            <a:srgbClr val="8383AD"/>
                          </a:solidFill>
                          <a:latin typeface="Arial"/>
                          <a:ea typeface="Arial"/>
                          <a:cs typeface="Arial"/>
                          <a:sym typeface="Arial"/>
                        </a:rPr>
                        <a:t> Market saturation</a:t>
                      </a:r>
                      <a:endParaRPr sz="1400" u="none" cap="none" strike="noStrike"/>
                    </a:p>
                    <a:p>
                      <a:pPr indent="-114300" lvl="0" marL="0" marR="0" rtl="0" algn="l">
                        <a:lnSpc>
                          <a:spcPct val="100000"/>
                        </a:lnSpc>
                        <a:spcBef>
                          <a:spcPts val="0"/>
                        </a:spcBef>
                        <a:spcAft>
                          <a:spcPts val="0"/>
                        </a:spcAft>
                        <a:buClr>
                          <a:srgbClr val="8383AD"/>
                        </a:buClr>
                        <a:buSzPts val="1800"/>
                        <a:buFont typeface="Arial"/>
                        <a:buChar char="•"/>
                      </a:pPr>
                      <a:r>
                        <a:rPr b="1" i="0" lang="en-US" sz="1800" u="none" cap="none" strike="noStrike">
                          <a:solidFill>
                            <a:srgbClr val="8383AD"/>
                          </a:solidFill>
                          <a:latin typeface="Arial"/>
                          <a:ea typeface="Arial"/>
                          <a:cs typeface="Arial"/>
                          <a:sym typeface="Arial"/>
                        </a:rPr>
                        <a:t> Threat of takeover</a:t>
                      </a:r>
                      <a:endParaRPr sz="1400" u="none" cap="none" strike="noStrike"/>
                    </a:p>
                    <a:p>
                      <a:pPr indent="-114300" lvl="0" marL="0" marR="0" rtl="0" algn="l">
                        <a:lnSpc>
                          <a:spcPct val="100000"/>
                        </a:lnSpc>
                        <a:spcBef>
                          <a:spcPts val="0"/>
                        </a:spcBef>
                        <a:spcAft>
                          <a:spcPts val="0"/>
                        </a:spcAft>
                        <a:buClr>
                          <a:srgbClr val="8383AD"/>
                        </a:buClr>
                        <a:buSzPts val="1800"/>
                        <a:buFont typeface="Arial"/>
                        <a:buChar char="•"/>
                      </a:pPr>
                      <a:r>
                        <a:rPr b="1" i="0" lang="en-US" sz="1800" u="none" cap="none" strike="noStrike">
                          <a:solidFill>
                            <a:srgbClr val="8383AD"/>
                          </a:solidFill>
                          <a:latin typeface="Arial"/>
                          <a:ea typeface="Arial"/>
                          <a:cs typeface="Arial"/>
                          <a:sym typeface="Arial"/>
                        </a:rPr>
                        <a:t> Low-cost foreign competition</a:t>
                      </a:r>
                      <a:endParaRPr sz="1400" u="none" cap="none" strike="noStrike"/>
                    </a:p>
                    <a:p>
                      <a:pPr indent="-114300" lvl="0" marL="0" marR="0" rtl="0" algn="l">
                        <a:lnSpc>
                          <a:spcPct val="100000"/>
                        </a:lnSpc>
                        <a:spcBef>
                          <a:spcPts val="0"/>
                        </a:spcBef>
                        <a:spcAft>
                          <a:spcPts val="0"/>
                        </a:spcAft>
                        <a:buClr>
                          <a:srgbClr val="8383AD"/>
                        </a:buClr>
                        <a:buSzPts val="1800"/>
                        <a:buFont typeface="Arial"/>
                        <a:buChar char="•"/>
                      </a:pPr>
                      <a:r>
                        <a:rPr b="1" i="0" lang="en-US" sz="1800" u="none" cap="none" strike="noStrike">
                          <a:solidFill>
                            <a:srgbClr val="8383AD"/>
                          </a:solidFill>
                          <a:latin typeface="Arial"/>
                          <a:ea typeface="Arial"/>
                          <a:cs typeface="Arial"/>
                          <a:sym typeface="Arial"/>
                        </a:rPr>
                        <a:t> Slower market growth</a:t>
                      </a:r>
                      <a:endParaRPr sz="1400" u="none" cap="none" strike="noStrike"/>
                    </a:p>
                    <a:p>
                      <a:pPr indent="-114300" lvl="0" marL="0" marR="0" rtl="0" algn="l">
                        <a:lnSpc>
                          <a:spcPct val="100000"/>
                        </a:lnSpc>
                        <a:spcBef>
                          <a:spcPts val="0"/>
                        </a:spcBef>
                        <a:spcAft>
                          <a:spcPts val="0"/>
                        </a:spcAft>
                        <a:buClr>
                          <a:srgbClr val="8383AD"/>
                        </a:buClr>
                        <a:buSzPts val="1800"/>
                        <a:buFont typeface="Arial"/>
                        <a:buChar char="•"/>
                      </a:pPr>
                      <a:r>
                        <a:rPr b="1" i="0" lang="en-US" sz="1800" u="none" cap="none" strike="noStrike">
                          <a:solidFill>
                            <a:srgbClr val="8383AD"/>
                          </a:solidFill>
                          <a:latin typeface="Arial"/>
                          <a:ea typeface="Arial"/>
                          <a:cs typeface="Arial"/>
                          <a:sym typeface="Arial"/>
                        </a:rPr>
                        <a:t> Growing government regulation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8DB"/>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descr="1439080992-007-F002" id="207" name="Google Shape;207;p11"/>
          <p:cNvPicPr preferRelativeResize="0"/>
          <p:nvPr/>
        </p:nvPicPr>
        <p:blipFill rotWithShape="1">
          <a:blip r:embed="rId3">
            <a:alphaModFix/>
          </a:blip>
          <a:srcRect b="0" l="0" r="0" t="0"/>
          <a:stretch/>
        </p:blipFill>
        <p:spPr>
          <a:xfrm>
            <a:off x="2549525" y="320675"/>
            <a:ext cx="5310187" cy="6034087"/>
          </a:xfrm>
          <a:prstGeom prst="rect">
            <a:avLst/>
          </a:prstGeom>
          <a:noFill/>
          <a:ln>
            <a:noFill/>
          </a:ln>
        </p:spPr>
      </p:pic>
      <p:sp>
        <p:nvSpPr>
          <p:cNvPr id="208" name="Google Shape;208;p11"/>
          <p:cNvSpPr txBox="1"/>
          <p:nvPr/>
        </p:nvSpPr>
        <p:spPr>
          <a:xfrm>
            <a:off x="8047037" y="6354762"/>
            <a:ext cx="731837" cy="3667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7–</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209" name="Google Shape;209;p11"/>
          <p:cNvPicPr preferRelativeResize="0"/>
          <p:nvPr/>
        </p:nvPicPr>
        <p:blipFill rotWithShape="1">
          <a:blip r:embed="rId4">
            <a:alphaModFix/>
          </a:blip>
          <a:srcRect b="0" l="0" r="0" t="0"/>
          <a:stretch/>
        </p:blipFill>
        <p:spPr>
          <a:xfrm>
            <a:off x="365125" y="395287"/>
            <a:ext cx="788987" cy="263525"/>
          </a:xfrm>
          <a:prstGeom prst="rect">
            <a:avLst/>
          </a:prstGeom>
          <a:noFill/>
          <a:ln>
            <a:noFill/>
          </a:ln>
        </p:spPr>
      </p:pic>
      <p:cxnSp>
        <p:nvCxnSpPr>
          <p:cNvPr id="210" name="Google Shape;210;p11"/>
          <p:cNvCxnSpPr/>
          <p:nvPr/>
        </p:nvCxnSpPr>
        <p:spPr>
          <a:xfrm>
            <a:off x="365125" y="685800"/>
            <a:ext cx="1646237" cy="0"/>
          </a:xfrm>
          <a:prstGeom prst="straightConnector1">
            <a:avLst/>
          </a:prstGeom>
          <a:noFill/>
          <a:ln cap="flat" cmpd="sng" w="19050">
            <a:solidFill>
              <a:schemeClr val="dk1"/>
            </a:solidFill>
            <a:prstDash val="solid"/>
            <a:miter lim="800000"/>
            <a:headEnd len="sm" w="sm" type="none"/>
            <a:tailEnd len="sm" w="sm" type="none"/>
          </a:ln>
        </p:spPr>
      </p:cxnSp>
      <p:sp>
        <p:nvSpPr>
          <p:cNvPr id="211" name="Google Shape;211;p11"/>
          <p:cNvSpPr txBox="1"/>
          <p:nvPr/>
        </p:nvSpPr>
        <p:spPr>
          <a:xfrm>
            <a:off x="274637" y="685800"/>
            <a:ext cx="2833687" cy="101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53735"/>
              </a:buClr>
              <a:buSzPts val="2000"/>
              <a:buFont typeface="Tahoma"/>
              <a:buNone/>
            </a:pPr>
            <a:r>
              <a:rPr b="0" i="0" lang="en-US" sz="2000" u="none" cap="none" strike="noStrike">
                <a:solidFill>
                  <a:srgbClr val="953735"/>
                </a:solidFill>
                <a:latin typeface="Tahoma"/>
                <a:ea typeface="Tahoma"/>
                <a:cs typeface="Tahoma"/>
                <a:sym typeface="Tahoma"/>
              </a:rPr>
              <a:t>Kinds of Organizational Goals for a Regional Fast-Food Chain</a:t>
            </a:r>
            <a:endParaRPr b="0" i="0" sz="1400" u="none" cap="none" strike="noStrike">
              <a:solidFill>
                <a:srgbClr val="000000"/>
              </a:solidFill>
              <a:latin typeface="Arial"/>
              <a:ea typeface="Arial"/>
              <a:cs typeface="Arial"/>
              <a:sym typeface="Arial"/>
            </a:endParaRPr>
          </a:p>
        </p:txBody>
      </p:sp>
      <p:sp>
        <p:nvSpPr>
          <p:cNvPr id="212" name="Google Shape;212;p11"/>
          <p:cNvSpPr txBox="1"/>
          <p:nvPr/>
        </p:nvSpPr>
        <p:spPr>
          <a:xfrm>
            <a:off x="1189037" y="323850"/>
            <a:ext cx="822325" cy="400050"/>
          </a:xfrm>
          <a:prstGeom prst="rect">
            <a:avLst/>
          </a:prstGeom>
          <a:noFill/>
          <a:ln>
            <a:noFill/>
          </a:ln>
        </p:spPr>
        <p:txBody>
          <a:bodyPr anchorCtr="0" anchor="t" bIns="45700" lIns="91425" spcFirstLastPara="1" rIns="91425" wrap="square" tIns="45700">
            <a:spAutoFit/>
          </a:bodyPr>
          <a:lstStyle/>
          <a:p>
            <a:pPr indent="-463550" lvl="0" marL="463550" marR="0" rtl="0" algn="l">
              <a:lnSpc>
                <a:spcPct val="100000"/>
              </a:lnSpc>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7.2</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1000"/>
                                        <p:tgtEl>
                                          <p:spTgt spid="2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a:solidFill>
                <a:srgbClr val="888888"/>
              </a:solidFill>
            </a:endParaRPr>
          </a:p>
        </p:txBody>
      </p:sp>
      <p:sp>
        <p:nvSpPr>
          <p:cNvPr id="218" name="Google Shape;218;p12"/>
          <p:cNvSpPr/>
          <p:nvPr/>
        </p:nvSpPr>
        <p:spPr>
          <a:xfrm>
            <a:off x="457200" y="381000"/>
            <a:ext cx="8153400" cy="6248400"/>
          </a:xfrm>
          <a:prstGeom prst="roundRect">
            <a:avLst>
              <a:gd fmla="val 16667" name="adj"/>
            </a:avLst>
          </a:prstGeom>
          <a:solidFill>
            <a:srgbClr val="FDD8C3"/>
          </a:solidFill>
          <a:ln cap="flat" cmpd="sng" w="9525">
            <a:solidFill>
              <a:srgbClr val="FDD8C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9" name="Google Shape;219;p12"/>
          <p:cNvSpPr/>
          <p:nvPr/>
        </p:nvSpPr>
        <p:spPr>
          <a:xfrm>
            <a:off x="7315200" y="152400"/>
            <a:ext cx="1644650" cy="1600200"/>
          </a:xfrm>
          <a:prstGeom prst="ellipse">
            <a:avLst/>
          </a:prstGeom>
          <a:solidFill>
            <a:srgbClr val="660066"/>
          </a:solidFill>
          <a:ln cap="flat" cmpd="sng" w="9525">
            <a:solidFill>
              <a:srgbClr val="66006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0" name="Google Shape;220;p12"/>
          <p:cNvSpPr txBox="1"/>
          <p:nvPr/>
        </p:nvSpPr>
        <p:spPr>
          <a:xfrm>
            <a:off x="8458200" y="1143000"/>
            <a:ext cx="50165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E59B57"/>
              </a:buClr>
              <a:buSzPts val="4000"/>
              <a:buFont typeface="Calibri"/>
              <a:buNone/>
            </a:pPr>
            <a:r>
              <a:rPr b="1" i="0" lang="en-US" sz="4000" u="none" cap="none" strike="noStrike">
                <a:solidFill>
                  <a:srgbClr val="E59B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21" name="Google Shape;221;p12"/>
          <p:cNvSpPr txBox="1"/>
          <p:nvPr/>
        </p:nvSpPr>
        <p:spPr>
          <a:xfrm>
            <a:off x="7162800" y="0"/>
            <a:ext cx="6096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4000"/>
              <a:buFont typeface="Calibri"/>
              <a:buNone/>
            </a:pPr>
            <a:r>
              <a:rPr b="1" i="0" lang="en-US" sz="4000" u="none" cap="none" strike="noStrike">
                <a:solidFill>
                  <a:srgbClr val="660066"/>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22" name="Google Shape;222;p12"/>
          <p:cNvSpPr txBox="1"/>
          <p:nvPr/>
        </p:nvSpPr>
        <p:spPr>
          <a:xfrm>
            <a:off x="7315200" y="603250"/>
            <a:ext cx="1828800"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Helvetica Neue"/>
              <a:buNone/>
            </a:pPr>
            <a:r>
              <a:rPr b="0" i="1" lang="en-US" sz="1600" u="none" cap="none" strike="noStrike">
                <a:solidFill>
                  <a:schemeClr val="lt1"/>
                </a:solidFill>
                <a:latin typeface="Helvetica Neue"/>
                <a:ea typeface="Helvetica Neue"/>
                <a:cs typeface="Helvetica Neue"/>
                <a:sym typeface="Helvetica Neue"/>
              </a:rPr>
              <a:t>Planning &amp; Decision Making</a:t>
            </a:r>
            <a:endParaRPr b="0" i="0" sz="1400" u="none" cap="none" strike="noStrike">
              <a:solidFill>
                <a:srgbClr val="000000"/>
              </a:solidFill>
              <a:latin typeface="Arial"/>
              <a:ea typeface="Arial"/>
              <a:cs typeface="Arial"/>
              <a:sym typeface="Arial"/>
            </a:endParaRPr>
          </a:p>
        </p:txBody>
      </p:sp>
      <p:sp>
        <p:nvSpPr>
          <p:cNvPr id="223" name="Google Shape;223;p12"/>
          <p:cNvSpPr txBox="1"/>
          <p:nvPr/>
        </p:nvSpPr>
        <p:spPr>
          <a:xfrm>
            <a:off x="533400" y="2106612"/>
            <a:ext cx="8077200" cy="35814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700"/>
              <a:buFont typeface="Arial"/>
              <a:buChar char="•"/>
            </a:pPr>
            <a:r>
              <a:rPr b="1" i="0" lang="en-US" sz="2700" u="none" cap="none" strike="noStrike">
                <a:solidFill>
                  <a:srgbClr val="000000"/>
                </a:solidFill>
                <a:latin typeface="Helvetica Neue"/>
                <a:ea typeface="Helvetica Neue"/>
                <a:cs typeface="Helvetica Neue"/>
                <a:sym typeface="Helvetica Neue"/>
              </a:rPr>
              <a:t>Strategic Planning -- </a:t>
            </a:r>
            <a:r>
              <a:rPr b="0" i="1" lang="en-US" sz="2500" u="none" cap="none" strike="noStrike">
                <a:solidFill>
                  <a:srgbClr val="000000"/>
                </a:solidFill>
                <a:latin typeface="Helvetica Neue"/>
                <a:ea typeface="Helvetica Neue"/>
                <a:cs typeface="Helvetica Neue"/>
                <a:sym typeface="Helvetica Neue"/>
              </a:rPr>
              <a:t>Done by top management and determines the major goals of the organization and the policies, procedures, strategies and resources it will need to achieve them.</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3000"/>
              </a:spcBef>
              <a:spcAft>
                <a:spcPts val="0"/>
              </a:spcAft>
              <a:buClr>
                <a:srgbClr val="000000"/>
              </a:buClr>
              <a:buSzPts val="2700"/>
              <a:buFont typeface="Arial"/>
              <a:buChar char="•"/>
            </a:pPr>
            <a:r>
              <a:rPr b="1" i="0" lang="en-US" sz="2700" u="none" cap="none" strike="noStrike">
                <a:solidFill>
                  <a:srgbClr val="000000"/>
                </a:solidFill>
                <a:latin typeface="Helvetica Neue"/>
                <a:ea typeface="Helvetica Neue"/>
                <a:cs typeface="Helvetica Neue"/>
                <a:sym typeface="Helvetica Neue"/>
              </a:rPr>
              <a:t>Tactical Planning -- </a:t>
            </a:r>
            <a:r>
              <a:rPr b="0" i="1" lang="en-US" sz="2500" u="none" cap="none" strike="noStrike">
                <a:solidFill>
                  <a:srgbClr val="000000"/>
                </a:solidFill>
                <a:latin typeface="Helvetica Neue"/>
                <a:ea typeface="Helvetica Neue"/>
                <a:cs typeface="Helvetica Neue"/>
                <a:sym typeface="Helvetica Neue"/>
              </a:rPr>
              <a:t>The process of developing detailed, short-term statements about what is to be done, who is to do it and how.</a:t>
            </a:r>
            <a:endParaRPr b="0" i="0" sz="1400" u="none" cap="none" strike="noStrike">
              <a:solidFill>
                <a:srgbClr val="000000"/>
              </a:solidFill>
              <a:latin typeface="Arial"/>
              <a:ea typeface="Arial"/>
              <a:cs typeface="Arial"/>
              <a:sym typeface="Arial"/>
            </a:endParaRPr>
          </a:p>
        </p:txBody>
      </p:sp>
      <p:sp>
        <p:nvSpPr>
          <p:cNvPr id="224" name="Google Shape;224;p12"/>
          <p:cNvSpPr txBox="1"/>
          <p:nvPr>
            <p:ph type="ctrTitle"/>
          </p:nvPr>
        </p:nvSpPr>
        <p:spPr>
          <a:xfrm>
            <a:off x="304800" y="28257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STRATEGIC and TACTICAL </a:t>
            </a:r>
            <a:br>
              <a:rPr b="1" i="0" lang="en-US" sz="3200" u="none">
                <a:solidFill>
                  <a:schemeClr val="dk1"/>
                </a:solidFill>
                <a:latin typeface="Helvetica Neue"/>
                <a:ea typeface="Helvetica Neue"/>
                <a:cs typeface="Helvetica Neue"/>
                <a:sym typeface="Helvetica Neue"/>
              </a:rPr>
            </a:br>
            <a:r>
              <a:rPr b="1" i="0" lang="en-US" sz="3200" u="none">
                <a:solidFill>
                  <a:schemeClr val="dk1"/>
                </a:solidFill>
                <a:latin typeface="Helvetica Neue"/>
                <a:ea typeface="Helvetica Neue"/>
                <a:cs typeface="Helvetica Neue"/>
                <a:sym typeface="Helvetica Neue"/>
              </a:rPr>
              <a:t>PLANNING</a:t>
            </a:r>
            <a:endParaRPr/>
          </a:p>
        </p:txBody>
      </p:sp>
      <p:sp>
        <p:nvSpPr>
          <p:cNvPr id="225" name="Google Shape;225;p12"/>
          <p:cNvSpPr txBox="1"/>
          <p:nvPr/>
        </p:nvSpPr>
        <p:spPr>
          <a:xfrm>
            <a:off x="7772400" y="1295400"/>
            <a:ext cx="685800" cy="3508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Helvetica Neue"/>
              <a:buNone/>
            </a:pPr>
            <a:r>
              <a:rPr b="1" i="0" lang="en-US" sz="1700" u="none" cap="none" strike="noStrike">
                <a:solidFill>
                  <a:schemeClr val="lt1"/>
                </a:solidFill>
                <a:latin typeface="Helvetica Neue"/>
                <a:ea typeface="Helvetica Neue"/>
                <a:cs typeface="Helvetica Neue"/>
                <a:sym typeface="Helvetica Neue"/>
              </a:rPr>
              <a:t>LG3</a:t>
            </a:r>
            <a:endParaRPr b="0" i="0" sz="1400" u="none" cap="none" strike="noStrike">
              <a:solidFill>
                <a:srgbClr val="000000"/>
              </a:solidFill>
              <a:latin typeface="Arial"/>
              <a:ea typeface="Arial"/>
              <a:cs typeface="Arial"/>
              <a:sym typeface="Arial"/>
            </a:endParaRPr>
          </a:p>
        </p:txBody>
      </p:sp>
      <p:sp>
        <p:nvSpPr>
          <p:cNvPr id="226" name="Google Shape;226;p12"/>
          <p:cNvSpPr txBox="1"/>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7-</a:t>
            </a: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a:solidFill>
                <a:srgbClr val="888888"/>
              </a:solidFill>
            </a:endParaRPr>
          </a:p>
        </p:txBody>
      </p:sp>
      <p:sp>
        <p:nvSpPr>
          <p:cNvPr id="232" name="Google Shape;232;p13"/>
          <p:cNvSpPr/>
          <p:nvPr/>
        </p:nvSpPr>
        <p:spPr>
          <a:xfrm>
            <a:off x="457200" y="381000"/>
            <a:ext cx="8153400" cy="6248400"/>
          </a:xfrm>
          <a:prstGeom prst="roundRect">
            <a:avLst>
              <a:gd fmla="val 16667" name="adj"/>
            </a:avLst>
          </a:prstGeom>
          <a:solidFill>
            <a:srgbClr val="FDD8C3"/>
          </a:solidFill>
          <a:ln cap="flat" cmpd="sng" w="9525">
            <a:solidFill>
              <a:srgbClr val="FDD8C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3" name="Google Shape;233;p13"/>
          <p:cNvSpPr/>
          <p:nvPr/>
        </p:nvSpPr>
        <p:spPr>
          <a:xfrm>
            <a:off x="7315200" y="152400"/>
            <a:ext cx="1644650" cy="1600200"/>
          </a:xfrm>
          <a:prstGeom prst="ellipse">
            <a:avLst/>
          </a:prstGeom>
          <a:solidFill>
            <a:srgbClr val="660066"/>
          </a:solidFill>
          <a:ln cap="flat" cmpd="sng" w="9525">
            <a:solidFill>
              <a:srgbClr val="66006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4" name="Google Shape;234;p13"/>
          <p:cNvSpPr txBox="1"/>
          <p:nvPr/>
        </p:nvSpPr>
        <p:spPr>
          <a:xfrm>
            <a:off x="8458200" y="1143000"/>
            <a:ext cx="50165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E59B57"/>
              </a:buClr>
              <a:buSzPts val="4000"/>
              <a:buFont typeface="Calibri"/>
              <a:buNone/>
            </a:pPr>
            <a:r>
              <a:rPr b="1" i="0" lang="en-US" sz="4000" u="none" cap="none" strike="noStrike">
                <a:solidFill>
                  <a:srgbClr val="E59B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35" name="Google Shape;235;p13"/>
          <p:cNvSpPr txBox="1"/>
          <p:nvPr/>
        </p:nvSpPr>
        <p:spPr>
          <a:xfrm>
            <a:off x="7162800" y="0"/>
            <a:ext cx="6096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4000"/>
              <a:buFont typeface="Calibri"/>
              <a:buNone/>
            </a:pPr>
            <a:r>
              <a:rPr b="1" i="0" lang="en-US" sz="4000" u="none" cap="none" strike="noStrike">
                <a:solidFill>
                  <a:srgbClr val="660066"/>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36" name="Google Shape;236;p13"/>
          <p:cNvSpPr txBox="1"/>
          <p:nvPr/>
        </p:nvSpPr>
        <p:spPr>
          <a:xfrm>
            <a:off x="7315200" y="603250"/>
            <a:ext cx="1828800"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Helvetica Neue"/>
              <a:buNone/>
            </a:pPr>
            <a:r>
              <a:rPr b="0" i="1" lang="en-US" sz="1600" u="none" cap="none" strike="noStrike">
                <a:solidFill>
                  <a:schemeClr val="lt1"/>
                </a:solidFill>
                <a:latin typeface="Helvetica Neue"/>
                <a:ea typeface="Helvetica Neue"/>
                <a:cs typeface="Helvetica Neue"/>
                <a:sym typeface="Helvetica Neue"/>
              </a:rPr>
              <a:t>Planning &amp; Decision Making</a:t>
            </a:r>
            <a:endParaRPr b="0" i="0" sz="1400" u="none" cap="none" strike="noStrike">
              <a:solidFill>
                <a:srgbClr val="000000"/>
              </a:solidFill>
              <a:latin typeface="Arial"/>
              <a:ea typeface="Arial"/>
              <a:cs typeface="Arial"/>
              <a:sym typeface="Arial"/>
            </a:endParaRPr>
          </a:p>
        </p:txBody>
      </p:sp>
      <p:sp>
        <p:nvSpPr>
          <p:cNvPr id="237" name="Google Shape;237;p13"/>
          <p:cNvSpPr txBox="1"/>
          <p:nvPr/>
        </p:nvSpPr>
        <p:spPr>
          <a:xfrm>
            <a:off x="533400" y="1905000"/>
            <a:ext cx="7924800" cy="164623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700"/>
              <a:buFont typeface="Arial"/>
              <a:buChar char="•"/>
            </a:pPr>
            <a:r>
              <a:rPr b="1" i="0" lang="en-US" sz="2700" u="none" cap="none" strike="noStrike">
                <a:solidFill>
                  <a:srgbClr val="000000"/>
                </a:solidFill>
                <a:latin typeface="Helvetica Neue"/>
                <a:ea typeface="Helvetica Neue"/>
                <a:cs typeface="Helvetica Neue"/>
                <a:sym typeface="Helvetica Neue"/>
              </a:rPr>
              <a:t>Operational Planning -- </a:t>
            </a:r>
            <a:r>
              <a:rPr b="0" i="1" lang="en-US" sz="2500" u="none" cap="none" strike="noStrike">
                <a:solidFill>
                  <a:srgbClr val="000000"/>
                </a:solidFill>
                <a:latin typeface="Helvetica Neue"/>
                <a:ea typeface="Helvetica Neue"/>
                <a:cs typeface="Helvetica Neue"/>
                <a:sym typeface="Helvetica Neue"/>
              </a:rPr>
              <a:t>The process of setting work standards and schedules necessary to implement the company’s tactical objectives.</a:t>
            </a:r>
            <a:endParaRPr b="0" i="0" sz="1400" u="none" cap="none" strike="noStrike">
              <a:solidFill>
                <a:srgbClr val="000000"/>
              </a:solidFill>
              <a:latin typeface="Arial"/>
              <a:ea typeface="Arial"/>
              <a:cs typeface="Arial"/>
              <a:sym typeface="Arial"/>
            </a:endParaRPr>
          </a:p>
        </p:txBody>
      </p:sp>
      <p:sp>
        <p:nvSpPr>
          <p:cNvPr id="238" name="Google Shape;238;p13"/>
          <p:cNvSpPr txBox="1"/>
          <p:nvPr>
            <p:ph type="ctrTitle"/>
          </p:nvPr>
        </p:nvSpPr>
        <p:spPr>
          <a:xfrm>
            <a:off x="152400" y="28257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000"/>
              <a:buFont typeface="Helvetica Neue"/>
              <a:buNone/>
            </a:pPr>
            <a:r>
              <a:rPr b="1" i="0" lang="en-US" sz="3000" u="none">
                <a:solidFill>
                  <a:schemeClr val="dk1"/>
                </a:solidFill>
                <a:latin typeface="Helvetica Neue"/>
                <a:ea typeface="Helvetica Neue"/>
                <a:cs typeface="Helvetica Neue"/>
                <a:sym typeface="Helvetica Neue"/>
              </a:rPr>
              <a:t>OPERATIONAL and CONTINGENCY PLANNING</a:t>
            </a:r>
            <a:endParaRPr/>
          </a:p>
        </p:txBody>
      </p:sp>
      <p:sp>
        <p:nvSpPr>
          <p:cNvPr id="239" name="Google Shape;239;p13"/>
          <p:cNvSpPr txBox="1"/>
          <p:nvPr/>
        </p:nvSpPr>
        <p:spPr>
          <a:xfrm>
            <a:off x="7772400" y="1295400"/>
            <a:ext cx="685800" cy="3508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Helvetica Neue"/>
              <a:buNone/>
            </a:pPr>
            <a:r>
              <a:rPr b="1" i="0" lang="en-US" sz="1700" u="none" cap="none" strike="noStrike">
                <a:solidFill>
                  <a:schemeClr val="lt1"/>
                </a:solidFill>
                <a:latin typeface="Helvetica Neue"/>
                <a:ea typeface="Helvetica Neue"/>
                <a:cs typeface="Helvetica Neue"/>
                <a:sym typeface="Helvetica Neue"/>
              </a:rPr>
              <a:t>LG3</a:t>
            </a:r>
            <a:endParaRPr b="0" i="0" sz="1400" u="none" cap="none" strike="noStrike">
              <a:solidFill>
                <a:srgbClr val="000000"/>
              </a:solidFill>
              <a:latin typeface="Arial"/>
              <a:ea typeface="Arial"/>
              <a:cs typeface="Arial"/>
              <a:sym typeface="Arial"/>
            </a:endParaRPr>
          </a:p>
        </p:txBody>
      </p:sp>
      <p:pic>
        <p:nvPicPr>
          <p:cNvPr descr="NYC Cops.gif" id="240" name="Google Shape;240;p13"/>
          <p:cNvPicPr preferRelativeResize="0"/>
          <p:nvPr/>
        </p:nvPicPr>
        <p:blipFill rotWithShape="1">
          <a:blip r:embed="rId3">
            <a:alphaModFix/>
          </a:blip>
          <a:srcRect b="0" l="0" r="0" t="0"/>
          <a:stretch/>
        </p:blipFill>
        <p:spPr>
          <a:xfrm>
            <a:off x="5067300" y="3352800"/>
            <a:ext cx="3467100" cy="2730500"/>
          </a:xfrm>
          <a:prstGeom prst="rect">
            <a:avLst/>
          </a:prstGeom>
          <a:noFill/>
          <a:ln>
            <a:noFill/>
          </a:ln>
        </p:spPr>
      </p:pic>
      <p:sp>
        <p:nvSpPr>
          <p:cNvPr id="241" name="Google Shape;241;p13"/>
          <p:cNvSpPr txBox="1"/>
          <p:nvPr/>
        </p:nvSpPr>
        <p:spPr>
          <a:xfrm>
            <a:off x="533400" y="3387725"/>
            <a:ext cx="4724400" cy="268287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700"/>
              <a:buFont typeface="Arial"/>
              <a:buChar char="•"/>
            </a:pPr>
            <a:r>
              <a:rPr b="1" i="0" lang="en-US" sz="2700" u="none" cap="none" strike="noStrike">
                <a:solidFill>
                  <a:srgbClr val="000000"/>
                </a:solidFill>
                <a:latin typeface="Helvetica Neue"/>
                <a:ea typeface="Helvetica Neue"/>
                <a:cs typeface="Helvetica Neue"/>
                <a:sym typeface="Helvetica Neue"/>
              </a:rPr>
              <a:t>Contingency Planning -- </a:t>
            </a:r>
            <a:r>
              <a:rPr b="0" i="1" lang="en-US" sz="2500" u="none" cap="none" strike="noStrike">
                <a:solidFill>
                  <a:srgbClr val="000000"/>
                </a:solidFill>
                <a:latin typeface="Helvetica Neue"/>
                <a:ea typeface="Helvetica Neue"/>
                <a:cs typeface="Helvetica Neue"/>
                <a:sym typeface="Helvetica Neue"/>
              </a:rPr>
              <a:t>The process of preparing alternative courses of action the firm can use if its primary plans don’t work out.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0"/>
              </a:spcBef>
              <a:spcAft>
                <a:spcPts val="0"/>
              </a:spcAft>
              <a:buClr>
                <a:srgbClr val="000000"/>
              </a:buClr>
              <a:buSzPts val="2500"/>
              <a:buFont typeface="Arial"/>
              <a:buNone/>
            </a:pPr>
            <a:r>
              <a:t/>
            </a:r>
            <a:endParaRPr b="0" i="1" sz="2500" u="none" cap="none" strike="noStrike">
              <a:solidFill>
                <a:srgbClr val="000000"/>
              </a:solidFill>
              <a:latin typeface="Helvetica Neue"/>
              <a:ea typeface="Helvetica Neue"/>
              <a:cs typeface="Helvetica Neue"/>
              <a:sym typeface="Helvetica Neue"/>
            </a:endParaRPr>
          </a:p>
        </p:txBody>
      </p:sp>
      <p:sp>
        <p:nvSpPr>
          <p:cNvPr id="242" name="Google Shape;242;p13"/>
          <p:cNvSpPr txBox="1"/>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7-</a:t>
            </a: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a:solidFill>
                <a:srgbClr val="888888"/>
              </a:solidFill>
            </a:endParaRPr>
          </a:p>
        </p:txBody>
      </p:sp>
      <p:sp>
        <p:nvSpPr>
          <p:cNvPr id="248" name="Google Shape;248;p14"/>
          <p:cNvSpPr/>
          <p:nvPr/>
        </p:nvSpPr>
        <p:spPr>
          <a:xfrm>
            <a:off x="457200" y="381000"/>
            <a:ext cx="8153400" cy="6248400"/>
          </a:xfrm>
          <a:prstGeom prst="roundRect">
            <a:avLst>
              <a:gd fmla="val 16667" name="adj"/>
            </a:avLst>
          </a:prstGeom>
          <a:solidFill>
            <a:srgbClr val="FDD8C3"/>
          </a:solidFill>
          <a:ln cap="flat" cmpd="sng" w="9525">
            <a:solidFill>
              <a:srgbClr val="FDD8C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9" name="Google Shape;249;p14"/>
          <p:cNvSpPr/>
          <p:nvPr/>
        </p:nvSpPr>
        <p:spPr>
          <a:xfrm>
            <a:off x="7315200" y="152400"/>
            <a:ext cx="1644650" cy="1600200"/>
          </a:xfrm>
          <a:prstGeom prst="ellipse">
            <a:avLst/>
          </a:prstGeom>
          <a:solidFill>
            <a:srgbClr val="660066"/>
          </a:solidFill>
          <a:ln cap="flat" cmpd="sng" w="9525">
            <a:solidFill>
              <a:srgbClr val="66006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0" name="Google Shape;250;p14"/>
          <p:cNvSpPr txBox="1"/>
          <p:nvPr/>
        </p:nvSpPr>
        <p:spPr>
          <a:xfrm>
            <a:off x="8458200" y="1143000"/>
            <a:ext cx="50165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E59B57"/>
              </a:buClr>
              <a:buSzPts val="4000"/>
              <a:buFont typeface="Calibri"/>
              <a:buNone/>
            </a:pPr>
            <a:r>
              <a:rPr b="1" i="0" lang="en-US" sz="4000" u="none" cap="none" strike="noStrike">
                <a:solidFill>
                  <a:srgbClr val="E59B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51" name="Google Shape;251;p14"/>
          <p:cNvSpPr txBox="1"/>
          <p:nvPr/>
        </p:nvSpPr>
        <p:spPr>
          <a:xfrm>
            <a:off x="7162800" y="0"/>
            <a:ext cx="6096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4000"/>
              <a:buFont typeface="Calibri"/>
              <a:buNone/>
            </a:pPr>
            <a:r>
              <a:rPr b="1" i="0" lang="en-US" sz="4000" u="none" cap="none" strike="noStrike">
                <a:solidFill>
                  <a:srgbClr val="660066"/>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52" name="Google Shape;252;p14"/>
          <p:cNvSpPr txBox="1"/>
          <p:nvPr/>
        </p:nvSpPr>
        <p:spPr>
          <a:xfrm>
            <a:off x="7315200" y="603250"/>
            <a:ext cx="1828800"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Helvetica Neue"/>
              <a:buNone/>
            </a:pPr>
            <a:r>
              <a:rPr b="0" i="1" lang="en-US" sz="1600" u="none" cap="none" strike="noStrike">
                <a:solidFill>
                  <a:schemeClr val="lt1"/>
                </a:solidFill>
                <a:latin typeface="Helvetica Neue"/>
                <a:ea typeface="Helvetica Neue"/>
                <a:cs typeface="Helvetica Neue"/>
                <a:sym typeface="Helvetica Neue"/>
              </a:rPr>
              <a:t>Planning &amp; Decision Making</a:t>
            </a:r>
            <a:endParaRPr b="0" i="0" sz="1400" u="none" cap="none" strike="noStrike">
              <a:solidFill>
                <a:srgbClr val="000000"/>
              </a:solidFill>
              <a:latin typeface="Arial"/>
              <a:ea typeface="Arial"/>
              <a:cs typeface="Arial"/>
              <a:sym typeface="Arial"/>
            </a:endParaRPr>
          </a:p>
        </p:txBody>
      </p:sp>
      <p:sp>
        <p:nvSpPr>
          <p:cNvPr id="253" name="Google Shape;253;p14"/>
          <p:cNvSpPr txBox="1"/>
          <p:nvPr/>
        </p:nvSpPr>
        <p:spPr>
          <a:xfrm>
            <a:off x="7772400" y="1295400"/>
            <a:ext cx="685800" cy="3508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Helvetica Neue"/>
              <a:buNone/>
            </a:pPr>
            <a:r>
              <a:rPr b="1" i="0" lang="en-US" sz="1700" u="none" cap="none" strike="noStrike">
                <a:solidFill>
                  <a:schemeClr val="lt1"/>
                </a:solidFill>
                <a:latin typeface="Helvetica Neue"/>
                <a:ea typeface="Helvetica Neue"/>
                <a:cs typeface="Helvetica Neue"/>
                <a:sym typeface="Helvetica Neue"/>
              </a:rPr>
              <a:t>LG3</a:t>
            </a:r>
            <a:endParaRPr b="0" i="0" sz="1400" u="none" cap="none" strike="noStrike">
              <a:solidFill>
                <a:srgbClr val="000000"/>
              </a:solidFill>
              <a:latin typeface="Arial"/>
              <a:ea typeface="Arial"/>
              <a:cs typeface="Arial"/>
              <a:sym typeface="Arial"/>
            </a:endParaRPr>
          </a:p>
        </p:txBody>
      </p:sp>
      <p:sp>
        <p:nvSpPr>
          <p:cNvPr id="254" name="Google Shape;254;p14"/>
          <p:cNvSpPr txBox="1"/>
          <p:nvPr>
            <p:ph type="ctrTitle"/>
          </p:nvPr>
        </p:nvSpPr>
        <p:spPr>
          <a:xfrm>
            <a:off x="457200" y="76200"/>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PLANNING FUNCTIONS</a:t>
            </a:r>
            <a:endParaRPr/>
          </a:p>
        </p:txBody>
      </p:sp>
      <p:pic>
        <p:nvPicPr>
          <p:cNvPr descr="F704.psd" id="255" name="Google Shape;255;p14"/>
          <p:cNvPicPr preferRelativeResize="0"/>
          <p:nvPr/>
        </p:nvPicPr>
        <p:blipFill rotWithShape="1">
          <a:blip r:embed="rId3">
            <a:alphaModFix/>
          </a:blip>
          <a:srcRect b="0" l="0" r="0" t="0"/>
          <a:stretch/>
        </p:blipFill>
        <p:spPr>
          <a:xfrm>
            <a:off x="1720850" y="1828800"/>
            <a:ext cx="5594350" cy="3857625"/>
          </a:xfrm>
          <a:prstGeom prst="rect">
            <a:avLst/>
          </a:prstGeom>
          <a:noFill/>
          <a:ln>
            <a:noFill/>
          </a:ln>
        </p:spPr>
      </p:pic>
      <p:sp>
        <p:nvSpPr>
          <p:cNvPr id="256" name="Google Shape;256;p14"/>
          <p:cNvSpPr txBox="1"/>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7-</a:t>
            </a: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a:solidFill>
                <a:srgbClr val="888888"/>
              </a:solidFill>
            </a:endParaRPr>
          </a:p>
        </p:txBody>
      </p:sp>
      <p:sp>
        <p:nvSpPr>
          <p:cNvPr id="262" name="Google Shape;262;p17"/>
          <p:cNvSpPr/>
          <p:nvPr/>
        </p:nvSpPr>
        <p:spPr>
          <a:xfrm>
            <a:off x="457200" y="381000"/>
            <a:ext cx="8153400" cy="6248400"/>
          </a:xfrm>
          <a:prstGeom prst="roundRect">
            <a:avLst>
              <a:gd fmla="val 16667" name="adj"/>
            </a:avLst>
          </a:prstGeom>
          <a:solidFill>
            <a:srgbClr val="FDD8C3"/>
          </a:solidFill>
          <a:ln cap="flat" cmpd="sng" w="9525">
            <a:solidFill>
              <a:srgbClr val="FDD8C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3" name="Google Shape;263;p17"/>
          <p:cNvSpPr/>
          <p:nvPr/>
        </p:nvSpPr>
        <p:spPr>
          <a:xfrm>
            <a:off x="7315200" y="152400"/>
            <a:ext cx="1644650" cy="1600200"/>
          </a:xfrm>
          <a:prstGeom prst="ellipse">
            <a:avLst/>
          </a:prstGeom>
          <a:solidFill>
            <a:srgbClr val="660066"/>
          </a:solidFill>
          <a:ln cap="flat" cmpd="sng" w="9525">
            <a:solidFill>
              <a:srgbClr val="66006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4" name="Google Shape;264;p17"/>
          <p:cNvSpPr txBox="1"/>
          <p:nvPr/>
        </p:nvSpPr>
        <p:spPr>
          <a:xfrm>
            <a:off x="8458200" y="1143000"/>
            <a:ext cx="50165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E59B57"/>
              </a:buClr>
              <a:buSzPts val="4000"/>
              <a:buFont typeface="Calibri"/>
              <a:buNone/>
            </a:pPr>
            <a:r>
              <a:rPr b="1" i="0" lang="en-US" sz="4000" u="none" cap="none" strike="noStrike">
                <a:solidFill>
                  <a:srgbClr val="E59B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65" name="Google Shape;265;p17"/>
          <p:cNvSpPr txBox="1"/>
          <p:nvPr/>
        </p:nvSpPr>
        <p:spPr>
          <a:xfrm>
            <a:off x="7162800" y="0"/>
            <a:ext cx="6096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4000"/>
              <a:buFont typeface="Calibri"/>
              <a:buNone/>
            </a:pPr>
            <a:r>
              <a:rPr b="1" i="0" lang="en-US" sz="4000" u="none" cap="none" strike="noStrike">
                <a:solidFill>
                  <a:srgbClr val="660066"/>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66" name="Google Shape;266;p17"/>
          <p:cNvSpPr txBox="1"/>
          <p:nvPr/>
        </p:nvSpPr>
        <p:spPr>
          <a:xfrm>
            <a:off x="7315200" y="457200"/>
            <a:ext cx="1828800" cy="8683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Helvetica Neue"/>
              <a:buNone/>
            </a:pPr>
            <a:r>
              <a:rPr b="0" i="1" lang="en-US" sz="1700" u="none" cap="none" strike="noStrike">
                <a:solidFill>
                  <a:schemeClr val="lt1"/>
                </a:solidFill>
                <a:latin typeface="Helvetica Neue"/>
                <a:ea typeface="Helvetica Neue"/>
                <a:cs typeface="Helvetica Neue"/>
                <a:sym typeface="Helvetica Neue"/>
              </a:rPr>
              <a:t>Organizing: Creating a Unified System</a:t>
            </a:r>
            <a:endParaRPr b="0" i="0" sz="1400" u="none" cap="none" strike="noStrike">
              <a:solidFill>
                <a:srgbClr val="000000"/>
              </a:solidFill>
              <a:latin typeface="Arial"/>
              <a:ea typeface="Arial"/>
              <a:cs typeface="Arial"/>
              <a:sym typeface="Arial"/>
            </a:endParaRPr>
          </a:p>
        </p:txBody>
      </p:sp>
      <p:sp>
        <p:nvSpPr>
          <p:cNvPr id="267" name="Google Shape;267;p17"/>
          <p:cNvSpPr txBox="1"/>
          <p:nvPr/>
        </p:nvSpPr>
        <p:spPr>
          <a:xfrm>
            <a:off x="533400" y="2289175"/>
            <a:ext cx="4114800" cy="3586162"/>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700"/>
              <a:buFont typeface="Arial"/>
              <a:buChar char="•"/>
            </a:pPr>
            <a:r>
              <a:rPr b="1" i="0" lang="en-US" sz="2700" u="none" cap="none" strike="noStrike">
                <a:solidFill>
                  <a:srgbClr val="000000"/>
                </a:solidFill>
                <a:latin typeface="Helvetica Neue"/>
                <a:ea typeface="Helvetica Neue"/>
                <a:cs typeface="Helvetica Neue"/>
                <a:sym typeface="Helvetica Neue"/>
              </a:rPr>
              <a:t>Organization Chart -- </a:t>
            </a:r>
            <a:r>
              <a:rPr b="0" i="1" lang="en-US" sz="2500" u="none" cap="none" strike="noStrike">
                <a:solidFill>
                  <a:srgbClr val="000000"/>
                </a:solidFill>
                <a:latin typeface="Helvetica Neue"/>
                <a:ea typeface="Helvetica Neue"/>
                <a:cs typeface="Helvetica Neue"/>
                <a:sym typeface="Helvetica Neue"/>
              </a:rPr>
              <a:t>A visual device that shows relationships among people and divides the organization’s work; it shows who reports to whom.</a:t>
            </a:r>
            <a:endParaRPr b="0" i="0" sz="1400" u="none" cap="none" strike="noStrike">
              <a:solidFill>
                <a:srgbClr val="000000"/>
              </a:solidFill>
              <a:latin typeface="Arial"/>
              <a:ea typeface="Arial"/>
              <a:cs typeface="Arial"/>
              <a:sym typeface="Arial"/>
            </a:endParaRPr>
          </a:p>
          <a:p>
            <a:pPr indent="-184150" lvl="0" marL="342900" marR="0" rtl="0" algn="l">
              <a:lnSpc>
                <a:spcPct val="100000"/>
              </a:lnSpc>
              <a:spcBef>
                <a:spcPts val="0"/>
              </a:spcBef>
              <a:spcAft>
                <a:spcPts val="0"/>
              </a:spcAft>
              <a:buClr>
                <a:schemeClr val="dk1"/>
              </a:buClr>
              <a:buSzPts val="2500"/>
              <a:buFont typeface="Arial"/>
              <a:buNone/>
            </a:pPr>
            <a:r>
              <a:t/>
            </a:r>
            <a:endParaRPr b="0" i="1" sz="25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2500"/>
              <a:buFont typeface="Arial"/>
              <a:buNone/>
            </a:pPr>
            <a:r>
              <a:t/>
            </a:r>
            <a:endParaRPr b="0" i="1" sz="2500" u="none" cap="none" strike="noStrike">
              <a:solidFill>
                <a:srgbClr val="000000"/>
              </a:solidFill>
              <a:latin typeface="Helvetica Neue"/>
              <a:ea typeface="Helvetica Neue"/>
              <a:cs typeface="Helvetica Neue"/>
              <a:sym typeface="Helvetica Neue"/>
            </a:endParaRPr>
          </a:p>
        </p:txBody>
      </p:sp>
      <p:sp>
        <p:nvSpPr>
          <p:cNvPr id="268" name="Google Shape;268;p17"/>
          <p:cNvSpPr txBox="1"/>
          <p:nvPr>
            <p:ph type="ctrTitle"/>
          </p:nvPr>
        </p:nvSpPr>
        <p:spPr>
          <a:xfrm>
            <a:off x="381000" y="76200"/>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ORGANIZATIONAL CHARTS</a:t>
            </a:r>
            <a:endParaRPr/>
          </a:p>
        </p:txBody>
      </p:sp>
      <p:sp>
        <p:nvSpPr>
          <p:cNvPr id="269" name="Google Shape;269;p17"/>
          <p:cNvSpPr txBox="1"/>
          <p:nvPr/>
        </p:nvSpPr>
        <p:spPr>
          <a:xfrm>
            <a:off x="7772400" y="1295400"/>
            <a:ext cx="685800" cy="3508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Helvetica Neue"/>
              <a:buNone/>
            </a:pPr>
            <a:r>
              <a:rPr b="1" i="0" lang="en-US" sz="1700" u="none" cap="none" strike="noStrike">
                <a:solidFill>
                  <a:schemeClr val="lt1"/>
                </a:solidFill>
                <a:latin typeface="Helvetica Neue"/>
                <a:ea typeface="Helvetica Neue"/>
                <a:cs typeface="Helvetica Neue"/>
                <a:sym typeface="Helvetica Neue"/>
              </a:rPr>
              <a:t>LG4</a:t>
            </a:r>
            <a:endParaRPr b="0" i="0" sz="1400" u="none" cap="none" strike="noStrike">
              <a:solidFill>
                <a:srgbClr val="000000"/>
              </a:solidFill>
              <a:latin typeface="Arial"/>
              <a:ea typeface="Arial"/>
              <a:cs typeface="Arial"/>
              <a:sym typeface="Arial"/>
            </a:endParaRPr>
          </a:p>
        </p:txBody>
      </p:sp>
      <p:pic>
        <p:nvPicPr>
          <p:cNvPr descr="OrgFlow.gif" id="270" name="Google Shape;270;p17"/>
          <p:cNvPicPr preferRelativeResize="0"/>
          <p:nvPr/>
        </p:nvPicPr>
        <p:blipFill rotWithShape="1">
          <a:blip r:embed="rId3">
            <a:alphaModFix/>
          </a:blip>
          <a:srcRect b="0" l="0" r="0" t="0"/>
          <a:stretch/>
        </p:blipFill>
        <p:spPr>
          <a:xfrm>
            <a:off x="5181600" y="2209800"/>
            <a:ext cx="2971800" cy="2971800"/>
          </a:xfrm>
          <a:prstGeom prst="rect">
            <a:avLst/>
          </a:prstGeom>
          <a:noFill/>
          <a:ln>
            <a:noFill/>
          </a:ln>
        </p:spPr>
      </p:pic>
      <p:sp>
        <p:nvSpPr>
          <p:cNvPr id="271" name="Google Shape;271;p17"/>
          <p:cNvSpPr txBox="1"/>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7-</a:t>
            </a: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a:solidFill>
                <a:srgbClr val="888888"/>
              </a:solidFill>
            </a:endParaRPr>
          </a:p>
        </p:txBody>
      </p:sp>
      <p:sp>
        <p:nvSpPr>
          <p:cNvPr id="277" name="Google Shape;277;p18"/>
          <p:cNvSpPr/>
          <p:nvPr/>
        </p:nvSpPr>
        <p:spPr>
          <a:xfrm>
            <a:off x="457200" y="381000"/>
            <a:ext cx="8153400" cy="6248400"/>
          </a:xfrm>
          <a:prstGeom prst="roundRect">
            <a:avLst>
              <a:gd fmla="val 16667" name="adj"/>
            </a:avLst>
          </a:prstGeom>
          <a:solidFill>
            <a:srgbClr val="FDD8C3"/>
          </a:solidFill>
          <a:ln cap="flat" cmpd="sng" w="9525">
            <a:solidFill>
              <a:srgbClr val="FDD8C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8" name="Google Shape;278;p18"/>
          <p:cNvSpPr/>
          <p:nvPr/>
        </p:nvSpPr>
        <p:spPr>
          <a:xfrm>
            <a:off x="7315200" y="152400"/>
            <a:ext cx="1644650" cy="1600200"/>
          </a:xfrm>
          <a:prstGeom prst="ellipse">
            <a:avLst/>
          </a:prstGeom>
          <a:solidFill>
            <a:srgbClr val="660066"/>
          </a:solidFill>
          <a:ln cap="flat" cmpd="sng" w="9525">
            <a:solidFill>
              <a:srgbClr val="66006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9" name="Google Shape;279;p18"/>
          <p:cNvSpPr txBox="1"/>
          <p:nvPr/>
        </p:nvSpPr>
        <p:spPr>
          <a:xfrm>
            <a:off x="8458200" y="1143000"/>
            <a:ext cx="50165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E59B57"/>
              </a:buClr>
              <a:buSzPts val="4000"/>
              <a:buFont typeface="Calibri"/>
              <a:buNone/>
            </a:pPr>
            <a:r>
              <a:rPr b="1" i="0" lang="en-US" sz="4000" u="none" cap="none" strike="noStrike">
                <a:solidFill>
                  <a:srgbClr val="E59B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80" name="Google Shape;280;p18"/>
          <p:cNvSpPr txBox="1"/>
          <p:nvPr/>
        </p:nvSpPr>
        <p:spPr>
          <a:xfrm>
            <a:off x="7162800" y="0"/>
            <a:ext cx="6096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4000"/>
              <a:buFont typeface="Calibri"/>
              <a:buNone/>
            </a:pPr>
            <a:r>
              <a:rPr b="1" i="0" lang="en-US" sz="4000" u="none" cap="none" strike="noStrike">
                <a:solidFill>
                  <a:srgbClr val="660066"/>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81" name="Google Shape;281;p18"/>
          <p:cNvSpPr txBox="1"/>
          <p:nvPr/>
        </p:nvSpPr>
        <p:spPr>
          <a:xfrm>
            <a:off x="7315200" y="457200"/>
            <a:ext cx="1828800" cy="8683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Helvetica Neue"/>
              <a:buNone/>
            </a:pPr>
            <a:r>
              <a:rPr b="0" i="1" lang="en-US" sz="1700" u="none" cap="none" strike="noStrike">
                <a:solidFill>
                  <a:schemeClr val="lt1"/>
                </a:solidFill>
                <a:latin typeface="Helvetica Neue"/>
                <a:ea typeface="Helvetica Neue"/>
                <a:cs typeface="Helvetica Neue"/>
                <a:sym typeface="Helvetica Neue"/>
              </a:rPr>
              <a:t>Organizing: Creating a Unified System</a:t>
            </a:r>
            <a:endParaRPr b="0" i="0" sz="1400" u="none" cap="none" strike="noStrike">
              <a:solidFill>
                <a:srgbClr val="000000"/>
              </a:solidFill>
              <a:latin typeface="Arial"/>
              <a:ea typeface="Arial"/>
              <a:cs typeface="Arial"/>
              <a:sym typeface="Arial"/>
            </a:endParaRPr>
          </a:p>
        </p:txBody>
      </p:sp>
      <p:sp>
        <p:nvSpPr>
          <p:cNvPr id="282" name="Google Shape;282;p18"/>
          <p:cNvSpPr txBox="1"/>
          <p:nvPr/>
        </p:nvSpPr>
        <p:spPr>
          <a:xfrm>
            <a:off x="7772400" y="1295400"/>
            <a:ext cx="685800" cy="3508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Helvetica Neue"/>
              <a:buNone/>
            </a:pPr>
            <a:r>
              <a:rPr b="1" i="0" lang="en-US" sz="1700" u="none" cap="none" strike="noStrike">
                <a:solidFill>
                  <a:schemeClr val="lt1"/>
                </a:solidFill>
                <a:latin typeface="Helvetica Neue"/>
                <a:ea typeface="Helvetica Neue"/>
                <a:cs typeface="Helvetica Neue"/>
                <a:sym typeface="Helvetica Neue"/>
              </a:rPr>
              <a:t>LG4</a:t>
            </a:r>
            <a:endParaRPr b="0" i="0" sz="1400" u="none" cap="none" strike="noStrike">
              <a:solidFill>
                <a:srgbClr val="000000"/>
              </a:solidFill>
              <a:latin typeface="Arial"/>
              <a:ea typeface="Arial"/>
              <a:cs typeface="Arial"/>
              <a:sym typeface="Arial"/>
            </a:endParaRPr>
          </a:p>
        </p:txBody>
      </p:sp>
      <p:sp>
        <p:nvSpPr>
          <p:cNvPr id="283" name="Google Shape;283;p18"/>
          <p:cNvSpPr txBox="1"/>
          <p:nvPr>
            <p:ph type="ctrTitle"/>
          </p:nvPr>
        </p:nvSpPr>
        <p:spPr>
          <a:xfrm>
            <a:off x="381000" y="76200"/>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LEVELS of MANAGEMENT</a:t>
            </a:r>
            <a:endParaRPr/>
          </a:p>
        </p:txBody>
      </p:sp>
      <p:pic>
        <p:nvPicPr>
          <p:cNvPr descr="F705.psd" id="284" name="Google Shape;284;p18"/>
          <p:cNvPicPr preferRelativeResize="0"/>
          <p:nvPr/>
        </p:nvPicPr>
        <p:blipFill rotWithShape="1">
          <a:blip r:embed="rId3">
            <a:alphaModFix/>
          </a:blip>
          <a:srcRect b="0" l="0" r="0" t="0"/>
          <a:stretch/>
        </p:blipFill>
        <p:spPr>
          <a:xfrm>
            <a:off x="1797050" y="1703387"/>
            <a:ext cx="5213350" cy="4164012"/>
          </a:xfrm>
          <a:prstGeom prst="rect">
            <a:avLst/>
          </a:prstGeom>
          <a:noFill/>
          <a:ln>
            <a:noFill/>
          </a:ln>
        </p:spPr>
      </p:pic>
      <p:sp>
        <p:nvSpPr>
          <p:cNvPr id="285" name="Google Shape;285;p18"/>
          <p:cNvSpPr txBox="1"/>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7-</a:t>
            </a: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3764550cccd_0_0"/>
          <p:cNvSpPr txBox="1"/>
          <p:nvPr>
            <p:ph type="ctrTitle"/>
          </p:nvPr>
        </p:nvSpPr>
        <p:spPr>
          <a:xfrm>
            <a:off x="685800" y="2130425"/>
            <a:ext cx="7772400" cy="1470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92" name="Google Shape;292;g3764550cccd_0_0"/>
          <p:cNvSpPr txBox="1"/>
          <p:nvPr>
            <p:ph idx="1" type="subTitle"/>
          </p:nvPr>
        </p:nvSpPr>
        <p:spPr>
          <a:xfrm>
            <a:off x="1371600" y="3886200"/>
            <a:ext cx="6400800" cy="1752600"/>
          </a:xfrm>
          <a:prstGeom prst="rect">
            <a:avLst/>
          </a:prstGeom>
        </p:spPr>
        <p:txBody>
          <a:bodyPr anchorCtr="0" anchor="t" bIns="45700" lIns="91425" spcFirstLastPara="1" rIns="91425" wrap="square" tIns="45700">
            <a:noAutofit/>
          </a:bodyPr>
          <a:lstStyle/>
          <a:p>
            <a:pPr indent="0" lvl="0" marL="0" rtl="0" algn="ctr">
              <a:spcBef>
                <a:spcPts val="64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Formulating Business-Level Strategies</a:t>
            </a:r>
            <a:endParaRPr/>
          </a:p>
        </p:txBody>
      </p:sp>
      <p:sp>
        <p:nvSpPr>
          <p:cNvPr id="298" name="Google Shape;298;p1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 number of frameworks have been developed for identifying the major strategic alternatives that organizations should consider when choosing their business-level strategies. Three important classification schemes are Porter’s generic strategies, the Miles and Snow typology, and strategies based on the product life cycle.</a:t>
            </a:r>
            <a:endParaRPr/>
          </a:p>
        </p:txBody>
      </p:sp>
      <p:pic>
        <p:nvPicPr>
          <p:cNvPr id="299" name="Google Shape;299;p19"/>
          <p:cNvPicPr preferRelativeResize="0"/>
          <p:nvPr/>
        </p:nvPicPr>
        <p:blipFill rotWithShape="1">
          <a:blip r:embed="rId3">
            <a:alphaModFix/>
          </a:blip>
          <a:srcRect b="0" l="0" r="0" t="0"/>
          <a:stretch/>
        </p:blipFill>
        <p:spPr>
          <a:xfrm>
            <a:off x="8382000" y="6096000"/>
            <a:ext cx="609600" cy="609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Porter’s Generic Strategies</a:t>
            </a:r>
            <a:endParaRPr/>
          </a:p>
        </p:txBody>
      </p:sp>
      <p:pic>
        <p:nvPicPr>
          <p:cNvPr descr="Porter&amp;#39;s Generic Strategies: Competitive Advantage | Hsint Sanda| 31 Aug  2018 | by Hsint Sanda | LinkedIn" id="305" name="Google Shape;305;p20"/>
          <p:cNvPicPr preferRelativeResize="0"/>
          <p:nvPr>
            <p:ph idx="1" type="body"/>
          </p:nvPr>
        </p:nvPicPr>
        <p:blipFill rotWithShape="1">
          <a:blip r:embed="rId3">
            <a:alphaModFix/>
          </a:blip>
          <a:srcRect b="0" l="0" r="0" t="0"/>
          <a:stretch/>
        </p:blipFill>
        <p:spPr>
          <a:xfrm>
            <a:off x="2211387" y="1600200"/>
            <a:ext cx="4721225" cy="4525962"/>
          </a:xfrm>
          <a:prstGeom prst="rect">
            <a:avLst/>
          </a:prstGeom>
          <a:noFill/>
          <a:ln>
            <a:noFill/>
          </a:ln>
        </p:spPr>
      </p:pic>
      <p:pic>
        <p:nvPicPr>
          <p:cNvPr id="306" name="Google Shape;306;p20"/>
          <p:cNvPicPr preferRelativeResize="0"/>
          <p:nvPr/>
        </p:nvPicPr>
        <p:blipFill rotWithShape="1">
          <a:blip r:embed="rId4">
            <a:alphaModFix/>
          </a:blip>
          <a:srcRect b="0" l="0" r="0" t="0"/>
          <a:stretch/>
        </p:blipFill>
        <p:spPr>
          <a:xfrm>
            <a:off x="8382000" y="6096000"/>
            <a:ext cx="609600" cy="609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2"/>
          <p:cNvSpPr txBox="1"/>
          <p:nvPr>
            <p:ph type="title"/>
          </p:nvPr>
        </p:nvSpPr>
        <p:spPr>
          <a:xfrm>
            <a:off x="457200" y="113700"/>
            <a:ext cx="8229600" cy="740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Differentiation strategy</a:t>
            </a:r>
            <a:endParaRPr/>
          </a:p>
        </p:txBody>
      </p:sp>
      <p:sp>
        <p:nvSpPr>
          <p:cNvPr id="312" name="Google Shape;312;p22"/>
          <p:cNvSpPr txBox="1"/>
          <p:nvPr>
            <p:ph idx="1" type="body"/>
          </p:nvPr>
        </p:nvSpPr>
        <p:spPr>
          <a:xfrm>
            <a:off x="182575" y="854100"/>
            <a:ext cx="8760000" cy="5272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An organization that pursues a differentiation strategy seeks to distinguish itself from competitors through the quality (broadly defined) of its products or services. Firms that successfully implement a differentiation strategy are able to charge more than competitors because customers are willing to pay more to obtain the extra value they perceive.</a:t>
            </a:r>
            <a:endParaRPr b="0" i="0" sz="2400" u="non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SzPts val="2400"/>
              <a:buChar char="•"/>
            </a:pPr>
            <a:r>
              <a:rPr lang="en-US" sz="2400"/>
              <a:t>UniMart follows a differentiation strategy to stand out in the competitive retail market by offering unique products, superior quality, and exceptional customer service. This approach attracts discerning customers willing to pay premium prices, fostering brand loyalty and reducing price sensitivity. While focusing on differentiation, UniMart also targets a broad market by balancing exclusivity with accessibility—offering a range of products at varying price points to appeal to diverse customer segments, from budget-conscious shoppers to premium buyers. This ensures wider reach while maintaining its differentiated appeal.</a:t>
            </a:r>
            <a:endParaRPr sz="2400"/>
          </a:p>
        </p:txBody>
      </p:sp>
      <p:pic>
        <p:nvPicPr>
          <p:cNvPr id="313" name="Google Shape;313;p22"/>
          <p:cNvPicPr preferRelativeResize="0"/>
          <p:nvPr/>
        </p:nvPicPr>
        <p:blipFill rotWithShape="1">
          <a:blip r:embed="rId3">
            <a:alphaModFix/>
          </a:blip>
          <a:srcRect b="0" l="0" r="0" t="0"/>
          <a:stretch/>
        </p:blipFill>
        <p:spPr>
          <a:xfrm>
            <a:off x="8382000" y="6096000"/>
            <a:ext cx="609600" cy="609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Overall Cost Leadership Strategy</a:t>
            </a:r>
            <a:endParaRPr/>
          </a:p>
        </p:txBody>
      </p:sp>
      <p:sp>
        <p:nvSpPr>
          <p:cNvPr id="319" name="Google Shape;319;p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Attempts to gain a competitive advantage by reducing its costs below the costs of competing firms. By keeping costs low, the organization is able to sell its products at low prices and still make a profit. </a:t>
            </a:r>
            <a:endParaRPr/>
          </a:p>
          <a:p>
            <a:pPr indent="-190500" lvl="0" marL="342900" marR="0" rtl="0" algn="l">
              <a:lnSpc>
                <a:spcPct val="10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Timex uses an overall cost leadership strategy. For decades,. The price of Timex watches, starting around $39.95, is low because of the company’s efficient high volume manufacturing capacity</a:t>
            </a:r>
            <a:endParaRPr/>
          </a:p>
        </p:txBody>
      </p:sp>
      <p:pic>
        <p:nvPicPr>
          <p:cNvPr id="320" name="Google Shape;320;p23"/>
          <p:cNvPicPr preferRelativeResize="0"/>
          <p:nvPr/>
        </p:nvPicPr>
        <p:blipFill rotWithShape="1">
          <a:blip r:embed="rId3">
            <a:alphaModFix/>
          </a:blip>
          <a:srcRect b="0" l="0" r="0" t="0"/>
          <a:stretch/>
        </p:blipFill>
        <p:spPr>
          <a:xfrm>
            <a:off x="8382000" y="6096000"/>
            <a:ext cx="609600" cy="6096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4"/>
          <p:cNvSpPr txBox="1"/>
          <p:nvPr>
            <p:ph type="title"/>
          </p:nvPr>
        </p:nvSpPr>
        <p:spPr>
          <a:xfrm>
            <a:off x="457200" y="274637"/>
            <a:ext cx="8229600" cy="7921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 Focus Strategy</a:t>
            </a:r>
            <a:endParaRPr/>
          </a:p>
        </p:txBody>
      </p:sp>
      <p:sp>
        <p:nvSpPr>
          <p:cNvPr id="326" name="Google Shape;326;p24"/>
          <p:cNvSpPr txBox="1"/>
          <p:nvPr>
            <p:ph idx="1" type="body"/>
          </p:nvPr>
        </p:nvSpPr>
        <p:spPr>
          <a:xfrm>
            <a:off x="457200" y="914400"/>
            <a:ext cx="8229600" cy="52117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Calibri"/>
                <a:ea typeface="Calibri"/>
                <a:cs typeface="Calibri"/>
                <a:sym typeface="Calibri"/>
              </a:rPr>
              <a:t>concentrates on a specific regional market, product line, or group of buyers. This strategy may have either a differentiation focus, whereby the firm differentiates its products in the focus market, or an overall cost leadership focus, whereby the firm manufactures and sells its products at low cost in the focus market. </a:t>
            </a:r>
            <a:endParaRPr/>
          </a:p>
          <a:p>
            <a:pPr indent="-342900" lvl="0" marL="342900" marR="0" rtl="0" algn="l">
              <a:lnSpc>
                <a:spcPct val="100000"/>
              </a:lnSpc>
              <a:spcBef>
                <a:spcPts val="360"/>
              </a:spcBef>
              <a:spcAft>
                <a:spcPts val="0"/>
              </a:spcAft>
              <a:buClr>
                <a:schemeClr val="dk1"/>
              </a:buClr>
              <a:buSzPts val="1800"/>
              <a:buFont typeface="Arial"/>
              <a:buChar char="•"/>
            </a:pPr>
            <a:r>
              <a:rPr b="0" i="0" lang="en-US" sz="1800" u="none">
                <a:solidFill>
                  <a:schemeClr val="dk1"/>
                </a:solidFill>
                <a:latin typeface="Calibri"/>
                <a:ea typeface="Calibri"/>
                <a:cs typeface="Calibri"/>
                <a:sym typeface="Calibri"/>
              </a:rPr>
              <a:t>In the watch industry, Tag Heuer follows a focus differentiation strategy by selling only rugged waterproof watches to active consumers. </a:t>
            </a:r>
            <a:endParaRPr/>
          </a:p>
          <a:p>
            <a:pPr indent="-342900" lvl="0" marL="342900" marR="0" rtl="0" algn="l">
              <a:lnSpc>
                <a:spcPct val="100000"/>
              </a:lnSpc>
              <a:spcBef>
                <a:spcPts val="360"/>
              </a:spcBef>
              <a:spcAft>
                <a:spcPts val="0"/>
              </a:spcAft>
              <a:buClr>
                <a:schemeClr val="dk1"/>
              </a:buClr>
              <a:buSzPts val="1800"/>
              <a:buFont typeface="Arial"/>
              <a:buChar char="•"/>
            </a:pPr>
            <a:r>
              <a:rPr b="0" i="0" lang="en-US" sz="1800" u="none">
                <a:solidFill>
                  <a:schemeClr val="dk1"/>
                </a:solidFill>
                <a:latin typeface="Calibri"/>
                <a:ea typeface="Calibri"/>
                <a:cs typeface="Calibri"/>
                <a:sym typeface="Calibri"/>
              </a:rPr>
              <a:t>Fiat follows a focus cost </a:t>
            </a:r>
            <a:r>
              <a:rPr lang="en-US" sz="1800"/>
              <a:t>focus </a:t>
            </a:r>
            <a:r>
              <a:rPr b="0" i="0" lang="en-US" sz="1800" u="none">
                <a:solidFill>
                  <a:schemeClr val="dk1"/>
                </a:solidFill>
                <a:latin typeface="Calibri"/>
                <a:ea typeface="Calibri"/>
                <a:cs typeface="Calibri"/>
                <a:sym typeface="Calibri"/>
              </a:rPr>
              <a:t> strategy by selling its automobiles only in Italy and in selected regions of Europe; </a:t>
            </a:r>
            <a:endParaRPr/>
          </a:p>
          <a:p>
            <a:pPr indent="-342900" lvl="0" marL="342900" marR="0" rtl="0" algn="l">
              <a:lnSpc>
                <a:spcPct val="100000"/>
              </a:lnSpc>
              <a:spcBef>
                <a:spcPts val="360"/>
              </a:spcBef>
              <a:spcAft>
                <a:spcPts val="0"/>
              </a:spcAft>
              <a:buClr>
                <a:schemeClr val="dk1"/>
              </a:buClr>
              <a:buSzPts val="1800"/>
              <a:buFont typeface="Arial"/>
              <a:buChar char="•"/>
            </a:pPr>
            <a:r>
              <a:rPr b="0" i="0" lang="en-US" sz="1800" u="none">
                <a:solidFill>
                  <a:schemeClr val="dk1"/>
                </a:solidFill>
                <a:latin typeface="Calibri"/>
                <a:ea typeface="Calibri"/>
                <a:cs typeface="Calibri"/>
                <a:sym typeface="Calibri"/>
              </a:rPr>
              <a:t>Alfa Romeo uses focus differentiation to sell its high-performance cars in these same markets. </a:t>
            </a:r>
            <a:endParaRPr/>
          </a:p>
          <a:p>
            <a:pPr indent="-342900" lvl="0" marL="342900" marR="0" rtl="0" algn="l">
              <a:lnSpc>
                <a:spcPct val="100000"/>
              </a:lnSpc>
              <a:spcBef>
                <a:spcPts val="360"/>
              </a:spcBef>
              <a:spcAft>
                <a:spcPts val="0"/>
              </a:spcAft>
              <a:buClr>
                <a:schemeClr val="dk1"/>
              </a:buClr>
              <a:buSzPts val="1800"/>
              <a:buFont typeface="Arial"/>
              <a:buChar char="•"/>
            </a:pPr>
            <a:r>
              <a:rPr b="0" i="0" lang="en-US" sz="1800" u="none">
                <a:solidFill>
                  <a:schemeClr val="dk1"/>
                </a:solidFill>
                <a:latin typeface="Calibri"/>
                <a:ea typeface="Calibri"/>
                <a:cs typeface="Calibri"/>
                <a:sym typeface="Calibri"/>
              </a:rPr>
              <a:t>Hasselblad makes expensive cameras targeted at professional photographers. </a:t>
            </a:r>
            <a:endParaRPr/>
          </a:p>
          <a:p>
            <a:pPr indent="-342900" lvl="0" marL="342900" marR="0" rtl="0" algn="l">
              <a:lnSpc>
                <a:spcPct val="100000"/>
              </a:lnSpc>
              <a:spcBef>
                <a:spcPts val="360"/>
              </a:spcBef>
              <a:spcAft>
                <a:spcPts val="0"/>
              </a:spcAft>
              <a:buClr>
                <a:schemeClr val="dk1"/>
              </a:buClr>
              <a:buSzPts val="1800"/>
              <a:buFont typeface="Arial"/>
              <a:buChar char="•"/>
            </a:pPr>
            <a:r>
              <a:rPr b="0" i="0" lang="en-US" sz="1800" u="none">
                <a:solidFill>
                  <a:schemeClr val="dk1"/>
                </a:solidFill>
                <a:latin typeface="Calibri"/>
                <a:ea typeface="Calibri"/>
                <a:cs typeface="Calibri"/>
                <a:sym typeface="Calibri"/>
              </a:rPr>
              <a:t>Fisher-Price uses focus differentiation to sell electronic calculators with large, brightly colored buttons to the parents of preschoolers; </a:t>
            </a:r>
            <a:endParaRPr/>
          </a:p>
          <a:p>
            <a:pPr indent="-342900" lvl="0" marL="342900" marR="0" rtl="0" algn="l">
              <a:lnSpc>
                <a:spcPct val="100000"/>
              </a:lnSpc>
              <a:spcBef>
                <a:spcPts val="360"/>
              </a:spcBef>
              <a:spcAft>
                <a:spcPts val="0"/>
              </a:spcAft>
              <a:buClr>
                <a:schemeClr val="dk1"/>
              </a:buClr>
              <a:buSzPts val="1800"/>
              <a:buFont typeface="Arial"/>
              <a:buChar char="•"/>
            </a:pPr>
            <a:r>
              <a:rPr b="0" i="0" lang="en-US" sz="1800" u="none">
                <a:solidFill>
                  <a:schemeClr val="dk1"/>
                </a:solidFill>
                <a:latin typeface="Calibri"/>
                <a:ea typeface="Calibri"/>
                <a:cs typeface="Calibri"/>
                <a:sym typeface="Calibri"/>
              </a:rPr>
              <a:t>stockbroker Edward Jones focuses on small-town settings. </a:t>
            </a:r>
            <a:endParaRPr/>
          </a:p>
          <a:p>
            <a:pPr indent="-342900" lvl="0" marL="342900" marR="0" rtl="0" algn="l">
              <a:lnSpc>
                <a:spcPct val="100000"/>
              </a:lnSpc>
              <a:spcBef>
                <a:spcPts val="360"/>
              </a:spcBef>
              <a:spcAft>
                <a:spcPts val="0"/>
              </a:spcAft>
              <a:buClr>
                <a:schemeClr val="dk1"/>
              </a:buClr>
              <a:buSzPts val="1800"/>
              <a:buFont typeface="Arial"/>
              <a:buChar char="•"/>
            </a:pPr>
            <a:r>
              <a:rPr b="0" i="0" lang="en-US" sz="1800" u="none">
                <a:solidFill>
                  <a:schemeClr val="dk1"/>
                </a:solidFill>
                <a:latin typeface="Calibri"/>
                <a:ea typeface="Calibri"/>
                <a:cs typeface="Calibri"/>
                <a:sym typeface="Calibri"/>
              </a:rPr>
              <a:t>General Mills focuses one part of its new-product development on consumers who eat meals while driving—their watchword is “Can we make it ‘one-handed’?” so that drivers can safely eat or drink it.</a:t>
            </a:r>
            <a:endParaRPr/>
          </a:p>
        </p:txBody>
      </p:sp>
      <p:pic>
        <p:nvPicPr>
          <p:cNvPr id="327" name="Google Shape;327;p24"/>
          <p:cNvPicPr preferRelativeResize="0"/>
          <p:nvPr/>
        </p:nvPicPr>
        <p:blipFill rotWithShape="1">
          <a:blip r:embed="rId3">
            <a:alphaModFix/>
          </a:blip>
          <a:srcRect b="0" l="0" r="0" t="0"/>
          <a:stretch/>
        </p:blipFill>
        <p:spPr>
          <a:xfrm>
            <a:off x="8382000" y="6096000"/>
            <a:ext cx="609600" cy="609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Arial Black"/>
              <a:buNone/>
            </a:pPr>
            <a:r>
              <a:rPr b="0" i="0" lang="en-US" sz="4400" u="none">
                <a:solidFill>
                  <a:schemeClr val="dk1"/>
                </a:solidFill>
                <a:latin typeface="Arial Black"/>
                <a:ea typeface="Arial Black"/>
                <a:cs typeface="Arial Black"/>
                <a:sym typeface="Arial Black"/>
              </a:rPr>
              <a:t>Organizing</a:t>
            </a:r>
            <a:endParaRPr/>
          </a:p>
        </p:txBody>
      </p:sp>
      <p:sp>
        <p:nvSpPr>
          <p:cNvPr id="333" name="Google Shape;333;p2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After managers have planned a course of action, they must organize the firm to accomplish their goals. That means allocating resources, (such as funds for various departments), assigning tasks, establishing procedures.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7"/>
          <p:cNvSpPr txBox="1"/>
          <p:nvPr>
            <p:ph type="title"/>
          </p:nvPr>
        </p:nvSpPr>
        <p:spPr>
          <a:xfrm>
            <a:off x="457200" y="274637"/>
            <a:ext cx="8229600" cy="639762"/>
          </a:xfrm>
          <a:prstGeom prst="rect">
            <a:avLst/>
          </a:prstGeom>
          <a:noFill/>
          <a:ln>
            <a:noFill/>
          </a:ln>
        </p:spPr>
        <p:txBody>
          <a:bodyPr anchorCtr="0" anchor="ctr" bIns="45700" lIns="91425" spcFirstLastPara="1" rIns="91425" wrap="square" tIns="45700">
            <a:noAutofit/>
          </a:bodyPr>
          <a:lstStyle/>
          <a:p>
            <a:pPr indent="0" lvl="0" marL="0" rtl="0" algn="ctr">
              <a:lnSpc>
                <a:spcPct val="107000"/>
              </a:lnSpc>
              <a:spcBef>
                <a:spcPts val="0"/>
              </a:spcBef>
              <a:spcAft>
                <a:spcPts val="0"/>
              </a:spcAft>
              <a:buClr>
                <a:schemeClr val="dk1"/>
              </a:buClr>
              <a:buSzPts val="2800"/>
              <a:buFont typeface="Calibri"/>
              <a:buNone/>
            </a:pPr>
            <a:r>
              <a:rPr b="1" i="0" lang="en-US" sz="2800" u="none">
                <a:solidFill>
                  <a:schemeClr val="dk1"/>
                </a:solidFill>
                <a:latin typeface="Calibri"/>
                <a:ea typeface="Calibri"/>
                <a:cs typeface="Calibri"/>
                <a:sym typeface="Calibri"/>
              </a:rPr>
              <a:t> </a:t>
            </a:r>
            <a:br>
              <a:rPr b="0" i="0" lang="en-US" sz="2800" u="none">
                <a:solidFill>
                  <a:schemeClr val="dk1"/>
                </a:solidFill>
                <a:latin typeface="Calibri"/>
                <a:ea typeface="Calibri"/>
                <a:cs typeface="Calibri"/>
                <a:sym typeface="Calibri"/>
              </a:rPr>
            </a:br>
            <a:r>
              <a:rPr b="1" i="0" lang="en-US" sz="2800" u="none">
                <a:solidFill>
                  <a:schemeClr val="dk1"/>
                </a:solidFill>
                <a:latin typeface="Calibri"/>
                <a:ea typeface="Calibri"/>
                <a:cs typeface="Calibri"/>
                <a:sym typeface="Calibri"/>
              </a:rPr>
              <a:t>The Elements of Organizing </a:t>
            </a:r>
            <a:br>
              <a:rPr b="0" i="0" lang="en-US" sz="1800" u="none">
                <a:solidFill>
                  <a:schemeClr val="dk1"/>
                </a:solidFill>
                <a:latin typeface="Calibri"/>
                <a:ea typeface="Calibri"/>
                <a:cs typeface="Calibri"/>
                <a:sym typeface="Calibri"/>
              </a:rPr>
            </a:br>
            <a:endParaRPr/>
          </a:p>
        </p:txBody>
      </p:sp>
      <p:sp>
        <p:nvSpPr>
          <p:cNvPr id="339" name="Google Shape;339;p27"/>
          <p:cNvSpPr txBox="1"/>
          <p:nvPr>
            <p:ph idx="1" type="body"/>
          </p:nvPr>
        </p:nvSpPr>
        <p:spPr>
          <a:xfrm>
            <a:off x="457200" y="914400"/>
            <a:ext cx="8229600" cy="52117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Calibri"/>
                <a:ea typeface="Calibri"/>
                <a:cs typeface="Calibri"/>
                <a:sym typeface="Calibri"/>
              </a:rPr>
              <a:t>Imagine asking a child to build a castle with a set of building blocks. She selects a few small blocks and other larger ones. She uses some square ones, some round ones, and some triangular ones. When she finishes, she has her own castle, unlike any other. Another child, presented with the same task, constructs a different castle. He selects different blocks, for example, and combines them in different ways. The children’s activities—choosing certain combinations of blocks and then putting them together in unique ways—are in many ways analogous to the manager’s job of organizing.</a:t>
            </a:r>
            <a:endParaRPr/>
          </a:p>
          <a:p>
            <a:pPr indent="-342900" lvl="0" marL="342900" marR="0" rtl="0" algn="l">
              <a:lnSpc>
                <a:spcPct val="100000"/>
              </a:lnSpc>
              <a:spcBef>
                <a:spcPts val="360"/>
              </a:spcBef>
              <a:spcAft>
                <a:spcPts val="0"/>
              </a:spcAft>
              <a:buClr>
                <a:schemeClr val="dk1"/>
              </a:buClr>
              <a:buSzPts val="1800"/>
              <a:buFont typeface="Arial"/>
              <a:buChar char="•"/>
            </a:pPr>
            <a:r>
              <a:rPr b="0" i="0" lang="en-US" sz="1800" u="none">
                <a:solidFill>
                  <a:schemeClr val="dk1"/>
                </a:solidFill>
                <a:latin typeface="Calibri"/>
                <a:ea typeface="Calibri"/>
                <a:cs typeface="Calibri"/>
                <a:sym typeface="Calibri"/>
              </a:rPr>
              <a:t>Organizing is deciding how best to group organizational elements. Just as children select different kinds of building blocks, managers can choose a variety of structural possibilities. And just as the children can assemble the blocks in any number of ways, so, too, can managers put the organization together in many different ways. Understanding the nature of these building blocks and the different ways in which they can be configured can have a powerful impact on a firm’s competitiveness.</a:t>
            </a:r>
            <a:endParaRPr/>
          </a:p>
        </p:txBody>
      </p:sp>
      <p:pic>
        <p:nvPicPr>
          <p:cNvPr descr="Management 4: Organizing - 2nd Managerial Function - YouTube" id="340" name="Google Shape;340;p27"/>
          <p:cNvPicPr preferRelativeResize="0"/>
          <p:nvPr/>
        </p:nvPicPr>
        <p:blipFill rotWithShape="1">
          <a:blip r:embed="rId3">
            <a:alphaModFix/>
          </a:blip>
          <a:srcRect b="0" l="0" r="0" t="0"/>
          <a:stretch/>
        </p:blipFill>
        <p:spPr>
          <a:xfrm>
            <a:off x="5181600" y="4919662"/>
            <a:ext cx="3200400" cy="18002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7-</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
        <p:nvSpPr>
          <p:cNvPr id="347" name="Google Shape;347;p28"/>
          <p:cNvSpPr txBox="1"/>
          <p:nvPr>
            <p:ph type="title"/>
          </p:nvPr>
        </p:nvSpPr>
        <p:spPr>
          <a:xfrm>
            <a:off x="461962" y="317500"/>
            <a:ext cx="8412162" cy="10763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Arial Black"/>
              <a:buNone/>
            </a:pPr>
            <a:r>
              <a:rPr b="0" i="0" lang="en-US" sz="4400" u="none">
                <a:solidFill>
                  <a:schemeClr val="dk1"/>
                </a:solidFill>
                <a:latin typeface="Arial Black"/>
                <a:ea typeface="Arial Black"/>
                <a:cs typeface="Arial Black"/>
                <a:sym typeface="Arial Black"/>
              </a:rPr>
              <a:t>Organizing</a:t>
            </a:r>
            <a:endParaRPr/>
          </a:p>
        </p:txBody>
      </p:sp>
      <p:sp>
        <p:nvSpPr>
          <p:cNvPr id="348" name="Google Shape;348;p28"/>
          <p:cNvSpPr txBox="1"/>
          <p:nvPr>
            <p:ph idx="1" type="body"/>
          </p:nvPr>
        </p:nvSpPr>
        <p:spPr>
          <a:xfrm>
            <a:off x="4419600" y="1752600"/>
            <a:ext cx="4194175" cy="46863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660066"/>
              </a:buClr>
              <a:buSzPts val="2000"/>
              <a:buFont typeface="Arial"/>
              <a:buChar char="•"/>
            </a:pPr>
            <a:r>
              <a:rPr b="1" i="0" lang="en-US" sz="2000" u="none">
                <a:solidFill>
                  <a:schemeClr val="dk1"/>
                </a:solidFill>
                <a:latin typeface="Calibri"/>
                <a:ea typeface="Calibri"/>
                <a:cs typeface="Calibri"/>
                <a:sym typeface="Calibri"/>
              </a:rPr>
              <a:t>Skills/Tasks</a:t>
            </a:r>
            <a:endParaRPr/>
          </a:p>
          <a:p>
            <a:pPr indent="-285750" lvl="1" marL="742950" rtl="0" algn="l">
              <a:lnSpc>
                <a:spcPct val="100000"/>
              </a:lnSpc>
              <a:spcBef>
                <a:spcPts val="360"/>
              </a:spcBef>
              <a:spcAft>
                <a:spcPts val="0"/>
              </a:spcAft>
              <a:buClr>
                <a:srgbClr val="660066"/>
              </a:buClr>
              <a:buSzPts val="1800"/>
              <a:buFont typeface="Arial"/>
              <a:buChar char="–"/>
            </a:pPr>
            <a:r>
              <a:rPr b="1" i="0" lang="en-US" sz="1800" u="none">
                <a:solidFill>
                  <a:schemeClr val="dk1"/>
                </a:solidFill>
                <a:latin typeface="Calibri"/>
                <a:ea typeface="Calibri"/>
                <a:cs typeface="Calibri"/>
                <a:sym typeface="Calibri"/>
              </a:rPr>
              <a:t>Technical</a:t>
            </a:r>
            <a:r>
              <a:rPr b="0" i="0" lang="en-US" sz="1800" u="none">
                <a:solidFill>
                  <a:schemeClr val="dk1"/>
                </a:solidFill>
                <a:latin typeface="Calibri"/>
                <a:ea typeface="Calibri"/>
                <a:cs typeface="Calibri"/>
                <a:sym typeface="Calibri"/>
              </a:rPr>
              <a:t>- task in specific discipline</a:t>
            </a:r>
            <a:endParaRPr/>
          </a:p>
          <a:p>
            <a:pPr indent="-285750" lvl="1" marL="742950" rtl="0" algn="l">
              <a:lnSpc>
                <a:spcPct val="100000"/>
              </a:lnSpc>
              <a:spcBef>
                <a:spcPts val="360"/>
              </a:spcBef>
              <a:spcAft>
                <a:spcPts val="0"/>
              </a:spcAft>
              <a:buClr>
                <a:srgbClr val="660066"/>
              </a:buClr>
              <a:buSzPts val="1800"/>
              <a:buFont typeface="Arial"/>
              <a:buChar char="–"/>
            </a:pPr>
            <a:r>
              <a:rPr b="1" i="0" lang="en-US" sz="1800" u="none">
                <a:solidFill>
                  <a:schemeClr val="dk1"/>
                </a:solidFill>
                <a:latin typeface="Calibri"/>
                <a:ea typeface="Calibri"/>
                <a:cs typeface="Calibri"/>
                <a:sym typeface="Calibri"/>
              </a:rPr>
              <a:t>Human relation- </a:t>
            </a:r>
            <a:r>
              <a:rPr b="0" i="0" lang="en-US" sz="1800" u="none">
                <a:solidFill>
                  <a:schemeClr val="dk1"/>
                </a:solidFill>
                <a:latin typeface="Calibri"/>
                <a:ea typeface="Calibri"/>
                <a:cs typeface="Calibri"/>
                <a:sym typeface="Calibri"/>
              </a:rPr>
              <a:t>involve communication and motivation</a:t>
            </a:r>
            <a:endParaRPr/>
          </a:p>
          <a:p>
            <a:pPr indent="-285750" lvl="1" marL="742950" rtl="0" algn="l">
              <a:lnSpc>
                <a:spcPct val="100000"/>
              </a:lnSpc>
              <a:spcBef>
                <a:spcPts val="360"/>
              </a:spcBef>
              <a:spcAft>
                <a:spcPts val="0"/>
              </a:spcAft>
              <a:buClr>
                <a:srgbClr val="660066"/>
              </a:buClr>
              <a:buSzPts val="1800"/>
              <a:buFont typeface="Arial"/>
              <a:buChar char="–"/>
            </a:pPr>
            <a:r>
              <a:rPr b="1" i="0" lang="en-US" sz="1800" u="none">
                <a:solidFill>
                  <a:schemeClr val="dk1"/>
                </a:solidFill>
                <a:latin typeface="Calibri"/>
                <a:ea typeface="Calibri"/>
                <a:cs typeface="Calibri"/>
                <a:sym typeface="Calibri"/>
              </a:rPr>
              <a:t>Conceptua</a:t>
            </a:r>
            <a:r>
              <a:rPr b="0" i="0" lang="en-US" sz="1800" u="none">
                <a:solidFill>
                  <a:schemeClr val="dk1"/>
                </a:solidFill>
                <a:latin typeface="Calibri"/>
                <a:ea typeface="Calibri"/>
                <a:cs typeface="Calibri"/>
                <a:sym typeface="Calibri"/>
              </a:rPr>
              <a:t>l- the ability to picture the org. as a whole</a:t>
            </a:r>
            <a:endParaRPr/>
          </a:p>
          <a:p>
            <a:pPr indent="-342900" lvl="0" marL="342900" rtl="0" algn="l">
              <a:lnSpc>
                <a:spcPct val="100000"/>
              </a:lnSpc>
              <a:spcBef>
                <a:spcPts val="640"/>
              </a:spcBef>
              <a:spcAft>
                <a:spcPts val="0"/>
              </a:spcAft>
              <a:buClr>
                <a:srgbClr val="660066"/>
              </a:buClr>
              <a:buSzPts val="3200"/>
              <a:buFont typeface="Arial"/>
              <a:buChar char="•"/>
            </a:pPr>
            <a:r>
              <a:rPr b="0" i="0" lang="en-US" sz="3200" u="none">
                <a:solidFill>
                  <a:schemeClr val="dk1"/>
                </a:solidFill>
                <a:latin typeface="Calibri"/>
                <a:ea typeface="Calibri"/>
                <a:cs typeface="Calibri"/>
                <a:sym typeface="Calibri"/>
              </a:rPr>
              <a:t>Staffing</a:t>
            </a:r>
            <a:endParaRPr/>
          </a:p>
          <a:p>
            <a:pPr indent="-285750" lvl="1" marL="742950" rtl="0" algn="l">
              <a:lnSpc>
                <a:spcPct val="100000"/>
              </a:lnSpc>
              <a:spcBef>
                <a:spcPts val="400"/>
              </a:spcBef>
              <a:spcAft>
                <a:spcPts val="0"/>
              </a:spcAft>
              <a:buClr>
                <a:schemeClr val="dk1"/>
              </a:buClr>
              <a:buSzPts val="2000"/>
              <a:buNone/>
            </a:pPr>
            <a:r>
              <a:rPr b="0" i="0" lang="en-US" sz="2000" u="none">
                <a:solidFill>
                  <a:schemeClr val="dk1"/>
                </a:solidFill>
                <a:latin typeface="Calibri"/>
                <a:ea typeface="Calibri"/>
                <a:cs typeface="Calibri"/>
                <a:sym typeface="Calibri"/>
              </a:rPr>
              <a:t>      Involves recruiting, hiring, motivating and retaining the best people available to accomplish the company’s objectives.</a:t>
            </a:r>
            <a:endParaRPr/>
          </a:p>
          <a:p>
            <a:pPr indent="-215900" lvl="0" marL="342900" rtl="0" algn="l">
              <a:lnSpc>
                <a:spcPct val="100000"/>
              </a:lnSpc>
              <a:spcBef>
                <a:spcPts val="400"/>
              </a:spcBef>
              <a:spcAft>
                <a:spcPts val="0"/>
              </a:spcAft>
              <a:buClr>
                <a:schemeClr val="dk1"/>
              </a:buClr>
              <a:buSzPts val="2000"/>
              <a:buNone/>
            </a:pPr>
            <a:r>
              <a:t/>
            </a:r>
            <a:endParaRPr b="0" i="0" sz="2000" u="none">
              <a:solidFill>
                <a:schemeClr val="dk1"/>
              </a:solidFill>
              <a:latin typeface="Calibri"/>
              <a:ea typeface="Calibri"/>
              <a:cs typeface="Calibri"/>
              <a:sym typeface="Calibri"/>
            </a:endParaRPr>
          </a:p>
        </p:txBody>
      </p:sp>
      <p:pic>
        <p:nvPicPr>
          <p:cNvPr descr="co_teams" id="349" name="Google Shape;349;p28"/>
          <p:cNvPicPr preferRelativeResize="0"/>
          <p:nvPr/>
        </p:nvPicPr>
        <p:blipFill rotWithShape="1">
          <a:blip r:embed="rId3">
            <a:alphaModFix/>
          </a:blip>
          <a:srcRect b="0" l="0" r="0" t="0"/>
          <a:stretch/>
        </p:blipFill>
        <p:spPr>
          <a:xfrm>
            <a:off x="609600" y="2362200"/>
            <a:ext cx="3810000" cy="304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xEl>
                                              <p:pRg end="0" st="0"/>
                                            </p:txEl>
                                          </p:spTgt>
                                        </p:tgtEl>
                                        <p:attrNameLst>
                                          <p:attrName>style.visibility</p:attrName>
                                        </p:attrNameLst>
                                      </p:cBhvr>
                                      <p:to>
                                        <p:strVal val="visible"/>
                                      </p:to>
                                    </p:set>
                                    <p:animEffect filter="fade" transition="in">
                                      <p:cBhvr>
                                        <p:cTn dur="500"/>
                                        <p:tgtEl>
                                          <p:spTgt spid="34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xEl>
                                              <p:pRg end="1" st="1"/>
                                            </p:txEl>
                                          </p:spTgt>
                                        </p:tgtEl>
                                        <p:attrNameLst>
                                          <p:attrName>style.visibility</p:attrName>
                                        </p:attrNameLst>
                                      </p:cBhvr>
                                      <p:to>
                                        <p:strVal val="visible"/>
                                      </p:to>
                                    </p:set>
                                    <p:animEffect filter="fade" transition="in">
                                      <p:cBhvr>
                                        <p:cTn dur="500"/>
                                        <p:tgtEl>
                                          <p:spTgt spid="34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xEl>
                                              <p:pRg end="2" st="2"/>
                                            </p:txEl>
                                          </p:spTgt>
                                        </p:tgtEl>
                                        <p:attrNameLst>
                                          <p:attrName>style.visibility</p:attrName>
                                        </p:attrNameLst>
                                      </p:cBhvr>
                                      <p:to>
                                        <p:strVal val="visible"/>
                                      </p:to>
                                    </p:set>
                                    <p:animEffect filter="fade" transition="in">
                                      <p:cBhvr>
                                        <p:cTn dur="500"/>
                                        <p:tgtEl>
                                          <p:spTgt spid="34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xEl>
                                              <p:pRg end="3" st="3"/>
                                            </p:txEl>
                                          </p:spTgt>
                                        </p:tgtEl>
                                        <p:attrNameLst>
                                          <p:attrName>style.visibility</p:attrName>
                                        </p:attrNameLst>
                                      </p:cBhvr>
                                      <p:to>
                                        <p:strVal val="visible"/>
                                      </p:to>
                                    </p:set>
                                    <p:animEffect filter="fade" transition="in">
                                      <p:cBhvr>
                                        <p:cTn dur="500"/>
                                        <p:tgtEl>
                                          <p:spTgt spid="34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xEl>
                                              <p:pRg end="4" st="4"/>
                                            </p:txEl>
                                          </p:spTgt>
                                        </p:tgtEl>
                                        <p:attrNameLst>
                                          <p:attrName>style.visibility</p:attrName>
                                        </p:attrNameLst>
                                      </p:cBhvr>
                                      <p:to>
                                        <p:strVal val="visible"/>
                                      </p:to>
                                    </p:set>
                                    <p:animEffect filter="fade" transition="in">
                                      <p:cBhvr>
                                        <p:cTn dur="500"/>
                                        <p:tgtEl>
                                          <p:spTgt spid="34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xEl>
                                              <p:pRg end="5" st="5"/>
                                            </p:txEl>
                                          </p:spTgt>
                                        </p:tgtEl>
                                        <p:attrNameLst>
                                          <p:attrName>style.visibility</p:attrName>
                                        </p:attrNameLst>
                                      </p:cBhvr>
                                      <p:to>
                                        <p:strVal val="visible"/>
                                      </p:to>
                                    </p:set>
                                    <p:animEffect filter="fade" transition="in">
                                      <p:cBhvr>
                                        <p:cTn dur="500"/>
                                        <p:tgtEl>
                                          <p:spTgt spid="34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xEl>
                                              <p:pRg end="6" st="6"/>
                                            </p:txEl>
                                          </p:spTgt>
                                        </p:tgtEl>
                                        <p:attrNameLst>
                                          <p:attrName>style.visibility</p:attrName>
                                        </p:attrNameLst>
                                      </p:cBhvr>
                                      <p:to>
                                        <p:strVal val="visible"/>
                                      </p:to>
                                    </p:set>
                                    <p:animEffect filter="fade" transition="in">
                                      <p:cBhvr>
                                        <p:cTn dur="500"/>
                                        <p:tgtEl>
                                          <p:spTgt spid="348">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9"/>
          <p:cNvSpPr txBox="1"/>
          <p:nvPr>
            <p:ph type="title"/>
          </p:nvPr>
        </p:nvSpPr>
        <p:spPr>
          <a:xfrm>
            <a:off x="231775" y="38100"/>
            <a:ext cx="8642350" cy="13557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sp>
        <p:nvSpPr>
          <p:cNvPr id="355" name="Google Shape;355;p29"/>
          <p:cNvSpPr/>
          <p:nvPr>
            <p:ph idx="2" type="clipArt"/>
          </p:nvPr>
        </p:nvSpPr>
        <p:spPr>
          <a:xfrm>
            <a:off x="269875" y="1393825"/>
            <a:ext cx="4205287" cy="4914900"/>
          </a:xfrm>
          <a:prstGeom prst="rect">
            <a:avLst/>
          </a:prstGeom>
          <a:noFill/>
          <a:ln>
            <a:noFill/>
          </a:ln>
        </p:spPr>
      </p:sp>
      <p:sp>
        <p:nvSpPr>
          <p:cNvPr id="356" name="Google Shape;356;p29"/>
          <p:cNvSpPr txBox="1"/>
          <p:nvPr>
            <p:ph idx="1" type="body"/>
          </p:nvPr>
        </p:nvSpPr>
        <p:spPr>
          <a:xfrm>
            <a:off x="4627562" y="1393825"/>
            <a:ext cx="4206875" cy="4914900"/>
          </a:xfrm>
          <a:prstGeom prst="rect">
            <a:avLst/>
          </a:prstGeom>
          <a:noFill/>
          <a:ln>
            <a:noFill/>
          </a:ln>
        </p:spPr>
        <p:txBody>
          <a:bodyPr anchorCtr="0" anchor="t" bIns="45700" lIns="91425" spcFirstLastPara="1" rIns="91425" wrap="square" tIns="45700">
            <a:noAutofit/>
          </a:bodyPr>
          <a:lstStyle/>
          <a:p>
            <a:pPr indent="-139700" lvl="0" marL="342900" rtl="0" algn="l">
              <a:lnSpc>
                <a:spcPct val="100000"/>
              </a:lnSpc>
              <a:spcBef>
                <a:spcPts val="0"/>
              </a:spcBef>
              <a:spcAft>
                <a:spcPts val="0"/>
              </a:spcAft>
              <a:buClr>
                <a:schemeClr val="dk1"/>
              </a:buClr>
              <a:buSzPts val="3200"/>
              <a:buNone/>
            </a:pPr>
            <a:r>
              <a:t/>
            </a:r>
            <a:endParaRPr sz="3200">
              <a:solidFill>
                <a:schemeClr val="dk1"/>
              </a:solidFill>
              <a:latin typeface="Calibri"/>
              <a:ea typeface="Calibri"/>
              <a:cs typeface="Calibri"/>
              <a:sym typeface="Calibri"/>
            </a:endParaRPr>
          </a:p>
        </p:txBody>
      </p:sp>
      <p:pic>
        <p:nvPicPr>
          <p:cNvPr descr="Chapter Seven Management and Leadership McGraw-Hill/Irwin Copyright © 2012  by The McGraw-Hill Companies, Inc. All rights reserved. - ppt download" id="357" name="Google Shape;357;p29"/>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a:solidFill>
                <a:srgbClr val="888888"/>
              </a:solidFill>
            </a:endParaRPr>
          </a:p>
        </p:txBody>
      </p:sp>
      <p:sp>
        <p:nvSpPr>
          <p:cNvPr id="364" name="Google Shape;364;p30"/>
          <p:cNvSpPr/>
          <p:nvPr/>
        </p:nvSpPr>
        <p:spPr>
          <a:xfrm>
            <a:off x="457200" y="381000"/>
            <a:ext cx="8153400" cy="6248400"/>
          </a:xfrm>
          <a:prstGeom prst="roundRect">
            <a:avLst>
              <a:gd fmla="val 16667" name="adj"/>
            </a:avLst>
          </a:prstGeom>
          <a:solidFill>
            <a:srgbClr val="FDD8C3"/>
          </a:solidFill>
          <a:ln cap="flat" cmpd="sng" w="9525">
            <a:solidFill>
              <a:srgbClr val="FDD8C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5" name="Google Shape;365;p30"/>
          <p:cNvSpPr/>
          <p:nvPr/>
        </p:nvSpPr>
        <p:spPr>
          <a:xfrm>
            <a:off x="7315200" y="152400"/>
            <a:ext cx="1644650" cy="1600200"/>
          </a:xfrm>
          <a:prstGeom prst="ellipse">
            <a:avLst/>
          </a:prstGeom>
          <a:solidFill>
            <a:srgbClr val="660066"/>
          </a:solidFill>
          <a:ln cap="flat" cmpd="sng" w="9525">
            <a:solidFill>
              <a:srgbClr val="66006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6" name="Google Shape;366;p30"/>
          <p:cNvSpPr txBox="1"/>
          <p:nvPr/>
        </p:nvSpPr>
        <p:spPr>
          <a:xfrm>
            <a:off x="8458200" y="1143000"/>
            <a:ext cx="50165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E59B57"/>
              </a:buClr>
              <a:buSzPts val="4000"/>
              <a:buFont typeface="Calibri"/>
              <a:buNone/>
            </a:pPr>
            <a:r>
              <a:rPr b="1" i="0" lang="en-US" sz="4000" u="none" cap="none" strike="noStrike">
                <a:solidFill>
                  <a:srgbClr val="E59B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367" name="Google Shape;367;p30"/>
          <p:cNvSpPr txBox="1"/>
          <p:nvPr/>
        </p:nvSpPr>
        <p:spPr>
          <a:xfrm>
            <a:off x="7162800" y="0"/>
            <a:ext cx="6096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4000"/>
              <a:buFont typeface="Calibri"/>
              <a:buNone/>
            </a:pPr>
            <a:r>
              <a:rPr b="1" i="0" lang="en-US" sz="4000" u="none" cap="none" strike="noStrike">
                <a:solidFill>
                  <a:srgbClr val="660066"/>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368" name="Google Shape;368;p30"/>
          <p:cNvSpPr txBox="1"/>
          <p:nvPr/>
        </p:nvSpPr>
        <p:spPr>
          <a:xfrm>
            <a:off x="7315200" y="541337"/>
            <a:ext cx="1828800" cy="730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400"/>
              <a:buFont typeface="Helvetica Neue"/>
              <a:buNone/>
            </a:pPr>
            <a:r>
              <a:rPr b="0" i="1" lang="en-US" sz="1400" u="none" cap="none" strike="noStrike">
                <a:solidFill>
                  <a:schemeClr val="lt1"/>
                </a:solidFill>
                <a:latin typeface="Helvetica Neue"/>
                <a:ea typeface="Helvetica Neue"/>
                <a:cs typeface="Helvetica Neue"/>
                <a:sym typeface="Helvetica Neue"/>
              </a:rPr>
              <a:t>Leading: Providing Continuous Vision and Values.</a:t>
            </a:r>
            <a:endParaRPr b="0" i="0" sz="1400" u="none" cap="none" strike="noStrike">
              <a:solidFill>
                <a:srgbClr val="000000"/>
              </a:solidFill>
              <a:latin typeface="Arial"/>
              <a:ea typeface="Arial"/>
              <a:cs typeface="Arial"/>
              <a:sym typeface="Arial"/>
            </a:endParaRPr>
          </a:p>
        </p:txBody>
      </p:sp>
      <p:sp>
        <p:nvSpPr>
          <p:cNvPr id="369" name="Google Shape;369;p30"/>
          <p:cNvSpPr txBox="1"/>
          <p:nvPr/>
        </p:nvSpPr>
        <p:spPr>
          <a:xfrm>
            <a:off x="533400" y="1787525"/>
            <a:ext cx="8077200" cy="3703637"/>
          </a:xfrm>
          <a:prstGeom prst="rect">
            <a:avLst/>
          </a:prstGeom>
          <a:noFill/>
          <a:ln>
            <a:noFill/>
          </a:ln>
        </p:spPr>
        <p:txBody>
          <a:bodyPr anchorCtr="0" anchor="t" bIns="45700" lIns="91425" spcFirstLastPara="1" rIns="91425" wrap="square" tIns="45700">
            <a:spAutoFit/>
          </a:bodyPr>
          <a:lstStyle/>
          <a:p>
            <a:pPr indent="-342900" lvl="2" marL="342900" marR="0" rtl="0" algn="l">
              <a:lnSpc>
                <a:spcPct val="100000"/>
              </a:lnSpc>
              <a:spcBef>
                <a:spcPts val="0"/>
              </a:spcBef>
              <a:spcAft>
                <a:spcPts val="0"/>
              </a:spcAft>
              <a:buClr>
                <a:srgbClr val="000000"/>
              </a:buClr>
              <a:buSzPts val="2700"/>
              <a:buFont typeface="Arial"/>
              <a:buChar char="•"/>
            </a:pPr>
            <a:r>
              <a:rPr b="0" i="0" lang="en-US" sz="2700" u="none" cap="none" strike="noStrike">
                <a:solidFill>
                  <a:srgbClr val="000000"/>
                </a:solidFill>
                <a:latin typeface="Helvetica Neue"/>
                <a:ea typeface="Helvetica Neue"/>
                <a:cs typeface="Helvetica Neue"/>
                <a:sym typeface="Helvetica Neue"/>
              </a:rPr>
              <a:t>Leaders must:</a:t>
            </a:r>
            <a:endParaRPr b="0" i="0" sz="1400" u="none" cap="none" strike="noStrike">
              <a:solidFill>
                <a:srgbClr val="000000"/>
              </a:solidFill>
              <a:latin typeface="Arial"/>
              <a:ea typeface="Arial"/>
              <a:cs typeface="Arial"/>
              <a:sym typeface="Arial"/>
            </a:endParaRPr>
          </a:p>
          <a:p>
            <a:pPr indent="-342900" lvl="2" marL="342900" marR="0" rtl="0" algn="l">
              <a:lnSpc>
                <a:spcPct val="100000"/>
              </a:lnSpc>
              <a:spcBef>
                <a:spcPts val="1200"/>
              </a:spcBef>
              <a:spcAft>
                <a:spcPts val="0"/>
              </a:spcAft>
              <a:buClr>
                <a:srgbClr val="000000"/>
              </a:buClr>
              <a:buSzPts val="2500"/>
              <a:buFont typeface="Merriweather Sans"/>
              <a:buChar char="-"/>
            </a:pPr>
            <a:r>
              <a:rPr b="0" i="1" lang="en-US" sz="2500" u="none" cap="none" strike="noStrike">
                <a:solidFill>
                  <a:srgbClr val="000000"/>
                </a:solidFill>
                <a:latin typeface="Helvetica Neue"/>
                <a:ea typeface="Helvetica Neue"/>
                <a:cs typeface="Helvetica Neue"/>
                <a:sym typeface="Helvetica Neue"/>
              </a:rPr>
              <a:t>Communicate a vision and rally others around that vision.</a:t>
            </a:r>
            <a:endParaRPr b="0" i="0" sz="1400" u="none" cap="none" strike="noStrike">
              <a:solidFill>
                <a:srgbClr val="000000"/>
              </a:solidFill>
              <a:latin typeface="Arial"/>
              <a:ea typeface="Arial"/>
              <a:cs typeface="Arial"/>
              <a:sym typeface="Arial"/>
            </a:endParaRPr>
          </a:p>
          <a:p>
            <a:pPr indent="-342900" lvl="2" marL="342900" marR="0" rtl="0" algn="l">
              <a:lnSpc>
                <a:spcPct val="100000"/>
              </a:lnSpc>
              <a:spcBef>
                <a:spcPts val="1200"/>
              </a:spcBef>
              <a:spcAft>
                <a:spcPts val="0"/>
              </a:spcAft>
              <a:buClr>
                <a:srgbClr val="000000"/>
              </a:buClr>
              <a:buSzPts val="2500"/>
              <a:buFont typeface="Merriweather Sans"/>
              <a:buChar char="-"/>
            </a:pPr>
            <a:r>
              <a:rPr b="0" i="1" lang="en-US" sz="2500" u="none" cap="none" strike="noStrike">
                <a:solidFill>
                  <a:srgbClr val="000000"/>
                </a:solidFill>
                <a:latin typeface="Helvetica Neue"/>
                <a:ea typeface="Helvetica Neue"/>
                <a:cs typeface="Helvetica Neue"/>
                <a:sym typeface="Helvetica Neue"/>
              </a:rPr>
              <a:t>Establish corporate values.</a:t>
            </a:r>
            <a:endParaRPr b="0" i="0" sz="1400" u="none" cap="none" strike="noStrike">
              <a:solidFill>
                <a:srgbClr val="000000"/>
              </a:solidFill>
              <a:latin typeface="Arial"/>
              <a:ea typeface="Arial"/>
              <a:cs typeface="Arial"/>
              <a:sym typeface="Arial"/>
            </a:endParaRPr>
          </a:p>
          <a:p>
            <a:pPr indent="-342900" lvl="2" marL="342900" marR="0" rtl="0" algn="l">
              <a:lnSpc>
                <a:spcPct val="100000"/>
              </a:lnSpc>
              <a:spcBef>
                <a:spcPts val="1200"/>
              </a:spcBef>
              <a:spcAft>
                <a:spcPts val="0"/>
              </a:spcAft>
              <a:buClr>
                <a:srgbClr val="000000"/>
              </a:buClr>
              <a:buSzPts val="2500"/>
              <a:buFont typeface="Merriweather Sans"/>
              <a:buChar char="-"/>
            </a:pPr>
            <a:r>
              <a:rPr b="0" i="1" lang="en-US" sz="2500" u="none" cap="none" strike="noStrike">
                <a:solidFill>
                  <a:srgbClr val="000000"/>
                </a:solidFill>
                <a:latin typeface="Helvetica Neue"/>
                <a:ea typeface="Helvetica Neue"/>
                <a:cs typeface="Helvetica Neue"/>
                <a:sym typeface="Helvetica Neue"/>
              </a:rPr>
              <a:t>Promote corporate ethics.</a:t>
            </a:r>
            <a:endParaRPr b="0" i="0" sz="1400" u="none" cap="none" strike="noStrike">
              <a:solidFill>
                <a:srgbClr val="000000"/>
              </a:solidFill>
              <a:latin typeface="Arial"/>
              <a:ea typeface="Arial"/>
              <a:cs typeface="Arial"/>
              <a:sym typeface="Arial"/>
            </a:endParaRPr>
          </a:p>
          <a:p>
            <a:pPr indent="-342900" lvl="2" marL="342900" marR="0" rtl="0" algn="l">
              <a:lnSpc>
                <a:spcPct val="100000"/>
              </a:lnSpc>
              <a:spcBef>
                <a:spcPts val="1200"/>
              </a:spcBef>
              <a:spcAft>
                <a:spcPts val="0"/>
              </a:spcAft>
              <a:buClr>
                <a:srgbClr val="000000"/>
              </a:buClr>
              <a:buSzPts val="2500"/>
              <a:buFont typeface="Merriweather Sans"/>
              <a:buChar char="-"/>
            </a:pPr>
            <a:r>
              <a:rPr b="0" i="1" lang="en-US" sz="2500" u="none" cap="none" strike="noStrike">
                <a:solidFill>
                  <a:srgbClr val="000000"/>
                </a:solidFill>
                <a:latin typeface="Helvetica Neue"/>
                <a:ea typeface="Helvetica Neue"/>
                <a:cs typeface="Helvetica Neue"/>
                <a:sym typeface="Helvetica Neue"/>
              </a:rPr>
              <a:t>Embrace change.</a:t>
            </a:r>
            <a:endParaRPr b="0" i="0" sz="1400" u="none" cap="none" strike="noStrike">
              <a:solidFill>
                <a:srgbClr val="000000"/>
              </a:solidFill>
              <a:latin typeface="Arial"/>
              <a:ea typeface="Arial"/>
              <a:cs typeface="Arial"/>
              <a:sym typeface="Arial"/>
            </a:endParaRPr>
          </a:p>
          <a:p>
            <a:pPr indent="-342900" lvl="2" marL="342900" marR="0" rtl="0" algn="l">
              <a:lnSpc>
                <a:spcPct val="100000"/>
              </a:lnSpc>
              <a:spcBef>
                <a:spcPts val="1200"/>
              </a:spcBef>
              <a:spcAft>
                <a:spcPts val="0"/>
              </a:spcAft>
              <a:buClr>
                <a:srgbClr val="000000"/>
              </a:buClr>
              <a:buSzPts val="2500"/>
              <a:buFont typeface="Merriweather Sans"/>
              <a:buChar char="-"/>
            </a:pPr>
            <a:r>
              <a:rPr b="0" i="1" lang="en-US" sz="2500" u="none" cap="none" strike="noStrike">
                <a:solidFill>
                  <a:srgbClr val="000000"/>
                </a:solidFill>
                <a:latin typeface="Helvetica Neue"/>
                <a:ea typeface="Helvetica Neue"/>
                <a:cs typeface="Helvetica Neue"/>
                <a:sym typeface="Helvetica Neue"/>
              </a:rPr>
              <a:t>Stress accountability and responsibility</a:t>
            </a:r>
            <a:endParaRPr b="0" i="0" sz="1400" u="none" cap="none" strike="noStrike">
              <a:solidFill>
                <a:srgbClr val="000000"/>
              </a:solidFill>
              <a:latin typeface="Arial"/>
              <a:ea typeface="Arial"/>
              <a:cs typeface="Arial"/>
              <a:sym typeface="Arial"/>
            </a:endParaRPr>
          </a:p>
        </p:txBody>
      </p:sp>
      <p:sp>
        <p:nvSpPr>
          <p:cNvPr id="370" name="Google Shape;370;p30"/>
          <p:cNvSpPr txBox="1"/>
          <p:nvPr>
            <p:ph type="ctrTitle"/>
          </p:nvPr>
        </p:nvSpPr>
        <p:spPr>
          <a:xfrm>
            <a:off x="457200" y="5397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LEADERSHIP</a:t>
            </a:r>
            <a:endParaRPr/>
          </a:p>
        </p:txBody>
      </p:sp>
      <p:sp>
        <p:nvSpPr>
          <p:cNvPr id="371" name="Google Shape;371;p30"/>
          <p:cNvSpPr txBox="1"/>
          <p:nvPr/>
        </p:nvSpPr>
        <p:spPr>
          <a:xfrm>
            <a:off x="7772400" y="1295400"/>
            <a:ext cx="685800" cy="3508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Helvetica Neue"/>
              <a:buNone/>
            </a:pPr>
            <a:r>
              <a:rPr b="1" i="0" lang="en-US" sz="1700" u="none" cap="none" strike="noStrike">
                <a:solidFill>
                  <a:schemeClr val="lt1"/>
                </a:solidFill>
                <a:latin typeface="Helvetica Neue"/>
                <a:ea typeface="Helvetica Neue"/>
                <a:cs typeface="Helvetica Neue"/>
                <a:sym typeface="Helvetica Neue"/>
              </a:rPr>
              <a:t>LG5</a:t>
            </a:r>
            <a:endParaRPr b="0" i="0" sz="1400" u="none" cap="none" strike="noStrike">
              <a:solidFill>
                <a:srgbClr val="000000"/>
              </a:solidFill>
              <a:latin typeface="Arial"/>
              <a:ea typeface="Arial"/>
              <a:cs typeface="Arial"/>
              <a:sym typeface="Arial"/>
            </a:endParaRPr>
          </a:p>
        </p:txBody>
      </p:sp>
      <p:sp>
        <p:nvSpPr>
          <p:cNvPr id="372" name="Google Shape;372;p30"/>
          <p:cNvSpPr txBox="1"/>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7-</a:t>
            </a: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a:solidFill>
                <a:srgbClr val="888888"/>
              </a:solidFill>
            </a:endParaRPr>
          </a:p>
        </p:txBody>
      </p:sp>
      <p:sp>
        <p:nvSpPr>
          <p:cNvPr id="379" name="Google Shape;379;p31"/>
          <p:cNvSpPr/>
          <p:nvPr/>
        </p:nvSpPr>
        <p:spPr>
          <a:xfrm>
            <a:off x="457200" y="381000"/>
            <a:ext cx="8153400" cy="6248400"/>
          </a:xfrm>
          <a:prstGeom prst="roundRect">
            <a:avLst>
              <a:gd fmla="val 16667" name="adj"/>
            </a:avLst>
          </a:prstGeom>
          <a:solidFill>
            <a:srgbClr val="FDD8C3"/>
          </a:solidFill>
          <a:ln cap="flat" cmpd="sng" w="9525">
            <a:solidFill>
              <a:srgbClr val="FDD8C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0" name="Google Shape;380;p31"/>
          <p:cNvSpPr/>
          <p:nvPr/>
        </p:nvSpPr>
        <p:spPr>
          <a:xfrm>
            <a:off x="7315200" y="152400"/>
            <a:ext cx="1644650" cy="1600200"/>
          </a:xfrm>
          <a:prstGeom prst="ellipse">
            <a:avLst/>
          </a:prstGeom>
          <a:solidFill>
            <a:srgbClr val="660066"/>
          </a:solidFill>
          <a:ln cap="flat" cmpd="sng" w="9525">
            <a:solidFill>
              <a:srgbClr val="66006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1" name="Google Shape;381;p31"/>
          <p:cNvSpPr txBox="1"/>
          <p:nvPr/>
        </p:nvSpPr>
        <p:spPr>
          <a:xfrm>
            <a:off x="8458200" y="1143000"/>
            <a:ext cx="50165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E59B57"/>
              </a:buClr>
              <a:buSzPts val="4000"/>
              <a:buFont typeface="Calibri"/>
              <a:buNone/>
            </a:pPr>
            <a:r>
              <a:rPr b="1" i="0" lang="en-US" sz="4000" u="none" cap="none" strike="noStrike">
                <a:solidFill>
                  <a:srgbClr val="E59B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382" name="Google Shape;382;p31"/>
          <p:cNvSpPr txBox="1"/>
          <p:nvPr/>
        </p:nvSpPr>
        <p:spPr>
          <a:xfrm>
            <a:off x="7162800" y="0"/>
            <a:ext cx="6096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4000"/>
              <a:buFont typeface="Calibri"/>
              <a:buNone/>
            </a:pPr>
            <a:r>
              <a:rPr b="1" i="0" lang="en-US" sz="4000" u="none" cap="none" strike="noStrike">
                <a:solidFill>
                  <a:srgbClr val="660066"/>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383" name="Google Shape;383;p31"/>
          <p:cNvSpPr txBox="1"/>
          <p:nvPr/>
        </p:nvSpPr>
        <p:spPr>
          <a:xfrm>
            <a:off x="7315200" y="609600"/>
            <a:ext cx="1828800" cy="609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Helvetica Neue"/>
              <a:buNone/>
            </a:pPr>
            <a:r>
              <a:rPr b="0" i="1" lang="en-US" sz="1700" u="none" cap="none" strike="noStrike">
                <a:solidFill>
                  <a:schemeClr val="lt1"/>
                </a:solidFill>
                <a:latin typeface="Helvetica Neue"/>
                <a:ea typeface="Helvetica Neue"/>
                <a:cs typeface="Helvetica Neue"/>
                <a:sym typeface="Helvetica Neue"/>
              </a:rPr>
              <a:t>Leadership Styles</a:t>
            </a:r>
            <a:endParaRPr b="0" i="0" sz="1400" u="none" cap="none" strike="noStrike">
              <a:solidFill>
                <a:srgbClr val="000000"/>
              </a:solidFill>
              <a:latin typeface="Arial"/>
              <a:ea typeface="Arial"/>
              <a:cs typeface="Arial"/>
              <a:sym typeface="Arial"/>
            </a:endParaRPr>
          </a:p>
        </p:txBody>
      </p:sp>
      <p:sp>
        <p:nvSpPr>
          <p:cNvPr id="384" name="Google Shape;384;p31"/>
          <p:cNvSpPr txBox="1"/>
          <p:nvPr/>
        </p:nvSpPr>
        <p:spPr>
          <a:xfrm>
            <a:off x="533400" y="990600"/>
            <a:ext cx="5257800" cy="583247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800"/>
              <a:buFont typeface="Arial"/>
              <a:buNone/>
            </a:pPr>
            <a:r>
              <a:t/>
            </a:r>
            <a:endParaRPr b="0" i="0" sz="800" u="none" cap="none" strike="noStrike">
              <a:solidFill>
                <a:srgbClr val="000000"/>
              </a:solidFill>
              <a:latin typeface="Helvetica Neue"/>
              <a:ea typeface="Helvetica Neue"/>
              <a:cs typeface="Helvetica Neue"/>
              <a:sym typeface="Helvetica Neue"/>
            </a:endParaRPr>
          </a:p>
          <a:p>
            <a:pPr indent="-342900" lvl="2" marL="342900" marR="0" rtl="0" algn="l">
              <a:lnSpc>
                <a:spcPct val="100000"/>
              </a:lnSpc>
              <a:spcBef>
                <a:spcPts val="0"/>
              </a:spcBef>
              <a:spcAft>
                <a:spcPts val="0"/>
              </a:spcAft>
              <a:buClr>
                <a:srgbClr val="000000"/>
              </a:buClr>
              <a:buSzPts val="2700"/>
              <a:buFont typeface="Arial"/>
              <a:buChar char="•"/>
            </a:pPr>
            <a:r>
              <a:rPr b="1" i="0" lang="en-US" sz="2700" u="none" cap="none" strike="noStrike">
                <a:solidFill>
                  <a:srgbClr val="000000"/>
                </a:solidFill>
                <a:latin typeface="Helvetica Neue"/>
                <a:ea typeface="Helvetica Neue"/>
                <a:cs typeface="Helvetica Neue"/>
                <a:sym typeface="Helvetica Neue"/>
              </a:rPr>
              <a:t>Autocratic Leadership -- </a:t>
            </a:r>
            <a:r>
              <a:rPr b="0" i="1" lang="en-US" sz="2500" u="none" cap="none" strike="noStrike">
                <a:solidFill>
                  <a:srgbClr val="000000"/>
                </a:solidFill>
                <a:latin typeface="Helvetica Neue"/>
                <a:ea typeface="Helvetica Neue"/>
                <a:cs typeface="Helvetica Neue"/>
                <a:sym typeface="Helvetica Neue"/>
              </a:rPr>
              <a:t>Making managerial decisions without  consulting others.</a:t>
            </a:r>
            <a:endParaRPr b="0" i="0" sz="1400" u="none" cap="none" strike="noStrike">
              <a:solidFill>
                <a:srgbClr val="000000"/>
              </a:solidFill>
              <a:latin typeface="Arial"/>
              <a:ea typeface="Arial"/>
              <a:cs typeface="Arial"/>
              <a:sym typeface="Arial"/>
            </a:endParaRPr>
          </a:p>
          <a:p>
            <a:pPr indent="-342900" lvl="2" marL="342900" marR="0" rtl="0" algn="l">
              <a:lnSpc>
                <a:spcPct val="100000"/>
              </a:lnSpc>
              <a:spcBef>
                <a:spcPts val="1200"/>
              </a:spcBef>
              <a:spcAft>
                <a:spcPts val="0"/>
              </a:spcAft>
              <a:buClr>
                <a:srgbClr val="000000"/>
              </a:buClr>
              <a:buSzPts val="2700"/>
              <a:buFont typeface="Arial"/>
              <a:buChar char="•"/>
            </a:pPr>
            <a:r>
              <a:rPr b="1" i="0" lang="en-US" sz="2700" u="none" cap="none" strike="noStrike">
                <a:solidFill>
                  <a:srgbClr val="000000"/>
                </a:solidFill>
                <a:latin typeface="Helvetica Neue"/>
                <a:ea typeface="Helvetica Neue"/>
                <a:cs typeface="Helvetica Neue"/>
                <a:sym typeface="Helvetica Neue"/>
              </a:rPr>
              <a:t>Participative or Democratic Leadership -- </a:t>
            </a:r>
            <a:r>
              <a:rPr b="0" i="1" lang="en-US" sz="2500" u="none" cap="none" strike="noStrike">
                <a:solidFill>
                  <a:srgbClr val="000000"/>
                </a:solidFill>
                <a:latin typeface="Helvetica Neue"/>
                <a:ea typeface="Helvetica Neue"/>
                <a:cs typeface="Helvetica Neue"/>
                <a:sym typeface="Helvetica Neue"/>
              </a:rPr>
              <a:t>Managers and employees work together to make decisions.</a:t>
            </a:r>
            <a:r>
              <a:rPr b="0" i="1" lang="en-US" sz="1200" u="none" cap="none" strike="noStrike">
                <a:solidFill>
                  <a:srgbClr val="000000"/>
                </a:solidFill>
                <a:latin typeface="Helvetica Neue"/>
                <a:ea typeface="Helvetica Neue"/>
                <a:cs typeface="Helvetica Neue"/>
                <a:sym typeface="Helvetica Neue"/>
              </a:rPr>
              <a:t> flexibility, good listening skill, empathy</a:t>
            </a:r>
            <a:r>
              <a:rPr b="0" i="1" lang="en-US" sz="2500" u="none" cap="none" strike="noStrike">
                <a:solidFill>
                  <a:srgbClr val="000000"/>
                </a:solidFill>
                <a:latin typeface="Helvetica Neue"/>
                <a:ea typeface="Helvetica Neue"/>
                <a:cs typeface="Helvetica Neue"/>
                <a:sym typeface="Helvetica Neue"/>
              </a:rPr>
              <a:t> </a:t>
            </a:r>
            <a:endParaRPr b="0" i="0" sz="1400" u="none" cap="none" strike="noStrike">
              <a:solidFill>
                <a:srgbClr val="000000"/>
              </a:solidFill>
              <a:latin typeface="Arial"/>
              <a:ea typeface="Arial"/>
              <a:cs typeface="Arial"/>
              <a:sym typeface="Arial"/>
            </a:endParaRPr>
          </a:p>
          <a:p>
            <a:pPr indent="-342900" lvl="2" marL="342900" marR="0" rtl="0" algn="l">
              <a:lnSpc>
                <a:spcPct val="100000"/>
              </a:lnSpc>
              <a:spcBef>
                <a:spcPts val="1200"/>
              </a:spcBef>
              <a:spcAft>
                <a:spcPts val="0"/>
              </a:spcAft>
              <a:buClr>
                <a:srgbClr val="000000"/>
              </a:buClr>
              <a:buSzPts val="2700"/>
              <a:buFont typeface="Arial"/>
              <a:buChar char="•"/>
            </a:pPr>
            <a:r>
              <a:rPr b="1" i="0" lang="en-US" sz="2700" u="none" cap="none" strike="noStrike">
                <a:solidFill>
                  <a:srgbClr val="000000"/>
                </a:solidFill>
                <a:latin typeface="Helvetica Neue"/>
                <a:ea typeface="Helvetica Neue"/>
                <a:cs typeface="Helvetica Neue"/>
                <a:sym typeface="Helvetica Neue"/>
              </a:rPr>
              <a:t>Free-Rein Leadership -- </a:t>
            </a:r>
            <a:r>
              <a:rPr b="0" i="1" lang="en-US" sz="2500" u="none" cap="none" strike="noStrike">
                <a:solidFill>
                  <a:srgbClr val="000000"/>
                </a:solidFill>
                <a:latin typeface="Helvetica Neue"/>
                <a:ea typeface="Helvetica Neue"/>
                <a:cs typeface="Helvetica Neue"/>
                <a:sym typeface="Helvetica Neue"/>
              </a:rPr>
              <a:t>Managers set objectives and employees are free to do whatever is appropriate to accomplish those objectives. </a:t>
            </a:r>
            <a:r>
              <a:rPr b="0" i="1" lang="en-US" sz="1200" u="none" cap="none" strike="noStrike">
                <a:solidFill>
                  <a:srgbClr val="000000"/>
                </a:solidFill>
                <a:latin typeface="Helvetica Neue"/>
                <a:ea typeface="Helvetica Neue"/>
                <a:cs typeface="Helvetica Neue"/>
                <a:sym typeface="Helvetica Neue"/>
              </a:rPr>
              <a:t>Warmth, friendliness &amp; understanding</a:t>
            </a:r>
            <a:endParaRPr b="0" i="0" sz="1400" u="none" cap="none" strike="noStrike">
              <a:solidFill>
                <a:srgbClr val="000000"/>
              </a:solidFill>
              <a:latin typeface="Arial"/>
              <a:ea typeface="Arial"/>
              <a:cs typeface="Arial"/>
              <a:sym typeface="Arial"/>
            </a:endParaRPr>
          </a:p>
        </p:txBody>
      </p:sp>
      <p:sp>
        <p:nvSpPr>
          <p:cNvPr id="385" name="Google Shape;385;p31"/>
          <p:cNvSpPr txBox="1"/>
          <p:nvPr>
            <p:ph type="ctrTitle"/>
          </p:nvPr>
        </p:nvSpPr>
        <p:spPr>
          <a:xfrm>
            <a:off x="457200" y="5397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LEADERSHIP STYLES</a:t>
            </a:r>
            <a:endParaRPr/>
          </a:p>
        </p:txBody>
      </p:sp>
      <p:sp>
        <p:nvSpPr>
          <p:cNvPr id="386" name="Google Shape;386;p31"/>
          <p:cNvSpPr txBox="1"/>
          <p:nvPr/>
        </p:nvSpPr>
        <p:spPr>
          <a:xfrm>
            <a:off x="7772400" y="1295400"/>
            <a:ext cx="685800" cy="3508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Helvetica Neue"/>
              <a:buNone/>
            </a:pPr>
            <a:r>
              <a:rPr b="1" i="0" lang="en-US" sz="1700" u="none" cap="none" strike="noStrike">
                <a:solidFill>
                  <a:schemeClr val="lt1"/>
                </a:solidFill>
                <a:latin typeface="Helvetica Neue"/>
                <a:ea typeface="Helvetica Neue"/>
                <a:cs typeface="Helvetica Neue"/>
                <a:sym typeface="Helvetica Neue"/>
              </a:rPr>
              <a:t>LG5</a:t>
            </a:r>
            <a:endParaRPr b="0" i="0" sz="1400" u="none" cap="none" strike="noStrike">
              <a:solidFill>
                <a:srgbClr val="000000"/>
              </a:solidFill>
              <a:latin typeface="Arial"/>
              <a:ea typeface="Arial"/>
              <a:cs typeface="Arial"/>
              <a:sym typeface="Arial"/>
            </a:endParaRPr>
          </a:p>
        </p:txBody>
      </p:sp>
      <p:pic>
        <p:nvPicPr>
          <p:cNvPr descr="Phil.gif" id="387" name="Google Shape;387;p31"/>
          <p:cNvPicPr preferRelativeResize="0"/>
          <p:nvPr/>
        </p:nvPicPr>
        <p:blipFill rotWithShape="1">
          <a:blip r:embed="rId3">
            <a:alphaModFix/>
          </a:blip>
          <a:srcRect b="0" l="0" r="0" t="0"/>
          <a:stretch/>
        </p:blipFill>
        <p:spPr>
          <a:xfrm>
            <a:off x="5791200" y="1752600"/>
            <a:ext cx="2628900" cy="4241800"/>
          </a:xfrm>
          <a:prstGeom prst="rect">
            <a:avLst/>
          </a:prstGeom>
          <a:noFill/>
          <a:ln>
            <a:noFill/>
          </a:ln>
        </p:spPr>
      </p:pic>
      <p:sp>
        <p:nvSpPr>
          <p:cNvPr id="388" name="Google Shape;388;p31"/>
          <p:cNvSpPr txBox="1"/>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7-</a:t>
            </a: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Controlling</a:t>
            </a:r>
            <a:endParaRPr/>
          </a:p>
        </p:txBody>
      </p:sp>
      <p:sp>
        <p:nvSpPr>
          <p:cNvPr id="394" name="Google Shape;394;p3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The Control function measures performance relative to the planned objectives and standards, rewards people for work well done, and takes corrective action when necessary. Thus the control process (see Figure 7.8) provides the feedback that lets managers and workers adjust to deviations from plans and to changes in the environment that have affected performance. Controlling consist of five steps: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a:solidFill>
                <a:srgbClr val="888888"/>
              </a:solidFill>
            </a:endParaRPr>
          </a:p>
        </p:txBody>
      </p:sp>
      <p:sp>
        <p:nvSpPr>
          <p:cNvPr id="401" name="Google Shape;401;p34"/>
          <p:cNvSpPr/>
          <p:nvPr/>
        </p:nvSpPr>
        <p:spPr>
          <a:xfrm>
            <a:off x="457200" y="381000"/>
            <a:ext cx="8153400" cy="6248400"/>
          </a:xfrm>
          <a:prstGeom prst="roundRect">
            <a:avLst>
              <a:gd fmla="val 16667" name="adj"/>
            </a:avLst>
          </a:prstGeom>
          <a:solidFill>
            <a:srgbClr val="FDD8C3"/>
          </a:solidFill>
          <a:ln cap="flat" cmpd="sng" w="9525">
            <a:solidFill>
              <a:srgbClr val="FDD8C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2" name="Google Shape;402;p34"/>
          <p:cNvSpPr/>
          <p:nvPr/>
        </p:nvSpPr>
        <p:spPr>
          <a:xfrm>
            <a:off x="7315200" y="152400"/>
            <a:ext cx="1644650" cy="1600200"/>
          </a:xfrm>
          <a:prstGeom prst="ellipse">
            <a:avLst/>
          </a:prstGeom>
          <a:solidFill>
            <a:srgbClr val="660066"/>
          </a:solidFill>
          <a:ln cap="flat" cmpd="sng" w="9525">
            <a:solidFill>
              <a:srgbClr val="66006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3" name="Google Shape;403;p34"/>
          <p:cNvSpPr txBox="1"/>
          <p:nvPr/>
        </p:nvSpPr>
        <p:spPr>
          <a:xfrm>
            <a:off x="8458200" y="1143000"/>
            <a:ext cx="50165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E59B57"/>
              </a:buClr>
              <a:buSzPts val="4000"/>
              <a:buFont typeface="Calibri"/>
              <a:buNone/>
            </a:pPr>
            <a:r>
              <a:rPr b="1" i="0" lang="en-US" sz="4000" u="none" cap="none" strike="noStrike">
                <a:solidFill>
                  <a:srgbClr val="E59B57"/>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404" name="Google Shape;404;p34"/>
          <p:cNvSpPr txBox="1"/>
          <p:nvPr/>
        </p:nvSpPr>
        <p:spPr>
          <a:xfrm>
            <a:off x="7162800" y="0"/>
            <a:ext cx="6096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66"/>
              </a:buClr>
              <a:buSzPts val="4000"/>
              <a:buFont typeface="Calibri"/>
              <a:buNone/>
            </a:pPr>
            <a:r>
              <a:rPr b="1" i="0" lang="en-US" sz="4000" u="none" cap="none" strike="noStrike">
                <a:solidFill>
                  <a:srgbClr val="660066"/>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405" name="Google Shape;405;p34"/>
          <p:cNvSpPr txBox="1"/>
          <p:nvPr/>
        </p:nvSpPr>
        <p:spPr>
          <a:xfrm>
            <a:off x="7315200" y="457200"/>
            <a:ext cx="1828800" cy="82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Helvetica Neue"/>
              <a:buNone/>
            </a:pPr>
            <a:r>
              <a:rPr b="0" i="1" lang="en-US" sz="1600" u="none" cap="none" strike="noStrike">
                <a:solidFill>
                  <a:schemeClr val="lt1"/>
                </a:solidFill>
                <a:latin typeface="Helvetica Neue"/>
                <a:ea typeface="Helvetica Neue"/>
                <a:cs typeface="Helvetica Neue"/>
                <a:sym typeface="Helvetica Neue"/>
              </a:rPr>
              <a:t>Controlling: Making Sure it Works</a:t>
            </a:r>
            <a:endParaRPr b="0" i="0" sz="1400" u="none" cap="none" strike="noStrike">
              <a:solidFill>
                <a:srgbClr val="000000"/>
              </a:solidFill>
              <a:latin typeface="Arial"/>
              <a:ea typeface="Arial"/>
              <a:cs typeface="Arial"/>
              <a:sym typeface="Arial"/>
            </a:endParaRPr>
          </a:p>
        </p:txBody>
      </p:sp>
      <p:sp>
        <p:nvSpPr>
          <p:cNvPr id="406" name="Google Shape;406;p34"/>
          <p:cNvSpPr txBox="1"/>
          <p:nvPr>
            <p:ph type="ctrTitle"/>
          </p:nvPr>
        </p:nvSpPr>
        <p:spPr>
          <a:xfrm>
            <a:off x="228600" y="76200"/>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FIVE STEPS of CONTROLLING</a:t>
            </a:r>
            <a:endParaRPr/>
          </a:p>
        </p:txBody>
      </p:sp>
      <p:sp>
        <p:nvSpPr>
          <p:cNvPr id="407" name="Google Shape;407;p34"/>
          <p:cNvSpPr txBox="1"/>
          <p:nvPr/>
        </p:nvSpPr>
        <p:spPr>
          <a:xfrm>
            <a:off x="7772400" y="1295400"/>
            <a:ext cx="685800" cy="3508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Helvetica Neue"/>
              <a:buNone/>
            </a:pPr>
            <a:r>
              <a:rPr b="1" i="0" lang="en-US" sz="1700" u="none" cap="none" strike="noStrike">
                <a:solidFill>
                  <a:schemeClr val="lt1"/>
                </a:solidFill>
                <a:latin typeface="Helvetica Neue"/>
                <a:ea typeface="Helvetica Neue"/>
                <a:cs typeface="Helvetica Neue"/>
                <a:sym typeface="Helvetica Neue"/>
              </a:rPr>
              <a:t>LG6</a:t>
            </a:r>
            <a:endParaRPr b="0" i="0" sz="1400" u="none" cap="none" strike="noStrike">
              <a:solidFill>
                <a:srgbClr val="000000"/>
              </a:solidFill>
              <a:latin typeface="Arial"/>
              <a:ea typeface="Arial"/>
              <a:cs typeface="Arial"/>
              <a:sym typeface="Arial"/>
            </a:endParaRPr>
          </a:p>
        </p:txBody>
      </p:sp>
      <p:pic>
        <p:nvPicPr>
          <p:cNvPr descr="f708.psd" id="408" name="Google Shape;408;p34"/>
          <p:cNvPicPr preferRelativeResize="0"/>
          <p:nvPr/>
        </p:nvPicPr>
        <p:blipFill rotWithShape="1">
          <a:blip r:embed="rId3">
            <a:alphaModFix/>
          </a:blip>
          <a:srcRect b="0" l="0" r="0" t="0"/>
          <a:stretch/>
        </p:blipFill>
        <p:spPr>
          <a:xfrm>
            <a:off x="1019175" y="2254250"/>
            <a:ext cx="7058025" cy="3079750"/>
          </a:xfrm>
          <a:prstGeom prst="rect">
            <a:avLst/>
          </a:prstGeom>
          <a:noFill/>
          <a:ln>
            <a:noFill/>
          </a:ln>
        </p:spPr>
      </p:pic>
      <p:sp>
        <p:nvSpPr>
          <p:cNvPr id="409" name="Google Shape;409;p34"/>
          <p:cNvSpPr txBox="1"/>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7-</a:t>
            </a: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2009-07-01T21:13:11Z</dcterms:created>
  <dc:creator>Molly McHugh</dc:creator>
</cp:coreProperties>
</file>