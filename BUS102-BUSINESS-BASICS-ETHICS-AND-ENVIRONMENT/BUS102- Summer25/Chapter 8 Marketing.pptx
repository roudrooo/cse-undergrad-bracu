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  <p:sldMasterId id="2147483661" r:id="rId2"/>
    <p:sldMasterId id="2147483663" r:id="rId3"/>
    <p:sldMasterId id="2147483695" r:id="rId4"/>
    <p:sldMasterId id="2147483713" r:id="rId5"/>
  </p:sldMasterIdLst>
  <p:notesMasterIdLst>
    <p:notesMasterId r:id="rId46"/>
  </p:notesMasterIdLst>
  <p:sldIdLst>
    <p:sldId id="256" r:id="rId6"/>
    <p:sldId id="260" r:id="rId7"/>
    <p:sldId id="259" r:id="rId8"/>
    <p:sldId id="258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92" r:id="rId21"/>
    <p:sldId id="29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6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4" r:id="rId41"/>
    <p:sldId id="257" r:id="rId42"/>
    <p:sldId id="295" r:id="rId43"/>
    <p:sldId id="296" r:id="rId44"/>
    <p:sldId id="297" r:id="rId4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Helvetica Neue" panose="020B0604020202020204" charset="0"/>
      <p:regular r:id="rId51"/>
      <p:bold r:id="rId52"/>
      <p:italic r:id="rId53"/>
      <p:boldItalic r:id="rId54"/>
    </p:embeddedFont>
    <p:embeddedFont>
      <p:font typeface="Libre Baskerville" panose="020B0604020202020204" charset="0"/>
      <p:regular r:id="rId55"/>
      <p:bold r:id="rId56"/>
      <p:italic r:id="rId57"/>
    </p:embeddedFont>
    <p:embeddedFont>
      <p:font typeface="Libre Franklin" pitchFamily="2" charset="0"/>
      <p:regular r:id="rId58"/>
      <p:bold r:id="rId59"/>
      <p:italic r:id="rId60"/>
      <p:boldItalic r:id="rId61"/>
    </p:embeddedFont>
    <p:embeddedFont>
      <p:font typeface="Poppins" panose="00000500000000000000" pitchFamily="2" charset="0"/>
      <p:regular r:id="rId62"/>
      <p:bold r:id="rId63"/>
      <p:italic r:id="rId64"/>
      <p:boldItalic r:id="rId65"/>
    </p:embeddedFont>
    <p:embeddedFont>
      <p:font typeface="Poppins Light" panose="00000400000000000000" pitchFamily="2" charset="0"/>
      <p:regular r:id="rId66"/>
      <p:bold r:id="rId67"/>
      <p:italic r:id="rId68"/>
      <p:boldItalic r:id="rId69"/>
    </p:embeddedFont>
    <p:embeddedFont>
      <p:font typeface="Roboto Condensed Light" panose="02000000000000000000" pitchFamily="2" charset="0"/>
      <p:regular r:id="rId70"/>
      <p: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  <p:embeddedFont>
      <p:font typeface="Wingdings 3" panose="05040102010807070707" pitchFamily="18" charset="2"/>
      <p:regular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gdhSwhmftV4Xxsg6aZkdmLO9h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55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font" Target="fonts/font22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74" Type="http://schemas.openxmlformats.org/officeDocument/2006/relationships/font" Target="fonts/font28.fntdata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15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font" Target="fonts/font23.fntdata"/><Relationship Id="rId77" Type="http://customschemas.google.com/relationships/presentationmetadata" Target="metadata"/><Relationship Id="rId8" Type="http://schemas.openxmlformats.org/officeDocument/2006/relationships/slide" Target="slides/slide3.xml"/><Relationship Id="rId51" Type="http://schemas.openxmlformats.org/officeDocument/2006/relationships/font" Target="fonts/font5.fntdata"/><Relationship Id="rId72" Type="http://schemas.openxmlformats.org/officeDocument/2006/relationships/font" Target="fonts/font26.fntdata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font" Target="fonts/font21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font" Target="fonts/font24.fntdata"/><Relationship Id="rId75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73" Type="http://schemas.openxmlformats.org/officeDocument/2006/relationships/font" Target="fonts/font27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6" Type="http://schemas.openxmlformats.org/officeDocument/2006/relationships/font" Target="fonts/font30.fntdata"/><Relationship Id="rId7" Type="http://schemas.openxmlformats.org/officeDocument/2006/relationships/slide" Target="slides/slide2.xml"/><Relationship Id="rId71" Type="http://schemas.openxmlformats.org/officeDocument/2006/relationships/font" Target="fonts/font2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1143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956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491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75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8129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271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0" name="Google Shape;12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13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</p:txBody>
      </p:sp>
      <p:sp>
        <p:nvSpPr>
          <p:cNvPr id="140" name="Google Shape;14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643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ee50d69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ee50d69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2fee50d695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5362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5933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7454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Note to Instructor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There are a whole group of products which are targeted to the affluent including hotels like Four Seasons, which is mentioned in the book. Their products offerings are deluxe: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Kids in the City package for $520 a night and, among other things, enjoy a visit in their room from the Ice Cream Man, who arrives with all the fixings to make any concoction they desire.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Benjamin Hotel in New York City provides dog beds in a variety of styles and doggie bathrobes, as well as canine room service and DVDs for dogs.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At the Ritz-Carlton, Lake Las Vegas in Henderson, Nevada, the Love at Lake Las Vegas weekend package includes two nights in the 2,400 square foot presidential suite, helicopter and gondola rides, a champagne-tasting party on a yacht complete with rose petals strewn about and a string trio, use of a luxury car throughout the stay, in-room couples spa treatment, a $5,000 casino line of credit, a $50,000 shopping spree at Neiman Marcus, 14 dozen roses, and a butler-drawn Cristal champagne bath.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8497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340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7620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8593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fee50d69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fee50d695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fee50d695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2967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9" name="Google Shape;3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2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2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500">
                <a:latin typeface="Helvetica Neue"/>
                <a:ea typeface="Helvetica Neue"/>
                <a:cs typeface="Helvetica Neue"/>
                <a:sym typeface="Helvetica Neue"/>
              </a:rPr>
              <a:t>Mass marketing uses little market segmentation.  The goal of relationship marketing is to keep customers happy by offering products that meet exact expectations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5980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1778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5" name="Google Shape;3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210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634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7" name="Google Shape;3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8893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8977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1" name="Google Shape;4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5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02276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78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2943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662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64549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4910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2" name="Google Shape;50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5:  Explain how marketers apply the tools of market segmentation, relationship marketing, and the study of consumer behavior.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106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0" name="Google Shape;52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Learning Goal 6:  Compare the business-to-business market and the consumer market.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Learning - Creates changes in consumer behavior through experiences and information.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Reference groups - Reference points in forming beliefs, attitudes, values or behaviors.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Culture - The set of values, attitudes and ways of doing things passed from generations.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Subculture - Values, attitudes and ways of doing things from belonging to a certain group.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Cognitive dissonance - Psychological conflict that may occur after a purchase.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6082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6" name="Google Shape;15616;g37381071b95_0_3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7" name="Google Shape;15617;g37381071b95_0_3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2" name="Google Shape;15642;g37381071b95_0_7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3" name="Google Shape;15643;g37381071b95_0_7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3" name="Google Shape;15653;g37381071b95_0_13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4" name="Google Shape;15654;g37381071b95_0_13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6" name="Google Shape;15676;g37381071b95_0_24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7" name="Google Shape;15677;g37381071b95_0_24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8" name="Google Shape;15688;g37381071b95_0_30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9" name="Google Shape;15689;g37381071b95_0_30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 rot="5400000">
            <a:off x="4709477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 rot="5400000">
            <a:off x="7699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228600" algn="l"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sz="1600" b="1"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3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4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2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sz="4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marL="914400" lvl="1" indent="-228600" algn="l"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2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marL="914400" lvl="1" indent="-293369" algn="l"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82575" algn="l"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marL="1828800" lvl="3" indent="-274319" algn="l"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8575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>
            <a:spLocks noGrp="1"/>
          </p:cNvSpPr>
          <p:nvPr>
            <p:ph type="pic" idx="2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2305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3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5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246132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19578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30542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66662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43408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19907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78478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48472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984724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933846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222652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41098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109975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b="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b="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b="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body" idx="2"/>
          </p:nvPr>
        </p:nvSpPr>
        <p:spPr>
          <a:xfrm>
            <a:off x="914400" y="1371600"/>
            <a:ext cx="7162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 b="1" i="0">
                <a:solidFill>
                  <a:schemeClr val="dk2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65522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4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2" name="Google Shape;1602;p47"/>
          <p:cNvSpPr txBox="1">
            <a:spLocks noGrp="1"/>
          </p:cNvSpPr>
          <p:nvPr>
            <p:ph type="body" idx="1"/>
          </p:nvPr>
        </p:nvSpPr>
        <p:spPr>
          <a:xfrm>
            <a:off x="720000" y="1519401"/>
            <a:ext cx="77040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603" name="Google Shape;1603;p47"/>
          <p:cNvGrpSpPr/>
          <p:nvPr/>
        </p:nvGrpSpPr>
        <p:grpSpPr>
          <a:xfrm>
            <a:off x="7365150" y="-1530399"/>
            <a:ext cx="3733124" cy="8716005"/>
            <a:chOff x="7212750" y="-1147799"/>
            <a:chExt cx="3733124" cy="6537004"/>
          </a:xfrm>
        </p:grpSpPr>
        <p:pic>
          <p:nvPicPr>
            <p:cNvPr id="1604" name="Google Shape;1604;p4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5" name="Google Shape;1605;p47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606" name="Google Shape;1606;p47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7" name="Google Shape;1607;p47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sp>
          <p:nvSpPr>
            <p:cNvPr id="1608" name="Google Shape;1608;p47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1609" name="Google Shape;1609;p47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610" name="Google Shape;1610;p47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grpSp>
            <p:nvGrpSpPr>
              <p:cNvPr id="1611" name="Google Shape;1611;p47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612" name="Google Shape;1612;p4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  <p:sp>
              <p:nvSpPr>
                <p:cNvPr id="1613" name="Google Shape;1613;p4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</p:grpSp>
          <p:grpSp>
            <p:nvGrpSpPr>
              <p:cNvPr id="1614" name="Google Shape;1614;p47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615" name="Google Shape;1615;p4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  <p:sp>
              <p:nvSpPr>
                <p:cNvPr id="1616" name="Google Shape;1616;p4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</p:grpSp>
          <p:grpSp>
            <p:nvGrpSpPr>
              <p:cNvPr id="1617" name="Google Shape;1617;p47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618" name="Google Shape;1618;p47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  <p:sp>
              <p:nvSpPr>
                <p:cNvPr id="1619" name="Google Shape;1619;p47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</p:grpSp>
        </p:grpSp>
      </p:grpSp>
      <p:grpSp>
        <p:nvGrpSpPr>
          <p:cNvPr id="1620" name="Google Shape;1620;p47"/>
          <p:cNvGrpSpPr/>
          <p:nvPr/>
        </p:nvGrpSpPr>
        <p:grpSpPr>
          <a:xfrm rot="-2529045">
            <a:off x="105742" y="4906947"/>
            <a:ext cx="591691" cy="3013693"/>
            <a:chOff x="-132364" y="1829399"/>
            <a:chExt cx="591677" cy="2260214"/>
          </a:xfrm>
        </p:grpSpPr>
        <p:sp>
          <p:nvSpPr>
            <p:cNvPr id="1621" name="Google Shape;1621;p47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47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3" name="Google Shape;1623;p47"/>
          <p:cNvGrpSpPr/>
          <p:nvPr/>
        </p:nvGrpSpPr>
        <p:grpSpPr>
          <a:xfrm>
            <a:off x="-520148" y="-764219"/>
            <a:ext cx="1502291" cy="3742456"/>
            <a:chOff x="-367748" y="-573164"/>
            <a:chExt cx="1502291" cy="2806842"/>
          </a:xfrm>
        </p:grpSpPr>
        <p:grpSp>
          <p:nvGrpSpPr>
            <p:cNvPr id="1624" name="Google Shape;1624;p47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25" name="Google Shape;1625;p4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6" name="Google Shape;1626;p4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7" name="Google Shape;1627;p4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sp>
          <p:nvSpPr>
            <p:cNvPr id="1628" name="Google Shape;1628;p47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1630" name="Google Shape;1630;p47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631" name="Google Shape;1631;p4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2" name="Google Shape;1632;p4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3" name="Google Shape;1633;p4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0545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Small Titl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276600"/>
            <a:ext cx="857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 txBox="1">
            <a:spLocks noChangeArrowheads="1"/>
          </p:cNvSpPr>
          <p:nvPr userDrawn="1"/>
        </p:nvSpPr>
        <p:spPr bwMode="auto">
          <a:xfrm>
            <a:off x="6248400" y="6477000"/>
            <a:ext cx="1965325" cy="198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algn="ctr" fontAlgn="base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None/>
              <a:defRPr/>
            </a:pPr>
            <a:r>
              <a:rPr lang="en-US" altLang="en-US" sz="1600" b="1" kern="1200">
                <a:solidFill>
                  <a:srgbClr val="C00000"/>
                </a:solidFill>
                <a:cs typeface="Tahoma" panose="020B0604030504040204" pitchFamily="34" charset="0"/>
              </a:rPr>
              <a:t>Chapter 1- slide </a:t>
            </a:r>
            <a:fld id="{12C396FD-F2C4-4395-ABDD-7B72B4BD5051}" type="slidenum">
              <a:rPr lang="en-US" altLang="en-US" sz="1600" b="1" kern="1200" smtClean="0">
                <a:solidFill>
                  <a:srgbClr val="C00000"/>
                </a:solidFill>
                <a:cs typeface="Tahoma" panose="020B0604030504040204" pitchFamily="34" charset="0"/>
              </a:rPr>
              <a:pPr algn="ctr" fontAlgn="base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600" b="1" kern="1200">
              <a:solidFill>
                <a:srgbClr val="C00000"/>
              </a:solidFill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6400800"/>
            <a:ext cx="44958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Copyright © 2009 Pearson Education, Inc.  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Publishing as Prentice Hall</a:t>
            </a:r>
          </a:p>
        </p:txBody>
      </p:sp>
      <p:pic>
        <p:nvPicPr>
          <p:cNvPr id="7" name="Picture 20" descr="Titl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797175"/>
            <a:ext cx="71628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648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92454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9821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>
            <a:lvl1pPr>
              <a:lnSpc>
                <a:spcPts val="3600"/>
              </a:lnSpc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914400" y="1371600"/>
            <a:ext cx="7162800" cy="381000"/>
          </a:xfrm>
        </p:spPr>
        <p:txBody>
          <a:bodyPr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294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2971800" cy="41148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1447800"/>
            <a:ext cx="3200400" cy="381000"/>
          </a:xfrm>
        </p:spPr>
        <p:txBody>
          <a:bodyPr/>
          <a:lstStyle>
            <a:lvl1pPr algn="ctr">
              <a:buNone/>
              <a:defRPr sz="2000" b="0" i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3810000" y="1524000"/>
            <a:ext cx="4343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2130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Small Titl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276600"/>
            <a:ext cx="857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 txBox="1">
            <a:spLocks noChangeArrowheads="1"/>
          </p:cNvSpPr>
          <p:nvPr userDrawn="1"/>
        </p:nvSpPr>
        <p:spPr bwMode="auto">
          <a:xfrm>
            <a:off x="6248400" y="6477000"/>
            <a:ext cx="1965325" cy="198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algn="ctr" fontAlgn="base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None/>
              <a:defRPr/>
            </a:pPr>
            <a:r>
              <a:rPr lang="en-US" altLang="en-US" sz="1600" b="1" kern="1200">
                <a:solidFill>
                  <a:srgbClr val="C00000"/>
                </a:solidFill>
                <a:cs typeface="Tahoma" panose="020B0604030504040204" pitchFamily="34" charset="0"/>
              </a:rPr>
              <a:t>Chapter 1- slide </a:t>
            </a:r>
            <a:fld id="{068D8B4E-7797-4A6C-A262-234D1A46CADE}" type="slidenum">
              <a:rPr lang="en-US" altLang="en-US" sz="1600" b="1" kern="1200" smtClean="0">
                <a:solidFill>
                  <a:srgbClr val="C00000"/>
                </a:solidFill>
                <a:cs typeface="Tahoma" panose="020B0604030504040204" pitchFamily="34" charset="0"/>
              </a:rPr>
              <a:pPr algn="ctr" fontAlgn="base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600" b="1" kern="1200">
              <a:solidFill>
                <a:srgbClr val="C00000"/>
              </a:solidFill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0" y="6400800"/>
            <a:ext cx="44958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Copyright © 2009 Pearson Education, Inc.  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Publishing as Prentice Hall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15751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mall Titl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276600"/>
            <a:ext cx="857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 txBox="1">
            <a:spLocks noChangeArrowheads="1"/>
          </p:cNvSpPr>
          <p:nvPr userDrawn="1"/>
        </p:nvSpPr>
        <p:spPr bwMode="auto">
          <a:xfrm>
            <a:off x="6248400" y="6477000"/>
            <a:ext cx="1965325" cy="198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algn="ctr" fontAlgn="base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None/>
              <a:defRPr/>
            </a:pPr>
            <a:r>
              <a:rPr lang="en-US" altLang="en-US" sz="1600" b="1" kern="1200">
                <a:solidFill>
                  <a:srgbClr val="C00000"/>
                </a:solidFill>
                <a:cs typeface="Tahoma" panose="020B0604030504040204" pitchFamily="34" charset="0"/>
              </a:rPr>
              <a:t>Chapter 1- slide </a:t>
            </a:r>
            <a:fld id="{504A7708-652A-47F8-956C-B92CC7C65EE2}" type="slidenum">
              <a:rPr lang="en-US" altLang="en-US" sz="1600" b="1" kern="1200" smtClean="0">
                <a:solidFill>
                  <a:srgbClr val="C00000"/>
                </a:solidFill>
                <a:cs typeface="Tahoma" panose="020B0604030504040204" pitchFamily="34" charset="0"/>
              </a:rPr>
              <a:pPr algn="ctr" fontAlgn="base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600" b="1" kern="1200">
              <a:solidFill>
                <a:srgbClr val="C00000"/>
              </a:solidFill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0" y="6400800"/>
            <a:ext cx="44958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Copyright © 2009 Pearson Education, Inc.  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Publishing as Prentice Hall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977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914400" y="1447800"/>
            <a:ext cx="7162800" cy="381000"/>
          </a:xfrm>
        </p:spPr>
        <p:txBody>
          <a:bodyPr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4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41198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449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Small Titl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276600"/>
            <a:ext cx="857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 txBox="1">
            <a:spLocks noChangeArrowheads="1"/>
          </p:cNvSpPr>
          <p:nvPr userDrawn="1"/>
        </p:nvSpPr>
        <p:spPr bwMode="auto">
          <a:xfrm>
            <a:off x="6248400" y="6477000"/>
            <a:ext cx="1965325" cy="198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algn="ctr" fontAlgn="base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None/>
              <a:defRPr/>
            </a:pPr>
            <a:r>
              <a:rPr lang="en-US" altLang="en-US" sz="1600" b="1" kern="1200">
                <a:solidFill>
                  <a:srgbClr val="C00000"/>
                </a:solidFill>
                <a:cs typeface="Tahoma" panose="020B0604030504040204" pitchFamily="34" charset="0"/>
              </a:rPr>
              <a:t>Chapter 1- slide </a:t>
            </a:r>
            <a:fld id="{4332D633-50E9-433C-80AB-829200BBE5D8}" type="slidenum">
              <a:rPr lang="en-US" altLang="en-US" sz="1600" b="1" kern="1200" smtClean="0">
                <a:solidFill>
                  <a:srgbClr val="C00000"/>
                </a:solidFill>
                <a:cs typeface="Tahoma" panose="020B0604030504040204" pitchFamily="34" charset="0"/>
              </a:rPr>
              <a:pPr algn="ctr" fontAlgn="base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600" b="1" kern="1200">
              <a:solidFill>
                <a:srgbClr val="C00000"/>
              </a:solidFill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0" y="6400800"/>
            <a:ext cx="44958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Copyright © 2009 Pearson Education, Inc.  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Publishing as Prentice Hall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1447800" y="1371600"/>
            <a:ext cx="6172200" cy="533400"/>
          </a:xfrm>
        </p:spPr>
        <p:txBody>
          <a:bodyPr/>
          <a:lstStyle>
            <a:lvl1pPr algn="ctr"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6096000" y="632460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2484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fld id="{B286E5C0-D71C-47F8-B5D8-36025DBD985A}" type="slidenum">
              <a:rPr lang="en-US" altLang="en-US" sz="1800" kern="120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65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‹#›</a:t>
            </a:fld>
            <a:endParaRPr lang="en-US" altLang="en-US" sz="1800" kern="1200">
              <a:solidFill>
                <a:prstClr val="black"/>
              </a:solidFill>
              <a:latin typeface="Arial" panose="020B0604020202020204" pitchFamily="34" charset="0"/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683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fld id="{EF851E2F-2CF8-49D6-8992-55B2F3876FCA}" type="datetimeFigureOut">
              <a:rPr lang="en-US" sz="1800" kern="1200">
                <a:solidFill>
                  <a:prstClr val="black"/>
                </a:solidFill>
                <a:ea typeface="ヒラギノ角ゴ Pro W3" pitchFamily="-65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8/10/2025</a:t>
            </a:fld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sz="1800" kern="1200">
              <a:solidFill>
                <a:prstClr val="black"/>
              </a:solidFill>
              <a:ea typeface="ヒラギノ角ゴ Pro W3" pitchFamily="-65" charset="-128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fld id="{C4CC6049-1817-4A83-A82F-9C317B312A88}" type="slidenum">
              <a:rPr lang="en-US" sz="1800" kern="120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65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‹#›</a:t>
            </a:fld>
            <a:endParaRPr lang="en-US" sz="1800" kern="1200">
              <a:solidFill>
                <a:prstClr val="black"/>
              </a:solidFill>
              <a:latin typeface="Arial" panose="020B0604020202020204" pitchFamily="34" charset="0"/>
              <a:ea typeface="ヒラギノ角ゴ Pro W3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552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>
            <a:spLocks noGrp="1"/>
          </p:cNvSpPr>
          <p:nvPr>
            <p:ph type="sldNum" idx="12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 rot="10800000" flipH="1">
            <a:off x="68262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68262" y="4649787"/>
            <a:ext cx="9007475" cy="46037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68262" y="4773612"/>
            <a:ext cx="9007475" cy="47625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814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36550" algn="l" rtl="0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55600" algn="l" rtl="0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3"/>
          <p:cNvSpPr>
            <a:spLocks noGrp="1"/>
          </p:cNvSpPr>
          <p:nvPr>
            <p:ph type="sldNum" idx="12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sz="1400" b="0" i="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22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2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12" descr="Small Title 1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276600"/>
            <a:ext cx="857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 txBox="1">
            <a:spLocks noChangeArrowheads="1"/>
          </p:cNvSpPr>
          <p:nvPr userDrawn="1"/>
        </p:nvSpPr>
        <p:spPr bwMode="auto">
          <a:xfrm>
            <a:off x="6248400" y="6477000"/>
            <a:ext cx="1965325" cy="198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algn="ctr" fontAlgn="base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None/>
              <a:defRPr/>
            </a:pPr>
            <a:r>
              <a:rPr lang="en-US" altLang="en-US" sz="1600" b="1" kern="1200">
                <a:solidFill>
                  <a:srgbClr val="C00000"/>
                </a:solidFill>
                <a:cs typeface="Tahoma" panose="020B0604030504040204" pitchFamily="34" charset="0"/>
              </a:rPr>
              <a:t>Chapter 1- slide </a:t>
            </a:r>
            <a:fld id="{CC196E08-B1A7-4DFD-AAD2-4651E8B4A894}" type="slidenum">
              <a:rPr lang="en-US" altLang="en-US" sz="1600" b="1" kern="1200" smtClean="0">
                <a:solidFill>
                  <a:srgbClr val="C00000"/>
                </a:solidFill>
                <a:cs typeface="Tahoma" panose="020B0604030504040204" pitchFamily="34" charset="0"/>
              </a:rPr>
              <a:pPr algn="ctr" fontAlgn="base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600" b="1" kern="1200">
              <a:solidFill>
                <a:srgbClr val="C00000"/>
              </a:solidFill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0" y="6400800"/>
            <a:ext cx="44958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65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Copyright © 2010 Pearson Education, Inc.  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400" kern="1200">
                <a:solidFill>
                  <a:srgbClr val="A6A6A6"/>
                </a:solidFill>
              </a:rPr>
              <a:t>Publishing as Prentice Hall</a:t>
            </a:r>
          </a:p>
        </p:txBody>
      </p:sp>
    </p:spTree>
    <p:extLst>
      <p:ext uri="{BB962C8B-B14F-4D97-AF65-F5344CB8AC3E}">
        <p14:creationId xmlns:p14="http://schemas.microsoft.com/office/powerpoint/2010/main" val="118965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ヒラギノ角ゴ Pro W3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 W3" pitchFamily="1" charset="-128"/>
          <a:cs typeface="ヒラギノ角ゴ Pro W3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 W3" pitchFamily="1" charset="-128"/>
          <a:cs typeface="ヒラギノ角ゴ Pro W3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 W3" pitchFamily="1" charset="-128"/>
          <a:cs typeface="ヒラギノ角ゴ Pro W3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 W3" pitchFamily="1" charset="-128"/>
          <a:cs typeface="ヒラギノ角ゴ Pro W3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pitchFamily="1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pitchFamily="1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pitchFamily="1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ヒラギノ角ゴ Pro W3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ヒラギノ角ゴ Pro W3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ヒラギノ角ゴ Pro W3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ヒラギノ角ゴ Pro W3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ヒラギノ角ゴ Pro W3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9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marketbusinessnews.com/financial-glossary/one-to-one-marketing-definition-meaning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5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11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8EA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10"/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685800" y="381000"/>
            <a:ext cx="7924800" cy="55626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7162800" y="152400"/>
            <a:ext cx="1797050" cy="1698625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53" name="Google Shape;153;p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54" name="Google Shape;154;p1"/>
          <p:cNvSpPr txBox="1"/>
          <p:nvPr/>
        </p:nvSpPr>
        <p:spPr>
          <a:xfrm>
            <a:off x="7250112" y="481012"/>
            <a:ext cx="16446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lang="en-US" sz="1800" b="0" i="0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Thirteen</a:t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685800" y="708025"/>
            <a:ext cx="4267200" cy="5464175"/>
          </a:xfrm>
          <a:prstGeom prst="roundRect">
            <a:avLst>
              <a:gd name="adj" fmla="val 16667"/>
            </a:avLst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" descr="Cover.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041400"/>
            <a:ext cx="3657600" cy="47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 txBox="1"/>
          <p:nvPr/>
        </p:nvSpPr>
        <p:spPr>
          <a:xfrm>
            <a:off x="5334000" y="1905015"/>
            <a:ext cx="29718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None/>
            </a:pPr>
            <a:r>
              <a:rPr lang="en-US" sz="3500" b="0" i="0" u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Marketing: Helping Buyers Buy</a:t>
            </a:r>
            <a:endParaRPr dirty="0"/>
          </a:p>
        </p:txBody>
      </p:sp>
      <p:sp>
        <p:nvSpPr>
          <p:cNvPr id="158" name="Google Shape;158;p1"/>
          <p:cNvSpPr txBox="1"/>
          <p:nvPr/>
        </p:nvSpPr>
        <p:spPr>
          <a:xfrm>
            <a:off x="3657600" y="661035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</a:t>
            </a:r>
            <a:r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2010 by The McGraw-Hill Companies, Inc. All rights reserved.</a:t>
            </a:r>
            <a:endParaRPr/>
          </a:p>
        </p:txBody>
      </p:sp>
      <p:sp>
        <p:nvSpPr>
          <p:cNvPr id="159" name="Google Shape;159;p1"/>
          <p:cNvSpPr txBox="1"/>
          <p:nvPr/>
        </p:nvSpPr>
        <p:spPr>
          <a:xfrm>
            <a:off x="76200" y="661035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McGraw-Hill/Irwin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4000" b="0" i="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Learning Outcomes</a:t>
            </a:r>
            <a:endParaRPr/>
          </a:p>
        </p:txBody>
      </p:sp>
      <p:sp>
        <p:nvSpPr>
          <p:cNvPr id="194" name="Google Shape;194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By the end of this session, students will be able to: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Define what is marketing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Evolution of marketing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differentiate consumer and business market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explain how the marketers apply the tools of market segmentation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compare the business-to-business market and the consumer market </a:t>
            </a:r>
            <a:endParaRPr dirty="0"/>
          </a:p>
          <a:p>
            <a:pPr marL="273050" marR="0" lvl="0" indent="-13271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endParaRPr sz="2600" b="0" i="0" u="none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8" name="Google Shape;188;p4" descr="C:\Users\tania.akter\Pictures\index f.jpg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6340" y="1930400"/>
            <a:ext cx="6074229" cy="421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8EA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>
            <a:spLocks noGrp="1"/>
          </p:cNvSpPr>
          <p:nvPr>
            <p:ph type="ctrTitle"/>
          </p:nvPr>
        </p:nvSpPr>
        <p:spPr>
          <a:xfrm>
            <a:off x="228600" y="1301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WHAT’S MARKETING?</a:t>
            </a:r>
            <a:endParaRPr/>
          </a:p>
        </p:txBody>
      </p:sp>
      <p:sp>
        <p:nvSpPr>
          <p:cNvPr id="170" name="Google Shape;170;p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10"/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7315200" y="511175"/>
            <a:ext cx="182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Marketing?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533400" y="1774825"/>
            <a:ext cx="7924800" cy="170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34962" marR="0" lvl="0" indent="-3159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endParaRPr sz="3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34962" marR="0" lvl="0" indent="-3349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Marketing -- </a:t>
            </a:r>
            <a:r>
              <a:rPr lang="en-US" sz="2500" b="0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activity, set of institutions and processes for creating, communicating, delivering, and exchanging offerings with value for customers, clients, partners and society at large.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LG1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pic>
        <p:nvPicPr>
          <p:cNvPr id="180" name="Google Shape;180;p3" descr="C:\Users\tania.akter\Pictures\images 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4191000"/>
            <a:ext cx="4049712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" descr="C:\Users\tania.akter\Pictures\index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3890962"/>
            <a:ext cx="25146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" descr="C:\Users\tania.akter\Pictures\mkt5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3505200"/>
            <a:ext cx="205740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386442" y="141513"/>
            <a:ext cx="7826830" cy="112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Evolution of Marketing</a:t>
            </a:r>
            <a:endParaRPr dirty="0"/>
          </a:p>
        </p:txBody>
      </p:sp>
      <p:sp>
        <p:nvSpPr>
          <p:cNvPr id="200" name="Google Shape;200;p6"/>
          <p:cNvSpPr txBox="1">
            <a:spLocks noGrp="1"/>
          </p:cNvSpPr>
          <p:nvPr>
            <p:ph idx="1"/>
          </p:nvPr>
        </p:nvSpPr>
        <p:spPr>
          <a:xfrm>
            <a:off x="413657" y="1480457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1800" b="1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Production Era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more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production and less expensive distribution and storage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1800" b="1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Product Era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-This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 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era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 brought about marketing beliefs that consumers will favor those 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products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 that offer the most quality, performance or innovative features. Marketing managers focus on making superior </a:t>
            </a:r>
            <a:r>
              <a:rPr lang="en-US" sz="1800" b="1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products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 and improving them over time.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1800" b="1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Selling Era</a:t>
            </a:r>
            <a:r>
              <a:rPr lang="en-US" sz="1800" b="0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-selling and advertising to persuade  consumers 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1800" b="1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Marketing Concept Era-</a:t>
            </a:r>
            <a:r>
              <a:rPr lang="en-US" sz="1800" b="0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orientation, service orientation, profit orientation</a:t>
            </a:r>
            <a:endParaRPr dirty="0"/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1800" b="1" i="1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Societal Marketing Era </a:t>
            </a:r>
            <a:r>
              <a:rPr lang="en-US" sz="18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emphasizes on social responsibilities and suggests that to sustain long-term success, the company should develop a marketing strategy to provide value to the customers to maintain and improve both the customers and society’s well being better than the competitors</a:t>
            </a:r>
            <a:r>
              <a:rPr lang="en-US" sz="2600" b="0" i="0" u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Two different Markets</a:t>
            </a:r>
            <a:endParaRPr sz="3200"/>
          </a:p>
        </p:txBody>
      </p:sp>
      <p:sp>
        <p:nvSpPr>
          <p:cNvPr id="125" name="Google Shape;125;p2"/>
          <p:cNvSpPr/>
          <p:nvPr/>
        </p:nvSpPr>
        <p:spPr>
          <a:xfrm>
            <a:off x="7162800" y="152400"/>
            <a:ext cx="1797050" cy="1698625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7250113" y="481013"/>
            <a:ext cx="16446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Thirteen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3657600" y="661035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2010 by The McGraw-Hill Companies, Inc. All rights reserved.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76200" y="661035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McGraw-Hill/Irwin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914400" y="1981200"/>
            <a:ext cx="7162800" cy="409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market consists of people with unsatisfied wants &amp; needs who have the resources and the willingness to buy. 2 major markets in business are:</a:t>
            </a:r>
            <a:endParaRPr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Consumer Market --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individuals or households that want goods and services for personal use and have the resources to buy them.</a:t>
            </a:r>
            <a:endParaRPr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Business-to-Business (B2B) --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Individuals and organizations that buy goods and services to use in production or to sell, rent or supply to others.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2" name="Google Shape;13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136" name="Google Shape;136;p2" descr="Image result for brac business school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113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7315200" y="527050"/>
            <a:ext cx="164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Consumer Market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33400" y="1931988"/>
            <a:ext cx="807720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size and diversity of the consumer market forces marketers to decide which groups they want to serve.</a:t>
            </a:r>
            <a:endParaRPr sz="2000" dirty="0"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Segmentation --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Divides the total market into groups with similar characteristics.</a:t>
            </a:r>
            <a:endParaRPr sz="2000" dirty="0"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Marketing --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Selecting which segments an organization can serve profitably.</a:t>
            </a:r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Differentiation and Positioning- </a:t>
            </a:r>
            <a:r>
              <a:rPr lang="en-US" sz="2000" i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creating a distinct space in consumer’s mind </a:t>
            </a:r>
            <a:endParaRPr sz="2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3"/>
          <p:cNvSpPr txBox="1">
            <a:spLocks noGrp="1"/>
          </p:cNvSpPr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MARKETING to CONSUMERS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156" name="Google Shape;156;p3" descr="Image result for brac business school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55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ee50d6959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Segmentation</a:t>
            </a:r>
            <a:endParaRPr/>
          </a:p>
        </p:txBody>
      </p:sp>
      <p:sp>
        <p:nvSpPr>
          <p:cNvPr id="163" name="Google Shape;163;g2fee50d6959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dirty="0"/>
              <a:t>-Geographic</a:t>
            </a:r>
            <a:endParaRPr sz="2400" dirty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dirty="0"/>
              <a:t>-Demographic</a:t>
            </a:r>
            <a:endParaRPr sz="2400" dirty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dirty="0"/>
              <a:t>-Behavioral (benefit, occasion and volume)</a:t>
            </a:r>
            <a:endParaRPr sz="2400" dirty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dirty="0"/>
              <a:t>-Psychographic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2177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Market Segmentation</a:t>
            </a:r>
            <a:endParaRPr dirty="0"/>
          </a:p>
        </p:txBody>
      </p:sp>
      <p:sp>
        <p:nvSpPr>
          <p:cNvPr id="170" name="Google Shape;170;p4"/>
          <p:cNvSpPr txBox="1">
            <a:spLocks noGrp="1"/>
          </p:cNvSpPr>
          <p:nvPr>
            <p:ph type="body" idx="1"/>
          </p:nvPr>
        </p:nvSpPr>
        <p:spPr>
          <a:xfrm>
            <a:off x="304800" y="2024063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Geographic segmentation </a:t>
            </a:r>
            <a:r>
              <a:rPr lang="en-US" dirty="0"/>
              <a:t>divides the market into different geographical units such as nations, regions, states, counties, or cities</a:t>
            </a:r>
            <a:endParaRPr b="1" dirty="0"/>
          </a:p>
        </p:txBody>
      </p:sp>
      <p:sp>
        <p:nvSpPr>
          <p:cNvPr id="171" name="Google Shape;171;p4"/>
          <p:cNvSpPr txBox="1">
            <a:spLocks noGrp="1"/>
          </p:cNvSpPr>
          <p:nvPr>
            <p:ph type="body" idx="2"/>
          </p:nvPr>
        </p:nvSpPr>
        <p:spPr>
          <a:xfrm>
            <a:off x="914400" y="1371600"/>
            <a:ext cx="7162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/>
              <a:t>Segmenting Consumer Markets</a:t>
            </a:r>
            <a:endParaRPr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pic>
        <p:nvPicPr>
          <p:cNvPr id="172" name="Google Shape;172;p4" descr="C:\Users\rahma.akhter\Desktop\pics\335936-1565-5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200" y="3810000"/>
            <a:ext cx="2476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177" name="Google Shape;177;p4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317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 Segmentation</a:t>
            </a:r>
            <a:endParaRPr/>
          </a:p>
        </p:txBody>
      </p:sp>
      <p:sp>
        <p:nvSpPr>
          <p:cNvPr id="184" name="Google Shape;184;p5"/>
          <p:cNvSpPr txBox="1">
            <a:spLocks noGrp="1"/>
          </p:cNvSpPr>
          <p:nvPr>
            <p:ph type="body" idx="2"/>
          </p:nvPr>
        </p:nvSpPr>
        <p:spPr>
          <a:xfrm>
            <a:off x="914400" y="990600"/>
            <a:ext cx="7162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/>
              <a:t>Segmenting Consumer Markets</a:t>
            </a:r>
            <a:endParaRPr/>
          </a:p>
        </p:txBody>
      </p:sp>
      <p:pic>
        <p:nvPicPr>
          <p:cNvPr id="185" name="Google Shape;185;p5" descr="C:\Users\rahma.akhter\Desktop\pics\2-market-segmentation-8-72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621971"/>
            <a:ext cx="6934200" cy="48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190" name="Google Shape;190;p5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13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>
            <a:spLocks noGrp="1"/>
          </p:cNvSpPr>
          <p:nvPr>
            <p:ph type="title"/>
          </p:nvPr>
        </p:nvSpPr>
        <p:spPr>
          <a:xfrm>
            <a:off x="0" y="4048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Market Segmentation</a:t>
            </a:r>
            <a:endParaRPr dirty="0"/>
          </a:p>
        </p:txBody>
      </p:sp>
      <p:sp>
        <p:nvSpPr>
          <p:cNvPr id="197" name="Google Shape;197;p6"/>
          <p:cNvSpPr txBox="1">
            <a:spLocks noGrp="1"/>
          </p:cNvSpPr>
          <p:nvPr>
            <p:ph type="body" idx="1"/>
          </p:nvPr>
        </p:nvSpPr>
        <p:spPr>
          <a:xfrm>
            <a:off x="337344" y="1981200"/>
            <a:ext cx="3124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000" b="1" dirty="0"/>
              <a:t>Psychographic segmentation </a:t>
            </a:r>
            <a:r>
              <a:rPr lang="en-US" sz="2000" dirty="0"/>
              <a:t>divides buyers into different groups based on social class, lifestyle, or personality traits</a:t>
            </a:r>
            <a:endParaRPr sz="2000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198" name="Google Shape;198;p6"/>
          <p:cNvSpPr txBox="1">
            <a:spLocks noGrp="1"/>
          </p:cNvSpPr>
          <p:nvPr>
            <p:ph type="body" idx="2"/>
          </p:nvPr>
        </p:nvSpPr>
        <p:spPr>
          <a:xfrm>
            <a:off x="533400" y="1201340"/>
            <a:ext cx="7162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dirty="0"/>
              <a:t>Segmenting Consumer Markets</a:t>
            </a:r>
            <a:endParaRPr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 dirty="0"/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0" y="2128838"/>
            <a:ext cx="50927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204" name="Google Shape;204;p6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378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4025" y="201613"/>
            <a:ext cx="8018463" cy="6215062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609599" y="1889125"/>
            <a:ext cx="277177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 Segmentation --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Dividing the market according to product benefits the customer prefers.</a:t>
            </a:r>
            <a:endParaRPr sz="2000" dirty="0"/>
          </a:p>
        </p:txBody>
      </p:sp>
      <p:sp>
        <p:nvSpPr>
          <p:cNvPr id="215" name="Google Shape;215;p7"/>
          <p:cNvSpPr txBox="1">
            <a:spLocks noGrp="1"/>
          </p:cNvSpPr>
          <p:nvPr>
            <p:ph type="ctrTitle"/>
          </p:nvPr>
        </p:nvSpPr>
        <p:spPr>
          <a:xfrm>
            <a:off x="152400" y="4349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SEGMENTING the CONSUMER MARKET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(continued)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3196431"/>
            <a:ext cx="2217738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 descr="Head &amp; Shoulders Classic Clean 2 In 1 Dandruff Shampoo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1525" y="1108075"/>
            <a:ext cx="2228850" cy="26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224" name="Google Shape;224;p7" descr="Image result for brac business school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437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52413" y="411163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7346950" y="417513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Segmenting the Consumer Market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657225" y="1493838"/>
            <a:ext cx="3781425" cy="483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1" indent="0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Volume (Usage) Segmentation -- </a:t>
            </a:r>
            <a:r>
              <a:rPr lang="en-US" sz="25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Dividing the market by the volume of product use.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2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status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Usage rate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Loyalty status</a:t>
            </a:r>
            <a:endParaRPr/>
          </a:p>
          <a:p>
            <a:pPr marL="341313" marR="0" lvl="1" indent="-1825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9"/>
          <p:cNvSpPr txBox="1">
            <a:spLocks noGrp="1"/>
          </p:cNvSpPr>
          <p:nvPr>
            <p:ph type="ctrTitle"/>
          </p:nvPr>
        </p:nvSpPr>
        <p:spPr>
          <a:xfrm>
            <a:off x="152400" y="4349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SEGMENTING the CONSUMER MARKET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(continued)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9" descr="British Airways Executive Club Review | Frequent-Flyers-Programs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5475" y="2260600"/>
            <a:ext cx="3783013" cy="110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1475" y="3436938"/>
            <a:ext cx="42481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266" name="Google Shape;266;p9" descr="Image result for brac business school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918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>
            <a:spLocks noGrp="1"/>
          </p:cNvSpPr>
          <p:nvPr>
            <p:ph type="sldNum" idx="12"/>
          </p:nvPr>
        </p:nvSpPr>
        <p:spPr>
          <a:xfrm>
            <a:off x="8556625" y="5434013"/>
            <a:ext cx="4349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10"/>
          <p:cNvGrpSpPr/>
          <p:nvPr/>
        </p:nvGrpSpPr>
        <p:grpSpPr>
          <a:xfrm>
            <a:off x="4362450" y="1911350"/>
            <a:ext cx="3338513" cy="3340100"/>
            <a:chOff x="2902488" y="902232"/>
            <a:chExt cx="3339000" cy="3339000"/>
          </a:xfrm>
        </p:grpSpPr>
        <p:sp>
          <p:nvSpPr>
            <p:cNvPr id="273" name="Google Shape;273;p10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rgbClr val="E8E8E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3123183" y="1124409"/>
              <a:ext cx="2897610" cy="2894646"/>
            </a:xfrm>
            <a:prstGeom prst="pie">
              <a:avLst>
                <a:gd name="adj1" fmla="val 1811602"/>
                <a:gd name="adj2" fmla="val 16214886"/>
              </a:avLst>
            </a:prstGeom>
            <a:solidFill>
              <a:srgbClr val="000000">
                <a:alpha val="627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pic>
        <p:nvPicPr>
          <p:cNvPr id="275" name="Google Shape;27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3863" y="163513"/>
            <a:ext cx="2266950" cy="15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336550" y="1471613"/>
            <a:ext cx="8251825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the segmentation variable being used for the products:  </a:t>
            </a:r>
            <a:endParaRPr/>
          </a:p>
        </p:txBody>
      </p:sp>
      <p:pic>
        <p:nvPicPr>
          <p:cNvPr id="277" name="Google Shape;27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9763" y="6045200"/>
            <a:ext cx="709612" cy="649288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279" name="Google Shape;279;p10" descr="Image result for brac business school 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4125" y="6045200"/>
            <a:ext cx="698500" cy="64928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/>
          <p:nvPr/>
        </p:nvSpPr>
        <p:spPr>
          <a:xfrm>
            <a:off x="1019175" y="574675"/>
            <a:ext cx="5718175" cy="68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MINI ACTIVITY 1</a:t>
            </a:r>
            <a:endParaRPr/>
          </a:p>
        </p:txBody>
      </p:sp>
      <p:pic>
        <p:nvPicPr>
          <p:cNvPr id="281" name="Google Shape;281;p10" descr="Image result for lux soap bangladesh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" y="3148013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 descr="Horlicks Junior stage-1 1-3 Years 500 gm | E-valy Limited - Online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1125" y="3140075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0" descr="January-March: GP posts 29.6% profit growth | Dhaka Tribun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49613" y="350202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0727238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ee50d6959_0_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target marketing</a:t>
            </a:r>
            <a:endParaRPr/>
          </a:p>
        </p:txBody>
      </p:sp>
      <p:sp>
        <p:nvSpPr>
          <p:cNvPr id="291" name="Google Shape;291;g2fee50d6959_0_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 sz="2400" dirty="0"/>
              <a:t>Mass</a:t>
            </a:r>
            <a:endParaRPr sz="24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400" dirty="0"/>
              <a:t>Differentiated</a:t>
            </a:r>
            <a:endParaRPr sz="24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400" dirty="0"/>
              <a:t>Niche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400" dirty="0"/>
              <a:t>One to one (local and individual marketing)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93569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04800" y="192088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87" name="Google Shape;387;p15"/>
          <p:cNvSpPr txBox="1"/>
          <p:nvPr/>
        </p:nvSpPr>
        <p:spPr>
          <a:xfrm>
            <a:off x="7346950" y="417513"/>
            <a:ext cx="164465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Toward Relationship Marketing </a:t>
            </a:r>
            <a:endParaRPr/>
          </a:p>
        </p:txBody>
      </p:sp>
      <p:sp>
        <p:nvSpPr>
          <p:cNvPr id="388" name="Google Shape;388;p15"/>
          <p:cNvSpPr txBox="1"/>
          <p:nvPr/>
        </p:nvSpPr>
        <p:spPr>
          <a:xfrm>
            <a:off x="533400" y="2098675"/>
            <a:ext cx="3048000" cy="284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Mass Marketing -- </a:t>
            </a:r>
            <a:r>
              <a:rPr lang="en-US" sz="25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Developing products and promotions to please large groups of people.</a:t>
            </a:r>
            <a:endParaRPr/>
          </a:p>
        </p:txBody>
      </p:sp>
      <p:sp>
        <p:nvSpPr>
          <p:cNvPr id="389" name="Google Shape;389;p15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MASS MARKETING </a:t>
            </a:r>
            <a:endParaRPr/>
          </a:p>
        </p:txBody>
      </p:sp>
      <p:sp>
        <p:nvSpPr>
          <p:cNvPr id="390" name="Google Shape;390;p15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15" descr="Colgate Toothpaste Strong Teeth Dental Cream (150 g) - SquiZ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9938" y="222726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5" descr="Image result for nescafe coffe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4525" y="3744913"/>
            <a:ext cx="2016125" cy="2401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398" name="Google Shape;398;p15" descr="Image result for brac business school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532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b="1" dirty="0"/>
              <a:t>Differentiated marketing </a:t>
            </a:r>
            <a:r>
              <a:rPr lang="en-US" altLang="en-US" dirty="0"/>
              <a:t>targets several different market segments and designs tailored marketing campaigns for each</a:t>
            </a:r>
          </a:p>
          <a:p>
            <a:r>
              <a:rPr lang="en-US" altLang="en-US" dirty="0"/>
              <a:t>Goal is to achieve higher sales and stronger position</a:t>
            </a:r>
          </a:p>
          <a:p>
            <a:r>
              <a:rPr lang="en-US" altLang="en-US" dirty="0"/>
              <a:t>More expensive than undifferentiated marketing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9" y="3892638"/>
            <a:ext cx="3355564" cy="28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9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99" name="Google Shape;299;p1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7346950" y="417513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Reaching Smaller Market Segments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533400" y="2024063"/>
            <a:ext cx="80772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Niche Marketing -- </a:t>
            </a:r>
            <a:r>
              <a:rPr lang="en-US" sz="25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Identifies small but profitable market segments and designs or finds products for them.</a:t>
            </a:r>
            <a:endParaRPr/>
          </a:p>
        </p:txBody>
      </p:sp>
      <p:sp>
        <p:nvSpPr>
          <p:cNvPr id="302" name="Google Shape;302;p11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MARKETING to 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SMALL SEGMENTS</a:t>
            </a:r>
            <a:endParaRPr/>
          </a:p>
        </p:txBody>
      </p:sp>
      <p:sp>
        <p:nvSpPr>
          <p:cNvPr id="303" name="Google Shape;303;p11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11" descr="Krack Heel Repair Care Cream :: Cleansers &amp; Creams :: Health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613" y="3427413"/>
            <a:ext cx="26987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1" descr="Sensodyne® Repair&amp;Protect toothpaste 75ml 11% off! | PromoFarm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8813" y="3452813"/>
            <a:ext cx="2700337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1" descr="Nescafe Gold Jar - Chaldal 🥚Online Grocery Shopping and Delivery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5525" y="445452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312" name="Google Shape;312;p11" descr="Image result for brac business school logo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755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19100" y="307975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22" name="Google Shape;322;p12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23" name="Google Shape;323;p12"/>
          <p:cNvSpPr txBox="1"/>
          <p:nvPr/>
        </p:nvSpPr>
        <p:spPr>
          <a:xfrm>
            <a:off x="7346950" y="417513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Reaching Smaller Market Segments</a:t>
            </a:r>
            <a:endParaRPr/>
          </a:p>
        </p:txBody>
      </p:sp>
      <p:sp>
        <p:nvSpPr>
          <p:cNvPr id="324" name="Google Shape;324;p12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MARKETING to 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SMALL SEGMENTS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326" name="Google Shape;326;p12"/>
          <p:cNvSpPr txBox="1"/>
          <p:nvPr/>
        </p:nvSpPr>
        <p:spPr>
          <a:xfrm>
            <a:off x="1243013" y="2538413"/>
            <a:ext cx="2301875" cy="323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One-to-One Marketing-- </a:t>
            </a:r>
            <a:r>
              <a:rPr lang="en-US" sz="25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Developing a unique mix of goods and services for each individual consumer.</a:t>
            </a:r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12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575" y="2054225"/>
            <a:ext cx="4457700" cy="3808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333" name="Google Shape;333;p12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666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95300" y="319088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7346950" y="417513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Reaching Smaller Market Segments</a:t>
            </a:r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MARKETING to 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SMALL SEGMENTS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2063750" y="1646238"/>
            <a:ext cx="490855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One-to-One Marketing-</a:t>
            </a:r>
            <a:endParaRPr sz="2500" b="0" i="1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13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3750" y="2494077"/>
            <a:ext cx="4604657" cy="332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354" name="Google Shape;354;p13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92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85800" y="401638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7346950" y="417513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Reaching Smaller Market Segments</a:t>
            </a:r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ctrTitle"/>
          </p:nvPr>
        </p:nvSpPr>
        <p:spPr>
          <a:xfrm>
            <a:off x="114300" y="25876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MARKETING to 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SMALL SEGMENTS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1978025" y="1617663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One-to-One Marketing--</a:t>
            </a:r>
            <a:endParaRPr sz="25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850" y="1690688"/>
            <a:ext cx="6686550" cy="446246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4"/>
          <p:cNvSpPr/>
          <p:nvPr/>
        </p:nvSpPr>
        <p:spPr>
          <a:xfrm>
            <a:off x="1466850" y="6153150"/>
            <a:ext cx="6686550" cy="303213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https://marketbusinessnews.com/financial-glossary/one-to-one-marketing-definition-meaning/</a:t>
            </a:r>
            <a:r>
              <a:rPr lang="en-US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376" name="Google Shape;376;p14" descr="Image result for brac business school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6859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Differentiation &amp;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10649"/>
            <a:ext cx="6347714" cy="388077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800" b="1" dirty="0"/>
              <a:t>Product position </a:t>
            </a:r>
            <a:r>
              <a:rPr lang="en-US" altLang="en-US" sz="2000" dirty="0"/>
              <a:t>is the way the product is defined by consumers on important attributes—the place the product occupies in consumers’ minds relative to competing products</a:t>
            </a:r>
          </a:p>
          <a:p>
            <a:pPr marL="933450" lvl="1" indent="-533400">
              <a:lnSpc>
                <a:spcPct val="90000"/>
              </a:lnSpc>
            </a:pPr>
            <a:r>
              <a:rPr lang="en-US" altLang="en-US" sz="2000" dirty="0"/>
              <a:t>   Perceptions</a:t>
            </a:r>
          </a:p>
          <a:p>
            <a:pPr marL="933450" lvl="1" indent="-533400">
              <a:lnSpc>
                <a:spcPct val="90000"/>
              </a:lnSpc>
            </a:pPr>
            <a:r>
              <a:rPr lang="en-US" altLang="en-US" sz="2000" dirty="0"/>
              <a:t>Impressions</a:t>
            </a:r>
          </a:p>
          <a:p>
            <a:pPr marL="933450" lvl="1" indent="-533400">
              <a:lnSpc>
                <a:spcPct val="90000"/>
              </a:lnSpc>
            </a:pPr>
            <a:r>
              <a:rPr lang="en-US" altLang="en-US" sz="2000" dirty="0"/>
              <a:t>Feelings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1" y="3190896"/>
            <a:ext cx="2613726" cy="1470221"/>
          </a:xfrm>
          <a:prstGeom prst="rect">
            <a:avLst/>
          </a:prstGeom>
        </p:spPr>
      </p:pic>
      <p:pic>
        <p:nvPicPr>
          <p:cNvPr id="1026" name="Picture 2" descr="Latest Audi Models - MPG, Pricing, Colors, &amp; Trim Lev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118" y="4548422"/>
            <a:ext cx="3048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151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76200"/>
            <a:ext cx="4267200" cy="3200400"/>
          </a:xfrm>
        </p:spPr>
      </p:pic>
      <p:pic>
        <p:nvPicPr>
          <p:cNvPr id="5632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4488"/>
            <a:ext cx="420846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3429000"/>
            <a:ext cx="4703763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243388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873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4038600"/>
            <a:ext cx="3308350" cy="2481263"/>
          </a:xfrm>
        </p:spPr>
      </p:pic>
      <p:sp>
        <p:nvSpPr>
          <p:cNvPr id="573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5734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5334000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783013"/>
            <a:ext cx="4048125" cy="284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322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770915" cy="1320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Identifying Possible Value Differences and Competitive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/>
              <a:t>Competitive advantage </a:t>
            </a:r>
            <a:r>
              <a:rPr lang="en-US" altLang="en-US" dirty="0"/>
              <a:t>is an advantage over competitors gained by offering consumers greater value, either through lower prices or by providing more benefits that justify higher prices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36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8EA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>
            <a:spLocks noGrp="1"/>
          </p:cNvSpPr>
          <p:nvPr>
            <p:ph type="ctrTitle"/>
          </p:nvPr>
        </p:nvSpPr>
        <p:spPr>
          <a:xfrm>
            <a:off x="228600" y="762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DEVELOPING a PRODUCT</a:t>
            </a:r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10"/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7346950" y="304800"/>
            <a:ext cx="1644650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</a:pPr>
            <a:r>
              <a:rPr lang="en-US" sz="1600" b="0" i="1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Designing a Product to Meet Consumer Needs 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609600" y="1143000"/>
            <a:ext cx="78486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34962" marR="0" lvl="1" indent="-3349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-- </a:t>
            </a:r>
            <a:r>
              <a:rPr lang="en-US" sz="21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good, service, or idea that satisfies a consumer’s want or need</a:t>
            </a:r>
            <a:r>
              <a:rPr lang="en-US" sz="2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500"/>
          </a:p>
          <a:p>
            <a:pPr marL="334962" marR="0" lvl="1" indent="-334962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Price</a:t>
            </a:r>
            <a:r>
              <a:rPr lang="en-US" sz="2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-- </a:t>
            </a:r>
            <a:r>
              <a:rPr lang="en-US" sz="2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costs of producing, distributing and promoting the product, which all influence the price.</a:t>
            </a:r>
            <a:endParaRPr sz="1500"/>
          </a:p>
          <a:p>
            <a:pPr marL="334962" marR="0" lvl="1" indent="-334962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Promotion</a:t>
            </a:r>
            <a:r>
              <a:rPr lang="en-US" sz="2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1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 </a:t>
            </a:r>
            <a:r>
              <a:rPr lang="en-US" sz="2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advertising, personal selling; public relations, publicity; word of mouth and various sales promotion efforts.</a:t>
            </a:r>
            <a:endParaRPr sz="1500"/>
          </a:p>
          <a:p>
            <a:pPr marL="334962" marR="0" lvl="1" indent="-334962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</a:t>
            </a:r>
            <a:r>
              <a:rPr lang="en-US" sz="2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Getting the product to consumers when and where they want is critical to market success</a:t>
            </a:r>
            <a:endParaRPr sz="21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34962" marR="0" lvl="1" indent="-334962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 Name -- </a:t>
            </a:r>
            <a:r>
              <a:rPr lang="en-US" sz="21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word, letter, or a group of words or letters that differentiates one seller’s goods from a competitor’s.</a:t>
            </a:r>
            <a:endParaRPr sz="1500"/>
          </a:p>
        </p:txBody>
      </p:sp>
      <p:sp>
        <p:nvSpPr>
          <p:cNvPr id="214" name="Google Shape;214;p7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LG2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STEPS in the CONSUMER </a:t>
            </a:r>
            <a:b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DECISION-MAKING PROCESS</a:t>
            </a:r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408" name="Google Shape;408;p19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7315200" y="457200"/>
            <a:ext cx="164465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 sz="15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Consumer Decision-Making Process</a:t>
            </a:r>
            <a:endParaRPr/>
          </a:p>
        </p:txBody>
      </p:sp>
      <p:sp>
        <p:nvSpPr>
          <p:cNvPr id="410" name="Google Shape;410;p19"/>
          <p:cNvSpPr txBox="1"/>
          <p:nvPr/>
        </p:nvSpPr>
        <p:spPr>
          <a:xfrm>
            <a:off x="533400" y="2036763"/>
            <a:ext cx="8077200" cy="405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recognition</a:t>
            </a:r>
            <a:endParaRPr/>
          </a:p>
          <a:p>
            <a:pPr marL="514350" marR="0" lvl="1" indent="-514350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for information</a:t>
            </a:r>
            <a:endParaRPr/>
          </a:p>
          <a:p>
            <a:pPr marL="514350" marR="0" lvl="1" indent="-514350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Evaluating alternatives</a:t>
            </a:r>
            <a:endParaRPr/>
          </a:p>
          <a:p>
            <a:pPr marL="514350" marR="0" lvl="1" indent="-514350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Purchase decision</a:t>
            </a:r>
            <a:endParaRPr/>
          </a:p>
          <a:p>
            <a:pPr marL="514350" marR="0" lvl="1" indent="-514350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Postpurchase evaluation</a:t>
            </a:r>
            <a:endParaRPr sz="25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pic>
        <p:nvPicPr>
          <p:cNvPr id="413" name="Google Shape;413;p19" descr="Shopping.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8800" y="2036763"/>
            <a:ext cx="25146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9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19" name="Google Shape;419;p19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93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 txBox="1">
            <a:spLocks noGrp="1"/>
          </p:cNvSpPr>
          <p:nvPr>
            <p:ph type="title"/>
          </p:nvPr>
        </p:nvSpPr>
        <p:spPr>
          <a:xfrm>
            <a:off x="-179822" y="37442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Need Recognition</a:t>
            </a:r>
            <a:endParaRPr dirty="0"/>
          </a:p>
        </p:txBody>
      </p:sp>
      <p:sp>
        <p:nvSpPr>
          <p:cNvPr id="425" name="Google Shape;425;p20"/>
          <p:cNvSpPr txBox="1">
            <a:spLocks noGrp="1"/>
          </p:cNvSpPr>
          <p:nvPr>
            <p:ph idx="1"/>
          </p:nvPr>
        </p:nvSpPr>
        <p:spPr>
          <a:xfrm>
            <a:off x="272142" y="1749891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buying process starts with </a:t>
            </a:r>
            <a:r>
              <a:rPr lang="en-US" sz="2400" b="1" dirty="0"/>
              <a:t>need recognition </a:t>
            </a:r>
            <a:r>
              <a:rPr lang="en-US" sz="2400" dirty="0"/>
              <a:t>─ the buyer recognizes a problem or need.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need can be triggered by </a:t>
            </a:r>
            <a:r>
              <a:rPr lang="en-US" sz="2400" i="1" dirty="0"/>
              <a:t>internal stimuli</a:t>
            </a:r>
            <a:r>
              <a:rPr lang="en-US" sz="2400" dirty="0"/>
              <a:t> when one of the person’s normal needs ─ for example, hunger or thirst ─ rises to a level high enough to become a drive.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 need can also be triggered by </a:t>
            </a:r>
            <a:r>
              <a:rPr lang="en-US" sz="2400" i="1" dirty="0"/>
              <a:t>external stimuli.</a:t>
            </a:r>
            <a:endParaRPr sz="2400" i="1" dirty="0"/>
          </a:p>
        </p:txBody>
      </p:sp>
      <p:pic>
        <p:nvPicPr>
          <p:cNvPr id="426" name="Google Shape;426;p20" descr="http://techmash.co.uk/wp-content/uploads/2011/05/want-need-glas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7150" y="1495"/>
            <a:ext cx="2736850" cy="1729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32" name="Google Shape;432;p20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4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 txBox="1">
            <a:spLocks noGrp="1"/>
          </p:cNvSpPr>
          <p:nvPr>
            <p:ph type="title"/>
          </p:nvPr>
        </p:nvSpPr>
        <p:spPr>
          <a:xfrm>
            <a:off x="384875" y="142875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Information Search</a:t>
            </a:r>
            <a:endParaRPr dirty="0"/>
          </a:p>
        </p:txBody>
      </p:sp>
      <p:sp>
        <p:nvSpPr>
          <p:cNvPr id="438" name="Google Shape;438;p21"/>
          <p:cNvSpPr txBox="1">
            <a:spLocks noGrp="1"/>
          </p:cNvSpPr>
          <p:nvPr>
            <p:ph idx="1"/>
          </p:nvPr>
        </p:nvSpPr>
        <p:spPr>
          <a:xfrm>
            <a:off x="653142" y="1606550"/>
            <a:ext cx="772885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Information search</a:t>
            </a:r>
            <a:r>
              <a:rPr lang="en-US" sz="2400" dirty="0"/>
              <a:t> is the stage of the buyer decision process in which the consumer is motivated to search for more information.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Traditionally, consumers have received the most information about a product from commercial sources that controlled by the marketer.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most effective sources tend to be personal.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Commercial sources normally </a:t>
            </a:r>
            <a:r>
              <a:rPr lang="en-US" sz="2400" i="1" dirty="0"/>
              <a:t>inform</a:t>
            </a:r>
            <a:r>
              <a:rPr lang="en-US" sz="2400" dirty="0"/>
              <a:t> the buyer, but personal sources </a:t>
            </a:r>
            <a:r>
              <a:rPr lang="en-US" sz="2400" i="1" dirty="0"/>
              <a:t>legitimize</a:t>
            </a:r>
            <a:r>
              <a:rPr lang="en-US" sz="2400" dirty="0"/>
              <a:t> or </a:t>
            </a:r>
            <a:r>
              <a:rPr lang="en-US" sz="2400" i="1" dirty="0"/>
              <a:t>evaluate</a:t>
            </a:r>
            <a:r>
              <a:rPr lang="en-US" sz="2400" dirty="0"/>
              <a:t> products for the buyer.</a:t>
            </a:r>
            <a:endParaRPr sz="2400" dirty="0"/>
          </a:p>
        </p:txBody>
      </p:sp>
      <p:pic>
        <p:nvPicPr>
          <p:cNvPr id="439" name="Google Shape;439;p21" descr="http://pic.pimg.tw/plurker/49fda1a47126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2588" y="0"/>
            <a:ext cx="1943100" cy="16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45" name="Google Shape;445;p21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894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Alternatives</a:t>
            </a:r>
            <a:endParaRPr/>
          </a:p>
        </p:txBody>
      </p:sp>
      <p:sp>
        <p:nvSpPr>
          <p:cNvPr id="451" name="Google Shape;451;p22"/>
          <p:cNvSpPr txBox="1">
            <a:spLocks noGrp="1"/>
          </p:cNvSpPr>
          <p:nvPr>
            <p:ph idx="1"/>
          </p:nvPr>
        </p:nvSpPr>
        <p:spPr>
          <a:xfrm>
            <a:off x="609599" y="193040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The </a:t>
            </a:r>
            <a:r>
              <a:rPr lang="en-US" b="1" dirty="0"/>
              <a:t>alternative evaluation</a:t>
            </a:r>
            <a:r>
              <a:rPr lang="en-US" dirty="0"/>
              <a:t> is the stage of the buyer decision process in which the consumer uses information to evaluate alternative brands in the choice set.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Marketers should study buyers to find out how they actually evaluate brand alternatives.</a:t>
            </a:r>
            <a:endParaRPr dirty="0"/>
          </a:p>
        </p:txBody>
      </p:sp>
      <p:pic>
        <p:nvPicPr>
          <p:cNvPr id="452" name="Google Shape;452;p22" descr="http://www.chinahrkey.com/Public/kindeditor/attached/20120118/20120118010317_4238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4648200"/>
            <a:ext cx="36004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58" name="Google Shape;458;p22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7384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Purchase Decision</a:t>
            </a:r>
            <a:endParaRPr dirty="0"/>
          </a:p>
        </p:txBody>
      </p:sp>
      <p:sp>
        <p:nvSpPr>
          <p:cNvPr id="464" name="Google Shape;464;p23"/>
          <p:cNvSpPr txBox="1">
            <a:spLocks noGrp="1"/>
          </p:cNvSpPr>
          <p:nvPr>
            <p:ph idx="1"/>
          </p:nvPr>
        </p:nvSpPr>
        <p:spPr>
          <a:xfrm>
            <a:off x="638193" y="1453227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purchase decision</a:t>
            </a:r>
            <a:r>
              <a:rPr lang="en-US" sz="2400" dirty="0"/>
              <a:t> is the buyer’s decision about which brand to purchase.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But two factors can come between the purchase </a:t>
            </a:r>
            <a:r>
              <a:rPr lang="en-US" sz="2400" i="1" dirty="0"/>
              <a:t>intention</a:t>
            </a:r>
            <a:r>
              <a:rPr lang="en-US" sz="2400" dirty="0"/>
              <a:t> and the purchase </a:t>
            </a:r>
            <a:r>
              <a:rPr lang="en-US" sz="2400" i="1" dirty="0"/>
              <a:t>decision.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first factor is the </a:t>
            </a:r>
            <a:r>
              <a:rPr lang="en-US" sz="2400" i="1" dirty="0"/>
              <a:t>attitudes of others.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second factor is </a:t>
            </a:r>
            <a:r>
              <a:rPr lang="en-US" sz="2400" i="1" dirty="0"/>
              <a:t>unexpected situational factors.</a:t>
            </a:r>
            <a:endParaRPr sz="2400" i="1" dirty="0"/>
          </a:p>
        </p:txBody>
      </p:sp>
      <p:pic>
        <p:nvPicPr>
          <p:cNvPr id="465" name="Google Shape;465;p23" descr="http://tw.tranews.com/Show/images/News/3276171_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1" y="5334000"/>
            <a:ext cx="2421826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3" descr="http://big5.taiwan.cn/gate/big5/image1.chinanews.com.cn/upload/2013/130518/2595767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5514" y="5029200"/>
            <a:ext cx="3020786" cy="182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5248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 txBox="1">
            <a:spLocks noGrp="1"/>
          </p:cNvSpPr>
          <p:nvPr>
            <p:ph type="title"/>
          </p:nvPr>
        </p:nvSpPr>
        <p:spPr>
          <a:xfrm>
            <a:off x="457200" y="293914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Post purchase Behavior</a:t>
            </a:r>
            <a:endParaRPr dirty="0"/>
          </a:p>
        </p:txBody>
      </p:sp>
      <p:sp>
        <p:nvSpPr>
          <p:cNvPr id="476" name="Google Shape;476;p24"/>
          <p:cNvSpPr txBox="1">
            <a:spLocks noGrp="1"/>
          </p:cNvSpPr>
          <p:nvPr>
            <p:ph idx="1"/>
          </p:nvPr>
        </p:nvSpPr>
        <p:spPr>
          <a:xfrm>
            <a:off x="457200" y="169465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The </a:t>
            </a:r>
            <a:r>
              <a:rPr lang="en-US" b="1" dirty="0"/>
              <a:t>post purchase behavior</a:t>
            </a:r>
            <a:r>
              <a:rPr lang="en-US" dirty="0"/>
              <a:t> is the stage of the buyer decision process in which consumers take further action after purchase, based on their satisfaction or dissatisfaction.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Almost all major purchases, however, result in </a:t>
            </a:r>
            <a:r>
              <a:rPr lang="en-US" b="1" dirty="0"/>
              <a:t>cognitive dissonance, </a:t>
            </a:r>
            <a:r>
              <a:rPr lang="en-US" dirty="0"/>
              <a:t>or discomfort caused by post purchase conflict.</a:t>
            </a:r>
            <a:endParaRPr dirty="0"/>
          </a:p>
        </p:txBody>
      </p:sp>
      <p:pic>
        <p:nvPicPr>
          <p:cNvPr id="477" name="Google Shape;477;p24" descr="http://aafecdf.org/wordpress/wp-content/uploads/Shaking-Hands-Over-Sold-Sign1-400x26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150" y="4800600"/>
            <a:ext cx="3313113" cy="20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82" name="Google Shape;482;p24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7206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sldNum" sz="quarter" idx="12"/>
          </p:nvPr>
        </p:nvSpPr>
        <p:spPr>
          <a:xfrm>
            <a:off x="8556625" y="5434013"/>
            <a:ext cx="4349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8" name="Google Shape;488;p25"/>
          <p:cNvGrpSpPr/>
          <p:nvPr/>
        </p:nvGrpSpPr>
        <p:grpSpPr>
          <a:xfrm>
            <a:off x="5137150" y="2782888"/>
            <a:ext cx="4972050" cy="5159375"/>
            <a:chOff x="2902488" y="902232"/>
            <a:chExt cx="3339000" cy="3339000"/>
          </a:xfrm>
        </p:grpSpPr>
        <p:sp>
          <p:nvSpPr>
            <p:cNvPr id="489" name="Google Shape;489;p25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rgbClr val="E8E8E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3124235" y="1123119"/>
              <a:ext cx="2895506" cy="2897225"/>
            </a:xfrm>
            <a:prstGeom prst="pie">
              <a:avLst>
                <a:gd name="adj1" fmla="val 1811602"/>
                <a:gd name="adj2" fmla="val 16214886"/>
              </a:avLst>
            </a:prstGeom>
            <a:solidFill>
              <a:srgbClr val="000000">
                <a:alpha val="627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491" name="Google Shape;491;p25"/>
          <p:cNvSpPr txBox="1"/>
          <p:nvPr/>
        </p:nvSpPr>
        <p:spPr>
          <a:xfrm>
            <a:off x="434975" y="1749425"/>
            <a:ext cx="8251825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the CONSUMER DECISION MAKING PROCESS on the mentioned brands and explain.</a:t>
            </a:r>
            <a:endParaRPr/>
          </a:p>
        </p:txBody>
      </p:sp>
      <p:pic>
        <p:nvPicPr>
          <p:cNvPr id="492" name="Google Shape;49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9763" y="6045200"/>
            <a:ext cx="709612" cy="649288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494" name="Google Shape;494;p25" descr="Image result for brac business school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4125" y="6045200"/>
            <a:ext cx="698500" cy="64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5"/>
          <p:cNvSpPr/>
          <p:nvPr/>
        </p:nvSpPr>
        <p:spPr>
          <a:xfrm>
            <a:off x="533400" y="563563"/>
            <a:ext cx="5719763" cy="68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MINI ACTIVITY 2</a:t>
            </a:r>
            <a:endParaRPr/>
          </a:p>
        </p:txBody>
      </p:sp>
      <p:pic>
        <p:nvPicPr>
          <p:cNvPr id="496" name="Google Shape;49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2575" y="319088"/>
            <a:ext cx="378142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5" descr="Sepnil Instant Hand Sanitizer 40ml, PriyoShop.com - Online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375" y="3446463"/>
            <a:ext cx="3025775" cy="259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5" descr="iPhone 11, 11 Pro, and 11 Pro Max: price, carriers and where you ..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38600" y="3429000"/>
            <a:ext cx="3932238" cy="2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1567366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6"/>
          <p:cNvSpPr txBox="1">
            <a:spLocks noGrp="1"/>
          </p:cNvSpPr>
          <p:nvPr>
            <p:ph type="ctrTitle"/>
          </p:nvPr>
        </p:nvSpPr>
        <p:spPr>
          <a:xfrm>
            <a:off x="76200" y="228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Helvetica Neue"/>
                <a:ea typeface="Helvetica Neue"/>
                <a:cs typeface="Helvetica Neue"/>
                <a:sym typeface="Helvetica Neue"/>
              </a:rPr>
              <a:t> CONSUMER DECISION MAKING PROCESS AND OUTSIDE INFLUENCES</a:t>
            </a:r>
            <a:endParaRPr/>
          </a:p>
        </p:txBody>
      </p:sp>
      <p:sp>
        <p:nvSpPr>
          <p:cNvPr id="504" name="Google Shape;504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508" name="Google Shape;508;p26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510" name="Google Shape;510;p26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LG5</a:t>
            </a:r>
            <a:endParaRPr/>
          </a:p>
        </p:txBody>
      </p:sp>
      <p:sp>
        <p:nvSpPr>
          <p:cNvPr id="511" name="Google Shape;511;p26"/>
          <p:cNvSpPr txBox="1"/>
          <p:nvPr/>
        </p:nvSpPr>
        <p:spPr>
          <a:xfrm>
            <a:off x="7315200" y="457200"/>
            <a:ext cx="164465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 sz="15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Consumer Decision-Making Process</a:t>
            </a:r>
            <a:endParaRPr/>
          </a:p>
        </p:txBody>
      </p:sp>
      <p:pic>
        <p:nvPicPr>
          <p:cNvPr id="512" name="Google Shape;512;p26" descr="F1307.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9838" y="1447800"/>
            <a:ext cx="6075362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6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516" name="Google Shape;516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763" y="6256338"/>
            <a:ext cx="1558925" cy="43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6" descr="Image result for brac business school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334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"/>
          <p:cNvSpPr txBox="1">
            <a:spLocks noGrp="1"/>
          </p:cNvSpPr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Helvetica Neue"/>
                <a:ea typeface="Helvetica Neue"/>
                <a:cs typeface="Helvetica Neue"/>
                <a:sym typeface="Helvetica Neue"/>
              </a:rPr>
              <a:t>KEY FACTORS in CONSUMER DECISION-MAKING</a:t>
            </a:r>
            <a:endParaRPr/>
          </a:p>
        </p:txBody>
      </p:sp>
      <p:sp>
        <p:nvSpPr>
          <p:cNvPr id="523" name="Google Shape;523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98989"/>
              </a:solidFill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B7D3F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60066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7315200" y="457200"/>
            <a:ext cx="1644650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0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Business-to-Business Market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533400" y="2009775"/>
            <a:ext cx="8077200" cy="267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1" indent="-341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</a:t>
            </a:r>
            <a:endParaRPr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Groups</a:t>
            </a:r>
            <a:endParaRPr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Culture</a:t>
            </a:r>
            <a:endParaRPr/>
          </a:p>
          <a:p>
            <a:pPr marL="341313" marR="0" lvl="1" indent="-341313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Subcultures </a:t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7772400" y="1295400"/>
            <a:ext cx="685800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LG6</a:t>
            </a:r>
            <a:endParaRPr/>
          </a:p>
        </p:txBody>
      </p:sp>
      <p:pic>
        <p:nvPicPr>
          <p:cNvPr id="532" name="Google Shape;532;p27" descr="Juice.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5063" y="2022565"/>
            <a:ext cx="2843726" cy="361623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7"/>
          <p:cNvSpPr txBox="1"/>
          <p:nvPr/>
        </p:nvSpPr>
        <p:spPr>
          <a:xfrm>
            <a:off x="8229600" y="6430963"/>
            <a:ext cx="914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</a:t>
            </a: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0" y="60960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5800" y="6024563"/>
            <a:ext cx="709613" cy="6492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537" name="Google Shape;537;p27" descr="Image result for brac business school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8888" y="6024563"/>
            <a:ext cx="696912" cy="649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5146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9" name="Google Shape;15619;p354"/>
          <p:cNvSpPr txBox="1">
            <a:spLocks noGrp="1"/>
          </p:cNvSpPr>
          <p:nvPr>
            <p:ph type="ctrTitle"/>
          </p:nvPr>
        </p:nvSpPr>
        <p:spPr>
          <a:xfrm>
            <a:off x="502950" y="1694175"/>
            <a:ext cx="8138100" cy="2326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/>
              <a:t>Emerging Technologies in </a:t>
            </a:r>
            <a:r>
              <a:rPr lang="en">
                <a:solidFill>
                  <a:schemeClr val="dk1"/>
                </a:solidFill>
              </a:rPr>
              <a:t>Business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5620" name="Google Shape;15620;p354"/>
          <p:cNvGrpSpPr/>
          <p:nvPr/>
        </p:nvGrpSpPr>
        <p:grpSpPr>
          <a:xfrm>
            <a:off x="1096851" y="4100061"/>
            <a:ext cx="3936683" cy="134070"/>
            <a:chOff x="1096850" y="3242811"/>
            <a:chExt cx="3936683" cy="134070"/>
          </a:xfrm>
        </p:grpSpPr>
        <p:cxnSp>
          <p:nvCxnSpPr>
            <p:cNvPr id="15621" name="Google Shape;15621;p35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622" name="Google Shape;15622;p35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5623" name="Google Shape;15623;p35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5624" name="Google Shape;15624;p35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</p:grpSp>
      <p:grpSp>
        <p:nvGrpSpPr>
          <p:cNvPr id="15625" name="Google Shape;15625;p354"/>
          <p:cNvGrpSpPr/>
          <p:nvPr/>
        </p:nvGrpSpPr>
        <p:grpSpPr>
          <a:xfrm>
            <a:off x="8017401" y="543351"/>
            <a:ext cx="134100" cy="1891393"/>
            <a:chOff x="8017401" y="-313900"/>
            <a:chExt cx="134100" cy="1891393"/>
          </a:xfrm>
        </p:grpSpPr>
        <p:sp>
          <p:nvSpPr>
            <p:cNvPr id="15626" name="Google Shape;15626;p35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15627" name="Google Shape;15627;p35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628" name="Google Shape;15628;p35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5629" name="Google Shape;15629;p354"/>
          <p:cNvGrpSpPr/>
          <p:nvPr/>
        </p:nvGrpSpPr>
        <p:grpSpPr>
          <a:xfrm>
            <a:off x="6309527" y="1814726"/>
            <a:ext cx="3504715" cy="5119205"/>
            <a:chOff x="6309526" y="836950"/>
            <a:chExt cx="3504715" cy="5119205"/>
          </a:xfrm>
        </p:grpSpPr>
        <p:sp>
          <p:nvSpPr>
            <p:cNvPr id="15630" name="Google Shape;15630;p354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grpSp>
          <p:nvGrpSpPr>
            <p:cNvPr id="15631" name="Google Shape;15631;p35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5632" name="Google Shape;15632;p35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5633" name="Google Shape;15633;p35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5634" name="Google Shape;15634;p35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5635" name="Google Shape;15635;p35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5636" name="Google Shape;15636;p35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5637" name="Google Shape;15637;p35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5638" name="Google Shape;15638;p35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5639" name="Google Shape;15639;p35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5640" name="Google Shape;15640;p35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5" name="Google Shape;15645;p355"/>
          <p:cNvSpPr txBox="1">
            <a:spLocks noGrp="1"/>
          </p:cNvSpPr>
          <p:nvPr>
            <p:ph type="title"/>
          </p:nvPr>
        </p:nvSpPr>
        <p:spPr>
          <a:xfrm>
            <a:off x="-160533" y="708447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ctr"/>
            <a:r>
              <a:rPr lang="en" sz="2800" dirty="0">
                <a:latin typeface="Poppins"/>
                <a:ea typeface="Poppins"/>
                <a:cs typeface="Poppins"/>
                <a:sym typeface="Poppins"/>
              </a:rPr>
              <a:t> Artificial Intelligence (AI) &amp; Machine Learning (ML)</a:t>
            </a:r>
            <a:endParaRPr sz="2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46" name="Google Shape;15646;p355"/>
          <p:cNvSpPr txBox="1">
            <a:spLocks noGrp="1"/>
          </p:cNvSpPr>
          <p:nvPr>
            <p:ph type="body" idx="1"/>
          </p:nvPr>
        </p:nvSpPr>
        <p:spPr>
          <a:xfrm>
            <a:off x="324889" y="2117369"/>
            <a:ext cx="6888711" cy="1507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Applications </a:t>
            </a:r>
            <a:r>
              <a:rPr lang="en" sz="1700" dirty="0">
                <a:solidFill>
                  <a:srgbClr val="000000"/>
                </a:solidFill>
              </a:rPr>
              <a:t>- Predictive analytics, customer service (chatbots), fraud detection, personalization, supply chain optimization.</a:t>
            </a:r>
            <a:endParaRPr sz="1700" dirty="0">
              <a:solidFill>
                <a:srgbClr val="000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Impact: </a:t>
            </a:r>
            <a:r>
              <a:rPr lang="en" sz="1700" dirty="0">
                <a:solidFill>
                  <a:srgbClr val="000000"/>
                </a:solidFill>
              </a:rPr>
              <a:t>Enhances decision-making, reduces operational costs, and improves customer experience.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4" name="Google Shape;15651;p356">
            <a:extLst>
              <a:ext uri="{FF2B5EF4-FFF2-40B4-BE49-F238E27FC236}">
                <a16:creationId xmlns:a16="http://schemas.microsoft.com/office/drawing/2014/main" id="{E8006359-63AD-4D88-A335-86B5E72B3B5B}"/>
              </a:ext>
            </a:extLst>
          </p:cNvPr>
          <p:cNvPicPr preferRelativeResize="0"/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443900" y="4066164"/>
            <a:ext cx="7704000" cy="259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6" name="Google Shape;15656;p357"/>
          <p:cNvSpPr txBox="1">
            <a:spLocks noGrp="1"/>
          </p:cNvSpPr>
          <p:nvPr>
            <p:ph type="title"/>
          </p:nvPr>
        </p:nvSpPr>
        <p:spPr>
          <a:xfrm>
            <a:off x="528089" y="681386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ctr"/>
            <a:r>
              <a:rPr lang="en" sz="2800" dirty="0">
                <a:latin typeface="Poppins"/>
                <a:ea typeface="Poppins"/>
                <a:cs typeface="Poppins"/>
                <a:sym typeface="Poppins"/>
              </a:rPr>
              <a:t>Generative AI</a:t>
            </a:r>
            <a:endParaRPr sz="2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57" name="Google Shape;15657;p357"/>
          <p:cNvSpPr txBox="1">
            <a:spLocks noGrp="1"/>
          </p:cNvSpPr>
          <p:nvPr>
            <p:ph type="body" idx="1"/>
          </p:nvPr>
        </p:nvSpPr>
        <p:spPr>
          <a:xfrm>
            <a:off x="336178" y="1588625"/>
            <a:ext cx="6504889" cy="18403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Tools- </a:t>
            </a:r>
            <a:r>
              <a:rPr lang="en" sz="1600" dirty="0">
                <a:solidFill>
                  <a:srgbClr val="000000"/>
                </a:solidFill>
              </a:rPr>
              <a:t>ChatGPT, DALL·E, Gemini, Claude.</a:t>
            </a:r>
            <a:endParaRPr sz="1600" dirty="0">
              <a:solidFill>
                <a:srgbClr val="000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Applications - </a:t>
            </a:r>
            <a:r>
              <a:rPr lang="en" sz="1600" dirty="0">
                <a:solidFill>
                  <a:srgbClr val="000000"/>
                </a:solidFill>
              </a:rPr>
              <a:t>Content creation, product design, coding assistants, marketing automation</a:t>
            </a:r>
            <a:r>
              <a:rPr lang="en" sz="1700" dirty="0">
                <a:solidFill>
                  <a:srgbClr val="000000"/>
                </a:solidFill>
              </a:rPr>
              <a:t>.</a:t>
            </a:r>
            <a:endParaRPr sz="1700" dirty="0">
              <a:solidFill>
                <a:srgbClr val="000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Impact -</a:t>
            </a:r>
            <a:r>
              <a:rPr lang="en" sz="1700" dirty="0">
                <a:solidFill>
                  <a:srgbClr val="000000"/>
                </a:solidFill>
              </a:rPr>
              <a:t> </a:t>
            </a:r>
            <a:r>
              <a:rPr lang="en" sz="1600" dirty="0">
                <a:solidFill>
                  <a:srgbClr val="000000"/>
                </a:solidFill>
              </a:rPr>
              <a:t>Increases productivity and creativity while reducing manual work.</a:t>
            </a:r>
            <a:endParaRPr sz="1600" dirty="0">
              <a:solidFill>
                <a:srgbClr val="000000"/>
              </a:solidFill>
            </a:endParaRPr>
          </a:p>
        </p:txBody>
      </p:sp>
      <p:pic>
        <p:nvPicPr>
          <p:cNvPr id="4" name="Google Shape;15663;p358">
            <a:extLst>
              <a:ext uri="{FF2B5EF4-FFF2-40B4-BE49-F238E27FC236}">
                <a16:creationId xmlns:a16="http://schemas.microsoft.com/office/drawing/2014/main" id="{9F5CA951-E7A2-45C9-BA01-42EDF719AD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32" y="3701268"/>
            <a:ext cx="6422046" cy="2925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9" name="Google Shape;15679;p361"/>
          <p:cNvSpPr txBox="1">
            <a:spLocks noGrp="1"/>
          </p:cNvSpPr>
          <p:nvPr>
            <p:ph type="title"/>
          </p:nvPr>
        </p:nvSpPr>
        <p:spPr>
          <a:xfrm>
            <a:off x="573244" y="744917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ctr"/>
            <a:r>
              <a:rPr lang="en" sz="2800" dirty="0">
                <a:latin typeface="Poppins"/>
                <a:ea typeface="Poppins"/>
                <a:cs typeface="Poppins"/>
                <a:sym typeface="Poppins"/>
              </a:rPr>
              <a:t>Digital Marketing</a:t>
            </a:r>
            <a:endParaRPr sz="2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80" name="Google Shape;15680;p361"/>
          <p:cNvSpPr txBox="1">
            <a:spLocks noGrp="1"/>
          </p:cNvSpPr>
          <p:nvPr>
            <p:ph type="body" idx="1"/>
          </p:nvPr>
        </p:nvSpPr>
        <p:spPr>
          <a:xfrm>
            <a:off x="449067" y="1838508"/>
            <a:ext cx="7704000" cy="33785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" sz="1400" b="1" dirty="0">
                <a:solidFill>
                  <a:srgbClr val="000000"/>
                </a:solidFill>
                <a:cs typeface="Arial" panose="020B0604020202020204" pitchFamily="34" charset="0"/>
              </a:rPr>
              <a:t>Tools- </a:t>
            </a: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SEO, Social Media Marketing, Email Marketing, Content Marketing, Pay-Per-Click (PPC), Affiliate Marketing</a:t>
            </a:r>
            <a:endParaRPr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" sz="1400" b="1" dirty="0">
                <a:solidFill>
                  <a:srgbClr val="000000"/>
                </a:solidFill>
                <a:cs typeface="Arial" panose="020B0604020202020204" pitchFamily="34" charset="0"/>
              </a:rPr>
              <a:t>Applications - </a:t>
            </a:r>
            <a:endParaRPr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indent="-330200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SzPts val="1600"/>
            </a:pP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Improves website visibility on search engines to attract organic traffic (SEO)</a:t>
            </a:r>
            <a:endParaRPr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indent="-33020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Engages audiences through social platforms to build relationships and promote offerings (Social Media Marketing)</a:t>
            </a:r>
            <a:endParaRPr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indent="-33020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Delivers targeted messages via email to inform, nurture, and convert potential customers (Email Marketing)</a:t>
            </a:r>
          </a:p>
          <a:p>
            <a:pPr indent="-33020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Expands reach through partnerships where third parties promote products for a commission</a:t>
            </a:r>
          </a:p>
          <a:p>
            <a:pPr indent="-330200">
              <a:lnSpc>
                <a:spcPct val="150000"/>
              </a:lnSpc>
              <a:buClr>
                <a:srgbClr val="000000"/>
              </a:buClr>
              <a:buSzPts val="1600"/>
            </a:pPr>
            <a:r>
              <a:rPr lang="en" sz="1400" dirty="0">
                <a:solidFill>
                  <a:srgbClr val="000000"/>
                </a:solidFill>
                <a:cs typeface="Arial" panose="020B0604020202020204" pitchFamily="34" charset="0"/>
              </a:rPr>
              <a:t>Builds brand visibility, attracts targeted audiences, and converts engagement into measurable business growth</a:t>
            </a:r>
          </a:p>
          <a:p>
            <a:pPr indent="-330200">
              <a:buClr>
                <a:srgbClr val="000000"/>
              </a:buClr>
              <a:buSzPts val="1600"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1" name="Google Shape;15691;p363"/>
          <p:cNvSpPr txBox="1">
            <a:spLocks noGrp="1"/>
          </p:cNvSpPr>
          <p:nvPr>
            <p:ph type="title"/>
          </p:nvPr>
        </p:nvSpPr>
        <p:spPr>
          <a:xfrm>
            <a:off x="720000" y="1149600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ctr"/>
            <a:r>
              <a:rPr lang="en" sz="2800" dirty="0">
                <a:latin typeface="Poppins"/>
                <a:ea typeface="Poppins"/>
                <a:cs typeface="Poppins"/>
                <a:sym typeface="Poppins"/>
              </a:rPr>
              <a:t>FinTech (Financial Technology)</a:t>
            </a:r>
            <a:endParaRPr sz="2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92" name="Google Shape;15692;p363"/>
          <p:cNvSpPr txBox="1">
            <a:spLocks noGrp="1"/>
          </p:cNvSpPr>
          <p:nvPr>
            <p:ph type="body" idx="1"/>
          </p:nvPr>
        </p:nvSpPr>
        <p:spPr>
          <a:xfrm>
            <a:off x="720000" y="1954050"/>
            <a:ext cx="7704000" cy="3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Tools- </a:t>
            </a:r>
            <a:r>
              <a:rPr lang="en" sz="1700" dirty="0">
                <a:solidFill>
                  <a:srgbClr val="000000"/>
                </a:solidFill>
              </a:rPr>
              <a:t>Digital banking apps, mobile payment platforms, online investment services, crowdfunding sites, financial planning tools</a:t>
            </a:r>
            <a:endParaRPr sz="1700" dirty="0">
              <a:solidFill>
                <a:srgbClr val="000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en" sz="1700" b="1" dirty="0">
                <a:solidFill>
                  <a:srgbClr val="000000"/>
                </a:solidFill>
              </a:rPr>
              <a:t>Applications - </a:t>
            </a:r>
            <a:endParaRPr sz="1700" dirty="0">
              <a:solidFill>
                <a:srgbClr val="000000"/>
              </a:solidFill>
            </a:endParaRPr>
          </a:p>
          <a:p>
            <a:pPr indent="-330200">
              <a:spcBef>
                <a:spcPts val="1000"/>
              </a:spcBef>
              <a:buClr>
                <a:srgbClr val="000000"/>
              </a:buClr>
              <a:buSzPts val="1600"/>
            </a:pPr>
            <a:r>
              <a:rPr lang="en" dirty="0">
                <a:solidFill>
                  <a:srgbClr val="000000"/>
                </a:solidFill>
              </a:rPr>
              <a:t>Streamlines financial transactions by enabling fast, cashless payments through mobile devices</a:t>
            </a:r>
            <a:endParaRPr dirty="0">
              <a:solidFill>
                <a:srgbClr val="000000"/>
              </a:solidFill>
            </a:endParaRPr>
          </a:p>
          <a:p>
            <a:pPr indent="-330200">
              <a:buClr>
                <a:srgbClr val="000000"/>
              </a:buClr>
              <a:buSzPts val="1600"/>
            </a:pPr>
            <a:r>
              <a:rPr lang="en" dirty="0">
                <a:solidFill>
                  <a:srgbClr val="000000"/>
                </a:solidFill>
              </a:rPr>
              <a:t>Improves access to financial services for underserved populations through user-friendly apps</a:t>
            </a:r>
            <a:endParaRPr dirty="0">
              <a:solidFill>
                <a:srgbClr val="000000"/>
              </a:solidFill>
            </a:endParaRPr>
          </a:p>
          <a:p>
            <a:pPr indent="-330200">
              <a:buClr>
                <a:srgbClr val="000000"/>
              </a:buClr>
              <a:buSzPts val="1600"/>
            </a:pPr>
            <a:r>
              <a:rPr lang="en" dirty="0">
                <a:solidFill>
                  <a:srgbClr val="000000"/>
                </a:solidFill>
              </a:rPr>
              <a:t>Supports personal financial management with budgeting, saving, and investment tools</a:t>
            </a:r>
            <a:endParaRPr dirty="0">
              <a:solidFill>
                <a:srgbClr val="000000"/>
              </a:solidFill>
            </a:endParaRPr>
          </a:p>
          <a:p>
            <a:pPr indent="-330200">
              <a:buClr>
                <a:srgbClr val="000000"/>
              </a:buClr>
              <a:buSzPts val="1600"/>
            </a:pPr>
            <a:r>
              <a:rPr lang="en" dirty="0">
                <a:solidFill>
                  <a:srgbClr val="000000"/>
                </a:solidFill>
              </a:rPr>
              <a:t>Facilitates alternative financing such as peer-to-peer lending and crowdfunding for individuals and businesses</a:t>
            </a:r>
            <a:endParaRPr dirty="0">
              <a:solidFill>
                <a:srgbClr val="000000"/>
              </a:solidFill>
            </a:endParaRPr>
          </a:p>
          <a:p>
            <a:pPr indent="-330200">
              <a:buClr>
                <a:srgbClr val="000000"/>
              </a:buClr>
              <a:buSzPts val="1600"/>
            </a:pPr>
            <a:r>
              <a:rPr lang="en" dirty="0">
                <a:solidFill>
                  <a:srgbClr val="000000"/>
                </a:solidFill>
              </a:rPr>
              <a:t>Simplifies global transactions with lower fees and faster processing for cross-border payments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ce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5.xml><?xml version="1.0" encoding="utf-8"?>
<a:theme xmlns:a="http://schemas.openxmlformats.org/drawingml/2006/main" name="Blank Presentation">
  <a:themeElements>
    <a:clrScheme name="Custom 13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0FD13D"/>
      </a:accent4>
      <a:accent5>
        <a:srgbClr val="0FD13D"/>
      </a:accent5>
      <a:accent6>
        <a:srgbClr val="0FD13D"/>
      </a:accent6>
      <a:hlink>
        <a:srgbClr val="002060"/>
      </a:hlink>
      <a:folHlink>
        <a:srgbClr val="002060"/>
      </a:folHlink>
    </a:clrScheme>
    <a:fontScheme name="Blank Presentation">
      <a:majorFont>
        <a:latin typeface="Arial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2100</Words>
  <Application>Microsoft Office PowerPoint</Application>
  <PresentationFormat>On-screen Show (4:3)</PresentationFormat>
  <Paragraphs>256</Paragraphs>
  <Slides>40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40</vt:i4>
      </vt:variant>
    </vt:vector>
  </HeadingPairs>
  <TitlesOfParts>
    <vt:vector size="58" baseType="lpstr">
      <vt:lpstr>Poppins</vt:lpstr>
      <vt:lpstr>Calibri</vt:lpstr>
      <vt:lpstr>Arial</vt:lpstr>
      <vt:lpstr>Trebuchet MS</vt:lpstr>
      <vt:lpstr>Roboto Condensed Light</vt:lpstr>
      <vt:lpstr>Wingdings 3</vt:lpstr>
      <vt:lpstr>Noto Sans Symbols</vt:lpstr>
      <vt:lpstr>Helvetica Neue</vt:lpstr>
      <vt:lpstr>Libre Franklin</vt:lpstr>
      <vt:lpstr>Wingdings</vt:lpstr>
      <vt:lpstr>Libre Baskerville</vt:lpstr>
      <vt:lpstr>Times New Roman</vt:lpstr>
      <vt:lpstr>Poppins Light</vt:lpstr>
      <vt:lpstr>Equity</vt:lpstr>
      <vt:lpstr>4_Equity</vt:lpstr>
      <vt:lpstr>5_Equity</vt:lpstr>
      <vt:lpstr>Facet</vt:lpstr>
      <vt:lpstr>Blank Presentation</vt:lpstr>
      <vt:lpstr>PowerPoint Presentation</vt:lpstr>
      <vt:lpstr>Learning Outcomes</vt:lpstr>
      <vt:lpstr>PowerPoint Presentation</vt:lpstr>
      <vt:lpstr>WHAT’S MARKETING?</vt:lpstr>
      <vt:lpstr>The Evolution of Marketing</vt:lpstr>
      <vt:lpstr>Two different Markets</vt:lpstr>
      <vt:lpstr>MARKETING to CONSUMERS</vt:lpstr>
      <vt:lpstr>Types of Segmentation</vt:lpstr>
      <vt:lpstr>Market Segmentation</vt:lpstr>
      <vt:lpstr>Market Segmentation</vt:lpstr>
      <vt:lpstr> Market Segmentation</vt:lpstr>
      <vt:lpstr>SEGMENTING the CONSUMER MARKET (continued)</vt:lpstr>
      <vt:lpstr>SEGMENTING the CONSUMER MARKET (continued)</vt:lpstr>
      <vt:lpstr>PowerPoint Presentation</vt:lpstr>
      <vt:lpstr>Types of target marketing</vt:lpstr>
      <vt:lpstr>MASS MARKETING </vt:lpstr>
      <vt:lpstr>PowerPoint Presentation</vt:lpstr>
      <vt:lpstr>MARKETING to  SMALL SEGMENTS</vt:lpstr>
      <vt:lpstr>MARKETING to  SMALL SEGMENTS</vt:lpstr>
      <vt:lpstr>MARKETING to  SMALL SEGMENTS</vt:lpstr>
      <vt:lpstr>MARKETING to  SMALL SEGMENTS</vt:lpstr>
      <vt:lpstr>Differentiation &amp; Positioning</vt:lpstr>
      <vt:lpstr>PowerPoint Presentation</vt:lpstr>
      <vt:lpstr>PowerPoint Presentation</vt:lpstr>
      <vt:lpstr>Identifying Possible Value Differences and Competitive Advantages</vt:lpstr>
      <vt:lpstr>DEVELOPING a PRODUCT</vt:lpstr>
      <vt:lpstr>STEPS in the CONSUMER  DECISION-MAKING PROCESS</vt:lpstr>
      <vt:lpstr>Need Recognition</vt:lpstr>
      <vt:lpstr>Information Search</vt:lpstr>
      <vt:lpstr>Evaluation of Alternatives</vt:lpstr>
      <vt:lpstr>Purchase Decision</vt:lpstr>
      <vt:lpstr>Post purchase Behavior</vt:lpstr>
      <vt:lpstr>PowerPoint Presentation</vt:lpstr>
      <vt:lpstr> CONSUMER DECISION MAKING PROCESS AND OUTSIDE INFLUENCES</vt:lpstr>
      <vt:lpstr>KEY FACTORS in CONSUMER DECISION-MAKING</vt:lpstr>
      <vt:lpstr>Emerging Technologies in Business</vt:lpstr>
      <vt:lpstr> Artificial Intelligence (AI) &amp; Machine Learning (ML)</vt:lpstr>
      <vt:lpstr>Generative AI</vt:lpstr>
      <vt:lpstr>Digital Marketing</vt:lpstr>
      <vt:lpstr>FinTech (Financial Technology)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Molly McHugh</dc:creator>
  <cp:lastModifiedBy>Md Tanvir Hasan</cp:lastModifiedBy>
  <cp:revision>9</cp:revision>
  <dcterms:created xsi:type="dcterms:W3CDTF">2009-07-07T17:49:45Z</dcterms:created>
  <dcterms:modified xsi:type="dcterms:W3CDTF">2025-08-10T06:25:19Z</dcterms:modified>
</cp:coreProperties>
</file>