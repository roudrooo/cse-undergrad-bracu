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embeddedFontLs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8" roundtripDataSignature="AMtx7mi1WwMTctz4Kn+0CNAGqDcScUxG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6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9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2" name="Google Shape;152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4" name="Google Shape;1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64696f26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764696f261_0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64696f26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764696f261_0_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64696f26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764696f261_0_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0" name="Google Shape;340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4" name="Google Shape;354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1" name="Google Shape;371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7" name="Google Shape;387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5" name="Google Shape;405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2" name="Google Shape;72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4696f261_0_93"/>
          <p:cNvSpPr txBox="1"/>
          <p:nvPr>
            <p:ph type="title"/>
          </p:nvPr>
        </p:nvSpPr>
        <p:spPr>
          <a:xfrm>
            <a:off x="152400" y="395288"/>
            <a:ext cx="716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764696f261_0_93"/>
          <p:cNvSpPr txBox="1"/>
          <p:nvPr>
            <p:ph idx="1" type="body"/>
          </p:nvPr>
        </p:nvSpPr>
        <p:spPr>
          <a:xfrm>
            <a:off x="152400" y="15240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4" name="Google Shape;94;g3764696f261_0_93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764696f261_0_93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64696f261_0_98"/>
          <p:cNvSpPr/>
          <p:nvPr/>
        </p:nvSpPr>
        <p:spPr>
          <a:xfrm>
            <a:off x="1219200" y="6553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2012 Pearson Prentice Hall.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/>
          </a:p>
        </p:txBody>
      </p:sp>
      <p:sp>
        <p:nvSpPr>
          <p:cNvPr id="98" name="Google Shape;98;g3764696f261_0_98"/>
          <p:cNvSpPr/>
          <p:nvPr/>
        </p:nvSpPr>
        <p:spPr>
          <a:xfrm>
            <a:off x="304800" y="457200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3</a:t>
            </a:r>
            <a:endParaRPr/>
          </a:p>
        </p:txBody>
      </p:sp>
      <p:sp>
        <p:nvSpPr>
          <p:cNvPr id="99" name="Google Shape;99;g3764696f261_0_98"/>
          <p:cNvSpPr/>
          <p:nvPr/>
        </p:nvSpPr>
        <p:spPr>
          <a:xfrm>
            <a:off x="304800" y="1981200"/>
            <a:ext cx="342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 Statements </a:t>
            </a:r>
            <a:b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Ratio Analysis</a:t>
            </a:r>
            <a:endParaRPr/>
          </a:p>
        </p:txBody>
      </p:sp>
      <p:pic>
        <p:nvPicPr>
          <p:cNvPr descr="PAW" id="100" name="Google Shape;100;g3764696f261_0_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" y="6019800"/>
            <a:ext cx="1004888" cy="706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man_SE_Cover_Final" id="101" name="Google Shape;101;g3764696f261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325438"/>
            <a:ext cx="4835526" cy="620553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808080"/>
            </a:outerShdw>
          </a:effec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696f261_0_10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764696f261_0_10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05" name="Google Shape;105;g3764696f261_0_104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764696f261_0_104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64696f261_0_109"/>
          <p:cNvSpPr txBox="1"/>
          <p:nvPr>
            <p:ph type="title"/>
          </p:nvPr>
        </p:nvSpPr>
        <p:spPr>
          <a:xfrm>
            <a:off x="152400" y="395288"/>
            <a:ext cx="716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764696f261_0_109"/>
          <p:cNvSpPr txBox="1"/>
          <p:nvPr>
            <p:ph idx="1" type="body"/>
          </p:nvPr>
        </p:nvSpPr>
        <p:spPr>
          <a:xfrm>
            <a:off x="152400" y="1524000"/>
            <a:ext cx="434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0" name="Google Shape;110;g3764696f261_0_109"/>
          <p:cNvSpPr txBox="1"/>
          <p:nvPr>
            <p:ph idx="2" type="body"/>
          </p:nvPr>
        </p:nvSpPr>
        <p:spPr>
          <a:xfrm>
            <a:off x="4648200" y="1524000"/>
            <a:ext cx="434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1" name="Google Shape;111;g3764696f261_0_109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764696f261_0_109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64696f261_0_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764696f261_0_11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16" name="Google Shape;116;g3764696f261_0_11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17" name="Google Shape;117;g3764696f261_0_11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18" name="Google Shape;118;g3764696f261_0_11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19" name="Google Shape;119;g3764696f261_0_115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764696f261_0_115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64696f261_0_123"/>
          <p:cNvSpPr txBox="1"/>
          <p:nvPr>
            <p:ph type="title"/>
          </p:nvPr>
        </p:nvSpPr>
        <p:spPr>
          <a:xfrm>
            <a:off x="152400" y="395288"/>
            <a:ext cx="716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764696f261_0_123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764696f261_0_123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64696f261_0_127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764696f261_0_127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64696f261_0_13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764696f261_0_13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indent="-355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31" name="Google Shape;131;g3764696f261_0_13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32" name="Google Shape;132;g3764696f261_0_130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764696f261_0_130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64696f261_0_13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764696f261_0_1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g3764696f261_0_13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38" name="Google Shape;138;g3764696f261_0_136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764696f261_0_136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64696f261_0_142"/>
          <p:cNvSpPr txBox="1"/>
          <p:nvPr>
            <p:ph type="title"/>
          </p:nvPr>
        </p:nvSpPr>
        <p:spPr>
          <a:xfrm>
            <a:off x="152400" y="395288"/>
            <a:ext cx="716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764696f261_0_142"/>
          <p:cNvSpPr txBox="1"/>
          <p:nvPr>
            <p:ph idx="1" type="body"/>
          </p:nvPr>
        </p:nvSpPr>
        <p:spPr>
          <a:xfrm rot="5400000">
            <a:off x="2247900" y="-5715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3" name="Google Shape;143;g3764696f261_0_142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764696f261_0_142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64696f261_0_147"/>
          <p:cNvSpPr txBox="1"/>
          <p:nvPr>
            <p:ph type="title"/>
          </p:nvPr>
        </p:nvSpPr>
        <p:spPr>
          <a:xfrm rot="5400000">
            <a:off x="4998300" y="2178788"/>
            <a:ext cx="5776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764696f261_0_147"/>
          <p:cNvSpPr txBox="1"/>
          <p:nvPr>
            <p:ph idx="1" type="body"/>
          </p:nvPr>
        </p:nvSpPr>
        <p:spPr>
          <a:xfrm rot="5400000">
            <a:off x="502500" y="45188"/>
            <a:ext cx="57768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8" name="Google Shape;148;g3764696f261_0_147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764696f261_0_147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A42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DBE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_graphic" id="85" name="Google Shape;85;g3764696f261_0_8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40825" cy="13604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764696f261_0_86"/>
          <p:cNvSpPr/>
          <p:nvPr/>
        </p:nvSpPr>
        <p:spPr>
          <a:xfrm>
            <a:off x="152400" y="1524000"/>
            <a:ext cx="88392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3764696f261_0_86"/>
          <p:cNvSpPr txBox="1"/>
          <p:nvPr>
            <p:ph type="title"/>
          </p:nvPr>
        </p:nvSpPr>
        <p:spPr>
          <a:xfrm>
            <a:off x="152400" y="395288"/>
            <a:ext cx="716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764696f261_0_86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764696f261_0_86"/>
          <p:cNvSpPr txBox="1"/>
          <p:nvPr>
            <p:ph idx="1" type="body"/>
          </p:nvPr>
        </p:nvSpPr>
        <p:spPr>
          <a:xfrm>
            <a:off x="152400" y="15240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764696f261_0_86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A42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495300" y="1905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CDA76"/>
          </a:solidFill>
          <a:ln cap="flat" cmpd="sng" w="9525">
            <a:solidFill>
              <a:srgbClr val="F7A4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7162800" y="152400"/>
            <a:ext cx="1797050" cy="1698625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C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D95C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104900" y="2686050"/>
            <a:ext cx="6934200" cy="1168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Accounting and Financial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3657600" y="661035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76200" y="661035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533400" y="838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ACCOUNTING VS. FINANCE</a:t>
            </a:r>
            <a:endParaRPr/>
          </a:p>
        </p:txBody>
      </p:sp>
      <p:pic>
        <p:nvPicPr>
          <p:cNvPr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00" y="1519237"/>
            <a:ext cx="6832600" cy="48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533400" y="2041525"/>
            <a:ext cx="80772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Accounting -- </a:t>
            </a:r>
            <a:r>
              <a:rPr b="0" i="1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Recording, classifying, summarizing and interpreting of financial events and transactions in an organization to provide interested parties needed financial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 (Financial Management)--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concerned with the ways in which funds for a business are raised and invested.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4"/>
          <p:cNvSpPr txBox="1"/>
          <p:nvPr>
            <p:ph type="ctrTitle"/>
          </p:nvPr>
        </p:nvSpPr>
        <p:spPr>
          <a:xfrm>
            <a:off x="3048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ACCOUNTING?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187" name="Google Shape;187;p37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7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7"/>
          <p:cNvSpPr txBox="1"/>
          <p:nvPr/>
        </p:nvSpPr>
        <p:spPr>
          <a:xfrm>
            <a:off x="533400" y="2041525"/>
            <a:ext cx="8077200" cy="3170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Debt Financing (External Sourcing)-- The funds raised through various forms of borrowing that must be repaid.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Financing (internal Sourcing)-- The funds raised from within the firm from operations or through the sale of ownership in the firm (such as stock).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7"/>
          <p:cNvSpPr txBox="1"/>
          <p:nvPr>
            <p:ph type="ctrTitle"/>
          </p:nvPr>
        </p:nvSpPr>
        <p:spPr>
          <a:xfrm>
            <a:off x="3048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 of Funds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>
            <p:ph idx="1" type="body"/>
          </p:nvPr>
        </p:nvSpPr>
        <p:spPr>
          <a:xfrm>
            <a:off x="457200" y="68580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990600" y="1676400"/>
            <a:ext cx="2743200" cy="1295400"/>
          </a:xfrm>
          <a:prstGeom prst="rect">
            <a:avLst/>
          </a:prstGeom>
          <a:gradFill>
            <a:gsLst>
              <a:gs pos="0">
                <a:srgbClr val="A0CA4A"/>
              </a:gs>
              <a:gs pos="100000">
                <a:srgbClr val="DCFFA0"/>
              </a:gs>
            </a:gsLst>
            <a:lin ang="16200000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Raise Funds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057400" y="3086100"/>
            <a:ext cx="457200" cy="457200"/>
          </a:xfrm>
          <a:prstGeom prst="down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914400" y="4419600"/>
            <a:ext cx="2743200" cy="99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Owners, Lenders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334000" y="1676400"/>
            <a:ext cx="2819400" cy="1295400"/>
          </a:xfrm>
          <a:prstGeom prst="rect">
            <a:avLst/>
          </a:prstGeom>
          <a:gradFill>
            <a:gsLst>
              <a:gs pos="0">
                <a:srgbClr val="7F5BAB"/>
              </a:gs>
              <a:gs pos="100000">
                <a:srgbClr val="C8B0ED"/>
              </a:gs>
            </a:gsLst>
            <a:lin ang="16200000" scaled="0"/>
          </a:gradFill>
          <a:ln cap="flat" cmpd="sng" w="9525">
            <a:solidFill>
              <a:srgbClr val="7D60A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Funds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553200" y="3086100"/>
            <a:ext cx="457200" cy="457200"/>
          </a:xfrm>
          <a:prstGeom prst="down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372100" y="4368800"/>
            <a:ext cx="2819400" cy="106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403C"/>
              </a:gs>
              <a:gs pos="100000">
                <a:srgbClr val="FF9A99"/>
              </a:gs>
            </a:gsLst>
            <a:lin ang="16200000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Investments (Equipment, premises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>
            <p:ph type="ctrTitle"/>
          </p:nvPr>
        </p:nvSpPr>
        <p:spPr>
          <a:xfrm>
            <a:off x="2286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ACCOUNTING SYSTEM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1701.psd" id="215" name="Google Shape;2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33600"/>
            <a:ext cx="7948612" cy="29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the users of Accounting Information</a:t>
            </a:r>
            <a:endParaRPr/>
          </a:p>
        </p:txBody>
      </p:sp>
      <p:sp>
        <p:nvSpPr>
          <p:cNvPr id="222" name="Google Shape;222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accountant must be clear for whom the information is being prepared and for what purpose the information will be used.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73300"/>
            <a:ext cx="76200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rgbClr val="FFE679"/>
                </a:solidFill>
                <a:latin typeface="Calibri"/>
                <a:ea typeface="Calibri"/>
                <a:cs typeface="Calibri"/>
                <a:sym typeface="Calibri"/>
              </a:rPr>
              <a:t>The conflicting interest of users</a:t>
            </a:r>
            <a:endParaRPr>
              <a:solidFill>
                <a:srgbClr val="FFE679"/>
              </a:solidFill>
            </a:endParaRPr>
          </a:p>
        </p:txBody>
      </p:sp>
      <p:sp>
        <p:nvSpPr>
          <p:cNvPr id="229" name="Google Shape;229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 of various groups may collide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managers are appointed to act in the best interests of the owners, they may not always do so.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also a potential collision of interest between lenders and owners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Management Accounting &amp; Financial Accounting</a:t>
            </a:r>
            <a:endParaRPr/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Management accounting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seeks to meet the accounting needs of managers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Financial accounting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seeks to meet those of all of the users identified earlier in except  for  managers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Management &amp; Financial Accounting</a:t>
            </a:r>
            <a:endParaRPr/>
          </a:p>
        </p:txBody>
      </p:sp>
      <p:pic>
        <p:nvPicPr>
          <p:cNvPr id="241" name="Google Shape;241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595437"/>
            <a:ext cx="7162800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495300" y="1693337"/>
            <a:ext cx="80772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 Statement -- </a:t>
            </a:r>
            <a:r>
              <a:rPr b="0" i="1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summary of all the financial transactions that have occurred over a particular period.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>
            <p:ph type="ctrTitle"/>
          </p:nvPr>
        </p:nvSpPr>
        <p:spPr>
          <a:xfrm>
            <a:off x="2286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 STATEMENTS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7391400" y="457200"/>
            <a:ext cx="1492250" cy="7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Understanding Key Financial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per Pile.psd"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3429000"/>
            <a:ext cx="2438400" cy="277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>
            <a:off x="457200" y="3557587"/>
            <a:ext cx="5486400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financial statements of business are: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of financial position (Balance sheet)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Income statement (known as profit and loss account)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of cash flows</a:t>
            </a:r>
            <a:endParaRPr/>
          </a:p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of Shareholder’s Equity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33400"/>
            <a:ext cx="6858000" cy="4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Income statement </a:t>
            </a:r>
            <a:endParaRPr/>
          </a:p>
        </p:txBody>
      </p:sp>
      <p:sp>
        <p:nvSpPr>
          <p:cNvPr id="268" name="Google Shape;268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Revenue: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simply a measure of the inflow of economic benefits arising from the ordinary operations of a business.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Some examples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of Goods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Fees for services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 received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Cost of Sales: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it costs to produce a good or service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Income statement </a:t>
            </a:r>
            <a:endParaRPr/>
          </a:p>
        </p:txBody>
      </p:sp>
      <p:sp>
        <p:nvSpPr>
          <p:cNvPr id="274" name="Google Shape;274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Operating Expenses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Depreciation: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depreciation is an attempt to measure that portion of the cost (or fair value) of a non-current asset that has been depleted in generating the revenue recognized during a particular period.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64696f261_0_79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2012 Pearson Prentice Hall. All rights reserved.</a:t>
            </a:r>
            <a:endParaRPr/>
          </a:p>
        </p:txBody>
      </p:sp>
      <p:sp>
        <p:nvSpPr>
          <p:cNvPr id="280" name="Google Shape;280;g3764696f261_0_79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</a:t>
            </a:r>
            <a:fld id="{00000000-1234-1234-1234-123412341234}" type="slidenum"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764696f261_0_79"/>
          <p:cNvSpPr txBox="1"/>
          <p:nvPr>
            <p:ph type="title"/>
          </p:nvPr>
        </p:nvSpPr>
        <p:spPr>
          <a:xfrm>
            <a:off x="152400" y="120650"/>
            <a:ext cx="716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Table 3.1 Bartlett Company Income Statements ($000)</a:t>
            </a:r>
            <a:endParaRPr/>
          </a:p>
        </p:txBody>
      </p:sp>
      <p:pic>
        <p:nvPicPr>
          <p:cNvPr descr="tab0301" id="282" name="Google Shape;282;g3764696f261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688" y="1600200"/>
            <a:ext cx="423862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64696f261_0_152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2012 Pearson Prentice Hall. All rights reserved.</a:t>
            </a:r>
            <a:endParaRPr/>
          </a:p>
        </p:txBody>
      </p:sp>
      <p:sp>
        <p:nvSpPr>
          <p:cNvPr id="288" name="Google Shape;288;g3764696f261_0_152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g3764696f261_0_152"/>
          <p:cNvSpPr txBox="1"/>
          <p:nvPr>
            <p:ph type="title"/>
          </p:nvPr>
        </p:nvSpPr>
        <p:spPr>
          <a:xfrm>
            <a:off x="152400" y="120650"/>
            <a:ext cx="716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Table 3.2a Bartlett Company Balance Sheets ($000)</a:t>
            </a:r>
            <a:endParaRPr/>
          </a:p>
        </p:txBody>
      </p:sp>
      <p:pic>
        <p:nvPicPr>
          <p:cNvPr descr="tab0302a" id="290" name="Google Shape;290;g3764696f261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488" y="1919288"/>
            <a:ext cx="5915025" cy="394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64696f261_0_159"/>
          <p:cNvSpPr txBox="1"/>
          <p:nvPr>
            <p:ph idx="11" type="ftr"/>
          </p:nvPr>
        </p:nvSpPr>
        <p:spPr>
          <a:xfrm>
            <a:off x="76200" y="6324600"/>
            <a:ext cx="56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2012 Pearson Prentice Hall. All rights reserved.</a:t>
            </a:r>
            <a:endParaRPr/>
          </a:p>
        </p:txBody>
      </p:sp>
      <p:sp>
        <p:nvSpPr>
          <p:cNvPr id="296" name="Google Shape;296;g3764696f261_0_159"/>
          <p:cNvSpPr txBox="1"/>
          <p:nvPr>
            <p:ph idx="12" type="sldNum"/>
          </p:nvPr>
        </p:nvSpPr>
        <p:spPr>
          <a:xfrm>
            <a:off x="8118475" y="633095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g3764696f261_0_159"/>
          <p:cNvSpPr txBox="1"/>
          <p:nvPr>
            <p:ph type="title"/>
          </p:nvPr>
        </p:nvSpPr>
        <p:spPr>
          <a:xfrm>
            <a:off x="152400" y="120650"/>
            <a:ext cx="716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Table 3.2b Bartlett Company Balance Sheets ($000)</a:t>
            </a:r>
            <a:endParaRPr/>
          </a:p>
        </p:txBody>
      </p:sp>
      <p:pic>
        <p:nvPicPr>
          <p:cNvPr descr="tab0302b" id="298" name="Google Shape;298;g3764696f261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63" y="1682750"/>
            <a:ext cx="5932488" cy="454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533400" y="2306637"/>
            <a:ext cx="8077200" cy="2646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Fundamental Accounting Equation -- </a:t>
            </a:r>
            <a:r>
              <a:rPr b="0" i="1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basis for the balance sheet.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equation must always be balanced and includes the formula: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o"/>
            </a:pPr>
            <a:r>
              <a:rPr b="0" i="1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Assets = Liabilities + Owners Equity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 txBox="1"/>
          <p:nvPr>
            <p:ph type="ctrTitle"/>
          </p:nvPr>
        </p:nvSpPr>
        <p:spPr>
          <a:xfrm>
            <a:off x="2286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FUNDAMENTAL </a:t>
            </a:r>
            <a:b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ACCOUNTING EQUATION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7423150" y="304800"/>
            <a:ext cx="149225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Fundamental Accounting Equation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Assets</a:t>
            </a:r>
            <a:endParaRPr/>
          </a:p>
        </p:txBody>
      </p:sp>
      <p:sp>
        <p:nvSpPr>
          <p:cNvPr id="319" name="Google Shape;319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probable future economic benefit must exist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benefit must arise from some past transaction or event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business must have the right to control the resource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asset must be capable of measurement in monetary terms</a:t>
            </a:r>
            <a:endParaRPr sz="2800"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Assets</a:t>
            </a:r>
            <a:endParaRPr/>
          </a:p>
        </p:txBody>
      </p:sp>
      <p:sp>
        <p:nvSpPr>
          <p:cNvPr id="325" name="Google Shape;325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Tangible Assets (Inventories)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Intangible assets (Patents)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 classification</a:t>
            </a:r>
            <a:endParaRPr/>
          </a:p>
        </p:txBody>
      </p:sp>
      <p:sp>
        <p:nvSpPr>
          <p:cNvPr id="331" name="Google Shape;331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Current assets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basically assets that are held for the short term. (Ex. Cash, trade receivables, inventories)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Non-current assets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(also called fixed assets) are simply assets that do not meet the definition of current assets. They tend to be held for long-term operations. (Ex. property, plant, equipment)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</a:t>
            </a:r>
            <a:endParaRPr/>
          </a:p>
        </p:txBody>
      </p:sp>
      <p:sp>
        <p:nvSpPr>
          <p:cNvPr id="337" name="Google Shape;337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Equity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represents the claim of the owner(s) against the business. This claim is sometimes referred to as the </a:t>
            </a:r>
            <a:r>
              <a:rPr b="1" i="0" lang="en-US" sz="2000" u="none">
                <a:solidFill>
                  <a:srgbClr val="4F6228"/>
                </a:solidFill>
                <a:latin typeface="Calibri"/>
                <a:ea typeface="Calibri"/>
                <a:cs typeface="Calibri"/>
                <a:sym typeface="Calibri"/>
              </a:rPr>
              <a:t>owner’s capital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Liabilities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 of outsiders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2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Current liabilities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basically amounts due for settlement in the short term. (Ex. short term loans)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-</a:t>
            </a:r>
            <a:r>
              <a:rPr b="1" i="0" lang="en-US" sz="20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Non-current liabilities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 longer-term liabilities. 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 txBox="1"/>
          <p:nvPr/>
        </p:nvSpPr>
        <p:spPr>
          <a:xfrm>
            <a:off x="533400" y="1905000"/>
            <a:ext cx="8077200" cy="412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 Analysis -- </a:t>
            </a:r>
            <a:r>
              <a:rPr b="0" i="1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assessment of a firm’s financial condition using calculations and financial ratios developed from the firm’s financial statements.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ratios include: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Liquidity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Leverage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FINANCIAL RATIOS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P.psd" id="350" name="Google Shape;3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8920" y="3220720"/>
            <a:ext cx="2214880" cy="3332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533400" y="2051050"/>
            <a:ext cx="807720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Liquidity ratios measure a firm’s ability to turn assets into cash to pay its short-term debts.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key ratios are: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ratio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Acid-test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information is found on the firm’s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sheet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COMMONLY USED </a:t>
            </a:r>
            <a:b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LIQUIDITY RATIOS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7315200" y="527050"/>
            <a:ext cx="149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0" i="1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Liquidity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3778250"/>
            <a:ext cx="26289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3887" y="4594225"/>
            <a:ext cx="53911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533400" y="2051050"/>
            <a:ext cx="807720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Leverage ratios measure the degree to which a firm relies on borrowed funds in its operations.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ratios include: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Debt to Owner’s Equity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7" lvl="1" marL="801687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information is found on the firm’s 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sheet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LEVERAGE RATIOS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7315200" y="527050"/>
            <a:ext cx="149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0" i="1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Leverage (Debt) Ratios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025" y="4249737"/>
            <a:ext cx="36861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533400" y="1828800"/>
            <a:ext cx="8077200" cy="486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Profitability ratios measure how effectively a firm’s managers are using it various resources to achieve profits.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ratios include: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earnings per share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47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 equity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PROFITABILITY RATIOS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7315200" y="417512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0" i="1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Profitability (Performance)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650" y="4324350"/>
            <a:ext cx="58483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7475" y="5102225"/>
            <a:ext cx="25241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5" y="6038850"/>
            <a:ext cx="31908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fmla="val 16667" name="adj"/>
            </a:avLst>
          </a:prstGeom>
          <a:solidFill>
            <a:srgbClr val="FFDA73"/>
          </a:solidFill>
          <a:ln cap="flat" cmpd="sng" w="9525">
            <a:solidFill>
              <a:srgbClr val="FFE6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cap="flat" cmpd="sng" w="9525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D95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4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533400" y="1752600"/>
            <a:ext cx="8077200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0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ratios measure how effectively management is turning over inventory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0" marL="344487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ratios include: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487" lvl="1" marL="8016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turnover ratio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RATIOS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7315200" y="609600"/>
            <a:ext cx="164465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0" i="1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Activity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533400" y="4046537"/>
            <a:ext cx="3962400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4487" lvl="1" marL="3444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information is found on the firm’s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sheet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income statement.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4712" y="3327400"/>
            <a:ext cx="32575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ction 1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itman13e">
  <a:themeElements>
    <a:clrScheme name="gitman13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2009-07-20T19:05:01Z</dcterms:created>
  <dc:creator>Molly McHugh</dc:creator>
</cp:coreProperties>
</file>