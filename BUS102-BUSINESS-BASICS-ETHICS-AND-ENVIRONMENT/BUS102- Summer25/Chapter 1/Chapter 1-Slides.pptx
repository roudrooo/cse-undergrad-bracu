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y="6858000" cx="12192000"/>
  <p:notesSz cx="12192000" cy="6858000"/>
  <p:embeddedFontLst>
    <p:embeddedFont>
      <p:font typeface="Tahoma"/>
      <p:regular r:id="rId32"/>
      <p:bold r:id="rId33"/>
    </p:embeddedFont>
    <p:embeddedFont>
      <p:font typeface="Noto Sans Symbols"/>
      <p:regular r:id="rId34"/>
      <p:bold r:id="rId35"/>
    </p:embeddedFont>
    <p:embeddedFont>
      <p:font typeface="Arial Black"/>
      <p:regular r:id="rId36"/>
    </p:embeddedFont>
    <p:embeddedFont>
      <p:font typeface="Carlito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41" roundtripDataSignature="AMtx7miA26ArZvbggmhcLiwW/0lM4Y6Kp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33AB401-F5E8-4464-A604-5B6641DD6895}">
  <a:tblStyle styleId="{033AB401-F5E8-4464-A604-5B6641DD689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Carlito-boldItalic.fntdata"/><Relationship Id="rId20" Type="http://schemas.openxmlformats.org/officeDocument/2006/relationships/slide" Target="slides/slide14.xml"/><Relationship Id="rId41" Type="http://customschemas.google.com/relationships/presentationmetadata" Target="meta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Tahoma-bold.fntdata"/><Relationship Id="rId10" Type="http://schemas.openxmlformats.org/officeDocument/2006/relationships/slide" Target="slides/slide4.xml"/><Relationship Id="rId32" Type="http://schemas.openxmlformats.org/officeDocument/2006/relationships/font" Target="fonts/Tahoma-regular.fntdata"/><Relationship Id="rId13" Type="http://schemas.openxmlformats.org/officeDocument/2006/relationships/slide" Target="slides/slide7.xml"/><Relationship Id="rId35" Type="http://schemas.openxmlformats.org/officeDocument/2006/relationships/font" Target="fonts/NotoSansSymbols-bold.fntdata"/><Relationship Id="rId12" Type="http://schemas.openxmlformats.org/officeDocument/2006/relationships/slide" Target="slides/slide6.xml"/><Relationship Id="rId34" Type="http://schemas.openxmlformats.org/officeDocument/2006/relationships/font" Target="fonts/NotoSansSymbols-regular.fntdata"/><Relationship Id="rId15" Type="http://schemas.openxmlformats.org/officeDocument/2006/relationships/slide" Target="slides/slide9.xml"/><Relationship Id="rId37" Type="http://schemas.openxmlformats.org/officeDocument/2006/relationships/font" Target="fonts/Carlito-regular.fntdata"/><Relationship Id="rId14" Type="http://schemas.openxmlformats.org/officeDocument/2006/relationships/slide" Target="slides/slide8.xml"/><Relationship Id="rId36" Type="http://schemas.openxmlformats.org/officeDocument/2006/relationships/font" Target="fonts/ArialBlack-regular.fntdata"/><Relationship Id="rId17" Type="http://schemas.openxmlformats.org/officeDocument/2006/relationships/slide" Target="slides/slide11.xml"/><Relationship Id="rId39" Type="http://schemas.openxmlformats.org/officeDocument/2006/relationships/font" Target="fonts/Carlito-italic.fntdata"/><Relationship Id="rId16" Type="http://schemas.openxmlformats.org/officeDocument/2006/relationships/slide" Target="slides/slide10.xml"/><Relationship Id="rId38" Type="http://schemas.openxmlformats.org/officeDocument/2006/relationships/font" Target="fonts/Carlito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8" name="Google Shape;78;p1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8" name="Google Shape;118;p5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4" name="Google Shape;124;p6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0" name="Google Shape;140;p7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7" name="Google Shape;147;p8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9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4" name="Google Shape;154;p9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0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1" name="Google Shape;161;p10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8" name="Google Shape;168;p11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5" name="Google Shape;175;p12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3" name="Google Shape;183;p13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1" name="Google Shape;191;p14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0" name="Google Shape;200;p15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6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8" name="Google Shape;208;p16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7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5" name="Google Shape;215;p17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8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2" name="Google Shape;222;p18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6a594c9a38_0_0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6a594c9a38_0_0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9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6" name="Google Shape;236;p19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0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3" name="Google Shape;243;p20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0" name="Google Shape;250;p22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6" name="Google Shape;256;p23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2" name="Google Shape;262;p24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6a594c9a38_0_87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6a594c9a38_0_87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6a594c9a38_0_20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11" name="Google Shape;11;g36a594c9a38_0_20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12" name="Google Shape;12;g36a594c9a38_0_2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6a594c9a38_0_24"/>
          <p:cNvSpPr txBox="1"/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g36a594c9a38_0_2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g36a594c9a38_0_27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8" name="Google Shape;18;g36a594c9a38_0_27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19" name="Google Shape;19;g36a594c9a38_0_2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6a594c9a38_0_31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2" name="Google Shape;22;g36a594c9a38_0_31"/>
          <p:cNvSpPr txBox="1"/>
          <p:nvPr>
            <p:ph idx="1" type="body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3" name="Google Shape;23;g36a594c9a38_0_31"/>
          <p:cNvSpPr txBox="1"/>
          <p:nvPr>
            <p:ph idx="2" type="body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4" name="Google Shape;24;g36a594c9a38_0_3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36a594c9a38_0_36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7" name="Google Shape;27;g36a594c9a38_0_3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6a594c9a38_0_39"/>
          <p:cNvSpPr txBox="1"/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30" name="Google Shape;30;g36a594c9a38_0_39"/>
          <p:cNvSpPr txBox="1"/>
          <p:nvPr>
            <p:ph idx="1" type="body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1" name="Google Shape;31;g36a594c9a38_0_3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6a594c9a38_0_43"/>
          <p:cNvSpPr txBox="1"/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34" name="Google Shape;34;g36a594c9a38_0_4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36a594c9a38_0_46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g36a594c9a38_0_46"/>
          <p:cNvSpPr txBox="1"/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38" name="Google Shape;38;g36a594c9a38_0_46"/>
          <p:cNvSpPr txBox="1"/>
          <p:nvPr>
            <p:ph idx="1" type="subTitle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9" name="Google Shape;39;g36a594c9a38_0_46"/>
          <p:cNvSpPr txBox="1"/>
          <p:nvPr>
            <p:ph idx="2" type="body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0" name="Google Shape;40;g36a594c9a38_0_4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6a594c9a38_0_52"/>
          <p:cNvSpPr txBox="1"/>
          <p:nvPr>
            <p:ph idx="1" type="body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43" name="Google Shape;43;g36a594c9a38_0_5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6a594c9a38_0_55"/>
          <p:cNvSpPr txBox="1"/>
          <p:nvPr>
            <p:ph hasCustomPrompt="1" type="title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6" name="Google Shape;46;g36a594c9a38_0_55"/>
          <p:cNvSpPr txBox="1"/>
          <p:nvPr>
            <p:ph idx="1" type="body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7" name="Google Shape;47;g36a594c9a38_0_5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6a594c9a38_0_5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showMasterSp="0" type="obj">
  <p:cSld name="OBJEC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g36a594c9a38_0_6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13317" y="5333444"/>
            <a:ext cx="833621" cy="48115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g36a594c9a38_0_61"/>
          <p:cNvSpPr txBox="1"/>
          <p:nvPr>
            <p:ph type="title"/>
          </p:nvPr>
        </p:nvSpPr>
        <p:spPr>
          <a:xfrm>
            <a:off x="916939" y="329564"/>
            <a:ext cx="8872800" cy="12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>
                <a:solidFill>
                  <a:schemeClr val="dk1"/>
                </a:solidFill>
                <a:latin typeface="Carlito"/>
                <a:ea typeface="Carlito"/>
                <a:cs typeface="Carlito"/>
                <a:sym typeface="Carli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g36a594c9a38_0_61"/>
          <p:cNvSpPr txBox="1"/>
          <p:nvPr>
            <p:ph idx="1" type="body"/>
          </p:nvPr>
        </p:nvSpPr>
        <p:spPr>
          <a:xfrm>
            <a:off x="952245" y="1977644"/>
            <a:ext cx="10287600" cy="33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1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g36a594c9a38_0_61"/>
          <p:cNvSpPr txBox="1"/>
          <p:nvPr>
            <p:ph idx="11" type="ftr"/>
          </p:nvPr>
        </p:nvSpPr>
        <p:spPr>
          <a:xfrm>
            <a:off x="4145280" y="6377940"/>
            <a:ext cx="3901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g36a594c9a38_0_61"/>
          <p:cNvSpPr txBox="1"/>
          <p:nvPr>
            <p:ph idx="10" type="dt"/>
          </p:nvPr>
        </p:nvSpPr>
        <p:spPr>
          <a:xfrm>
            <a:off x="609600" y="6377940"/>
            <a:ext cx="2804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g36a594c9a38_0_61"/>
          <p:cNvSpPr txBox="1"/>
          <p:nvPr>
            <p:ph idx="12" type="sldNum"/>
          </p:nvPr>
        </p:nvSpPr>
        <p:spPr>
          <a:xfrm>
            <a:off x="8778240" y="6377940"/>
            <a:ext cx="2804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6a594c9a38_0_68"/>
          <p:cNvSpPr txBox="1"/>
          <p:nvPr>
            <p:ph type="title"/>
          </p:nvPr>
        </p:nvSpPr>
        <p:spPr>
          <a:xfrm>
            <a:off x="916939" y="329564"/>
            <a:ext cx="8872800" cy="12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>
                <a:solidFill>
                  <a:schemeClr val="dk1"/>
                </a:solidFill>
                <a:latin typeface="Carlito"/>
                <a:ea typeface="Carlito"/>
                <a:cs typeface="Carlito"/>
                <a:sym typeface="Carli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g36a594c9a38_0_68"/>
          <p:cNvSpPr txBox="1"/>
          <p:nvPr>
            <p:ph idx="11" type="ftr"/>
          </p:nvPr>
        </p:nvSpPr>
        <p:spPr>
          <a:xfrm>
            <a:off x="4145280" y="6377940"/>
            <a:ext cx="3901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g36a594c9a38_0_68"/>
          <p:cNvSpPr txBox="1"/>
          <p:nvPr>
            <p:ph idx="10" type="dt"/>
          </p:nvPr>
        </p:nvSpPr>
        <p:spPr>
          <a:xfrm>
            <a:off x="609600" y="6377940"/>
            <a:ext cx="2804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g36a594c9a38_0_68"/>
          <p:cNvSpPr txBox="1"/>
          <p:nvPr>
            <p:ph idx="12" type="sldNum"/>
          </p:nvPr>
        </p:nvSpPr>
        <p:spPr>
          <a:xfrm>
            <a:off x="8778240" y="6377940"/>
            <a:ext cx="2804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6a594c9a38_0_73"/>
          <p:cNvSpPr txBox="1"/>
          <p:nvPr>
            <p:ph idx="11" type="ftr"/>
          </p:nvPr>
        </p:nvSpPr>
        <p:spPr>
          <a:xfrm>
            <a:off x="4145280" y="6377940"/>
            <a:ext cx="3901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g36a594c9a38_0_73"/>
          <p:cNvSpPr txBox="1"/>
          <p:nvPr>
            <p:ph idx="10" type="dt"/>
          </p:nvPr>
        </p:nvSpPr>
        <p:spPr>
          <a:xfrm>
            <a:off x="609600" y="6377940"/>
            <a:ext cx="2804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g36a594c9a38_0_73"/>
          <p:cNvSpPr txBox="1"/>
          <p:nvPr>
            <p:ph idx="12" type="sldNum"/>
          </p:nvPr>
        </p:nvSpPr>
        <p:spPr>
          <a:xfrm>
            <a:off x="8778240" y="6377940"/>
            <a:ext cx="2804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showMasterSp="0">
  <p:cSld name="Two Content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g36a594c9a38_0_7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13317" y="5333444"/>
            <a:ext cx="833621" cy="48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g36a594c9a38_0_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1882" y="5027240"/>
            <a:ext cx="1201947" cy="1101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g36a594c9a38_0_7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3829" y="774010"/>
            <a:ext cx="3605414" cy="557438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g36a594c9a38_0_77"/>
          <p:cNvSpPr txBox="1"/>
          <p:nvPr>
            <p:ph type="title"/>
          </p:nvPr>
        </p:nvSpPr>
        <p:spPr>
          <a:xfrm>
            <a:off x="916939" y="329564"/>
            <a:ext cx="8872800" cy="12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>
                <a:solidFill>
                  <a:schemeClr val="dk1"/>
                </a:solidFill>
                <a:latin typeface="Carlito"/>
                <a:ea typeface="Carlito"/>
                <a:cs typeface="Carlito"/>
                <a:sym typeface="Carli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g36a594c9a38_0_77"/>
          <p:cNvSpPr txBox="1"/>
          <p:nvPr>
            <p:ph idx="1" type="body"/>
          </p:nvPr>
        </p:nvSpPr>
        <p:spPr>
          <a:xfrm>
            <a:off x="609600" y="1577340"/>
            <a:ext cx="53034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g36a594c9a38_0_77"/>
          <p:cNvSpPr txBox="1"/>
          <p:nvPr>
            <p:ph idx="2" type="body"/>
          </p:nvPr>
        </p:nvSpPr>
        <p:spPr>
          <a:xfrm>
            <a:off x="6278880" y="1577340"/>
            <a:ext cx="53034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g36a594c9a38_0_77"/>
          <p:cNvSpPr txBox="1"/>
          <p:nvPr>
            <p:ph idx="11" type="ftr"/>
          </p:nvPr>
        </p:nvSpPr>
        <p:spPr>
          <a:xfrm>
            <a:off x="4145280" y="6377940"/>
            <a:ext cx="3901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g36a594c9a38_0_77"/>
          <p:cNvSpPr txBox="1"/>
          <p:nvPr>
            <p:ph idx="10" type="dt"/>
          </p:nvPr>
        </p:nvSpPr>
        <p:spPr>
          <a:xfrm>
            <a:off x="609600" y="6377940"/>
            <a:ext cx="2804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g36a594c9a38_0_77"/>
          <p:cNvSpPr txBox="1"/>
          <p:nvPr>
            <p:ph idx="12" type="sldNum"/>
          </p:nvPr>
        </p:nvSpPr>
        <p:spPr>
          <a:xfrm>
            <a:off x="8778240" y="6377940"/>
            <a:ext cx="2804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6a594c9a38_0_16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g36a594c9a38_0_16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1pPr>
            <a:lvl2pPr indent="-3492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2pPr>
            <a:lvl3pPr indent="-3492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3pPr>
            <a:lvl4pPr indent="-3492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4pPr>
            <a:lvl5pPr indent="-3492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5pPr>
            <a:lvl6pPr indent="-3492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6pPr>
            <a:lvl7pPr indent="-3492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7pPr>
            <a:lvl8pPr indent="-3492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8pPr>
            <a:lvl9pPr indent="-3492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g36a594c9a38_0_1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13.png"/><Relationship Id="rId6" Type="http://schemas.openxmlformats.org/officeDocument/2006/relationships/image" Target="../media/image2.png"/><Relationship Id="rId7" Type="http://schemas.openxmlformats.org/officeDocument/2006/relationships/image" Target="../media/image7.png"/><Relationship Id="rId8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8.jpg"/><Relationship Id="rId5" Type="http://schemas.openxmlformats.org/officeDocument/2006/relationships/image" Target="../media/image10.jpg"/><Relationship Id="rId6" Type="http://schemas.openxmlformats.org/officeDocument/2006/relationships/image" Target="../media/image1.jpg"/><Relationship Id="rId7" Type="http://schemas.openxmlformats.org/officeDocument/2006/relationships/image" Target="../media/image4.jpg"/><Relationship Id="rId8" Type="http://schemas.openxmlformats.org/officeDocument/2006/relationships/image" Target="../media/image17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png"/><Relationship Id="rId4" Type="http://schemas.openxmlformats.org/officeDocument/2006/relationships/hyperlink" Target="http://www.roc.gov.bd/acts/partnershipact1932.html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png"/><Relationship Id="rId4" Type="http://schemas.openxmlformats.org/officeDocument/2006/relationships/hyperlink" Target="http://en.banglapedia.org/index.php?title=Partnership_Business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8.png"/></Relationships>
</file>

<file path=ppt/slides/_rels/slide24.xml.rels><?xml version="1.0" encoding="UTF-8" standalone="yes"?><Relationships xmlns="http://schemas.openxmlformats.org/package/2006/relationships"><Relationship Id="rId20" Type="http://schemas.openxmlformats.org/officeDocument/2006/relationships/image" Target="../media/image24.png"/><Relationship Id="rId22" Type="http://schemas.openxmlformats.org/officeDocument/2006/relationships/image" Target="../media/image33.png"/><Relationship Id="rId21" Type="http://schemas.openxmlformats.org/officeDocument/2006/relationships/image" Target="../media/image46.png"/><Relationship Id="rId24" Type="http://schemas.openxmlformats.org/officeDocument/2006/relationships/image" Target="../media/image35.png"/><Relationship Id="rId23" Type="http://schemas.openxmlformats.org/officeDocument/2006/relationships/image" Target="../media/image31.png"/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9.png"/><Relationship Id="rId4" Type="http://schemas.openxmlformats.org/officeDocument/2006/relationships/image" Target="../media/image47.png"/><Relationship Id="rId9" Type="http://schemas.openxmlformats.org/officeDocument/2006/relationships/image" Target="../media/image37.png"/><Relationship Id="rId26" Type="http://schemas.openxmlformats.org/officeDocument/2006/relationships/image" Target="../media/image41.png"/><Relationship Id="rId25" Type="http://schemas.openxmlformats.org/officeDocument/2006/relationships/image" Target="../media/image48.png"/><Relationship Id="rId28" Type="http://schemas.openxmlformats.org/officeDocument/2006/relationships/image" Target="../media/image43.png"/><Relationship Id="rId27" Type="http://schemas.openxmlformats.org/officeDocument/2006/relationships/image" Target="../media/image45.png"/><Relationship Id="rId5" Type="http://schemas.openxmlformats.org/officeDocument/2006/relationships/image" Target="../media/image15.png"/><Relationship Id="rId6" Type="http://schemas.openxmlformats.org/officeDocument/2006/relationships/image" Target="../media/image19.png"/><Relationship Id="rId29" Type="http://schemas.openxmlformats.org/officeDocument/2006/relationships/image" Target="../media/image42.png"/><Relationship Id="rId7" Type="http://schemas.openxmlformats.org/officeDocument/2006/relationships/image" Target="../media/image38.png"/><Relationship Id="rId8" Type="http://schemas.openxmlformats.org/officeDocument/2006/relationships/image" Target="../media/image39.png"/><Relationship Id="rId31" Type="http://schemas.openxmlformats.org/officeDocument/2006/relationships/image" Target="../media/image44.png"/><Relationship Id="rId30" Type="http://schemas.openxmlformats.org/officeDocument/2006/relationships/image" Target="../media/image49.png"/><Relationship Id="rId11" Type="http://schemas.openxmlformats.org/officeDocument/2006/relationships/image" Target="../media/image22.png"/><Relationship Id="rId33" Type="http://schemas.openxmlformats.org/officeDocument/2006/relationships/image" Target="../media/image28.png"/><Relationship Id="rId10" Type="http://schemas.openxmlformats.org/officeDocument/2006/relationships/image" Target="../media/image21.png"/><Relationship Id="rId32" Type="http://schemas.openxmlformats.org/officeDocument/2006/relationships/image" Target="../media/image34.png"/><Relationship Id="rId13" Type="http://schemas.openxmlformats.org/officeDocument/2006/relationships/image" Target="../media/image32.png"/><Relationship Id="rId12" Type="http://schemas.openxmlformats.org/officeDocument/2006/relationships/image" Target="../media/image27.png"/><Relationship Id="rId15" Type="http://schemas.openxmlformats.org/officeDocument/2006/relationships/image" Target="../media/image26.png"/><Relationship Id="rId14" Type="http://schemas.openxmlformats.org/officeDocument/2006/relationships/image" Target="../media/image16.png"/><Relationship Id="rId17" Type="http://schemas.openxmlformats.org/officeDocument/2006/relationships/image" Target="../media/image36.png"/><Relationship Id="rId16" Type="http://schemas.openxmlformats.org/officeDocument/2006/relationships/image" Target="../media/image25.png"/><Relationship Id="rId19" Type="http://schemas.openxmlformats.org/officeDocument/2006/relationships/image" Target="../media/image40.png"/><Relationship Id="rId18" Type="http://schemas.openxmlformats.org/officeDocument/2006/relationships/image" Target="../media/image3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oogle Shape;80;p1"/>
          <p:cNvGrpSpPr/>
          <p:nvPr/>
        </p:nvGrpSpPr>
        <p:grpSpPr>
          <a:xfrm>
            <a:off x="1524000" y="0"/>
            <a:ext cx="9144000" cy="6324600"/>
            <a:chOff x="1524000" y="0"/>
            <a:chExt cx="9144000" cy="6324600"/>
          </a:xfrm>
        </p:grpSpPr>
        <p:pic>
          <p:nvPicPr>
            <p:cNvPr id="81" name="Google Shape;81;p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524000" y="0"/>
              <a:ext cx="9144000" cy="6324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2" name="Google Shape;82;p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277867" y="3396983"/>
              <a:ext cx="564641" cy="51741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3" name="Google Shape;83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1882" y="5027240"/>
            <a:ext cx="1201947" cy="1101634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"/>
          <p:cNvSpPr txBox="1"/>
          <p:nvPr/>
        </p:nvSpPr>
        <p:spPr>
          <a:xfrm>
            <a:off x="916939" y="6431381"/>
            <a:ext cx="593725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SLIDE 1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4410583" y="3454730"/>
            <a:ext cx="215900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399FF"/>
                </a:solidFill>
                <a:latin typeface="Arial"/>
                <a:ea typeface="Arial"/>
                <a:cs typeface="Arial"/>
                <a:sym typeface="Arial"/>
              </a:rPr>
              <a:t>1.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6" name="Google Shape;86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213859" y="3909047"/>
            <a:ext cx="502145" cy="51741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/>
        </p:nvSpPr>
        <p:spPr>
          <a:xfrm>
            <a:off x="4346575" y="3231886"/>
            <a:ext cx="4582795" cy="15627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9375">
            <a:spAutoFit/>
          </a:bodyPr>
          <a:lstStyle/>
          <a:p>
            <a:pPr indent="0" lvl="0" marL="927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Becoming an Entrepreneur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913764" lvl="0" marL="926464" marR="0" rtl="0" algn="l">
              <a:lnSpc>
                <a:spcPct val="100000"/>
              </a:lnSpc>
              <a:spcBef>
                <a:spcPts val="1155"/>
              </a:spcBef>
              <a:spcAft>
                <a:spcPts val="0"/>
              </a:spcAft>
              <a:buClr>
                <a:srgbClr val="3399FF"/>
              </a:buClr>
              <a:buSzPts val="1800"/>
              <a:buFont typeface="Arial"/>
              <a:buAutoNum type="arabicPeriod" startAt="2"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Small Business Basics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6565" lvl="0" marL="469265" marR="0" rtl="0" algn="l">
              <a:lnSpc>
                <a:spcPct val="100000"/>
              </a:lnSpc>
              <a:spcBef>
                <a:spcPts val="115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rabicPeriod" startAt="2"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Starting a Small Business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4346575" y="5427675"/>
            <a:ext cx="36723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9" name="Google Shape;89;p1"/>
          <p:cNvGrpSpPr/>
          <p:nvPr/>
        </p:nvGrpSpPr>
        <p:grpSpPr>
          <a:xfrm>
            <a:off x="2924555" y="1210055"/>
            <a:ext cx="6872478" cy="1728977"/>
            <a:chOff x="2924555" y="1210055"/>
            <a:chExt cx="6872478" cy="1728977"/>
          </a:xfrm>
        </p:grpSpPr>
        <p:pic>
          <p:nvPicPr>
            <p:cNvPr id="90" name="Google Shape;90;p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924555" y="1210055"/>
              <a:ext cx="5612130" cy="11193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1" name="Google Shape;91;p1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924555" y="1819655"/>
              <a:ext cx="6872478" cy="111937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2" name="Google Shape;92;p1"/>
          <p:cNvSpPr txBox="1"/>
          <p:nvPr>
            <p:ph type="title"/>
          </p:nvPr>
        </p:nvSpPr>
        <p:spPr>
          <a:xfrm>
            <a:off x="3227070" y="1342085"/>
            <a:ext cx="6234300" cy="12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4000">
                <a:solidFill>
                  <a:srgbClr val="4471C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Entrepreneurship and</a:t>
            </a:r>
            <a:endParaRPr sz="4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SzPts val="1400"/>
              <a:buNone/>
            </a:pPr>
            <a:r>
              <a:rPr b="1" lang="en-US" sz="4000">
                <a:solidFill>
                  <a:srgbClr val="4471C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Small Business Management</a:t>
            </a:r>
            <a:endParaRPr sz="4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1882" y="5027240"/>
            <a:ext cx="1201947" cy="1101634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2"/>
          <p:cNvSpPr txBox="1"/>
          <p:nvPr/>
        </p:nvSpPr>
        <p:spPr>
          <a:xfrm>
            <a:off x="916939" y="6431381"/>
            <a:ext cx="593725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SLIDE 2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/>
          <p:cNvSpPr txBox="1"/>
          <p:nvPr>
            <p:ph type="title"/>
          </p:nvPr>
        </p:nvSpPr>
        <p:spPr>
          <a:xfrm>
            <a:off x="1628901" y="1568958"/>
            <a:ext cx="8100600" cy="18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6000">
                <a:solidFill>
                  <a:srgbClr val="4471C4"/>
                </a:solidFill>
              </a:rPr>
              <a:t>Becoming an Entrepreneur</a:t>
            </a:r>
            <a:endParaRPr sz="6000"/>
          </a:p>
        </p:txBody>
      </p:sp>
      <p:sp>
        <p:nvSpPr>
          <p:cNvPr id="100" name="Google Shape;100;p2"/>
          <p:cNvSpPr txBox="1"/>
          <p:nvPr/>
        </p:nvSpPr>
        <p:spPr>
          <a:xfrm>
            <a:off x="1602994" y="3424580"/>
            <a:ext cx="765810" cy="1511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066FF"/>
                </a:solidFill>
                <a:latin typeface="Carlito"/>
                <a:ea typeface="Carlito"/>
                <a:cs typeface="Carlito"/>
                <a:sym typeface="Carlito"/>
              </a:rPr>
              <a:t>Goal 1</a:t>
            </a:r>
            <a:endParaRPr b="0" i="0" sz="2200" u="none" cap="none" strike="noStrike">
              <a:solidFill>
                <a:srgbClr val="000000"/>
              </a:solidFill>
              <a:latin typeface="Carlito"/>
              <a:ea typeface="Carlito"/>
              <a:cs typeface="Carlito"/>
              <a:sym typeface="Carlito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265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066FF"/>
                </a:solidFill>
                <a:latin typeface="Carlito"/>
                <a:ea typeface="Carlito"/>
                <a:cs typeface="Carlito"/>
                <a:sym typeface="Carlito"/>
              </a:rPr>
              <a:t>Goal 2</a:t>
            </a:r>
            <a:endParaRPr b="0" i="0" sz="2200" u="none" cap="none" strike="noStrike">
              <a:solidFill>
                <a:srgbClr val="000000"/>
              </a:solidFill>
              <a:latin typeface="Carlito"/>
              <a:ea typeface="Carlito"/>
              <a:cs typeface="Carlito"/>
              <a:sym typeface="Carlito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26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066FF"/>
                </a:solidFill>
                <a:latin typeface="Carlito"/>
                <a:ea typeface="Carlito"/>
                <a:cs typeface="Carlito"/>
                <a:sym typeface="Carlito"/>
              </a:rPr>
              <a:t>Goal 3</a:t>
            </a:r>
            <a:endParaRPr b="0" i="0" sz="2200" u="none" cap="none" strike="noStrike">
              <a:solidFill>
                <a:srgbClr val="000000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101" name="Google Shape;101;p2"/>
          <p:cNvSpPr txBox="1"/>
          <p:nvPr/>
        </p:nvSpPr>
        <p:spPr>
          <a:xfrm>
            <a:off x="2980689" y="3424580"/>
            <a:ext cx="7182484" cy="1511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Identify characteristics of successful entrepreneurs.</a:t>
            </a:r>
            <a:endParaRPr b="0" i="0" sz="2200" u="none" cap="none" strike="noStrike">
              <a:solidFill>
                <a:srgbClr val="000000"/>
              </a:solidFill>
              <a:latin typeface="Carlito"/>
              <a:ea typeface="Carlito"/>
              <a:cs typeface="Carlito"/>
              <a:sym typeface="Carlito"/>
            </a:endParaRPr>
          </a:p>
          <a:p>
            <a:pPr indent="0" lvl="0" marL="12700" marR="5080" rtl="0" algn="l">
              <a:lnSpc>
                <a:spcPct val="1477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Recognize the importance of entrepreneurship in the economy. Describe opportunities and risks of entrepreneurship.</a:t>
            </a:r>
            <a:endParaRPr b="0" i="0" sz="2200" u="none" cap="none" strike="noStrike">
              <a:solidFill>
                <a:srgbClr val="000000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1882" y="5027240"/>
            <a:ext cx="1201947" cy="1101634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3"/>
          <p:cNvSpPr txBox="1"/>
          <p:nvPr>
            <p:ph type="title"/>
          </p:nvPr>
        </p:nvSpPr>
        <p:spPr>
          <a:xfrm>
            <a:off x="916939" y="329564"/>
            <a:ext cx="8872855" cy="973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93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4471C4"/>
                </a:solidFill>
              </a:rPr>
              <a:t>Entrepreneurship and Entrepreneurs</a:t>
            </a:r>
            <a:endParaRPr>
              <a:solidFill>
                <a:srgbClr val="4471C4"/>
              </a:solidFill>
            </a:endParaRPr>
          </a:p>
        </p:txBody>
      </p:sp>
      <p:sp>
        <p:nvSpPr>
          <p:cNvPr id="108" name="Google Shape;108;p3"/>
          <p:cNvSpPr txBox="1"/>
          <p:nvPr/>
        </p:nvSpPr>
        <p:spPr>
          <a:xfrm>
            <a:off x="902883" y="1295400"/>
            <a:ext cx="10055861" cy="3025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227329" lvl="0" marL="240029" marR="0" rtl="0" algn="l">
              <a:lnSpc>
                <a:spcPct val="1141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Entrepreneurship – • Accepting the risk of starting and running a</a:t>
            </a:r>
            <a:endParaRPr b="0" i="0" sz="2800" u="none" cap="none" strike="noStrike">
              <a:solidFill>
                <a:srgbClr val="000000"/>
              </a:solidFill>
              <a:latin typeface="Carlito"/>
              <a:ea typeface="Carlito"/>
              <a:cs typeface="Carlito"/>
              <a:sym typeface="Carlito"/>
            </a:endParaRPr>
          </a:p>
          <a:p>
            <a:pPr indent="0" lvl="0" marL="241300" marR="0" rtl="0" algn="l">
              <a:lnSpc>
                <a:spcPct val="1141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business.</a:t>
            </a:r>
            <a:endParaRPr b="0" i="0" sz="2800" u="none" cap="none" strike="noStrike">
              <a:solidFill>
                <a:srgbClr val="000000"/>
              </a:solidFill>
              <a:latin typeface="Carlito"/>
              <a:ea typeface="Carlito"/>
              <a:cs typeface="Carlito"/>
              <a:sym typeface="Carlito"/>
            </a:endParaRPr>
          </a:p>
          <a:p>
            <a:pPr indent="-227965" lvl="0" marL="240665" marR="0" rtl="0" algn="l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Entrepreneur: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69900" marR="0" rtl="0" algn="l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Person conducting own business (Webster)</a:t>
            </a:r>
            <a:endParaRPr b="0" i="0" sz="2800" u="none" cap="none" strike="noStrike">
              <a:solidFill>
                <a:srgbClr val="000000"/>
              </a:solidFill>
              <a:latin typeface="Carlito"/>
              <a:ea typeface="Carlito"/>
              <a:cs typeface="Carlito"/>
              <a:sym typeface="Carlito"/>
            </a:endParaRPr>
          </a:p>
          <a:p>
            <a:pPr indent="-457200" lvl="0" marL="469900" marR="0" rtl="0" algn="l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Organizer of an economic venture, one who owns, organizes, 	manages, and assumes the risks of the business (Chandrashekhar</a:t>
            </a:r>
            <a:endParaRPr b="0" i="0" sz="2800" u="none" cap="none" strike="noStrike">
              <a:solidFill>
                <a:srgbClr val="000000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1882" y="5027240"/>
            <a:ext cx="1201947" cy="1101634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4"/>
          <p:cNvSpPr txBox="1"/>
          <p:nvPr>
            <p:ph type="title"/>
          </p:nvPr>
        </p:nvSpPr>
        <p:spPr>
          <a:xfrm>
            <a:off x="916939" y="329564"/>
            <a:ext cx="8872800" cy="9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93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4471C4"/>
                </a:solidFill>
              </a:rPr>
              <a:t>Role of the Entrepreneur</a:t>
            </a:r>
            <a:endParaRPr/>
          </a:p>
        </p:txBody>
      </p:sp>
      <p:sp>
        <p:nvSpPr>
          <p:cNvPr id="115" name="Google Shape;115;p4"/>
          <p:cNvSpPr txBox="1"/>
          <p:nvPr/>
        </p:nvSpPr>
        <p:spPr>
          <a:xfrm>
            <a:off x="916939" y="1954784"/>
            <a:ext cx="10276200" cy="30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7300">
            <a:spAutoFit/>
          </a:bodyPr>
          <a:lstStyle/>
          <a:p>
            <a:pPr indent="-229233" lvl="0" marL="241300" marR="50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●"/>
            </a:pPr>
            <a:r>
              <a:rPr b="0" i="0" lang="en-US" sz="3600" u="none" cap="none" strike="noStrike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An innovator </a:t>
            </a:r>
            <a:endParaRPr sz="3600">
              <a:latin typeface="Carlito"/>
              <a:ea typeface="Carlito"/>
              <a:cs typeface="Carlito"/>
              <a:sym typeface="Carlito"/>
            </a:endParaRPr>
          </a:p>
          <a:p>
            <a:pPr indent="-229233" lvl="0" marL="241300" marR="50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Font typeface="Carlito"/>
              <a:buChar char="●"/>
            </a:pPr>
            <a:r>
              <a:rPr lang="en-US" sz="3600">
                <a:latin typeface="Carlito"/>
                <a:ea typeface="Carlito"/>
                <a:cs typeface="Carlito"/>
                <a:sym typeface="Carlito"/>
              </a:rPr>
              <a:t>Risk taker</a:t>
            </a:r>
            <a:endParaRPr sz="3600">
              <a:latin typeface="Carlito"/>
              <a:ea typeface="Carlito"/>
              <a:cs typeface="Carlito"/>
              <a:sym typeface="Carlito"/>
            </a:endParaRPr>
          </a:p>
          <a:p>
            <a:pPr indent="-229233" lvl="0" marL="241300" marR="50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Font typeface="Carlito"/>
              <a:buChar char="●"/>
            </a:pPr>
            <a:r>
              <a:rPr lang="en-US" sz="3600">
                <a:latin typeface="Carlito"/>
                <a:ea typeface="Carlito"/>
                <a:cs typeface="Carlito"/>
                <a:sym typeface="Carlito"/>
              </a:rPr>
              <a:t>Driver</a:t>
            </a:r>
            <a:endParaRPr sz="3600">
              <a:latin typeface="Carlito"/>
              <a:ea typeface="Carlito"/>
              <a:cs typeface="Carlito"/>
              <a:sym typeface="Carlito"/>
            </a:endParaRPr>
          </a:p>
          <a:p>
            <a:pPr indent="-229233" lvl="0" marL="241300" marR="50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Font typeface="Carlito"/>
              <a:buChar char="●"/>
            </a:pPr>
            <a:r>
              <a:rPr lang="en-US" sz="3600">
                <a:latin typeface="Carlito"/>
                <a:ea typeface="Carlito"/>
                <a:cs typeface="Carlito"/>
                <a:sym typeface="Carlito"/>
              </a:rPr>
              <a:t>Organizer</a:t>
            </a:r>
            <a:endParaRPr sz="3600">
              <a:latin typeface="Carlito"/>
              <a:ea typeface="Carlito"/>
              <a:cs typeface="Carlito"/>
              <a:sym typeface="Carlito"/>
            </a:endParaRPr>
          </a:p>
          <a:p>
            <a:pPr indent="-229233" lvl="0" marL="241300" marR="50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Font typeface="Carlito"/>
              <a:buChar char="●"/>
            </a:pPr>
            <a:r>
              <a:rPr lang="en-US" sz="3600">
                <a:latin typeface="Carlito"/>
                <a:ea typeface="Carlito"/>
                <a:cs typeface="Carlito"/>
                <a:sym typeface="Carlito"/>
              </a:rPr>
              <a:t>Starter</a:t>
            </a:r>
            <a:endParaRPr sz="3600">
              <a:latin typeface="Carlito"/>
              <a:ea typeface="Carlito"/>
              <a:cs typeface="Carlito"/>
              <a:sym typeface="Carlito"/>
            </a:endParaRPr>
          </a:p>
          <a:p>
            <a:pPr indent="-229234" lvl="0" marL="241300" marR="50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Font typeface="Carlito"/>
              <a:buChar char="●"/>
            </a:pPr>
            <a:r>
              <a:rPr lang="en-US" sz="3600">
                <a:latin typeface="Carlito"/>
                <a:ea typeface="Carlito"/>
                <a:cs typeface="Carlito"/>
                <a:sym typeface="Carlito"/>
              </a:rPr>
              <a:t>Accountable &amp; responsible</a:t>
            </a:r>
            <a:endParaRPr sz="3600">
              <a:latin typeface="Carlito"/>
              <a:ea typeface="Carlito"/>
              <a:cs typeface="Carlito"/>
              <a:sym typeface="Carli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"/>
          <p:cNvSpPr txBox="1"/>
          <p:nvPr>
            <p:ph type="title"/>
          </p:nvPr>
        </p:nvSpPr>
        <p:spPr>
          <a:xfrm>
            <a:off x="916939" y="329564"/>
            <a:ext cx="8872800" cy="9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93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4471C4"/>
                </a:solidFill>
              </a:rPr>
              <a:t>NOTABLE ENTREPRENEURS</a:t>
            </a:r>
            <a:endParaRPr/>
          </a:p>
        </p:txBody>
      </p:sp>
      <p:pic>
        <p:nvPicPr>
          <p:cNvPr id="121" name="Google Shape;12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24100" y="1402080"/>
            <a:ext cx="8093964" cy="4053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1882" y="5027240"/>
            <a:ext cx="1201947" cy="1101634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6"/>
          <p:cNvSpPr txBox="1"/>
          <p:nvPr>
            <p:ph type="title"/>
          </p:nvPr>
        </p:nvSpPr>
        <p:spPr>
          <a:xfrm>
            <a:off x="916939" y="329564"/>
            <a:ext cx="8872800" cy="9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93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4471C4"/>
                </a:solidFill>
              </a:rPr>
              <a:t>Famous Entrepreneurs – Bangladesh</a:t>
            </a:r>
            <a:endParaRPr/>
          </a:p>
        </p:txBody>
      </p:sp>
      <p:pic>
        <p:nvPicPr>
          <p:cNvPr id="128" name="Google Shape;12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62200" y="1700783"/>
            <a:ext cx="1524000" cy="213664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6"/>
          <p:cNvSpPr txBox="1"/>
          <p:nvPr/>
        </p:nvSpPr>
        <p:spPr>
          <a:xfrm>
            <a:off x="2060194" y="3759530"/>
            <a:ext cx="2042160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Muhammad Yunus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0" name="Google Shape;130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60207" y="1426463"/>
            <a:ext cx="2040636" cy="2410968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6"/>
          <p:cNvSpPr txBox="1"/>
          <p:nvPr/>
        </p:nvSpPr>
        <p:spPr>
          <a:xfrm>
            <a:off x="8164448" y="3911930"/>
            <a:ext cx="1967864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Fazle Hasan Abed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Google Shape;132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362200" y="4192523"/>
            <a:ext cx="1434084" cy="1805939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6"/>
          <p:cNvSpPr txBox="1"/>
          <p:nvPr/>
        </p:nvSpPr>
        <p:spPr>
          <a:xfrm>
            <a:off x="2174494" y="6025388"/>
            <a:ext cx="2258060" cy="391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Latifur Rahman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6"/>
          <p:cNvSpPr txBox="1"/>
          <p:nvPr/>
        </p:nvSpPr>
        <p:spPr>
          <a:xfrm>
            <a:off x="8127238" y="6257645"/>
            <a:ext cx="1681480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Bibi Russel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5" name="Google Shape;135;p6"/>
          <p:cNvGrpSpPr/>
          <p:nvPr/>
        </p:nvGrpSpPr>
        <p:grpSpPr>
          <a:xfrm>
            <a:off x="4084320" y="2705100"/>
            <a:ext cx="6309359" cy="3493007"/>
            <a:chOff x="4084320" y="2705100"/>
            <a:chExt cx="6309359" cy="3493007"/>
          </a:xfrm>
        </p:grpSpPr>
        <p:pic>
          <p:nvPicPr>
            <p:cNvPr id="136" name="Google Shape;136;p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084320" y="2705100"/>
              <a:ext cx="3764279" cy="234543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7" name="Google Shape;137;p6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7848600" y="4192524"/>
              <a:ext cx="2545079" cy="200558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1882" y="5027240"/>
            <a:ext cx="1201947" cy="1101634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7"/>
          <p:cNvSpPr txBox="1"/>
          <p:nvPr>
            <p:ph type="title"/>
          </p:nvPr>
        </p:nvSpPr>
        <p:spPr>
          <a:xfrm>
            <a:off x="916939" y="308228"/>
            <a:ext cx="9995400" cy="13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13977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200">
                <a:solidFill>
                  <a:srgbClr val="4471C4"/>
                </a:solidFill>
              </a:rPr>
              <a:t>YOU’RE NEVER TOO YOUNG to be an</a:t>
            </a:r>
            <a:endParaRPr sz="4200"/>
          </a:p>
          <a:p>
            <a:pPr indent="0" lvl="0" marL="12700" rtl="0" algn="l">
              <a:lnSpc>
                <a:spcPct val="113977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200">
                <a:solidFill>
                  <a:srgbClr val="4471C4"/>
                </a:solidFill>
              </a:rPr>
              <a:t>ENTREPRENEUR (Spotlight on Small Business)</a:t>
            </a:r>
            <a:endParaRPr sz="4200"/>
          </a:p>
        </p:txBody>
      </p:sp>
      <p:sp>
        <p:nvSpPr>
          <p:cNvPr id="144" name="Google Shape;144;p7"/>
          <p:cNvSpPr txBox="1"/>
          <p:nvPr/>
        </p:nvSpPr>
        <p:spPr>
          <a:xfrm>
            <a:off x="916939" y="1887118"/>
            <a:ext cx="10218420" cy="2839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7775">
            <a:spAutoFit/>
          </a:bodyPr>
          <a:lstStyle/>
          <a:p>
            <a:pPr indent="-227965" lvl="0" marL="24066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Leanna Archer – At 12 years old, she has her own hair care line.</a:t>
            </a:r>
            <a:endParaRPr b="0" i="0" sz="2800" u="none" cap="none" strike="noStrike">
              <a:solidFill>
                <a:srgbClr val="000000"/>
              </a:solidFill>
              <a:latin typeface="Carlito"/>
              <a:ea typeface="Carlito"/>
              <a:cs typeface="Carlito"/>
              <a:sym typeface="Carlito"/>
            </a:endParaRPr>
          </a:p>
          <a:p>
            <a:pPr indent="-229234" lvl="0" marL="241300" marR="86995" rtl="0" algn="l">
              <a:lnSpc>
                <a:spcPct val="107857"/>
              </a:lnSpc>
              <a:spcBef>
                <a:spcPts val="1055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Alexis Holmes – Started baking for a fundraiser, now the 16-year-old owns her own bakery.</a:t>
            </a:r>
            <a:endParaRPr b="0" i="0" sz="2800" u="none" cap="none" strike="noStrike">
              <a:solidFill>
                <a:srgbClr val="000000"/>
              </a:solidFill>
              <a:latin typeface="Carlito"/>
              <a:ea typeface="Carlito"/>
              <a:cs typeface="Carlito"/>
              <a:sym typeface="Carlito"/>
            </a:endParaRPr>
          </a:p>
          <a:p>
            <a:pPr indent="-227965" lvl="0" marL="240029" marR="5080" rtl="0" algn="l">
              <a:lnSpc>
                <a:spcPct val="107857"/>
              </a:lnSpc>
              <a:spcBef>
                <a:spcPts val="101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Jack Short &amp; Daniel Lyons – The two medical students started Factory 	Green, a carbon neutral apparel company, as undergrads.</a:t>
            </a:r>
            <a:endParaRPr b="0" i="0" sz="2800" u="none" cap="none" strike="noStrike">
              <a:solidFill>
                <a:srgbClr val="000000"/>
              </a:solidFill>
              <a:latin typeface="Carlito"/>
              <a:ea typeface="Carlito"/>
              <a:cs typeface="Carlito"/>
              <a:sym typeface="Carlito"/>
            </a:endParaRPr>
          </a:p>
          <a:p>
            <a:pPr indent="-309245" lvl="0" marL="321945" marR="0" rtl="0" algn="l">
              <a:lnSpc>
                <a:spcPct val="100000"/>
              </a:lnSpc>
              <a:spcBef>
                <a:spcPts val="62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Mark Zuckerberg – Launched Facebook as a Harvard freshman.</a:t>
            </a:r>
            <a:endParaRPr b="0" i="0" sz="2800" u="none" cap="none" strike="noStrike">
              <a:solidFill>
                <a:srgbClr val="000000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1882" y="5027240"/>
            <a:ext cx="1201947" cy="1101634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8"/>
          <p:cNvSpPr txBox="1"/>
          <p:nvPr>
            <p:ph type="title"/>
          </p:nvPr>
        </p:nvSpPr>
        <p:spPr>
          <a:xfrm>
            <a:off x="916960" y="609675"/>
            <a:ext cx="4883100" cy="6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100"/>
              <a:t>KEY TERMS</a:t>
            </a:r>
            <a:endParaRPr sz="4100"/>
          </a:p>
        </p:txBody>
      </p:sp>
      <p:sp>
        <p:nvSpPr>
          <p:cNvPr id="151" name="Google Shape;151;p8"/>
          <p:cNvSpPr txBox="1"/>
          <p:nvPr/>
        </p:nvSpPr>
        <p:spPr>
          <a:xfrm>
            <a:off x="1831594" y="1110742"/>
            <a:ext cx="8107800" cy="50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0950">
            <a:spAutoFit/>
          </a:bodyPr>
          <a:lstStyle/>
          <a:p>
            <a:pPr indent="-227329" lvl="0" marL="240029" marR="323215" rtl="0" algn="l">
              <a:lnSpc>
                <a:spcPct val="107857"/>
              </a:lnSpc>
              <a:spcBef>
                <a:spcPts val="0"/>
              </a:spcBef>
              <a:spcAft>
                <a:spcPts val="0"/>
              </a:spcAft>
              <a:buClr>
                <a:srgbClr val="4471C4"/>
              </a:buClr>
              <a:buSzPts val="2800"/>
              <a:buFont typeface="Arial"/>
              <a:buChar char="•"/>
            </a:pPr>
            <a:r>
              <a:rPr b="1" i="0" lang="en-US" sz="2800" u="none" cap="none" strike="noStrike">
                <a:solidFill>
                  <a:srgbClr val="4471C4"/>
                </a:solidFill>
                <a:latin typeface="Carlito"/>
                <a:ea typeface="Carlito"/>
                <a:cs typeface="Carlito"/>
                <a:sym typeface="Carlito"/>
              </a:rPr>
              <a:t>Entrepreneur- </a:t>
            </a:r>
            <a:r>
              <a:rPr b="1" i="0" lang="en-US" sz="2800" u="none" cap="none" strike="noStrike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the individual that is a risk taker and 	innovator.</a:t>
            </a:r>
            <a:endParaRPr b="0" i="0" sz="2800" u="none" cap="none" strike="noStrike">
              <a:solidFill>
                <a:srgbClr val="000000"/>
              </a:solidFill>
              <a:latin typeface="Carlito"/>
              <a:ea typeface="Carlito"/>
              <a:cs typeface="Carlito"/>
              <a:sym typeface="Carlito"/>
            </a:endParaRPr>
          </a:p>
          <a:p>
            <a:pPr indent="-227329" lvl="0" marL="240029" marR="361315" rtl="0" algn="l">
              <a:lnSpc>
                <a:spcPct val="107857"/>
              </a:lnSpc>
              <a:spcBef>
                <a:spcPts val="1015"/>
              </a:spcBef>
              <a:spcAft>
                <a:spcPts val="0"/>
              </a:spcAft>
              <a:buClr>
                <a:srgbClr val="4471C4"/>
              </a:buClr>
              <a:buSzPts val="2800"/>
              <a:buFont typeface="Arial"/>
              <a:buChar char="•"/>
            </a:pPr>
            <a:r>
              <a:rPr b="1" i="0" lang="en-US" sz="2800" u="none" cap="none" strike="noStrike">
                <a:solidFill>
                  <a:srgbClr val="4471C4"/>
                </a:solidFill>
                <a:latin typeface="Carlito"/>
                <a:ea typeface="Carlito"/>
                <a:cs typeface="Carlito"/>
                <a:sym typeface="Carlito"/>
              </a:rPr>
              <a:t>Entrepreneurship- </a:t>
            </a:r>
            <a:r>
              <a:rPr b="1" i="0" lang="en-US" sz="2800" u="none" cap="none" strike="noStrike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the business that is creative and 	risky.</a:t>
            </a:r>
            <a:endParaRPr b="0" i="0" sz="2800" u="none" cap="none" strike="noStrike">
              <a:solidFill>
                <a:srgbClr val="000000"/>
              </a:solidFill>
              <a:latin typeface="Carlito"/>
              <a:ea typeface="Carlito"/>
              <a:cs typeface="Carlito"/>
              <a:sym typeface="Carlito"/>
            </a:endParaRPr>
          </a:p>
          <a:p>
            <a:pPr indent="-227329" lvl="0" marL="240029" marR="476250" rtl="0" algn="l">
              <a:lnSpc>
                <a:spcPct val="107857"/>
              </a:lnSpc>
              <a:spcBef>
                <a:spcPts val="1005"/>
              </a:spcBef>
              <a:spcAft>
                <a:spcPts val="0"/>
              </a:spcAft>
              <a:buClr>
                <a:srgbClr val="4471C4"/>
              </a:buClr>
              <a:buSzPts val="2800"/>
              <a:buFont typeface="Arial"/>
              <a:buChar char="•"/>
            </a:pPr>
            <a:r>
              <a:rPr b="1" i="0" lang="en-US" sz="2800" u="none" cap="none" strike="noStrike">
                <a:solidFill>
                  <a:srgbClr val="4471C4"/>
                </a:solidFill>
                <a:latin typeface="Carlito"/>
                <a:ea typeface="Carlito"/>
                <a:cs typeface="Carlito"/>
                <a:sym typeface="Carlito"/>
              </a:rPr>
              <a:t>Characteristics of an entrepreneur: </a:t>
            </a:r>
            <a:r>
              <a:rPr b="1" i="0" lang="en-US" sz="2800" u="none" cap="none" strike="noStrike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Creative, confident, goal-oriented, 	motivated, hard-working</a:t>
            </a:r>
            <a:endParaRPr b="0" i="0" sz="2800" u="none" cap="none" strike="noStrike">
              <a:solidFill>
                <a:srgbClr val="000000"/>
              </a:solidFill>
              <a:latin typeface="Carlito"/>
              <a:ea typeface="Carlito"/>
              <a:cs typeface="Carlito"/>
              <a:sym typeface="Carlito"/>
            </a:endParaRPr>
          </a:p>
          <a:p>
            <a:pPr indent="-227329" lvl="0" marL="240029" marR="5080" rtl="0" algn="l">
              <a:lnSpc>
                <a:spcPct val="107857"/>
              </a:lnSpc>
              <a:spcBef>
                <a:spcPts val="1005"/>
              </a:spcBef>
              <a:spcAft>
                <a:spcPts val="0"/>
              </a:spcAft>
              <a:buClr>
                <a:srgbClr val="4471C4"/>
              </a:buClr>
              <a:buSzPts val="2800"/>
              <a:buFont typeface="Arial"/>
              <a:buChar char="•"/>
            </a:pPr>
            <a:r>
              <a:rPr b="1" i="0" lang="en-US" sz="2800" u="none" cap="none" strike="noStrike">
                <a:solidFill>
                  <a:srgbClr val="4471C4"/>
                </a:solidFill>
                <a:latin typeface="Carlito"/>
                <a:ea typeface="Carlito"/>
                <a:cs typeface="Carlito"/>
                <a:sym typeface="Carlito"/>
              </a:rPr>
              <a:t>Risks </a:t>
            </a:r>
            <a:r>
              <a:rPr b="1" lang="en-US" sz="2800">
                <a:solidFill>
                  <a:srgbClr val="4471C4"/>
                </a:solidFill>
                <a:latin typeface="Carlito"/>
                <a:ea typeface="Carlito"/>
                <a:cs typeface="Carlito"/>
                <a:sym typeface="Carlito"/>
              </a:rPr>
              <a:t>of an entrepreneur:</a:t>
            </a:r>
            <a:r>
              <a:rPr b="1" i="0" lang="en-US" sz="2800" u="none" cap="none" strike="noStrike">
                <a:solidFill>
                  <a:srgbClr val="4471C4"/>
                </a:solidFill>
                <a:latin typeface="Carlito"/>
                <a:ea typeface="Carlito"/>
                <a:cs typeface="Carlito"/>
                <a:sym typeface="Carlito"/>
              </a:rPr>
              <a:t> :	</a:t>
            </a:r>
            <a:r>
              <a:rPr b="1" i="0" lang="en-US" sz="2800" u="none" cap="none" strike="noStrike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Unproven idea, little management experience, 	long-hours with no guarantee of a profit</a:t>
            </a:r>
            <a:endParaRPr b="0" i="0" sz="2800" u="none" cap="none" strike="noStrike">
              <a:solidFill>
                <a:srgbClr val="000000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1882" y="5027240"/>
            <a:ext cx="1201947" cy="1101634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9"/>
          <p:cNvSpPr txBox="1"/>
          <p:nvPr>
            <p:ph type="title"/>
          </p:nvPr>
        </p:nvSpPr>
        <p:spPr>
          <a:xfrm>
            <a:off x="916959" y="609675"/>
            <a:ext cx="4664400" cy="6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KEY TERMS</a:t>
            </a:r>
            <a:endParaRPr/>
          </a:p>
        </p:txBody>
      </p:sp>
      <p:sp>
        <p:nvSpPr>
          <p:cNvPr id="158" name="Google Shape;158;p9"/>
          <p:cNvSpPr txBox="1"/>
          <p:nvPr/>
        </p:nvSpPr>
        <p:spPr>
          <a:xfrm>
            <a:off x="1679194" y="1263142"/>
            <a:ext cx="8823325" cy="2626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4600">
            <a:spAutoFit/>
          </a:bodyPr>
          <a:lstStyle/>
          <a:p>
            <a:pPr indent="-228600" lvl="0" marL="241300" marR="50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471C4"/>
              </a:buClr>
              <a:buSzPts val="2800"/>
              <a:buFont typeface="Arial"/>
              <a:buChar char="●"/>
            </a:pPr>
            <a:r>
              <a:rPr b="1" i="0" lang="en-US" sz="2800" u="none" cap="none" strike="noStrike">
                <a:solidFill>
                  <a:srgbClr val="4471C4"/>
                </a:solidFill>
                <a:latin typeface="Carlito"/>
                <a:ea typeface="Carlito"/>
                <a:cs typeface="Carlito"/>
                <a:sym typeface="Carlito"/>
              </a:rPr>
              <a:t>Venture Capital-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Money provided by large investors to finance new products and new businesses that have a good chance to be very profitable</a:t>
            </a:r>
            <a:endParaRPr b="0" i="0" sz="2800" u="none" cap="none" strike="noStrike">
              <a:solidFill>
                <a:srgbClr val="000000"/>
              </a:solidFill>
              <a:latin typeface="Carlito"/>
              <a:ea typeface="Carlito"/>
              <a:cs typeface="Carlito"/>
              <a:sym typeface="Carlito"/>
            </a:endParaRPr>
          </a:p>
          <a:p>
            <a:pPr indent="0" lvl="0" marL="93345" marR="0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*</a:t>
            </a:r>
            <a:r>
              <a:rPr b="1" i="0" lang="en-US" sz="2800" u="none" cap="none" strike="noStrike">
                <a:solidFill>
                  <a:srgbClr val="4471C4"/>
                </a:solidFill>
                <a:latin typeface="Carlito"/>
                <a:ea typeface="Carlito"/>
                <a:cs typeface="Carlito"/>
                <a:sym typeface="Carlito"/>
              </a:rPr>
              <a:t>Innovation</a:t>
            </a:r>
            <a:r>
              <a:rPr b="0" i="0" lang="en-US" sz="2800" u="none" cap="none" strike="noStrike">
                <a:solidFill>
                  <a:srgbClr val="4471C4"/>
                </a:solidFill>
                <a:latin typeface="Carlito"/>
                <a:ea typeface="Carlito"/>
                <a:cs typeface="Carlito"/>
                <a:sym typeface="Carlito"/>
              </a:rPr>
              <a:t>-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a brand new creation or invention</a:t>
            </a:r>
            <a:endParaRPr b="0" i="0" sz="2800" u="none" cap="none" strike="noStrike">
              <a:solidFill>
                <a:srgbClr val="000000"/>
              </a:solidFill>
              <a:latin typeface="Carlito"/>
              <a:ea typeface="Carlito"/>
              <a:cs typeface="Carlito"/>
              <a:sym typeface="Carlito"/>
            </a:endParaRPr>
          </a:p>
          <a:p>
            <a:pPr indent="80645" lvl="0" marL="12700" marR="288290" rtl="0" algn="l">
              <a:lnSpc>
                <a:spcPct val="107857"/>
              </a:lnSpc>
              <a:spcBef>
                <a:spcPts val="10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*</a:t>
            </a:r>
            <a:r>
              <a:rPr b="1" i="0" lang="en-US" sz="2800" u="none" cap="none" strike="noStrike">
                <a:solidFill>
                  <a:srgbClr val="4471C4"/>
                </a:solidFill>
                <a:latin typeface="Carlito"/>
                <a:ea typeface="Carlito"/>
                <a:cs typeface="Carlito"/>
                <a:sym typeface="Carlito"/>
              </a:rPr>
              <a:t>Improvements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- a significant design change or	addition on an existing product</a:t>
            </a:r>
            <a:endParaRPr b="0" i="0" sz="2800" u="none" cap="none" strike="noStrike">
              <a:solidFill>
                <a:srgbClr val="000000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1875" y="5655625"/>
            <a:ext cx="584050" cy="473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0"/>
          <p:cNvSpPr txBox="1"/>
          <p:nvPr>
            <p:ph type="title"/>
          </p:nvPr>
        </p:nvSpPr>
        <p:spPr>
          <a:xfrm>
            <a:off x="916952" y="329575"/>
            <a:ext cx="105141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2225">
            <a:spAutoFit/>
          </a:bodyPr>
          <a:lstStyle/>
          <a:p>
            <a:pPr indent="0" lvl="0" marL="12700" marR="508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4200">
                <a:latin typeface="Arial"/>
                <a:ea typeface="Arial"/>
                <a:cs typeface="Arial"/>
                <a:sym typeface="Arial"/>
              </a:rPr>
              <a:t>Entrepreneurship VS Working for others</a:t>
            </a:r>
            <a:endParaRPr sz="4200"/>
          </a:p>
        </p:txBody>
      </p:sp>
      <p:sp>
        <p:nvSpPr>
          <p:cNvPr id="165" name="Google Shape;165;p10"/>
          <p:cNvSpPr txBox="1"/>
          <p:nvPr/>
        </p:nvSpPr>
        <p:spPr>
          <a:xfrm>
            <a:off x="916950" y="1183025"/>
            <a:ext cx="10647600" cy="42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5225">
            <a:spAutoFit/>
          </a:bodyPr>
          <a:lstStyle/>
          <a:p>
            <a:pPr indent="-227965" lvl="0" marL="24066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1" i="0" lang="en-US" sz="28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Entrepreneurship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7965" lvl="0" marL="240665" marR="0" rtl="0" algn="l">
              <a:lnSpc>
                <a:spcPct val="100000"/>
              </a:lnSpc>
              <a:spcBef>
                <a:spcPts val="335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Own the business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7329" lvl="0" marL="240029" marR="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Freedom to succeed as well as freedom to fail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7965" lvl="0" marL="240029" marR="5080" rtl="0" algn="l">
              <a:lnSpc>
                <a:spcPct val="96071"/>
              </a:lnSpc>
              <a:spcBef>
                <a:spcPts val="975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 not receive any benefits such as paid vacation time, day 	care, a company car or health insurance.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7965" lvl="0" marL="240665" marR="0" rtl="0" algn="l">
              <a:lnSpc>
                <a:spcPct val="100000"/>
              </a:lnSpc>
              <a:spcBef>
                <a:spcPts val="355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1" i="0" lang="en-US" sz="28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Working for others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7329" lvl="0" marL="240029" marR="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Somebody else assumes entrepreneurial risk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7965" lvl="0" marL="240029" marR="637540" rtl="0" algn="l">
              <a:lnSpc>
                <a:spcPct val="96071"/>
              </a:lnSpc>
              <a:spcBef>
                <a:spcPts val="975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Provides with benefits such as paid vacation and health 	insurance.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1882" y="5027240"/>
            <a:ext cx="1201947" cy="1101634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1"/>
          <p:cNvSpPr txBox="1"/>
          <p:nvPr>
            <p:ph type="title"/>
          </p:nvPr>
        </p:nvSpPr>
        <p:spPr>
          <a:xfrm>
            <a:off x="916939" y="329564"/>
            <a:ext cx="8872800" cy="9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050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/>
              <a:t>3 Reasons most small businesses fail</a:t>
            </a:r>
            <a:endParaRPr sz="3200"/>
          </a:p>
        </p:txBody>
      </p:sp>
      <p:sp>
        <p:nvSpPr>
          <p:cNvPr id="172" name="Google Shape;172;p11"/>
          <p:cNvSpPr txBox="1"/>
          <p:nvPr/>
        </p:nvSpPr>
        <p:spPr>
          <a:xfrm>
            <a:off x="916939" y="1887118"/>
            <a:ext cx="4921250" cy="1560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7775">
            <a:spAutoFit/>
          </a:bodyPr>
          <a:lstStyle/>
          <a:p>
            <a:pPr indent="-227965" lvl="0" marL="24066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Lack of money</a:t>
            </a:r>
            <a:endParaRPr b="0" i="0" sz="2800" u="none" cap="none" strike="noStrike">
              <a:solidFill>
                <a:srgbClr val="000000"/>
              </a:solidFill>
              <a:latin typeface="Carlito"/>
              <a:ea typeface="Carlito"/>
              <a:cs typeface="Carlito"/>
              <a:sym typeface="Carlito"/>
            </a:endParaRPr>
          </a:p>
          <a:p>
            <a:pPr indent="-227965" lvl="0" marL="240665" marR="0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Lack of management experience</a:t>
            </a:r>
            <a:endParaRPr b="0" i="0" sz="2800" u="none" cap="none" strike="noStrike">
              <a:solidFill>
                <a:srgbClr val="000000"/>
              </a:solidFill>
              <a:latin typeface="Carlito"/>
              <a:ea typeface="Carlito"/>
              <a:cs typeface="Carlito"/>
              <a:sym typeface="Carlito"/>
            </a:endParaRPr>
          </a:p>
          <a:p>
            <a:pPr indent="-227329" lvl="0" marL="240029" marR="0" rtl="0" algn="l">
              <a:lnSpc>
                <a:spcPct val="100000"/>
              </a:lnSpc>
              <a:spcBef>
                <a:spcPts val="66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Not keeping adequate records</a:t>
            </a:r>
            <a:endParaRPr b="0" i="0" sz="2800" u="none" cap="none" strike="noStrike">
              <a:solidFill>
                <a:srgbClr val="000000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2005583"/>
            <a:ext cx="10515600" cy="43510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1882" y="5027240"/>
            <a:ext cx="1201947" cy="1101634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2"/>
          <p:cNvSpPr txBox="1"/>
          <p:nvPr>
            <p:ph type="title"/>
          </p:nvPr>
        </p:nvSpPr>
        <p:spPr>
          <a:xfrm>
            <a:off x="916939" y="329564"/>
            <a:ext cx="8872800" cy="9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980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Checkpoint </a:t>
            </a:r>
            <a:r>
              <a:rPr lang="en-US">
                <a:latin typeface="Noto Sans Symbols"/>
                <a:ea typeface="Noto Sans Symbols"/>
                <a:cs typeface="Noto Sans Symbols"/>
                <a:sym typeface="Noto Sans Symbols"/>
              </a:rPr>
              <a:t>✔</a:t>
            </a:r>
            <a:endParaRPr/>
          </a:p>
        </p:txBody>
      </p:sp>
      <p:sp>
        <p:nvSpPr>
          <p:cNvPr id="180" name="Google Shape;180;p12"/>
          <p:cNvSpPr txBox="1"/>
          <p:nvPr/>
        </p:nvSpPr>
        <p:spPr>
          <a:xfrm>
            <a:off x="1129385" y="2185542"/>
            <a:ext cx="9772015" cy="2411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0950">
            <a:spAutoFit/>
          </a:bodyPr>
          <a:lstStyle/>
          <a:p>
            <a:pPr indent="-227965" lvl="0" marL="240029" marR="5080" rtl="0" algn="l">
              <a:lnSpc>
                <a:spcPct val="10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What are the sources of financing that entrepreneurs use for their 	new businesses?</a:t>
            </a:r>
            <a:endParaRPr b="0" i="0" sz="2800" u="none" cap="none" strike="noStrike">
              <a:solidFill>
                <a:srgbClr val="000000"/>
              </a:solidFill>
              <a:latin typeface="Carlito"/>
              <a:ea typeface="Carlito"/>
              <a:cs typeface="Carlito"/>
              <a:sym typeface="Carlito"/>
            </a:endParaRPr>
          </a:p>
          <a:p>
            <a:pPr indent="-227329" lvl="1" marL="69723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Personal savings</a:t>
            </a:r>
            <a:endParaRPr b="0" i="0" sz="2400" u="none" cap="none" strike="noStrike">
              <a:solidFill>
                <a:srgbClr val="000000"/>
              </a:solidFill>
              <a:latin typeface="Carlito"/>
              <a:ea typeface="Carlito"/>
              <a:cs typeface="Carlito"/>
              <a:sym typeface="Carlito"/>
            </a:endParaRPr>
          </a:p>
          <a:p>
            <a:pPr indent="-227329" lvl="1" marL="697230" marR="0" rtl="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Friends and family</a:t>
            </a:r>
            <a:endParaRPr b="0" i="0" sz="2400" u="none" cap="none" strike="noStrike">
              <a:solidFill>
                <a:srgbClr val="000000"/>
              </a:solidFill>
              <a:latin typeface="Carlito"/>
              <a:ea typeface="Carlito"/>
              <a:cs typeface="Carlito"/>
              <a:sym typeface="Carlito"/>
            </a:endParaRPr>
          </a:p>
          <a:p>
            <a:pPr indent="-227329" lvl="1" marL="697230" marR="0" rtl="0" algn="l">
              <a:lnSpc>
                <a:spcPct val="100000"/>
              </a:lnSpc>
              <a:spcBef>
                <a:spcPts val="204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Venture capital</a:t>
            </a:r>
            <a:endParaRPr b="0" i="0" sz="2400" u="none" cap="none" strike="noStrike">
              <a:solidFill>
                <a:srgbClr val="000000"/>
              </a:solidFill>
              <a:latin typeface="Carlito"/>
              <a:ea typeface="Carlito"/>
              <a:cs typeface="Carlito"/>
              <a:sym typeface="Carlito"/>
            </a:endParaRPr>
          </a:p>
          <a:p>
            <a:pPr indent="-227329" lvl="1" marL="697230" marR="0" rtl="0" algn="l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Bank loans</a:t>
            </a:r>
            <a:endParaRPr b="0" i="0" sz="2400" u="none" cap="none" strike="noStrike">
              <a:solidFill>
                <a:srgbClr val="000000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1882" y="5027240"/>
            <a:ext cx="1201947" cy="1101634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3"/>
          <p:cNvSpPr txBox="1"/>
          <p:nvPr/>
        </p:nvSpPr>
        <p:spPr>
          <a:xfrm>
            <a:off x="916939" y="6431381"/>
            <a:ext cx="679450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SLIDE 16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3"/>
          <p:cNvSpPr txBox="1"/>
          <p:nvPr>
            <p:ph type="title"/>
          </p:nvPr>
        </p:nvSpPr>
        <p:spPr>
          <a:xfrm>
            <a:off x="916961" y="609675"/>
            <a:ext cx="7182600" cy="6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/>
              <a:t>BUSINESS PLAN</a:t>
            </a:r>
            <a:endParaRPr sz="4000"/>
          </a:p>
        </p:txBody>
      </p:sp>
      <p:sp>
        <p:nvSpPr>
          <p:cNvPr id="188" name="Google Shape;188;p13"/>
          <p:cNvSpPr txBox="1"/>
          <p:nvPr/>
        </p:nvSpPr>
        <p:spPr>
          <a:xfrm>
            <a:off x="696750" y="1339350"/>
            <a:ext cx="10251000" cy="43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0950">
            <a:spAutoFit/>
          </a:bodyPr>
          <a:lstStyle/>
          <a:p>
            <a:pPr indent="0" lvl="0" marL="12700" marR="5080" rtl="0" algn="just">
              <a:lnSpc>
                <a:spcPct val="10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rlito"/>
                <a:ea typeface="Carlito"/>
                <a:cs typeface="Carlito"/>
                <a:sym typeface="Carlito"/>
              </a:rPr>
              <a:t>Business Plan-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a written description of the business idea and how it will be carried out.</a:t>
            </a:r>
            <a:endParaRPr b="0" i="0" sz="2800" u="none" cap="none" strike="noStrike">
              <a:solidFill>
                <a:srgbClr val="000000"/>
              </a:solidFill>
              <a:latin typeface="Carlito"/>
              <a:ea typeface="Carlito"/>
              <a:cs typeface="Carlito"/>
              <a:sym typeface="Carlito"/>
            </a:endParaRPr>
          </a:p>
          <a:p>
            <a:pPr indent="0" lvl="0" marL="12700" marR="0" rtl="0" algn="just">
              <a:lnSpc>
                <a:spcPct val="100000"/>
              </a:lnSpc>
              <a:spcBef>
                <a:spcPts val="635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rlito"/>
                <a:ea typeface="Carlito"/>
                <a:cs typeface="Carlito"/>
                <a:sym typeface="Carlito"/>
              </a:rPr>
              <a:t>5 ELEMENTS</a:t>
            </a:r>
            <a:endParaRPr b="0" i="0" sz="2800" u="none" cap="none" strike="noStrike">
              <a:solidFill>
                <a:srgbClr val="000000"/>
              </a:solidFill>
              <a:latin typeface="Carlito"/>
              <a:ea typeface="Carlito"/>
              <a:cs typeface="Carlito"/>
              <a:sym typeface="Carlito"/>
            </a:endParaRPr>
          </a:p>
          <a:p>
            <a:pPr indent="-273050" lvl="0" marL="301625" marR="0" rtl="0" algn="just">
              <a:lnSpc>
                <a:spcPct val="100000"/>
              </a:lnSpc>
              <a:spcBef>
                <a:spcPts val="66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rlito"/>
              <a:buAutoNum type="arabicParenR"/>
            </a:pPr>
            <a:r>
              <a:rPr b="1" i="0" lang="en-US" sz="2500" u="none" cap="none" strike="noStrike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Description of the business &amp; goals</a:t>
            </a:r>
            <a:endParaRPr b="0" i="0" sz="2500" u="none" cap="none" strike="noStrike">
              <a:solidFill>
                <a:srgbClr val="000000"/>
              </a:solidFill>
              <a:latin typeface="Carlito"/>
              <a:ea typeface="Carlito"/>
              <a:cs typeface="Carlito"/>
              <a:sym typeface="Carlito"/>
            </a:endParaRPr>
          </a:p>
          <a:p>
            <a:pPr indent="-273050" lvl="0" marL="303530" marR="0" rtl="0" algn="just">
              <a:lnSpc>
                <a:spcPct val="100000"/>
              </a:lnSpc>
              <a:spcBef>
                <a:spcPts val="66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rlito"/>
              <a:buAutoNum type="arabicParenR"/>
            </a:pPr>
            <a:r>
              <a:rPr b="1" i="0" lang="en-US" sz="2500" u="none" cap="none" strike="noStrike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Customer Analysis- knowing your customer</a:t>
            </a:r>
            <a:endParaRPr b="0" i="0" sz="2500" u="none" cap="none" strike="noStrike">
              <a:solidFill>
                <a:srgbClr val="000000"/>
              </a:solidFill>
              <a:latin typeface="Carlito"/>
              <a:ea typeface="Carlito"/>
              <a:cs typeface="Carlito"/>
              <a:sym typeface="Carlito"/>
            </a:endParaRPr>
          </a:p>
          <a:p>
            <a:pPr indent="-152400" lvl="0" marL="12700" marR="1121410" rtl="0" algn="just">
              <a:lnSpc>
                <a:spcPct val="119600"/>
              </a:lnSpc>
              <a:spcBef>
                <a:spcPts val="15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rlito"/>
              <a:buAutoNum type="arabicParenR"/>
            </a:pPr>
            <a:r>
              <a:rPr b="1" i="0" lang="en-US" sz="2500" u="none" cap="none" strike="noStrike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Operations Plan- organizing the business </a:t>
            </a:r>
            <a:endParaRPr b="1" i="0" sz="2500" u="none" cap="none" strike="noStrike">
              <a:solidFill>
                <a:srgbClr val="000000"/>
              </a:solidFill>
              <a:latin typeface="Carlito"/>
              <a:ea typeface="Carlito"/>
              <a:cs typeface="Carlito"/>
              <a:sym typeface="Carlito"/>
            </a:endParaRPr>
          </a:p>
          <a:p>
            <a:pPr indent="-152400" lvl="0" marL="12700" marR="1121410" rtl="0" algn="just">
              <a:lnSpc>
                <a:spcPct val="119600"/>
              </a:lnSpc>
              <a:spcBef>
                <a:spcPts val="15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rlito"/>
              <a:buAutoNum type="arabicParenR"/>
            </a:pPr>
            <a:r>
              <a:rPr b="1" i="0" lang="en-US" sz="2500" u="none" cap="none" strike="noStrike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Marketing Plan- marketing &amp; advertising</a:t>
            </a:r>
            <a:endParaRPr b="1" i="0" sz="2500" u="none" cap="none" strike="noStrike">
              <a:solidFill>
                <a:srgbClr val="000000"/>
              </a:solidFill>
              <a:latin typeface="Carlito"/>
              <a:ea typeface="Carlito"/>
              <a:cs typeface="Carlito"/>
              <a:sym typeface="Carlito"/>
            </a:endParaRPr>
          </a:p>
          <a:p>
            <a:pPr indent="-152400" lvl="0" marL="12700" marR="1121410" rtl="0" algn="just">
              <a:lnSpc>
                <a:spcPct val="119600"/>
              </a:lnSpc>
              <a:spcBef>
                <a:spcPts val="15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rlito"/>
              <a:buAutoNum type="arabicParenR"/>
            </a:pPr>
            <a:r>
              <a:rPr b="1" i="0" lang="en-US" sz="2500" u="none" cap="none" strike="noStrike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Financial Plan- Creating a Budget:</a:t>
            </a:r>
            <a:r>
              <a:rPr b="1" lang="en-US" sz="2500">
                <a:solidFill>
                  <a:schemeClr val="dk1"/>
                </a:solidFill>
                <a:latin typeface="Carlito"/>
                <a:ea typeface="Carlito"/>
                <a:cs typeface="Carlito"/>
                <a:sym typeface="Carlito"/>
              </a:rPr>
              <a:t>start up, short term &amp; long term</a:t>
            </a:r>
            <a:endParaRPr b="0" i="0" sz="2500" u="none" cap="none" strike="noStrike">
              <a:solidFill>
                <a:srgbClr val="000000"/>
              </a:solidFill>
              <a:latin typeface="Carlito"/>
              <a:ea typeface="Carlito"/>
              <a:cs typeface="Carlito"/>
              <a:sym typeface="Carlito"/>
            </a:endParaRPr>
          </a:p>
          <a:p>
            <a:pPr indent="0" lvl="0" marL="927100" marR="0" rtl="0" algn="just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2005583"/>
            <a:ext cx="10515600" cy="43510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1882" y="5027240"/>
            <a:ext cx="1201947" cy="1101634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4"/>
          <p:cNvSpPr txBox="1"/>
          <p:nvPr/>
        </p:nvSpPr>
        <p:spPr>
          <a:xfrm>
            <a:off x="916939" y="6431381"/>
            <a:ext cx="679450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SLIDE 17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4"/>
          <p:cNvSpPr txBox="1"/>
          <p:nvPr>
            <p:ph type="title"/>
          </p:nvPr>
        </p:nvSpPr>
        <p:spPr>
          <a:xfrm>
            <a:off x="916939" y="329564"/>
            <a:ext cx="8872800" cy="9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980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Checkpoint </a:t>
            </a:r>
            <a:r>
              <a:rPr lang="en-US">
                <a:latin typeface="Noto Sans Symbols"/>
                <a:ea typeface="Noto Sans Symbols"/>
                <a:cs typeface="Noto Sans Symbols"/>
                <a:sym typeface="Noto Sans Symbols"/>
              </a:rPr>
              <a:t>✔</a:t>
            </a:r>
            <a:endParaRPr/>
          </a:p>
        </p:txBody>
      </p:sp>
      <p:sp>
        <p:nvSpPr>
          <p:cNvPr id="197" name="Google Shape;197;p14"/>
          <p:cNvSpPr txBox="1"/>
          <p:nvPr/>
        </p:nvSpPr>
        <p:spPr>
          <a:xfrm>
            <a:off x="1129385" y="2149323"/>
            <a:ext cx="9771380" cy="1998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8250">
            <a:spAutoFit/>
          </a:bodyPr>
          <a:lstStyle/>
          <a:p>
            <a:pPr indent="-227965" lvl="0" marL="24066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What are the “strategic alternatives” in a business plan?</a:t>
            </a:r>
            <a:endParaRPr b="0" i="0" sz="2800" u="none" cap="none" strike="noStrike">
              <a:solidFill>
                <a:srgbClr val="000000"/>
              </a:solidFill>
              <a:latin typeface="Carlito"/>
              <a:ea typeface="Carlito"/>
              <a:cs typeface="Carlito"/>
              <a:sym typeface="Carlito"/>
            </a:endParaRPr>
          </a:p>
          <a:p>
            <a:pPr indent="-227329" lvl="1" marL="697230" marR="873125" rtl="0" algn="l">
              <a:lnSpc>
                <a:spcPct val="107916"/>
              </a:lnSpc>
              <a:spcBef>
                <a:spcPts val="57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Strategic alternatives are alternative plans for production, staffing, 	financing, and so on.</a:t>
            </a:r>
            <a:endParaRPr b="0" i="0" sz="2400" u="none" cap="none" strike="noStrike">
              <a:solidFill>
                <a:srgbClr val="000000"/>
              </a:solidFill>
              <a:latin typeface="Carlito"/>
              <a:ea typeface="Carlito"/>
              <a:cs typeface="Carlito"/>
              <a:sym typeface="Carlito"/>
            </a:endParaRPr>
          </a:p>
          <a:p>
            <a:pPr indent="-227329" lvl="1" marL="69723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Even the best business plan cannot predict every possible circumstance.</a:t>
            </a:r>
            <a:endParaRPr b="0" i="0" sz="2400" u="none" cap="none" strike="noStrike">
              <a:solidFill>
                <a:srgbClr val="000000"/>
              </a:solidFill>
              <a:latin typeface="Carlito"/>
              <a:ea typeface="Carlito"/>
              <a:cs typeface="Carlito"/>
              <a:sym typeface="Carlito"/>
            </a:endParaRPr>
          </a:p>
          <a:p>
            <a:pPr indent="-227329" lvl="1" marL="697230" marR="0" rtl="0" algn="l">
              <a:lnSpc>
                <a:spcPct val="100000"/>
              </a:lnSpc>
              <a:spcBef>
                <a:spcPts val="20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An alternate plan allows a business to be prepared for the unforeseeable.</a:t>
            </a:r>
            <a:endParaRPr b="0" i="0" sz="2400" u="none" cap="none" strike="noStrike">
              <a:solidFill>
                <a:srgbClr val="000000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1882" y="5027240"/>
            <a:ext cx="1201947" cy="1101634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5"/>
          <p:cNvSpPr txBox="1"/>
          <p:nvPr/>
        </p:nvSpPr>
        <p:spPr>
          <a:xfrm>
            <a:off x="916939" y="6431381"/>
            <a:ext cx="679450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SLIDE 18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5"/>
          <p:cNvSpPr txBox="1"/>
          <p:nvPr>
            <p:ph type="title"/>
          </p:nvPr>
        </p:nvSpPr>
        <p:spPr>
          <a:xfrm>
            <a:off x="916961" y="308225"/>
            <a:ext cx="9773700" cy="6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13977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FINANCING THE SMALL BUSINESS</a:t>
            </a:r>
            <a:endParaRPr/>
          </a:p>
        </p:txBody>
      </p:sp>
      <p:sp>
        <p:nvSpPr>
          <p:cNvPr id="205" name="Google Shape;205;p15"/>
          <p:cNvSpPr txBox="1"/>
          <p:nvPr/>
        </p:nvSpPr>
        <p:spPr>
          <a:xfrm>
            <a:off x="1907794" y="1567942"/>
            <a:ext cx="8076565" cy="3934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227329" lvl="0" marL="24002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1" i="0" lang="en-US" sz="2800" u="none" cap="none" strike="noStrike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Types of financing</a:t>
            </a:r>
            <a:endParaRPr b="0" i="0" sz="2800" u="none" cap="none" strike="noStrike">
              <a:solidFill>
                <a:srgbClr val="000000"/>
              </a:solidFill>
              <a:latin typeface="Carlito"/>
              <a:ea typeface="Carlito"/>
              <a:cs typeface="Carlito"/>
              <a:sym typeface="Carlito"/>
            </a:endParaRPr>
          </a:p>
          <a:p>
            <a:pPr indent="-228600" lvl="1" marL="698500" marR="416559" rtl="0" algn="l">
              <a:lnSpc>
                <a:spcPct val="108000"/>
              </a:lnSpc>
              <a:spcBef>
                <a:spcPts val="545"/>
              </a:spcBef>
              <a:spcAft>
                <a:spcPts val="0"/>
              </a:spcAft>
              <a:buClr>
                <a:srgbClr val="FF0000"/>
              </a:buClr>
              <a:buSzPts val="3000"/>
              <a:buFont typeface="Arial"/>
              <a:buChar char="•"/>
            </a:pPr>
            <a:r>
              <a:rPr b="1" i="0" lang="en-US" sz="3000" u="none" cap="none" strike="noStrike">
                <a:solidFill>
                  <a:srgbClr val="FF0000"/>
                </a:solidFill>
                <a:latin typeface="Carlito"/>
                <a:ea typeface="Carlito"/>
                <a:cs typeface="Carlito"/>
                <a:sym typeface="Carlito"/>
              </a:rPr>
              <a:t>Start-up financing- </a:t>
            </a:r>
            <a:r>
              <a:rPr b="1" i="0" lang="en-US" sz="3000" u="none" cap="none" strike="noStrike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the money and details of getting the business started: inventory, supplies</a:t>
            </a:r>
            <a:endParaRPr b="0" i="0" sz="3000" u="none" cap="none" strike="noStrike">
              <a:solidFill>
                <a:srgbClr val="000000"/>
              </a:solidFill>
              <a:latin typeface="Carlito"/>
              <a:ea typeface="Carlito"/>
              <a:cs typeface="Carlito"/>
              <a:sym typeface="Carlito"/>
            </a:endParaRPr>
          </a:p>
          <a:p>
            <a:pPr indent="-228600" lvl="1" marL="698500" marR="378460" rtl="0" algn="l">
              <a:lnSpc>
                <a:spcPct val="108000"/>
              </a:lnSpc>
              <a:spcBef>
                <a:spcPts val="495"/>
              </a:spcBef>
              <a:spcAft>
                <a:spcPts val="0"/>
              </a:spcAft>
              <a:buClr>
                <a:srgbClr val="FF0000"/>
              </a:buClr>
              <a:buSzPts val="3000"/>
              <a:buFont typeface="Arial"/>
              <a:buChar char="•"/>
            </a:pPr>
            <a:r>
              <a:rPr b="1" i="0" lang="en-US" sz="3000" u="none" cap="none" strike="noStrike">
                <a:solidFill>
                  <a:srgbClr val="FF0000"/>
                </a:solidFill>
                <a:latin typeface="Carlito"/>
                <a:ea typeface="Carlito"/>
                <a:cs typeface="Carlito"/>
                <a:sym typeface="Carlito"/>
              </a:rPr>
              <a:t>Short-term financing- </a:t>
            </a:r>
            <a:r>
              <a:rPr b="1" i="0" lang="en-US" sz="3000" u="none" cap="none" strike="noStrike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the money needed for the first year of expenses</a:t>
            </a:r>
            <a:endParaRPr b="0" i="0" sz="3000" u="none" cap="none" strike="noStrike">
              <a:solidFill>
                <a:srgbClr val="000000"/>
              </a:solidFill>
              <a:latin typeface="Carlito"/>
              <a:ea typeface="Carlito"/>
              <a:cs typeface="Carlito"/>
              <a:sym typeface="Carlito"/>
            </a:endParaRPr>
          </a:p>
          <a:p>
            <a:pPr indent="-228600" lvl="1" marL="698500" marR="5080" rtl="0" algn="l">
              <a:lnSpc>
                <a:spcPct val="90000"/>
              </a:lnSpc>
              <a:spcBef>
                <a:spcPts val="455"/>
              </a:spcBef>
              <a:spcAft>
                <a:spcPts val="0"/>
              </a:spcAft>
              <a:buClr>
                <a:srgbClr val="FF0000"/>
              </a:buClr>
              <a:buSzPts val="3000"/>
              <a:buFont typeface="Arial"/>
              <a:buChar char="•"/>
            </a:pPr>
            <a:r>
              <a:rPr b="1" i="0" lang="en-US" sz="3000" u="none" cap="none" strike="noStrike">
                <a:solidFill>
                  <a:srgbClr val="FF0000"/>
                </a:solidFill>
                <a:latin typeface="Carlito"/>
                <a:ea typeface="Carlito"/>
                <a:cs typeface="Carlito"/>
                <a:sym typeface="Carlito"/>
              </a:rPr>
              <a:t>Long-term financing- </a:t>
            </a:r>
            <a:r>
              <a:rPr b="1" i="0" lang="en-US" sz="3000" u="none" cap="none" strike="noStrike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a 3-5 year plan of success for the business, identify long term financial needs.</a:t>
            </a:r>
            <a:endParaRPr b="0" i="0" sz="3000" u="none" cap="none" strike="noStrike">
              <a:solidFill>
                <a:srgbClr val="000000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1882" y="5027240"/>
            <a:ext cx="1201947" cy="1101634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6"/>
          <p:cNvSpPr txBox="1"/>
          <p:nvPr>
            <p:ph type="title"/>
          </p:nvPr>
        </p:nvSpPr>
        <p:spPr>
          <a:xfrm>
            <a:off x="916939" y="329564"/>
            <a:ext cx="8872800" cy="14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2225">
            <a:spAutoFit/>
          </a:bodyPr>
          <a:lstStyle/>
          <a:p>
            <a:pPr indent="0" lvl="0" marL="12700" marR="508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MAJOR BENEFITS of SOLE PROPRIETORSHIP</a:t>
            </a:r>
            <a:endParaRPr/>
          </a:p>
        </p:txBody>
      </p:sp>
      <p:sp>
        <p:nvSpPr>
          <p:cNvPr id="212" name="Google Shape;212;p16"/>
          <p:cNvSpPr txBox="1"/>
          <p:nvPr/>
        </p:nvSpPr>
        <p:spPr>
          <a:xfrm>
            <a:off x="916939" y="1814575"/>
            <a:ext cx="6559550" cy="3542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6050">
            <a:spAutoFit/>
          </a:bodyPr>
          <a:lstStyle/>
          <a:p>
            <a:pPr indent="-340995" lvl="0" marL="35369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Char char="•"/>
            </a:pPr>
            <a:r>
              <a:rPr b="0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Ease of starting and ending the business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0995" lvl="0" marL="353695" marR="0" rtl="0" algn="l">
              <a:lnSpc>
                <a:spcPct val="100000"/>
              </a:lnSpc>
              <a:spcBef>
                <a:spcPts val="137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Char char="•"/>
            </a:pPr>
            <a:r>
              <a:rPr b="0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Being your own boss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0995" lvl="0" marL="353695" marR="0" rtl="0" algn="l">
              <a:lnSpc>
                <a:spcPct val="100000"/>
              </a:lnSpc>
              <a:spcBef>
                <a:spcPts val="138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Char char="•"/>
            </a:pPr>
            <a:r>
              <a:rPr b="0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Pride of ownership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0995" lvl="0" marL="353695" marR="0" rtl="0" algn="l">
              <a:lnSpc>
                <a:spcPct val="100000"/>
              </a:lnSpc>
              <a:spcBef>
                <a:spcPts val="138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Char char="•"/>
            </a:pPr>
            <a:r>
              <a:rPr b="0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Leaving a legacy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0995" lvl="0" marL="353695" marR="0" rtl="0" algn="l">
              <a:lnSpc>
                <a:spcPct val="100000"/>
              </a:lnSpc>
              <a:spcBef>
                <a:spcPts val="137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Char char="•"/>
            </a:pPr>
            <a:r>
              <a:rPr b="0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Retention of company profit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0995" lvl="0" marL="353695" marR="0" rtl="0" algn="l">
              <a:lnSpc>
                <a:spcPct val="100000"/>
              </a:lnSpc>
              <a:spcBef>
                <a:spcPts val="1385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Char char="•"/>
            </a:pPr>
            <a:r>
              <a:rPr b="0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special taxes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1875" y="5573375"/>
            <a:ext cx="583100" cy="70945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7"/>
          <p:cNvSpPr txBox="1"/>
          <p:nvPr>
            <p:ph type="title"/>
          </p:nvPr>
        </p:nvSpPr>
        <p:spPr>
          <a:xfrm>
            <a:off x="916939" y="329564"/>
            <a:ext cx="8872800" cy="14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2225">
            <a:spAutoFit/>
          </a:bodyPr>
          <a:lstStyle/>
          <a:p>
            <a:pPr indent="0" lvl="0" marL="12700" marR="508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DISADVANTAGES of SOLE PROPRIETORSHIPS</a:t>
            </a:r>
            <a:endParaRPr/>
          </a:p>
        </p:txBody>
      </p:sp>
      <p:sp>
        <p:nvSpPr>
          <p:cNvPr id="219" name="Google Shape;219;p17"/>
          <p:cNvSpPr txBox="1"/>
          <p:nvPr/>
        </p:nvSpPr>
        <p:spPr>
          <a:xfrm>
            <a:off x="1394969" y="2091483"/>
            <a:ext cx="9590400" cy="4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228600" lvl="0" marL="241300" marR="0" rtl="0" algn="l">
              <a:lnSpc>
                <a:spcPct val="1019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•"/>
            </a:pPr>
            <a:r>
              <a:rPr b="1" i="0" lang="en-US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Unlimited Liability -- </a:t>
            </a:r>
            <a:r>
              <a:rPr b="0" i="1" lang="en-US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Any debts or damages incurred by the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41300" marR="5080" rtl="0" algn="l">
              <a:lnSpc>
                <a:spcPct val="70000"/>
              </a:lnSpc>
              <a:spcBef>
                <a:spcPts val="465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1" lang="en-US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business are your debts, even if it means selling your home, car or anything else. s</a:t>
            </a:r>
            <a:r>
              <a:rPr i="1" lang="en-US" sz="2600"/>
              <a:t>o it affects the personal assets of the owner.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41300" marR="0" rtl="0" algn="l">
              <a:lnSpc>
                <a:spcPct val="100000"/>
              </a:lnSpc>
              <a:spcBef>
                <a:spcPts val="755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•"/>
            </a:pPr>
            <a:r>
              <a:rPr b="0" i="0" lang="en-US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Limited financial resources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41300" marR="0" rtl="0" algn="l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•"/>
            </a:pPr>
            <a:r>
              <a:rPr b="0" i="0" lang="en-US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Management difficulties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41300" marR="0" rtl="0" algn="l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•"/>
            </a:pPr>
            <a:r>
              <a:rPr b="0" i="0" lang="en-US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Overwhelming time commitment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41300" marR="0" rtl="0" algn="l">
              <a:lnSpc>
                <a:spcPct val="100000"/>
              </a:lnSpc>
              <a:spcBef>
                <a:spcPts val="755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•"/>
            </a:pPr>
            <a:r>
              <a:rPr b="0" i="0" lang="en-US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Few fringe benefits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41300" marR="0" rtl="0" algn="l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•"/>
            </a:pPr>
            <a:r>
              <a:rPr b="0" i="0" lang="en-US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Limited growth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41300" marR="0" rtl="0" algn="l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•"/>
            </a:pPr>
            <a:r>
              <a:rPr b="0" i="0" lang="en-US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Limited life span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5100" y="5748175"/>
            <a:ext cx="686875" cy="41155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18"/>
          <p:cNvSpPr txBox="1"/>
          <p:nvPr>
            <p:ph type="title"/>
          </p:nvPr>
        </p:nvSpPr>
        <p:spPr>
          <a:xfrm>
            <a:off x="916939" y="614248"/>
            <a:ext cx="9216900" cy="6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MAJOR TYPES of PARTNERSHIPS</a:t>
            </a:r>
            <a:endParaRPr/>
          </a:p>
        </p:txBody>
      </p:sp>
      <p:sp>
        <p:nvSpPr>
          <p:cNvPr id="226" name="Google Shape;226;p18"/>
          <p:cNvSpPr txBox="1"/>
          <p:nvPr>
            <p:ph idx="1" type="body"/>
          </p:nvPr>
        </p:nvSpPr>
        <p:spPr>
          <a:xfrm>
            <a:off x="952245" y="1977644"/>
            <a:ext cx="10287600" cy="3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7925">
            <a:spAutoFit/>
          </a:bodyPr>
          <a:lstStyle/>
          <a:p>
            <a:pPr indent="-227329" lvl="0" marL="661670" marR="508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1" i="0" lang="en-US">
                <a:latin typeface="Arial"/>
                <a:ea typeface="Arial"/>
                <a:cs typeface="Arial"/>
                <a:sym typeface="Arial"/>
              </a:rPr>
              <a:t>General Partnership -- </a:t>
            </a:r>
            <a:r>
              <a:rPr i="1" lang="en-US"/>
              <a:t>All owners share in operating</a:t>
            </a:r>
            <a:r>
              <a:rPr lang="en-US"/>
              <a:t> 	the business and in assuming liability for the 	business’s debts.</a:t>
            </a:r>
            <a:endParaRPr/>
          </a:p>
          <a:p>
            <a:pPr indent="-227329" lvl="0" marL="661670" marR="455294" rtl="0" algn="l">
              <a:lnSpc>
                <a:spcPct val="97500"/>
              </a:lnSpc>
              <a:spcBef>
                <a:spcPts val="31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1" i="0" lang="en-US">
                <a:latin typeface="Arial"/>
                <a:ea typeface="Arial"/>
                <a:cs typeface="Arial"/>
                <a:sym typeface="Arial"/>
              </a:rPr>
              <a:t>Limited Partnership -- </a:t>
            </a:r>
            <a:r>
              <a:rPr i="1" lang="en-US" sz="2800"/>
              <a:t>A partnership with one or more</a:t>
            </a:r>
            <a:r>
              <a:rPr lang="en-US" sz="2800"/>
              <a:t> 	general partners and one or more limited partners.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-227329" lvl="0" marL="661670" rtl="0" algn="l">
              <a:lnSpc>
                <a:spcPct val="100000"/>
              </a:lnSpc>
              <a:spcBef>
                <a:spcPts val="249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i="1" lang="en-US" sz="2800" u="sng">
                <a:solidFill>
                  <a:schemeClr val="hlink"/>
                </a:solidFill>
                <a:hlinkClick r:id="rId4"/>
              </a:rPr>
              <a:t>http://www.roc.gov.bd/acts/partnershipact1932.html</a:t>
            </a:r>
            <a:endParaRPr sz="28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6a594c9a38_0_0"/>
          <p:cNvSpPr txBox="1"/>
          <p:nvPr>
            <p:ph type="title"/>
          </p:nvPr>
        </p:nvSpPr>
        <p:spPr>
          <a:xfrm>
            <a:off x="521975" y="329575"/>
            <a:ext cx="11063400" cy="569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/>
              <a:t>Differences between Limited &amp; General partnership</a:t>
            </a:r>
            <a:endParaRPr sz="3700"/>
          </a:p>
        </p:txBody>
      </p:sp>
      <p:sp>
        <p:nvSpPr>
          <p:cNvPr id="232" name="Google Shape;232;g36a594c9a38_0_0"/>
          <p:cNvSpPr txBox="1"/>
          <p:nvPr>
            <p:ph idx="1" type="body"/>
          </p:nvPr>
        </p:nvSpPr>
        <p:spPr>
          <a:xfrm flipH="1">
            <a:off x="12829350" y="1213775"/>
            <a:ext cx="452400" cy="3940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33" name="Google Shape;233;g36a594c9a38_0_0"/>
          <p:cNvGraphicFramePr/>
          <p:nvPr/>
        </p:nvGraphicFramePr>
        <p:xfrm>
          <a:off x="745650" y="946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{033AB401-F5E8-4464-A604-5B6641DD6895}</a:tableStyleId>
              </a:tblPr>
              <a:tblGrid>
                <a:gridCol w="1593675"/>
                <a:gridCol w="4036975"/>
                <a:gridCol w="4429125"/>
              </a:tblGrid>
              <a:tr h="358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/>
                        <a:t>Aspects</a:t>
                      </a:r>
                      <a:endParaRPr b="1" sz="1300"/>
                    </a:p>
                  </a:txBody>
                  <a:tcPr marT="91425" marB="91425" marR="68575" marL="68575">
                    <a:lnL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/>
                        <a:t>General Partnership</a:t>
                      </a:r>
                      <a:endParaRPr b="1" sz="1300"/>
                    </a:p>
                  </a:txBody>
                  <a:tcPr marT="91425" marB="91425" marR="68575" marL="68575">
                    <a:lnL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/>
                        <a:t>Limited Partnership</a:t>
                      </a:r>
                      <a:endParaRPr b="1" sz="1300"/>
                    </a:p>
                  </a:txBody>
                  <a:tcPr marT="91425" marB="91425" marR="68575" marL="68575">
                    <a:lnL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86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Liability</a:t>
                      </a:r>
                      <a:endParaRPr sz="1300"/>
                    </a:p>
                  </a:txBody>
                  <a:tcPr marT="91425" marB="91425" marR="68575" marL="68575">
                    <a:lnL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Unlimited liability — personally liable for business debts (creditors can go after personal assets like house or savings).</a:t>
                      </a:r>
                      <a:endParaRPr sz="1300"/>
                    </a:p>
                  </a:txBody>
                  <a:tcPr marT="91425" marB="91425" marR="68575" marL="68575">
                    <a:lnL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Limited liability — only liable up to their investment (they can lose the money they put in, but not personal assets).</a:t>
                      </a:r>
                      <a:endParaRPr sz="1300"/>
                    </a:p>
                  </a:txBody>
                  <a:tcPr marT="91425" marB="91425" marR="68575" marL="68575">
                    <a:lnL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6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Decision Making</a:t>
                      </a:r>
                      <a:endParaRPr sz="1300"/>
                    </a:p>
                  </a:txBody>
                  <a:tcPr marT="91425" marB="91425" marR="68575" marL="68575">
                    <a:lnL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Has full control over management and daily operations.</a:t>
                      </a:r>
                      <a:endParaRPr sz="1300"/>
                    </a:p>
                  </a:txBody>
                  <a:tcPr marT="91425" marB="91425" marR="68575" marL="68575">
                    <a:lnL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Cannot be involved in daily operations or management without risking liability status, but can vote on major decisions (e.g. admitting a new partner, approving mergers, or dissolving the partnership).</a:t>
                      </a:r>
                      <a:endParaRPr sz="1300"/>
                    </a:p>
                  </a:txBody>
                  <a:tcPr marT="91425" marB="91425" marR="68575" marL="68575">
                    <a:lnL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23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Risk Exposure</a:t>
                      </a:r>
                      <a:endParaRPr sz="1300"/>
                    </a:p>
                  </a:txBody>
                  <a:tcPr marT="91425" marB="91425" marR="68575" marL="68575">
                    <a:lnL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Higher risk due to personal liability and active management.</a:t>
                      </a:r>
                      <a:endParaRPr sz="1300"/>
                    </a:p>
                  </a:txBody>
                  <a:tcPr marT="91425" marB="91425" marR="68575" marL="68575">
                    <a:lnL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Lower risk since they don’t manage the business and have limited liability.</a:t>
                      </a:r>
                      <a:endParaRPr sz="1300"/>
                    </a:p>
                  </a:txBody>
                  <a:tcPr marT="91425" marB="91425" marR="68575" marL="68575">
                    <a:lnL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86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Role in Partnership</a:t>
                      </a:r>
                      <a:endParaRPr sz="1300"/>
                    </a:p>
                  </a:txBody>
                  <a:tcPr marT="91425" marB="91425" marR="68575" marL="68575">
                    <a:lnL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Active participant; manages and operates the business.</a:t>
                      </a:r>
                      <a:endParaRPr sz="1300"/>
                    </a:p>
                  </a:txBody>
                  <a:tcPr marT="91425" marB="91425" marR="68575" marL="68575">
                    <a:lnL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Passive investor; provides capital and may be consulted on major business issues, but not involved in daily management.</a:t>
                      </a:r>
                      <a:endParaRPr sz="1300"/>
                    </a:p>
                  </a:txBody>
                  <a:tcPr marT="91425" marB="91425" marR="68575" marL="68575">
                    <a:lnL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29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Profit Sharing</a:t>
                      </a:r>
                      <a:endParaRPr sz="1300"/>
                    </a:p>
                  </a:txBody>
                  <a:tcPr marT="91425" marB="91425" marR="68575" marL="68575">
                    <a:lnL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Shares profits and losses as outlined in the partnership agreement. If no agreement exists, profits are usually split equally among general partners, regardless of capital contribution. They often get a bigger share of the profits because they take on more risk and run the business.</a:t>
                      </a:r>
                      <a:endParaRPr sz="1300"/>
                    </a:p>
                  </a:txBody>
                  <a:tcPr marT="91425" marB="91425" marR="68575" marL="68575">
                    <a:lnL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Shares in profits/losses based on the percentage of capital contributed or as stated in the agreement. They typically receive a fixed return or agreed percentage.</a:t>
                      </a:r>
                      <a:endParaRPr sz="1300"/>
                    </a:p>
                  </a:txBody>
                  <a:tcPr marT="91425" marB="91425" marR="68575" marL="68575">
                    <a:lnL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23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Continuity</a:t>
                      </a:r>
                      <a:endParaRPr sz="1300"/>
                    </a:p>
                  </a:txBody>
                  <a:tcPr marT="91425" marB="91425" marR="68575" marL="68575">
                    <a:lnL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If a general partner leaves, the partnership might end unless the agreement says otherwise.</a:t>
                      </a:r>
                      <a:endParaRPr sz="1300"/>
                    </a:p>
                  </a:txBody>
                  <a:tcPr marT="91425" marB="91425" marR="68575" marL="68575">
                    <a:lnL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If a limited partner leaves, the partnership usually continues as long as the agreement allows it.</a:t>
                      </a:r>
                      <a:endParaRPr sz="1300"/>
                    </a:p>
                  </a:txBody>
                  <a:tcPr marT="91425" marB="91425" marR="68575" marL="68575">
                    <a:lnL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1882" y="5027240"/>
            <a:ext cx="1201947" cy="1101634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19"/>
          <p:cNvSpPr txBox="1"/>
          <p:nvPr>
            <p:ph type="title"/>
          </p:nvPr>
        </p:nvSpPr>
        <p:spPr>
          <a:xfrm>
            <a:off x="916939" y="329564"/>
            <a:ext cx="8872800" cy="14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2225">
            <a:spAutoFit/>
          </a:bodyPr>
          <a:lstStyle/>
          <a:p>
            <a:pPr indent="0" lvl="0" marL="12700" marR="508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ADVANTAGES of PARTNERSHIPS</a:t>
            </a:r>
            <a:endParaRPr/>
          </a:p>
        </p:txBody>
      </p:sp>
      <p:sp>
        <p:nvSpPr>
          <p:cNvPr id="240" name="Google Shape;240;p19"/>
          <p:cNvSpPr txBox="1"/>
          <p:nvPr/>
        </p:nvSpPr>
        <p:spPr>
          <a:xfrm>
            <a:off x="1374394" y="1812442"/>
            <a:ext cx="8803640" cy="2961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6050">
            <a:spAutoFit/>
          </a:bodyPr>
          <a:lstStyle/>
          <a:p>
            <a:pPr indent="-227329" lvl="0" marL="24002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More financial resources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7329" lvl="0" marL="240029" marR="0" rtl="0" algn="l">
              <a:lnSpc>
                <a:spcPct val="100000"/>
              </a:lnSpc>
              <a:spcBef>
                <a:spcPts val="137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Shared management and pooled skills and knowledge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7329" lvl="0" marL="240029" marR="0" rtl="0" algn="l">
              <a:lnSpc>
                <a:spcPct val="100000"/>
              </a:lnSpc>
              <a:spcBef>
                <a:spcPts val="1355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Longer survival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7329" lvl="0" marL="240029" marR="0" rtl="0" algn="l">
              <a:lnSpc>
                <a:spcPct val="100000"/>
              </a:lnSpc>
              <a:spcBef>
                <a:spcPts val="137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special taxes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7329" lvl="0" marL="240029" marR="0" rtl="0" algn="l">
              <a:lnSpc>
                <a:spcPct val="100000"/>
              </a:lnSpc>
              <a:spcBef>
                <a:spcPts val="1335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sng" cap="none" strike="noStrike">
                <a:solidFill>
                  <a:schemeClr val="hlink"/>
                </a:solidFill>
                <a:latin typeface="Carlito"/>
                <a:ea typeface="Carlito"/>
                <a:cs typeface="Carlito"/>
                <a:sym typeface="Carlito"/>
                <a:hlinkClick r:id="rId4"/>
              </a:rPr>
              <a:t>http://en.banglapedia.org/index.php?title=Partnership_Business</a:t>
            </a:r>
            <a:endParaRPr b="0" i="0" sz="2400" u="none" cap="none" strike="noStrike">
              <a:solidFill>
                <a:srgbClr val="000000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1882" y="5027240"/>
            <a:ext cx="1201947" cy="1101634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0"/>
          <p:cNvSpPr txBox="1"/>
          <p:nvPr>
            <p:ph type="title"/>
          </p:nvPr>
        </p:nvSpPr>
        <p:spPr>
          <a:xfrm>
            <a:off x="916939" y="329564"/>
            <a:ext cx="8872800" cy="14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2225">
            <a:spAutoFit/>
          </a:bodyPr>
          <a:lstStyle/>
          <a:p>
            <a:pPr indent="0" lvl="0" marL="12700" marR="508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DISADVANTAGES of PARTNERSHIPS</a:t>
            </a:r>
            <a:endParaRPr/>
          </a:p>
        </p:txBody>
      </p:sp>
      <p:sp>
        <p:nvSpPr>
          <p:cNvPr id="247" name="Google Shape;247;p20"/>
          <p:cNvSpPr txBox="1"/>
          <p:nvPr/>
        </p:nvSpPr>
        <p:spPr>
          <a:xfrm>
            <a:off x="1374394" y="1812442"/>
            <a:ext cx="5241290" cy="24263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6050">
            <a:spAutoFit/>
          </a:bodyPr>
          <a:lstStyle/>
          <a:p>
            <a:pPr indent="-227329" lvl="0" marL="24002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Unlimited liability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7329" lvl="0" marL="240029" marR="0" rtl="0" algn="l">
              <a:lnSpc>
                <a:spcPct val="100000"/>
              </a:lnSpc>
              <a:spcBef>
                <a:spcPts val="137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Division of profits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7329" lvl="0" marL="240029" marR="0" rtl="0" algn="l">
              <a:lnSpc>
                <a:spcPct val="100000"/>
              </a:lnSpc>
              <a:spcBef>
                <a:spcPts val="1355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Difficult to terminate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7329" lvl="0" marL="240029" marR="0" rtl="0" algn="l">
              <a:lnSpc>
                <a:spcPct val="100000"/>
              </a:lnSpc>
              <a:spcBef>
                <a:spcPts val="137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Disagreements among partners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2"/>
          <p:cNvSpPr txBox="1"/>
          <p:nvPr/>
        </p:nvSpPr>
        <p:spPr>
          <a:xfrm>
            <a:off x="916950" y="576375"/>
            <a:ext cx="9054000" cy="50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0950">
            <a:spAutoFit/>
          </a:bodyPr>
          <a:lstStyle/>
          <a:p>
            <a:pPr indent="-177165" lvl="0" marL="240029" marR="5080" rtl="0" algn="l">
              <a:lnSpc>
                <a:spcPct val="10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Mainly three types of business structure are continuing in 	Bangladesh.</a:t>
            </a:r>
            <a:endParaRPr b="0" i="0" sz="2000" u="none" cap="none" strike="noStrike">
              <a:solidFill>
                <a:srgbClr val="000000"/>
              </a:solidFill>
              <a:latin typeface="Carlito"/>
              <a:ea typeface="Carlito"/>
              <a:cs typeface="Carlito"/>
              <a:sym typeface="Carlito"/>
            </a:endParaRPr>
          </a:p>
          <a:p>
            <a:pPr indent="0" lvl="0" marL="241300" marR="0" rtl="0" algn="l">
              <a:lnSpc>
                <a:spcPct val="10053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These are</a:t>
            </a:r>
            <a:endParaRPr b="0" i="0" sz="2000" u="none" cap="none" strike="noStrike">
              <a:solidFill>
                <a:srgbClr val="000000"/>
              </a:solidFill>
              <a:latin typeface="Carlito"/>
              <a:ea typeface="Carlito"/>
              <a:cs typeface="Carlito"/>
              <a:sym typeface="Carlito"/>
            </a:endParaRPr>
          </a:p>
          <a:p>
            <a:pPr indent="-426084" lvl="1" marL="718185" marR="0" rtl="0" algn="l">
              <a:lnSpc>
                <a:spcPct val="10803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rlito"/>
              <a:buAutoNum type="arabicParenBoth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Limited Company,</a:t>
            </a:r>
            <a:endParaRPr b="0" i="0" sz="2000" u="none" cap="none" strike="noStrike">
              <a:solidFill>
                <a:srgbClr val="000000"/>
              </a:solidFill>
              <a:latin typeface="Carlito"/>
              <a:ea typeface="Carlito"/>
              <a:cs typeface="Carlito"/>
              <a:sym typeface="Carlito"/>
            </a:endParaRPr>
          </a:p>
          <a:p>
            <a:pPr indent="-426719" lvl="1" marL="718820" marR="0" rtl="0" algn="l">
              <a:lnSpc>
                <a:spcPct val="10803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rlito"/>
              <a:buAutoNum type="arabicParenBoth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Partnership Firm and</a:t>
            </a:r>
            <a:endParaRPr b="0" i="0" sz="2000" u="none" cap="none" strike="noStrike">
              <a:solidFill>
                <a:srgbClr val="000000"/>
              </a:solidFill>
              <a:latin typeface="Carlito"/>
              <a:ea typeface="Carlito"/>
              <a:cs typeface="Carlito"/>
              <a:sym typeface="Carlito"/>
            </a:endParaRPr>
          </a:p>
          <a:p>
            <a:pPr indent="-426719" lvl="1" marL="718820" marR="0" rtl="0" algn="l">
              <a:lnSpc>
                <a:spcPct val="11392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rlito"/>
              <a:buAutoNum type="arabicParenBoth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Sole Proprietorship.</a:t>
            </a:r>
            <a:endParaRPr b="0" i="0" sz="2000" u="none" cap="none" strike="noStrike">
              <a:solidFill>
                <a:srgbClr val="000000"/>
              </a:solidFill>
              <a:latin typeface="Carlito"/>
              <a:ea typeface="Carlito"/>
              <a:cs typeface="Carlito"/>
              <a:sym typeface="Carlito"/>
            </a:endParaRPr>
          </a:p>
          <a:p>
            <a:pPr indent="0" lvl="0" marL="241300" marR="0" rtl="0" algn="l">
              <a:lnSpc>
                <a:spcPct val="114107"/>
              </a:lnSpc>
              <a:spcBef>
                <a:spcPts val="2685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Limited Companies are two types one is</a:t>
            </a:r>
            <a:endParaRPr b="0" i="0" sz="2000" u="none" cap="none" strike="noStrike">
              <a:solidFill>
                <a:srgbClr val="000000"/>
              </a:solidFill>
              <a:latin typeface="Carlito"/>
              <a:ea typeface="Carlito"/>
              <a:cs typeface="Carlito"/>
              <a:sym typeface="Carlito"/>
            </a:endParaRPr>
          </a:p>
          <a:p>
            <a:pPr indent="-415290" lvl="2" marL="707390" marR="0" rtl="0" algn="l">
              <a:lnSpc>
                <a:spcPct val="10803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rlito"/>
              <a:buAutoNum type="alphaLcParenBoth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Private Limited Company: </a:t>
            </a:r>
            <a:r>
              <a:rPr lang="en-US" sz="2000">
                <a:solidFill>
                  <a:schemeClr val="dk1"/>
                </a:solidFill>
              </a:rPr>
              <a:t>A </a:t>
            </a:r>
            <a:r>
              <a:rPr b="1" lang="en-US" sz="2000">
                <a:solidFill>
                  <a:schemeClr val="dk1"/>
                </a:solidFill>
              </a:rPr>
              <a:t>private limited company</a:t>
            </a:r>
            <a:r>
              <a:rPr lang="en-US" sz="2000">
                <a:solidFill>
                  <a:schemeClr val="dk1"/>
                </a:solidFill>
              </a:rPr>
              <a:t> is a business owned by a small group of people (like family or close associates). Its shares are </a:t>
            </a:r>
            <a:r>
              <a:rPr b="1" lang="en-US" sz="2000">
                <a:solidFill>
                  <a:schemeClr val="dk1"/>
                </a:solidFill>
              </a:rPr>
              <a:t>not available to the public</a:t>
            </a:r>
            <a:r>
              <a:rPr lang="en-US" sz="2000">
                <a:solidFill>
                  <a:schemeClr val="dk1"/>
                </a:solidFill>
              </a:rPr>
              <a:t>, and they </a:t>
            </a:r>
            <a:r>
              <a:rPr b="1" lang="en-US" sz="2000">
                <a:solidFill>
                  <a:schemeClr val="dk1"/>
                </a:solidFill>
              </a:rPr>
              <a:t>can’t be traded on the stock exchange</a:t>
            </a:r>
            <a:r>
              <a:rPr lang="en-US" sz="2000">
                <a:solidFill>
                  <a:schemeClr val="dk1"/>
                </a:solidFill>
              </a:rPr>
              <a:t>. Ownership is usually limited to a few shareholders.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 and another is</a:t>
            </a:r>
            <a:endParaRPr b="0" i="0" sz="2000" u="none" cap="none" strike="noStrike">
              <a:solidFill>
                <a:srgbClr val="000000"/>
              </a:solidFill>
              <a:latin typeface="Carlito"/>
              <a:ea typeface="Carlito"/>
              <a:cs typeface="Carlito"/>
              <a:sym typeface="Carlito"/>
            </a:endParaRPr>
          </a:p>
          <a:p>
            <a:pPr indent="-432434" lvl="2" marL="724535" marR="0" rtl="0" algn="l">
              <a:lnSpc>
                <a:spcPct val="11392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rlito"/>
              <a:buAutoNum type="alphaLcParenBoth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Public Limited Company</a:t>
            </a:r>
            <a:r>
              <a:rPr lang="en-US" sz="2000">
                <a:latin typeface="Carlito"/>
                <a:ea typeface="Carlito"/>
                <a:cs typeface="Carlito"/>
                <a:sym typeface="Carlito"/>
              </a:rPr>
              <a:t>: </a:t>
            </a:r>
            <a:r>
              <a:rPr lang="en-US" sz="2000">
                <a:solidFill>
                  <a:schemeClr val="dk1"/>
                </a:solidFill>
              </a:rPr>
              <a:t>A </a:t>
            </a:r>
            <a:r>
              <a:rPr b="1" lang="en-US" sz="2000">
                <a:solidFill>
                  <a:schemeClr val="dk1"/>
                </a:solidFill>
              </a:rPr>
              <a:t>public limited company</a:t>
            </a:r>
            <a:r>
              <a:rPr lang="en-US" sz="2000">
                <a:solidFill>
                  <a:schemeClr val="dk1"/>
                </a:solidFill>
              </a:rPr>
              <a:t> is a business whose shares are </a:t>
            </a:r>
            <a:r>
              <a:rPr b="1" lang="en-US" sz="2000">
                <a:solidFill>
                  <a:schemeClr val="dk1"/>
                </a:solidFill>
              </a:rPr>
              <a:t>offered to the public</a:t>
            </a:r>
            <a:r>
              <a:rPr lang="en-US" sz="2000">
                <a:solidFill>
                  <a:schemeClr val="dk1"/>
                </a:solidFill>
              </a:rPr>
              <a:t> and can be </a:t>
            </a:r>
            <a:r>
              <a:rPr b="1" lang="en-US" sz="2000">
                <a:solidFill>
                  <a:schemeClr val="dk1"/>
                </a:solidFill>
              </a:rPr>
              <a:t>traded on a stock exchange</a:t>
            </a:r>
            <a:r>
              <a:rPr lang="en-US" sz="2000">
                <a:solidFill>
                  <a:schemeClr val="dk1"/>
                </a:solidFill>
              </a:rPr>
              <a:t>. </a:t>
            </a:r>
            <a:endParaRPr b="0" i="0" sz="2000" u="none" cap="none" strike="noStrike">
              <a:solidFill>
                <a:srgbClr val="000000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pic>
        <p:nvPicPr>
          <p:cNvPr id="253" name="Google Shape;25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0" y="6109750"/>
            <a:ext cx="609600" cy="595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3"/>
          <p:cNvSpPr txBox="1"/>
          <p:nvPr/>
        </p:nvSpPr>
        <p:spPr>
          <a:xfrm>
            <a:off x="916950" y="566103"/>
            <a:ext cx="10199400" cy="42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0950">
            <a:spAutoFit/>
          </a:bodyPr>
          <a:lstStyle/>
          <a:p>
            <a:pPr indent="0" lvl="0" marL="0" marR="5080" rtl="0" algn="l">
              <a:lnSpc>
                <a:spcPct val="107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Carlito"/>
                <a:ea typeface="Carlito"/>
                <a:cs typeface="Carlito"/>
                <a:sym typeface="Carlito"/>
              </a:rPr>
              <a:t>Joint venture:</a:t>
            </a:r>
            <a:endParaRPr b="1" sz="2800">
              <a:latin typeface="Carlito"/>
              <a:ea typeface="Carlito"/>
              <a:cs typeface="Carlito"/>
              <a:sym typeface="Carlito"/>
            </a:endParaRPr>
          </a:p>
          <a:p>
            <a:pPr indent="-374650" lvl="0" marL="457200" marR="5080" rtl="0" algn="l">
              <a:lnSpc>
                <a:spcPct val="107857"/>
              </a:lnSpc>
              <a:spcBef>
                <a:spcPts val="0"/>
              </a:spcBef>
              <a:spcAft>
                <a:spcPts val="0"/>
              </a:spcAft>
              <a:buSzPts val="2300"/>
              <a:buFont typeface="Carlito"/>
              <a:buChar char="●"/>
            </a:pPr>
            <a:r>
              <a:rPr lang="en-US" sz="2300">
                <a:solidFill>
                  <a:schemeClr val="dk1"/>
                </a:solidFill>
              </a:rPr>
              <a:t>A </a:t>
            </a:r>
            <a:r>
              <a:rPr b="1" lang="en-US" sz="2300">
                <a:solidFill>
                  <a:schemeClr val="dk1"/>
                </a:solidFill>
              </a:rPr>
              <a:t>Joint Venture (JV) company</a:t>
            </a:r>
            <a:r>
              <a:rPr lang="en-US" sz="2300">
                <a:solidFill>
                  <a:schemeClr val="dk1"/>
                </a:solidFill>
              </a:rPr>
              <a:t> is a </a:t>
            </a:r>
            <a:r>
              <a:rPr b="1" lang="en-US" sz="2300">
                <a:solidFill>
                  <a:schemeClr val="dk1"/>
                </a:solidFill>
              </a:rPr>
              <a:t>business arrangement where two or more parties</a:t>
            </a:r>
            <a:r>
              <a:rPr lang="en-US" sz="2300">
                <a:solidFill>
                  <a:schemeClr val="dk1"/>
                </a:solidFill>
              </a:rPr>
              <a:t> (individuals, companies, or organizations) </a:t>
            </a:r>
            <a:r>
              <a:rPr b="1" lang="en-US" sz="2300">
                <a:solidFill>
                  <a:schemeClr val="dk1"/>
                </a:solidFill>
              </a:rPr>
              <a:t>agree to pool their resources</a:t>
            </a:r>
            <a:r>
              <a:rPr lang="en-US" sz="2300">
                <a:solidFill>
                  <a:schemeClr val="dk1"/>
                </a:solidFill>
              </a:rPr>
              <a:t> to achieve a specific goal — usually a project or a business activity — and they </a:t>
            </a:r>
            <a:r>
              <a:rPr b="1" lang="en-US" sz="2300">
                <a:solidFill>
                  <a:schemeClr val="dk1"/>
                </a:solidFill>
              </a:rPr>
              <a:t>share ownership, risks, and profits</a:t>
            </a:r>
            <a:r>
              <a:rPr lang="en-US" sz="2300">
                <a:solidFill>
                  <a:schemeClr val="dk1"/>
                </a:solidFill>
              </a:rPr>
              <a:t>. t’s temporary or limited to the project’s life. Can have new name or a combined name. The companies’ legal entity remain separate. Doesn’t form a single entity. Both risk and profit are typically shared in proportion to their contribution.</a:t>
            </a:r>
            <a:endParaRPr b="1" sz="2300">
              <a:latin typeface="Carlito"/>
              <a:ea typeface="Carlito"/>
              <a:cs typeface="Carlito"/>
              <a:sym typeface="Carlito"/>
            </a:endParaRPr>
          </a:p>
          <a:p>
            <a:pPr indent="-374650" lvl="0" marL="457200" marR="2730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Char char="●"/>
            </a:pPr>
            <a:r>
              <a:rPr b="1" i="0" lang="en-US" sz="2300" u="none" cap="none" strike="noStrike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For forming a Joint Venture Company minimum member should be two and maximum fifty. In Bangladesh no scope to start a Limited Company by one man.</a:t>
            </a:r>
            <a:endParaRPr b="0" i="0" sz="2300" u="none" cap="none" strike="noStrike">
              <a:solidFill>
                <a:srgbClr val="000000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pic>
        <p:nvPicPr>
          <p:cNvPr id="259" name="Google Shape;25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0" y="6109750"/>
            <a:ext cx="609600" cy="595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4"/>
          <p:cNvSpPr txBox="1"/>
          <p:nvPr>
            <p:ph type="title"/>
          </p:nvPr>
        </p:nvSpPr>
        <p:spPr>
          <a:xfrm>
            <a:off x="916939" y="609676"/>
            <a:ext cx="3655200" cy="6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u="sng">
                <a:latin typeface="Arial Black"/>
                <a:ea typeface="Arial Black"/>
                <a:cs typeface="Arial Black"/>
                <a:sym typeface="Arial Black"/>
              </a:rPr>
              <a:t>Corporation</a:t>
            </a:r>
            <a:endParaRPr/>
          </a:p>
        </p:txBody>
      </p:sp>
      <p:pic>
        <p:nvPicPr>
          <p:cNvPr id="265" name="Google Shape;26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8972" y="1242060"/>
            <a:ext cx="3684270" cy="8915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6" name="Google Shape;266;p24"/>
          <p:cNvGrpSpPr/>
          <p:nvPr/>
        </p:nvGrpSpPr>
        <p:grpSpPr>
          <a:xfrm>
            <a:off x="1639277" y="1650780"/>
            <a:ext cx="3827526" cy="5333250"/>
            <a:chOff x="528827" y="1496555"/>
            <a:chExt cx="3827526" cy="5333250"/>
          </a:xfrm>
        </p:grpSpPr>
        <p:pic>
          <p:nvPicPr>
            <p:cNvPr id="267" name="Google Shape;267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44007" y="2481187"/>
              <a:ext cx="122882" cy="12269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8" name="Google Shape;268;p2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261695" y="2407352"/>
              <a:ext cx="2178889" cy="2915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9" name="Google Shape;269;p2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52855" y="2645663"/>
              <a:ext cx="500634" cy="6271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0" name="Google Shape;270;p2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065276" y="2648711"/>
              <a:ext cx="2841498" cy="6240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1" name="Google Shape;271;p24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765047" y="3072383"/>
              <a:ext cx="448830" cy="5844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2" name="Google Shape;272;p24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1229868" y="3043427"/>
              <a:ext cx="1948433" cy="6240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3" name="Google Shape;273;p24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728471" y="3381755"/>
              <a:ext cx="546354" cy="7170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4" name="Google Shape;274;p24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1062227" y="3433571"/>
              <a:ext cx="942594" cy="62102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5" name="Google Shape;275;p2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52855" y="3831336"/>
              <a:ext cx="500634" cy="6271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6" name="Google Shape;276;p24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1065276" y="3834383"/>
              <a:ext cx="2256281" cy="6240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7" name="Google Shape;277;p2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52855" y="4226052"/>
              <a:ext cx="500634" cy="6271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8" name="Google Shape;278;p24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1065276" y="4229099"/>
              <a:ext cx="2932938" cy="6240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9" name="Google Shape;279;p24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765047" y="4652771"/>
              <a:ext cx="448830" cy="58445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0" name="Google Shape;280;p24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1229868" y="4623815"/>
              <a:ext cx="1386078" cy="6240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1" name="Google Shape;281;p2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52855" y="5017007"/>
              <a:ext cx="500634" cy="6271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2" name="Google Shape;282;p24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1065276" y="5020056"/>
              <a:ext cx="2701290" cy="6240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3" name="Google Shape;283;p24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765047" y="5443715"/>
              <a:ext cx="448830" cy="58445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4" name="Google Shape;284;p24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1229868" y="5414771"/>
              <a:ext cx="3126485" cy="6240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5" name="Google Shape;285;p2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52855" y="5806439"/>
              <a:ext cx="500634" cy="6271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6" name="Google Shape;286;p24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1065276" y="5809488"/>
              <a:ext cx="2259329" cy="6240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7" name="Google Shape;287;p24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765047" y="6234690"/>
              <a:ext cx="448830" cy="5844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8" name="Google Shape;288;p24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1229868" y="6205727"/>
              <a:ext cx="2913126" cy="6240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9" name="Google Shape;289;p24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528827" y="1496555"/>
              <a:ext cx="3710178" cy="88621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0" name="Google Shape;290;p24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1197863" y="1592579"/>
              <a:ext cx="2559558" cy="79019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1" name="Google Shape;291;p24"/>
          <p:cNvSpPr txBox="1"/>
          <p:nvPr/>
        </p:nvSpPr>
        <p:spPr>
          <a:xfrm>
            <a:off x="1910025" y="1693625"/>
            <a:ext cx="4225800" cy="50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50291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Advantages</a:t>
            </a:r>
            <a:endParaRPr b="0" i="0" sz="28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0515" lvl="0" marL="323215" marR="0" rtl="0" algn="l">
              <a:lnSpc>
                <a:spcPct val="100000"/>
              </a:lnSpc>
              <a:spcBef>
                <a:spcPts val="1650"/>
              </a:spcBef>
              <a:spcAft>
                <a:spcPts val="0"/>
              </a:spcAft>
              <a:buClr>
                <a:srgbClr val="800080"/>
              </a:buClr>
              <a:buSzPts val="2200"/>
              <a:buFont typeface="Tahoma"/>
              <a:buChar char="•"/>
            </a:pPr>
            <a:r>
              <a:rPr b="1" i="0" lang="en-US" sz="2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Limited liability</a:t>
            </a:r>
            <a:endParaRPr b="0" i="0" sz="2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0515" lvl="0" marL="323215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00080"/>
              </a:buClr>
              <a:buSzPts val="2200"/>
              <a:buFont typeface="Tahoma"/>
              <a:buChar char="•"/>
            </a:pPr>
            <a:r>
              <a:rPr b="1" i="0" lang="en-US" sz="2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More money for</a:t>
            </a:r>
            <a:endParaRPr b="0" i="0" sz="2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475615" lvl="0" marL="488315" marR="0" rtl="0" algn="l">
              <a:lnSpc>
                <a:spcPct val="100000"/>
              </a:lnSpc>
              <a:spcBef>
                <a:spcPts val="470"/>
              </a:spcBef>
              <a:spcAft>
                <a:spcPts val="0"/>
              </a:spcAft>
              <a:buClr>
                <a:srgbClr val="800080"/>
              </a:buClr>
              <a:buSzPts val="2200"/>
              <a:buFont typeface="Arial"/>
              <a:buChar char="•"/>
            </a:pPr>
            <a:r>
              <a:rPr b="1" i="0" lang="en-US" sz="2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investment</a:t>
            </a:r>
            <a:endParaRPr b="0" i="0" sz="2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6070" lvl="0" marL="318770" marR="0" rtl="0" algn="l">
              <a:lnSpc>
                <a:spcPct val="100000"/>
              </a:lnSpc>
              <a:spcBef>
                <a:spcPts val="430"/>
              </a:spcBef>
              <a:spcAft>
                <a:spcPts val="0"/>
              </a:spcAft>
              <a:buClr>
                <a:srgbClr val="800080"/>
              </a:buClr>
              <a:buSzPts val="2750"/>
              <a:buFont typeface="Arial"/>
              <a:buChar char="•"/>
            </a:pPr>
            <a:r>
              <a:rPr b="1" i="0" lang="en-US" sz="2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Size</a:t>
            </a:r>
            <a:endParaRPr b="0" i="0" sz="2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0515" lvl="0" marL="323215" marR="0" rtl="0" algn="l">
              <a:lnSpc>
                <a:spcPct val="100000"/>
              </a:lnSpc>
              <a:spcBef>
                <a:spcPts val="515"/>
              </a:spcBef>
              <a:spcAft>
                <a:spcPts val="0"/>
              </a:spcAft>
              <a:buClr>
                <a:srgbClr val="800080"/>
              </a:buClr>
              <a:buSzPts val="2200"/>
              <a:buFont typeface="Tahoma"/>
              <a:buChar char="•"/>
            </a:pPr>
            <a:r>
              <a:rPr b="1" i="0" lang="en-US" sz="2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Perpetual life</a:t>
            </a:r>
            <a:endParaRPr b="0" i="0" sz="2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0515" lvl="0" marL="323215" marR="0" rtl="0" algn="l">
              <a:lnSpc>
                <a:spcPct val="100000"/>
              </a:lnSpc>
              <a:spcBef>
                <a:spcPts val="470"/>
              </a:spcBef>
              <a:spcAft>
                <a:spcPts val="0"/>
              </a:spcAft>
              <a:buClr>
                <a:srgbClr val="800080"/>
              </a:buClr>
              <a:buSzPts val="2200"/>
              <a:buFont typeface="Tahoma"/>
              <a:buChar char="•"/>
            </a:pPr>
            <a:r>
              <a:rPr b="1" i="0" lang="en-US" sz="2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Ease of ownership</a:t>
            </a:r>
            <a:endParaRPr b="0" i="0" sz="2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475615" lvl="0" marL="488315" marR="0" rtl="0" algn="l">
              <a:lnSpc>
                <a:spcPct val="100000"/>
              </a:lnSpc>
              <a:spcBef>
                <a:spcPts val="470"/>
              </a:spcBef>
              <a:spcAft>
                <a:spcPts val="0"/>
              </a:spcAft>
              <a:buClr>
                <a:srgbClr val="800080"/>
              </a:buClr>
              <a:buSzPts val="2200"/>
              <a:buFont typeface="Arial"/>
              <a:buChar char="•"/>
            </a:pPr>
            <a:r>
              <a:rPr b="1" i="0" lang="en-US" sz="2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change</a:t>
            </a:r>
            <a:endParaRPr b="0" i="0" sz="2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0515" lvl="0" marL="323215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00080"/>
              </a:buClr>
              <a:buSzPts val="2200"/>
              <a:buFont typeface="Tahoma"/>
              <a:buChar char="•"/>
            </a:pPr>
            <a:r>
              <a:rPr b="1" i="0" lang="en-US" sz="2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Ease of drawing</a:t>
            </a:r>
            <a:endParaRPr b="0" i="0" sz="2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475615" lvl="0" marL="488315" marR="0" rtl="0" algn="l">
              <a:lnSpc>
                <a:spcPct val="100000"/>
              </a:lnSpc>
              <a:spcBef>
                <a:spcPts val="470"/>
              </a:spcBef>
              <a:spcAft>
                <a:spcPts val="0"/>
              </a:spcAft>
              <a:buClr>
                <a:srgbClr val="800080"/>
              </a:buClr>
              <a:buSzPts val="2200"/>
              <a:buFont typeface="Arial"/>
              <a:buChar char="•"/>
            </a:pPr>
            <a:r>
              <a:rPr b="1" i="0" lang="en-US" sz="2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talented employees</a:t>
            </a:r>
            <a:endParaRPr b="0" i="0" sz="2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0515" lvl="0" marL="323215" marR="0" rtl="0" algn="l">
              <a:lnSpc>
                <a:spcPct val="100000"/>
              </a:lnSpc>
              <a:spcBef>
                <a:spcPts val="465"/>
              </a:spcBef>
              <a:spcAft>
                <a:spcPts val="0"/>
              </a:spcAft>
              <a:buClr>
                <a:srgbClr val="800080"/>
              </a:buClr>
              <a:buSzPts val="2200"/>
              <a:buFont typeface="Tahoma"/>
              <a:buChar char="•"/>
            </a:pPr>
            <a:r>
              <a:rPr b="1" i="0" lang="en-US" sz="2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Separation of</a:t>
            </a:r>
            <a:endParaRPr b="0" i="0" sz="2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475615" lvl="0" marL="488315" marR="0" rtl="0" algn="l">
              <a:lnSpc>
                <a:spcPct val="100000"/>
              </a:lnSpc>
              <a:spcBef>
                <a:spcPts val="484"/>
              </a:spcBef>
              <a:spcAft>
                <a:spcPts val="0"/>
              </a:spcAft>
              <a:buClr>
                <a:srgbClr val="800080"/>
              </a:buClr>
              <a:buSzPts val="2200"/>
              <a:buFont typeface="Arial"/>
              <a:buChar char="•"/>
            </a:pPr>
            <a:r>
              <a:rPr b="1" i="0" lang="en-US" sz="2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ownership/mgmt.</a:t>
            </a:r>
            <a:endParaRPr b="0" i="0" sz="2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292" name="Google Shape;292;p24"/>
          <p:cNvGrpSpPr/>
          <p:nvPr/>
        </p:nvGrpSpPr>
        <p:grpSpPr>
          <a:xfrm>
            <a:off x="7616461" y="1572383"/>
            <a:ext cx="3621786" cy="3691891"/>
            <a:chOff x="5658611" y="1510283"/>
            <a:chExt cx="3621786" cy="3691891"/>
          </a:xfrm>
        </p:grpSpPr>
        <p:pic>
          <p:nvPicPr>
            <p:cNvPr id="293" name="Google Shape;293;p24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5872623" y="2392795"/>
              <a:ext cx="122882" cy="12269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4" name="Google Shape;294;p24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5891783" y="2162555"/>
              <a:ext cx="3327654" cy="6240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5" name="Google Shape;295;p24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5681471" y="2496311"/>
              <a:ext cx="500634" cy="6271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6" name="Google Shape;296;p24"/>
            <p:cNvPicPr preferRelativeResize="0"/>
            <p:nvPr/>
          </p:nvPicPr>
          <p:blipFill rotWithShape="1">
            <a:blip r:embed="rId24">
              <a:alphaModFix/>
            </a:blip>
            <a:srcRect b="0" l="0" r="0" t="0"/>
            <a:stretch/>
          </p:blipFill>
          <p:spPr>
            <a:xfrm>
              <a:off x="5891783" y="2497836"/>
              <a:ext cx="2615945" cy="6240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7" name="Google Shape;297;p24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5681471" y="2831591"/>
              <a:ext cx="500634" cy="6271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8" name="Google Shape;298;p24"/>
            <p:cNvPicPr preferRelativeResize="0"/>
            <p:nvPr/>
          </p:nvPicPr>
          <p:blipFill rotWithShape="1">
            <a:blip r:embed="rId25">
              <a:alphaModFix/>
            </a:blip>
            <a:srcRect b="0" l="0" r="0" t="0"/>
            <a:stretch/>
          </p:blipFill>
          <p:spPr>
            <a:xfrm>
              <a:off x="5891783" y="2833116"/>
              <a:ext cx="2605277" cy="6240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9" name="Google Shape;299;p24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5681471" y="3166872"/>
              <a:ext cx="500634" cy="6271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0" name="Google Shape;300;p24"/>
            <p:cNvPicPr preferRelativeResize="0"/>
            <p:nvPr/>
          </p:nvPicPr>
          <p:blipFill rotWithShape="1">
            <a:blip r:embed="rId26">
              <a:alphaModFix/>
            </a:blip>
            <a:srcRect b="0" l="0" r="0" t="0"/>
            <a:stretch/>
          </p:blipFill>
          <p:spPr>
            <a:xfrm>
              <a:off x="5891783" y="3168395"/>
              <a:ext cx="945641" cy="6240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1" name="Google Shape;301;p24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5681471" y="3518916"/>
              <a:ext cx="500634" cy="6271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2" name="Google Shape;302;p24"/>
            <p:cNvPicPr preferRelativeResize="0"/>
            <p:nvPr/>
          </p:nvPicPr>
          <p:blipFill rotWithShape="1">
            <a:blip r:embed="rId27">
              <a:alphaModFix/>
            </a:blip>
            <a:srcRect b="0" l="0" r="0" t="0"/>
            <a:stretch/>
          </p:blipFill>
          <p:spPr>
            <a:xfrm>
              <a:off x="5891783" y="3520439"/>
              <a:ext cx="3245358" cy="6240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3" name="Google Shape;303;p24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5681471" y="3870960"/>
              <a:ext cx="500634" cy="6271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4" name="Google Shape;304;p24"/>
            <p:cNvPicPr preferRelativeResize="0"/>
            <p:nvPr/>
          </p:nvPicPr>
          <p:blipFill rotWithShape="1">
            <a:blip r:embed="rId28">
              <a:alphaModFix/>
            </a:blip>
            <a:srcRect b="0" l="0" r="0" t="0"/>
            <a:stretch/>
          </p:blipFill>
          <p:spPr>
            <a:xfrm>
              <a:off x="5891783" y="3872483"/>
              <a:ext cx="2242566" cy="6240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5" name="Google Shape;305;p24"/>
            <p:cNvPicPr preferRelativeResize="0"/>
            <p:nvPr/>
          </p:nvPicPr>
          <p:blipFill rotWithShape="1">
            <a:blip r:embed="rId29">
              <a:alphaModFix/>
            </a:blip>
            <a:srcRect b="0" l="0" r="0" t="0"/>
            <a:stretch/>
          </p:blipFill>
          <p:spPr>
            <a:xfrm>
              <a:off x="5929883" y="4224527"/>
              <a:ext cx="3350514" cy="6240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6" name="Google Shape;306;p24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5681471" y="4575048"/>
              <a:ext cx="500634" cy="6271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7" name="Google Shape;307;p24"/>
            <p:cNvPicPr preferRelativeResize="0"/>
            <p:nvPr/>
          </p:nvPicPr>
          <p:blipFill rotWithShape="1">
            <a:blip r:embed="rId30">
              <a:alphaModFix/>
            </a:blip>
            <a:srcRect b="0" l="0" r="0" t="0"/>
            <a:stretch/>
          </p:blipFill>
          <p:spPr>
            <a:xfrm>
              <a:off x="5891783" y="4576572"/>
              <a:ext cx="1884425" cy="6240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8" name="Google Shape;308;p24"/>
            <p:cNvPicPr preferRelativeResize="0"/>
            <p:nvPr/>
          </p:nvPicPr>
          <p:blipFill rotWithShape="1">
            <a:blip r:embed="rId31">
              <a:alphaModFix/>
            </a:blip>
            <a:srcRect b="0" l="0" r="0" t="0"/>
            <a:stretch/>
          </p:blipFill>
          <p:spPr>
            <a:xfrm>
              <a:off x="5658611" y="1510283"/>
              <a:ext cx="3519678" cy="88773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9" name="Google Shape;309;p24"/>
            <p:cNvPicPr preferRelativeResize="0"/>
            <p:nvPr/>
          </p:nvPicPr>
          <p:blipFill rotWithShape="1">
            <a:blip r:embed="rId32">
              <a:alphaModFix/>
            </a:blip>
            <a:srcRect b="0" l="0" r="0" t="0"/>
            <a:stretch/>
          </p:blipFill>
          <p:spPr>
            <a:xfrm>
              <a:off x="5807963" y="1606295"/>
              <a:ext cx="3085338" cy="79019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0" name="Google Shape;310;p24"/>
          <p:cNvSpPr txBox="1"/>
          <p:nvPr/>
        </p:nvSpPr>
        <p:spPr>
          <a:xfrm>
            <a:off x="7616451" y="1572375"/>
            <a:ext cx="3197700" cy="34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7950">
            <a:spAutoFit/>
          </a:bodyPr>
          <a:lstStyle/>
          <a:p>
            <a:pPr indent="0" lvl="0" marL="1841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Disadvantages</a:t>
            </a:r>
            <a:endParaRPr b="0" i="0" sz="28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08279" lvl="0" marL="220979" marR="0" rtl="0" algn="l">
              <a:lnSpc>
                <a:spcPct val="100000"/>
              </a:lnSpc>
              <a:spcBef>
                <a:spcPts val="835"/>
              </a:spcBef>
              <a:spcAft>
                <a:spcPts val="0"/>
              </a:spcAft>
              <a:buClr>
                <a:srgbClr val="800080"/>
              </a:buClr>
              <a:buSzPts val="2200"/>
              <a:buFont typeface="Tahoma"/>
              <a:buChar char="•"/>
            </a:pPr>
            <a:r>
              <a:rPr b="1" i="0" lang="en-US" sz="2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Extensive paperwork</a:t>
            </a:r>
            <a:endParaRPr b="0" i="0" sz="2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08279" lvl="0" marL="22097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ts val="2200"/>
              <a:buFont typeface="Tahoma"/>
              <a:buChar char="•"/>
            </a:pPr>
            <a:r>
              <a:rPr b="1" i="0" lang="en-US" sz="2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Double taxation</a:t>
            </a:r>
            <a:endParaRPr b="0" i="0" sz="2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08279" lvl="0" marL="22097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ts val="2200"/>
              <a:buFont typeface="Tahoma"/>
              <a:buChar char="•"/>
            </a:pPr>
            <a:r>
              <a:rPr b="1" i="0" lang="en-US" sz="2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Two tax returns</a:t>
            </a:r>
            <a:endParaRPr b="0" i="0" sz="2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08279" lvl="0" marL="22097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ts val="2200"/>
              <a:buFont typeface="Tahoma"/>
              <a:buChar char="•"/>
            </a:pPr>
            <a:r>
              <a:rPr b="1" i="0" lang="en-US" sz="2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Size</a:t>
            </a:r>
            <a:endParaRPr b="0" i="0" sz="2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08279" lvl="0" marL="220979" marR="0" rtl="0" algn="l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>
                <a:srgbClr val="800080"/>
              </a:buClr>
              <a:buSzPts val="2200"/>
              <a:buFont typeface="Tahoma"/>
              <a:buChar char="•"/>
            </a:pPr>
            <a:r>
              <a:rPr b="1" i="0" lang="en-US" sz="2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Termination difficult</a:t>
            </a:r>
            <a:endParaRPr b="0" i="0" sz="2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08279" lvl="0" marL="220345" marR="3048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800080"/>
              </a:buClr>
              <a:buSzPts val="2200"/>
              <a:buFont typeface="Tahoma"/>
              <a:buChar char="•"/>
            </a:pPr>
            <a:r>
              <a:rPr b="1" i="0" lang="en-US" sz="2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Conflict with 	Stockholder &amp; Board</a:t>
            </a:r>
            <a:endParaRPr b="0" i="0" sz="2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08279" lvl="0" marL="220979" marR="0" rtl="0" algn="l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>
                <a:srgbClr val="800080"/>
              </a:buClr>
              <a:buSzPts val="2200"/>
              <a:buFont typeface="Tahoma"/>
              <a:buChar char="•"/>
            </a:pPr>
            <a:r>
              <a:rPr b="1" i="0" lang="en-US" sz="2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Initial cost</a:t>
            </a:r>
            <a:endParaRPr b="0" i="0" sz="2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11" name="Google Shape;311;p24"/>
          <p:cNvPicPr preferRelativeResize="0"/>
          <p:nvPr/>
        </p:nvPicPr>
        <p:blipFill rotWithShape="1">
          <a:blip r:embed="rId33">
            <a:alphaModFix/>
          </a:blip>
          <a:srcRect b="0" l="0" r="0" t="0"/>
          <a:stretch/>
        </p:blipFill>
        <p:spPr>
          <a:xfrm>
            <a:off x="11430000" y="6109750"/>
            <a:ext cx="609600" cy="595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6a594c9a38_0_87"/>
          <p:cNvSpPr txBox="1"/>
          <p:nvPr>
            <p:ph type="title"/>
          </p:nvPr>
        </p:nvSpPr>
        <p:spPr>
          <a:xfrm>
            <a:off x="916952" y="329575"/>
            <a:ext cx="107712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Differences between Partnership and Corporations</a:t>
            </a:r>
            <a:endParaRPr sz="3600"/>
          </a:p>
        </p:txBody>
      </p:sp>
      <p:sp>
        <p:nvSpPr>
          <p:cNvPr id="317" name="Google Shape;317;g36a594c9a38_0_87"/>
          <p:cNvSpPr txBox="1"/>
          <p:nvPr>
            <p:ph idx="1" type="body"/>
          </p:nvPr>
        </p:nvSpPr>
        <p:spPr>
          <a:xfrm flipH="1">
            <a:off x="13754600" y="1162425"/>
            <a:ext cx="174900" cy="68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318" name="Google Shape;318;g36a594c9a38_0_87"/>
          <p:cNvGraphicFramePr/>
          <p:nvPr/>
        </p:nvGraphicFramePr>
        <p:xfrm>
          <a:off x="859950" y="1048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{033AB401-F5E8-4464-A604-5B6641DD6895}</a:tableStyleId>
              </a:tblPr>
              <a:tblGrid>
                <a:gridCol w="1714050"/>
                <a:gridCol w="3768675"/>
                <a:gridCol w="5434225"/>
              </a:tblGrid>
              <a:tr h="421375">
                <a:tc>
                  <a:txBody>
                    <a:bodyPr/>
                    <a:lstStyle/>
                    <a:p>
                      <a:pPr indent="0" lvl="0" marL="0" marR="381285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Aspects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Partnership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Corporations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648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Legal Status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Not a separate legal entity; partners are the business.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Separate legal entity from its owners (shareholders).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648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Liability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Partners usually have unlimited liability (except limited partners).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Shareholders have limited liability, only up to their investment.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555950">
                <a:tc>
                  <a:txBody>
                    <a:bodyPr/>
                    <a:lstStyle/>
                    <a:p>
                      <a:pPr indent="0" lvl="0" marL="0" marR="438435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Management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Owned by two or more partners.Minimum two partners and maximum 20(In Bangladesh).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Owned by shareholders who hold shares. Private limited- Minimum 2 </a:t>
                      </a:r>
                      <a:r>
                        <a:rPr lang="en-US"/>
                        <a:t>partners</a:t>
                      </a:r>
                      <a:r>
                        <a:rPr lang="en-US"/>
                        <a:t> and maximum 50. Public limited- minimum 7 and maximum unlimited in Bangladesh. In some countries even one person can own corporation.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648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Management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Partners manage the business directly.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Managed by a board of directors and officers.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648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Continuity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May end if a partner leaves or dies unless otherwise agreed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Perpetual existence, unaffected by changes in ownership.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21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Profit Sharing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Profits shared among partners as agreed.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Profits distributed as dividends to shareholders.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2024-10-22T05:47:23Z</dcterms:created>
  <dc:creator>User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2021-06-23T00:00:00Z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2024-10-22T00:00:00Z</vt:filetime>
  </property>
  <property fmtid="{D5CDD505-2E9C-101B-9397-08002B2CF9AE}" pid="5" name="Producer">
    <vt:lpwstr>3-Heights(TM) PDF Security Shell 4.8.25.2 (http://www.pdf-tools.com)</vt:lpwstr>
  </property>
</Properties>
</file>