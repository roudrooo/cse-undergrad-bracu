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9144000" cy="6858000"/>
  <p:embeddedFontLst>
    <p:embeddedFont>
      <p:font typeface="Tahoma"/>
      <p:regular r:id="rId28"/>
      <p:bold r:id="rId29"/>
    </p:embeddedFont>
    <p:embeddedFont>
      <p:font typeface="Noto Sans Symbol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2" roundtripDataSignature="AMtx7mgmk8Bff565PIPwR/Kdn6iiQdp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Tahoma-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otoSansSymbols-bold.fntdata"/><Relationship Id="rId30" Type="http://schemas.openxmlformats.org/officeDocument/2006/relationships/font" Target="fonts/NotoSansSymbols-regular.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 name="Google Shape;56;p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p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1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1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14: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5: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2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5: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2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2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0: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8: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2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0: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3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3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26" name="Shape 26"/>
        <p:cNvGrpSpPr/>
        <p:nvPr/>
      </p:nvGrpSpPr>
      <p:grpSpPr>
        <a:xfrm>
          <a:off x="0" y="0"/>
          <a:ext cx="0" cy="0"/>
          <a:chOff x="0" y="0"/>
          <a:chExt cx="0" cy="0"/>
        </a:xfrm>
      </p:grpSpPr>
      <p:sp>
        <p:nvSpPr>
          <p:cNvPr id="27" name="Google Shape;27;p36"/>
          <p:cNvSpPr txBox="1"/>
          <p:nvPr>
            <p:ph type="ctrTitle"/>
          </p:nvPr>
        </p:nvSpPr>
        <p:spPr>
          <a:xfrm>
            <a:off x="688340" y="629158"/>
            <a:ext cx="7767319"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6"/>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6"/>
          <p:cNvSpPr txBox="1"/>
          <p:nvPr>
            <p:ph idx="11" type="ftr"/>
          </p:nvPr>
        </p:nvSpPr>
        <p:spPr>
          <a:xfrm>
            <a:off x="89712" y="6497168"/>
            <a:ext cx="3014345" cy="29146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2" name="Shape 32"/>
        <p:cNvGrpSpPr/>
        <p:nvPr/>
      </p:nvGrpSpPr>
      <p:grpSpPr>
        <a:xfrm>
          <a:off x="0" y="0"/>
          <a:ext cx="0" cy="0"/>
          <a:chOff x="0" y="0"/>
          <a:chExt cx="0" cy="0"/>
        </a:xfrm>
      </p:grpSpPr>
      <p:sp>
        <p:nvSpPr>
          <p:cNvPr id="33" name="Google Shape;33;p38"/>
          <p:cNvSpPr txBox="1"/>
          <p:nvPr>
            <p:ph type="title"/>
          </p:nvPr>
        </p:nvSpPr>
        <p:spPr>
          <a:xfrm>
            <a:off x="307340" y="247599"/>
            <a:ext cx="2904490" cy="5746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90C2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8"/>
          <p:cNvSpPr txBox="1"/>
          <p:nvPr>
            <p:ph idx="1" type="body"/>
          </p:nvPr>
        </p:nvSpPr>
        <p:spPr>
          <a:xfrm>
            <a:off x="612140" y="1706321"/>
            <a:ext cx="7919719" cy="290131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3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38"/>
          <p:cNvSpPr txBox="1"/>
          <p:nvPr>
            <p:ph idx="11" type="ftr"/>
          </p:nvPr>
        </p:nvSpPr>
        <p:spPr>
          <a:xfrm>
            <a:off x="89712" y="6497168"/>
            <a:ext cx="3014345" cy="29146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37"/>
          <p:cNvSpPr txBox="1"/>
          <p:nvPr>
            <p:ph type="title"/>
          </p:nvPr>
        </p:nvSpPr>
        <p:spPr>
          <a:xfrm>
            <a:off x="307340" y="247599"/>
            <a:ext cx="2904490" cy="5746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90C2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7"/>
          <p:cNvSpPr txBox="1"/>
          <p:nvPr>
            <p:ph idx="11" type="ftr"/>
          </p:nvPr>
        </p:nvSpPr>
        <p:spPr>
          <a:xfrm>
            <a:off x="89712" y="6497168"/>
            <a:ext cx="3014345" cy="29146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 name="Shape 43"/>
        <p:cNvGrpSpPr/>
        <p:nvPr/>
      </p:nvGrpSpPr>
      <p:grpSpPr>
        <a:xfrm>
          <a:off x="0" y="0"/>
          <a:ext cx="0" cy="0"/>
          <a:chOff x="0" y="0"/>
          <a:chExt cx="0" cy="0"/>
        </a:xfrm>
      </p:grpSpPr>
      <p:sp>
        <p:nvSpPr>
          <p:cNvPr id="44" name="Google Shape;44;p39"/>
          <p:cNvSpPr txBox="1"/>
          <p:nvPr>
            <p:ph idx="11" type="ftr"/>
          </p:nvPr>
        </p:nvSpPr>
        <p:spPr>
          <a:xfrm>
            <a:off x="89712" y="6497168"/>
            <a:ext cx="3014345" cy="29146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7" name="Shape 47"/>
        <p:cNvGrpSpPr/>
        <p:nvPr/>
      </p:nvGrpSpPr>
      <p:grpSpPr>
        <a:xfrm>
          <a:off x="0" y="0"/>
          <a:ext cx="0" cy="0"/>
          <a:chOff x="0" y="0"/>
          <a:chExt cx="0" cy="0"/>
        </a:xfrm>
      </p:grpSpPr>
      <p:sp>
        <p:nvSpPr>
          <p:cNvPr id="48" name="Google Shape;48;p40"/>
          <p:cNvSpPr txBox="1"/>
          <p:nvPr>
            <p:ph type="title"/>
          </p:nvPr>
        </p:nvSpPr>
        <p:spPr>
          <a:xfrm>
            <a:off x="307340" y="247599"/>
            <a:ext cx="2904490" cy="5746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90C2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0"/>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40"/>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40"/>
          <p:cNvSpPr txBox="1"/>
          <p:nvPr>
            <p:ph idx="11" type="ftr"/>
          </p:nvPr>
        </p:nvSpPr>
        <p:spPr>
          <a:xfrm>
            <a:off x="89712" y="6497168"/>
            <a:ext cx="3014345" cy="29146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p:nvPr/>
        </p:nvSpPr>
        <p:spPr>
          <a:xfrm>
            <a:off x="0" y="4069781"/>
            <a:ext cx="447040" cy="2788285"/>
          </a:xfrm>
          <a:custGeom>
            <a:rect b="b" l="l" r="r" t="t"/>
            <a:pathLst>
              <a:path extrusionOk="0" h="2788284" w="447040">
                <a:moveTo>
                  <a:pt x="0" y="0"/>
                </a:moveTo>
                <a:lnTo>
                  <a:pt x="0" y="2788217"/>
                </a:lnTo>
                <a:lnTo>
                  <a:pt x="446591" y="2788217"/>
                </a:lnTo>
                <a:lnTo>
                  <a:pt x="0" y="0"/>
                </a:lnTo>
                <a:close/>
              </a:path>
            </a:pathLst>
          </a:custGeom>
          <a:solidFill>
            <a:srgbClr val="90C225">
              <a:alpha val="8352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 name="Google Shape;11;p35"/>
          <p:cNvSpPr/>
          <p:nvPr/>
        </p:nvSpPr>
        <p:spPr>
          <a:xfrm>
            <a:off x="5131542" y="4182281"/>
            <a:ext cx="4012565" cy="2675890"/>
          </a:xfrm>
          <a:custGeom>
            <a:rect b="b" l="l" r="r" t="t"/>
            <a:pathLst>
              <a:path extrusionOk="0" h="2675890" w="4012565">
                <a:moveTo>
                  <a:pt x="0" y="2675717"/>
                </a:moveTo>
                <a:lnTo>
                  <a:pt x="4012456"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 name="Google Shape;12;p35"/>
          <p:cNvSpPr/>
          <p:nvPr/>
        </p:nvSpPr>
        <p:spPr>
          <a:xfrm>
            <a:off x="7042404" y="0"/>
            <a:ext cx="1219200" cy="6858000"/>
          </a:xfrm>
          <a:custGeom>
            <a:rect b="b" l="l" r="r" t="t"/>
            <a:pathLst>
              <a:path extrusionOk="0" h="6858000" w="1219200">
                <a:moveTo>
                  <a:pt x="0" y="0"/>
                </a:moveTo>
                <a:lnTo>
                  <a:pt x="1219200" y="6857999"/>
                </a:lnTo>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35"/>
          <p:cNvSpPr/>
          <p:nvPr/>
        </p:nvSpPr>
        <p:spPr>
          <a:xfrm>
            <a:off x="6891728" y="0"/>
            <a:ext cx="2252345" cy="6858000"/>
          </a:xfrm>
          <a:custGeom>
            <a:rect b="b" l="l" r="r" t="t"/>
            <a:pathLst>
              <a:path extrusionOk="0" h="6858000" w="2252345">
                <a:moveTo>
                  <a:pt x="2023163" y="0"/>
                </a:moveTo>
                <a:lnTo>
                  <a:pt x="0" y="6857998"/>
                </a:lnTo>
                <a:lnTo>
                  <a:pt x="2252271" y="6857998"/>
                </a:lnTo>
                <a:lnTo>
                  <a:pt x="2252271" y="8226"/>
                </a:lnTo>
                <a:lnTo>
                  <a:pt x="2023163" y="0"/>
                </a:lnTo>
                <a:close/>
              </a:path>
            </a:pathLst>
          </a:custGeom>
          <a:solidFill>
            <a:srgbClr val="90C225">
              <a:alpha val="2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35"/>
          <p:cNvSpPr/>
          <p:nvPr/>
        </p:nvSpPr>
        <p:spPr>
          <a:xfrm>
            <a:off x="7207072" y="0"/>
            <a:ext cx="1937385" cy="6858000"/>
          </a:xfrm>
          <a:custGeom>
            <a:rect b="b" l="l" r="r" t="t"/>
            <a:pathLst>
              <a:path extrusionOk="0" h="6858000" w="1937384">
                <a:moveTo>
                  <a:pt x="1936927" y="0"/>
                </a:moveTo>
                <a:lnTo>
                  <a:pt x="0" y="0"/>
                </a:lnTo>
                <a:lnTo>
                  <a:pt x="1200326" y="6857996"/>
                </a:lnTo>
                <a:lnTo>
                  <a:pt x="1936927" y="6857996"/>
                </a:lnTo>
                <a:lnTo>
                  <a:pt x="1936927" y="0"/>
                </a:lnTo>
                <a:close/>
              </a:path>
            </a:pathLst>
          </a:custGeom>
          <a:solidFill>
            <a:srgbClr val="90C225">
              <a:alpha val="1843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35"/>
          <p:cNvSpPr/>
          <p:nvPr/>
        </p:nvSpPr>
        <p:spPr>
          <a:xfrm>
            <a:off x="6638545" y="3921068"/>
            <a:ext cx="2505710" cy="2937510"/>
          </a:xfrm>
          <a:custGeom>
            <a:rect b="b" l="l" r="r" t="t"/>
            <a:pathLst>
              <a:path extrusionOk="0" h="2937509" w="2505709">
                <a:moveTo>
                  <a:pt x="2505454" y="0"/>
                </a:moveTo>
                <a:lnTo>
                  <a:pt x="0" y="2936930"/>
                </a:lnTo>
                <a:lnTo>
                  <a:pt x="2505454" y="2936930"/>
                </a:lnTo>
                <a:lnTo>
                  <a:pt x="2505454" y="0"/>
                </a:lnTo>
                <a:close/>
              </a:path>
            </a:pathLst>
          </a:custGeom>
          <a:solidFill>
            <a:srgbClr val="539F20">
              <a:alpha val="7058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35"/>
          <p:cNvSpPr/>
          <p:nvPr/>
        </p:nvSpPr>
        <p:spPr>
          <a:xfrm>
            <a:off x="7012872" y="0"/>
            <a:ext cx="2131695" cy="6858000"/>
          </a:xfrm>
          <a:custGeom>
            <a:rect b="b" l="l" r="r" t="t"/>
            <a:pathLst>
              <a:path extrusionOk="0" h="6858000" w="2131695">
                <a:moveTo>
                  <a:pt x="2131127" y="0"/>
                </a:moveTo>
                <a:lnTo>
                  <a:pt x="0" y="0"/>
                </a:lnTo>
                <a:lnTo>
                  <a:pt x="1854139" y="6857996"/>
                </a:lnTo>
                <a:lnTo>
                  <a:pt x="2131127" y="6849802"/>
                </a:lnTo>
                <a:lnTo>
                  <a:pt x="2131127" y="0"/>
                </a:lnTo>
                <a:close/>
              </a:path>
            </a:pathLst>
          </a:custGeom>
          <a:solidFill>
            <a:srgbClr val="3E7818">
              <a:alpha val="6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 name="Google Shape;17;p35"/>
          <p:cNvSpPr/>
          <p:nvPr/>
        </p:nvSpPr>
        <p:spPr>
          <a:xfrm>
            <a:off x="8295132" y="0"/>
            <a:ext cx="848994" cy="6858000"/>
          </a:xfrm>
          <a:custGeom>
            <a:rect b="b" l="l" r="r" t="t"/>
            <a:pathLst>
              <a:path extrusionOk="0" h="6858000" w="848995">
                <a:moveTo>
                  <a:pt x="848867" y="0"/>
                </a:moveTo>
                <a:lnTo>
                  <a:pt x="676515" y="0"/>
                </a:lnTo>
                <a:lnTo>
                  <a:pt x="0" y="6857996"/>
                </a:lnTo>
                <a:lnTo>
                  <a:pt x="848867" y="6857996"/>
                </a:lnTo>
                <a:lnTo>
                  <a:pt x="848867" y="0"/>
                </a:lnTo>
                <a:close/>
              </a:path>
            </a:pathLst>
          </a:custGeom>
          <a:solidFill>
            <a:srgbClr val="C0E374">
              <a:alpha val="6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Google Shape;18;p35"/>
          <p:cNvSpPr/>
          <p:nvPr/>
        </p:nvSpPr>
        <p:spPr>
          <a:xfrm>
            <a:off x="8078450" y="0"/>
            <a:ext cx="1065530" cy="6858000"/>
          </a:xfrm>
          <a:custGeom>
            <a:rect b="b" l="l" r="r" t="t"/>
            <a:pathLst>
              <a:path extrusionOk="0" h="6858000" w="1065529">
                <a:moveTo>
                  <a:pt x="1051063" y="0"/>
                </a:moveTo>
                <a:lnTo>
                  <a:pt x="0" y="0"/>
                </a:lnTo>
                <a:lnTo>
                  <a:pt x="937406" y="6857996"/>
                </a:lnTo>
                <a:lnTo>
                  <a:pt x="1065296" y="6857996"/>
                </a:lnTo>
                <a:lnTo>
                  <a:pt x="1065455" y="6654302"/>
                </a:lnTo>
                <a:lnTo>
                  <a:pt x="1065405" y="6145234"/>
                </a:lnTo>
                <a:lnTo>
                  <a:pt x="1065165" y="5890784"/>
                </a:lnTo>
                <a:lnTo>
                  <a:pt x="1064711" y="5585510"/>
                </a:lnTo>
                <a:lnTo>
                  <a:pt x="1063982" y="5229435"/>
                </a:lnTo>
                <a:lnTo>
                  <a:pt x="1062782" y="4771727"/>
                </a:lnTo>
                <a:lnTo>
                  <a:pt x="1060321" y="4009060"/>
                </a:lnTo>
                <a:lnTo>
                  <a:pt x="1054930" y="2483906"/>
                </a:lnTo>
                <a:lnTo>
                  <a:pt x="1053375" y="1975424"/>
                </a:lnTo>
                <a:lnTo>
                  <a:pt x="1052337" y="1568557"/>
                </a:lnTo>
                <a:lnTo>
                  <a:pt x="1051624" y="1212471"/>
                </a:lnTo>
                <a:lnTo>
                  <a:pt x="1051188" y="907185"/>
                </a:lnTo>
                <a:lnTo>
                  <a:pt x="1050963" y="652725"/>
                </a:lnTo>
                <a:lnTo>
                  <a:pt x="1050923" y="194553"/>
                </a:lnTo>
                <a:lnTo>
                  <a:pt x="1051063" y="0"/>
                </a:lnTo>
                <a:close/>
              </a:path>
            </a:pathLst>
          </a:custGeom>
          <a:solidFill>
            <a:srgbClr val="90C225">
              <a:alpha val="6352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35"/>
          <p:cNvSpPr/>
          <p:nvPr/>
        </p:nvSpPr>
        <p:spPr>
          <a:xfrm>
            <a:off x="8060437" y="4903644"/>
            <a:ext cx="1083945" cy="1954530"/>
          </a:xfrm>
          <a:custGeom>
            <a:rect b="b" l="l" r="r" t="t"/>
            <a:pathLst>
              <a:path extrusionOk="0" h="1954529" w="1083945">
                <a:moveTo>
                  <a:pt x="1083562" y="0"/>
                </a:moveTo>
                <a:lnTo>
                  <a:pt x="0" y="1954354"/>
                </a:lnTo>
                <a:lnTo>
                  <a:pt x="1083562" y="1949315"/>
                </a:lnTo>
                <a:lnTo>
                  <a:pt x="1083562" y="0"/>
                </a:lnTo>
                <a:close/>
              </a:path>
            </a:pathLst>
          </a:custGeom>
          <a:solidFill>
            <a:srgbClr val="90C225">
              <a:alpha val="7843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 name="Google Shape;20;p35"/>
          <p:cNvPicPr preferRelativeResize="0"/>
          <p:nvPr/>
        </p:nvPicPr>
        <p:blipFill rotWithShape="1">
          <a:blip r:embed="rId1">
            <a:alphaModFix/>
          </a:blip>
          <a:srcRect b="0" l="0" r="0" t="0"/>
          <a:stretch/>
        </p:blipFill>
        <p:spPr>
          <a:xfrm>
            <a:off x="7470647" y="83819"/>
            <a:ext cx="1248155" cy="1144524"/>
          </a:xfrm>
          <a:prstGeom prst="rect">
            <a:avLst/>
          </a:prstGeom>
          <a:noFill/>
          <a:ln>
            <a:noFill/>
          </a:ln>
        </p:spPr>
      </p:pic>
      <p:sp>
        <p:nvSpPr>
          <p:cNvPr id="21" name="Google Shape;21;p35"/>
          <p:cNvSpPr txBox="1"/>
          <p:nvPr>
            <p:ph type="title"/>
          </p:nvPr>
        </p:nvSpPr>
        <p:spPr>
          <a:xfrm>
            <a:off x="307340" y="247599"/>
            <a:ext cx="2904490" cy="5746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90C225"/>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 name="Google Shape;22;p35"/>
          <p:cNvSpPr txBox="1"/>
          <p:nvPr>
            <p:ph idx="1" type="body"/>
          </p:nvPr>
        </p:nvSpPr>
        <p:spPr>
          <a:xfrm>
            <a:off x="612140" y="1706321"/>
            <a:ext cx="7919719" cy="290131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3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23" name="Google Shape;23;p35"/>
          <p:cNvSpPr txBox="1"/>
          <p:nvPr>
            <p:ph idx="11" type="ftr"/>
          </p:nvPr>
        </p:nvSpPr>
        <p:spPr>
          <a:xfrm>
            <a:off x="89712" y="6497168"/>
            <a:ext cx="3014345" cy="29146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4" name="Google Shape;24;p3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 name="Google Shape;25;p3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0" Type="http://schemas.openxmlformats.org/officeDocument/2006/relationships/image" Target="../media/image25.png"/><Relationship Id="rId11" Type="http://schemas.openxmlformats.org/officeDocument/2006/relationships/image" Target="../media/image3.png"/><Relationship Id="rId22" Type="http://schemas.openxmlformats.org/officeDocument/2006/relationships/image" Target="../media/image28.png"/><Relationship Id="rId10" Type="http://schemas.openxmlformats.org/officeDocument/2006/relationships/image" Target="../media/image8.png"/><Relationship Id="rId21" Type="http://schemas.openxmlformats.org/officeDocument/2006/relationships/image" Target="../media/image19.png"/><Relationship Id="rId13" Type="http://schemas.openxmlformats.org/officeDocument/2006/relationships/image" Target="../media/image16.png"/><Relationship Id="rId24" Type="http://schemas.openxmlformats.org/officeDocument/2006/relationships/image" Target="../media/image22.png"/><Relationship Id="rId12" Type="http://schemas.openxmlformats.org/officeDocument/2006/relationships/image" Target="../media/image24.png"/><Relationship Id="rId23"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9.png"/><Relationship Id="rId15" Type="http://schemas.openxmlformats.org/officeDocument/2006/relationships/image" Target="../media/image15.png"/><Relationship Id="rId14" Type="http://schemas.openxmlformats.org/officeDocument/2006/relationships/image" Target="../media/image11.png"/><Relationship Id="rId17" Type="http://schemas.openxmlformats.org/officeDocument/2006/relationships/image" Target="../media/image13.png"/><Relationship Id="rId16" Type="http://schemas.openxmlformats.org/officeDocument/2006/relationships/image" Target="../media/image26.png"/><Relationship Id="rId5" Type="http://schemas.openxmlformats.org/officeDocument/2006/relationships/image" Target="../media/image23.png"/><Relationship Id="rId19" Type="http://schemas.openxmlformats.org/officeDocument/2006/relationships/image" Target="../media/image29.png"/><Relationship Id="rId6" Type="http://schemas.openxmlformats.org/officeDocument/2006/relationships/image" Target="../media/image7.png"/><Relationship Id="rId18" Type="http://schemas.openxmlformats.org/officeDocument/2006/relationships/image" Target="../media/image14.png"/><Relationship Id="rId7" Type="http://schemas.openxmlformats.org/officeDocument/2006/relationships/image" Target="../media/image5.png"/><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1"/>
          <p:cNvSpPr/>
          <p:nvPr/>
        </p:nvSpPr>
        <p:spPr>
          <a:xfrm>
            <a:off x="0" y="0"/>
            <a:ext cx="855344" cy="5629275"/>
          </a:xfrm>
          <a:custGeom>
            <a:rect b="b" l="l" r="r" t="t"/>
            <a:pathLst>
              <a:path extrusionOk="0" h="5629275" w="855344">
                <a:moveTo>
                  <a:pt x="854963" y="0"/>
                </a:moveTo>
                <a:lnTo>
                  <a:pt x="0" y="0"/>
                </a:lnTo>
                <a:lnTo>
                  <a:pt x="0" y="5628971"/>
                </a:lnTo>
                <a:lnTo>
                  <a:pt x="854963" y="7747"/>
                </a:lnTo>
                <a:lnTo>
                  <a:pt x="854963" y="0"/>
                </a:lnTo>
                <a:close/>
              </a:path>
            </a:pathLst>
          </a:custGeom>
          <a:solidFill>
            <a:srgbClr val="90C225">
              <a:alpha val="8352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9" name="Google Shape;59;p1"/>
          <p:cNvPicPr preferRelativeResize="0"/>
          <p:nvPr/>
        </p:nvPicPr>
        <p:blipFill rotWithShape="1">
          <a:blip r:embed="rId3">
            <a:alphaModFix/>
          </a:blip>
          <a:srcRect b="0" l="0" r="0" t="0"/>
          <a:stretch/>
        </p:blipFill>
        <p:spPr>
          <a:xfrm>
            <a:off x="7562088" y="115823"/>
            <a:ext cx="1248155" cy="1144524"/>
          </a:xfrm>
          <a:prstGeom prst="rect">
            <a:avLst/>
          </a:prstGeom>
          <a:noFill/>
          <a:ln>
            <a:noFill/>
          </a:ln>
        </p:spPr>
      </p:pic>
      <p:pic>
        <p:nvPicPr>
          <p:cNvPr id="60" name="Google Shape;60;p1"/>
          <p:cNvPicPr preferRelativeResize="0"/>
          <p:nvPr/>
        </p:nvPicPr>
        <p:blipFill rotWithShape="1">
          <a:blip r:embed="rId4">
            <a:alphaModFix/>
          </a:blip>
          <a:srcRect b="0" l="0" r="0" t="0"/>
          <a:stretch/>
        </p:blipFill>
        <p:spPr>
          <a:xfrm>
            <a:off x="228600" y="149352"/>
            <a:ext cx="309372" cy="309372"/>
          </a:xfrm>
          <a:prstGeom prst="rect">
            <a:avLst/>
          </a:prstGeom>
          <a:noFill/>
          <a:ln>
            <a:noFill/>
          </a:ln>
        </p:spPr>
      </p:pic>
      <p:sp>
        <p:nvSpPr>
          <p:cNvPr id="61" name="Google Shape;61;p1"/>
          <p:cNvSpPr/>
          <p:nvPr/>
        </p:nvSpPr>
        <p:spPr>
          <a:xfrm>
            <a:off x="688086" y="3400805"/>
            <a:ext cx="7848600" cy="1905"/>
          </a:xfrm>
          <a:custGeom>
            <a:rect b="b" l="l" r="r" t="t"/>
            <a:pathLst>
              <a:path extrusionOk="0" h="1904" w="7848600">
                <a:moveTo>
                  <a:pt x="0" y="0"/>
                </a:moveTo>
                <a:lnTo>
                  <a:pt x="7848600" y="1524"/>
                </a:lnTo>
              </a:path>
            </a:pathLst>
          </a:custGeom>
          <a:noFill/>
          <a:ln cap="flat" cmpd="sng" w="19800">
            <a:solidFill>
              <a:srgbClr val="30303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871829" y="1344549"/>
            <a:ext cx="6264275" cy="51371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303030"/>
                </a:solidFill>
                <a:latin typeface="Tahoma"/>
                <a:ea typeface="Tahoma"/>
                <a:cs typeface="Tahoma"/>
                <a:sym typeface="Tahoma"/>
              </a:rPr>
              <a:t>HUMAN RESOURCE MANAGEMENT</a:t>
            </a:r>
            <a:endParaRPr b="0" i="0" sz="3200" u="none" cap="none" strike="noStrike">
              <a:solidFill>
                <a:schemeClr val="dk1"/>
              </a:solidFill>
              <a:latin typeface="Tahoma"/>
              <a:ea typeface="Tahoma"/>
              <a:cs typeface="Tahoma"/>
              <a:sym typeface="Tahoma"/>
            </a:endParaRPr>
          </a:p>
        </p:txBody>
      </p:sp>
      <p:sp>
        <p:nvSpPr>
          <p:cNvPr id="63" name="Google Shape;63;p1"/>
          <p:cNvSpPr txBox="1"/>
          <p:nvPr/>
        </p:nvSpPr>
        <p:spPr>
          <a:xfrm>
            <a:off x="2713101" y="2165680"/>
            <a:ext cx="135953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303030"/>
                </a:solidFill>
                <a:latin typeface="Tahoma"/>
                <a:ea typeface="Tahoma"/>
                <a:cs typeface="Tahoma"/>
                <a:sym typeface="Tahoma"/>
              </a:rPr>
              <a:t>BUS 102</a:t>
            </a:r>
            <a:endParaRPr b="0" i="0" sz="2800" u="none" cap="none" strike="noStrike">
              <a:solidFill>
                <a:schemeClr val="dk1"/>
              </a:solidFill>
              <a:latin typeface="Tahoma"/>
              <a:ea typeface="Tahoma"/>
              <a:cs typeface="Tahoma"/>
              <a:sym typeface="Tahoma"/>
            </a:endParaRPr>
          </a:p>
        </p:txBody>
      </p:sp>
      <p:pic>
        <p:nvPicPr>
          <p:cNvPr id="64" name="Google Shape;64;p1"/>
          <p:cNvPicPr preferRelativeResize="0"/>
          <p:nvPr/>
        </p:nvPicPr>
        <p:blipFill rotWithShape="1">
          <a:blip r:embed="rId5">
            <a:alphaModFix/>
          </a:blip>
          <a:srcRect b="0" l="0" r="0" t="0"/>
          <a:stretch/>
        </p:blipFill>
        <p:spPr>
          <a:xfrm>
            <a:off x="2199472" y="4461890"/>
            <a:ext cx="882580" cy="1222827"/>
          </a:xfrm>
          <a:prstGeom prst="rect">
            <a:avLst/>
          </a:prstGeom>
          <a:noFill/>
          <a:ln>
            <a:noFill/>
          </a:ln>
        </p:spPr>
      </p:pic>
      <p:sp>
        <p:nvSpPr>
          <p:cNvPr id="65" name="Google Shape;65;p1"/>
          <p:cNvSpPr/>
          <p:nvPr/>
        </p:nvSpPr>
        <p:spPr>
          <a:xfrm>
            <a:off x="54864" y="114300"/>
            <a:ext cx="657225" cy="688975"/>
          </a:xfrm>
          <a:custGeom>
            <a:rect b="b" l="l" r="r" t="t"/>
            <a:pathLst>
              <a:path extrusionOk="0" h="688975" w="657225">
                <a:moveTo>
                  <a:pt x="656844" y="0"/>
                </a:moveTo>
                <a:lnTo>
                  <a:pt x="0" y="0"/>
                </a:lnTo>
                <a:lnTo>
                  <a:pt x="0" y="688848"/>
                </a:lnTo>
                <a:lnTo>
                  <a:pt x="656844" y="688848"/>
                </a:lnTo>
                <a:lnTo>
                  <a:pt x="656844" y="0"/>
                </a:lnTo>
                <a:close/>
              </a:path>
            </a:pathLst>
          </a:custGeom>
          <a:solidFill>
            <a:srgbClr val="A1CC5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 name="Shape 69"/>
        <p:cNvGrpSpPr/>
        <p:nvPr/>
      </p:nvGrpSpPr>
      <p:grpSpPr>
        <a:xfrm>
          <a:off x="0" y="0"/>
          <a:ext cx="0" cy="0"/>
          <a:chOff x="0" y="0"/>
          <a:chExt cx="0" cy="0"/>
        </a:xfrm>
      </p:grpSpPr>
      <p:grpSp>
        <p:nvGrpSpPr>
          <p:cNvPr id="70" name="Google Shape;70;p3"/>
          <p:cNvGrpSpPr/>
          <p:nvPr/>
        </p:nvGrpSpPr>
        <p:grpSpPr>
          <a:xfrm>
            <a:off x="5131542" y="0"/>
            <a:ext cx="4013025" cy="6858578"/>
            <a:chOff x="5131542" y="0"/>
            <a:chExt cx="4013025" cy="6858578"/>
          </a:xfrm>
        </p:grpSpPr>
        <p:sp>
          <p:nvSpPr>
            <p:cNvPr id="71" name="Google Shape;71;p3"/>
            <p:cNvSpPr/>
            <p:nvPr/>
          </p:nvSpPr>
          <p:spPr>
            <a:xfrm>
              <a:off x="5131542" y="4182281"/>
              <a:ext cx="4012565" cy="2675890"/>
            </a:xfrm>
            <a:custGeom>
              <a:rect b="b" l="l" r="r" t="t"/>
              <a:pathLst>
                <a:path extrusionOk="0" h="2675890" w="4012565">
                  <a:moveTo>
                    <a:pt x="0" y="2675717"/>
                  </a:moveTo>
                  <a:lnTo>
                    <a:pt x="4012456"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3"/>
            <p:cNvSpPr/>
            <p:nvPr/>
          </p:nvSpPr>
          <p:spPr>
            <a:xfrm>
              <a:off x="7042404" y="0"/>
              <a:ext cx="1219200" cy="6858000"/>
            </a:xfrm>
            <a:custGeom>
              <a:rect b="b" l="l" r="r" t="t"/>
              <a:pathLst>
                <a:path extrusionOk="0" h="6858000" w="1219200">
                  <a:moveTo>
                    <a:pt x="0" y="0"/>
                  </a:moveTo>
                  <a:lnTo>
                    <a:pt x="1219200" y="6857999"/>
                  </a:lnTo>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3"/>
            <p:cNvSpPr/>
            <p:nvPr/>
          </p:nvSpPr>
          <p:spPr>
            <a:xfrm>
              <a:off x="6891728" y="0"/>
              <a:ext cx="2252345" cy="6858000"/>
            </a:xfrm>
            <a:custGeom>
              <a:rect b="b" l="l" r="r" t="t"/>
              <a:pathLst>
                <a:path extrusionOk="0" h="6858000" w="2252345">
                  <a:moveTo>
                    <a:pt x="2023163" y="0"/>
                  </a:moveTo>
                  <a:lnTo>
                    <a:pt x="0" y="6857998"/>
                  </a:lnTo>
                  <a:lnTo>
                    <a:pt x="2252271" y="6857998"/>
                  </a:lnTo>
                  <a:lnTo>
                    <a:pt x="2252271" y="8226"/>
                  </a:lnTo>
                  <a:lnTo>
                    <a:pt x="2023163" y="0"/>
                  </a:lnTo>
                  <a:close/>
                </a:path>
              </a:pathLst>
            </a:custGeom>
            <a:solidFill>
              <a:srgbClr val="90C225">
                <a:alpha val="2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7207072" y="0"/>
              <a:ext cx="1937385" cy="6858000"/>
            </a:xfrm>
            <a:custGeom>
              <a:rect b="b" l="l" r="r" t="t"/>
              <a:pathLst>
                <a:path extrusionOk="0" h="6858000" w="1937384">
                  <a:moveTo>
                    <a:pt x="1936927" y="0"/>
                  </a:moveTo>
                  <a:lnTo>
                    <a:pt x="0" y="0"/>
                  </a:lnTo>
                  <a:lnTo>
                    <a:pt x="1200326" y="6857996"/>
                  </a:lnTo>
                  <a:lnTo>
                    <a:pt x="1936927" y="6857996"/>
                  </a:lnTo>
                  <a:lnTo>
                    <a:pt x="1936927" y="0"/>
                  </a:lnTo>
                  <a:close/>
                </a:path>
              </a:pathLst>
            </a:custGeom>
            <a:solidFill>
              <a:srgbClr val="90C225">
                <a:alpha val="1843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3"/>
            <p:cNvSpPr/>
            <p:nvPr/>
          </p:nvSpPr>
          <p:spPr>
            <a:xfrm>
              <a:off x="6638545" y="3921068"/>
              <a:ext cx="2505710" cy="2937510"/>
            </a:xfrm>
            <a:custGeom>
              <a:rect b="b" l="l" r="r" t="t"/>
              <a:pathLst>
                <a:path extrusionOk="0" h="2937509" w="2505709">
                  <a:moveTo>
                    <a:pt x="2505454" y="0"/>
                  </a:moveTo>
                  <a:lnTo>
                    <a:pt x="0" y="2936930"/>
                  </a:lnTo>
                  <a:lnTo>
                    <a:pt x="2505454" y="2936930"/>
                  </a:lnTo>
                  <a:lnTo>
                    <a:pt x="2505454" y="0"/>
                  </a:lnTo>
                  <a:close/>
                </a:path>
              </a:pathLst>
            </a:custGeom>
            <a:solidFill>
              <a:srgbClr val="539F20">
                <a:alpha val="7058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 name="Google Shape;76;p3"/>
            <p:cNvSpPr/>
            <p:nvPr/>
          </p:nvSpPr>
          <p:spPr>
            <a:xfrm>
              <a:off x="7012872" y="0"/>
              <a:ext cx="2131695" cy="6858000"/>
            </a:xfrm>
            <a:custGeom>
              <a:rect b="b" l="l" r="r" t="t"/>
              <a:pathLst>
                <a:path extrusionOk="0" h="6858000" w="2131695">
                  <a:moveTo>
                    <a:pt x="2131127" y="0"/>
                  </a:moveTo>
                  <a:lnTo>
                    <a:pt x="0" y="0"/>
                  </a:lnTo>
                  <a:lnTo>
                    <a:pt x="1854139" y="6857996"/>
                  </a:lnTo>
                  <a:lnTo>
                    <a:pt x="2131127" y="6849802"/>
                  </a:lnTo>
                  <a:lnTo>
                    <a:pt x="2131127" y="0"/>
                  </a:lnTo>
                  <a:close/>
                </a:path>
              </a:pathLst>
            </a:custGeom>
            <a:solidFill>
              <a:srgbClr val="3E7818">
                <a:alpha val="6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 name="Google Shape;77;p3"/>
            <p:cNvSpPr/>
            <p:nvPr/>
          </p:nvSpPr>
          <p:spPr>
            <a:xfrm>
              <a:off x="8295132" y="0"/>
              <a:ext cx="848994" cy="6858000"/>
            </a:xfrm>
            <a:custGeom>
              <a:rect b="b" l="l" r="r" t="t"/>
              <a:pathLst>
                <a:path extrusionOk="0" h="6858000" w="848995">
                  <a:moveTo>
                    <a:pt x="848867" y="0"/>
                  </a:moveTo>
                  <a:lnTo>
                    <a:pt x="676515" y="0"/>
                  </a:lnTo>
                  <a:lnTo>
                    <a:pt x="0" y="6857996"/>
                  </a:lnTo>
                  <a:lnTo>
                    <a:pt x="848867" y="6857996"/>
                  </a:lnTo>
                  <a:lnTo>
                    <a:pt x="848867" y="0"/>
                  </a:lnTo>
                  <a:close/>
                </a:path>
              </a:pathLst>
            </a:custGeom>
            <a:solidFill>
              <a:srgbClr val="C0E374">
                <a:alpha val="6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078450" y="0"/>
              <a:ext cx="1065530" cy="6858000"/>
            </a:xfrm>
            <a:custGeom>
              <a:rect b="b" l="l" r="r" t="t"/>
              <a:pathLst>
                <a:path extrusionOk="0" h="6858000" w="1065529">
                  <a:moveTo>
                    <a:pt x="1051063" y="0"/>
                  </a:moveTo>
                  <a:lnTo>
                    <a:pt x="0" y="0"/>
                  </a:lnTo>
                  <a:lnTo>
                    <a:pt x="937406" y="6857996"/>
                  </a:lnTo>
                  <a:lnTo>
                    <a:pt x="1065296" y="6857996"/>
                  </a:lnTo>
                  <a:lnTo>
                    <a:pt x="1065455" y="6654302"/>
                  </a:lnTo>
                  <a:lnTo>
                    <a:pt x="1065405" y="6145234"/>
                  </a:lnTo>
                  <a:lnTo>
                    <a:pt x="1065165" y="5890784"/>
                  </a:lnTo>
                  <a:lnTo>
                    <a:pt x="1064711" y="5585510"/>
                  </a:lnTo>
                  <a:lnTo>
                    <a:pt x="1063982" y="5229435"/>
                  </a:lnTo>
                  <a:lnTo>
                    <a:pt x="1062782" y="4771727"/>
                  </a:lnTo>
                  <a:lnTo>
                    <a:pt x="1060321" y="4009060"/>
                  </a:lnTo>
                  <a:lnTo>
                    <a:pt x="1054930" y="2483906"/>
                  </a:lnTo>
                  <a:lnTo>
                    <a:pt x="1053375" y="1975424"/>
                  </a:lnTo>
                  <a:lnTo>
                    <a:pt x="1052337" y="1568557"/>
                  </a:lnTo>
                  <a:lnTo>
                    <a:pt x="1051624" y="1212471"/>
                  </a:lnTo>
                  <a:lnTo>
                    <a:pt x="1051188" y="907185"/>
                  </a:lnTo>
                  <a:lnTo>
                    <a:pt x="1050963" y="652725"/>
                  </a:lnTo>
                  <a:lnTo>
                    <a:pt x="1050923" y="194553"/>
                  </a:lnTo>
                  <a:lnTo>
                    <a:pt x="1051063" y="0"/>
                  </a:lnTo>
                  <a:close/>
                </a:path>
              </a:pathLst>
            </a:custGeom>
            <a:solidFill>
              <a:srgbClr val="90C225">
                <a:alpha val="6352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 name="Google Shape;79;p3"/>
            <p:cNvSpPr/>
            <p:nvPr/>
          </p:nvSpPr>
          <p:spPr>
            <a:xfrm>
              <a:off x="8060437" y="4903644"/>
              <a:ext cx="1083945" cy="1954530"/>
            </a:xfrm>
            <a:custGeom>
              <a:rect b="b" l="l" r="r" t="t"/>
              <a:pathLst>
                <a:path extrusionOk="0" h="1954529" w="1083945">
                  <a:moveTo>
                    <a:pt x="1083562" y="0"/>
                  </a:moveTo>
                  <a:lnTo>
                    <a:pt x="0" y="1954354"/>
                  </a:lnTo>
                  <a:lnTo>
                    <a:pt x="1083562" y="1949315"/>
                  </a:lnTo>
                  <a:lnTo>
                    <a:pt x="1083562" y="0"/>
                  </a:lnTo>
                  <a:close/>
                </a:path>
              </a:pathLst>
            </a:custGeom>
            <a:solidFill>
              <a:srgbClr val="90C225">
                <a:alpha val="7843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0" name="Google Shape;80;p3"/>
          <p:cNvSpPr/>
          <p:nvPr/>
        </p:nvSpPr>
        <p:spPr>
          <a:xfrm>
            <a:off x="0" y="0"/>
            <a:ext cx="855344" cy="5629275"/>
          </a:xfrm>
          <a:custGeom>
            <a:rect b="b" l="l" r="r" t="t"/>
            <a:pathLst>
              <a:path extrusionOk="0" h="5629275" w="855344">
                <a:moveTo>
                  <a:pt x="854963" y="0"/>
                </a:moveTo>
                <a:lnTo>
                  <a:pt x="0" y="0"/>
                </a:lnTo>
                <a:lnTo>
                  <a:pt x="0" y="5628971"/>
                </a:lnTo>
                <a:lnTo>
                  <a:pt x="854963" y="7747"/>
                </a:lnTo>
                <a:lnTo>
                  <a:pt x="854963" y="0"/>
                </a:lnTo>
                <a:close/>
              </a:path>
            </a:pathLst>
          </a:custGeom>
          <a:solidFill>
            <a:srgbClr val="90C225">
              <a:alpha val="8352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1" name="Google Shape;81;p3"/>
          <p:cNvPicPr preferRelativeResize="0"/>
          <p:nvPr/>
        </p:nvPicPr>
        <p:blipFill rotWithShape="1">
          <a:blip r:embed="rId3">
            <a:alphaModFix/>
          </a:blip>
          <a:srcRect b="0" l="0" r="0" t="0"/>
          <a:stretch/>
        </p:blipFill>
        <p:spPr>
          <a:xfrm>
            <a:off x="7562088" y="115823"/>
            <a:ext cx="1248155" cy="1144524"/>
          </a:xfrm>
          <a:prstGeom prst="rect">
            <a:avLst/>
          </a:prstGeom>
          <a:noFill/>
          <a:ln>
            <a:noFill/>
          </a:ln>
        </p:spPr>
      </p:pic>
      <p:sp>
        <p:nvSpPr>
          <p:cNvPr id="82" name="Google Shape;82;p3"/>
          <p:cNvSpPr txBox="1"/>
          <p:nvPr/>
        </p:nvSpPr>
        <p:spPr>
          <a:xfrm>
            <a:off x="63500" y="833858"/>
            <a:ext cx="7998459" cy="5683972"/>
          </a:xfrm>
          <a:prstGeom prst="rect">
            <a:avLst/>
          </a:prstGeom>
          <a:noFill/>
          <a:ln>
            <a:noFill/>
          </a:ln>
        </p:spPr>
        <p:txBody>
          <a:bodyPr anchorCtr="0" anchor="t" bIns="0" lIns="0" spcFirstLastPara="1" rIns="0" wrap="square" tIns="109200">
            <a:spAutoFit/>
          </a:bodyPr>
          <a:lstStyle/>
          <a:p>
            <a:pPr indent="0" lvl="0" marL="12700" marR="0" rtl="0" algn="l">
              <a:lnSpc>
                <a:spcPct val="100000"/>
              </a:lnSpc>
              <a:spcBef>
                <a:spcPts val="0"/>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⑨</a:t>
            </a:r>
            <a:r>
              <a:rPr b="0" i="0" lang="en-US" sz="1700" u="none" cap="none" strike="noStrike">
                <a:solidFill>
                  <a:schemeClr val="dk1"/>
                </a:solidFill>
                <a:latin typeface="Tahoma"/>
                <a:ea typeface="Tahoma"/>
                <a:cs typeface="Tahoma"/>
                <a:sym typeface="Tahoma"/>
              </a:rPr>
              <a:t>Human Resource Management (HRM) is an operation/function in companies</a:t>
            </a:r>
            <a:endParaRPr b="0" i="0" sz="1700" u="none" cap="none" strike="noStrike">
              <a:solidFill>
                <a:schemeClr val="dk1"/>
              </a:solidFill>
              <a:latin typeface="Tahoma"/>
              <a:ea typeface="Tahoma"/>
              <a:cs typeface="Tahoma"/>
              <a:sym typeface="Tahoma"/>
            </a:endParaRPr>
          </a:p>
          <a:p>
            <a:pPr indent="0" lvl="0" marL="12700" marR="0" rtl="0" algn="l">
              <a:lnSpc>
                <a:spcPct val="100000"/>
              </a:lnSpc>
              <a:spcBef>
                <a:spcPts val="760"/>
              </a:spcBef>
              <a:spcAft>
                <a:spcPts val="0"/>
              </a:spcAft>
              <a:buClr>
                <a:srgbClr val="000000"/>
              </a:buClr>
              <a:buSzPts val="1700"/>
              <a:buFont typeface="Arial"/>
              <a:buNone/>
            </a:pPr>
            <a:r>
              <a:rPr b="0" i="0" lang="en-US" sz="1700" u="none" cap="none" strike="noStrike">
                <a:solidFill>
                  <a:schemeClr val="dk1"/>
                </a:solidFill>
                <a:latin typeface="Tahoma"/>
                <a:ea typeface="Tahoma"/>
                <a:cs typeface="Tahoma"/>
                <a:sym typeface="Tahoma"/>
              </a:rPr>
              <a:t>Designed to </a:t>
            </a:r>
            <a:r>
              <a:rPr b="0" i="0" lang="en-US" sz="1700" u="none" cap="none" strike="noStrike">
                <a:solidFill>
                  <a:srgbClr val="EE7D09"/>
                </a:solidFill>
                <a:latin typeface="Noto Sans Symbols"/>
                <a:ea typeface="Noto Sans Symbols"/>
                <a:cs typeface="Noto Sans Symbols"/>
                <a:sym typeface="Noto Sans Symbols"/>
              </a:rPr>
              <a:t>🖲</a:t>
            </a:r>
            <a:r>
              <a:rPr b="0" i="0" lang="en-US" sz="1700" u="none" cap="none" strike="noStrike">
                <a:solidFill>
                  <a:schemeClr val="dk1"/>
                </a:solidFill>
                <a:latin typeface="Tahoma"/>
                <a:ea typeface="Tahoma"/>
                <a:cs typeface="Tahoma"/>
                <a:sym typeface="Tahoma"/>
              </a:rPr>
              <a:t>Maximize employees’ performance</a:t>
            </a:r>
            <a:endParaRPr b="0" i="0" sz="1700" u="none" cap="none" strike="noStrike">
              <a:solidFill>
                <a:schemeClr val="dk1"/>
              </a:solidFill>
              <a:latin typeface="Tahoma"/>
              <a:ea typeface="Tahoma"/>
              <a:cs typeface="Tahoma"/>
              <a:sym typeface="Tahoma"/>
            </a:endParaRPr>
          </a:p>
          <a:p>
            <a:pPr indent="0" lvl="0" marL="3625215" marR="0" rtl="0" algn="l">
              <a:lnSpc>
                <a:spcPct val="100000"/>
              </a:lnSpc>
              <a:spcBef>
                <a:spcPts val="610"/>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1" i="0" lang="en-US" sz="1700" u="none" cap="none" strike="noStrike">
                <a:solidFill>
                  <a:srgbClr val="FF0000"/>
                </a:solidFill>
                <a:latin typeface="Tahoma"/>
                <a:ea typeface="Tahoma"/>
                <a:cs typeface="Tahoma"/>
                <a:sym typeface="Tahoma"/>
              </a:rPr>
              <a:t>Why?</a:t>
            </a:r>
            <a:endParaRPr b="0" i="0" sz="1700" u="none" cap="none" strike="noStrike">
              <a:solidFill>
                <a:schemeClr val="dk1"/>
              </a:solidFill>
              <a:latin typeface="Tahoma"/>
              <a:ea typeface="Tahoma"/>
              <a:cs typeface="Tahoma"/>
              <a:sym typeface="Tahoma"/>
            </a:endParaRPr>
          </a:p>
          <a:p>
            <a:pPr indent="0" lvl="0" marL="901064" marR="0" rtl="0" algn="l">
              <a:lnSpc>
                <a:spcPct val="100000"/>
              </a:lnSpc>
              <a:spcBef>
                <a:spcPts val="565"/>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0" i="0" lang="en-US" sz="1700" u="none" cap="none" strike="noStrike">
                <a:solidFill>
                  <a:schemeClr val="dk1"/>
                </a:solidFill>
                <a:latin typeface="Tahoma"/>
                <a:ea typeface="Tahoma"/>
                <a:cs typeface="Tahoma"/>
                <a:sym typeface="Tahoma"/>
              </a:rPr>
              <a:t>In order to meet the employer's strategic goals and objectives</a:t>
            </a:r>
            <a:endParaRPr b="0" i="0" sz="1700" u="none" cap="none" strike="noStrike">
              <a:solidFill>
                <a:schemeClr val="dk1"/>
              </a:solidFill>
              <a:latin typeface="Tahoma"/>
              <a:ea typeface="Tahoma"/>
              <a:cs typeface="Tahoma"/>
              <a:sym typeface="Tahoma"/>
            </a:endParaRPr>
          </a:p>
          <a:p>
            <a:pPr indent="0" lvl="0" marL="1149350" marR="0" rtl="0" algn="l">
              <a:lnSpc>
                <a:spcPct val="100000"/>
              </a:lnSpc>
              <a:spcBef>
                <a:spcPts val="565"/>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1" i="0" lang="en-US" sz="1700" u="none" cap="none" strike="noStrike">
                <a:solidFill>
                  <a:srgbClr val="FF0000"/>
                </a:solidFill>
                <a:latin typeface="Tahoma"/>
                <a:ea typeface="Tahoma"/>
                <a:cs typeface="Tahoma"/>
                <a:sym typeface="Tahoma"/>
              </a:rPr>
              <a:t>How HR can maximize employees’ performance?</a:t>
            </a:r>
            <a:endParaRPr b="0" i="0" sz="1700" u="none" cap="none" strike="noStrike">
              <a:solidFill>
                <a:schemeClr val="dk1"/>
              </a:solidFill>
              <a:latin typeface="Tahoma"/>
              <a:ea typeface="Tahoma"/>
              <a:cs typeface="Tahoma"/>
              <a:sym typeface="Tahoma"/>
            </a:endParaRPr>
          </a:p>
          <a:p>
            <a:pPr indent="-182880" lvl="0" marL="194945" marR="605790" rtl="0" algn="l">
              <a:lnSpc>
                <a:spcPct val="112900"/>
              </a:lnSpc>
              <a:spcBef>
                <a:spcPts val="290"/>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0" i="0" lang="en-US" sz="1700" u="none" cap="none" strike="noStrike">
                <a:solidFill>
                  <a:schemeClr val="dk1"/>
                </a:solidFill>
                <a:latin typeface="Tahoma"/>
                <a:ea typeface="Tahoma"/>
                <a:cs typeface="Tahoma"/>
                <a:sym typeface="Tahoma"/>
              </a:rPr>
              <a:t>HRM focuses on management of people within companies, emphasizing on  policies and systems.</a:t>
            </a:r>
            <a:endParaRPr b="0" i="0" sz="1700" u="none" cap="none" strike="noStrike">
              <a:solidFill>
                <a:schemeClr val="dk1"/>
              </a:solidFill>
              <a:latin typeface="Tahoma"/>
              <a:ea typeface="Tahoma"/>
              <a:cs typeface="Tahoma"/>
              <a:sym typeface="Tahoma"/>
            </a:endParaRPr>
          </a:p>
          <a:p>
            <a:pPr indent="0" lvl="0" marL="586740" marR="0" rtl="0" algn="l">
              <a:lnSpc>
                <a:spcPct val="100000"/>
              </a:lnSpc>
              <a:spcBef>
                <a:spcPts val="455"/>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1" i="0" lang="en-US" sz="1700" u="none" cap="none" strike="noStrike">
                <a:solidFill>
                  <a:srgbClr val="FF0000"/>
                </a:solidFill>
                <a:latin typeface="Tahoma"/>
                <a:ea typeface="Tahoma"/>
                <a:cs typeface="Tahoma"/>
                <a:sym typeface="Tahoma"/>
              </a:rPr>
              <a:t>What are the processes of managing these people within the</a:t>
            </a:r>
            <a:endParaRPr b="0" i="0" sz="1700" u="none" cap="none" strike="noStrike">
              <a:solidFill>
                <a:schemeClr val="dk1"/>
              </a:solidFill>
              <a:latin typeface="Tahoma"/>
              <a:ea typeface="Tahoma"/>
              <a:cs typeface="Tahoma"/>
              <a:sym typeface="Tahoma"/>
            </a:endParaRPr>
          </a:p>
          <a:p>
            <a:pPr indent="0" lvl="0" marL="3340100" marR="0" rtl="0" algn="l">
              <a:lnSpc>
                <a:spcPct val="100000"/>
              </a:lnSpc>
              <a:spcBef>
                <a:spcPts val="265"/>
              </a:spcBef>
              <a:spcAft>
                <a:spcPts val="0"/>
              </a:spcAft>
              <a:buClr>
                <a:srgbClr val="000000"/>
              </a:buClr>
              <a:buSzPts val="1700"/>
              <a:buFont typeface="Arial"/>
              <a:buNone/>
            </a:pPr>
            <a:r>
              <a:rPr b="1" i="0" lang="en-US" sz="1700" u="none" cap="none" strike="noStrike">
                <a:solidFill>
                  <a:srgbClr val="FF0000"/>
                </a:solidFill>
                <a:latin typeface="Tahoma"/>
                <a:ea typeface="Tahoma"/>
                <a:cs typeface="Tahoma"/>
                <a:sym typeface="Tahoma"/>
              </a:rPr>
              <a:t>organization?</a:t>
            </a:r>
            <a:endParaRPr b="0" i="0" sz="1700" u="none" cap="none" strike="noStrike">
              <a:solidFill>
                <a:schemeClr val="dk1"/>
              </a:solidFill>
              <a:latin typeface="Tahoma"/>
              <a:ea typeface="Tahoma"/>
              <a:cs typeface="Tahoma"/>
              <a:sym typeface="Tahoma"/>
            </a:endParaRPr>
          </a:p>
          <a:p>
            <a:pPr indent="0" lvl="0" marL="12700" marR="0" rtl="0" algn="l">
              <a:lnSpc>
                <a:spcPct val="100000"/>
              </a:lnSpc>
              <a:spcBef>
                <a:spcPts val="455"/>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0" i="0" lang="en-US" sz="1700" u="none" cap="none" strike="noStrike">
                <a:solidFill>
                  <a:schemeClr val="dk1"/>
                </a:solidFill>
                <a:latin typeface="Tahoma"/>
                <a:ea typeface="Tahoma"/>
                <a:cs typeface="Tahoma"/>
                <a:sym typeface="Tahoma"/>
              </a:rPr>
              <a:t>It is the process of determining HR needs, acquiring</a:t>
            </a:r>
            <a:endParaRPr b="0" i="0" sz="1700" u="none" cap="none" strike="noStrike">
              <a:solidFill>
                <a:schemeClr val="dk1"/>
              </a:solidFill>
              <a:latin typeface="Tahoma"/>
              <a:ea typeface="Tahoma"/>
              <a:cs typeface="Tahoma"/>
              <a:sym typeface="Tahoma"/>
            </a:endParaRPr>
          </a:p>
          <a:p>
            <a:pPr indent="0" lvl="0" marL="12700" marR="5080" rtl="0" algn="l">
              <a:lnSpc>
                <a:spcPct val="127400"/>
              </a:lnSpc>
              <a:spcBef>
                <a:spcPts val="10"/>
              </a:spcBef>
              <a:spcAft>
                <a:spcPts val="0"/>
              </a:spcAft>
              <a:buClr>
                <a:srgbClr val="000000"/>
              </a:buClr>
              <a:buSzPts val="1700"/>
              <a:buFont typeface="Arial"/>
              <a:buNone/>
            </a:pPr>
            <a:r>
              <a:rPr b="0" i="0" lang="en-US" sz="1700" u="none" cap="none" strike="noStrike">
                <a:solidFill>
                  <a:schemeClr val="dk1"/>
                </a:solidFill>
                <a:latin typeface="Tahoma"/>
                <a:ea typeface="Tahoma"/>
                <a:cs typeface="Tahoma"/>
                <a:sym typeface="Tahoma"/>
              </a:rPr>
              <a:t>(recruiting &amp; selecting), training(motivating), appraising  (rewarding, evaluating), compensating, scheduling employees and Focusing  on labor relations, health and safety, fairness concerns</a:t>
            </a:r>
            <a:endParaRPr b="0" i="0" sz="1700" u="none" cap="none" strike="noStrike">
              <a:solidFill>
                <a:schemeClr val="dk1"/>
              </a:solidFill>
              <a:latin typeface="Tahoma"/>
              <a:ea typeface="Tahoma"/>
              <a:cs typeface="Tahoma"/>
              <a:sym typeface="Tahoma"/>
            </a:endParaRPr>
          </a:p>
          <a:p>
            <a:pPr indent="0" lvl="0" marL="3625215" marR="0" rtl="0" algn="l">
              <a:lnSpc>
                <a:spcPct val="100000"/>
              </a:lnSpc>
              <a:spcBef>
                <a:spcPts val="560"/>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1" i="0" lang="en-US" sz="1700" u="none" cap="none" strike="noStrike">
                <a:solidFill>
                  <a:srgbClr val="FF0000"/>
                </a:solidFill>
                <a:latin typeface="Tahoma"/>
                <a:ea typeface="Tahoma"/>
                <a:cs typeface="Tahoma"/>
                <a:sym typeface="Tahoma"/>
              </a:rPr>
              <a:t>Why?</a:t>
            </a:r>
            <a:endParaRPr b="0" i="0" sz="1700" u="none" cap="none" strike="noStrike">
              <a:solidFill>
                <a:schemeClr val="dk1"/>
              </a:solidFill>
              <a:latin typeface="Tahoma"/>
              <a:ea typeface="Tahoma"/>
              <a:cs typeface="Tahoma"/>
              <a:sym typeface="Tahoma"/>
            </a:endParaRPr>
          </a:p>
          <a:p>
            <a:pPr indent="0" lvl="0" marL="12700" marR="0" rtl="0" algn="l">
              <a:lnSpc>
                <a:spcPct val="100000"/>
              </a:lnSpc>
              <a:spcBef>
                <a:spcPts val="565"/>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0" i="0" lang="en-US" sz="1700" u="none" cap="none" strike="noStrike">
                <a:solidFill>
                  <a:srgbClr val="EE7D09"/>
                </a:solidFill>
                <a:latin typeface="Times New Roman"/>
                <a:ea typeface="Times New Roman"/>
                <a:cs typeface="Times New Roman"/>
                <a:sym typeface="Times New Roman"/>
              </a:rPr>
              <a:t> </a:t>
            </a:r>
            <a:r>
              <a:rPr b="0" i="0" lang="en-US" sz="1700" u="none" cap="none" strike="noStrike">
                <a:solidFill>
                  <a:schemeClr val="dk1"/>
                </a:solidFill>
                <a:latin typeface="Tahoma"/>
                <a:ea typeface="Tahoma"/>
                <a:cs typeface="Tahoma"/>
                <a:sym typeface="Tahoma"/>
              </a:rPr>
              <a:t>So that HR can maintain </a:t>
            </a:r>
            <a:r>
              <a:rPr b="1" i="0" lang="en-US" sz="1700" u="none" cap="none" strike="noStrike">
                <a:solidFill>
                  <a:srgbClr val="00AE50"/>
                </a:solidFill>
                <a:latin typeface="Tahoma"/>
                <a:ea typeface="Tahoma"/>
                <a:cs typeface="Tahoma"/>
                <a:sym typeface="Tahoma"/>
              </a:rPr>
              <a:t>competent workforce</a:t>
            </a:r>
            <a:endParaRPr b="0" i="0" sz="1700" u="none" cap="none" strike="noStrike">
              <a:solidFill>
                <a:schemeClr val="dk1"/>
              </a:solidFill>
              <a:latin typeface="Tahoma"/>
              <a:ea typeface="Tahoma"/>
              <a:cs typeface="Tahoma"/>
              <a:sym typeface="Tahoma"/>
            </a:endParaRPr>
          </a:p>
          <a:p>
            <a:pPr indent="0" lvl="0" marL="1562735" marR="0" rtl="0" algn="l">
              <a:lnSpc>
                <a:spcPct val="100000"/>
              </a:lnSpc>
              <a:spcBef>
                <a:spcPts val="555"/>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1" i="0" lang="en-US" sz="1700" u="none" cap="none" strike="noStrike">
                <a:solidFill>
                  <a:srgbClr val="FF0000"/>
                </a:solidFill>
                <a:latin typeface="Tahoma"/>
                <a:ea typeface="Tahoma"/>
                <a:cs typeface="Tahoma"/>
                <a:sym typeface="Tahoma"/>
              </a:rPr>
              <a:t>Why to maintain a competent workforce?</a:t>
            </a:r>
            <a:endParaRPr b="0" i="0" sz="1700" u="none" cap="none" strike="noStrike">
              <a:solidFill>
                <a:schemeClr val="dk1"/>
              </a:solidFill>
              <a:latin typeface="Tahoma"/>
              <a:ea typeface="Tahoma"/>
              <a:cs typeface="Tahoma"/>
              <a:sym typeface="Tahoma"/>
            </a:endParaRPr>
          </a:p>
          <a:p>
            <a:pPr indent="0" lvl="0" marL="12700" marR="0" rtl="0" algn="l">
              <a:lnSpc>
                <a:spcPct val="100000"/>
              </a:lnSpc>
              <a:spcBef>
                <a:spcPts val="565"/>
              </a:spcBef>
              <a:spcAft>
                <a:spcPts val="0"/>
              </a:spcAft>
              <a:buClr>
                <a:srgbClr val="000000"/>
              </a:buClr>
              <a:buSzPts val="1700"/>
              <a:buFont typeface="Arial"/>
              <a:buNone/>
            </a:pPr>
            <a:r>
              <a:rPr b="0" i="0" lang="en-US" sz="1700" u="none" cap="none" strike="noStrike">
                <a:solidFill>
                  <a:srgbClr val="EE7D09"/>
                </a:solidFill>
                <a:latin typeface="Noto Sans Symbols"/>
                <a:ea typeface="Noto Sans Symbols"/>
                <a:cs typeface="Noto Sans Symbols"/>
                <a:sym typeface="Noto Sans Symbols"/>
              </a:rPr>
              <a:t>🖲</a:t>
            </a:r>
            <a:r>
              <a:rPr b="0" i="0" lang="en-US" sz="1700" u="none" cap="none" strike="noStrike">
                <a:solidFill>
                  <a:schemeClr val="dk1"/>
                </a:solidFill>
                <a:latin typeface="Tahoma"/>
                <a:ea typeface="Tahoma"/>
                <a:cs typeface="Tahoma"/>
                <a:sym typeface="Tahoma"/>
              </a:rPr>
              <a:t>To achieve the goals of an organization in an effective and efficient manner.</a:t>
            </a:r>
            <a:endParaRPr b="0" i="0" sz="1700" u="none" cap="none" strike="noStrike">
              <a:solidFill>
                <a:schemeClr val="dk1"/>
              </a:solidFill>
              <a:latin typeface="Tahoma"/>
              <a:ea typeface="Tahoma"/>
              <a:cs typeface="Tahoma"/>
              <a:sym typeface="Tahoma"/>
            </a:endParaRPr>
          </a:p>
        </p:txBody>
      </p:sp>
      <p:sp>
        <p:nvSpPr>
          <p:cNvPr id="83" name="Google Shape;83;p3"/>
          <p:cNvSpPr txBox="1"/>
          <p:nvPr>
            <p:ph type="title"/>
          </p:nvPr>
        </p:nvSpPr>
        <p:spPr>
          <a:xfrm>
            <a:off x="840738" y="72644"/>
            <a:ext cx="4442461" cy="68993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4400"/>
              <a:t>WHAT IS HRM ?</a:t>
            </a:r>
            <a:endParaRPr sz="4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
          <p:cNvSpPr txBox="1"/>
          <p:nvPr>
            <p:ph type="title"/>
          </p:nvPr>
        </p:nvSpPr>
        <p:spPr>
          <a:xfrm>
            <a:off x="231140" y="96723"/>
            <a:ext cx="600329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b="1" lang="en-US" sz="3200">
                <a:latin typeface="Arial"/>
                <a:ea typeface="Arial"/>
                <a:cs typeface="Arial"/>
                <a:sym typeface="Arial"/>
              </a:rPr>
              <a:t>People: The Ultimate Resource</a:t>
            </a:r>
            <a:endParaRPr sz="3200">
              <a:latin typeface="Arial"/>
              <a:ea typeface="Arial"/>
              <a:cs typeface="Arial"/>
              <a:sym typeface="Arial"/>
            </a:endParaRPr>
          </a:p>
        </p:txBody>
      </p:sp>
      <p:sp>
        <p:nvSpPr>
          <p:cNvPr id="89" name="Google Shape;89;p2"/>
          <p:cNvSpPr txBox="1"/>
          <p:nvPr/>
        </p:nvSpPr>
        <p:spPr>
          <a:xfrm>
            <a:off x="231140" y="1114264"/>
            <a:ext cx="7430134" cy="4444807"/>
          </a:xfrm>
          <a:prstGeom prst="rect">
            <a:avLst/>
          </a:prstGeom>
          <a:noFill/>
          <a:ln>
            <a:noFill/>
          </a:ln>
        </p:spPr>
        <p:txBody>
          <a:bodyPr anchorCtr="0" anchor="t" bIns="0" lIns="0" spcFirstLastPara="1" rIns="0" wrap="square" tIns="12700">
            <a:spAutoFit/>
          </a:bodyPr>
          <a:lstStyle/>
          <a:p>
            <a:pPr indent="-342900" lvl="0" marL="355600" marR="285750" rtl="0" algn="l">
              <a:lnSpc>
                <a:spcPct val="100000"/>
              </a:lnSpc>
              <a:spcBef>
                <a:spcPts val="0"/>
              </a:spcBef>
              <a:spcAft>
                <a:spcPts val="0"/>
              </a:spcAft>
              <a:buClr>
                <a:srgbClr val="90C225"/>
              </a:buClr>
              <a:buSzPts val="1900"/>
              <a:buFont typeface="Arial"/>
              <a:buChar char="•"/>
            </a:pPr>
            <a:r>
              <a:rPr b="0" i="0" lang="en-US" sz="1800" u="none" cap="none" strike="noStrike">
                <a:solidFill>
                  <a:schemeClr val="dk1"/>
                </a:solidFill>
                <a:latin typeface="Arial"/>
                <a:ea typeface="Arial"/>
                <a:cs typeface="Arial"/>
                <a:sym typeface="Arial"/>
              </a:rPr>
              <a:t>There has been a shift from manufacturing to service industries, and also to high-tech manufacturing. </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457200" lvl="0" marL="469900" marR="285750" rtl="0" algn="l">
              <a:lnSpc>
                <a:spcPct val="100000"/>
              </a:lnSpc>
              <a:spcBef>
                <a:spcPts val="0"/>
              </a:spcBef>
              <a:spcAft>
                <a:spcPts val="0"/>
              </a:spcAft>
              <a:buClr>
                <a:srgbClr val="90C225"/>
              </a:buClr>
              <a:buSzPts val="1900"/>
              <a:buFont typeface="Arial"/>
              <a:buChar char="-"/>
            </a:pPr>
            <a:r>
              <a:rPr b="0" i="0" lang="en-US" sz="1800" u="none" cap="none" strike="noStrike">
                <a:solidFill>
                  <a:schemeClr val="dk1"/>
                </a:solidFill>
                <a:latin typeface="Arial"/>
                <a:ea typeface="Arial"/>
                <a:cs typeface="Arial"/>
                <a:sym typeface="Arial"/>
              </a:rPr>
              <a:t>B</a:t>
            </a:r>
            <a:r>
              <a:rPr b="0" i="0" lang="en-US" sz="1800" u="none" cap="none" strike="noStrike">
                <a:solidFill>
                  <a:srgbClr val="000000"/>
                </a:solidFill>
                <a:latin typeface="Arial"/>
                <a:ea typeface="Arial"/>
                <a:cs typeface="Arial"/>
                <a:sym typeface="Arial"/>
              </a:rPr>
              <a:t>usinesses are adopting AI-driven tools (e.g., in production, data analysis, customer service)</a:t>
            </a:r>
            <a:endParaRPr/>
          </a:p>
          <a:p>
            <a:pPr indent="-336550" lvl="0" marL="469900" marR="285750" rtl="0" algn="l">
              <a:lnSpc>
                <a:spcPct val="100000"/>
              </a:lnSpc>
              <a:spcBef>
                <a:spcPts val="0"/>
              </a:spcBef>
              <a:spcAft>
                <a:spcPts val="0"/>
              </a:spcAft>
              <a:buClr>
                <a:srgbClr val="90C225"/>
              </a:buClr>
              <a:buSzPts val="1900"/>
              <a:buFont typeface="Arial"/>
              <a:buNone/>
            </a:pPr>
            <a:r>
              <a:t/>
            </a:r>
            <a:endParaRPr b="0" i="0" sz="1800" u="none" cap="none" strike="noStrike">
              <a:solidFill>
                <a:srgbClr val="000000"/>
              </a:solidFill>
              <a:latin typeface="Arial"/>
              <a:ea typeface="Arial"/>
              <a:cs typeface="Arial"/>
              <a:sym typeface="Arial"/>
            </a:endParaRPr>
          </a:p>
          <a:p>
            <a:pPr indent="-457200" lvl="0" marL="469900" marR="285750" rtl="0" algn="l">
              <a:lnSpc>
                <a:spcPct val="100000"/>
              </a:lnSpc>
              <a:spcBef>
                <a:spcPts val="0"/>
              </a:spcBef>
              <a:spcAft>
                <a:spcPts val="0"/>
              </a:spcAft>
              <a:buClr>
                <a:srgbClr val="90C225"/>
              </a:buClr>
              <a:buSzPts val="1900"/>
              <a:buFont typeface="Arial"/>
              <a:buChar char="-"/>
            </a:pPr>
            <a:r>
              <a:rPr b="0" i="0" lang="en-US" sz="1800" u="none" cap="none" strike="noStrike">
                <a:solidFill>
                  <a:srgbClr val="000000"/>
                </a:solidFill>
                <a:latin typeface="Arial"/>
                <a:ea typeface="Arial"/>
                <a:cs typeface="Arial"/>
                <a:sym typeface="Arial"/>
              </a:rPr>
              <a:t>Digitally literate (having the ability to use digital tools effectively) workers are in high demand</a:t>
            </a:r>
            <a:endParaRPr/>
          </a:p>
          <a:p>
            <a:pPr indent="-336550" lvl="0" marL="469900" marR="285750" rtl="0" algn="l">
              <a:lnSpc>
                <a:spcPct val="100000"/>
              </a:lnSpc>
              <a:spcBef>
                <a:spcPts val="0"/>
              </a:spcBef>
              <a:spcAft>
                <a:spcPts val="0"/>
              </a:spcAft>
              <a:buClr>
                <a:srgbClr val="90C225"/>
              </a:buClr>
              <a:buSzPts val="1900"/>
              <a:buFont typeface="Arial"/>
              <a:buNone/>
            </a:pPr>
            <a:r>
              <a:t/>
            </a:r>
            <a:endParaRPr b="1" i="0" sz="1800" u="none" cap="none" strike="noStrike">
              <a:solidFill>
                <a:srgbClr val="000000"/>
              </a:solidFill>
              <a:latin typeface="Arial"/>
              <a:ea typeface="Arial"/>
              <a:cs typeface="Arial"/>
              <a:sym typeface="Arial"/>
            </a:endParaRPr>
          </a:p>
          <a:p>
            <a:pPr indent="-457200" lvl="0" marL="469900" marR="285750" rtl="0" algn="l">
              <a:lnSpc>
                <a:spcPct val="100000"/>
              </a:lnSpc>
              <a:spcBef>
                <a:spcPts val="0"/>
              </a:spcBef>
              <a:spcAft>
                <a:spcPts val="0"/>
              </a:spcAft>
              <a:buClr>
                <a:srgbClr val="90C225"/>
              </a:buClr>
              <a:buSzPts val="1900"/>
              <a:buFont typeface="Arial"/>
              <a:buChar char="-"/>
            </a:pPr>
            <a:r>
              <a:rPr b="0" i="0" lang="en-US" sz="1800" u="none" cap="none" strike="noStrike">
                <a:solidFill>
                  <a:srgbClr val="000000"/>
                </a:solidFill>
                <a:latin typeface="Arial"/>
                <a:ea typeface="Arial"/>
                <a:cs typeface="Arial"/>
                <a:sym typeface="Arial"/>
              </a:rPr>
              <a:t>Remote work has become more widespread, making digital proficiency essential. Many companies are offering flexible work from home opportunities. </a:t>
            </a:r>
            <a:endParaRPr/>
          </a:p>
          <a:p>
            <a:pPr indent="-336550" lvl="0" marL="469900" marR="285750" rtl="0" algn="l">
              <a:lnSpc>
                <a:spcPct val="100000"/>
              </a:lnSpc>
              <a:spcBef>
                <a:spcPts val="0"/>
              </a:spcBef>
              <a:spcAft>
                <a:spcPts val="0"/>
              </a:spcAft>
              <a:buClr>
                <a:srgbClr val="90C225"/>
              </a:buClr>
              <a:buSzPts val="1900"/>
              <a:buFont typeface="Arial"/>
              <a:buNone/>
            </a:pPr>
            <a:r>
              <a:t/>
            </a:r>
            <a:endParaRPr b="0" i="0" sz="1800" u="none" cap="none" strike="noStrike">
              <a:solidFill>
                <a:srgbClr val="000000"/>
              </a:solidFill>
              <a:latin typeface="Arial"/>
              <a:ea typeface="Arial"/>
              <a:cs typeface="Arial"/>
              <a:sym typeface="Arial"/>
            </a:endParaRPr>
          </a:p>
          <a:p>
            <a:pPr indent="0" lvl="0" marL="12700" marR="285750" rtl="0" algn="l">
              <a:lnSpc>
                <a:spcPct val="100000"/>
              </a:lnSpc>
              <a:spcBef>
                <a:spcPts val="0"/>
              </a:spcBef>
              <a:spcAft>
                <a:spcPts val="0"/>
              </a:spcAft>
              <a:buNone/>
            </a:pPr>
            <a:r>
              <a:rPr b="0" i="0" lang="en-US" sz="1800" u="none" cap="none" strike="noStrike">
                <a:solidFill>
                  <a:srgbClr val="00B050"/>
                </a:solidFill>
                <a:latin typeface="Arial"/>
                <a:ea typeface="Arial"/>
                <a:cs typeface="Arial"/>
                <a:sym typeface="Arial"/>
              </a:rPr>
              <a:t>It’s HR’s responsibility to recruit digitally literate talent and train current employees in modern digital tools.</a:t>
            </a:r>
            <a:endParaRPr/>
          </a:p>
          <a:p>
            <a:pPr indent="-222250" lvl="0" marL="355600" marR="285750" rtl="0" algn="l">
              <a:lnSpc>
                <a:spcPct val="100000"/>
              </a:lnSpc>
              <a:spcBef>
                <a:spcPts val="0"/>
              </a:spcBef>
              <a:spcAft>
                <a:spcPts val="0"/>
              </a:spcAft>
              <a:buClr>
                <a:srgbClr val="90C225"/>
              </a:buClr>
              <a:buSzPts val="19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type="title"/>
          </p:nvPr>
        </p:nvSpPr>
        <p:spPr>
          <a:xfrm>
            <a:off x="231140" y="96723"/>
            <a:ext cx="600329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b="1" lang="en-US" sz="3200">
                <a:latin typeface="Arial"/>
                <a:ea typeface="Arial"/>
                <a:cs typeface="Arial"/>
                <a:sym typeface="Arial"/>
              </a:rPr>
              <a:t>People: The Ultimate Resource</a:t>
            </a:r>
            <a:endParaRPr sz="3200">
              <a:latin typeface="Arial"/>
              <a:ea typeface="Arial"/>
              <a:cs typeface="Arial"/>
              <a:sym typeface="Arial"/>
            </a:endParaRPr>
          </a:p>
        </p:txBody>
      </p:sp>
      <p:sp>
        <p:nvSpPr>
          <p:cNvPr id="95" name="Google Shape;95;p4"/>
          <p:cNvSpPr txBox="1"/>
          <p:nvPr/>
        </p:nvSpPr>
        <p:spPr>
          <a:xfrm>
            <a:off x="383540" y="940053"/>
            <a:ext cx="6818771" cy="3090590"/>
          </a:xfrm>
          <a:prstGeom prst="rect">
            <a:avLst/>
          </a:prstGeom>
          <a:noFill/>
          <a:ln>
            <a:noFill/>
          </a:ln>
        </p:spPr>
        <p:txBody>
          <a:bodyPr anchorCtr="0" anchor="t" bIns="0" lIns="0" spcFirstLastPara="1" rIns="0" wrap="square" tIns="12700">
            <a:spAutoFit/>
          </a:bodyPr>
          <a:lstStyle/>
          <a:p>
            <a:pPr indent="-342900" lvl="0" marL="355600" marR="5080" rtl="0" algn="l">
              <a:lnSpc>
                <a:spcPct val="100000"/>
              </a:lnSpc>
              <a:spcBef>
                <a:spcPts val="2400"/>
              </a:spcBef>
              <a:spcAft>
                <a:spcPts val="0"/>
              </a:spcAft>
              <a:buClr>
                <a:srgbClr val="90C225"/>
              </a:buClr>
              <a:buSzPts val="1900"/>
              <a:buFont typeface="Arial"/>
              <a:buChar char="•"/>
            </a:pPr>
            <a:r>
              <a:rPr b="0" i="0" lang="en-US" sz="2000" u="none" cap="none" strike="noStrike">
                <a:solidFill>
                  <a:schemeClr val="dk1"/>
                </a:solidFill>
                <a:latin typeface="Arial"/>
                <a:ea typeface="Arial"/>
                <a:cs typeface="Arial"/>
                <a:sym typeface="Arial"/>
              </a:rPr>
              <a:t>Nowadays, because of increased competition, good, qualified employees are much harder to find. So, HR is now much more challenging  and important than before. </a:t>
            </a:r>
            <a:endParaRPr b="0" i="0" sz="2000" u="none" cap="none" strike="noStrike">
              <a:solidFill>
                <a:schemeClr val="dk1"/>
              </a:solidFill>
              <a:latin typeface="Arial"/>
              <a:ea typeface="Arial"/>
              <a:cs typeface="Arial"/>
              <a:sym typeface="Arial"/>
            </a:endParaRPr>
          </a:p>
          <a:p>
            <a:pPr indent="-342900" lvl="0" marL="355600" marR="5080" rtl="0" algn="l">
              <a:lnSpc>
                <a:spcPct val="100000"/>
              </a:lnSpc>
              <a:spcBef>
                <a:spcPts val="2400"/>
              </a:spcBef>
              <a:spcAft>
                <a:spcPts val="0"/>
              </a:spcAft>
              <a:buClr>
                <a:srgbClr val="90C225"/>
              </a:buClr>
              <a:buSzPts val="1900"/>
              <a:buFont typeface="Arial"/>
              <a:buChar char="•"/>
            </a:pPr>
            <a:r>
              <a:rPr b="0" i="0" lang="en-US" sz="2000" u="none" cap="none" strike="noStrike">
                <a:solidFill>
                  <a:srgbClr val="000000"/>
                </a:solidFill>
                <a:latin typeface="Arial"/>
                <a:ea typeface="Arial"/>
                <a:cs typeface="Arial"/>
                <a:sym typeface="Arial"/>
              </a:rPr>
              <a:t>Remote work also increases competition and complexity in hiring.</a:t>
            </a:r>
            <a:endParaRPr b="0" i="0" sz="2000" u="none" cap="none" strike="noStrike">
              <a:solidFill>
                <a:schemeClr val="dk1"/>
              </a:solidFill>
              <a:latin typeface="Arial"/>
              <a:ea typeface="Arial"/>
              <a:cs typeface="Arial"/>
              <a:sym typeface="Arial"/>
            </a:endParaRPr>
          </a:p>
          <a:p>
            <a:pPr indent="-335280" lvl="0" marL="347980" marR="0" rtl="0" algn="l">
              <a:lnSpc>
                <a:spcPct val="100000"/>
              </a:lnSpc>
              <a:spcBef>
                <a:spcPts val="2410"/>
              </a:spcBef>
              <a:spcAft>
                <a:spcPts val="0"/>
              </a:spcAft>
              <a:buClr>
                <a:srgbClr val="90C225"/>
              </a:buClr>
              <a:buSzPts val="1600"/>
              <a:buFont typeface="Arial"/>
              <a:buChar char="•"/>
            </a:pPr>
            <a:r>
              <a:rPr b="0" i="0" lang="en-US" sz="2000" u="none" cap="none" strike="noStrike">
                <a:solidFill>
                  <a:schemeClr val="dk1"/>
                </a:solidFill>
                <a:latin typeface="Arial"/>
                <a:ea typeface="Arial"/>
                <a:cs typeface="Arial"/>
                <a:sym typeface="Arial"/>
              </a:rPr>
              <a:t>The human resource job is now the job of all managers in an organization (Shared HR Responsibility)</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nvSpPr>
        <p:spPr>
          <a:xfrm>
            <a:off x="535940" y="889761"/>
            <a:ext cx="6788988" cy="5702187"/>
          </a:xfrm>
          <a:prstGeom prst="rect">
            <a:avLst/>
          </a:prstGeom>
          <a:noFill/>
          <a:ln>
            <a:noFill/>
          </a:ln>
        </p:spPr>
        <p:txBody>
          <a:bodyPr anchorCtr="0" anchor="t" bIns="0" lIns="0" spcFirstLastPara="1" rIns="0" wrap="square" tIns="94600">
            <a:spAutoFit/>
          </a:bodyPr>
          <a:lstStyle/>
          <a:p>
            <a:pPr indent="0" lvl="0" marL="12700" marR="0" rtl="0" algn="l">
              <a:lnSpc>
                <a:spcPct val="150000"/>
              </a:lnSpc>
              <a:spcBef>
                <a:spcPts val="0"/>
              </a:spcBef>
              <a:spcAft>
                <a:spcPts val="0"/>
              </a:spcAft>
              <a:buClr>
                <a:srgbClr val="000000"/>
              </a:buClr>
              <a:buSzPts val="1200"/>
              <a:buFont typeface="Arial"/>
              <a:buNone/>
            </a:pPr>
            <a:r>
              <a:rPr b="0" i="0" lang="en-US" sz="1600" u="none" cap="none" strike="noStrike">
                <a:solidFill>
                  <a:srgbClr val="90C225"/>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Cost (Health care, Training, Hiring process)</a:t>
            </a:r>
            <a:endParaRPr b="0" i="0" sz="1600" u="none" cap="none" strike="noStrike">
              <a:solidFill>
                <a:schemeClr val="dk1"/>
              </a:solidFill>
              <a:latin typeface="Arial"/>
              <a:ea typeface="Arial"/>
              <a:cs typeface="Arial"/>
              <a:sym typeface="Arial"/>
            </a:endParaRPr>
          </a:p>
          <a:p>
            <a:pPr indent="0" lvl="0" marL="12700" marR="0" rtl="0" algn="l">
              <a:lnSpc>
                <a:spcPct val="150000"/>
              </a:lnSpc>
              <a:spcBef>
                <a:spcPts val="650"/>
              </a:spcBef>
              <a:spcAft>
                <a:spcPts val="0"/>
              </a:spcAft>
              <a:buClr>
                <a:srgbClr val="000000"/>
              </a:buClr>
              <a:buSzPts val="1200"/>
              <a:buFont typeface="Arial"/>
              <a:buNone/>
            </a:pPr>
            <a:r>
              <a:rPr b="0" i="0" lang="en-US" sz="1600" u="none" cap="none" strike="noStrike">
                <a:solidFill>
                  <a:srgbClr val="90C225"/>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Skilled Workers</a:t>
            </a:r>
            <a:r>
              <a:rPr b="0" i="0" lang="en-US" sz="1600" u="none" cap="none" strike="noStrike">
                <a:solidFill>
                  <a:schemeClr val="dk1"/>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A shortage of trained workers in important, growth areas (such as IT,  Green Technology etc)</a:t>
            </a:r>
            <a:endParaRPr b="0" i="0" sz="1600" u="none" cap="none" strike="noStrike">
              <a:solidFill>
                <a:schemeClr val="dk1"/>
              </a:solidFill>
              <a:latin typeface="Arial"/>
              <a:ea typeface="Arial"/>
              <a:cs typeface="Arial"/>
              <a:sym typeface="Arial"/>
            </a:endParaRPr>
          </a:p>
          <a:p>
            <a:pPr indent="0" lvl="0" marL="12700" marR="0" rtl="0" algn="l">
              <a:lnSpc>
                <a:spcPct val="150000"/>
              </a:lnSpc>
              <a:spcBef>
                <a:spcPts val="650"/>
              </a:spcBef>
              <a:spcAft>
                <a:spcPts val="0"/>
              </a:spcAft>
              <a:buClr>
                <a:srgbClr val="000000"/>
              </a:buClr>
              <a:buSzPts val="1200"/>
              <a:buFont typeface="Arial"/>
              <a:buNone/>
            </a:pPr>
            <a:r>
              <a:rPr b="0" i="0" lang="en-US" sz="1600" u="none" cap="none" strike="noStrike">
                <a:solidFill>
                  <a:srgbClr val="90C225"/>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Technology (large database)</a:t>
            </a:r>
            <a:r>
              <a:rPr b="0" i="0" lang="en-US" sz="1600" u="none" cap="none" strike="noStrike">
                <a:solidFill>
                  <a:schemeClr val="dk1"/>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Overabundance of workers in declining industries, such as steel and  automobiles (who need retraining)</a:t>
            </a:r>
            <a:endParaRPr b="0" i="0" sz="1600" u="none" cap="none" strike="noStrike">
              <a:solidFill>
                <a:schemeClr val="dk1"/>
              </a:solidFill>
              <a:latin typeface="Arial"/>
              <a:ea typeface="Arial"/>
              <a:cs typeface="Arial"/>
              <a:sym typeface="Arial"/>
            </a:endParaRPr>
          </a:p>
          <a:p>
            <a:pPr indent="0" lvl="0" marL="12700" marR="0" rtl="0" algn="l">
              <a:lnSpc>
                <a:spcPct val="150000"/>
              </a:lnSpc>
              <a:spcBef>
                <a:spcPts val="650"/>
              </a:spcBef>
              <a:spcAft>
                <a:spcPts val="0"/>
              </a:spcAft>
              <a:buClr>
                <a:srgbClr val="000000"/>
              </a:buClr>
              <a:buSzPts val="1200"/>
              <a:buFont typeface="Arial"/>
              <a:buNone/>
            </a:pPr>
            <a:r>
              <a:rPr b="0" i="0" lang="en-US" sz="1600" u="none" cap="none" strike="noStrike">
                <a:solidFill>
                  <a:srgbClr val="90C225"/>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Economy (Nation’s Unemployment problem)</a:t>
            </a:r>
            <a:r>
              <a:rPr b="0" i="0" lang="en-US" sz="1600" u="none" cap="none" strike="noStrike">
                <a:solidFill>
                  <a:schemeClr val="dk1"/>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Increased outsourcing (jobs going abroad), because labour costs in  other countries are much cheaper </a:t>
            </a:r>
            <a:endParaRPr b="0" i="0" sz="1600" u="none" cap="none" strike="noStrike">
              <a:solidFill>
                <a:srgbClr val="404040"/>
              </a:solidFill>
              <a:latin typeface="Arial"/>
              <a:ea typeface="Arial"/>
              <a:cs typeface="Arial"/>
              <a:sym typeface="Arial"/>
            </a:endParaRPr>
          </a:p>
          <a:p>
            <a:pPr indent="0" lvl="0" marL="12700" marR="0" rtl="0" algn="l">
              <a:lnSpc>
                <a:spcPct val="150000"/>
              </a:lnSpc>
              <a:spcBef>
                <a:spcPts val="650"/>
              </a:spcBef>
              <a:spcAft>
                <a:spcPts val="0"/>
              </a:spcAft>
              <a:buClr>
                <a:srgbClr val="000000"/>
              </a:buClr>
              <a:buSzPts val="1200"/>
              <a:buFont typeface="Arial"/>
              <a:buNone/>
            </a:pPr>
            <a:r>
              <a:rPr b="0" i="0" lang="en-US" sz="1600" u="none" cap="none" strike="noStrike">
                <a:solidFill>
                  <a:srgbClr val="90C225"/>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Changing and Diverse Workforce</a:t>
            </a:r>
            <a:r>
              <a:rPr b="0" i="0" lang="en-US" sz="1600" u="none" cap="none" strike="noStrike">
                <a:solidFill>
                  <a:schemeClr val="dk1"/>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Increasing single-parent families, and therefore the need for  maternity leave, job sharing, telecommuting etc increases. HR has to  balance these needs against organizational profitability</a:t>
            </a:r>
            <a:endParaRPr b="0" i="0" sz="1600" u="none" cap="none" strike="noStrike">
              <a:solidFill>
                <a:schemeClr val="dk1"/>
              </a:solidFill>
              <a:latin typeface="Arial"/>
              <a:ea typeface="Arial"/>
              <a:cs typeface="Arial"/>
              <a:sym typeface="Arial"/>
            </a:endParaRPr>
          </a:p>
          <a:p>
            <a:pPr indent="0" lvl="0" marL="12700" marR="0" rtl="0" algn="l">
              <a:lnSpc>
                <a:spcPct val="150000"/>
              </a:lnSpc>
              <a:spcBef>
                <a:spcPts val="630"/>
              </a:spcBef>
              <a:spcAft>
                <a:spcPts val="0"/>
              </a:spcAft>
              <a:buClr>
                <a:srgbClr val="000000"/>
              </a:buClr>
              <a:buSzPts val="1200"/>
              <a:buFont typeface="Arial"/>
              <a:buNone/>
            </a:pPr>
            <a:r>
              <a:rPr b="0" i="0" lang="en-US" sz="1600" u="none" cap="none" strike="noStrike">
                <a:solidFill>
                  <a:srgbClr val="90C225"/>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Ethics</a:t>
            </a:r>
            <a:r>
              <a:rPr b="0" i="0" lang="en-US" sz="1600" u="none" cap="none" strike="noStrike">
                <a:solidFill>
                  <a:schemeClr val="dk1"/>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A decreased sense of employee loyalty (due to so many firms in the</a:t>
            </a:r>
            <a:r>
              <a:rPr b="0" i="0" lang="en-US" sz="1600" u="none" cap="none" strike="noStrike">
                <a:solidFill>
                  <a:schemeClr val="dk1"/>
                </a:solidFill>
                <a:latin typeface="Arial"/>
                <a:ea typeface="Arial"/>
                <a:cs typeface="Arial"/>
                <a:sym typeface="Arial"/>
              </a:rPr>
              <a:t> </a:t>
            </a:r>
            <a:r>
              <a:rPr b="0" i="0" lang="en-US" sz="1600" u="none" cap="none" strike="noStrike">
                <a:solidFill>
                  <a:srgbClr val="404040"/>
                </a:solidFill>
                <a:latin typeface="Arial"/>
                <a:ea typeface="Arial"/>
                <a:cs typeface="Arial"/>
                <a:sym typeface="Arial"/>
              </a:rPr>
              <a:t>market, shorter job cycles, contractual work etc.)</a:t>
            </a:r>
            <a:endParaRPr b="0" i="0" sz="1600" u="none" cap="none" strike="noStrike">
              <a:solidFill>
                <a:schemeClr val="dk1"/>
              </a:solidFill>
              <a:latin typeface="Arial"/>
              <a:ea typeface="Arial"/>
              <a:cs typeface="Arial"/>
              <a:sym typeface="Arial"/>
            </a:endParaRPr>
          </a:p>
        </p:txBody>
      </p:sp>
      <p:sp>
        <p:nvSpPr>
          <p:cNvPr id="101" name="Google Shape;101;p7"/>
          <p:cNvSpPr txBox="1"/>
          <p:nvPr>
            <p:ph type="title"/>
          </p:nvPr>
        </p:nvSpPr>
        <p:spPr>
          <a:xfrm>
            <a:off x="383540" y="186639"/>
            <a:ext cx="6102985" cy="505267"/>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200"/>
              <a:t>SOME MAJOR HR CHALLENGES</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2"/>
          <p:cNvSpPr txBox="1"/>
          <p:nvPr>
            <p:ph type="title"/>
          </p:nvPr>
        </p:nvSpPr>
        <p:spPr>
          <a:xfrm>
            <a:off x="231140" y="150367"/>
            <a:ext cx="5795645" cy="505267"/>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200"/>
              <a:t>ROLES OF AN HRM MANAGER</a:t>
            </a:r>
            <a:endParaRPr sz="3200"/>
          </a:p>
        </p:txBody>
      </p:sp>
      <p:sp>
        <p:nvSpPr>
          <p:cNvPr id="107" name="Google Shape;107;p12"/>
          <p:cNvSpPr txBox="1"/>
          <p:nvPr/>
        </p:nvSpPr>
        <p:spPr>
          <a:xfrm>
            <a:off x="383540" y="967486"/>
            <a:ext cx="6739800" cy="3933900"/>
          </a:xfrm>
          <a:prstGeom prst="rect">
            <a:avLst/>
          </a:prstGeom>
          <a:noFill/>
          <a:ln>
            <a:noFill/>
          </a:ln>
        </p:spPr>
        <p:txBody>
          <a:bodyPr anchorCtr="0" anchor="t" bIns="0" lIns="0" spcFirstLastPara="1" rIns="0" wrap="square" tIns="139050">
            <a:spAutoFit/>
          </a:bodyPr>
          <a:lstStyle/>
          <a:p>
            <a:pPr indent="0" lvl="0" marL="12700" marR="0" rtl="0" algn="l">
              <a:lnSpc>
                <a:spcPct val="10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Developing &amp; Implementing Staffing plan (Recruitment &amp; Selection)</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Developing Workplace Policies</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Compensating the employees</a:t>
            </a:r>
            <a:endParaRPr/>
          </a:p>
          <a:p>
            <a:pPr indent="0" lvl="0" marL="12700" marR="0" rtl="0" algn="l">
              <a:lnSpc>
                <a:spcPct val="10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Making Retention Policies</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100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Providing Training and Development</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Dealing with Laws , Regulations………affecting Employment</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101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Providing Worker Protection</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Establishing Communication</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Creating Awareness about External Factors</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 name="Shape 112"/>
        <p:cNvGrpSpPr/>
        <p:nvPr/>
      </p:nvGrpSpPr>
      <p:grpSpPr>
        <a:xfrm>
          <a:off x="0" y="0"/>
          <a:ext cx="0" cy="0"/>
          <a:chOff x="0" y="0"/>
          <a:chExt cx="0" cy="0"/>
        </a:xfrm>
      </p:grpSpPr>
      <p:sp>
        <p:nvSpPr>
          <p:cNvPr id="113" name="Google Shape;113;p14"/>
          <p:cNvSpPr/>
          <p:nvPr/>
        </p:nvSpPr>
        <p:spPr>
          <a:xfrm>
            <a:off x="0" y="4069781"/>
            <a:ext cx="447040" cy="2788285"/>
          </a:xfrm>
          <a:custGeom>
            <a:rect b="b" l="l" r="r" t="t"/>
            <a:pathLst>
              <a:path extrusionOk="0" h="2788284" w="447040">
                <a:moveTo>
                  <a:pt x="0" y="0"/>
                </a:moveTo>
                <a:lnTo>
                  <a:pt x="0" y="2788217"/>
                </a:lnTo>
                <a:lnTo>
                  <a:pt x="446591" y="2788217"/>
                </a:lnTo>
                <a:lnTo>
                  <a:pt x="0" y="0"/>
                </a:lnTo>
                <a:close/>
              </a:path>
            </a:pathLst>
          </a:custGeom>
          <a:solidFill>
            <a:srgbClr val="90C225">
              <a:alpha val="8352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14" name="Google Shape;114;p14"/>
          <p:cNvGrpSpPr/>
          <p:nvPr/>
        </p:nvGrpSpPr>
        <p:grpSpPr>
          <a:xfrm>
            <a:off x="5131542" y="0"/>
            <a:ext cx="4013025" cy="6858578"/>
            <a:chOff x="5131542" y="0"/>
            <a:chExt cx="4013025" cy="6858578"/>
          </a:xfrm>
        </p:grpSpPr>
        <p:sp>
          <p:nvSpPr>
            <p:cNvPr id="115" name="Google Shape;115;p14"/>
            <p:cNvSpPr/>
            <p:nvPr/>
          </p:nvSpPr>
          <p:spPr>
            <a:xfrm>
              <a:off x="5131542" y="4182281"/>
              <a:ext cx="4012565" cy="2675890"/>
            </a:xfrm>
            <a:custGeom>
              <a:rect b="b" l="l" r="r" t="t"/>
              <a:pathLst>
                <a:path extrusionOk="0" h="2675890" w="4012565">
                  <a:moveTo>
                    <a:pt x="0" y="2675717"/>
                  </a:moveTo>
                  <a:lnTo>
                    <a:pt x="4012456"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14"/>
            <p:cNvSpPr/>
            <p:nvPr/>
          </p:nvSpPr>
          <p:spPr>
            <a:xfrm>
              <a:off x="7042404" y="0"/>
              <a:ext cx="1219200" cy="6858000"/>
            </a:xfrm>
            <a:custGeom>
              <a:rect b="b" l="l" r="r" t="t"/>
              <a:pathLst>
                <a:path extrusionOk="0" h="6858000" w="1219200">
                  <a:moveTo>
                    <a:pt x="0" y="0"/>
                  </a:moveTo>
                  <a:lnTo>
                    <a:pt x="1219200" y="6857999"/>
                  </a:lnTo>
                </a:path>
              </a:pathLst>
            </a:custGeom>
            <a:noFill/>
            <a:ln cap="flat" cmpd="sng" w="9525">
              <a:solidFill>
                <a:srgbClr val="BEBEB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14"/>
            <p:cNvSpPr/>
            <p:nvPr/>
          </p:nvSpPr>
          <p:spPr>
            <a:xfrm>
              <a:off x="6891728" y="0"/>
              <a:ext cx="2252345" cy="6858000"/>
            </a:xfrm>
            <a:custGeom>
              <a:rect b="b" l="l" r="r" t="t"/>
              <a:pathLst>
                <a:path extrusionOk="0" h="6858000" w="2252345">
                  <a:moveTo>
                    <a:pt x="2023163" y="0"/>
                  </a:moveTo>
                  <a:lnTo>
                    <a:pt x="0" y="6857998"/>
                  </a:lnTo>
                  <a:lnTo>
                    <a:pt x="2252271" y="6857998"/>
                  </a:lnTo>
                  <a:lnTo>
                    <a:pt x="2252271" y="8226"/>
                  </a:lnTo>
                  <a:lnTo>
                    <a:pt x="2023163" y="0"/>
                  </a:lnTo>
                  <a:close/>
                </a:path>
              </a:pathLst>
            </a:custGeom>
            <a:solidFill>
              <a:srgbClr val="90C225">
                <a:alpha val="2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14"/>
            <p:cNvSpPr/>
            <p:nvPr/>
          </p:nvSpPr>
          <p:spPr>
            <a:xfrm>
              <a:off x="7207072" y="0"/>
              <a:ext cx="1937385" cy="6858000"/>
            </a:xfrm>
            <a:custGeom>
              <a:rect b="b" l="l" r="r" t="t"/>
              <a:pathLst>
                <a:path extrusionOk="0" h="6858000" w="1937384">
                  <a:moveTo>
                    <a:pt x="1936927" y="0"/>
                  </a:moveTo>
                  <a:lnTo>
                    <a:pt x="0" y="0"/>
                  </a:lnTo>
                  <a:lnTo>
                    <a:pt x="1200326" y="6857996"/>
                  </a:lnTo>
                  <a:lnTo>
                    <a:pt x="1936927" y="6857996"/>
                  </a:lnTo>
                  <a:lnTo>
                    <a:pt x="1936927" y="0"/>
                  </a:lnTo>
                  <a:close/>
                </a:path>
              </a:pathLst>
            </a:custGeom>
            <a:solidFill>
              <a:srgbClr val="90C225">
                <a:alpha val="1843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14"/>
            <p:cNvSpPr/>
            <p:nvPr/>
          </p:nvSpPr>
          <p:spPr>
            <a:xfrm>
              <a:off x="6638545" y="3921068"/>
              <a:ext cx="2505710" cy="2937510"/>
            </a:xfrm>
            <a:custGeom>
              <a:rect b="b" l="l" r="r" t="t"/>
              <a:pathLst>
                <a:path extrusionOk="0" h="2937509" w="2505709">
                  <a:moveTo>
                    <a:pt x="2505454" y="0"/>
                  </a:moveTo>
                  <a:lnTo>
                    <a:pt x="0" y="2936930"/>
                  </a:lnTo>
                  <a:lnTo>
                    <a:pt x="2505454" y="2936930"/>
                  </a:lnTo>
                  <a:lnTo>
                    <a:pt x="2505454" y="0"/>
                  </a:lnTo>
                  <a:close/>
                </a:path>
              </a:pathLst>
            </a:custGeom>
            <a:solidFill>
              <a:srgbClr val="539F20">
                <a:alpha val="7058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14"/>
            <p:cNvSpPr/>
            <p:nvPr/>
          </p:nvSpPr>
          <p:spPr>
            <a:xfrm>
              <a:off x="7012872" y="0"/>
              <a:ext cx="2131695" cy="6858000"/>
            </a:xfrm>
            <a:custGeom>
              <a:rect b="b" l="l" r="r" t="t"/>
              <a:pathLst>
                <a:path extrusionOk="0" h="6858000" w="2131695">
                  <a:moveTo>
                    <a:pt x="2131127" y="0"/>
                  </a:moveTo>
                  <a:lnTo>
                    <a:pt x="0" y="0"/>
                  </a:lnTo>
                  <a:lnTo>
                    <a:pt x="1854139" y="6857996"/>
                  </a:lnTo>
                  <a:lnTo>
                    <a:pt x="2131127" y="6849802"/>
                  </a:lnTo>
                  <a:lnTo>
                    <a:pt x="2131127" y="0"/>
                  </a:lnTo>
                  <a:close/>
                </a:path>
              </a:pathLst>
            </a:custGeom>
            <a:solidFill>
              <a:srgbClr val="3E7818">
                <a:alpha val="6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14"/>
            <p:cNvSpPr/>
            <p:nvPr/>
          </p:nvSpPr>
          <p:spPr>
            <a:xfrm>
              <a:off x="8295132" y="0"/>
              <a:ext cx="848994" cy="6858000"/>
            </a:xfrm>
            <a:custGeom>
              <a:rect b="b" l="l" r="r" t="t"/>
              <a:pathLst>
                <a:path extrusionOk="0" h="6858000" w="848995">
                  <a:moveTo>
                    <a:pt x="848867" y="0"/>
                  </a:moveTo>
                  <a:lnTo>
                    <a:pt x="676515" y="0"/>
                  </a:lnTo>
                  <a:lnTo>
                    <a:pt x="0" y="6857996"/>
                  </a:lnTo>
                  <a:lnTo>
                    <a:pt x="848867" y="6857996"/>
                  </a:lnTo>
                  <a:lnTo>
                    <a:pt x="848867" y="0"/>
                  </a:lnTo>
                  <a:close/>
                </a:path>
              </a:pathLst>
            </a:custGeom>
            <a:solidFill>
              <a:srgbClr val="C0E374">
                <a:alpha val="6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14"/>
            <p:cNvSpPr/>
            <p:nvPr/>
          </p:nvSpPr>
          <p:spPr>
            <a:xfrm>
              <a:off x="8078450" y="0"/>
              <a:ext cx="1065530" cy="6858000"/>
            </a:xfrm>
            <a:custGeom>
              <a:rect b="b" l="l" r="r" t="t"/>
              <a:pathLst>
                <a:path extrusionOk="0" h="6858000" w="1065529">
                  <a:moveTo>
                    <a:pt x="1051063" y="0"/>
                  </a:moveTo>
                  <a:lnTo>
                    <a:pt x="0" y="0"/>
                  </a:lnTo>
                  <a:lnTo>
                    <a:pt x="937406" y="6857996"/>
                  </a:lnTo>
                  <a:lnTo>
                    <a:pt x="1065296" y="6857996"/>
                  </a:lnTo>
                  <a:lnTo>
                    <a:pt x="1065455" y="6654302"/>
                  </a:lnTo>
                  <a:lnTo>
                    <a:pt x="1065405" y="6145234"/>
                  </a:lnTo>
                  <a:lnTo>
                    <a:pt x="1065165" y="5890784"/>
                  </a:lnTo>
                  <a:lnTo>
                    <a:pt x="1064711" y="5585510"/>
                  </a:lnTo>
                  <a:lnTo>
                    <a:pt x="1063982" y="5229435"/>
                  </a:lnTo>
                  <a:lnTo>
                    <a:pt x="1062782" y="4771727"/>
                  </a:lnTo>
                  <a:lnTo>
                    <a:pt x="1060321" y="4009060"/>
                  </a:lnTo>
                  <a:lnTo>
                    <a:pt x="1054930" y="2483906"/>
                  </a:lnTo>
                  <a:lnTo>
                    <a:pt x="1053375" y="1975424"/>
                  </a:lnTo>
                  <a:lnTo>
                    <a:pt x="1052337" y="1568557"/>
                  </a:lnTo>
                  <a:lnTo>
                    <a:pt x="1051624" y="1212471"/>
                  </a:lnTo>
                  <a:lnTo>
                    <a:pt x="1051188" y="907185"/>
                  </a:lnTo>
                  <a:lnTo>
                    <a:pt x="1050963" y="652725"/>
                  </a:lnTo>
                  <a:lnTo>
                    <a:pt x="1050923" y="194553"/>
                  </a:lnTo>
                  <a:lnTo>
                    <a:pt x="1051063" y="0"/>
                  </a:lnTo>
                  <a:close/>
                </a:path>
              </a:pathLst>
            </a:custGeom>
            <a:solidFill>
              <a:srgbClr val="90C225">
                <a:alpha val="6352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14"/>
            <p:cNvSpPr/>
            <p:nvPr/>
          </p:nvSpPr>
          <p:spPr>
            <a:xfrm>
              <a:off x="8060437" y="4903644"/>
              <a:ext cx="1083945" cy="1954530"/>
            </a:xfrm>
            <a:custGeom>
              <a:rect b="b" l="l" r="r" t="t"/>
              <a:pathLst>
                <a:path extrusionOk="0" h="1954529" w="1083945">
                  <a:moveTo>
                    <a:pt x="1083562" y="0"/>
                  </a:moveTo>
                  <a:lnTo>
                    <a:pt x="0" y="1954354"/>
                  </a:lnTo>
                  <a:lnTo>
                    <a:pt x="1083562" y="1949315"/>
                  </a:lnTo>
                  <a:lnTo>
                    <a:pt x="1083562" y="0"/>
                  </a:lnTo>
                  <a:close/>
                </a:path>
              </a:pathLst>
            </a:custGeom>
            <a:solidFill>
              <a:srgbClr val="90C225">
                <a:alpha val="7843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124" name="Google Shape;124;p14"/>
          <p:cNvPicPr preferRelativeResize="0"/>
          <p:nvPr/>
        </p:nvPicPr>
        <p:blipFill rotWithShape="1">
          <a:blip r:embed="rId3">
            <a:alphaModFix/>
          </a:blip>
          <a:srcRect b="0" l="0" r="0" t="0"/>
          <a:stretch/>
        </p:blipFill>
        <p:spPr>
          <a:xfrm>
            <a:off x="7470647" y="83819"/>
            <a:ext cx="1248155" cy="1144524"/>
          </a:xfrm>
          <a:prstGeom prst="rect">
            <a:avLst/>
          </a:prstGeom>
          <a:noFill/>
          <a:ln>
            <a:noFill/>
          </a:ln>
        </p:spPr>
      </p:pic>
      <p:pic>
        <p:nvPicPr>
          <p:cNvPr id="125" name="Google Shape;125;p14"/>
          <p:cNvPicPr preferRelativeResize="0"/>
          <p:nvPr/>
        </p:nvPicPr>
        <p:blipFill rotWithShape="1">
          <a:blip r:embed="rId4">
            <a:alphaModFix/>
          </a:blip>
          <a:srcRect b="0" l="0" r="0" t="0"/>
          <a:stretch/>
        </p:blipFill>
        <p:spPr>
          <a:xfrm>
            <a:off x="3792928" y="3011906"/>
            <a:ext cx="1268742" cy="1270253"/>
          </a:xfrm>
          <a:prstGeom prst="rect">
            <a:avLst/>
          </a:prstGeom>
          <a:noFill/>
          <a:ln>
            <a:noFill/>
          </a:ln>
        </p:spPr>
      </p:pic>
      <p:sp>
        <p:nvSpPr>
          <p:cNvPr id="126" name="Google Shape;126;p14"/>
          <p:cNvSpPr txBox="1"/>
          <p:nvPr/>
        </p:nvSpPr>
        <p:spPr>
          <a:xfrm>
            <a:off x="3955541" y="3418459"/>
            <a:ext cx="852805" cy="425450"/>
          </a:xfrm>
          <a:prstGeom prst="rect">
            <a:avLst/>
          </a:prstGeom>
          <a:noFill/>
          <a:ln>
            <a:noFill/>
          </a:ln>
        </p:spPr>
        <p:txBody>
          <a:bodyPr anchorCtr="0" anchor="t" bIns="0" lIns="0" spcFirstLastPara="1" rIns="0" wrap="square" tIns="42525">
            <a:spAutoFit/>
          </a:bodyPr>
          <a:lstStyle/>
          <a:p>
            <a:pPr indent="4445" lvl="0" marL="12700" marR="5080" rtl="0" algn="l">
              <a:lnSpc>
                <a:spcPct val="104285"/>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Organizati  onal Goals</a:t>
            </a:r>
            <a:endParaRPr b="0" i="0" sz="1400" u="none" cap="none" strike="noStrike">
              <a:solidFill>
                <a:schemeClr val="dk1"/>
              </a:solidFill>
              <a:latin typeface="Trebuchet MS"/>
              <a:ea typeface="Trebuchet MS"/>
              <a:cs typeface="Trebuchet MS"/>
              <a:sym typeface="Trebuchet MS"/>
            </a:endParaRPr>
          </a:p>
        </p:txBody>
      </p:sp>
      <p:pic>
        <p:nvPicPr>
          <p:cNvPr id="127" name="Google Shape;127;p14"/>
          <p:cNvPicPr preferRelativeResize="0"/>
          <p:nvPr/>
        </p:nvPicPr>
        <p:blipFill rotWithShape="1">
          <a:blip r:embed="rId5">
            <a:alphaModFix/>
          </a:blip>
          <a:srcRect b="0" l="0" r="0" t="0"/>
          <a:stretch/>
        </p:blipFill>
        <p:spPr>
          <a:xfrm>
            <a:off x="4166615" y="2272283"/>
            <a:ext cx="429768" cy="525779"/>
          </a:xfrm>
          <a:prstGeom prst="rect">
            <a:avLst/>
          </a:prstGeom>
          <a:noFill/>
          <a:ln>
            <a:noFill/>
          </a:ln>
        </p:spPr>
      </p:pic>
      <p:pic>
        <p:nvPicPr>
          <p:cNvPr id="128" name="Google Shape;128;p14"/>
          <p:cNvPicPr preferRelativeResize="0"/>
          <p:nvPr/>
        </p:nvPicPr>
        <p:blipFill rotWithShape="1">
          <a:blip r:embed="rId6">
            <a:alphaModFix/>
          </a:blip>
          <a:srcRect b="0" l="0" r="0" t="0"/>
          <a:stretch/>
        </p:blipFill>
        <p:spPr>
          <a:xfrm>
            <a:off x="3797767" y="1008874"/>
            <a:ext cx="1015746" cy="1015758"/>
          </a:xfrm>
          <a:prstGeom prst="rect">
            <a:avLst/>
          </a:prstGeom>
          <a:noFill/>
          <a:ln>
            <a:noFill/>
          </a:ln>
        </p:spPr>
      </p:pic>
      <p:sp>
        <p:nvSpPr>
          <p:cNvPr id="129" name="Google Shape;129;p14"/>
          <p:cNvSpPr txBox="1"/>
          <p:nvPr/>
        </p:nvSpPr>
        <p:spPr>
          <a:xfrm>
            <a:off x="3908661" y="1058872"/>
            <a:ext cx="665480" cy="691515"/>
          </a:xfrm>
          <a:prstGeom prst="rect">
            <a:avLst/>
          </a:prstGeom>
          <a:noFill/>
          <a:ln>
            <a:noFill/>
          </a:ln>
        </p:spPr>
        <p:txBody>
          <a:bodyPr anchorCtr="0" anchor="t" bIns="0" lIns="0" spcFirstLastPara="1" rIns="0" wrap="square" tIns="12050">
            <a:spAutoFit/>
          </a:bodyPr>
          <a:lstStyle/>
          <a:p>
            <a:pPr indent="1270" lvl="0" marL="12700" marR="5080" rtl="0" algn="ctr">
              <a:lnSpc>
                <a:spcPct val="121400"/>
              </a:lnSpc>
              <a:spcBef>
                <a:spcPts val="0"/>
              </a:spcBef>
              <a:spcAft>
                <a:spcPts val="0"/>
              </a:spcAft>
              <a:buClr>
                <a:srgbClr val="000000"/>
              </a:buClr>
              <a:buSzPts val="1200"/>
              <a:buFont typeface="Arial"/>
              <a:buNone/>
            </a:pPr>
            <a:r>
              <a:rPr b="0" i="0" lang="en-US" sz="1200" u="none" cap="none" strike="noStrike">
                <a:solidFill>
                  <a:schemeClr val="dk1"/>
                </a:solidFill>
                <a:latin typeface="Trebuchet MS"/>
                <a:ea typeface="Trebuchet MS"/>
                <a:cs typeface="Trebuchet MS"/>
                <a:sym typeface="Trebuchet MS"/>
              </a:rPr>
              <a:t>Human  Resource  Managem</a:t>
            </a:r>
            <a:endParaRPr b="0" i="0" sz="1400" u="none" cap="none" strike="noStrike">
              <a:solidFill>
                <a:srgbClr val="000000"/>
              </a:solidFill>
              <a:latin typeface="Arial"/>
              <a:ea typeface="Arial"/>
              <a:cs typeface="Arial"/>
              <a:sym typeface="Arial"/>
            </a:endParaRPr>
          </a:p>
        </p:txBody>
      </p:sp>
      <p:sp>
        <p:nvSpPr>
          <p:cNvPr id="130" name="Google Shape;130;p14"/>
          <p:cNvSpPr txBox="1"/>
          <p:nvPr/>
        </p:nvSpPr>
        <p:spPr>
          <a:xfrm>
            <a:off x="4257294" y="1700021"/>
            <a:ext cx="24892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rebuchet MS"/>
                <a:ea typeface="Trebuchet MS"/>
                <a:cs typeface="Trebuchet MS"/>
                <a:sym typeface="Trebuchet MS"/>
              </a:rPr>
              <a:t>en</a:t>
            </a:r>
            <a:r>
              <a:rPr b="0" i="0" lang="en-US" sz="1100" u="none" cap="none" strike="noStrike">
                <a:solidFill>
                  <a:schemeClr val="dk1"/>
                </a:solidFill>
                <a:latin typeface="Trebuchet MS"/>
                <a:ea typeface="Trebuchet MS"/>
                <a:cs typeface="Trebuchet MS"/>
                <a:sym typeface="Trebuchet MS"/>
              </a:rPr>
              <a:t>t</a:t>
            </a:r>
            <a:endParaRPr b="0" i="0" sz="1100" u="none" cap="none" strike="noStrike">
              <a:solidFill>
                <a:schemeClr val="dk1"/>
              </a:solidFill>
              <a:latin typeface="Trebuchet MS"/>
              <a:ea typeface="Trebuchet MS"/>
              <a:cs typeface="Trebuchet MS"/>
              <a:sym typeface="Trebuchet MS"/>
            </a:endParaRPr>
          </a:p>
        </p:txBody>
      </p:sp>
      <p:pic>
        <p:nvPicPr>
          <p:cNvPr id="131" name="Google Shape;131;p14"/>
          <p:cNvPicPr preferRelativeResize="0"/>
          <p:nvPr/>
        </p:nvPicPr>
        <p:blipFill rotWithShape="1">
          <a:blip r:embed="rId7">
            <a:alphaModFix/>
          </a:blip>
          <a:srcRect b="0" l="0" r="0" t="0"/>
          <a:stretch/>
        </p:blipFill>
        <p:spPr>
          <a:xfrm>
            <a:off x="4914576" y="1296281"/>
            <a:ext cx="1017282" cy="1015758"/>
          </a:xfrm>
          <a:prstGeom prst="rect">
            <a:avLst/>
          </a:prstGeom>
          <a:noFill/>
          <a:ln>
            <a:noFill/>
          </a:ln>
        </p:spPr>
      </p:pic>
      <p:grpSp>
        <p:nvGrpSpPr>
          <p:cNvPr id="132" name="Google Shape;132;p14"/>
          <p:cNvGrpSpPr/>
          <p:nvPr/>
        </p:nvGrpSpPr>
        <p:grpSpPr>
          <a:xfrm>
            <a:off x="2602681" y="2476243"/>
            <a:ext cx="3070606" cy="3344176"/>
            <a:chOff x="2619755" y="2534666"/>
            <a:chExt cx="3070606" cy="3344176"/>
          </a:xfrm>
        </p:grpSpPr>
        <p:pic>
          <p:nvPicPr>
            <p:cNvPr id="133" name="Google Shape;133;p14"/>
            <p:cNvPicPr preferRelativeResize="0"/>
            <p:nvPr/>
          </p:nvPicPr>
          <p:blipFill rotWithShape="1">
            <a:blip r:embed="rId8">
              <a:alphaModFix/>
            </a:blip>
            <a:srcRect b="0" l="0" r="0" t="0"/>
            <a:stretch/>
          </p:blipFill>
          <p:spPr>
            <a:xfrm>
              <a:off x="4776977" y="2534666"/>
              <a:ext cx="461010" cy="501269"/>
            </a:xfrm>
            <a:prstGeom prst="rect">
              <a:avLst/>
            </a:prstGeom>
            <a:noFill/>
            <a:ln>
              <a:noFill/>
            </a:ln>
          </p:spPr>
        </p:pic>
        <p:pic>
          <p:nvPicPr>
            <p:cNvPr id="134" name="Google Shape;134;p14"/>
            <p:cNvPicPr preferRelativeResize="0"/>
            <p:nvPr/>
          </p:nvPicPr>
          <p:blipFill rotWithShape="1">
            <a:blip r:embed="rId9">
              <a:alphaModFix/>
            </a:blip>
            <a:srcRect b="0" l="0" r="0" t="0"/>
            <a:stretch/>
          </p:blipFill>
          <p:spPr>
            <a:xfrm>
              <a:off x="5150485" y="3084830"/>
              <a:ext cx="539876" cy="423037"/>
            </a:xfrm>
            <a:prstGeom prst="rect">
              <a:avLst/>
            </a:prstGeom>
            <a:noFill/>
            <a:ln>
              <a:noFill/>
            </a:ln>
          </p:spPr>
        </p:pic>
        <p:pic>
          <p:nvPicPr>
            <p:cNvPr id="135" name="Google Shape;135;p14"/>
            <p:cNvPicPr preferRelativeResize="0"/>
            <p:nvPr/>
          </p:nvPicPr>
          <p:blipFill rotWithShape="1">
            <a:blip r:embed="rId10">
              <a:alphaModFix/>
            </a:blip>
            <a:srcRect b="0" l="0" r="0" t="0"/>
            <a:stretch/>
          </p:blipFill>
          <p:spPr>
            <a:xfrm>
              <a:off x="5150485" y="3788155"/>
              <a:ext cx="539876" cy="423163"/>
            </a:xfrm>
            <a:prstGeom prst="rect">
              <a:avLst/>
            </a:prstGeom>
            <a:noFill/>
            <a:ln>
              <a:noFill/>
            </a:ln>
          </p:spPr>
        </p:pic>
        <p:pic>
          <p:nvPicPr>
            <p:cNvPr id="136" name="Google Shape;136;p14"/>
            <p:cNvPicPr preferRelativeResize="0"/>
            <p:nvPr/>
          </p:nvPicPr>
          <p:blipFill rotWithShape="1">
            <a:blip r:embed="rId11">
              <a:alphaModFix/>
            </a:blip>
            <a:srcRect b="0" l="0" r="0" t="0"/>
            <a:stretch/>
          </p:blipFill>
          <p:spPr>
            <a:xfrm>
              <a:off x="4776977" y="4260214"/>
              <a:ext cx="461010" cy="501269"/>
            </a:xfrm>
            <a:prstGeom prst="rect">
              <a:avLst/>
            </a:prstGeom>
            <a:noFill/>
            <a:ln>
              <a:noFill/>
            </a:ln>
          </p:spPr>
        </p:pic>
        <p:pic>
          <p:nvPicPr>
            <p:cNvPr id="137" name="Google Shape;137;p14"/>
            <p:cNvPicPr preferRelativeResize="0"/>
            <p:nvPr/>
          </p:nvPicPr>
          <p:blipFill rotWithShape="1">
            <a:blip r:embed="rId12">
              <a:alphaModFix/>
            </a:blip>
            <a:srcRect b="0" l="0" r="0" t="0"/>
            <a:stretch/>
          </p:blipFill>
          <p:spPr>
            <a:xfrm>
              <a:off x="4166616" y="4498848"/>
              <a:ext cx="429768" cy="525779"/>
            </a:xfrm>
            <a:prstGeom prst="rect">
              <a:avLst/>
            </a:prstGeom>
            <a:noFill/>
            <a:ln>
              <a:noFill/>
            </a:ln>
          </p:spPr>
        </p:pic>
        <p:pic>
          <p:nvPicPr>
            <p:cNvPr id="138" name="Google Shape;138;p14"/>
            <p:cNvPicPr preferRelativeResize="0"/>
            <p:nvPr/>
          </p:nvPicPr>
          <p:blipFill rotWithShape="1">
            <a:blip r:embed="rId13">
              <a:alphaModFix/>
            </a:blip>
            <a:srcRect b="0" l="0" r="0" t="0"/>
            <a:stretch/>
          </p:blipFill>
          <p:spPr>
            <a:xfrm>
              <a:off x="3525011" y="4260214"/>
              <a:ext cx="461010" cy="501269"/>
            </a:xfrm>
            <a:prstGeom prst="rect">
              <a:avLst/>
            </a:prstGeom>
            <a:noFill/>
            <a:ln>
              <a:noFill/>
            </a:ln>
          </p:spPr>
        </p:pic>
        <p:pic>
          <p:nvPicPr>
            <p:cNvPr id="139" name="Google Shape;139;p14"/>
            <p:cNvPicPr preferRelativeResize="0"/>
            <p:nvPr/>
          </p:nvPicPr>
          <p:blipFill rotWithShape="1">
            <a:blip r:embed="rId14">
              <a:alphaModFix/>
            </a:blip>
            <a:srcRect b="0" l="0" r="0" t="0"/>
            <a:stretch/>
          </p:blipFill>
          <p:spPr>
            <a:xfrm>
              <a:off x="2619755" y="4861560"/>
              <a:ext cx="1017269" cy="1017282"/>
            </a:xfrm>
            <a:prstGeom prst="rect">
              <a:avLst/>
            </a:prstGeom>
            <a:noFill/>
            <a:ln>
              <a:noFill/>
            </a:ln>
          </p:spPr>
        </p:pic>
      </p:grpSp>
      <p:sp>
        <p:nvSpPr>
          <p:cNvPr id="140" name="Google Shape;140;p14"/>
          <p:cNvSpPr txBox="1"/>
          <p:nvPr/>
        </p:nvSpPr>
        <p:spPr>
          <a:xfrm>
            <a:off x="5131542" y="1557369"/>
            <a:ext cx="594360" cy="425450"/>
          </a:xfrm>
          <a:prstGeom prst="rect">
            <a:avLst/>
          </a:prstGeom>
          <a:noFill/>
          <a:ln>
            <a:noFill/>
          </a:ln>
        </p:spPr>
        <p:txBody>
          <a:bodyPr anchorCtr="0" anchor="t" bIns="0" lIns="0" spcFirstLastPara="1" rIns="0" wrap="square" tIns="42525">
            <a:spAutoFit/>
          </a:bodyPr>
          <a:lstStyle/>
          <a:p>
            <a:pPr indent="-78105" lvl="0" marL="90170" marR="5080" rtl="0" algn="l">
              <a:lnSpc>
                <a:spcPct val="104285"/>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Recruit  ment</a:t>
            </a:r>
            <a:endParaRPr b="0" i="0" sz="1400" u="none" cap="none" strike="noStrike">
              <a:solidFill>
                <a:schemeClr val="dk1"/>
              </a:solidFill>
              <a:latin typeface="Trebuchet MS"/>
              <a:ea typeface="Trebuchet MS"/>
              <a:cs typeface="Trebuchet MS"/>
              <a:sym typeface="Trebuchet MS"/>
            </a:endParaRPr>
          </a:p>
        </p:txBody>
      </p:sp>
      <p:pic>
        <p:nvPicPr>
          <p:cNvPr id="141" name="Google Shape;141;p14"/>
          <p:cNvPicPr preferRelativeResize="0"/>
          <p:nvPr/>
        </p:nvPicPr>
        <p:blipFill rotWithShape="1">
          <a:blip r:embed="rId15">
            <a:alphaModFix/>
          </a:blip>
          <a:srcRect b="0" l="0" r="0" t="0"/>
          <a:stretch/>
        </p:blipFill>
        <p:spPr>
          <a:xfrm>
            <a:off x="5969889" y="1783158"/>
            <a:ext cx="847670" cy="912845"/>
          </a:xfrm>
          <a:prstGeom prst="rect">
            <a:avLst/>
          </a:prstGeom>
          <a:noFill/>
          <a:ln>
            <a:noFill/>
          </a:ln>
        </p:spPr>
      </p:pic>
      <p:sp>
        <p:nvSpPr>
          <p:cNvPr id="142" name="Google Shape;142;p14"/>
          <p:cNvSpPr txBox="1"/>
          <p:nvPr/>
        </p:nvSpPr>
        <p:spPr>
          <a:xfrm>
            <a:off x="6030278" y="2066995"/>
            <a:ext cx="663575" cy="425450"/>
          </a:xfrm>
          <a:prstGeom prst="rect">
            <a:avLst/>
          </a:prstGeom>
          <a:noFill/>
          <a:ln>
            <a:noFill/>
          </a:ln>
        </p:spPr>
        <p:txBody>
          <a:bodyPr anchorCtr="0" anchor="t" bIns="0" lIns="0" spcFirstLastPara="1" rIns="0" wrap="square" tIns="42525">
            <a:spAutoFit/>
          </a:bodyPr>
          <a:lstStyle/>
          <a:p>
            <a:pPr indent="-271780" lvl="0" marL="283845" marR="5080" rtl="0" algn="l">
              <a:lnSpc>
                <a:spcPct val="104285"/>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Selectio  n</a:t>
            </a:r>
            <a:endParaRPr b="0" i="0" sz="1400" u="none" cap="none" strike="noStrike">
              <a:solidFill>
                <a:srgbClr val="000000"/>
              </a:solidFill>
              <a:latin typeface="Arial"/>
              <a:ea typeface="Arial"/>
              <a:cs typeface="Arial"/>
              <a:sym typeface="Arial"/>
            </a:endParaRPr>
          </a:p>
        </p:txBody>
      </p:sp>
      <p:pic>
        <p:nvPicPr>
          <p:cNvPr id="143" name="Google Shape;143;p14"/>
          <p:cNvPicPr preferRelativeResize="0"/>
          <p:nvPr/>
        </p:nvPicPr>
        <p:blipFill rotWithShape="1">
          <a:blip r:embed="rId16">
            <a:alphaModFix/>
          </a:blip>
          <a:srcRect b="0" l="0" r="0" t="0"/>
          <a:stretch/>
        </p:blipFill>
        <p:spPr>
          <a:xfrm>
            <a:off x="5837374" y="4597976"/>
            <a:ext cx="1017270" cy="1017282"/>
          </a:xfrm>
          <a:prstGeom prst="rect">
            <a:avLst/>
          </a:prstGeom>
          <a:noFill/>
          <a:ln>
            <a:noFill/>
          </a:ln>
        </p:spPr>
      </p:pic>
      <p:sp>
        <p:nvSpPr>
          <p:cNvPr id="144" name="Google Shape;144;p14"/>
          <p:cNvSpPr txBox="1"/>
          <p:nvPr/>
        </p:nvSpPr>
        <p:spPr>
          <a:xfrm>
            <a:off x="6025159" y="4670211"/>
            <a:ext cx="581076" cy="920765"/>
          </a:xfrm>
          <a:prstGeom prst="rect">
            <a:avLst/>
          </a:prstGeom>
          <a:noFill/>
          <a:ln>
            <a:noFill/>
          </a:ln>
        </p:spPr>
        <p:txBody>
          <a:bodyPr anchorCtr="0" anchor="t" bIns="0" lIns="0" spcFirstLastPara="1" rIns="0" wrap="square" tIns="12700">
            <a:spAutoFit/>
          </a:bodyPr>
          <a:lstStyle/>
          <a:p>
            <a:pPr indent="-635" lvl="0" marL="12700" marR="5080" rtl="0" algn="ctr">
              <a:lnSpc>
                <a:spcPct val="120700"/>
              </a:lnSpc>
              <a:spcBef>
                <a:spcPts val="0"/>
              </a:spcBef>
              <a:spcAft>
                <a:spcPts val="0"/>
              </a:spcAft>
              <a:buClr>
                <a:srgbClr val="000000"/>
              </a:buClr>
              <a:buSzPts val="1400"/>
              <a:buFont typeface="Arial"/>
              <a:buNone/>
            </a:pPr>
            <a:r>
              <a:rPr b="0" i="0" lang="en-US" sz="1200" u="none" cap="none" strike="noStrike">
                <a:solidFill>
                  <a:schemeClr val="dk1"/>
                </a:solidFill>
                <a:latin typeface="Trebuchet MS"/>
                <a:ea typeface="Trebuchet MS"/>
                <a:cs typeface="Trebuchet MS"/>
                <a:sym typeface="Trebuchet MS"/>
              </a:rPr>
              <a:t>Training  And</a:t>
            </a:r>
            <a:endParaRPr b="0" i="0" sz="1200" u="none" cap="none" strike="noStrike">
              <a:solidFill>
                <a:srgbClr val="000000"/>
              </a:solidFill>
              <a:latin typeface="Arial"/>
              <a:ea typeface="Arial"/>
              <a:cs typeface="Arial"/>
              <a:sym typeface="Arial"/>
            </a:endParaRPr>
          </a:p>
          <a:p>
            <a:pPr indent="0" lvl="0" marL="12700" marR="5080" rtl="0" algn="ctr">
              <a:lnSpc>
                <a:spcPct val="104285"/>
              </a:lnSpc>
              <a:spcBef>
                <a:spcPts val="590"/>
              </a:spcBef>
              <a:spcAft>
                <a:spcPts val="0"/>
              </a:spcAft>
              <a:buClr>
                <a:srgbClr val="000000"/>
              </a:buClr>
              <a:buSzPts val="1400"/>
              <a:buFont typeface="Arial"/>
              <a:buNone/>
            </a:pPr>
            <a:r>
              <a:rPr b="0" i="0" lang="en-US" sz="1200" u="none" cap="none" strike="noStrike">
                <a:solidFill>
                  <a:schemeClr val="dk1"/>
                </a:solidFill>
                <a:latin typeface="Trebuchet MS"/>
                <a:ea typeface="Trebuchet MS"/>
                <a:cs typeface="Trebuchet MS"/>
                <a:sym typeface="Trebuchet MS"/>
              </a:rPr>
              <a:t>Develop  ment</a:t>
            </a:r>
            <a:endParaRPr b="0" i="0" sz="1200" u="none" cap="none" strike="noStrike">
              <a:solidFill>
                <a:schemeClr val="dk1"/>
              </a:solidFill>
              <a:latin typeface="Trebuchet MS"/>
              <a:ea typeface="Trebuchet MS"/>
              <a:cs typeface="Trebuchet MS"/>
              <a:sym typeface="Trebuchet MS"/>
            </a:endParaRPr>
          </a:p>
        </p:txBody>
      </p:sp>
      <p:pic>
        <p:nvPicPr>
          <p:cNvPr id="145" name="Google Shape;145;p14"/>
          <p:cNvPicPr preferRelativeResize="0"/>
          <p:nvPr/>
        </p:nvPicPr>
        <p:blipFill rotWithShape="1">
          <a:blip r:embed="rId17">
            <a:alphaModFix/>
          </a:blip>
          <a:srcRect b="0" l="0" r="0" t="0"/>
          <a:stretch/>
        </p:blipFill>
        <p:spPr>
          <a:xfrm>
            <a:off x="4690264" y="5132893"/>
            <a:ext cx="1017282" cy="1017282"/>
          </a:xfrm>
          <a:prstGeom prst="rect">
            <a:avLst/>
          </a:prstGeom>
          <a:noFill/>
          <a:ln>
            <a:noFill/>
          </a:ln>
        </p:spPr>
      </p:pic>
      <p:sp>
        <p:nvSpPr>
          <p:cNvPr id="146" name="Google Shape;146;p14"/>
          <p:cNvSpPr txBox="1"/>
          <p:nvPr/>
        </p:nvSpPr>
        <p:spPr>
          <a:xfrm>
            <a:off x="4926207" y="5427439"/>
            <a:ext cx="669925" cy="425450"/>
          </a:xfrm>
          <a:prstGeom prst="rect">
            <a:avLst/>
          </a:prstGeom>
          <a:noFill/>
          <a:ln>
            <a:noFill/>
          </a:ln>
        </p:spPr>
        <p:txBody>
          <a:bodyPr anchorCtr="0" anchor="t" bIns="0" lIns="0" spcFirstLastPara="1" rIns="0" wrap="square" tIns="42525">
            <a:spAutoFit/>
          </a:bodyPr>
          <a:lstStyle/>
          <a:p>
            <a:pPr indent="-224154" lvl="0" marL="236220" marR="5080" rtl="0" algn="l">
              <a:lnSpc>
                <a:spcPct val="104285"/>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Motivati  on</a:t>
            </a:r>
            <a:endParaRPr b="0" i="0" sz="1400" u="none" cap="none" strike="noStrike">
              <a:solidFill>
                <a:srgbClr val="000000"/>
              </a:solidFill>
              <a:latin typeface="Arial"/>
              <a:ea typeface="Arial"/>
              <a:cs typeface="Arial"/>
              <a:sym typeface="Arial"/>
            </a:endParaRPr>
          </a:p>
        </p:txBody>
      </p:sp>
      <p:pic>
        <p:nvPicPr>
          <p:cNvPr id="147" name="Google Shape;147;p14"/>
          <p:cNvPicPr preferRelativeResize="0"/>
          <p:nvPr/>
        </p:nvPicPr>
        <p:blipFill rotWithShape="1">
          <a:blip r:embed="rId18">
            <a:alphaModFix/>
          </a:blip>
          <a:srcRect b="0" l="0" r="0" t="0"/>
          <a:stretch/>
        </p:blipFill>
        <p:spPr>
          <a:xfrm>
            <a:off x="3608533" y="5269433"/>
            <a:ext cx="1015746" cy="1017282"/>
          </a:xfrm>
          <a:prstGeom prst="rect">
            <a:avLst/>
          </a:prstGeom>
          <a:noFill/>
          <a:ln>
            <a:noFill/>
          </a:ln>
        </p:spPr>
      </p:pic>
      <p:sp>
        <p:nvSpPr>
          <p:cNvPr id="148" name="Google Shape;148;p14"/>
          <p:cNvSpPr txBox="1"/>
          <p:nvPr/>
        </p:nvSpPr>
        <p:spPr>
          <a:xfrm>
            <a:off x="3772430" y="5296008"/>
            <a:ext cx="666115" cy="824180"/>
          </a:xfrm>
          <a:prstGeom prst="rect">
            <a:avLst/>
          </a:prstGeom>
          <a:noFill/>
          <a:ln>
            <a:noFill/>
          </a:ln>
        </p:spPr>
        <p:txBody>
          <a:bodyPr anchorCtr="0" anchor="t" bIns="0" lIns="0" spcFirstLastPara="1" rIns="0" wrap="square" tIns="42525">
            <a:spAutoFit/>
          </a:bodyPr>
          <a:lstStyle/>
          <a:p>
            <a:pPr indent="-129539" lvl="0" marL="143510" marR="7620" rtl="0" algn="l">
              <a:lnSpc>
                <a:spcPct val="104285"/>
              </a:lnSpc>
              <a:spcBef>
                <a:spcPts val="0"/>
              </a:spcBef>
              <a:spcAft>
                <a:spcPts val="0"/>
              </a:spcAft>
              <a:buClr>
                <a:srgbClr val="000000"/>
              </a:buClr>
              <a:buSzPts val="1400"/>
              <a:buFont typeface="Arial"/>
              <a:buNone/>
            </a:pPr>
            <a:r>
              <a:rPr b="0" i="0" lang="en-US" sz="1100" u="none" cap="none" strike="noStrike">
                <a:solidFill>
                  <a:schemeClr val="dk1"/>
                </a:solidFill>
                <a:latin typeface="Trebuchet MS"/>
                <a:ea typeface="Trebuchet MS"/>
                <a:cs typeface="Trebuchet MS"/>
                <a:sym typeface="Trebuchet MS"/>
              </a:rPr>
              <a:t>Perform  ance</a:t>
            </a:r>
            <a:endParaRPr b="0" i="0" sz="1100" u="none" cap="none" strike="noStrike">
              <a:solidFill>
                <a:schemeClr val="dk1"/>
              </a:solidFill>
              <a:latin typeface="Trebuchet MS"/>
              <a:ea typeface="Trebuchet MS"/>
              <a:cs typeface="Trebuchet MS"/>
              <a:sym typeface="Trebuchet MS"/>
            </a:endParaRPr>
          </a:p>
          <a:p>
            <a:pPr indent="-222884" lvl="0" marL="234950" marR="5080" rtl="0" algn="l">
              <a:lnSpc>
                <a:spcPct val="104285"/>
              </a:lnSpc>
              <a:spcBef>
                <a:spcPts val="570"/>
              </a:spcBef>
              <a:spcAft>
                <a:spcPts val="0"/>
              </a:spcAft>
              <a:buClr>
                <a:srgbClr val="000000"/>
              </a:buClr>
              <a:buSzPts val="1400"/>
              <a:buFont typeface="Arial"/>
              <a:buNone/>
            </a:pPr>
            <a:r>
              <a:rPr b="0" i="0" lang="en-US" sz="1100" u="none" cap="none" strike="noStrike">
                <a:solidFill>
                  <a:schemeClr val="dk1"/>
                </a:solidFill>
                <a:latin typeface="Trebuchet MS"/>
                <a:ea typeface="Trebuchet MS"/>
                <a:cs typeface="Trebuchet MS"/>
                <a:sym typeface="Trebuchet MS"/>
              </a:rPr>
              <a:t>Evaluati  on</a:t>
            </a:r>
            <a:endParaRPr b="0" i="0" sz="1100" u="none" cap="none" strike="noStrike">
              <a:solidFill>
                <a:srgbClr val="000000"/>
              </a:solidFill>
              <a:latin typeface="Arial"/>
              <a:ea typeface="Arial"/>
              <a:cs typeface="Arial"/>
              <a:sym typeface="Arial"/>
            </a:endParaRPr>
          </a:p>
        </p:txBody>
      </p:sp>
      <p:sp>
        <p:nvSpPr>
          <p:cNvPr id="149" name="Google Shape;149;p14"/>
          <p:cNvSpPr txBox="1"/>
          <p:nvPr/>
        </p:nvSpPr>
        <p:spPr>
          <a:xfrm>
            <a:off x="2757330" y="4943687"/>
            <a:ext cx="669925" cy="797560"/>
          </a:xfrm>
          <a:prstGeom prst="rect">
            <a:avLst/>
          </a:prstGeom>
          <a:noFill/>
          <a:ln>
            <a:noFill/>
          </a:ln>
        </p:spPr>
        <p:txBody>
          <a:bodyPr anchorCtr="0" anchor="t" bIns="0" lIns="0" spcFirstLastPara="1" rIns="0" wrap="square" tIns="40625">
            <a:spAutoFit/>
          </a:bodyPr>
          <a:lstStyle/>
          <a:p>
            <a:pPr indent="0" lvl="0" marL="12065" marR="5080" rtl="0" algn="ctr">
              <a:lnSpc>
                <a:spcPct val="87200"/>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Compen  sation  and  Benefit</a:t>
            </a:r>
            <a:endParaRPr b="0" i="0" sz="1400" u="none" cap="none" strike="noStrike">
              <a:solidFill>
                <a:srgbClr val="000000"/>
              </a:solidFill>
              <a:latin typeface="Arial"/>
              <a:ea typeface="Arial"/>
              <a:cs typeface="Arial"/>
              <a:sym typeface="Arial"/>
            </a:endParaRPr>
          </a:p>
        </p:txBody>
      </p:sp>
      <p:grpSp>
        <p:nvGrpSpPr>
          <p:cNvPr id="150" name="Google Shape;150;p14"/>
          <p:cNvGrpSpPr/>
          <p:nvPr/>
        </p:nvGrpSpPr>
        <p:grpSpPr>
          <a:xfrm>
            <a:off x="1577211" y="3850031"/>
            <a:ext cx="1766950" cy="1025398"/>
            <a:chOff x="1845564" y="3788155"/>
            <a:chExt cx="1766950" cy="1025398"/>
          </a:xfrm>
        </p:grpSpPr>
        <p:pic>
          <p:nvPicPr>
            <p:cNvPr id="151" name="Google Shape;151;p14"/>
            <p:cNvPicPr preferRelativeResize="0"/>
            <p:nvPr/>
          </p:nvPicPr>
          <p:blipFill rotWithShape="1">
            <a:blip r:embed="rId19">
              <a:alphaModFix/>
            </a:blip>
            <a:srcRect b="0" l="0" r="0" t="0"/>
            <a:stretch/>
          </p:blipFill>
          <p:spPr>
            <a:xfrm>
              <a:off x="3072638" y="3788155"/>
              <a:ext cx="539876" cy="423163"/>
            </a:xfrm>
            <a:prstGeom prst="rect">
              <a:avLst/>
            </a:prstGeom>
            <a:noFill/>
            <a:ln>
              <a:noFill/>
            </a:ln>
          </p:spPr>
        </p:pic>
        <p:pic>
          <p:nvPicPr>
            <p:cNvPr id="152" name="Google Shape;152;p14"/>
            <p:cNvPicPr preferRelativeResize="0"/>
            <p:nvPr/>
          </p:nvPicPr>
          <p:blipFill rotWithShape="1">
            <a:blip r:embed="rId20">
              <a:alphaModFix/>
            </a:blip>
            <a:srcRect b="0" l="0" r="0" t="0"/>
            <a:stretch/>
          </p:blipFill>
          <p:spPr>
            <a:xfrm>
              <a:off x="1845564" y="3796271"/>
              <a:ext cx="1017282" cy="1017282"/>
            </a:xfrm>
            <a:prstGeom prst="rect">
              <a:avLst/>
            </a:prstGeom>
            <a:noFill/>
            <a:ln>
              <a:noFill/>
            </a:ln>
          </p:spPr>
        </p:pic>
      </p:grpSp>
      <p:sp>
        <p:nvSpPr>
          <p:cNvPr id="153" name="Google Shape;153;p14"/>
          <p:cNvSpPr txBox="1"/>
          <p:nvPr/>
        </p:nvSpPr>
        <p:spPr>
          <a:xfrm>
            <a:off x="1707130" y="4085398"/>
            <a:ext cx="695325" cy="425450"/>
          </a:xfrm>
          <a:prstGeom prst="rect">
            <a:avLst/>
          </a:prstGeom>
          <a:noFill/>
          <a:ln>
            <a:noFill/>
          </a:ln>
        </p:spPr>
        <p:txBody>
          <a:bodyPr anchorCtr="0" anchor="t" bIns="0" lIns="0" spcFirstLastPara="1" rIns="0" wrap="square" tIns="12700">
            <a:spAutoFit/>
          </a:bodyPr>
          <a:lstStyle/>
          <a:p>
            <a:pPr indent="0" lvl="0" marL="0" marR="0" rtl="0" algn="ctr">
              <a:lnSpc>
                <a:spcPct val="112142"/>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Scheduli</a:t>
            </a:r>
            <a:endParaRPr b="0" i="0" sz="1400" u="none" cap="none" strike="noStrike">
              <a:solidFill>
                <a:srgbClr val="000000"/>
              </a:solidFill>
              <a:latin typeface="Arial"/>
              <a:ea typeface="Arial"/>
              <a:cs typeface="Arial"/>
              <a:sym typeface="Arial"/>
            </a:endParaRPr>
          </a:p>
          <a:p>
            <a:pPr indent="0" lvl="0" marL="0" marR="0" rtl="0" algn="ctr">
              <a:lnSpc>
                <a:spcPct val="112142"/>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ng</a:t>
            </a:r>
            <a:endParaRPr b="0" i="0" sz="1400" u="none" cap="none" strike="noStrike">
              <a:solidFill>
                <a:schemeClr val="dk1"/>
              </a:solidFill>
              <a:latin typeface="Trebuchet MS"/>
              <a:ea typeface="Trebuchet MS"/>
              <a:cs typeface="Trebuchet MS"/>
              <a:sym typeface="Trebuchet MS"/>
            </a:endParaRPr>
          </a:p>
        </p:txBody>
      </p:sp>
      <p:grpSp>
        <p:nvGrpSpPr>
          <p:cNvPr id="154" name="Google Shape;154;p14"/>
          <p:cNvGrpSpPr/>
          <p:nvPr/>
        </p:nvGrpSpPr>
        <p:grpSpPr>
          <a:xfrm>
            <a:off x="1639942" y="2405724"/>
            <a:ext cx="1766950" cy="1026807"/>
            <a:chOff x="1845564" y="2481059"/>
            <a:chExt cx="1766950" cy="1026807"/>
          </a:xfrm>
        </p:grpSpPr>
        <p:pic>
          <p:nvPicPr>
            <p:cNvPr id="155" name="Google Shape;155;p14"/>
            <p:cNvPicPr preferRelativeResize="0"/>
            <p:nvPr/>
          </p:nvPicPr>
          <p:blipFill rotWithShape="1">
            <a:blip r:embed="rId21">
              <a:alphaModFix/>
            </a:blip>
            <a:srcRect b="0" l="0" r="0" t="0"/>
            <a:stretch/>
          </p:blipFill>
          <p:spPr>
            <a:xfrm>
              <a:off x="3072638" y="3084829"/>
              <a:ext cx="539876" cy="423037"/>
            </a:xfrm>
            <a:prstGeom prst="rect">
              <a:avLst/>
            </a:prstGeom>
            <a:noFill/>
            <a:ln>
              <a:noFill/>
            </a:ln>
          </p:spPr>
        </p:pic>
        <p:pic>
          <p:nvPicPr>
            <p:cNvPr id="156" name="Google Shape;156;p14"/>
            <p:cNvPicPr preferRelativeResize="0"/>
            <p:nvPr/>
          </p:nvPicPr>
          <p:blipFill rotWithShape="1">
            <a:blip r:embed="rId22">
              <a:alphaModFix/>
            </a:blip>
            <a:srcRect b="0" l="0" r="0" t="0"/>
            <a:stretch/>
          </p:blipFill>
          <p:spPr>
            <a:xfrm>
              <a:off x="1845564" y="2481059"/>
              <a:ext cx="1017282" cy="1015758"/>
            </a:xfrm>
            <a:prstGeom prst="rect">
              <a:avLst/>
            </a:prstGeom>
            <a:noFill/>
            <a:ln>
              <a:noFill/>
            </a:ln>
          </p:spPr>
        </p:pic>
      </p:grpSp>
      <p:sp>
        <p:nvSpPr>
          <p:cNvPr id="157" name="Google Shape;157;p14"/>
          <p:cNvSpPr txBox="1"/>
          <p:nvPr/>
        </p:nvSpPr>
        <p:spPr>
          <a:xfrm>
            <a:off x="1802640" y="2506375"/>
            <a:ext cx="703580" cy="869950"/>
          </a:xfrm>
          <a:prstGeom prst="rect">
            <a:avLst/>
          </a:prstGeom>
          <a:noFill/>
          <a:ln>
            <a:noFill/>
          </a:ln>
        </p:spPr>
        <p:txBody>
          <a:bodyPr anchorCtr="0" anchor="t" bIns="0" lIns="0" spcFirstLastPara="1" rIns="0" wrap="square" tIns="13325">
            <a:spAutoFit/>
          </a:bodyPr>
          <a:lstStyle/>
          <a:p>
            <a:pPr indent="0" lvl="0" marL="0" marR="0" rtl="0" algn="ctr">
              <a:lnSpc>
                <a:spcPct val="112500"/>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Employe</a:t>
            </a:r>
            <a:endParaRPr b="0" i="0" sz="1400" u="none" cap="none" strike="noStrike">
              <a:solidFill>
                <a:schemeClr val="dk1"/>
              </a:solidFill>
              <a:latin typeface="Trebuchet MS"/>
              <a:ea typeface="Trebuchet MS"/>
              <a:cs typeface="Trebuchet MS"/>
              <a:sym typeface="Trebuchet MS"/>
            </a:endParaRPr>
          </a:p>
          <a:p>
            <a:pPr indent="0" lvl="0" marL="0" marR="0" rtl="0" algn="ctr">
              <a:lnSpc>
                <a:spcPct val="112500"/>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e Union</a:t>
            </a:r>
            <a:endParaRPr b="0" i="0" sz="1400" u="none" cap="none" strike="noStrike">
              <a:solidFill>
                <a:schemeClr val="dk1"/>
              </a:solidFill>
              <a:latin typeface="Trebuchet MS"/>
              <a:ea typeface="Trebuchet MS"/>
              <a:cs typeface="Trebuchet MS"/>
              <a:sym typeface="Trebuchet MS"/>
            </a:endParaRPr>
          </a:p>
          <a:p>
            <a:pPr indent="0" lvl="0" marL="24765" marR="17780" rtl="0" algn="ctr">
              <a:lnSpc>
                <a:spcPct val="104285"/>
              </a:lnSpc>
              <a:spcBef>
                <a:spcPts val="58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Relation  s</a:t>
            </a:r>
            <a:endParaRPr b="0" i="0" sz="1400" u="none" cap="none" strike="noStrike">
              <a:solidFill>
                <a:schemeClr val="dk1"/>
              </a:solidFill>
              <a:latin typeface="Trebuchet MS"/>
              <a:ea typeface="Trebuchet MS"/>
              <a:cs typeface="Trebuchet MS"/>
              <a:sym typeface="Trebuchet MS"/>
            </a:endParaRPr>
          </a:p>
        </p:txBody>
      </p:sp>
      <p:pic>
        <p:nvPicPr>
          <p:cNvPr id="158" name="Google Shape;158;p14"/>
          <p:cNvPicPr preferRelativeResize="0"/>
          <p:nvPr/>
        </p:nvPicPr>
        <p:blipFill rotWithShape="1">
          <a:blip r:embed="rId23">
            <a:alphaModFix/>
          </a:blip>
          <a:srcRect b="0" l="0" r="0" t="0"/>
          <a:stretch/>
        </p:blipFill>
        <p:spPr>
          <a:xfrm>
            <a:off x="3525011" y="2534666"/>
            <a:ext cx="461010" cy="501269"/>
          </a:xfrm>
          <a:prstGeom prst="rect">
            <a:avLst/>
          </a:prstGeom>
          <a:noFill/>
          <a:ln>
            <a:noFill/>
          </a:ln>
        </p:spPr>
      </p:pic>
      <p:pic>
        <p:nvPicPr>
          <p:cNvPr id="159" name="Google Shape;159;p14"/>
          <p:cNvPicPr preferRelativeResize="0"/>
          <p:nvPr/>
        </p:nvPicPr>
        <p:blipFill rotWithShape="1">
          <a:blip r:embed="rId24">
            <a:alphaModFix/>
          </a:blip>
          <a:srcRect b="0" l="0" r="0" t="0"/>
          <a:stretch/>
        </p:blipFill>
        <p:spPr>
          <a:xfrm>
            <a:off x="2507742" y="1322210"/>
            <a:ext cx="1017269" cy="1015758"/>
          </a:xfrm>
          <a:prstGeom prst="rect">
            <a:avLst/>
          </a:prstGeom>
          <a:noFill/>
          <a:ln>
            <a:noFill/>
          </a:ln>
        </p:spPr>
      </p:pic>
      <p:sp>
        <p:nvSpPr>
          <p:cNvPr id="160" name="Google Shape;160;p14"/>
          <p:cNvSpPr txBox="1"/>
          <p:nvPr/>
        </p:nvSpPr>
        <p:spPr>
          <a:xfrm>
            <a:off x="2726987" y="1486414"/>
            <a:ext cx="622935" cy="611505"/>
          </a:xfrm>
          <a:prstGeom prst="rect">
            <a:avLst/>
          </a:prstGeom>
          <a:noFill/>
          <a:ln>
            <a:noFill/>
          </a:ln>
        </p:spPr>
        <p:txBody>
          <a:bodyPr anchorCtr="0" anchor="t" bIns="0" lIns="0" spcFirstLastPara="1" rIns="0" wrap="square" tIns="42525">
            <a:spAutoFit/>
          </a:bodyPr>
          <a:lstStyle/>
          <a:p>
            <a:pPr indent="31750" lvl="0" marL="12700" marR="5080" rtl="0" algn="just">
              <a:lnSpc>
                <a:spcPct val="104285"/>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Career  Manage  ment</a:t>
            </a:r>
            <a:endParaRPr b="0" i="0" sz="1400" u="none" cap="none" strike="noStrike">
              <a:solidFill>
                <a:schemeClr val="dk1"/>
              </a:solidFill>
              <a:latin typeface="Trebuchet MS"/>
              <a:ea typeface="Trebuchet MS"/>
              <a:cs typeface="Trebuchet MS"/>
              <a:sym typeface="Trebuchet MS"/>
            </a:endParaRPr>
          </a:p>
        </p:txBody>
      </p:sp>
      <p:sp>
        <p:nvSpPr>
          <p:cNvPr id="161" name="Google Shape;161;p14"/>
          <p:cNvSpPr txBox="1"/>
          <p:nvPr>
            <p:ph type="title"/>
          </p:nvPr>
        </p:nvSpPr>
        <p:spPr>
          <a:xfrm>
            <a:off x="231140" y="96138"/>
            <a:ext cx="6433185" cy="6051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800"/>
              <a:t>HRM FUNCTIONS </a:t>
            </a:r>
            <a:r>
              <a:rPr lang="en-US" sz="3000"/>
              <a:t>(</a:t>
            </a:r>
            <a:r>
              <a:rPr i="1" lang="en-US" sz="3000">
                <a:latin typeface="Trebuchet MS"/>
                <a:ea typeface="Trebuchet MS"/>
                <a:cs typeface="Trebuchet MS"/>
                <a:sym typeface="Trebuchet MS"/>
              </a:rPr>
              <a:t>SPECS-ME-CTR</a:t>
            </a:r>
            <a:r>
              <a:rPr lang="en-US" sz="3000"/>
              <a:t>)</a:t>
            </a:r>
            <a:endParaRPr sz="3000">
              <a:latin typeface="Trebuchet MS"/>
              <a:ea typeface="Trebuchet MS"/>
              <a:cs typeface="Trebuchet MS"/>
              <a:sym typeface="Trebuchet MS"/>
            </a:endParaRPr>
          </a:p>
        </p:txBody>
      </p:sp>
      <p:sp>
        <p:nvSpPr>
          <p:cNvPr id="162" name="Google Shape;162;p14"/>
          <p:cNvSpPr txBox="1"/>
          <p:nvPr/>
        </p:nvSpPr>
        <p:spPr>
          <a:xfrm>
            <a:off x="4276471" y="6442354"/>
            <a:ext cx="478726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Arial"/>
              <a:buNone/>
            </a:pPr>
            <a:r>
              <a:rPr b="1" i="1" lang="en-US" sz="1200" u="none" cap="none" strike="noStrike">
                <a:solidFill>
                  <a:schemeClr val="dk1"/>
                </a:solidFill>
                <a:latin typeface="Times New Roman"/>
                <a:ea typeface="Times New Roman"/>
                <a:cs typeface="Times New Roman"/>
                <a:sym typeface="Times New Roman"/>
              </a:rPr>
              <a:t>Copyright © 2010 by The McGraw-Hill Companies, Inc. All rights reserved.</a:t>
            </a:r>
            <a:endParaRPr b="0" i="0" sz="1200" u="none" cap="none" strike="noStrike">
              <a:solidFill>
                <a:schemeClr val="dk1"/>
              </a:solidFill>
              <a:latin typeface="Times New Roman"/>
              <a:ea typeface="Times New Roman"/>
              <a:cs typeface="Times New Roman"/>
              <a:sym typeface="Times New Roman"/>
            </a:endParaRPr>
          </a:p>
        </p:txBody>
      </p:sp>
      <p:pic>
        <p:nvPicPr>
          <p:cNvPr id="163" name="Google Shape;163;p14"/>
          <p:cNvPicPr preferRelativeResize="0"/>
          <p:nvPr/>
        </p:nvPicPr>
        <p:blipFill rotWithShape="1">
          <a:blip r:embed="rId15">
            <a:alphaModFix/>
          </a:blip>
          <a:srcRect b="0" l="0" r="0" t="0"/>
          <a:stretch/>
        </p:blipFill>
        <p:spPr>
          <a:xfrm>
            <a:off x="6347856" y="2605300"/>
            <a:ext cx="1268742" cy="823700"/>
          </a:xfrm>
          <a:prstGeom prst="rect">
            <a:avLst/>
          </a:prstGeom>
          <a:noFill/>
          <a:ln>
            <a:noFill/>
          </a:ln>
        </p:spPr>
      </p:pic>
      <p:sp>
        <p:nvSpPr>
          <p:cNvPr id="164" name="Google Shape;164;p14"/>
          <p:cNvSpPr txBox="1"/>
          <p:nvPr/>
        </p:nvSpPr>
        <p:spPr>
          <a:xfrm>
            <a:off x="6511682" y="2696003"/>
            <a:ext cx="1080978" cy="620042"/>
          </a:xfrm>
          <a:prstGeom prst="rect">
            <a:avLst/>
          </a:prstGeom>
          <a:noFill/>
          <a:ln>
            <a:noFill/>
          </a:ln>
        </p:spPr>
        <p:txBody>
          <a:bodyPr anchorCtr="0" anchor="t" bIns="0" lIns="0" spcFirstLastPara="1" rIns="0" wrap="square" tIns="42525">
            <a:spAutoFit/>
          </a:bodyPr>
          <a:lstStyle/>
          <a:p>
            <a:pPr indent="-271780" lvl="0" marL="283845" marR="5080" rtl="0" algn="l">
              <a:lnSpc>
                <a:spcPct val="104285"/>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Talent management/</a:t>
            </a:r>
            <a:endParaRPr b="0" i="0" sz="1400" u="none" cap="none" strike="noStrike">
              <a:solidFill>
                <a:srgbClr val="000000"/>
              </a:solidFill>
              <a:latin typeface="Arial"/>
              <a:ea typeface="Arial"/>
              <a:cs typeface="Arial"/>
              <a:sym typeface="Arial"/>
            </a:endParaRPr>
          </a:p>
        </p:txBody>
      </p:sp>
      <p:pic>
        <p:nvPicPr>
          <p:cNvPr id="165" name="Google Shape;165;p14"/>
          <p:cNvPicPr preferRelativeResize="0"/>
          <p:nvPr/>
        </p:nvPicPr>
        <p:blipFill rotWithShape="1">
          <a:blip r:embed="rId15">
            <a:alphaModFix/>
          </a:blip>
          <a:srcRect b="0" l="0" r="0" t="0"/>
          <a:stretch/>
        </p:blipFill>
        <p:spPr>
          <a:xfrm>
            <a:off x="6567762" y="3535562"/>
            <a:ext cx="1017270" cy="1015758"/>
          </a:xfrm>
          <a:prstGeom prst="rect">
            <a:avLst/>
          </a:prstGeom>
          <a:noFill/>
          <a:ln>
            <a:noFill/>
          </a:ln>
        </p:spPr>
      </p:pic>
      <p:sp>
        <p:nvSpPr>
          <p:cNvPr id="166" name="Google Shape;166;p14"/>
          <p:cNvSpPr txBox="1"/>
          <p:nvPr/>
        </p:nvSpPr>
        <p:spPr>
          <a:xfrm>
            <a:off x="6566004" y="3654453"/>
            <a:ext cx="1273832" cy="653705"/>
          </a:xfrm>
          <a:prstGeom prst="rect">
            <a:avLst/>
          </a:prstGeom>
          <a:noFill/>
          <a:ln>
            <a:noFill/>
          </a:ln>
        </p:spPr>
        <p:txBody>
          <a:bodyPr anchorCtr="0" anchor="t" bIns="45700" lIns="91425" spcFirstLastPara="1" rIns="91425" wrap="square" tIns="45700">
            <a:spAutoFit/>
          </a:bodyPr>
          <a:lstStyle/>
          <a:p>
            <a:pPr indent="-271780" lvl="0" marL="283845" marR="5080" rtl="0" algn="l">
              <a:lnSpc>
                <a:spcPct val="132727"/>
              </a:lnSpc>
              <a:spcBef>
                <a:spcPts val="0"/>
              </a:spcBef>
              <a:spcAft>
                <a:spcPts val="0"/>
              </a:spcAft>
              <a:buClr>
                <a:srgbClr val="000000"/>
              </a:buClr>
              <a:buSzPts val="1100"/>
              <a:buFont typeface="Arial"/>
              <a:buNone/>
            </a:pPr>
            <a:r>
              <a:rPr b="0" i="0" lang="en-US" sz="1100" u="none" cap="none" strike="noStrike">
                <a:solidFill>
                  <a:schemeClr val="dk1"/>
                </a:solidFill>
                <a:latin typeface="Trebuchet MS"/>
                <a:ea typeface="Trebuchet MS"/>
                <a:cs typeface="Trebuchet MS"/>
                <a:sym typeface="Trebuchet MS"/>
              </a:rPr>
              <a:t>Equal employment opportunity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231140" y="45161"/>
            <a:ext cx="6184265"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RECRUITMENT AND SELECTION</a:t>
            </a:r>
            <a:endParaRPr/>
          </a:p>
        </p:txBody>
      </p:sp>
      <p:sp>
        <p:nvSpPr>
          <p:cNvPr id="173" name="Google Shape;173;p15"/>
          <p:cNvSpPr txBox="1"/>
          <p:nvPr/>
        </p:nvSpPr>
        <p:spPr>
          <a:xfrm>
            <a:off x="480817" y="1743271"/>
            <a:ext cx="7511716" cy="3997248"/>
          </a:xfrm>
          <a:prstGeom prst="rect">
            <a:avLst/>
          </a:prstGeom>
          <a:noFill/>
          <a:ln>
            <a:noFill/>
          </a:ln>
        </p:spPr>
        <p:txBody>
          <a:bodyPr anchorCtr="0" anchor="t" bIns="0" lIns="0" spcFirstLastPara="1" rIns="0" wrap="square" tIns="12700">
            <a:spAutoFit/>
          </a:bodyPr>
          <a:lstStyle/>
          <a:p>
            <a:pPr indent="-342900" lvl="0" marL="355600" marR="1427480" rtl="0" algn="l">
              <a:lnSpc>
                <a:spcPct val="15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During Recruitment and selection, the line manager describes the qualifications employees need to fill  specific positions.</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5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Then the human resource team (Staff) takes over.</a:t>
            </a:r>
            <a:endParaRPr b="0" i="0" sz="1800" u="none" cap="none" strike="noStrike">
              <a:solidFill>
                <a:schemeClr val="dk1"/>
              </a:solidFill>
              <a:latin typeface="Trebuchet MS"/>
              <a:ea typeface="Trebuchet MS"/>
              <a:cs typeface="Trebuchet MS"/>
              <a:sym typeface="Trebuchet MS"/>
            </a:endParaRPr>
          </a:p>
          <a:p>
            <a:pPr indent="-342900" lvl="0" marL="355600" marR="1088390" rtl="0" algn="l">
              <a:lnSpc>
                <a:spcPct val="150000"/>
              </a:lnSpc>
              <a:spcBef>
                <a:spcPts val="994"/>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Trebuchet MS"/>
                <a:ea typeface="Trebuchet MS"/>
                <a:cs typeface="Trebuchet MS"/>
                <a:sym typeface="Trebuchet MS"/>
              </a:rPr>
              <a:t>HR managers sort qualified applicants, conduct initial  screening interviews, administer the appropriate tests  and then refer the best applicants to the line manager,  who interviews and selects the ones he or she wants.</a:t>
            </a:r>
            <a:endParaRPr b="0" i="0" sz="1800" u="none" cap="none" strike="noStrike">
              <a:solidFill>
                <a:schemeClr val="dk1"/>
              </a:solidFill>
              <a:latin typeface="Trebuchet MS"/>
              <a:ea typeface="Trebuchet MS"/>
              <a:cs typeface="Trebuchet MS"/>
              <a:sym typeface="Trebuchet MS"/>
            </a:endParaRPr>
          </a:p>
          <a:p>
            <a:pPr indent="0" lvl="0" marL="0" marR="0" rtl="0" algn="l">
              <a:lnSpc>
                <a:spcPct val="150000"/>
              </a:lnSpc>
              <a:spcBef>
                <a:spcPts val="5"/>
              </a:spcBef>
              <a:spcAft>
                <a:spcPts val="0"/>
              </a:spcAft>
              <a:buClr>
                <a:srgbClr val="000000"/>
              </a:buClr>
              <a:buSzPts val="1750"/>
              <a:buFont typeface="Arial"/>
              <a:buNone/>
            </a:pPr>
            <a:r>
              <a:t/>
            </a:r>
            <a:endParaRPr b="0" i="0" sz="175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nvSpPr>
        <p:spPr>
          <a:xfrm>
            <a:off x="307340" y="1549653"/>
            <a:ext cx="8205470" cy="4004310"/>
          </a:xfrm>
          <a:prstGeom prst="rect">
            <a:avLst/>
          </a:prstGeom>
          <a:noFill/>
          <a:ln>
            <a:noFill/>
          </a:ln>
        </p:spPr>
        <p:txBody>
          <a:bodyPr anchorCtr="0" anchor="t" bIns="0" lIns="0" spcFirstLastPara="1" rIns="0" wrap="square" tIns="12700">
            <a:spAutoFit/>
          </a:bodyPr>
          <a:lstStyle/>
          <a:p>
            <a:pPr indent="-340360" lvl="0" marL="352425" marR="173355" rtl="0" algn="l">
              <a:lnSpc>
                <a:spcPct val="100000"/>
              </a:lnSpc>
              <a:spcBef>
                <a:spcPts val="0"/>
              </a:spcBef>
              <a:spcAft>
                <a:spcPts val="0"/>
              </a:spcAft>
              <a:buClr>
                <a:schemeClr val="dk1"/>
              </a:buClr>
              <a:buSzPts val="2400"/>
              <a:buFont typeface="Arial"/>
              <a:buChar char="•"/>
            </a:pPr>
            <a:r>
              <a:rPr b="1" i="1" lang="en-US" sz="2400" u="none" cap="none" strike="noStrike">
                <a:solidFill>
                  <a:schemeClr val="dk1"/>
                </a:solidFill>
                <a:latin typeface="Arial"/>
                <a:ea typeface="Arial"/>
                <a:cs typeface="Arial"/>
                <a:sym typeface="Arial"/>
              </a:rPr>
              <a:t>Recruitment </a:t>
            </a:r>
            <a:r>
              <a:rPr b="0" i="1" lang="en-US" sz="2400" u="none" cap="none" strike="noStrike">
                <a:solidFill>
                  <a:schemeClr val="dk1"/>
                </a:solidFill>
                <a:latin typeface="Arial"/>
                <a:ea typeface="Arial"/>
                <a:cs typeface="Arial"/>
                <a:sym typeface="Arial"/>
              </a:rPr>
              <a:t>is the set of activities used to obtain a  sufficient number of the right employees at the right time.</a:t>
            </a:r>
            <a:endParaRPr b="0" i="0" sz="2400" u="none" cap="none" strike="noStrike">
              <a:solidFill>
                <a:schemeClr val="dk1"/>
              </a:solidFill>
              <a:latin typeface="Arial"/>
              <a:ea typeface="Arial"/>
              <a:cs typeface="Arial"/>
              <a:sym typeface="Arial"/>
            </a:endParaRPr>
          </a:p>
          <a:p>
            <a:pPr indent="-340360" lvl="0" marL="352425" marR="130810" rtl="0" algn="l">
              <a:lnSpc>
                <a:spcPct val="100000"/>
              </a:lnSpc>
              <a:spcBef>
                <a:spcPts val="180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Recruiting is not an easy task. On the contrary, it become  very challenging for several reasons:</a:t>
            </a:r>
            <a:endParaRPr b="0" i="0" sz="2400" u="none" cap="none" strike="noStrike">
              <a:solidFill>
                <a:schemeClr val="dk1"/>
              </a:solidFill>
              <a:latin typeface="Arial"/>
              <a:ea typeface="Arial"/>
              <a:cs typeface="Arial"/>
              <a:sym typeface="Arial"/>
            </a:endParaRPr>
          </a:p>
          <a:p>
            <a:pPr indent="-340360" lvl="1" marL="809625" marR="0" rtl="0" algn="l">
              <a:lnSpc>
                <a:spcPct val="100000"/>
              </a:lnSpc>
              <a:spcBef>
                <a:spcPts val="1800"/>
              </a:spcBef>
              <a:spcAft>
                <a:spcPts val="0"/>
              </a:spcAft>
              <a:buClr>
                <a:schemeClr val="dk1"/>
              </a:buClr>
              <a:buSzPts val="2100"/>
              <a:buFont typeface="Arial"/>
              <a:buChar char="–"/>
            </a:pPr>
            <a:r>
              <a:rPr b="0" i="1" lang="en-US" sz="2100" u="none" cap="none" strike="noStrike">
                <a:solidFill>
                  <a:schemeClr val="dk1"/>
                </a:solidFill>
                <a:latin typeface="Arial"/>
                <a:ea typeface="Arial"/>
                <a:cs typeface="Arial"/>
                <a:sym typeface="Arial"/>
              </a:rPr>
              <a:t>Retaining employees is a challenge</a:t>
            </a:r>
            <a:endParaRPr b="0" i="0" sz="2100" u="none" cap="none" strike="noStrike">
              <a:solidFill>
                <a:schemeClr val="dk1"/>
              </a:solidFill>
              <a:latin typeface="Arial"/>
              <a:ea typeface="Arial"/>
              <a:cs typeface="Arial"/>
              <a:sym typeface="Arial"/>
            </a:endParaRPr>
          </a:p>
          <a:p>
            <a:pPr indent="-340360" lvl="1" marL="809625" marR="254000" rtl="0" algn="l">
              <a:lnSpc>
                <a:spcPct val="100000"/>
              </a:lnSpc>
              <a:spcBef>
                <a:spcPts val="1805"/>
              </a:spcBef>
              <a:spcAft>
                <a:spcPts val="0"/>
              </a:spcAft>
              <a:buClr>
                <a:schemeClr val="dk1"/>
              </a:buClr>
              <a:buSzPts val="2100"/>
              <a:buFont typeface="Arial"/>
              <a:buChar char="–"/>
            </a:pPr>
            <a:r>
              <a:rPr b="0" i="1" lang="en-US" sz="2100" u="none" cap="none" strike="noStrike">
                <a:solidFill>
                  <a:schemeClr val="dk1"/>
                </a:solidFill>
                <a:latin typeface="Arial"/>
                <a:ea typeface="Arial"/>
                <a:cs typeface="Arial"/>
                <a:sym typeface="Arial"/>
              </a:rPr>
              <a:t>It is important to hire people who are not only skilled but also  fit in with the culture and leadership style of the company</a:t>
            </a:r>
            <a:endParaRPr b="0" i="0" sz="2100" u="none" cap="none" strike="noStrike">
              <a:solidFill>
                <a:schemeClr val="dk1"/>
              </a:solidFill>
              <a:latin typeface="Arial"/>
              <a:ea typeface="Arial"/>
              <a:cs typeface="Arial"/>
              <a:sym typeface="Arial"/>
            </a:endParaRPr>
          </a:p>
          <a:p>
            <a:pPr indent="-340360" lvl="1" marL="809625" marR="0" rtl="0" algn="l">
              <a:lnSpc>
                <a:spcPct val="100000"/>
              </a:lnSpc>
              <a:spcBef>
                <a:spcPts val="1800"/>
              </a:spcBef>
              <a:spcAft>
                <a:spcPts val="0"/>
              </a:spcAft>
              <a:buClr>
                <a:schemeClr val="dk1"/>
              </a:buClr>
              <a:buSzPts val="2100"/>
              <a:buFont typeface="Arial"/>
              <a:buChar char="–"/>
            </a:pPr>
            <a:r>
              <a:rPr b="0" i="1" lang="en-US" sz="2100" u="none" cap="none" strike="noStrike">
                <a:solidFill>
                  <a:schemeClr val="dk1"/>
                </a:solidFill>
                <a:latin typeface="Arial"/>
                <a:ea typeface="Arial"/>
                <a:cs typeface="Arial"/>
                <a:sym typeface="Arial"/>
              </a:rPr>
              <a:t>Sometimes people with necessary skills are not available; then</a:t>
            </a:r>
            <a:endParaRPr b="0" i="0" sz="2100" u="none" cap="none" strike="noStrike">
              <a:solidFill>
                <a:schemeClr val="dk1"/>
              </a:solidFill>
              <a:latin typeface="Arial"/>
              <a:ea typeface="Arial"/>
              <a:cs typeface="Arial"/>
              <a:sym typeface="Arial"/>
            </a:endParaRPr>
          </a:p>
          <a:p>
            <a:pPr indent="0" lvl="0" marL="809625" marR="0" rtl="0" algn="l">
              <a:lnSpc>
                <a:spcPct val="100000"/>
              </a:lnSpc>
              <a:spcBef>
                <a:spcPts val="0"/>
              </a:spcBef>
              <a:spcAft>
                <a:spcPts val="0"/>
              </a:spcAft>
              <a:buClr>
                <a:srgbClr val="000000"/>
              </a:buClr>
              <a:buSzPts val="2100"/>
              <a:buFont typeface="Arial"/>
              <a:buNone/>
            </a:pPr>
            <a:r>
              <a:rPr b="0" i="1" lang="en-US" sz="2100" u="none" cap="none" strike="noStrike">
                <a:solidFill>
                  <a:schemeClr val="dk1"/>
                </a:solidFill>
                <a:latin typeface="Arial"/>
                <a:ea typeface="Arial"/>
                <a:cs typeface="Arial"/>
                <a:sym typeface="Arial"/>
              </a:rPr>
              <a:t>workers must be hired and trained internally</a:t>
            </a:r>
            <a:endParaRPr b="0" i="0" sz="2100" u="none" cap="none" strike="noStrike">
              <a:solidFill>
                <a:schemeClr val="dk1"/>
              </a:solidFill>
              <a:latin typeface="Arial"/>
              <a:ea typeface="Arial"/>
              <a:cs typeface="Arial"/>
              <a:sym typeface="Arial"/>
            </a:endParaRPr>
          </a:p>
        </p:txBody>
      </p:sp>
      <p:sp>
        <p:nvSpPr>
          <p:cNvPr id="179" name="Google Shape;179;p16"/>
          <p:cNvSpPr txBox="1"/>
          <p:nvPr>
            <p:ph type="title"/>
          </p:nvPr>
        </p:nvSpPr>
        <p:spPr>
          <a:xfrm>
            <a:off x="231140" y="45161"/>
            <a:ext cx="2893695"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RECRUITMENT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type="title"/>
          </p:nvPr>
        </p:nvSpPr>
        <p:spPr>
          <a:xfrm>
            <a:off x="231140" y="45161"/>
            <a:ext cx="3702685"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Employee Sources</a:t>
            </a:r>
            <a:endParaRPr/>
          </a:p>
        </p:txBody>
      </p:sp>
      <p:pic>
        <p:nvPicPr>
          <p:cNvPr id="185" name="Google Shape;185;p17"/>
          <p:cNvPicPr preferRelativeResize="0"/>
          <p:nvPr/>
        </p:nvPicPr>
        <p:blipFill rotWithShape="1">
          <a:blip r:embed="rId3">
            <a:alphaModFix/>
          </a:blip>
          <a:srcRect b="0" l="0" r="0" t="0"/>
          <a:stretch/>
        </p:blipFill>
        <p:spPr>
          <a:xfrm>
            <a:off x="304800" y="838200"/>
            <a:ext cx="7620000" cy="5753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8"/>
          <p:cNvSpPr txBox="1"/>
          <p:nvPr>
            <p:ph type="title"/>
          </p:nvPr>
        </p:nvSpPr>
        <p:spPr>
          <a:xfrm>
            <a:off x="130251" y="95199"/>
            <a:ext cx="2232660"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SELECTION</a:t>
            </a:r>
            <a:endParaRPr/>
          </a:p>
        </p:txBody>
      </p:sp>
      <p:sp>
        <p:nvSpPr>
          <p:cNvPr id="191" name="Google Shape;191;p18"/>
          <p:cNvSpPr txBox="1"/>
          <p:nvPr/>
        </p:nvSpPr>
        <p:spPr>
          <a:xfrm>
            <a:off x="307340" y="1071117"/>
            <a:ext cx="4728845" cy="4728845"/>
          </a:xfrm>
          <a:prstGeom prst="rect">
            <a:avLst/>
          </a:prstGeom>
          <a:noFill/>
          <a:ln>
            <a:noFill/>
          </a:ln>
        </p:spPr>
        <p:txBody>
          <a:bodyPr anchorCtr="0" anchor="t" bIns="0" lIns="0" spcFirstLastPara="1" rIns="0" wrap="square" tIns="38725">
            <a:spAutoFit/>
          </a:bodyPr>
          <a:lstStyle/>
          <a:p>
            <a:pPr indent="-340360" lvl="0" marL="352425" marR="19685" rtl="0" algn="just">
              <a:lnSpc>
                <a:spcPct val="108000"/>
              </a:lnSpc>
              <a:spcBef>
                <a:spcPts val="0"/>
              </a:spcBef>
              <a:spcAft>
                <a:spcPts val="0"/>
              </a:spcAft>
              <a:buClr>
                <a:srgbClr val="000000"/>
              </a:buClr>
              <a:buSzPts val="1200"/>
              <a:buFont typeface="Arial"/>
              <a:buNone/>
            </a:pPr>
            <a:r>
              <a:rPr b="0" i="0" lang="en-US" sz="1200" u="none" cap="none" strike="noStrike">
                <a:solidFill>
                  <a:srgbClr val="90C225"/>
                </a:solidFill>
                <a:latin typeface="Lucida Sans"/>
                <a:ea typeface="Lucida Sans"/>
                <a:cs typeface="Lucida Sans"/>
                <a:sym typeface="Lucida Sans"/>
              </a:rPr>
              <a:t>▶ </a:t>
            </a:r>
            <a:r>
              <a:rPr b="0" i="1" lang="en-US" sz="1500" u="none" cap="none" strike="noStrike">
                <a:solidFill>
                  <a:srgbClr val="404040"/>
                </a:solidFill>
                <a:latin typeface="Trebuchet MS"/>
                <a:ea typeface="Trebuchet MS"/>
                <a:cs typeface="Trebuchet MS"/>
                <a:sym typeface="Trebuchet MS"/>
              </a:rPr>
              <a:t>The process of gathering information and deciding  who should be hired, under legal guidelines, to fit  the needs of the organization and individuals.</a:t>
            </a:r>
            <a:endParaRPr b="0" i="0" sz="1500" u="none" cap="none" strike="noStrike">
              <a:solidFill>
                <a:schemeClr val="dk1"/>
              </a:solidFill>
              <a:latin typeface="Trebuchet MS"/>
              <a:ea typeface="Trebuchet MS"/>
              <a:cs typeface="Trebuchet MS"/>
              <a:sym typeface="Trebuchet MS"/>
            </a:endParaRPr>
          </a:p>
          <a:p>
            <a:pPr indent="0" lvl="0" marL="12700" marR="0" rtl="0" algn="just">
              <a:lnSpc>
                <a:spcPct val="114000"/>
              </a:lnSpc>
              <a:spcBef>
                <a:spcPts val="800"/>
              </a:spcBef>
              <a:spcAft>
                <a:spcPts val="0"/>
              </a:spcAft>
              <a:buClr>
                <a:srgbClr val="000000"/>
              </a:buClr>
              <a:buSzPts val="1200"/>
              <a:buFont typeface="Arial"/>
              <a:buNone/>
            </a:pPr>
            <a:r>
              <a:rPr b="0" i="0" lang="en-US" sz="1200" u="none" cap="none" strike="noStrike">
                <a:solidFill>
                  <a:srgbClr val="90C225"/>
                </a:solidFill>
                <a:latin typeface="Lucida Sans"/>
                <a:ea typeface="Lucida Sans"/>
                <a:cs typeface="Lucida Sans"/>
                <a:sym typeface="Lucida Sans"/>
              </a:rPr>
              <a:t>▶  </a:t>
            </a:r>
            <a:r>
              <a:rPr b="0" i="1" lang="en-US" sz="1500" u="none" cap="none" strike="noStrike">
                <a:solidFill>
                  <a:srgbClr val="404040"/>
                </a:solidFill>
                <a:latin typeface="Trebuchet MS"/>
                <a:ea typeface="Trebuchet MS"/>
                <a:cs typeface="Trebuchet MS"/>
                <a:sym typeface="Trebuchet MS"/>
              </a:rPr>
              <a:t>Selection &amp; training are extremely expensive</a:t>
            </a:r>
            <a:endParaRPr b="0" i="0" sz="1500" u="none" cap="none" strike="noStrike">
              <a:solidFill>
                <a:schemeClr val="dk1"/>
              </a:solidFill>
              <a:latin typeface="Trebuchet MS"/>
              <a:ea typeface="Trebuchet MS"/>
              <a:cs typeface="Trebuchet MS"/>
              <a:sym typeface="Trebuchet MS"/>
            </a:endParaRPr>
          </a:p>
          <a:p>
            <a:pPr indent="0" lvl="0" marL="352425" marR="0" rtl="0" algn="l">
              <a:lnSpc>
                <a:spcPct val="114000"/>
              </a:lnSpc>
              <a:spcBef>
                <a:spcPts val="0"/>
              </a:spcBef>
              <a:spcAft>
                <a:spcPts val="0"/>
              </a:spcAft>
              <a:buClr>
                <a:srgbClr val="000000"/>
              </a:buClr>
              <a:buSzPts val="1500"/>
              <a:buFont typeface="Arial"/>
              <a:buNone/>
            </a:pPr>
            <a:r>
              <a:rPr b="0" i="1" lang="en-US" sz="1500" u="none" cap="none" strike="noStrike">
                <a:solidFill>
                  <a:srgbClr val="404040"/>
                </a:solidFill>
                <a:latin typeface="Trebuchet MS"/>
                <a:ea typeface="Trebuchet MS"/>
                <a:cs typeface="Trebuchet MS"/>
                <a:sym typeface="Trebuchet MS"/>
              </a:rPr>
              <a:t>process.</a:t>
            </a:r>
            <a:endParaRPr b="0" i="0" sz="15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20"/>
              </a:spcBef>
              <a:spcAft>
                <a:spcPts val="0"/>
              </a:spcAft>
              <a:buClr>
                <a:srgbClr val="000000"/>
              </a:buClr>
              <a:buSzPts val="1300"/>
              <a:buFont typeface="Arial"/>
              <a:buNone/>
            </a:pPr>
            <a:r>
              <a:t/>
            </a:r>
            <a:endParaRPr b="0" i="0" sz="1300" u="none" cap="none" strike="noStrike">
              <a:solidFill>
                <a:schemeClr val="dk1"/>
              </a:solidFill>
              <a:latin typeface="Trebuchet MS"/>
              <a:ea typeface="Trebuchet MS"/>
              <a:cs typeface="Trebuchet MS"/>
              <a:sym typeface="Trebuchet MS"/>
            </a:endParaRPr>
          </a:p>
          <a:p>
            <a:pPr indent="0" lvl="0" marL="317500" marR="0" rtl="0" algn="l">
              <a:lnSpc>
                <a:spcPct val="100000"/>
              </a:lnSpc>
              <a:spcBef>
                <a:spcPts val="0"/>
              </a:spcBef>
              <a:spcAft>
                <a:spcPts val="0"/>
              </a:spcAft>
              <a:buClr>
                <a:srgbClr val="000000"/>
              </a:buClr>
              <a:buSzPts val="1600"/>
              <a:buFont typeface="Arial"/>
              <a:buNone/>
            </a:pPr>
            <a:r>
              <a:rPr b="0" i="1" lang="en-US" sz="1600" u="none" cap="none" strike="noStrike">
                <a:solidFill>
                  <a:schemeClr val="dk1"/>
                </a:solidFill>
                <a:latin typeface="Arial"/>
                <a:ea typeface="Arial"/>
                <a:cs typeface="Arial"/>
                <a:sym typeface="Arial"/>
              </a:rPr>
              <a:t>SELECTION PROCESSES</a:t>
            </a:r>
            <a:endParaRPr b="0" i="0" sz="1600" u="none" cap="none" strike="noStrike">
              <a:solidFill>
                <a:schemeClr val="dk1"/>
              </a:solidFill>
              <a:latin typeface="Arial"/>
              <a:ea typeface="Arial"/>
              <a:cs typeface="Arial"/>
              <a:sym typeface="Arial"/>
            </a:endParaRPr>
          </a:p>
          <a:p>
            <a:pPr indent="0" lvl="0" marL="317500" marR="5080" rtl="0" algn="l">
              <a:lnSpc>
                <a:spcPct val="193800"/>
              </a:lnSpc>
              <a:spcBef>
                <a:spcPts val="0"/>
              </a:spcBef>
              <a:spcAft>
                <a:spcPts val="0"/>
              </a:spcAft>
              <a:buClr>
                <a:srgbClr val="000000"/>
              </a:buClr>
              <a:buSzPts val="1600"/>
              <a:buFont typeface="Arial"/>
              <a:buNone/>
            </a:pPr>
            <a:r>
              <a:rPr b="0" i="1" lang="en-US" sz="1600" u="none" cap="none" strike="noStrike">
                <a:solidFill>
                  <a:schemeClr val="dk1"/>
                </a:solidFill>
                <a:latin typeface="Arial"/>
                <a:ea typeface="Arial"/>
                <a:cs typeface="Arial"/>
                <a:sym typeface="Arial"/>
              </a:rPr>
              <a:t>Step 1.Obtaining complete application forms  Step 2.Conducting initial and follow up interviews  Step 3. Giving employment tests</a:t>
            </a:r>
            <a:endParaRPr b="0" i="0" sz="1600" u="none" cap="none" strike="noStrike">
              <a:solidFill>
                <a:schemeClr val="dk1"/>
              </a:solidFill>
              <a:latin typeface="Arial"/>
              <a:ea typeface="Arial"/>
              <a:cs typeface="Arial"/>
              <a:sym typeface="Arial"/>
            </a:endParaRPr>
          </a:p>
          <a:p>
            <a:pPr indent="0" lvl="0" marL="317500" marR="183515" rtl="0" algn="just">
              <a:lnSpc>
                <a:spcPct val="193800"/>
              </a:lnSpc>
              <a:spcBef>
                <a:spcPts val="0"/>
              </a:spcBef>
              <a:spcAft>
                <a:spcPts val="0"/>
              </a:spcAft>
              <a:buClr>
                <a:srgbClr val="000000"/>
              </a:buClr>
              <a:buSzPts val="1600"/>
              <a:buFont typeface="Arial"/>
              <a:buNone/>
            </a:pPr>
            <a:r>
              <a:rPr b="0" i="1" lang="en-US" sz="1600" u="none" cap="none" strike="noStrike">
                <a:solidFill>
                  <a:schemeClr val="dk1"/>
                </a:solidFill>
                <a:latin typeface="Arial"/>
                <a:ea typeface="Arial"/>
                <a:cs typeface="Arial"/>
                <a:sym typeface="Arial"/>
              </a:rPr>
              <a:t>Step 4. Conducting background investigations  Step 5. Obtaining results from physical exams  Step 6. Establishing trial (probationary) periods</a:t>
            </a:r>
            <a:endParaRPr b="0" i="0" sz="1600" u="none" cap="none" strike="noStrike">
              <a:solidFill>
                <a:schemeClr val="dk1"/>
              </a:solidFill>
              <a:latin typeface="Arial"/>
              <a:ea typeface="Arial"/>
              <a:cs typeface="Arial"/>
              <a:sym typeface="Arial"/>
            </a:endParaRPr>
          </a:p>
        </p:txBody>
      </p:sp>
      <p:pic>
        <p:nvPicPr>
          <p:cNvPr id="192" name="Google Shape;192;p18"/>
          <p:cNvPicPr preferRelativeResize="0"/>
          <p:nvPr/>
        </p:nvPicPr>
        <p:blipFill rotWithShape="1">
          <a:blip r:embed="rId3">
            <a:alphaModFix/>
          </a:blip>
          <a:srcRect b="0" l="0" r="0" t="0"/>
          <a:stretch/>
        </p:blipFill>
        <p:spPr>
          <a:xfrm>
            <a:off x="5876544" y="1575816"/>
            <a:ext cx="2287524" cy="43296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txBox="1"/>
          <p:nvPr/>
        </p:nvSpPr>
        <p:spPr>
          <a:xfrm>
            <a:off x="361245" y="1027656"/>
            <a:ext cx="6581986" cy="5007633"/>
          </a:xfrm>
          <a:prstGeom prst="rect">
            <a:avLst/>
          </a:prstGeom>
          <a:noFill/>
          <a:ln>
            <a:noFill/>
          </a:ln>
        </p:spPr>
        <p:txBody>
          <a:bodyPr anchorCtr="0" anchor="t" bIns="0" lIns="0" spcFirstLastPara="1" rIns="0" wrap="square" tIns="48875">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Companies are using Artificial Intelligence to improve and automate parts of the recruitment process. Here are some key techniques:</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90C225"/>
                </a:solidFill>
                <a:latin typeface="Lucida Sans"/>
                <a:ea typeface="Lucida Sans"/>
                <a:cs typeface="Lucida Sans"/>
                <a:sym typeface="Lucida Sans"/>
              </a:rPr>
              <a:t>▶</a:t>
            </a:r>
            <a:r>
              <a:rPr b="0" i="0" lang="en-US" sz="1800" u="none" cap="none" strike="noStrike">
                <a:solidFill>
                  <a:srgbClr val="90C225"/>
                </a:solidFill>
                <a:latin typeface="Lucida Sans"/>
                <a:ea typeface="Lucida Sans"/>
                <a:cs typeface="Lucida Sans"/>
                <a:sym typeface="Lucida Sans"/>
              </a:rPr>
              <a:t> </a:t>
            </a:r>
            <a:r>
              <a:rPr b="1" i="0" lang="en-US" sz="1800" u="none" cap="none" strike="noStrike">
                <a:solidFill>
                  <a:srgbClr val="000000"/>
                </a:solidFill>
                <a:latin typeface="Arial"/>
                <a:ea typeface="Arial"/>
                <a:cs typeface="Arial"/>
                <a:sym typeface="Arial"/>
              </a:rPr>
              <a:t>Resume Screening: </a:t>
            </a:r>
            <a:r>
              <a:rPr b="0" i="0" lang="en-US" sz="1800" u="none" cap="none" strike="noStrike">
                <a:solidFill>
                  <a:srgbClr val="000000"/>
                </a:solidFill>
                <a:latin typeface="Arial"/>
                <a:ea typeface="Arial"/>
                <a:cs typeface="Arial"/>
                <a:sym typeface="Arial"/>
              </a:rPr>
              <a:t>AI scans and filters resumes based on job criteria (skills, experience, keywords).</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90C225"/>
                </a:solidFill>
                <a:latin typeface="Lucida Sans"/>
                <a:ea typeface="Lucida Sans"/>
                <a:cs typeface="Lucida Sans"/>
                <a:sym typeface="Lucida Sans"/>
              </a:rPr>
              <a:t>▶</a:t>
            </a:r>
            <a:r>
              <a:rPr b="0" i="0" lang="en-US" sz="1800" u="none" cap="none" strike="noStrike">
                <a:solidFill>
                  <a:srgbClr val="90C225"/>
                </a:solidFill>
                <a:latin typeface="Lucida Sans"/>
                <a:ea typeface="Lucida Sans"/>
                <a:cs typeface="Lucida Sans"/>
                <a:sym typeface="Lucida Sans"/>
              </a:rPr>
              <a:t> </a:t>
            </a:r>
            <a:r>
              <a:rPr b="1" i="0" lang="en-US" sz="1800" u="none" cap="none" strike="noStrike">
                <a:solidFill>
                  <a:srgbClr val="000000"/>
                </a:solidFill>
                <a:latin typeface="Arial"/>
                <a:ea typeface="Arial"/>
                <a:cs typeface="Arial"/>
                <a:sym typeface="Arial"/>
              </a:rPr>
              <a:t>Chatbots: </a:t>
            </a:r>
            <a:r>
              <a:rPr b="0" i="0" lang="en-US" sz="1800" u="none" cap="none" strike="noStrike">
                <a:solidFill>
                  <a:srgbClr val="000000"/>
                </a:solidFill>
                <a:latin typeface="Arial"/>
                <a:ea typeface="Arial"/>
                <a:cs typeface="Arial"/>
                <a:sym typeface="Arial"/>
              </a:rPr>
              <a:t>Conversational AI that interacts with candidates, answers questions, and screens them.</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90C225"/>
                </a:solidFill>
                <a:latin typeface="Lucida Sans"/>
                <a:ea typeface="Lucida Sans"/>
                <a:cs typeface="Lucida Sans"/>
                <a:sym typeface="Lucida Sans"/>
              </a:rPr>
              <a:t>▶</a:t>
            </a:r>
            <a:r>
              <a:rPr b="0" i="0" lang="en-US" sz="1800" u="none" cap="none" strike="noStrike">
                <a:solidFill>
                  <a:srgbClr val="90C225"/>
                </a:solidFill>
                <a:latin typeface="Lucida Sans"/>
                <a:ea typeface="Lucida Sans"/>
                <a:cs typeface="Lucida Sans"/>
                <a:sym typeface="Lucida Sans"/>
              </a:rPr>
              <a:t> </a:t>
            </a:r>
            <a:r>
              <a:rPr b="1" i="0" lang="en-US" sz="1800" u="none" cap="none" strike="noStrike">
                <a:solidFill>
                  <a:srgbClr val="000000"/>
                </a:solidFill>
                <a:latin typeface="Arial"/>
                <a:ea typeface="Arial"/>
                <a:cs typeface="Arial"/>
                <a:sym typeface="Arial"/>
              </a:rPr>
              <a:t>Video Interview Analysis: </a:t>
            </a:r>
            <a:r>
              <a:rPr b="0" i="0" lang="en-US" sz="1800" u="none" cap="none" strike="noStrike">
                <a:solidFill>
                  <a:srgbClr val="000000"/>
                </a:solidFill>
                <a:latin typeface="Arial"/>
                <a:ea typeface="Arial"/>
                <a:cs typeface="Arial"/>
                <a:sym typeface="Arial"/>
              </a:rPr>
              <a:t>AI analyzes video interviews for tone, language, and facial expressions to assess soft skills and fit.</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90C225"/>
                </a:solidFill>
                <a:latin typeface="Lucida Sans"/>
                <a:ea typeface="Lucida Sans"/>
                <a:cs typeface="Lucida Sans"/>
                <a:sym typeface="Lucida Sans"/>
              </a:rPr>
              <a:t>▶</a:t>
            </a:r>
            <a:r>
              <a:rPr b="0" i="0" lang="en-US" sz="1800" u="none" cap="none" strike="noStrike">
                <a:solidFill>
                  <a:srgbClr val="90C225"/>
                </a:solidFill>
                <a:latin typeface="Lucida Sans"/>
                <a:ea typeface="Lucida Sans"/>
                <a:cs typeface="Lucida Sans"/>
                <a:sym typeface="Lucida Sans"/>
              </a:rPr>
              <a:t> </a:t>
            </a:r>
            <a:r>
              <a:rPr b="1" i="0" lang="en-US" sz="1800" u="none" cap="none" strike="noStrike">
                <a:solidFill>
                  <a:srgbClr val="000000"/>
                </a:solidFill>
                <a:latin typeface="Arial"/>
                <a:ea typeface="Arial"/>
                <a:cs typeface="Arial"/>
                <a:sym typeface="Arial"/>
              </a:rPr>
              <a:t>Game-based assessment: </a:t>
            </a:r>
            <a:r>
              <a:rPr b="0" i="0" lang="en-US" sz="1800" u="none" cap="none" strike="noStrike">
                <a:solidFill>
                  <a:srgbClr val="000000"/>
                </a:solidFill>
                <a:latin typeface="Arial"/>
                <a:ea typeface="Arial"/>
                <a:cs typeface="Arial"/>
                <a:sym typeface="Arial"/>
              </a:rPr>
              <a:t>Uses AI-based games to assess personality, behavior, and cultural fit.</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187960" lvl="0" marL="352425" marR="167640" rtl="0" algn="l">
              <a:lnSpc>
                <a:spcPct val="90100"/>
              </a:lnSpc>
              <a:spcBef>
                <a:spcPts val="0"/>
              </a:spcBef>
              <a:spcAft>
                <a:spcPts val="0"/>
              </a:spcAft>
              <a:buClr>
                <a:schemeClr val="dk1"/>
              </a:buClr>
              <a:buSzPts val="2400"/>
              <a:buFont typeface="Arial"/>
              <a:buNone/>
            </a:pPr>
            <a:r>
              <a:t/>
            </a:r>
            <a:endParaRPr b="0" i="0" sz="1800" u="none" cap="none" strike="noStrike">
              <a:solidFill>
                <a:schemeClr val="dk1"/>
              </a:solidFill>
              <a:latin typeface="Arial"/>
              <a:ea typeface="Arial"/>
              <a:cs typeface="Arial"/>
              <a:sym typeface="Arial"/>
            </a:endParaRPr>
          </a:p>
        </p:txBody>
      </p:sp>
      <p:sp>
        <p:nvSpPr>
          <p:cNvPr id="198" name="Google Shape;198;p19"/>
          <p:cNvSpPr txBox="1"/>
          <p:nvPr>
            <p:ph type="title"/>
          </p:nvPr>
        </p:nvSpPr>
        <p:spPr>
          <a:xfrm>
            <a:off x="231140" y="45161"/>
            <a:ext cx="6120130"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Using AI in Recruitment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688340" y="629158"/>
            <a:ext cx="4068486"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COMPENSATION</a:t>
            </a:r>
            <a:endParaRPr/>
          </a:p>
        </p:txBody>
      </p:sp>
      <p:sp>
        <p:nvSpPr>
          <p:cNvPr id="204" name="Google Shape;204;p20"/>
          <p:cNvSpPr txBox="1"/>
          <p:nvPr/>
        </p:nvSpPr>
        <p:spPr>
          <a:xfrm>
            <a:off x="688340" y="1456786"/>
            <a:ext cx="6075045" cy="5025586"/>
          </a:xfrm>
          <a:prstGeom prst="rect">
            <a:avLst/>
          </a:prstGeom>
          <a:noFill/>
          <a:ln>
            <a:noFill/>
          </a:ln>
        </p:spPr>
        <p:txBody>
          <a:bodyPr anchorCtr="0" anchor="t" bIns="0" lIns="0" spcFirstLastPara="1" rIns="0" wrap="square" tIns="112375">
            <a:spAutoFit/>
          </a:bodyPr>
          <a:lstStyle/>
          <a:p>
            <a:pPr indent="0" lvl="0" marL="12700" marR="0" rtl="0" algn="l">
              <a:lnSpc>
                <a:spcPct val="100000"/>
              </a:lnSpc>
              <a:spcBef>
                <a:spcPts val="0"/>
              </a:spcBef>
              <a:spcAft>
                <a:spcPts val="0"/>
              </a:spcAft>
              <a:buClr>
                <a:srgbClr val="000000"/>
              </a:buClr>
              <a:buSzPts val="1350"/>
              <a:buFont typeface="Arial"/>
              <a:buNone/>
            </a:pPr>
            <a:r>
              <a:rPr b="1" i="0" lang="en-US" sz="1700" u="none" cap="none" strike="noStrike">
                <a:solidFill>
                  <a:srgbClr val="404040"/>
                </a:solidFill>
                <a:latin typeface="Trebuchet MS"/>
                <a:ea typeface="Trebuchet MS"/>
                <a:cs typeface="Trebuchet MS"/>
                <a:sym typeface="Trebuchet MS"/>
              </a:rPr>
              <a:t>Compensation</a:t>
            </a:r>
            <a:r>
              <a:rPr b="0" i="0" lang="en-US" sz="1700" u="none" cap="none" strike="noStrike">
                <a:solidFill>
                  <a:srgbClr val="404040"/>
                </a:solidFill>
                <a:latin typeface="Trebuchet MS"/>
                <a:ea typeface="Trebuchet MS"/>
                <a:cs typeface="Trebuchet MS"/>
                <a:sym typeface="Trebuchet MS"/>
              </a:rPr>
              <a:t> refers to the total payment and benefits an employee receives in exchange for their work. </a:t>
            </a:r>
            <a:endParaRPr/>
          </a:p>
          <a:p>
            <a:pPr indent="0" lvl="0" marL="12700" marR="0" rtl="0" algn="l">
              <a:lnSpc>
                <a:spcPct val="100000"/>
              </a:lnSpc>
              <a:spcBef>
                <a:spcPts val="0"/>
              </a:spcBef>
              <a:spcAft>
                <a:spcPts val="0"/>
              </a:spcAft>
              <a:buClr>
                <a:srgbClr val="000000"/>
              </a:buClr>
              <a:buSzPts val="1350"/>
              <a:buFont typeface="Arial"/>
              <a:buNone/>
            </a:pPr>
            <a:r>
              <a:t/>
            </a:r>
            <a:endParaRPr b="0" i="0" sz="1700" u="none" cap="none" strike="noStrike">
              <a:solidFill>
                <a:srgbClr val="404040"/>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350"/>
              <a:buFont typeface="Arial"/>
              <a:buNone/>
            </a:pPr>
            <a:r>
              <a:rPr b="0" i="0" lang="en-US" sz="1700" u="none" cap="none" strike="noStrike">
                <a:solidFill>
                  <a:srgbClr val="404040"/>
                </a:solidFill>
                <a:latin typeface="Trebuchet MS"/>
                <a:ea typeface="Trebuchet MS"/>
                <a:cs typeface="Trebuchet MS"/>
                <a:sym typeface="Trebuchet MS"/>
              </a:rPr>
              <a:t>The objectives of compensation policy are as follows −</a:t>
            </a:r>
            <a:endParaRPr b="0" i="0" sz="17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795"/>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Attract suitable staff and keep qualified personnel.</a:t>
            </a:r>
            <a:endParaRPr b="0" i="0" sz="1700" u="none" cap="none" strike="noStrike">
              <a:solidFill>
                <a:schemeClr val="dk1"/>
              </a:solidFill>
              <a:latin typeface="Trebuchet MS"/>
              <a:ea typeface="Trebuchet MS"/>
              <a:cs typeface="Trebuchet MS"/>
              <a:sym typeface="Trebuchet MS"/>
            </a:endParaRPr>
          </a:p>
          <a:p>
            <a:pPr indent="-343535" lvl="0" marL="355600" marR="5080" rtl="0" algn="l">
              <a:lnSpc>
                <a:spcPct val="108176"/>
              </a:lnSpc>
              <a:spcBef>
                <a:spcPts val="1030"/>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Develop reward structures that are equitable with logical and fair pay relationships between differently valued jobs.</a:t>
            </a:r>
            <a:endParaRPr b="0" i="0" sz="17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760"/>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Manage pay structures to mirror inflationary effects.</a:t>
            </a:r>
            <a:endParaRPr b="0" i="0" sz="1700" u="none" cap="none" strike="noStrike">
              <a:solidFill>
                <a:schemeClr val="dk1"/>
              </a:solidFill>
              <a:latin typeface="Trebuchet MS"/>
              <a:ea typeface="Trebuchet MS"/>
              <a:cs typeface="Trebuchet MS"/>
              <a:sym typeface="Trebuchet MS"/>
            </a:endParaRPr>
          </a:p>
          <a:p>
            <a:pPr indent="-343535" lvl="0" marL="355600" marR="407034" rtl="0" algn="l">
              <a:lnSpc>
                <a:spcPct val="108176"/>
              </a:lnSpc>
              <a:spcBef>
                <a:spcPts val="1019"/>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Assure that rewards and salary costs handle changes in market rates or organizational change.</a:t>
            </a:r>
            <a:endParaRPr b="0" i="0" sz="1700" u="none" cap="none" strike="noStrike">
              <a:solidFill>
                <a:schemeClr val="dk1"/>
              </a:solidFill>
              <a:latin typeface="Trebuchet MS"/>
              <a:ea typeface="Trebuchet MS"/>
              <a:cs typeface="Trebuchet MS"/>
              <a:sym typeface="Trebuchet MS"/>
            </a:endParaRPr>
          </a:p>
          <a:p>
            <a:pPr indent="-343535" lvl="0" marL="355600" marR="210820" rtl="0" algn="l">
              <a:lnSpc>
                <a:spcPct val="108176"/>
              </a:lnSpc>
              <a:spcBef>
                <a:spcPts val="1000"/>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Appraise performance, duty, and loyalty, and provide for progression.</a:t>
            </a:r>
            <a:endParaRPr b="0" i="0" sz="17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760"/>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Abide by legal requirements.</a:t>
            </a:r>
            <a:endParaRPr b="0" i="0" sz="1700" u="none" cap="none" strike="noStrike">
              <a:solidFill>
                <a:schemeClr val="dk1"/>
              </a:solidFill>
              <a:latin typeface="Trebuchet MS"/>
              <a:ea typeface="Trebuchet MS"/>
              <a:cs typeface="Trebuchet MS"/>
              <a:sym typeface="Trebuchet MS"/>
            </a:endParaRPr>
          </a:p>
          <a:p>
            <a:pPr indent="-343535" lvl="0" marL="355600" marR="571500" rtl="0" algn="l">
              <a:lnSpc>
                <a:spcPct val="108176"/>
              </a:lnSpc>
              <a:spcBef>
                <a:spcPts val="1025"/>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Maintain compensation levels and differentials under  review and control salary or wage costs.</a:t>
            </a:r>
            <a:endParaRPr b="0" i="0" sz="17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688340" y="629158"/>
            <a:ext cx="4912995"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800"/>
              <a:t>Types of Compensations</a:t>
            </a:r>
            <a:endParaRPr sz="2800"/>
          </a:p>
        </p:txBody>
      </p:sp>
      <p:sp>
        <p:nvSpPr>
          <p:cNvPr id="210" name="Google Shape;210;p22"/>
          <p:cNvSpPr txBox="1"/>
          <p:nvPr/>
        </p:nvSpPr>
        <p:spPr>
          <a:xfrm>
            <a:off x="688340" y="1284478"/>
            <a:ext cx="6288193" cy="4891714"/>
          </a:xfrm>
          <a:prstGeom prst="rect">
            <a:avLst/>
          </a:prstGeom>
          <a:noFill/>
          <a:ln>
            <a:noFill/>
          </a:ln>
        </p:spPr>
        <p:txBody>
          <a:bodyPr anchorCtr="0" anchor="t" bIns="0" lIns="0" spcFirstLastPara="1" rIns="0" wrap="square" tIns="51425">
            <a:spAutoFit/>
          </a:bodyPr>
          <a:lstStyle/>
          <a:p>
            <a:pPr indent="-343535" lvl="0" marL="355600" marR="71120" rtl="0" algn="l">
              <a:lnSpc>
                <a:spcPct val="100000"/>
              </a:lnSpc>
              <a:spcBef>
                <a:spcPts val="0"/>
              </a:spcBef>
              <a:spcAft>
                <a:spcPts val="0"/>
              </a:spcAft>
              <a:buClr>
                <a:srgbClr val="000000"/>
              </a:buClr>
              <a:buSzPts val="1050"/>
              <a:buFont typeface="Arial"/>
              <a:buNone/>
            </a:pPr>
            <a:r>
              <a:rPr b="0" i="0" lang="en-US" sz="1300" u="none" cap="none" strike="noStrike">
                <a:solidFill>
                  <a:srgbClr val="404040"/>
                </a:solidFill>
                <a:latin typeface="Trebuchet MS"/>
                <a:ea typeface="Trebuchet MS"/>
                <a:cs typeface="Trebuchet MS"/>
                <a:sym typeface="Trebuchet MS"/>
              </a:rPr>
              <a:t>When it comes to an organization, be it private or public, compensations are  further divided into the following −</a:t>
            </a:r>
            <a:endParaRPr b="0" i="0" sz="13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685"/>
              </a:spcBef>
              <a:spcAft>
                <a:spcPts val="0"/>
              </a:spcAft>
              <a:buClr>
                <a:srgbClr val="000000"/>
              </a:buClr>
              <a:buSzPts val="1050"/>
              <a:buFont typeface="Arial"/>
              <a:buNone/>
            </a:pPr>
            <a:r>
              <a:rPr b="1" i="0" lang="en-US" sz="1400" u="none" cap="none" strike="noStrike">
                <a:solidFill>
                  <a:srgbClr val="404040"/>
                </a:solidFill>
                <a:latin typeface="Trebuchet MS"/>
                <a:ea typeface="Trebuchet MS"/>
                <a:cs typeface="Trebuchet MS"/>
                <a:sym typeface="Trebuchet MS"/>
              </a:rPr>
              <a:t>Direct Compensation</a:t>
            </a:r>
            <a:endParaRPr b="1" i="0" sz="1400" u="none" cap="none" strike="noStrike">
              <a:solidFill>
                <a:schemeClr val="dk1"/>
              </a:solidFill>
              <a:latin typeface="Trebuchet MS"/>
              <a:ea typeface="Trebuchet MS"/>
              <a:cs typeface="Trebuchet MS"/>
              <a:sym typeface="Trebuchet MS"/>
            </a:endParaRPr>
          </a:p>
          <a:p>
            <a:pPr indent="-343535" lvl="0" marL="355600" marR="97790" rtl="0" algn="just">
              <a:lnSpc>
                <a:spcPct val="100000"/>
              </a:lnSpc>
              <a:spcBef>
                <a:spcPts val="1010"/>
              </a:spcBef>
              <a:spcAft>
                <a:spcPts val="0"/>
              </a:spcAft>
              <a:buClr>
                <a:srgbClr val="000000"/>
              </a:buClr>
              <a:buSzPts val="1050"/>
              <a:buFont typeface="Arial"/>
              <a:buNone/>
            </a:pPr>
            <a:r>
              <a:rPr b="0" i="0" lang="en-US" sz="1050" u="none" cap="none" strike="noStrike">
                <a:solidFill>
                  <a:srgbClr val="90C225"/>
                </a:solidFill>
                <a:latin typeface="Lucida Sans"/>
                <a:ea typeface="Lucida Sans"/>
                <a:cs typeface="Lucida Sans"/>
                <a:sym typeface="Lucida Sans"/>
              </a:rPr>
              <a:t>▶   </a:t>
            </a:r>
            <a:r>
              <a:rPr b="0" i="0" lang="en-US" sz="1300" u="none" cap="none" strike="noStrike">
                <a:solidFill>
                  <a:srgbClr val="404040"/>
                </a:solidFill>
                <a:latin typeface="Trebuchet MS"/>
                <a:ea typeface="Trebuchet MS"/>
                <a:cs typeface="Trebuchet MS"/>
                <a:sym typeface="Trebuchet MS"/>
              </a:rPr>
              <a:t>It is naturally made up of salary payments and health benefits. The creation  of salary ranges and pay scales for different positions within an organization  are the central responsibility of compensation management staff.</a:t>
            </a:r>
            <a:endParaRPr b="0" i="0" sz="1300" u="none" cap="none" strike="noStrike">
              <a:solidFill>
                <a:schemeClr val="dk1"/>
              </a:solidFill>
              <a:latin typeface="Trebuchet MS"/>
              <a:ea typeface="Trebuchet MS"/>
              <a:cs typeface="Trebuchet MS"/>
              <a:sym typeface="Trebuchet MS"/>
            </a:endParaRPr>
          </a:p>
          <a:p>
            <a:pPr indent="-343535" lvl="0" marL="355600" marR="12065" rtl="0" algn="l">
              <a:lnSpc>
                <a:spcPct val="100000"/>
              </a:lnSpc>
              <a:spcBef>
                <a:spcPts val="985"/>
              </a:spcBef>
              <a:spcAft>
                <a:spcPts val="0"/>
              </a:spcAft>
              <a:buClr>
                <a:srgbClr val="000000"/>
              </a:buClr>
              <a:buSzPts val="1050"/>
              <a:buFont typeface="Arial"/>
              <a:buNone/>
            </a:pPr>
            <a:r>
              <a:rPr b="0" i="0" lang="en-US" sz="1050" u="none" cap="none" strike="noStrike">
                <a:solidFill>
                  <a:srgbClr val="90C225"/>
                </a:solidFill>
                <a:latin typeface="Lucida Sans"/>
                <a:ea typeface="Lucida Sans"/>
                <a:cs typeface="Lucida Sans"/>
                <a:sym typeface="Lucida Sans"/>
              </a:rPr>
              <a:t>▶	</a:t>
            </a:r>
            <a:r>
              <a:rPr b="0" i="0" lang="en-US" sz="1300" u="none" cap="none" strike="noStrike">
                <a:solidFill>
                  <a:srgbClr val="404040"/>
                </a:solidFill>
                <a:latin typeface="Trebuchet MS"/>
                <a:ea typeface="Trebuchet MS"/>
                <a:cs typeface="Trebuchet MS"/>
                <a:sym typeface="Trebuchet MS"/>
              </a:rPr>
              <a:t>Direct compensation that is in line with the industry standards facilitates  employees with the assurance that they are getting paid fairly. This helps the  employer not to worry about the costly loss of trained staff to a competitor.</a:t>
            </a:r>
            <a:endParaRPr b="0" i="0" sz="13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690"/>
              </a:spcBef>
              <a:spcAft>
                <a:spcPts val="0"/>
              </a:spcAft>
              <a:buClr>
                <a:srgbClr val="000000"/>
              </a:buClr>
              <a:buSzPts val="1050"/>
              <a:buFont typeface="Arial"/>
              <a:buNone/>
            </a:pPr>
            <a:r>
              <a:rPr b="1" i="0" lang="en-US" sz="1400" u="none" cap="none" strike="noStrike">
                <a:solidFill>
                  <a:srgbClr val="404040"/>
                </a:solidFill>
                <a:latin typeface="Trebuchet MS"/>
                <a:ea typeface="Trebuchet MS"/>
                <a:cs typeface="Trebuchet MS"/>
                <a:sym typeface="Trebuchet MS"/>
              </a:rPr>
              <a:t>Indirect Compensation</a:t>
            </a:r>
            <a:endParaRPr b="0" i="0" sz="14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695"/>
              </a:spcBef>
              <a:spcAft>
                <a:spcPts val="0"/>
              </a:spcAft>
              <a:buClr>
                <a:srgbClr val="000000"/>
              </a:buClr>
              <a:buSzPts val="1050"/>
              <a:buFont typeface="Arial"/>
              <a:buNone/>
            </a:pPr>
            <a:r>
              <a:rPr b="0" i="0" lang="en-US" sz="1050" u="none" cap="none" strike="noStrike">
                <a:solidFill>
                  <a:srgbClr val="90C225"/>
                </a:solidFill>
                <a:latin typeface="Lucida Sans"/>
                <a:ea typeface="Lucida Sans"/>
                <a:cs typeface="Lucida Sans"/>
                <a:sym typeface="Lucida Sans"/>
              </a:rPr>
              <a:t>▶    </a:t>
            </a:r>
            <a:r>
              <a:rPr b="0" i="0" lang="en-US" sz="1300" u="none" cap="none" strike="noStrike">
                <a:solidFill>
                  <a:srgbClr val="404040"/>
                </a:solidFill>
                <a:latin typeface="Trebuchet MS"/>
                <a:ea typeface="Trebuchet MS"/>
                <a:cs typeface="Trebuchet MS"/>
                <a:sym typeface="Trebuchet MS"/>
              </a:rPr>
              <a:t>It focuses on the personal encouragement of each individual to work.</a:t>
            </a:r>
            <a:endParaRPr b="0" i="0" sz="1300" u="none" cap="none" strike="noStrike">
              <a:solidFill>
                <a:schemeClr val="dk1"/>
              </a:solidFill>
              <a:latin typeface="Trebuchet MS"/>
              <a:ea typeface="Trebuchet MS"/>
              <a:cs typeface="Trebuchet MS"/>
              <a:sym typeface="Trebuchet MS"/>
            </a:endParaRPr>
          </a:p>
          <a:p>
            <a:pPr indent="0" lvl="0" marL="355600" marR="179070" rtl="0" algn="l">
              <a:lnSpc>
                <a:spcPct val="100000"/>
              </a:lnSpc>
              <a:spcBef>
                <a:spcPts val="160"/>
              </a:spcBef>
              <a:spcAft>
                <a:spcPts val="0"/>
              </a:spcAft>
              <a:buClr>
                <a:srgbClr val="000000"/>
              </a:buClr>
              <a:buSzPts val="1300"/>
              <a:buFont typeface="Arial"/>
              <a:buNone/>
            </a:pPr>
            <a:r>
              <a:rPr b="0" i="0" lang="en-US" sz="1300" u="none" cap="none" strike="noStrike">
                <a:solidFill>
                  <a:srgbClr val="404040"/>
                </a:solidFill>
                <a:latin typeface="Trebuchet MS"/>
                <a:ea typeface="Trebuchet MS"/>
                <a:cs typeface="Trebuchet MS"/>
                <a:sym typeface="Trebuchet MS"/>
              </a:rPr>
              <a:t>Although salary is essential, people are most productive in jobs where they  share the company's values and priorities.</a:t>
            </a:r>
            <a:endParaRPr b="0" i="0" sz="1300" u="none" cap="none" strike="noStrike">
              <a:solidFill>
                <a:schemeClr val="dk1"/>
              </a:solidFill>
              <a:latin typeface="Trebuchet MS"/>
              <a:ea typeface="Trebuchet MS"/>
              <a:cs typeface="Trebuchet MS"/>
              <a:sym typeface="Trebuchet MS"/>
            </a:endParaRPr>
          </a:p>
          <a:p>
            <a:pPr indent="-343535" lvl="0" marL="355600" marR="471169" rtl="0" algn="l">
              <a:lnSpc>
                <a:spcPct val="100000"/>
              </a:lnSpc>
              <a:spcBef>
                <a:spcPts val="985"/>
              </a:spcBef>
              <a:spcAft>
                <a:spcPts val="0"/>
              </a:spcAft>
              <a:buClr>
                <a:srgbClr val="000000"/>
              </a:buClr>
              <a:buSzPts val="1050"/>
              <a:buFont typeface="Arial"/>
              <a:buNone/>
            </a:pPr>
            <a:r>
              <a:rPr b="0" i="0" lang="en-US" sz="1050" u="none" cap="none" strike="noStrike">
                <a:solidFill>
                  <a:srgbClr val="90C225"/>
                </a:solidFill>
                <a:latin typeface="Lucida Sans"/>
                <a:ea typeface="Lucida Sans"/>
                <a:cs typeface="Lucida Sans"/>
                <a:sym typeface="Lucida Sans"/>
              </a:rPr>
              <a:t>▶	</a:t>
            </a:r>
            <a:r>
              <a:rPr b="0" i="0" lang="en-US" sz="1300" u="none" cap="none" strike="noStrike">
                <a:solidFill>
                  <a:srgbClr val="404040"/>
                </a:solidFill>
                <a:latin typeface="Trebuchet MS"/>
                <a:ea typeface="Trebuchet MS"/>
                <a:cs typeface="Trebuchet MS"/>
                <a:sym typeface="Trebuchet MS"/>
              </a:rPr>
              <a:t>These benefits can include things like free staff development courses,  subsidized day care, the chances for promotion or transfer within the  company, public recognition, the ability to effect change or bring some  changes in the workplace, and service to others.</a:t>
            </a:r>
            <a:endParaRPr b="0" i="0" sz="1300" u="none" cap="none" strike="noStrike">
              <a:solidFill>
                <a:schemeClr val="dk1"/>
              </a:solidFill>
              <a:latin typeface="Trebuchet MS"/>
              <a:ea typeface="Trebuchet MS"/>
              <a:cs typeface="Trebuchet MS"/>
              <a:sym typeface="Trebuchet MS"/>
            </a:endParaRPr>
          </a:p>
          <a:p>
            <a:pPr indent="-343535" lvl="0" marL="355600" marR="5080" rtl="0" algn="l">
              <a:lnSpc>
                <a:spcPct val="100000"/>
              </a:lnSpc>
              <a:spcBef>
                <a:spcPts val="994"/>
              </a:spcBef>
              <a:spcAft>
                <a:spcPts val="0"/>
              </a:spcAft>
              <a:buClr>
                <a:srgbClr val="000000"/>
              </a:buClr>
              <a:buSzPts val="1050"/>
              <a:buFont typeface="Arial"/>
              <a:buNone/>
            </a:pPr>
            <a:r>
              <a:rPr b="0" i="0" lang="en-US" sz="1050" u="none" cap="none" strike="noStrike">
                <a:solidFill>
                  <a:srgbClr val="90C225"/>
                </a:solidFill>
                <a:latin typeface="Lucida Sans"/>
                <a:ea typeface="Lucida Sans"/>
                <a:cs typeface="Lucida Sans"/>
                <a:sym typeface="Lucida Sans"/>
              </a:rPr>
              <a:t>▶	</a:t>
            </a:r>
            <a:r>
              <a:rPr b="0" i="0" lang="en-US" sz="1300" u="none" cap="none" strike="noStrike">
                <a:solidFill>
                  <a:srgbClr val="404040"/>
                </a:solidFill>
                <a:latin typeface="Trebuchet MS"/>
                <a:ea typeface="Trebuchet MS"/>
                <a:cs typeface="Trebuchet MS"/>
                <a:sym typeface="Trebuchet MS"/>
              </a:rPr>
              <a:t>These are the two types of compensation that need to be managed and have  its own contribution in the development of the organization. Moving forward,  we will see the different components of compensation.</a:t>
            </a:r>
            <a:endParaRPr b="0" i="0" sz="13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6"/>
          <p:cNvSpPr txBox="1"/>
          <p:nvPr>
            <p:ph type="title"/>
          </p:nvPr>
        </p:nvSpPr>
        <p:spPr>
          <a:xfrm>
            <a:off x="287584" y="210223"/>
            <a:ext cx="3550638" cy="56682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TYPES OF PAY</a:t>
            </a:r>
            <a:endParaRPr/>
          </a:p>
        </p:txBody>
      </p:sp>
      <p:sp>
        <p:nvSpPr>
          <p:cNvPr id="216" name="Google Shape;216;p6"/>
          <p:cNvSpPr txBox="1"/>
          <p:nvPr/>
        </p:nvSpPr>
        <p:spPr>
          <a:xfrm>
            <a:off x="404847" y="1156068"/>
            <a:ext cx="6866749" cy="3439795"/>
          </a:xfrm>
          <a:prstGeom prst="rect">
            <a:avLst/>
          </a:prstGeom>
          <a:noFill/>
          <a:ln>
            <a:noFill/>
          </a:ln>
        </p:spPr>
        <p:txBody>
          <a:bodyPr anchorCtr="0" anchor="t" bIns="0" lIns="0" spcFirstLastPara="1" rIns="0" wrap="square" tIns="165100">
            <a:spAutoFit/>
          </a:bodyPr>
          <a:lstStyle/>
          <a:p>
            <a:pPr indent="0" lvl="0" marL="12700" marR="0" rtl="0" algn="l">
              <a:lnSpc>
                <a:spcPct val="10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Salary</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20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Hourly Wage/Day Work</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20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Piecework System</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20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Commission Plans</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20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Bonus Plans-monetary &amp; cashless</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20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Profit Sharing Plans/Performance-based pay (annual)</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205"/>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Gain-Sharing Plans (annual)</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20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Stock Options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5"/>
          <p:cNvSpPr txBox="1"/>
          <p:nvPr>
            <p:ph type="title"/>
          </p:nvPr>
        </p:nvSpPr>
        <p:spPr>
          <a:xfrm>
            <a:off x="688340" y="629158"/>
            <a:ext cx="6028690"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800"/>
              <a:t>TRAINING AND DEVELOPMENT</a:t>
            </a:r>
            <a:endParaRPr sz="2800"/>
          </a:p>
        </p:txBody>
      </p:sp>
      <p:sp>
        <p:nvSpPr>
          <p:cNvPr id="222" name="Google Shape;222;p25"/>
          <p:cNvSpPr txBox="1"/>
          <p:nvPr/>
        </p:nvSpPr>
        <p:spPr>
          <a:xfrm>
            <a:off x="688340" y="1525270"/>
            <a:ext cx="7920990" cy="4349115"/>
          </a:xfrm>
          <a:prstGeom prst="rect">
            <a:avLst/>
          </a:prstGeom>
          <a:noFill/>
          <a:ln>
            <a:noFill/>
          </a:ln>
        </p:spPr>
        <p:txBody>
          <a:bodyPr anchorCtr="0" anchor="t" bIns="0" lIns="0" spcFirstLastPara="1" rIns="0" wrap="square" tIns="41900">
            <a:spAutoFit/>
          </a:bodyPr>
          <a:lstStyle/>
          <a:p>
            <a:pPr indent="-343535" lvl="0" marL="355600" marR="5080" rtl="0" algn="just">
              <a:lnSpc>
                <a:spcPct val="108176"/>
              </a:lnSpc>
              <a:spcBef>
                <a:spcPts val="0"/>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In training, the line manager again describes what he or she expects the  employee to be able to do. Then the human resource team (Staff) develops a  training program, which the line manager then (usually) administers.</a:t>
            </a:r>
            <a:endParaRPr b="0" i="0" sz="1700" u="none" cap="none" strike="noStrike">
              <a:solidFill>
                <a:schemeClr val="dk1"/>
              </a:solidFill>
              <a:latin typeface="Trebuchet MS"/>
              <a:ea typeface="Trebuchet MS"/>
              <a:cs typeface="Trebuchet MS"/>
              <a:sym typeface="Trebuchet MS"/>
            </a:endParaRPr>
          </a:p>
          <a:p>
            <a:pPr indent="0" lvl="0" marL="12700" marR="0" rtl="0" algn="just">
              <a:lnSpc>
                <a:spcPct val="114058"/>
              </a:lnSpc>
              <a:spcBef>
                <a:spcPts val="760"/>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Trebuchet MS"/>
                <a:ea typeface="Trebuchet MS"/>
                <a:cs typeface="Trebuchet MS"/>
                <a:sym typeface="Trebuchet MS"/>
              </a:rPr>
              <a:t>Again, Without cooperating each other this would difficult</a:t>
            </a:r>
            <a:endParaRPr b="0" i="0" sz="1700" u="none" cap="none" strike="noStrike">
              <a:solidFill>
                <a:schemeClr val="dk1"/>
              </a:solidFill>
              <a:latin typeface="Trebuchet MS"/>
              <a:ea typeface="Trebuchet MS"/>
              <a:cs typeface="Trebuchet MS"/>
              <a:sym typeface="Trebuchet MS"/>
            </a:endParaRPr>
          </a:p>
          <a:p>
            <a:pPr indent="-343535" lvl="0" marL="355600" marR="5715" rtl="0" algn="just">
              <a:lnSpc>
                <a:spcPct val="108176"/>
              </a:lnSpc>
              <a:spcBef>
                <a:spcPts val="125"/>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1" i="0" lang="en-US" sz="1700" u="none" cap="none" strike="noStrike">
                <a:solidFill>
                  <a:srgbClr val="404040"/>
                </a:solidFill>
                <a:latin typeface="Arial"/>
                <a:ea typeface="Arial"/>
                <a:cs typeface="Arial"/>
                <a:sym typeface="Arial"/>
              </a:rPr>
              <a:t>Training and Development -- </a:t>
            </a:r>
            <a:r>
              <a:rPr b="0" i="1" lang="en-US" sz="1700" u="none" cap="none" strike="noStrike">
                <a:solidFill>
                  <a:srgbClr val="404040"/>
                </a:solidFill>
                <a:latin typeface="Arial"/>
                <a:ea typeface="Arial"/>
                <a:cs typeface="Arial"/>
                <a:sym typeface="Arial"/>
              </a:rPr>
              <a:t>All attempts to improve productivity by  increasing an employee’s ability to perform.</a:t>
            </a:r>
            <a:endParaRPr b="0" i="0" sz="1700" u="none" cap="none" strike="noStrike">
              <a:solidFill>
                <a:schemeClr val="dk1"/>
              </a:solidFill>
              <a:latin typeface="Arial"/>
              <a:ea typeface="Arial"/>
              <a:cs typeface="Arial"/>
              <a:sym typeface="Arial"/>
            </a:endParaRPr>
          </a:p>
          <a:p>
            <a:pPr indent="0" lvl="0" marL="12700" marR="0" rtl="0" algn="just">
              <a:lnSpc>
                <a:spcPct val="100000"/>
              </a:lnSpc>
              <a:spcBef>
                <a:spcPts val="1565"/>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Arial"/>
                <a:ea typeface="Arial"/>
                <a:cs typeface="Arial"/>
                <a:sym typeface="Arial"/>
              </a:rPr>
              <a:t>Training focuses on short-term skills.</a:t>
            </a:r>
            <a:endParaRPr b="0" i="0" sz="1700" u="none" cap="none" strike="noStrike">
              <a:solidFill>
                <a:schemeClr val="dk1"/>
              </a:solidFill>
              <a:latin typeface="Arial"/>
              <a:ea typeface="Arial"/>
              <a:cs typeface="Arial"/>
              <a:sym typeface="Arial"/>
            </a:endParaRPr>
          </a:p>
          <a:p>
            <a:pPr indent="0" lvl="0" marL="12700" marR="0" rtl="0" algn="just">
              <a:lnSpc>
                <a:spcPct val="100000"/>
              </a:lnSpc>
              <a:spcBef>
                <a:spcPts val="1595"/>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0" lang="en-US" sz="1700" u="none" cap="none" strike="noStrike">
                <a:solidFill>
                  <a:srgbClr val="404040"/>
                </a:solidFill>
                <a:latin typeface="Arial"/>
                <a:ea typeface="Arial"/>
                <a:cs typeface="Arial"/>
                <a:sym typeface="Arial"/>
              </a:rPr>
              <a:t>Development focuses on long-term abilities.</a:t>
            </a:r>
            <a:endParaRPr b="0" i="0" sz="1700" u="none" cap="none" strike="noStrike">
              <a:solidFill>
                <a:schemeClr val="dk1"/>
              </a:solidFill>
              <a:latin typeface="Arial"/>
              <a:ea typeface="Arial"/>
              <a:cs typeface="Arial"/>
              <a:sym typeface="Arial"/>
            </a:endParaRPr>
          </a:p>
          <a:p>
            <a:pPr indent="0" lvl="0" marL="12700" marR="0" rtl="0" algn="just">
              <a:lnSpc>
                <a:spcPct val="100000"/>
              </a:lnSpc>
              <a:spcBef>
                <a:spcPts val="1600"/>
              </a:spcBef>
              <a:spcAft>
                <a:spcPts val="0"/>
              </a:spcAft>
              <a:buClr>
                <a:srgbClr val="000000"/>
              </a:buClr>
              <a:buSzPts val="1350"/>
              <a:buFont typeface="Arial"/>
              <a:buNone/>
            </a:pPr>
            <a:r>
              <a:rPr b="0" i="0" lang="en-US" sz="1350" u="none" cap="none" strike="noStrike">
                <a:solidFill>
                  <a:srgbClr val="90C225"/>
                </a:solidFill>
                <a:latin typeface="Lucida Sans"/>
                <a:ea typeface="Lucida Sans"/>
                <a:cs typeface="Lucida Sans"/>
                <a:sym typeface="Lucida Sans"/>
              </a:rPr>
              <a:t>▶ </a:t>
            </a:r>
            <a:r>
              <a:rPr b="0" i="1" lang="en-US" sz="1700" u="none" cap="none" strike="noStrike">
                <a:solidFill>
                  <a:srgbClr val="404040"/>
                </a:solidFill>
                <a:latin typeface="Arial"/>
                <a:ea typeface="Arial"/>
                <a:cs typeface="Arial"/>
                <a:sym typeface="Arial"/>
              </a:rPr>
              <a:t>Both include 3 steps:</a:t>
            </a:r>
            <a:endParaRPr b="0" i="0" sz="1700" u="none" cap="none" strike="noStrike">
              <a:solidFill>
                <a:schemeClr val="dk1"/>
              </a:solidFill>
              <a:latin typeface="Arial"/>
              <a:ea typeface="Arial"/>
              <a:cs typeface="Arial"/>
              <a:sym typeface="Arial"/>
            </a:endParaRPr>
          </a:p>
          <a:p>
            <a:pPr indent="-238759" lvl="0" marL="311785" marR="0" rtl="0" algn="l">
              <a:lnSpc>
                <a:spcPct val="100000"/>
              </a:lnSpc>
              <a:spcBef>
                <a:spcPts val="1595"/>
              </a:spcBef>
              <a:spcAft>
                <a:spcPts val="0"/>
              </a:spcAft>
              <a:buClr>
                <a:srgbClr val="404040"/>
              </a:buClr>
              <a:buSzPts val="1700"/>
              <a:buFont typeface="Arial"/>
              <a:buAutoNum type="romanLcParenBoth"/>
            </a:pPr>
            <a:r>
              <a:rPr b="0" i="0" lang="en-US" sz="1700" u="none" cap="none" strike="noStrike">
                <a:solidFill>
                  <a:srgbClr val="6F2F9F"/>
                </a:solidFill>
                <a:latin typeface="Arial"/>
                <a:ea typeface="Arial"/>
                <a:cs typeface="Arial"/>
                <a:sym typeface="Arial"/>
              </a:rPr>
              <a:t>Assessing organization needs and employee skills to determine training needs;</a:t>
            </a:r>
            <a:endParaRPr b="0" i="0" sz="1700" u="none" cap="none" strike="noStrike">
              <a:solidFill>
                <a:schemeClr val="dk1"/>
              </a:solidFill>
              <a:latin typeface="Arial"/>
              <a:ea typeface="Arial"/>
              <a:cs typeface="Arial"/>
              <a:sym typeface="Arial"/>
            </a:endParaRPr>
          </a:p>
          <a:p>
            <a:pPr indent="-299085" lvl="0" marL="311150" marR="0" rtl="0" algn="l">
              <a:lnSpc>
                <a:spcPct val="100000"/>
              </a:lnSpc>
              <a:spcBef>
                <a:spcPts val="1595"/>
              </a:spcBef>
              <a:spcAft>
                <a:spcPts val="0"/>
              </a:spcAft>
              <a:buClr>
                <a:srgbClr val="6F2F9F"/>
              </a:buClr>
              <a:buSzPts val="1700"/>
              <a:buFont typeface="Arial"/>
              <a:buAutoNum type="romanLcParenBoth"/>
            </a:pPr>
            <a:r>
              <a:rPr b="0" i="0" lang="en-US" sz="1700" u="none" cap="none" strike="noStrike">
                <a:solidFill>
                  <a:srgbClr val="6F2F9F"/>
                </a:solidFill>
                <a:latin typeface="Arial"/>
                <a:ea typeface="Arial"/>
                <a:cs typeface="Arial"/>
                <a:sym typeface="Arial"/>
              </a:rPr>
              <a:t>Designing training activities to meet identified needs;</a:t>
            </a:r>
            <a:endParaRPr b="0" i="0" sz="1700" u="none" cap="none" strike="noStrike">
              <a:solidFill>
                <a:schemeClr val="dk1"/>
              </a:solidFill>
              <a:latin typeface="Arial"/>
              <a:ea typeface="Arial"/>
              <a:cs typeface="Arial"/>
              <a:sym typeface="Arial"/>
            </a:endParaRPr>
          </a:p>
          <a:p>
            <a:pPr indent="-346075" lvl="0" marL="358140" marR="0" rtl="0" algn="l">
              <a:lnSpc>
                <a:spcPct val="100000"/>
              </a:lnSpc>
              <a:spcBef>
                <a:spcPts val="1600"/>
              </a:spcBef>
              <a:spcAft>
                <a:spcPts val="0"/>
              </a:spcAft>
              <a:buClr>
                <a:srgbClr val="6F2F9F"/>
              </a:buClr>
              <a:buSzPts val="1700"/>
              <a:buFont typeface="Arial"/>
              <a:buAutoNum type="romanLcParenBoth"/>
            </a:pPr>
            <a:r>
              <a:rPr b="0" i="0" lang="en-US" sz="1700" u="none" cap="none" strike="noStrike">
                <a:solidFill>
                  <a:srgbClr val="6F2F9F"/>
                </a:solidFill>
                <a:latin typeface="Arial"/>
                <a:ea typeface="Arial"/>
                <a:cs typeface="Arial"/>
                <a:sym typeface="Arial"/>
              </a:rPr>
              <a:t>Evaluating the training effectiveness.</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6"/>
          <p:cNvSpPr txBox="1"/>
          <p:nvPr>
            <p:ph type="title"/>
          </p:nvPr>
        </p:nvSpPr>
        <p:spPr>
          <a:xfrm>
            <a:off x="78739" y="171399"/>
            <a:ext cx="8098790"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TRAINING AND DEVELOPMENT METHODS</a:t>
            </a:r>
            <a:endParaRPr/>
          </a:p>
        </p:txBody>
      </p:sp>
      <p:sp>
        <p:nvSpPr>
          <p:cNvPr id="228" name="Google Shape;228;p26"/>
          <p:cNvSpPr txBox="1"/>
          <p:nvPr/>
        </p:nvSpPr>
        <p:spPr>
          <a:xfrm>
            <a:off x="665762" y="1765667"/>
            <a:ext cx="6344758" cy="259045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Orientation</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20"/>
              </a:spcBef>
              <a:spcAft>
                <a:spcPts val="0"/>
              </a:spcAft>
              <a:buClr>
                <a:srgbClr val="000000"/>
              </a:buClr>
              <a:buSzPts val="1550"/>
              <a:buFont typeface="Arial"/>
              <a:buNone/>
            </a:pPr>
            <a:r>
              <a:t/>
            </a:r>
            <a:endParaRPr b="0" i="0" sz="15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On-the-Job Training</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5"/>
              </a:spcBef>
              <a:spcAft>
                <a:spcPts val="0"/>
              </a:spcAft>
              <a:buClr>
                <a:srgbClr val="000000"/>
              </a:buClr>
              <a:buSzPts val="1550"/>
              <a:buFont typeface="Arial"/>
              <a:buNone/>
            </a:pPr>
            <a:r>
              <a:t/>
            </a:r>
            <a:endParaRPr b="0" i="0" sz="15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Apprentice Programs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20"/>
              </a:spcBef>
              <a:spcAft>
                <a:spcPts val="0"/>
              </a:spcAft>
              <a:buClr>
                <a:srgbClr val="000000"/>
              </a:buClr>
              <a:buSzPts val="1550"/>
              <a:buFont typeface="Arial"/>
              <a:buNone/>
            </a:pPr>
            <a:r>
              <a:t/>
            </a:r>
            <a:endParaRPr b="0" i="0" sz="15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Off-the-Job Training</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450"/>
              <a:buFont typeface="Arial"/>
              <a:buNone/>
            </a:pPr>
            <a:r>
              <a:t/>
            </a:r>
            <a:endParaRPr b="0" i="0" sz="15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450"/>
              <a:buFont typeface="Arial"/>
              <a:buNone/>
            </a:pPr>
            <a:r>
              <a:rPr b="0" i="0" lang="en-US" sz="1450" u="none" cap="none" strike="noStrike">
                <a:solidFill>
                  <a:srgbClr val="90C225"/>
                </a:solidFill>
                <a:latin typeface="Lucida Sans"/>
                <a:ea typeface="Lucida Sans"/>
                <a:cs typeface="Lucida Sans"/>
                <a:sym typeface="Lucida Sans"/>
              </a:rPr>
              <a:t>▶	</a:t>
            </a:r>
            <a:r>
              <a:rPr b="0" i="0" lang="en-US" sz="1800" u="none" cap="none" strike="noStrike">
                <a:solidFill>
                  <a:srgbClr val="404040"/>
                </a:solidFill>
                <a:latin typeface="Arial"/>
                <a:ea typeface="Arial"/>
                <a:cs typeface="Arial"/>
                <a:sym typeface="Arial"/>
              </a:rPr>
              <a:t>Vestibule Training</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20"/>
              </a:spcBef>
              <a:spcAft>
                <a:spcPts val="0"/>
              </a:spcAft>
              <a:buClr>
                <a:srgbClr val="000000"/>
              </a:buClr>
              <a:buSzPts val="1550"/>
              <a:buFont typeface="Arial"/>
              <a:buNone/>
            </a:pPr>
            <a:r>
              <a:t/>
            </a:r>
            <a:endParaRPr b="0" i="0" sz="155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9"/>
          <p:cNvSpPr txBox="1"/>
          <p:nvPr>
            <p:ph type="title"/>
          </p:nvPr>
        </p:nvSpPr>
        <p:spPr>
          <a:xfrm>
            <a:off x="78739" y="171399"/>
            <a:ext cx="6344758" cy="11208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Training methods to enhance employees’ digital skills</a:t>
            </a:r>
            <a:endParaRPr/>
          </a:p>
        </p:txBody>
      </p:sp>
      <p:sp>
        <p:nvSpPr>
          <p:cNvPr id="234" name="Google Shape;234;p9"/>
          <p:cNvSpPr txBox="1"/>
          <p:nvPr/>
        </p:nvSpPr>
        <p:spPr>
          <a:xfrm>
            <a:off x="293229" y="1630561"/>
            <a:ext cx="6344758" cy="361381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50"/>
              <a:buFont typeface="Arial"/>
              <a:buNone/>
            </a:pPr>
            <a:r>
              <a:rPr b="0" i="0" lang="en-US" sz="1800" u="none" cap="none" strike="noStrike">
                <a:solidFill>
                  <a:schemeClr val="dk1"/>
                </a:solidFill>
                <a:latin typeface="Arial"/>
                <a:ea typeface="Arial"/>
                <a:cs typeface="Arial"/>
                <a:sym typeface="Arial"/>
              </a:rPr>
              <a:t>Some training methods to develop and strengthen employees' digital skills within an organization-</a:t>
            </a:r>
            <a:endParaRPr/>
          </a:p>
          <a:p>
            <a:pPr indent="0" lvl="0" marL="0" marR="0" rtl="0" algn="l">
              <a:lnSpc>
                <a:spcPct val="100000"/>
              </a:lnSpc>
              <a:spcBef>
                <a:spcPts val="20"/>
              </a:spcBef>
              <a:spcAft>
                <a:spcPts val="0"/>
              </a:spcAft>
              <a:buClr>
                <a:srgbClr val="000000"/>
              </a:buClr>
              <a:buSzPts val="1550"/>
              <a:buFont typeface="Arial"/>
              <a:buNone/>
            </a:pPr>
            <a:r>
              <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450"/>
              <a:buFont typeface="Arial"/>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E-learning: </a:t>
            </a:r>
            <a:r>
              <a:rPr b="0" i="0" lang="en-US" sz="1800" u="none" cap="none" strike="noStrike">
                <a:solidFill>
                  <a:schemeClr val="dk1"/>
                </a:solidFill>
                <a:latin typeface="Arial"/>
                <a:ea typeface="Arial"/>
                <a:cs typeface="Arial"/>
                <a:sym typeface="Arial"/>
              </a:rPr>
              <a:t>Delivered via digital platforms - Flexible, cost-effective, and scalable (virtual sessions, Coursera)</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Simulations &amp; Virtual Labs: </a:t>
            </a:r>
            <a:r>
              <a:rPr b="0" i="0" lang="en-US" sz="1800" u="none" cap="none" strike="noStrike">
                <a:solidFill>
                  <a:schemeClr val="dk1"/>
                </a:solidFill>
                <a:latin typeface="Arial"/>
                <a:ea typeface="Arial"/>
                <a:cs typeface="Arial"/>
                <a:sym typeface="Arial"/>
              </a:rPr>
              <a:t>Safe, realistic environments to practice using software or tools without real-world risk.</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Workshops: </a:t>
            </a:r>
            <a:r>
              <a:rPr b="0" i="0" lang="en-US" sz="1800" u="none" cap="none" strike="noStrike">
                <a:solidFill>
                  <a:schemeClr val="dk1"/>
                </a:solidFill>
                <a:latin typeface="Arial"/>
                <a:ea typeface="Arial"/>
                <a:cs typeface="Arial"/>
                <a:sym typeface="Arial"/>
              </a:rPr>
              <a:t>Interactive sessions led by experts to learn digital tools/software (Microsoft 365, Data analysis and visualization, AI).</a:t>
            </a:r>
            <a:endParaRPr/>
          </a:p>
          <a:p>
            <a:pPr indent="0" lvl="0" marL="12700" marR="0" rtl="0" algn="l">
              <a:lnSpc>
                <a:spcPct val="100000"/>
              </a:lnSpc>
              <a:spcBef>
                <a:spcPts val="0"/>
              </a:spcBef>
              <a:spcAft>
                <a:spcPts val="0"/>
              </a:spcAft>
              <a:buClr>
                <a:srgbClr val="000000"/>
              </a:buClr>
              <a:buSzPts val="1450"/>
              <a:buFont typeface="Arial"/>
              <a:buNone/>
            </a:pPr>
            <a:r>
              <a:t/>
            </a:r>
            <a:endParaRPr b="0" i="0" sz="1800" u="none" cap="none" strike="noStrike">
              <a:solidFill>
                <a:schemeClr val="dk1"/>
              </a:solidFill>
              <a:latin typeface="Arial"/>
              <a:ea typeface="Arial"/>
              <a:cs typeface="Arial"/>
              <a:sym typeface="Arial"/>
            </a:endParaRPr>
          </a:p>
        </p:txBody>
      </p:sp>
      <p:sp>
        <p:nvSpPr>
          <p:cNvPr id="235" name="Google Shape;235;p9"/>
          <p:cNvSpPr txBox="1"/>
          <p:nvPr/>
        </p:nvSpPr>
        <p:spPr>
          <a:xfrm>
            <a:off x="2144889" y="3283578"/>
            <a:ext cx="4673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6" name="Google Shape;236;p9"/>
          <p:cNvSpPr txBox="1"/>
          <p:nvPr/>
        </p:nvSpPr>
        <p:spPr>
          <a:xfrm>
            <a:off x="2144889" y="3283578"/>
            <a:ext cx="4673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0"/>
          <p:cNvSpPr txBox="1"/>
          <p:nvPr/>
        </p:nvSpPr>
        <p:spPr>
          <a:xfrm>
            <a:off x="383540" y="799591"/>
            <a:ext cx="7578725" cy="4741545"/>
          </a:xfrm>
          <a:prstGeom prst="rect">
            <a:avLst/>
          </a:prstGeom>
          <a:noFill/>
          <a:ln>
            <a:noFill/>
          </a:ln>
        </p:spPr>
        <p:txBody>
          <a:bodyPr anchorCtr="0" anchor="t" bIns="0" lIns="0" spcFirstLastPara="1" rIns="0" wrap="square" tIns="58400">
            <a:spAutoFit/>
          </a:bodyPr>
          <a:lstStyle/>
          <a:p>
            <a:pPr indent="-342900" lvl="0" marL="355600" marR="194310" rtl="0" algn="l">
              <a:lnSpc>
                <a:spcPct val="80000"/>
              </a:lnSpc>
              <a:spcBef>
                <a:spcPts val="0"/>
              </a:spcBef>
              <a:spcAft>
                <a:spcPts val="0"/>
              </a:spcAft>
              <a:buClr>
                <a:srgbClr val="000000"/>
              </a:buClr>
              <a:buSzPts val="1200"/>
              <a:buFont typeface="Arial"/>
              <a:buNone/>
            </a:pPr>
            <a:r>
              <a:rPr b="0" i="0" lang="en-US" sz="1200" u="none" cap="none" strike="noStrike">
                <a:solidFill>
                  <a:srgbClr val="90C225"/>
                </a:solidFill>
                <a:latin typeface="Lucida Sans"/>
                <a:ea typeface="Lucida Sans"/>
                <a:cs typeface="Lucida Sans"/>
                <a:sym typeface="Lucida Sans"/>
              </a:rPr>
              <a:t>▶	</a:t>
            </a:r>
            <a:r>
              <a:rPr b="1" i="0" lang="en-US" sz="1500" u="none" cap="none" strike="noStrike">
                <a:solidFill>
                  <a:srgbClr val="404040"/>
                </a:solidFill>
                <a:latin typeface="Arial"/>
                <a:ea typeface="Arial"/>
                <a:cs typeface="Arial"/>
                <a:sym typeface="Arial"/>
              </a:rPr>
              <a:t>Management Development -- </a:t>
            </a:r>
            <a:r>
              <a:rPr b="0" i="1" lang="en-US" sz="1500" u="none" cap="none" strike="noStrike">
                <a:solidFill>
                  <a:srgbClr val="404040"/>
                </a:solidFill>
                <a:latin typeface="Arial"/>
                <a:ea typeface="Arial"/>
                <a:cs typeface="Arial"/>
                <a:sym typeface="Arial"/>
              </a:rPr>
              <a:t>The process of training and educating employees to  become good managers and tracking the progress of their skills over time.</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25"/>
              </a:spcBef>
              <a:spcAft>
                <a:spcPts val="0"/>
              </a:spcAft>
              <a:buClr>
                <a:srgbClr val="000000"/>
              </a:buClr>
              <a:buSzPts val="1750"/>
              <a:buFont typeface="Arial"/>
              <a:buNone/>
            </a:pPr>
            <a:r>
              <a:t/>
            </a:r>
            <a:endParaRPr b="0" i="0" sz="17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90C225"/>
                </a:solidFill>
                <a:latin typeface="Lucida Sans"/>
                <a:ea typeface="Lucida Sans"/>
                <a:cs typeface="Lucida Sans"/>
                <a:sym typeface="Lucida Sans"/>
              </a:rPr>
              <a:t>▶	</a:t>
            </a:r>
            <a:r>
              <a:rPr b="0" i="1" lang="en-US" sz="1500" u="none" cap="none" strike="noStrike">
                <a:solidFill>
                  <a:srgbClr val="404040"/>
                </a:solidFill>
                <a:latin typeface="Arial"/>
                <a:ea typeface="Arial"/>
                <a:cs typeface="Arial"/>
                <a:sym typeface="Arial"/>
              </a:rPr>
              <a:t>Management training includes:</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1750"/>
              <a:buFont typeface="Arial"/>
              <a:buNone/>
            </a:pPr>
            <a:r>
              <a:t/>
            </a:r>
            <a:endParaRPr b="0" i="0" sz="1750" u="none" cap="none" strike="noStrike">
              <a:solidFill>
                <a:schemeClr val="dk1"/>
              </a:solidFill>
              <a:latin typeface="Arial"/>
              <a:ea typeface="Arial"/>
              <a:cs typeface="Arial"/>
              <a:sym typeface="Arial"/>
            </a:endParaRPr>
          </a:p>
          <a:p>
            <a:pPr indent="-287019" lvl="0" marL="756285" marR="0" rtl="0" algn="l">
              <a:lnSpc>
                <a:spcPct val="100000"/>
              </a:lnSpc>
              <a:spcBef>
                <a:spcPts val="0"/>
              </a:spcBef>
              <a:spcAft>
                <a:spcPts val="0"/>
              </a:spcAft>
              <a:buClr>
                <a:srgbClr val="90C225"/>
              </a:buClr>
              <a:buSzPts val="1200"/>
              <a:buFont typeface="Quattrocento Sans"/>
              <a:buChar char="-"/>
            </a:pPr>
            <a:r>
              <a:rPr b="0" i="1" lang="en-US" sz="1500" u="none" cap="none" strike="noStrike">
                <a:solidFill>
                  <a:srgbClr val="404040"/>
                </a:solidFill>
                <a:latin typeface="Arial"/>
                <a:ea typeface="Arial"/>
                <a:cs typeface="Arial"/>
                <a:sym typeface="Arial"/>
              </a:rPr>
              <a:t>On-the-job coaching</a:t>
            </a:r>
            <a:endParaRPr b="0" i="0" sz="1500" u="none" cap="none" strike="noStrike">
              <a:solidFill>
                <a:schemeClr val="dk1"/>
              </a:solidFill>
              <a:latin typeface="Arial"/>
              <a:ea typeface="Arial"/>
              <a:cs typeface="Arial"/>
              <a:sym typeface="Arial"/>
            </a:endParaRPr>
          </a:p>
          <a:p>
            <a:pPr indent="-287019" lvl="0" marL="756285" marR="0" rtl="0" algn="l">
              <a:lnSpc>
                <a:spcPct val="100000"/>
              </a:lnSpc>
              <a:spcBef>
                <a:spcPts val="840"/>
              </a:spcBef>
              <a:spcAft>
                <a:spcPts val="0"/>
              </a:spcAft>
              <a:buClr>
                <a:srgbClr val="90C225"/>
              </a:buClr>
              <a:buSzPts val="1200"/>
              <a:buFont typeface="Quattrocento Sans"/>
              <a:buChar char="-"/>
            </a:pPr>
            <a:r>
              <a:rPr b="0" i="1" lang="en-US" sz="1500" u="none" cap="none" strike="noStrike">
                <a:solidFill>
                  <a:srgbClr val="404040"/>
                </a:solidFill>
                <a:latin typeface="Arial"/>
                <a:ea typeface="Arial"/>
                <a:cs typeface="Arial"/>
                <a:sym typeface="Arial"/>
              </a:rPr>
              <a:t>Understudy positions</a:t>
            </a:r>
            <a:endParaRPr b="0" i="0" sz="1500" u="none" cap="none" strike="noStrike">
              <a:solidFill>
                <a:schemeClr val="dk1"/>
              </a:solidFill>
              <a:latin typeface="Arial"/>
              <a:ea typeface="Arial"/>
              <a:cs typeface="Arial"/>
              <a:sym typeface="Arial"/>
            </a:endParaRPr>
          </a:p>
          <a:p>
            <a:pPr indent="-287019" lvl="0" marL="756285" marR="0" rtl="0" algn="l">
              <a:lnSpc>
                <a:spcPct val="100000"/>
              </a:lnSpc>
              <a:spcBef>
                <a:spcPts val="840"/>
              </a:spcBef>
              <a:spcAft>
                <a:spcPts val="0"/>
              </a:spcAft>
              <a:buClr>
                <a:srgbClr val="90C225"/>
              </a:buClr>
              <a:buSzPts val="1200"/>
              <a:buFont typeface="Quattrocento Sans"/>
              <a:buChar char="-"/>
            </a:pPr>
            <a:r>
              <a:rPr b="0" i="1" lang="en-US" sz="1500" u="none" cap="none" strike="noStrike">
                <a:solidFill>
                  <a:srgbClr val="404040"/>
                </a:solidFill>
                <a:latin typeface="Arial"/>
                <a:ea typeface="Arial"/>
                <a:cs typeface="Arial"/>
                <a:sym typeface="Arial"/>
              </a:rPr>
              <a:t>Job rotation</a:t>
            </a:r>
            <a:endParaRPr b="0" i="0" sz="1500" u="none" cap="none" strike="noStrike">
              <a:solidFill>
                <a:schemeClr val="dk1"/>
              </a:solidFill>
              <a:latin typeface="Arial"/>
              <a:ea typeface="Arial"/>
              <a:cs typeface="Arial"/>
              <a:sym typeface="Arial"/>
            </a:endParaRPr>
          </a:p>
          <a:p>
            <a:pPr indent="-287019" lvl="0" marL="756285" marR="0" rtl="0" algn="l">
              <a:lnSpc>
                <a:spcPct val="100000"/>
              </a:lnSpc>
              <a:spcBef>
                <a:spcPts val="840"/>
              </a:spcBef>
              <a:spcAft>
                <a:spcPts val="0"/>
              </a:spcAft>
              <a:buClr>
                <a:srgbClr val="90C225"/>
              </a:buClr>
              <a:buSzPts val="1200"/>
              <a:buFont typeface="Quattrocento Sans"/>
              <a:buChar char="-"/>
            </a:pPr>
            <a:r>
              <a:rPr b="0" i="1" lang="en-US" sz="1500" u="none" cap="none" strike="noStrike">
                <a:solidFill>
                  <a:srgbClr val="404040"/>
                </a:solidFill>
                <a:latin typeface="Arial"/>
                <a:ea typeface="Arial"/>
                <a:cs typeface="Arial"/>
                <a:sym typeface="Arial"/>
              </a:rPr>
              <a:t>Off-the-job courses and training</a:t>
            </a:r>
            <a:endParaRPr b="0" i="0" sz="1500" u="none" cap="none" strike="noStrike">
              <a:solidFill>
                <a:schemeClr val="dk1"/>
              </a:solidFill>
              <a:latin typeface="Arial"/>
              <a:ea typeface="Arial"/>
              <a:cs typeface="Arial"/>
              <a:sym typeface="Arial"/>
            </a:endParaRPr>
          </a:p>
          <a:p>
            <a:pPr indent="-342900" lvl="0" marL="355600" marR="375285" rtl="0" algn="l">
              <a:lnSpc>
                <a:spcPct val="96250"/>
              </a:lnSpc>
              <a:spcBef>
                <a:spcPts val="1185"/>
              </a:spcBef>
              <a:spcAft>
                <a:spcPts val="0"/>
              </a:spcAft>
              <a:buClr>
                <a:srgbClr val="000000"/>
              </a:buClr>
              <a:buSzPts val="1250"/>
              <a:buFont typeface="Arial"/>
              <a:buNone/>
            </a:pPr>
            <a:r>
              <a:rPr b="0" i="0" lang="en-US" sz="1250" u="none" cap="none" strike="noStrike">
                <a:solidFill>
                  <a:srgbClr val="90C225"/>
                </a:solidFill>
                <a:latin typeface="Lucida Sans"/>
                <a:ea typeface="Lucida Sans"/>
                <a:cs typeface="Lucida Sans"/>
                <a:sym typeface="Lucida Sans"/>
              </a:rPr>
              <a:t>▶	</a:t>
            </a:r>
            <a:r>
              <a:rPr b="1" i="0" lang="en-US" sz="1600" u="none" cap="none" strike="noStrike">
                <a:solidFill>
                  <a:srgbClr val="404040"/>
                </a:solidFill>
                <a:latin typeface="Arial"/>
                <a:ea typeface="Arial"/>
                <a:cs typeface="Arial"/>
                <a:sym typeface="Arial"/>
              </a:rPr>
              <a:t>Networking –</a:t>
            </a:r>
            <a:r>
              <a:rPr b="0" i="1" lang="en-US" sz="1600" u="none" cap="none" strike="noStrike">
                <a:solidFill>
                  <a:srgbClr val="404040"/>
                </a:solidFill>
                <a:latin typeface="Arial"/>
                <a:ea typeface="Arial"/>
                <a:cs typeface="Arial"/>
                <a:sym typeface="Arial"/>
              </a:rPr>
              <a:t>The process of establishing and maintaining contacts with key  managers in &amp; outside the organization and using those contacts to weave  strong relationships that serve as informal development systems.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2050"/>
              <a:buFont typeface="Arial"/>
              <a:buNone/>
            </a:pPr>
            <a:r>
              <a:t/>
            </a:r>
            <a:endParaRPr b="0" i="0" sz="2050" u="none" cap="none" strike="noStrike">
              <a:solidFill>
                <a:schemeClr val="dk1"/>
              </a:solidFill>
              <a:latin typeface="Arial"/>
              <a:ea typeface="Arial"/>
              <a:cs typeface="Arial"/>
              <a:sym typeface="Arial"/>
            </a:endParaRPr>
          </a:p>
          <a:p>
            <a:pPr indent="-342900" lvl="0" marL="355600" marR="5080" rtl="0" algn="l">
              <a:lnSpc>
                <a:spcPct val="96250"/>
              </a:lnSpc>
              <a:spcBef>
                <a:spcPts val="0"/>
              </a:spcBef>
              <a:spcAft>
                <a:spcPts val="0"/>
              </a:spcAft>
              <a:buClr>
                <a:srgbClr val="000000"/>
              </a:buClr>
              <a:buSzPts val="1250"/>
              <a:buFont typeface="Arial"/>
              <a:buNone/>
            </a:pPr>
            <a:r>
              <a:rPr b="0" i="0" lang="en-US" sz="1250" u="none" cap="none" strike="noStrike">
                <a:solidFill>
                  <a:srgbClr val="90C225"/>
                </a:solidFill>
                <a:latin typeface="Lucida Sans"/>
                <a:ea typeface="Lucida Sans"/>
                <a:cs typeface="Lucida Sans"/>
                <a:sym typeface="Lucida Sans"/>
              </a:rPr>
              <a:t>▶	</a:t>
            </a:r>
            <a:r>
              <a:rPr b="1" i="0" lang="en-US" sz="1600" u="none" cap="none" strike="noStrike">
                <a:solidFill>
                  <a:srgbClr val="404040"/>
                </a:solidFill>
                <a:latin typeface="Arial"/>
                <a:ea typeface="Arial"/>
                <a:cs typeface="Arial"/>
                <a:sym typeface="Arial"/>
              </a:rPr>
              <a:t>Mentor—</a:t>
            </a:r>
            <a:r>
              <a:rPr b="0" i="1" lang="en-US" sz="1600" u="none" cap="none" strike="noStrike">
                <a:solidFill>
                  <a:srgbClr val="404040"/>
                </a:solidFill>
                <a:latin typeface="Arial"/>
                <a:ea typeface="Arial"/>
                <a:cs typeface="Arial"/>
                <a:sym typeface="Arial"/>
              </a:rPr>
              <a:t>An experienced employee who supervises, coaches and guides lower-  level employees by introducing them to the right people and generally being  their organizational sponsor.</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2050"/>
              <a:buFont typeface="Arial"/>
              <a:buNone/>
            </a:pPr>
            <a:r>
              <a:t/>
            </a:r>
            <a:endParaRPr b="0" i="0" sz="2050" u="none" cap="none" strike="noStrike">
              <a:solidFill>
                <a:schemeClr val="dk1"/>
              </a:solidFill>
              <a:latin typeface="Arial"/>
              <a:ea typeface="Arial"/>
              <a:cs typeface="Arial"/>
              <a:sym typeface="Arial"/>
            </a:endParaRPr>
          </a:p>
          <a:p>
            <a:pPr indent="-342900" lvl="0" marL="355600" marR="306705" rtl="0" algn="l">
              <a:lnSpc>
                <a:spcPct val="96250"/>
              </a:lnSpc>
              <a:spcBef>
                <a:spcPts val="0"/>
              </a:spcBef>
              <a:spcAft>
                <a:spcPts val="0"/>
              </a:spcAft>
              <a:buClr>
                <a:srgbClr val="000000"/>
              </a:buClr>
              <a:buSzPts val="1250"/>
              <a:buFont typeface="Arial"/>
              <a:buNone/>
            </a:pPr>
            <a:r>
              <a:rPr b="0" i="0" lang="en-US" sz="1250" u="none" cap="none" strike="noStrike">
                <a:solidFill>
                  <a:srgbClr val="90C225"/>
                </a:solidFill>
                <a:latin typeface="Lucida Sans"/>
                <a:ea typeface="Lucida Sans"/>
                <a:cs typeface="Lucida Sans"/>
                <a:sym typeface="Lucida Sans"/>
              </a:rPr>
              <a:t>▶	</a:t>
            </a:r>
            <a:r>
              <a:rPr b="1" i="0" lang="en-US" sz="1600" u="none" cap="none" strike="noStrike">
                <a:solidFill>
                  <a:srgbClr val="404040"/>
                </a:solidFill>
                <a:latin typeface="Arial"/>
                <a:ea typeface="Arial"/>
                <a:cs typeface="Arial"/>
                <a:sym typeface="Arial"/>
              </a:rPr>
              <a:t>Diversity-- </a:t>
            </a:r>
            <a:r>
              <a:rPr b="0" i="0" lang="en-US" sz="1600" u="none" cap="none" strike="noStrike">
                <a:solidFill>
                  <a:srgbClr val="404040"/>
                </a:solidFill>
                <a:latin typeface="Arial"/>
                <a:ea typeface="Arial"/>
                <a:cs typeface="Arial"/>
                <a:sym typeface="Arial"/>
              </a:rPr>
              <a:t>Emphasizes on grooming women and minorities for management  positions.</a:t>
            </a:r>
            <a:endParaRPr b="0" i="0" sz="1600" u="none" cap="none" strike="noStrike">
              <a:solidFill>
                <a:schemeClr val="dk1"/>
              </a:solidFill>
              <a:latin typeface="Arial"/>
              <a:ea typeface="Arial"/>
              <a:cs typeface="Arial"/>
              <a:sym typeface="Arial"/>
            </a:endParaRPr>
          </a:p>
        </p:txBody>
      </p:sp>
      <p:sp>
        <p:nvSpPr>
          <p:cNvPr id="243" name="Google Shape;243;p10"/>
          <p:cNvSpPr txBox="1"/>
          <p:nvPr>
            <p:ph type="title"/>
          </p:nvPr>
        </p:nvSpPr>
        <p:spPr>
          <a:xfrm>
            <a:off x="78739" y="65912"/>
            <a:ext cx="667258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b="1" lang="en-US" sz="2800">
                <a:solidFill>
                  <a:srgbClr val="92D050"/>
                </a:solidFill>
                <a:latin typeface="Arial"/>
                <a:ea typeface="Arial"/>
                <a:cs typeface="Arial"/>
                <a:sym typeface="Arial"/>
              </a:rPr>
              <a:t>DEVELOPING EFFECTIVE	MANAGERS</a:t>
            </a:r>
            <a:endParaRPr sz="2800">
              <a:solidFill>
                <a:srgbClr val="92D05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8"/>
          <p:cNvSpPr txBox="1"/>
          <p:nvPr>
            <p:ph type="title"/>
          </p:nvPr>
        </p:nvSpPr>
        <p:spPr>
          <a:xfrm>
            <a:off x="78739" y="18999"/>
            <a:ext cx="5285740"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PERFORMANCE APPRAISAL</a:t>
            </a:r>
            <a:endParaRPr/>
          </a:p>
        </p:txBody>
      </p:sp>
      <p:sp>
        <p:nvSpPr>
          <p:cNvPr id="249" name="Google Shape;249;p28"/>
          <p:cNvSpPr txBox="1"/>
          <p:nvPr>
            <p:ph idx="1" type="body"/>
          </p:nvPr>
        </p:nvSpPr>
        <p:spPr>
          <a:xfrm>
            <a:off x="612140" y="1706321"/>
            <a:ext cx="7919719" cy="2901315"/>
          </a:xfrm>
          <a:prstGeom prst="rect">
            <a:avLst/>
          </a:prstGeom>
          <a:noFill/>
          <a:ln>
            <a:noFill/>
          </a:ln>
        </p:spPr>
        <p:txBody>
          <a:bodyPr anchorCtr="0" anchor="t" bIns="0" lIns="0" spcFirstLastPara="1" rIns="0" wrap="square" tIns="83175">
            <a:spAutoFit/>
          </a:bodyPr>
          <a:lstStyle/>
          <a:p>
            <a:pPr indent="0" lvl="0" marL="12700" marR="5080" rtl="0" algn="l">
              <a:lnSpc>
                <a:spcPct val="80000"/>
              </a:lnSpc>
              <a:spcBef>
                <a:spcPts val="0"/>
              </a:spcBef>
              <a:spcAft>
                <a:spcPts val="0"/>
              </a:spcAft>
              <a:buSzPts val="1400"/>
              <a:buNone/>
            </a:pPr>
            <a:r>
              <a:rPr b="1" i="1" lang="en-US">
                <a:latin typeface="Arial"/>
                <a:ea typeface="Arial"/>
                <a:cs typeface="Arial"/>
                <a:sym typeface="Arial"/>
              </a:rPr>
              <a:t>PERFORMANCE APPRAISAL </a:t>
            </a:r>
            <a:r>
              <a:rPr lang="en-US"/>
              <a:t>is an evaluation in which the  performance level of employees is measured against  established standards to make decisions about promotions,  compensation, additional training, or firing.</a:t>
            </a:r>
            <a:endParaRPr/>
          </a:p>
          <a:p>
            <a:pPr indent="0" lvl="0" marL="12700" marR="1042035" rtl="0" algn="l">
              <a:lnSpc>
                <a:spcPct val="80000"/>
              </a:lnSpc>
              <a:spcBef>
                <a:spcPts val="0"/>
              </a:spcBef>
              <a:spcAft>
                <a:spcPts val="0"/>
              </a:spcAft>
              <a:buSzPts val="1400"/>
              <a:buNone/>
            </a:pPr>
            <a:r>
              <a:rPr lang="en-US"/>
              <a:t>Almost all workers undergo a performance appraisal  annually at large corporations.</a:t>
            </a:r>
            <a:endParaRPr/>
          </a:p>
          <a:p>
            <a:pPr indent="0" lvl="0" marL="12700" marR="493394" rtl="0" algn="l">
              <a:lnSpc>
                <a:spcPct val="96086"/>
              </a:lnSpc>
              <a:spcBef>
                <a:spcPts val="2190"/>
              </a:spcBef>
              <a:spcAft>
                <a:spcPts val="0"/>
              </a:spcAft>
              <a:buSzPts val="1400"/>
              <a:buNone/>
            </a:pPr>
            <a:r>
              <a:rPr i="1" lang="en-US">
                <a:latin typeface="Arial"/>
                <a:ea typeface="Arial"/>
                <a:cs typeface="Arial"/>
                <a:sym typeface="Arial"/>
              </a:rPr>
              <a:t>In the 360-degree review, management gathers opinions  from all around the employees in order to get a  comprehensive idea of the worker’s abilities.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type="title"/>
          </p:nvPr>
        </p:nvSpPr>
        <p:spPr>
          <a:xfrm>
            <a:off x="231140" y="130302"/>
            <a:ext cx="6400165" cy="874598"/>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800"/>
              <a:t>ETHICAL HRM – 6 guidelines for HR Teams</a:t>
            </a:r>
            <a:endParaRPr sz="2800"/>
          </a:p>
        </p:txBody>
      </p:sp>
      <p:sp>
        <p:nvSpPr>
          <p:cNvPr id="255" name="Google Shape;255;p30"/>
          <p:cNvSpPr txBox="1"/>
          <p:nvPr/>
        </p:nvSpPr>
        <p:spPr>
          <a:xfrm>
            <a:off x="541866" y="1168717"/>
            <a:ext cx="6400165" cy="4551872"/>
          </a:xfrm>
          <a:prstGeom prst="rect">
            <a:avLst/>
          </a:prstGeom>
          <a:noFill/>
          <a:ln>
            <a:noFill/>
          </a:ln>
        </p:spPr>
        <p:txBody>
          <a:bodyPr anchorCtr="0" anchor="t" bIns="0" lIns="0" spcFirstLastPara="1" rIns="0" wrap="square" tIns="139050">
            <a:spAutoFit/>
          </a:bodyPr>
          <a:lstStyle/>
          <a:p>
            <a:pPr indent="0" lvl="0" marL="12700" marR="0" rtl="0" algn="l">
              <a:lnSpc>
                <a:spcPct val="100000"/>
              </a:lnSpc>
              <a:spcBef>
                <a:spcPts val="0"/>
              </a:spcBef>
              <a:spcAft>
                <a:spcPts val="0"/>
              </a:spcAft>
              <a:buClr>
                <a:srgbClr val="000000"/>
              </a:buClr>
              <a:buSzPts val="1450"/>
              <a:buFont typeface="Arial"/>
              <a:buNone/>
            </a:pPr>
            <a:r>
              <a:rPr b="1" i="0" lang="en-US" sz="1800" u="none" cap="none" strike="noStrike">
                <a:solidFill>
                  <a:srgbClr val="404040"/>
                </a:solidFill>
                <a:latin typeface="Trebuchet MS"/>
                <a:ea typeface="Trebuchet MS"/>
                <a:cs typeface="Trebuchet MS"/>
                <a:sym typeface="Trebuchet MS"/>
              </a:rPr>
              <a:t>1) Know the laws</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1" i="0" lang="en-US" sz="1800" u="none" cap="none" strike="noStrike">
                <a:solidFill>
                  <a:srgbClr val="404040"/>
                </a:solidFill>
                <a:latin typeface="Trebuchet MS"/>
                <a:ea typeface="Trebuchet MS"/>
                <a:cs typeface="Trebuchet MS"/>
                <a:sym typeface="Trebuchet MS"/>
              </a:rPr>
              <a:t>2</a:t>
            </a:r>
            <a:r>
              <a:rPr b="0" i="0" lang="en-US" sz="1800" u="none" cap="none" strike="noStrike">
                <a:solidFill>
                  <a:srgbClr val="404040"/>
                </a:solidFill>
                <a:latin typeface="Trebuchet MS"/>
                <a:ea typeface="Trebuchet MS"/>
                <a:cs typeface="Trebuchet MS"/>
                <a:sym typeface="Trebuchet MS"/>
              </a:rPr>
              <a:t>) </a:t>
            </a:r>
            <a:r>
              <a:rPr b="1" i="0" lang="en-US" sz="1800" u="none" cap="none" strike="noStrike">
                <a:solidFill>
                  <a:srgbClr val="404040"/>
                </a:solidFill>
                <a:latin typeface="Trebuchet MS"/>
                <a:ea typeface="Trebuchet MS"/>
                <a:cs typeface="Trebuchet MS"/>
                <a:sym typeface="Trebuchet MS"/>
              </a:rPr>
              <a:t>Prioritize professional development</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1" i="0" lang="en-US" sz="1800" u="none" cap="none" strike="noStrike">
                <a:solidFill>
                  <a:srgbClr val="404040"/>
                </a:solidFill>
                <a:latin typeface="Trebuchet MS"/>
                <a:ea typeface="Trebuchet MS"/>
                <a:cs typeface="Trebuchet MS"/>
                <a:sym typeface="Trebuchet MS"/>
              </a:rPr>
              <a:t>3) Be an ethical HR leader</a:t>
            </a:r>
            <a:endParaRPr b="0" i="0" sz="1800" u="none" cap="none" strike="noStrike">
              <a:solidFill>
                <a:schemeClr val="dk1"/>
              </a:solidFill>
              <a:latin typeface="Trebuchet MS"/>
              <a:ea typeface="Trebuchet MS"/>
              <a:cs typeface="Trebuchet MS"/>
              <a:sym typeface="Trebuchet MS"/>
            </a:endParaRPr>
          </a:p>
          <a:p>
            <a:pPr indent="0" lvl="0" marL="469900" marR="0" rtl="0" algn="l">
              <a:lnSpc>
                <a:spcPct val="100000"/>
              </a:lnSpc>
              <a:spcBef>
                <a:spcPts val="1005"/>
              </a:spcBef>
              <a:spcAft>
                <a:spcPts val="0"/>
              </a:spcAft>
              <a:buClr>
                <a:srgbClr val="000000"/>
              </a:buClr>
              <a:buSzPts val="1250"/>
              <a:buFont typeface="Arial"/>
              <a:buNone/>
            </a:pPr>
            <a:r>
              <a:rPr b="0" i="0" lang="en-US" sz="1250" u="none" cap="none" strike="noStrike">
                <a:solidFill>
                  <a:srgbClr val="90C225"/>
                </a:solidFill>
                <a:latin typeface="Lucida Sans"/>
                <a:ea typeface="Lucida Sans"/>
                <a:cs typeface="Lucida Sans"/>
                <a:sym typeface="Lucida Sans"/>
              </a:rPr>
              <a:t>▶ </a:t>
            </a:r>
            <a:r>
              <a:rPr b="0" i="0" lang="en-US" sz="1600" u="none" cap="none" strike="noStrike">
                <a:solidFill>
                  <a:srgbClr val="404040"/>
                </a:solidFill>
                <a:latin typeface="Trebuchet MS"/>
                <a:ea typeface="Trebuchet MS"/>
                <a:cs typeface="Trebuchet MS"/>
                <a:sym typeface="Trebuchet MS"/>
              </a:rPr>
              <a:t>Commitment: “The desire to do the right thing regardless of the</a:t>
            </a:r>
            <a:r>
              <a:rPr b="0" i="0" lang="en-US" sz="1600" u="none" cap="none" strike="noStrike">
                <a:solidFill>
                  <a:schemeClr val="dk1"/>
                </a:solidFill>
                <a:latin typeface="Trebuchet MS"/>
                <a:ea typeface="Trebuchet MS"/>
                <a:cs typeface="Trebuchet MS"/>
                <a:sym typeface="Trebuchet MS"/>
              </a:rPr>
              <a:t> </a:t>
            </a:r>
            <a:r>
              <a:rPr b="0" i="0" lang="en-US" sz="1600" u="none" cap="none" strike="noStrike">
                <a:solidFill>
                  <a:srgbClr val="404040"/>
                </a:solidFill>
                <a:latin typeface="Trebuchet MS"/>
                <a:ea typeface="Trebuchet MS"/>
                <a:cs typeface="Trebuchet MS"/>
                <a:sym typeface="Trebuchet MS"/>
              </a:rPr>
              <a:t>cost.”</a:t>
            </a:r>
            <a:endParaRPr b="0" i="0" sz="1600" u="none" cap="none" strike="noStrike">
              <a:solidFill>
                <a:schemeClr val="dk1"/>
              </a:solidFill>
              <a:latin typeface="Trebuchet MS"/>
              <a:ea typeface="Trebuchet MS"/>
              <a:cs typeface="Trebuchet MS"/>
              <a:sym typeface="Trebuchet MS"/>
            </a:endParaRPr>
          </a:p>
          <a:p>
            <a:pPr indent="0" lvl="0" marL="469900" marR="0" rtl="0" algn="l">
              <a:lnSpc>
                <a:spcPct val="100000"/>
              </a:lnSpc>
              <a:spcBef>
                <a:spcPts val="1005"/>
              </a:spcBef>
              <a:spcAft>
                <a:spcPts val="0"/>
              </a:spcAft>
              <a:buClr>
                <a:srgbClr val="000000"/>
              </a:buClr>
              <a:buSzPts val="1250"/>
              <a:buFont typeface="Arial"/>
              <a:buNone/>
            </a:pPr>
            <a:r>
              <a:rPr b="0" i="0" lang="en-US" sz="1250" u="none" cap="none" strike="noStrike">
                <a:solidFill>
                  <a:srgbClr val="90C225"/>
                </a:solidFill>
                <a:latin typeface="Lucida Sans"/>
                <a:ea typeface="Lucida Sans"/>
                <a:cs typeface="Lucida Sans"/>
                <a:sym typeface="Lucida Sans"/>
              </a:rPr>
              <a:t>▶ </a:t>
            </a:r>
            <a:r>
              <a:rPr b="0" i="0" lang="en-US" sz="1600" u="none" cap="none" strike="noStrike">
                <a:solidFill>
                  <a:srgbClr val="404040"/>
                </a:solidFill>
                <a:latin typeface="Trebuchet MS"/>
                <a:ea typeface="Trebuchet MS"/>
                <a:cs typeface="Trebuchet MS"/>
                <a:sym typeface="Trebuchet MS"/>
              </a:rPr>
              <a:t>Consciousness: “The awareness to act consistently and apply moral</a:t>
            </a:r>
            <a:r>
              <a:rPr b="0" i="0" lang="en-US" sz="1600" u="none" cap="none" strike="noStrike">
                <a:solidFill>
                  <a:schemeClr val="dk1"/>
                </a:solidFill>
                <a:latin typeface="Trebuchet MS"/>
                <a:ea typeface="Trebuchet MS"/>
                <a:cs typeface="Trebuchet MS"/>
                <a:sym typeface="Trebuchet MS"/>
              </a:rPr>
              <a:t> </a:t>
            </a:r>
            <a:r>
              <a:rPr b="0" i="0" lang="en-US" sz="1600" u="none" cap="none" strike="noStrike">
                <a:solidFill>
                  <a:srgbClr val="404040"/>
                </a:solidFill>
                <a:latin typeface="Trebuchet MS"/>
                <a:ea typeface="Trebuchet MS"/>
                <a:cs typeface="Trebuchet MS"/>
                <a:sym typeface="Trebuchet MS"/>
              </a:rPr>
              <a:t>convictions to daily behavior.”</a:t>
            </a:r>
            <a:endParaRPr b="0" i="0" sz="1600" u="none" cap="none" strike="noStrike">
              <a:solidFill>
                <a:schemeClr val="dk1"/>
              </a:solidFill>
              <a:latin typeface="Trebuchet MS"/>
              <a:ea typeface="Trebuchet MS"/>
              <a:cs typeface="Trebuchet MS"/>
              <a:sym typeface="Trebuchet MS"/>
            </a:endParaRPr>
          </a:p>
          <a:p>
            <a:pPr indent="-287019" lvl="0" marL="756285" marR="420369" rtl="0" algn="l">
              <a:lnSpc>
                <a:spcPct val="100000"/>
              </a:lnSpc>
              <a:spcBef>
                <a:spcPts val="994"/>
              </a:spcBef>
              <a:spcAft>
                <a:spcPts val="0"/>
              </a:spcAft>
              <a:buClr>
                <a:srgbClr val="000000"/>
              </a:buClr>
              <a:buSzPts val="1250"/>
              <a:buFont typeface="Arial"/>
              <a:buNone/>
            </a:pPr>
            <a:r>
              <a:rPr b="0" i="0" lang="en-US" sz="1250" u="none" cap="none" strike="noStrike">
                <a:solidFill>
                  <a:srgbClr val="90C225"/>
                </a:solidFill>
                <a:latin typeface="Lucida Sans"/>
                <a:ea typeface="Lucida Sans"/>
                <a:cs typeface="Lucida Sans"/>
                <a:sym typeface="Lucida Sans"/>
              </a:rPr>
              <a:t>▶	</a:t>
            </a:r>
            <a:r>
              <a:rPr b="0" i="0" lang="en-US" sz="1600" u="none" cap="none" strike="noStrike">
                <a:solidFill>
                  <a:srgbClr val="404040"/>
                </a:solidFill>
                <a:latin typeface="Trebuchet MS"/>
                <a:ea typeface="Trebuchet MS"/>
                <a:cs typeface="Trebuchet MS"/>
                <a:sym typeface="Trebuchet MS"/>
              </a:rPr>
              <a:t>Competency: “The ability to collect and evaluate information,  develop alternatives and foresee potential consequences and  risks.”</a:t>
            </a:r>
            <a:endParaRPr b="0" i="0" sz="16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1005"/>
              </a:spcBef>
              <a:spcAft>
                <a:spcPts val="0"/>
              </a:spcAft>
              <a:buClr>
                <a:srgbClr val="000000"/>
              </a:buClr>
              <a:buSzPts val="1450"/>
              <a:buFont typeface="Arial"/>
              <a:buNone/>
            </a:pPr>
            <a:r>
              <a:rPr b="1" i="0" lang="en-US" sz="1800" u="none" cap="none" strike="noStrike">
                <a:solidFill>
                  <a:srgbClr val="404040"/>
                </a:solidFill>
                <a:latin typeface="Trebuchet MS"/>
                <a:ea typeface="Trebuchet MS"/>
                <a:cs typeface="Trebuchet MS"/>
                <a:sym typeface="Trebuchet MS"/>
              </a:rPr>
              <a:t>4) Understand conflicts of interest</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1" i="0" lang="en-US" sz="1800" u="none" cap="none" strike="noStrike">
                <a:solidFill>
                  <a:srgbClr val="404040"/>
                </a:solidFill>
                <a:latin typeface="Trebuchet MS"/>
                <a:ea typeface="Trebuchet MS"/>
                <a:cs typeface="Trebuchet MS"/>
                <a:sym typeface="Trebuchet MS"/>
              </a:rPr>
              <a:t>5) Implement diversity and inclusion practices</a:t>
            </a:r>
            <a:endParaRPr b="0" i="0" sz="1800" u="none" cap="none" strike="noStrike">
              <a:solidFill>
                <a:schemeClr val="dk1"/>
              </a:solidFill>
              <a:latin typeface="Trebuchet MS"/>
              <a:ea typeface="Trebuchet MS"/>
              <a:cs typeface="Trebuchet MS"/>
              <a:sym typeface="Trebuchet MS"/>
            </a:endParaRPr>
          </a:p>
          <a:p>
            <a:pPr indent="0" lvl="0" marL="12700" marR="0" rtl="0" algn="l">
              <a:lnSpc>
                <a:spcPct val="100000"/>
              </a:lnSpc>
              <a:spcBef>
                <a:spcPts val="994"/>
              </a:spcBef>
              <a:spcAft>
                <a:spcPts val="0"/>
              </a:spcAft>
              <a:buClr>
                <a:srgbClr val="000000"/>
              </a:buClr>
              <a:buSzPts val="1450"/>
              <a:buFont typeface="Arial"/>
              <a:buNone/>
            </a:pPr>
            <a:r>
              <a:rPr b="1" i="0" lang="en-US" sz="1800" u="none" cap="none" strike="noStrike">
                <a:solidFill>
                  <a:srgbClr val="404040"/>
                </a:solidFill>
                <a:latin typeface="Trebuchet MS"/>
                <a:ea typeface="Trebuchet MS"/>
                <a:cs typeface="Trebuchet MS"/>
                <a:sym typeface="Trebuchet MS"/>
              </a:rPr>
              <a:t>6) Keep information confidential</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4"/>
          <p:cNvPicPr preferRelativeResize="0"/>
          <p:nvPr/>
        </p:nvPicPr>
        <p:blipFill rotWithShape="1">
          <a:blip r:embed="rId3">
            <a:alphaModFix/>
          </a:blip>
          <a:srcRect b="0" l="0" r="0" t="0"/>
          <a:stretch/>
        </p:blipFill>
        <p:spPr>
          <a:xfrm>
            <a:off x="1600200" y="1219200"/>
            <a:ext cx="4114800" cy="37840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9C93B"/>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2023-02-15T10:02:33Z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2021-12-18T00:00:00Z</vt:filetime>
  </property>
  <property fmtid="{D5CDD505-2E9C-101B-9397-08002B2CF9AE}" pid="3" name="Creator">
    <vt:lpwstr>Microsoft® PowerPoint® for Microsoft 365</vt:lpwstr>
  </property>
  <property fmtid="{D5CDD505-2E9C-101B-9397-08002B2CF9AE}" pid="4" name="LastSaved">
    <vt:filetime>2023-02-15T00:00:00Z</vt:filetime>
  </property>
</Properties>
</file>