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embeddedFontLst>
    <p:embeddedFont>
      <p:font typeface="Arimo"/>
      <p:regular r:id="rId30"/>
      <p:bold r:id="rId31"/>
      <p:italic r:id="rId32"/>
      <p:boldItalic r:id="rId33"/>
    </p:embeddedFont>
    <p:embeddedFont>
      <p:font typeface="Tahoma"/>
      <p:regular r:id="rId34"/>
      <p:bold r:id="rId35"/>
    </p:embeddedFont>
    <p:embeddedFont>
      <p:font typeface="Helvetica Neue"/>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orient="horz" pos="4110">
          <p15:clr>
            <a:srgbClr val="000000"/>
          </p15:clr>
        </p15:guide>
        <p15:guide id="3" orient="horz" pos="227">
          <p15:clr>
            <a:srgbClr val="000000"/>
          </p15:clr>
        </p15:guide>
        <p15:guide id="4" orient="horz" pos="3865">
          <p15:clr>
            <a:srgbClr val="000000"/>
          </p15:clr>
        </p15:guide>
        <p15:guide id="5" orient="horz" pos="572">
          <p15:clr>
            <a:srgbClr val="000000"/>
          </p15:clr>
        </p15:guide>
        <p15:guide id="6" orient="horz" pos="1035">
          <p15:clr>
            <a:srgbClr val="000000"/>
          </p15:clr>
        </p15:guide>
        <p15:guide id="7" pos="2880">
          <p15:clr>
            <a:srgbClr val="000000"/>
          </p15:clr>
        </p15:guide>
        <p15:guide id="8" pos="5556">
          <p15:clr>
            <a:srgbClr val="000000"/>
          </p15:clr>
        </p15:guide>
        <p15:guide id="9" pos="226">
          <p15:clr>
            <a:srgbClr val="000000"/>
          </p15:clr>
        </p15:guide>
        <p15:guide id="10" pos="333">
          <p15:clr>
            <a:srgbClr val="000000"/>
          </p15:clr>
        </p15:guide>
      </p15:sldGuideLst>
    </p:ext>
    <p:ext uri="GoogleSlidesCustomDataVersion2">
      <go:slidesCustomData xmlns:go="http://customooxmlschemas.google.com/" r:id="rId40" roundtripDataSignature="AMtx7mjxh6wsU7OG7KoTFHAz1z8L6XKY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4110" orient="horz"/>
        <p:guide pos="227" orient="horz"/>
        <p:guide pos="3865" orient="horz"/>
        <p:guide pos="572" orient="horz"/>
        <p:guide pos="1035" orient="horz"/>
        <p:guide pos="2880"/>
        <p:guide pos="5556"/>
        <p:guide pos="226"/>
        <p:guide pos="333"/>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bold.fntdata"/><Relationship Id="rId30" Type="http://schemas.openxmlformats.org/officeDocument/2006/relationships/font" Target="fonts/Arimo-regular.fntdata"/><Relationship Id="rId11" Type="http://schemas.openxmlformats.org/officeDocument/2006/relationships/slide" Target="slides/slide5.xml"/><Relationship Id="rId33" Type="http://schemas.openxmlformats.org/officeDocument/2006/relationships/font" Target="fonts/Arimo-boldItalic.fntdata"/><Relationship Id="rId10" Type="http://schemas.openxmlformats.org/officeDocument/2006/relationships/slide" Target="slides/slide4.xml"/><Relationship Id="rId32" Type="http://schemas.openxmlformats.org/officeDocument/2006/relationships/font" Target="fonts/Arimo-italic.fntdata"/><Relationship Id="rId13" Type="http://schemas.openxmlformats.org/officeDocument/2006/relationships/slide" Target="slides/slide7.xml"/><Relationship Id="rId35" Type="http://schemas.openxmlformats.org/officeDocument/2006/relationships/font" Target="fonts/Tahoma-bold.fntdata"/><Relationship Id="rId12" Type="http://schemas.openxmlformats.org/officeDocument/2006/relationships/slide" Target="slides/slide6.xml"/><Relationship Id="rId34" Type="http://schemas.openxmlformats.org/officeDocument/2006/relationships/font" Target="fonts/Tahoma-regular.fntdata"/><Relationship Id="rId15" Type="http://schemas.openxmlformats.org/officeDocument/2006/relationships/slide" Target="slides/slide9.xml"/><Relationship Id="rId37" Type="http://schemas.openxmlformats.org/officeDocument/2006/relationships/font" Target="fonts/HelveticaNeue-bold.fntdata"/><Relationship Id="rId14" Type="http://schemas.openxmlformats.org/officeDocument/2006/relationships/slide" Target="slides/slide8.xml"/><Relationship Id="rId36" Type="http://schemas.openxmlformats.org/officeDocument/2006/relationships/font" Target="fonts/HelveticaNeue-regular.fntdata"/><Relationship Id="rId17" Type="http://schemas.openxmlformats.org/officeDocument/2006/relationships/slide" Target="slides/slide11.xml"/><Relationship Id="rId39" Type="http://schemas.openxmlformats.org/officeDocument/2006/relationships/font" Target="fonts/HelveticaNeue-boldItalic.fntdata"/><Relationship Id="rId16" Type="http://schemas.openxmlformats.org/officeDocument/2006/relationships/slide" Target="slides/slide10.xml"/><Relationship Id="rId38" Type="http://schemas.openxmlformats.org/officeDocument/2006/relationships/font" Target="fonts/HelveticaNeue-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p:nvPr>
            <p:ph idx="2" type="sldImg"/>
          </p:nvPr>
        </p:nvSpPr>
        <p:spPr>
          <a:xfrm>
            <a:off x="1143000" y="685800"/>
            <a:ext cx="4573587"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 name="Google Shape;6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 name="Google Shape;8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8" name="Google Shape;128;p7:notes"/>
          <p:cNvSpPr txBox="1"/>
          <p:nvPr/>
        </p:nvSpPr>
        <p:spPr>
          <a:xfrm>
            <a:off x="0"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Copyright @2020 Nusrat Hafiz. All Rights Reserved.</a:t>
            </a:r>
            <a:endParaRPr/>
          </a:p>
        </p:txBody>
      </p:sp>
      <p:sp>
        <p:nvSpPr>
          <p:cNvPr id="129" name="Google Shape;129;p7:notes"/>
          <p:cNvSpPr txBox="1"/>
          <p:nvPr/>
        </p:nvSpPr>
        <p:spPr>
          <a:xfrm>
            <a:off x="0" y="0"/>
            <a:ext cx="2971800" cy="4587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Introduction to Business (BUS 101). Course Instructor: Nusrat Hafiz (NHF)</a:t>
            </a:r>
            <a:endParaRPr/>
          </a:p>
        </p:txBody>
      </p:sp>
      <p:sp>
        <p:nvSpPr>
          <p:cNvPr id="130" name="Google Shape;13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5" name="Google Shape;145;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46" name="Google Shape;146;p8:notes"/>
          <p:cNvSpPr txBox="1"/>
          <p:nvPr/>
        </p:nvSpPr>
        <p:spPr>
          <a:xfrm>
            <a:off x="0"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Copyright @2020 Nusrat Hafiz. All Rights Reserved.</a:t>
            </a:r>
            <a:endParaRPr/>
          </a:p>
        </p:txBody>
      </p:sp>
      <p:sp>
        <p:nvSpPr>
          <p:cNvPr id="147" name="Google Shape;147;p8:notes"/>
          <p:cNvSpPr txBox="1"/>
          <p:nvPr/>
        </p:nvSpPr>
        <p:spPr>
          <a:xfrm>
            <a:off x="0" y="0"/>
            <a:ext cx="2971800" cy="4587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Introduction to Business (BUS 101). Course Instructor: Nusrat Hafiz (NHF)</a:t>
            </a:r>
            <a:endParaRPr/>
          </a:p>
        </p:txBody>
      </p:sp>
      <p:sp>
        <p:nvSpPr>
          <p:cNvPr id="148" name="Google Shape;14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4" name="Google Shape;164;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65" name="Google Shape;165;p9:notes"/>
          <p:cNvSpPr txBox="1"/>
          <p:nvPr/>
        </p:nvSpPr>
        <p:spPr>
          <a:xfrm>
            <a:off x="0"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Copyright @2020 Nusrat Hafiz. All Rights Reserved.</a:t>
            </a:r>
            <a:endParaRPr/>
          </a:p>
        </p:txBody>
      </p:sp>
      <p:sp>
        <p:nvSpPr>
          <p:cNvPr id="166" name="Google Shape;166;p9:notes"/>
          <p:cNvSpPr txBox="1"/>
          <p:nvPr/>
        </p:nvSpPr>
        <p:spPr>
          <a:xfrm>
            <a:off x="0" y="0"/>
            <a:ext cx="2971800" cy="4587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Introduction to Business (BUS 101). Course Instructor: Nusrat Hafiz (NHF)</a:t>
            </a:r>
            <a:endParaRPr/>
          </a:p>
        </p:txBody>
      </p:sp>
      <p:sp>
        <p:nvSpPr>
          <p:cNvPr id="167" name="Google Shape;16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3" name="Google Shape;183;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84" name="Google Shape;18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0" name="Google Shape;200;p1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01" name="Google Shape;20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9" name="Google Shape;219;p1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20" name="Google Shape;22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8" name="Google Shape;238;p1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39" name="Google Shape;23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6" name="Google Shape;256;p1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57" name="Google Shape;25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5" name="Google Shape;275;p1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76" name="Google Shape;27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4" name="Google Shape;294;p1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95" name="Google Shape;29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3" name="Google Shape;313;p1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14" name="Google Shape;31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3" name="Google Shape;333;p1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34" name="Google Shape;33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8" name="Google Shape;388;p2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89" name="Google Shape;38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 name="Shape 18"/>
        <p:cNvGrpSpPr/>
        <p:nvPr/>
      </p:nvGrpSpPr>
      <p:grpSpPr>
        <a:xfrm>
          <a:off x="0" y="0"/>
          <a:ext cx="0" cy="0"/>
          <a:chOff x="0" y="0"/>
          <a:chExt cx="0" cy="0"/>
        </a:xfrm>
      </p:grpSpPr>
      <p:sp>
        <p:nvSpPr>
          <p:cNvPr id="19" name="Google Shape;1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 name="Google Shape;2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 name="Shape 24"/>
        <p:cNvGrpSpPr/>
        <p:nvPr/>
      </p:nvGrpSpPr>
      <p:grpSpPr>
        <a:xfrm>
          <a:off x="0" y="0"/>
          <a:ext cx="0" cy="0"/>
          <a:chOff x="0" y="0"/>
          <a:chExt cx="0" cy="0"/>
        </a:xfrm>
      </p:grpSpPr>
      <p:sp>
        <p:nvSpPr>
          <p:cNvPr id="25" name="Google Shape;25;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29"/>
          <p:cNvSpPr/>
          <p:nvPr>
            <p:ph idx="2" type="pic"/>
          </p:nvPr>
        </p:nvSpPr>
        <p:spPr>
          <a:xfrm>
            <a:off x="1792288" y="612775"/>
            <a:ext cx="5486400" cy="4114800"/>
          </a:xfrm>
          <a:prstGeom prst="rect">
            <a:avLst/>
          </a:prstGeom>
          <a:noFill/>
          <a:ln>
            <a:noFill/>
          </a:ln>
        </p:spPr>
      </p:sp>
      <p:sp>
        <p:nvSpPr>
          <p:cNvPr id="27" name="Google Shape;27;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 name="Shape 28"/>
        <p:cNvGrpSpPr/>
        <p:nvPr/>
      </p:nvGrpSpPr>
      <p:grpSpPr>
        <a:xfrm>
          <a:off x="0" y="0"/>
          <a:ext cx="0" cy="0"/>
          <a:chOff x="0" y="0"/>
          <a:chExt cx="0" cy="0"/>
        </a:xfrm>
      </p:grpSpPr>
      <p:sp>
        <p:nvSpPr>
          <p:cNvPr id="29" name="Google Shape;29;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31" name="Google Shape;31;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7" name="Google Shape;37;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8" name="Google Shape;38;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9" name="Google Shape;39;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3" name="Google Shape;43;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p:cSld name="Chapter Opener">
    <p:spTree>
      <p:nvGrpSpPr>
        <p:cNvPr id="58" name="Shape 58"/>
        <p:cNvGrpSpPr/>
        <p:nvPr/>
      </p:nvGrpSpPr>
      <p:grpSpPr>
        <a:xfrm>
          <a:off x="0" y="0"/>
          <a:ext cx="0" cy="0"/>
          <a:chOff x="0" y="0"/>
          <a:chExt cx="0" cy="0"/>
        </a:xfrm>
      </p:grpSpPr>
      <p:sp>
        <p:nvSpPr>
          <p:cNvPr id="59" name="Google Shape;59;p37"/>
          <p:cNvSpPr txBox="1"/>
          <p:nvPr>
            <p:ph type="title"/>
          </p:nvPr>
        </p:nvSpPr>
        <p:spPr>
          <a:xfrm>
            <a:off x="457200" y="215372"/>
            <a:ext cx="8229600" cy="622828"/>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37"/>
          <p:cNvSpPr txBox="1"/>
          <p:nvPr>
            <p:ph idx="1" type="body"/>
          </p:nvPr>
        </p:nvSpPr>
        <p:spPr>
          <a:xfrm>
            <a:off x="457200" y="816430"/>
            <a:ext cx="8229600" cy="47897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rgbClr val="007FA3"/>
              </a:buClr>
              <a:buSzPts val="2000"/>
              <a:buFont typeface="Arial"/>
              <a:buNone/>
              <a:defRPr sz="2000">
                <a:solidFill>
                  <a:srgbClr val="007FA3"/>
                </a:solidFill>
              </a:defRPr>
            </a:lvl1pPr>
            <a:lvl2pPr indent="-228600" lvl="1" marL="914400" algn="l">
              <a:spcBef>
                <a:spcPts val="0"/>
              </a:spcBef>
              <a:spcAft>
                <a:spcPts val="0"/>
              </a:spcAft>
              <a:buClr>
                <a:schemeClr val="lt1"/>
              </a:buClr>
              <a:buSzPts val="2400"/>
              <a:buFont typeface="Arial"/>
              <a:buNone/>
              <a:defRPr sz="2400">
                <a:solidFill>
                  <a:schemeClr val="lt1"/>
                </a:solidFill>
              </a:defRPr>
            </a:lvl2pPr>
            <a:lvl3pPr indent="-228600" lvl="2" marL="1371600" algn="l">
              <a:spcBef>
                <a:spcPts val="0"/>
              </a:spcBef>
              <a:spcAft>
                <a:spcPts val="0"/>
              </a:spcAft>
              <a:buClr>
                <a:schemeClr val="lt1"/>
              </a:buClr>
              <a:buSzPts val="2400"/>
              <a:buFont typeface="Arial"/>
              <a:buNone/>
              <a:defRPr sz="2400">
                <a:solidFill>
                  <a:schemeClr val="lt1"/>
                </a:solidFill>
              </a:defRPr>
            </a:lvl3pPr>
            <a:lvl4pPr indent="-228600" lvl="3" marL="1828800" algn="l">
              <a:spcBef>
                <a:spcPts val="0"/>
              </a:spcBef>
              <a:spcAft>
                <a:spcPts val="0"/>
              </a:spcAft>
              <a:buClr>
                <a:schemeClr val="lt1"/>
              </a:buClr>
              <a:buSzPts val="2400"/>
              <a:buFont typeface="Arial"/>
              <a:buNone/>
              <a:defRPr sz="2400">
                <a:solidFill>
                  <a:schemeClr val="lt1"/>
                </a:solidFill>
              </a:defRPr>
            </a:lvl4pPr>
            <a:lvl5pPr indent="-228600" lvl="4" marL="2286000" algn="l">
              <a:spcBef>
                <a:spcPts val="0"/>
              </a:spcBef>
              <a:spcAft>
                <a:spcPts val="0"/>
              </a:spcAft>
              <a:buClr>
                <a:schemeClr val="lt1"/>
              </a:buClr>
              <a:buSzPts val="2400"/>
              <a:buFont typeface="Arial"/>
              <a:buNone/>
              <a:defRPr sz="2400">
                <a:solidFill>
                  <a:schemeClr val="lt1"/>
                </a:solidFill>
              </a:defRPr>
            </a:lvl5pPr>
            <a:lvl6pPr indent="-228600" lvl="5" marL="2743200" algn="l">
              <a:spcBef>
                <a:spcPts val="0"/>
              </a:spcBef>
              <a:spcAft>
                <a:spcPts val="0"/>
              </a:spcAft>
              <a:buClr>
                <a:schemeClr val="lt1"/>
              </a:buClr>
              <a:buSzPts val="2400"/>
              <a:buFont typeface="Arial"/>
              <a:buNone/>
              <a:defRPr sz="2400">
                <a:solidFill>
                  <a:schemeClr val="lt1"/>
                </a:solidFill>
              </a:defRPr>
            </a:lvl6pPr>
            <a:lvl7pPr indent="-228600" lvl="6" marL="3200400" algn="l">
              <a:spcBef>
                <a:spcPts val="0"/>
              </a:spcBef>
              <a:spcAft>
                <a:spcPts val="0"/>
              </a:spcAft>
              <a:buClr>
                <a:schemeClr val="lt1"/>
              </a:buClr>
              <a:buSzPts val="2400"/>
              <a:buFont typeface="Arial"/>
              <a:buNone/>
              <a:defRPr sz="2400">
                <a:solidFill>
                  <a:schemeClr val="lt1"/>
                </a:solidFill>
              </a:defRPr>
            </a:lvl7pPr>
            <a:lvl8pPr indent="-228600" lvl="7" marL="3657600" algn="l">
              <a:spcBef>
                <a:spcPts val="0"/>
              </a:spcBef>
              <a:spcAft>
                <a:spcPts val="0"/>
              </a:spcAft>
              <a:buClr>
                <a:schemeClr val="lt1"/>
              </a:buClr>
              <a:buSzPts val="2400"/>
              <a:buFont typeface="Arial"/>
              <a:buNone/>
              <a:defRPr sz="2400">
                <a:solidFill>
                  <a:schemeClr val="lt1"/>
                </a:solidFill>
              </a:defRPr>
            </a:lvl8pPr>
            <a:lvl9pPr indent="-228600" lvl="8" marL="4114800" algn="l">
              <a:spcBef>
                <a:spcPts val="0"/>
              </a:spcBef>
              <a:spcAft>
                <a:spcPts val="0"/>
              </a:spcAft>
              <a:buClr>
                <a:schemeClr val="lt1"/>
              </a:buClr>
              <a:buSzPts val="2400"/>
              <a:buFont typeface="Arial"/>
              <a:buNone/>
              <a:defRPr sz="2400">
                <a:solidFill>
                  <a:schemeClr val="lt1"/>
                </a:solidFill>
              </a:defRPr>
            </a:lvl9pPr>
          </a:lstStyle>
          <a:p/>
        </p:txBody>
      </p:sp>
      <p:sp>
        <p:nvSpPr>
          <p:cNvPr id="61" name="Google Shape;61;p37"/>
          <p:cNvSpPr txBox="1"/>
          <p:nvPr>
            <p:ph idx="2" type="body"/>
          </p:nvPr>
        </p:nvSpPr>
        <p:spPr>
          <a:xfrm>
            <a:off x="5029200" y="1600201"/>
            <a:ext cx="3657600" cy="1600199"/>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Clr>
                <a:schemeClr val="dk1"/>
              </a:buClr>
              <a:buSzPts val="3000"/>
              <a:buFont typeface="Arial"/>
              <a:buNone/>
              <a:defRPr sz="3000"/>
            </a:lvl1pPr>
            <a:lvl2pPr indent="-228600" lvl="1" marL="914400" algn="l">
              <a:spcBef>
                <a:spcPts val="0"/>
              </a:spcBef>
              <a:spcAft>
                <a:spcPts val="0"/>
              </a:spcAft>
              <a:buClr>
                <a:schemeClr val="dk1"/>
              </a:buClr>
              <a:buSzPts val="4400"/>
              <a:buFont typeface="Arial"/>
              <a:buNone/>
              <a:defRPr sz="4400"/>
            </a:lvl2pPr>
            <a:lvl3pPr indent="-228600" lvl="2" marL="1371600" algn="l">
              <a:spcBef>
                <a:spcPts val="0"/>
              </a:spcBef>
              <a:spcAft>
                <a:spcPts val="0"/>
              </a:spcAft>
              <a:buClr>
                <a:schemeClr val="dk1"/>
              </a:buClr>
              <a:buSzPts val="4400"/>
              <a:buFont typeface="Arial"/>
              <a:buNone/>
              <a:defRPr sz="4400"/>
            </a:lvl3pPr>
            <a:lvl4pPr indent="-228600" lvl="3" marL="1828800" algn="l">
              <a:spcBef>
                <a:spcPts val="0"/>
              </a:spcBef>
              <a:spcAft>
                <a:spcPts val="0"/>
              </a:spcAft>
              <a:buClr>
                <a:schemeClr val="dk1"/>
              </a:buClr>
              <a:buSzPts val="4400"/>
              <a:buFont typeface="Arial"/>
              <a:buNone/>
              <a:defRPr sz="4400"/>
            </a:lvl4pPr>
            <a:lvl5pPr indent="-228600" lvl="4" marL="2286000" algn="l">
              <a:spcBef>
                <a:spcPts val="0"/>
              </a:spcBef>
              <a:spcAft>
                <a:spcPts val="0"/>
              </a:spcAft>
              <a:buClr>
                <a:schemeClr val="dk1"/>
              </a:buClr>
              <a:buSzPts val="4400"/>
              <a:buFont typeface="Arial"/>
              <a:buNone/>
              <a:defRPr sz="4400"/>
            </a:lvl5pPr>
            <a:lvl6pPr indent="-228600" lvl="5" marL="2743200" algn="l">
              <a:spcBef>
                <a:spcPts val="0"/>
              </a:spcBef>
              <a:spcAft>
                <a:spcPts val="0"/>
              </a:spcAft>
              <a:buClr>
                <a:schemeClr val="dk1"/>
              </a:buClr>
              <a:buSzPts val="4400"/>
              <a:buFont typeface="Arial"/>
              <a:buNone/>
              <a:defRPr sz="4400"/>
            </a:lvl6pPr>
            <a:lvl7pPr indent="-228600" lvl="6" marL="3200400" algn="l">
              <a:spcBef>
                <a:spcPts val="0"/>
              </a:spcBef>
              <a:spcAft>
                <a:spcPts val="0"/>
              </a:spcAft>
              <a:buClr>
                <a:schemeClr val="dk1"/>
              </a:buClr>
              <a:buSzPts val="4400"/>
              <a:buFont typeface="Arial"/>
              <a:buNone/>
              <a:defRPr sz="4400"/>
            </a:lvl7pPr>
            <a:lvl8pPr indent="-228600" lvl="7" marL="3657600" algn="l">
              <a:spcBef>
                <a:spcPts val="0"/>
              </a:spcBef>
              <a:spcAft>
                <a:spcPts val="0"/>
              </a:spcAft>
              <a:buClr>
                <a:schemeClr val="dk1"/>
              </a:buClr>
              <a:buSzPts val="4400"/>
              <a:buFont typeface="Arial"/>
              <a:buNone/>
              <a:defRPr sz="4400"/>
            </a:lvl8pPr>
            <a:lvl9pPr indent="-228600" lvl="8" marL="4114800" algn="l">
              <a:spcBef>
                <a:spcPts val="0"/>
              </a:spcBef>
              <a:spcAft>
                <a:spcPts val="0"/>
              </a:spcAft>
              <a:buClr>
                <a:schemeClr val="dk1"/>
              </a:buClr>
              <a:buSzPts val="4400"/>
              <a:buFont typeface="Arial"/>
              <a:buNone/>
              <a:defRPr sz="4400"/>
            </a:lvl9pPr>
          </a:lstStyle>
          <a:p/>
        </p:txBody>
      </p:sp>
      <p:sp>
        <p:nvSpPr>
          <p:cNvPr id="62" name="Google Shape;62;p37"/>
          <p:cNvSpPr txBox="1"/>
          <p:nvPr>
            <p:ph idx="3" type="body"/>
          </p:nvPr>
        </p:nvSpPr>
        <p:spPr>
          <a:xfrm>
            <a:off x="5029200" y="3200400"/>
            <a:ext cx="3657600" cy="2925763"/>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2200"/>
              <a:buFont typeface="Arial"/>
              <a:buNone/>
              <a:defRPr sz="2200"/>
            </a:lvl1pPr>
            <a:lvl2pPr indent="-228600" lvl="1" marL="914400" algn="l">
              <a:spcBef>
                <a:spcPts val="0"/>
              </a:spcBef>
              <a:spcAft>
                <a:spcPts val="0"/>
              </a:spcAft>
              <a:buClr>
                <a:schemeClr val="dk1"/>
              </a:buClr>
              <a:buSzPts val="2800"/>
              <a:buFont typeface="Arial"/>
              <a:buNone/>
              <a:defRPr/>
            </a:lvl2pPr>
            <a:lvl3pPr indent="-228600" lvl="2" marL="1371600" algn="l">
              <a:spcBef>
                <a:spcPts val="0"/>
              </a:spcBef>
              <a:spcAft>
                <a:spcPts val="0"/>
              </a:spcAft>
              <a:buClr>
                <a:schemeClr val="dk1"/>
              </a:buClr>
              <a:buSzPts val="2400"/>
              <a:buFont typeface="Arial"/>
              <a:buNone/>
              <a:defRPr/>
            </a:lvl3pPr>
            <a:lvl4pPr indent="-228600" lvl="3" marL="1828800" algn="l">
              <a:spcBef>
                <a:spcPts val="0"/>
              </a:spcBef>
              <a:spcAft>
                <a:spcPts val="0"/>
              </a:spcAft>
              <a:buClr>
                <a:schemeClr val="dk1"/>
              </a:buClr>
              <a:buSzPts val="2000"/>
              <a:buFont typeface="Arial"/>
              <a:buNone/>
              <a:defRPr/>
            </a:lvl4pPr>
            <a:lvl5pPr indent="-228600" lvl="4" marL="2286000" algn="l">
              <a:spcBef>
                <a:spcPts val="0"/>
              </a:spcBef>
              <a:spcAft>
                <a:spcPts val="0"/>
              </a:spcAft>
              <a:buClr>
                <a:schemeClr val="dk1"/>
              </a:buClr>
              <a:buSzPts val="2000"/>
              <a:buFont typeface="Arial"/>
              <a:buNone/>
              <a:defRPr/>
            </a:lvl5pPr>
            <a:lvl6pPr indent="-228600" lvl="5" marL="2743200" algn="l">
              <a:spcBef>
                <a:spcPts val="0"/>
              </a:spcBef>
              <a:spcAft>
                <a:spcPts val="0"/>
              </a:spcAft>
              <a:buClr>
                <a:schemeClr val="dk1"/>
              </a:buClr>
              <a:buSzPts val="2000"/>
              <a:buFont typeface="Arial"/>
              <a:buNone/>
              <a:defRPr/>
            </a:lvl6pPr>
            <a:lvl7pPr indent="-228600" lvl="6" marL="3200400" algn="l">
              <a:spcBef>
                <a:spcPts val="0"/>
              </a:spcBef>
              <a:spcAft>
                <a:spcPts val="0"/>
              </a:spcAft>
              <a:buClr>
                <a:schemeClr val="dk1"/>
              </a:buClr>
              <a:buSzPts val="2000"/>
              <a:buFont typeface="Arial"/>
              <a:buNone/>
              <a:defRPr/>
            </a:lvl7pPr>
            <a:lvl8pPr indent="-228600" lvl="7" marL="3657600" algn="l">
              <a:spcBef>
                <a:spcPts val="0"/>
              </a:spcBef>
              <a:spcAft>
                <a:spcPts val="0"/>
              </a:spcAft>
              <a:buClr>
                <a:schemeClr val="dk1"/>
              </a:buClr>
              <a:buSzPts val="2000"/>
              <a:buFont typeface="Arial"/>
              <a:buNone/>
              <a:defRPr/>
            </a:lvl8pPr>
            <a:lvl9pPr indent="-228600" lvl="8" marL="4114800" algn="l">
              <a:spcBef>
                <a:spcPts val="0"/>
              </a:spcBef>
              <a:spcAft>
                <a:spcPts val="0"/>
              </a:spcAft>
              <a:buClr>
                <a:schemeClr val="dk1"/>
              </a:buClr>
              <a:buSzPts val="2000"/>
              <a:buFont typeface="Arial"/>
              <a:buNone/>
              <a:defRPr/>
            </a:lvl9pPr>
          </a:lstStyle>
          <a:p/>
        </p:txBody>
      </p:sp>
      <p:sp>
        <p:nvSpPr>
          <p:cNvPr id="63" name="Google Shape;63;p37"/>
          <p:cNvSpPr txBox="1"/>
          <p:nvPr>
            <p:ph idx="11" type="ftr"/>
          </p:nvPr>
        </p:nvSpPr>
        <p:spPr>
          <a:xfrm>
            <a:off x="93662" y="6165850"/>
            <a:ext cx="8596312" cy="2349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0" type="dt"/>
          </p:nvPr>
        </p:nvSpPr>
        <p:spPr>
          <a:xfrm>
            <a:off x="6335712" y="112712"/>
            <a:ext cx="2133600" cy="1825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solidFill>
                  <a:srgbClr val="000000"/>
                </a:solidFill>
                <a:latin typeface="Times"/>
                <a:ea typeface="Times"/>
                <a:cs typeface="Times"/>
                <a:sym typeface="Time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7"/>
          <p:cNvSpPr txBox="1"/>
          <p:nvPr>
            <p:ph idx="12" type="sldNum"/>
          </p:nvPr>
        </p:nvSpPr>
        <p:spPr>
          <a:xfrm>
            <a:off x="8469312" y="112712"/>
            <a:ext cx="552450" cy="182562"/>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1pPr>
            <a:lvl2pPr indent="0" lvl="1"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2pPr>
            <a:lvl3pPr indent="0" lvl="2"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3pPr>
            <a:lvl4pPr indent="0" lvl="3"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4pPr>
            <a:lvl5pPr indent="0" lvl="4"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5pPr>
            <a:lvl6pPr indent="0" lvl="5"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6pPr>
            <a:lvl7pPr indent="0" lvl="6"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7pPr>
            <a:lvl8pPr indent="0" lvl="7"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8pPr>
            <a:lvl9pPr indent="0" lvl="8" marL="0" marR="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1pPr>
            <a:lvl2pPr lvl="1"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2pPr>
            <a:lvl3pPr lvl="2"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3pPr>
            <a:lvl4pPr lvl="3"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4pPr>
            <a:lvl5pPr lvl="4"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Pearson Logo" id="12" name="Google Shape;12;p24"/>
          <p:cNvPicPr preferRelativeResize="0"/>
          <p:nvPr/>
        </p:nvPicPr>
        <p:blipFill rotWithShape="1">
          <a:blip r:embed="rId1">
            <a:alphaModFix/>
          </a:blip>
          <a:srcRect b="0" l="0" r="0" t="0"/>
          <a:stretch/>
        </p:blipFill>
        <p:spPr>
          <a:xfrm>
            <a:off x="457200" y="6376987"/>
            <a:ext cx="917575" cy="279400"/>
          </a:xfrm>
          <a:prstGeom prst="rect">
            <a:avLst/>
          </a:prstGeom>
          <a:noFill/>
          <a:ln>
            <a:noFill/>
          </a:ln>
        </p:spPr>
      </p:pic>
      <p:sp>
        <p:nvSpPr>
          <p:cNvPr id="13" name="Google Shape;13;p24"/>
          <p:cNvSpPr txBox="1"/>
          <p:nvPr/>
        </p:nvSpPr>
        <p:spPr>
          <a:xfrm>
            <a:off x="185737" y="6416675"/>
            <a:ext cx="8642350" cy="1889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Copyright © 2019, 2015, 2009 Pearson Education, Inc. All Rights Reserved</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pic>
        <p:nvPicPr>
          <p:cNvPr descr="Pearson Logo" id="51" name="Google Shape;51;p36"/>
          <p:cNvPicPr preferRelativeResize="0"/>
          <p:nvPr/>
        </p:nvPicPr>
        <p:blipFill rotWithShape="1">
          <a:blip r:embed="rId1">
            <a:alphaModFix/>
          </a:blip>
          <a:srcRect b="0" l="0" r="0" t="0"/>
          <a:stretch/>
        </p:blipFill>
        <p:spPr>
          <a:xfrm>
            <a:off x="457200" y="6376987"/>
            <a:ext cx="917575" cy="279400"/>
          </a:xfrm>
          <a:prstGeom prst="rect">
            <a:avLst/>
          </a:prstGeom>
          <a:noFill/>
          <a:ln>
            <a:noFill/>
          </a:ln>
        </p:spPr>
      </p:pic>
      <p:sp>
        <p:nvSpPr>
          <p:cNvPr id="52" name="Google Shape;52;p36"/>
          <p:cNvSpPr txBox="1"/>
          <p:nvPr/>
        </p:nvSpPr>
        <p:spPr>
          <a:xfrm>
            <a:off x="185737" y="6416675"/>
            <a:ext cx="8642350" cy="1889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a:solidFill>
                  <a:srgbClr val="000000"/>
                </a:solidFill>
                <a:latin typeface="Arial"/>
                <a:ea typeface="Arial"/>
                <a:cs typeface="Arial"/>
                <a:sym typeface="Arial"/>
              </a:rPr>
              <a:t>Copyright © 2019, 2015, 2009 Pearson Education, Inc. All Rights Reserved</a:t>
            </a:r>
            <a:endParaRPr/>
          </a:p>
        </p:txBody>
      </p:sp>
      <p:sp>
        <p:nvSpPr>
          <p:cNvPr id="53" name="Google Shape;53;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1pPr>
            <a:lvl2pPr lvl="1"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2pPr>
            <a:lvl3pPr lvl="2"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3pPr>
            <a:lvl4pPr lvl="3"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4pPr>
            <a:lvl5pPr lvl="4" marR="0" rtl="0" algn="ctr">
              <a:spcBef>
                <a:spcPts val="0"/>
              </a:spcBef>
              <a:spcAft>
                <a:spcPts val="0"/>
              </a:spcAft>
              <a:buSzPts val="1400"/>
              <a:buNone/>
              <a:defRPr b="1" i="0" sz="4400" u="none" cap="none" strike="noStrike">
                <a:solidFill>
                  <a:srgbClr val="007FA3"/>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4" name="Google Shape;54;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5" name="Google Shape;55;p36"/>
          <p:cNvSpPr txBox="1"/>
          <p:nvPr>
            <p:ph idx="11" type="ftr"/>
          </p:nvPr>
        </p:nvSpPr>
        <p:spPr>
          <a:xfrm>
            <a:off x="93662" y="6165850"/>
            <a:ext cx="8596312" cy="2349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36"/>
          <p:cNvSpPr txBox="1"/>
          <p:nvPr>
            <p:ph idx="10" type="dt"/>
          </p:nvPr>
        </p:nvSpPr>
        <p:spPr>
          <a:xfrm>
            <a:off x="6335712" y="112712"/>
            <a:ext cx="2133600" cy="1825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36"/>
          <p:cNvSpPr txBox="1"/>
          <p:nvPr>
            <p:ph idx="12" type="sldNum"/>
          </p:nvPr>
        </p:nvSpPr>
        <p:spPr>
          <a:xfrm>
            <a:off x="8469312" y="112712"/>
            <a:ext cx="552450" cy="182562"/>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1pPr>
            <a:lvl2pPr indent="0" lvl="1"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2pPr>
            <a:lvl3pPr indent="0" lvl="2"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3pPr>
            <a:lvl4pPr indent="0" lvl="3"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4pPr>
            <a:lvl5pPr indent="0" lvl="4"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5pPr>
            <a:lvl6pPr indent="0" lvl="5"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6pPr>
            <a:lvl7pPr indent="0" lvl="6"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7pPr>
            <a:lvl8pPr indent="0" lvl="7"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8pPr>
            <a:lvl9pPr indent="0" lvl="8" marL="0" marR="0" rtl="0" algn="l">
              <a:lnSpc>
                <a:spcPct val="100000"/>
              </a:lnSpc>
              <a:spcBef>
                <a:spcPts val="0"/>
              </a:spcBef>
              <a:spcAft>
                <a:spcPts val="0"/>
              </a:spcAft>
              <a:buClr>
                <a:srgbClr val="000000"/>
              </a:buClr>
              <a:buSzPts val="1800"/>
              <a:buFont typeface="Times"/>
              <a:buNone/>
              <a:defRPr b="0" i="0" sz="1800" u="none">
                <a:solidFill>
                  <a:srgbClr val="000000"/>
                </a:solidFill>
                <a:latin typeface="Times"/>
                <a:ea typeface="Times"/>
                <a:cs typeface="Times"/>
                <a:sym typeface="Times"/>
              </a:defRPr>
            </a:lvl9pPr>
          </a:lstStyle>
          <a:p>
            <a:pPr indent="0" lvl="0" marL="0" rtl="0" algn="l">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5.jpg"/><Relationship Id="rId7"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youtu.be/HPLBwuj7sMA" TargetMode="External"/><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7.jpg"/><Relationship Id="rId8"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jpg"/><Relationship Id="rId4" Type="http://schemas.openxmlformats.org/officeDocument/2006/relationships/image" Target="../media/image32.png"/><Relationship Id="rId5" Type="http://schemas.openxmlformats.org/officeDocument/2006/relationships/image" Target="../media/image36.png"/><Relationship Id="rId6" Type="http://schemas.openxmlformats.org/officeDocument/2006/relationships/image" Target="../media/image8.jpg"/><Relationship Id="rId7" Type="http://schemas.openxmlformats.org/officeDocument/2006/relationships/image" Target="../media/image1.png"/><Relationship Id="rId8"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20.png"/><Relationship Id="rId5" Type="http://schemas.openxmlformats.org/officeDocument/2006/relationships/image" Target="../media/image8.jpg"/><Relationship Id="rId6" Type="http://schemas.openxmlformats.org/officeDocument/2006/relationships/image" Target="../media/image1.png"/><Relationship Id="rId7"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23.png"/><Relationship Id="rId5" Type="http://schemas.openxmlformats.org/officeDocument/2006/relationships/image" Target="../media/image8.jpg"/><Relationship Id="rId6" Type="http://schemas.openxmlformats.org/officeDocument/2006/relationships/image" Target="../media/image1.png"/><Relationship Id="rId7"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8.jpg"/><Relationship Id="rId6" Type="http://schemas.openxmlformats.org/officeDocument/2006/relationships/image" Target="../media/image1.png"/><Relationship Id="rId7"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38.png"/><Relationship Id="rId5" Type="http://schemas.openxmlformats.org/officeDocument/2006/relationships/image" Target="../media/image8.jpg"/><Relationship Id="rId6" Type="http://schemas.openxmlformats.org/officeDocument/2006/relationships/image" Target="../media/image1.png"/><Relationship Id="rId7"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41.png"/><Relationship Id="rId6" Type="http://schemas.openxmlformats.org/officeDocument/2006/relationships/image" Target="../media/image8.jpg"/><Relationship Id="rId7" Type="http://schemas.openxmlformats.org/officeDocument/2006/relationships/image" Target="../media/image1.png"/><Relationship Id="rId8"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8.jpg"/><Relationship Id="rId6" Type="http://schemas.openxmlformats.org/officeDocument/2006/relationships/image" Target="../media/image1.png"/><Relationship Id="rId7"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1.jp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0.jp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5.jpg"/><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
          <p:cNvSpPr txBox="1"/>
          <p:nvPr/>
        </p:nvSpPr>
        <p:spPr>
          <a:xfrm>
            <a:off x="293687" y="196850"/>
            <a:ext cx="8362950" cy="12223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FA3"/>
              </a:buClr>
              <a:buSzPts val="3400"/>
              <a:buFont typeface="Arial"/>
              <a:buNone/>
            </a:pPr>
            <a:r>
              <a:rPr b="1" i="0" lang="en-US" sz="3400" u="none" cap="none" strike="noStrike">
                <a:solidFill>
                  <a:srgbClr val="007FA3"/>
                </a:solidFill>
                <a:latin typeface="Arial"/>
                <a:ea typeface="Arial"/>
                <a:cs typeface="Arial"/>
                <a:sym typeface="Arial"/>
              </a:rPr>
              <a:t>The Business Environment</a:t>
            </a:r>
            <a:endParaRPr/>
          </a:p>
        </p:txBody>
      </p:sp>
      <p:sp>
        <p:nvSpPr>
          <p:cNvPr id="72" name="Google Shape;72;p1"/>
          <p:cNvSpPr txBox="1"/>
          <p:nvPr>
            <p:ph idx="4294967295" type="body"/>
          </p:nvPr>
        </p:nvSpPr>
        <p:spPr>
          <a:xfrm>
            <a:off x="1116012" y="3362325"/>
            <a:ext cx="7272337" cy="104616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Arial"/>
              <a:ea typeface="Arial"/>
              <a:cs typeface="Arial"/>
              <a:sym typeface="Arial"/>
            </a:endParaRPr>
          </a:p>
          <a:p>
            <a:pPr indent="-342900" lvl="0" marL="342900" marR="0" rtl="0" algn="l">
              <a:lnSpc>
                <a:spcPct val="100000"/>
              </a:lnSpc>
              <a:spcBef>
                <a:spcPts val="12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Business organizations: The external environment</a:t>
            </a:r>
            <a:endParaRPr/>
          </a:p>
        </p:txBody>
      </p:sp>
      <p:pic>
        <p:nvPicPr>
          <p:cNvPr descr="External &amp; Internal Business Environment" id="73" name="Google Shape;73;p1"/>
          <p:cNvPicPr preferRelativeResize="0"/>
          <p:nvPr/>
        </p:nvPicPr>
        <p:blipFill rotWithShape="1">
          <a:blip r:embed="rId3">
            <a:alphaModFix/>
          </a:blip>
          <a:srcRect b="0" l="0" r="0" t="0"/>
          <a:stretch/>
        </p:blipFill>
        <p:spPr>
          <a:xfrm>
            <a:off x="2551112" y="1125537"/>
            <a:ext cx="4041775" cy="1847850"/>
          </a:xfrm>
          <a:prstGeom prst="rect">
            <a:avLst/>
          </a:prstGeom>
          <a:noFill/>
          <a:ln>
            <a:noFill/>
          </a:ln>
        </p:spPr>
      </p:pic>
      <p:pic>
        <p:nvPicPr>
          <p:cNvPr id="74" name="Google Shape;74;p1"/>
          <p:cNvPicPr preferRelativeResize="0"/>
          <p:nvPr/>
        </p:nvPicPr>
        <p:blipFill rotWithShape="1">
          <a:blip r:embed="rId4">
            <a:alphaModFix/>
          </a:blip>
          <a:srcRect b="0" l="0" r="0" t="0"/>
          <a:stretch/>
        </p:blipFill>
        <p:spPr>
          <a:xfrm>
            <a:off x="6350" y="5949950"/>
            <a:ext cx="9144000" cy="885825"/>
          </a:xfrm>
          <a:prstGeom prst="rect">
            <a:avLst/>
          </a:prstGeom>
          <a:noFill/>
          <a:ln>
            <a:noFill/>
          </a:ln>
        </p:spPr>
      </p:pic>
      <p:pic>
        <p:nvPicPr>
          <p:cNvPr id="75" name="Google Shape;75;p1"/>
          <p:cNvPicPr preferRelativeResize="0"/>
          <p:nvPr/>
        </p:nvPicPr>
        <p:blipFill rotWithShape="1">
          <a:blip r:embed="rId5">
            <a:alphaModFix/>
          </a:blip>
          <a:srcRect b="0" l="0" r="0" t="0"/>
          <a:stretch/>
        </p:blipFill>
        <p:spPr>
          <a:xfrm>
            <a:off x="7308850" y="4738687"/>
            <a:ext cx="1549400" cy="993775"/>
          </a:xfrm>
          <a:prstGeom prst="rect">
            <a:avLst/>
          </a:prstGeom>
          <a:noFill/>
          <a:ln>
            <a:noFill/>
          </a:ln>
        </p:spPr>
      </p:pic>
      <p:pic>
        <p:nvPicPr>
          <p:cNvPr descr="BracU Logo | Brac University" id="76" name="Google Shape;76;p1"/>
          <p:cNvPicPr preferRelativeResize="0"/>
          <p:nvPr/>
        </p:nvPicPr>
        <p:blipFill rotWithShape="1">
          <a:blip r:embed="rId6">
            <a:alphaModFix/>
          </a:blip>
          <a:srcRect b="0" l="0" r="0" t="0"/>
          <a:stretch/>
        </p:blipFill>
        <p:spPr>
          <a:xfrm>
            <a:off x="98425" y="4699000"/>
            <a:ext cx="1549400" cy="1120775"/>
          </a:xfrm>
          <a:prstGeom prst="rect">
            <a:avLst/>
          </a:prstGeom>
          <a:noFill/>
          <a:ln>
            <a:noFill/>
          </a:ln>
        </p:spPr>
      </p:pic>
      <p:pic>
        <p:nvPicPr>
          <p:cNvPr id="77" name="Google Shape;77;p1"/>
          <p:cNvPicPr preferRelativeResize="0"/>
          <p:nvPr/>
        </p:nvPicPr>
        <p:blipFill rotWithShape="1">
          <a:blip r:embed="rId7">
            <a:alphaModFix/>
          </a:blip>
          <a:srcRect b="0" l="0" r="0" t="0"/>
          <a:stretch/>
        </p:blipFill>
        <p:spPr>
          <a:xfrm>
            <a:off x="8318500" y="6032500"/>
            <a:ext cx="609600" cy="609600"/>
          </a:xfrm>
          <a:prstGeom prst="rect">
            <a:avLst/>
          </a:prstGeom>
          <a:noFill/>
          <a:ln>
            <a:noFill/>
          </a:ln>
        </p:spPr>
      </p:pic>
      <p:sp>
        <p:nvSpPr>
          <p:cNvPr id="78" name="Google Shape;78;p1"/>
          <p:cNvSpPr txBox="1"/>
          <p:nvPr/>
        </p:nvSpPr>
        <p:spPr>
          <a:xfrm>
            <a:off x="2444750" y="5453062"/>
            <a:ext cx="4254500" cy="431800"/>
          </a:xfrm>
          <a:prstGeom prst="rect">
            <a:avLst/>
          </a:prstGeom>
          <a:solidFill>
            <a:schemeClr val="lt1"/>
          </a:solidFill>
          <a:ln cap="flat" cmpd="sng" w="25400">
            <a:solidFill>
              <a:srgbClr val="2D2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Course Instructor: </a:t>
            </a:r>
            <a:r>
              <a:rPr lang="en-US" sz="1800"/>
              <a:t>Noshin Anjum Chaiti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nvSpPr>
        <p:spPr>
          <a:xfrm>
            <a:off x="858837" y="438150"/>
            <a:ext cx="7426325" cy="6159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7FA3"/>
              </a:buClr>
              <a:buSzPts val="3400"/>
              <a:buFont typeface="Arial"/>
              <a:buNone/>
            </a:pPr>
            <a:r>
              <a:rPr b="1" i="0" lang="en-US" sz="3400" u="none" cap="none" strike="noStrike">
                <a:solidFill>
                  <a:srgbClr val="007FA3"/>
                </a:solidFill>
                <a:latin typeface="Arial"/>
                <a:ea typeface="Arial"/>
                <a:cs typeface="Arial"/>
                <a:sym typeface="Arial"/>
              </a:rPr>
              <a:t>Introduction</a:t>
            </a:r>
            <a:endParaRPr/>
          </a:p>
        </p:txBody>
      </p:sp>
      <p:pic>
        <p:nvPicPr>
          <p:cNvPr id="85" name="Google Shape;85;p2"/>
          <p:cNvPicPr preferRelativeResize="0"/>
          <p:nvPr/>
        </p:nvPicPr>
        <p:blipFill rotWithShape="1">
          <a:blip r:embed="rId3">
            <a:alphaModFix/>
          </a:blip>
          <a:srcRect b="0" l="0" r="0" t="0"/>
          <a:stretch/>
        </p:blipFill>
        <p:spPr>
          <a:xfrm>
            <a:off x="341312" y="1792287"/>
            <a:ext cx="8461375" cy="2073275"/>
          </a:xfrm>
          <a:prstGeom prst="rect">
            <a:avLst/>
          </a:prstGeom>
          <a:noFill/>
          <a:ln>
            <a:noFill/>
          </a:ln>
        </p:spPr>
      </p:pic>
      <p:pic>
        <p:nvPicPr>
          <p:cNvPr id="86" name="Google Shape;86;p2"/>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87" name="Google Shape;87;p2"/>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88" name="Google Shape;88;p2"/>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pic>
        <p:nvPicPr>
          <p:cNvPr descr="Business Environment: The Elements of Business Environment (1968 Words)" id="89" name="Google Shape;89;p2"/>
          <p:cNvPicPr preferRelativeResize="0"/>
          <p:nvPr/>
        </p:nvPicPr>
        <p:blipFill rotWithShape="1">
          <a:blip r:embed="rId7">
            <a:alphaModFix/>
          </a:blip>
          <a:srcRect b="0" l="0" r="0" t="0"/>
          <a:stretch/>
        </p:blipFill>
        <p:spPr>
          <a:xfrm>
            <a:off x="2951162" y="4116387"/>
            <a:ext cx="3241675" cy="1927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858837" y="434975"/>
            <a:ext cx="7426325" cy="6159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7FA3"/>
              </a:buClr>
              <a:buSzPts val="3400"/>
              <a:buFont typeface="Arial"/>
              <a:buNone/>
            </a:pPr>
            <a:r>
              <a:rPr b="1" i="0" lang="en-US" sz="3400" u="none" cap="none" strike="noStrike">
                <a:solidFill>
                  <a:srgbClr val="007FA3"/>
                </a:solidFill>
                <a:latin typeface="Arial"/>
                <a:ea typeface="Arial"/>
                <a:cs typeface="Arial"/>
                <a:sym typeface="Arial"/>
              </a:rPr>
              <a:t>Learning outcomes</a:t>
            </a:r>
            <a:endParaRPr/>
          </a:p>
        </p:txBody>
      </p:sp>
      <p:pic>
        <p:nvPicPr>
          <p:cNvPr id="95" name="Google Shape;95;p3"/>
          <p:cNvPicPr preferRelativeResize="0"/>
          <p:nvPr/>
        </p:nvPicPr>
        <p:blipFill rotWithShape="1">
          <a:blip r:embed="rId3">
            <a:alphaModFix/>
          </a:blip>
          <a:srcRect b="0" l="0" r="0" t="0"/>
          <a:stretch/>
        </p:blipFill>
        <p:spPr>
          <a:xfrm>
            <a:off x="336550" y="2300287"/>
            <a:ext cx="8470900" cy="2257425"/>
          </a:xfrm>
          <a:prstGeom prst="rect">
            <a:avLst/>
          </a:prstGeom>
          <a:noFill/>
          <a:ln>
            <a:noFill/>
          </a:ln>
        </p:spPr>
      </p:pic>
      <p:pic>
        <p:nvPicPr>
          <p:cNvPr id="96" name="Google Shape;96;p3"/>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97" name="Google Shape;97;p3"/>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98" name="Google Shape;98;p3"/>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nvSpPr>
        <p:spPr>
          <a:xfrm>
            <a:off x="419100" y="204787"/>
            <a:ext cx="8401050" cy="1662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400"/>
              <a:buFont typeface="Arial"/>
              <a:buNone/>
            </a:pPr>
            <a:r>
              <a:t/>
            </a:r>
            <a:endParaRPr b="1" i="0" sz="3400" u="none" cap="none" strike="noStrike">
              <a:solidFill>
                <a:srgbClr val="007FA3"/>
              </a:solidFill>
              <a:latin typeface="Arial"/>
              <a:ea typeface="Arial"/>
              <a:cs typeface="Arial"/>
              <a:sym typeface="Arial"/>
            </a:endParaRPr>
          </a:p>
          <a:p>
            <a:pPr indent="0" lvl="0" marL="0" marR="0" rtl="0" algn="l">
              <a:lnSpc>
                <a:spcPct val="100000"/>
              </a:lnSpc>
              <a:spcBef>
                <a:spcPts val="0"/>
              </a:spcBef>
              <a:spcAft>
                <a:spcPts val="0"/>
              </a:spcAft>
              <a:buClr>
                <a:srgbClr val="007FA3"/>
              </a:buClr>
              <a:buSzPts val="3400"/>
              <a:buFont typeface="Arial"/>
              <a:buNone/>
            </a:pPr>
            <a:r>
              <a:rPr b="1" i="0" lang="en-US" sz="3400" u="none" cap="none" strike="noStrike">
                <a:solidFill>
                  <a:srgbClr val="007FA3"/>
                </a:solidFill>
                <a:latin typeface="Arial"/>
                <a:ea typeface="Arial"/>
                <a:cs typeface="Arial"/>
                <a:sym typeface="Arial"/>
              </a:rPr>
              <a:t>The business organisation as a transformation system</a:t>
            </a:r>
            <a:endParaRPr/>
          </a:p>
        </p:txBody>
      </p:sp>
      <p:pic>
        <p:nvPicPr>
          <p:cNvPr id="104" name="Google Shape;104;p4"/>
          <p:cNvPicPr preferRelativeResize="0"/>
          <p:nvPr/>
        </p:nvPicPr>
        <p:blipFill rotWithShape="1">
          <a:blip r:embed="rId3">
            <a:alphaModFix/>
          </a:blip>
          <a:srcRect b="0" l="0" r="0" t="0"/>
          <a:stretch/>
        </p:blipFill>
        <p:spPr>
          <a:xfrm>
            <a:off x="358775" y="1993900"/>
            <a:ext cx="8461375" cy="2698750"/>
          </a:xfrm>
          <a:prstGeom prst="rect">
            <a:avLst/>
          </a:prstGeom>
          <a:noFill/>
          <a:ln>
            <a:noFill/>
          </a:ln>
        </p:spPr>
      </p:pic>
      <p:pic>
        <p:nvPicPr>
          <p:cNvPr id="105" name="Google Shape;105;p4"/>
          <p:cNvPicPr preferRelativeResize="0"/>
          <p:nvPr/>
        </p:nvPicPr>
        <p:blipFill rotWithShape="1">
          <a:blip r:embed="rId4">
            <a:alphaModFix/>
          </a:blip>
          <a:srcRect b="0" l="0" r="0" t="0"/>
          <a:stretch/>
        </p:blipFill>
        <p:spPr>
          <a:xfrm>
            <a:off x="6350" y="6175375"/>
            <a:ext cx="9144000" cy="660400"/>
          </a:xfrm>
          <a:prstGeom prst="rect">
            <a:avLst/>
          </a:prstGeom>
          <a:noFill/>
          <a:ln>
            <a:noFill/>
          </a:ln>
        </p:spPr>
      </p:pic>
      <p:pic>
        <p:nvPicPr>
          <p:cNvPr id="106" name="Google Shape;106;p4"/>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107" name="Google Shape;107;p4"/>
          <p:cNvPicPr preferRelativeResize="0"/>
          <p:nvPr/>
        </p:nvPicPr>
        <p:blipFill rotWithShape="1">
          <a:blip r:embed="rId6">
            <a:alphaModFix/>
          </a:blip>
          <a:srcRect b="0" l="0" r="0" t="0"/>
          <a:stretch/>
        </p:blipFill>
        <p:spPr>
          <a:xfrm>
            <a:off x="84137" y="5053012"/>
            <a:ext cx="1549400" cy="11223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nvSpPr>
        <p:spPr>
          <a:xfrm>
            <a:off x="419100" y="204787"/>
            <a:ext cx="8401050" cy="615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FA3"/>
              </a:buClr>
              <a:buSzPts val="3400"/>
              <a:buFont typeface="Arial"/>
              <a:buNone/>
            </a:pPr>
            <a:r>
              <a:rPr b="1" i="0" lang="en-US" sz="3400" u="none" cap="none" strike="noStrike">
                <a:solidFill>
                  <a:srgbClr val="007FA3"/>
                </a:solidFill>
                <a:latin typeface="Arial"/>
                <a:ea typeface="Arial"/>
                <a:cs typeface="Arial"/>
                <a:sym typeface="Arial"/>
              </a:rPr>
              <a:t>The firm in its environment</a:t>
            </a:r>
            <a:endParaRPr/>
          </a:p>
        </p:txBody>
      </p:sp>
      <p:pic>
        <p:nvPicPr>
          <p:cNvPr id="113" name="Google Shape;113;p5"/>
          <p:cNvPicPr preferRelativeResize="0"/>
          <p:nvPr/>
        </p:nvPicPr>
        <p:blipFill rotWithShape="1">
          <a:blip r:embed="rId3">
            <a:alphaModFix/>
          </a:blip>
          <a:srcRect b="0" l="0" r="0" t="0"/>
          <a:stretch/>
        </p:blipFill>
        <p:spPr>
          <a:xfrm>
            <a:off x="338137" y="1757362"/>
            <a:ext cx="8467725" cy="3343275"/>
          </a:xfrm>
          <a:prstGeom prst="rect">
            <a:avLst/>
          </a:prstGeom>
          <a:noFill/>
          <a:ln>
            <a:noFill/>
          </a:ln>
        </p:spPr>
      </p:pic>
      <p:pic>
        <p:nvPicPr>
          <p:cNvPr id="114" name="Google Shape;114;p5"/>
          <p:cNvPicPr preferRelativeResize="0"/>
          <p:nvPr/>
        </p:nvPicPr>
        <p:blipFill rotWithShape="1">
          <a:blip r:embed="rId4">
            <a:alphaModFix/>
          </a:blip>
          <a:srcRect b="0" l="0" r="0" t="0"/>
          <a:stretch/>
        </p:blipFill>
        <p:spPr>
          <a:xfrm>
            <a:off x="6350" y="6308725"/>
            <a:ext cx="9144000" cy="527050"/>
          </a:xfrm>
          <a:prstGeom prst="rect">
            <a:avLst/>
          </a:prstGeom>
          <a:noFill/>
          <a:ln>
            <a:noFill/>
          </a:ln>
        </p:spPr>
      </p:pic>
      <p:pic>
        <p:nvPicPr>
          <p:cNvPr id="115" name="Google Shape;115;p5"/>
          <p:cNvPicPr preferRelativeResize="0"/>
          <p:nvPr/>
        </p:nvPicPr>
        <p:blipFill rotWithShape="1">
          <a:blip r:embed="rId5">
            <a:alphaModFix/>
          </a:blip>
          <a:srcRect b="0" l="0" r="0" t="0"/>
          <a:stretch/>
        </p:blipFill>
        <p:spPr>
          <a:xfrm>
            <a:off x="7510462" y="5268912"/>
            <a:ext cx="1549400" cy="779462"/>
          </a:xfrm>
          <a:prstGeom prst="rect">
            <a:avLst/>
          </a:prstGeom>
          <a:noFill/>
          <a:ln>
            <a:noFill/>
          </a:ln>
        </p:spPr>
      </p:pic>
      <p:pic>
        <p:nvPicPr>
          <p:cNvPr descr="BracU Logo | Brac University" id="116" name="Google Shape;116;p5"/>
          <p:cNvPicPr preferRelativeResize="0"/>
          <p:nvPr/>
        </p:nvPicPr>
        <p:blipFill rotWithShape="1">
          <a:blip r:embed="rId6">
            <a:alphaModFix/>
          </a:blip>
          <a:srcRect b="0" l="0" r="0" t="0"/>
          <a:stretch/>
        </p:blipFill>
        <p:spPr>
          <a:xfrm>
            <a:off x="84137" y="5295900"/>
            <a:ext cx="1549400" cy="879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nvSpPr>
        <p:spPr>
          <a:xfrm>
            <a:off x="419100" y="204787"/>
            <a:ext cx="8401050" cy="1138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400"/>
              <a:buFont typeface="Arial"/>
              <a:buNone/>
            </a:pPr>
            <a:r>
              <a:t/>
            </a:r>
            <a:endParaRPr b="1" i="0" sz="3400" u="none" cap="none" strike="noStrike">
              <a:solidFill>
                <a:srgbClr val="007FA3"/>
              </a:solidFill>
              <a:latin typeface="Arial"/>
              <a:ea typeface="Arial"/>
              <a:cs typeface="Arial"/>
              <a:sym typeface="Arial"/>
            </a:endParaRPr>
          </a:p>
          <a:p>
            <a:pPr indent="0" lvl="0" marL="0" marR="0" rtl="0" algn="l">
              <a:lnSpc>
                <a:spcPct val="100000"/>
              </a:lnSpc>
              <a:spcBef>
                <a:spcPts val="0"/>
              </a:spcBef>
              <a:spcAft>
                <a:spcPts val="0"/>
              </a:spcAft>
              <a:buClr>
                <a:srgbClr val="007FA3"/>
              </a:buClr>
              <a:buSzPts val="3400"/>
              <a:buFont typeface="Arial"/>
              <a:buNone/>
            </a:pPr>
            <a:r>
              <a:rPr b="1" i="0" lang="en-US" sz="3400" u="none" cap="none" strike="noStrike">
                <a:solidFill>
                  <a:srgbClr val="007FA3"/>
                </a:solidFill>
                <a:latin typeface="Arial"/>
                <a:ea typeface="Arial"/>
                <a:cs typeface="Arial"/>
                <a:sym typeface="Arial"/>
              </a:rPr>
              <a:t>Two levels of environment</a:t>
            </a:r>
            <a:endParaRPr/>
          </a:p>
        </p:txBody>
      </p:sp>
      <p:pic>
        <p:nvPicPr>
          <p:cNvPr id="122" name="Google Shape;122;p6"/>
          <p:cNvPicPr preferRelativeResize="0"/>
          <p:nvPr/>
        </p:nvPicPr>
        <p:blipFill rotWithShape="1">
          <a:blip r:embed="rId3">
            <a:alphaModFix/>
          </a:blip>
          <a:srcRect b="0" l="0" r="0" t="0"/>
          <a:stretch/>
        </p:blipFill>
        <p:spPr>
          <a:xfrm>
            <a:off x="958850" y="1568450"/>
            <a:ext cx="7226300" cy="4279900"/>
          </a:xfrm>
          <a:prstGeom prst="rect">
            <a:avLst/>
          </a:prstGeom>
          <a:noFill/>
          <a:ln>
            <a:noFill/>
          </a:ln>
        </p:spPr>
      </p:pic>
      <p:pic>
        <p:nvPicPr>
          <p:cNvPr id="123" name="Google Shape;123;p6"/>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124" name="Google Shape;124;p6"/>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125" name="Google Shape;125;p6"/>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133" name="Google Shape;133;p7"/>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 name="Google Shape;134;p7"/>
          <p:cNvSpPr txBox="1"/>
          <p:nvPr/>
        </p:nvSpPr>
        <p:spPr>
          <a:xfrm>
            <a:off x="7510462" y="1766887"/>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135" name="Google Shape;135;p7"/>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136" name="Google Shape;136;p7"/>
          <p:cNvSpPr txBox="1"/>
          <p:nvPr>
            <p:ph type="ctrTitle"/>
          </p:nvPr>
        </p:nvSpPr>
        <p:spPr>
          <a:xfrm>
            <a:off x="1509712" y="122237"/>
            <a:ext cx="6400800" cy="168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200"/>
              <a:buFont typeface="Helvetica Neue"/>
              <a:buNone/>
            </a:pPr>
            <a:r>
              <a:rPr b="1" i="0" lang="en-US" sz="2200" u="none">
                <a:solidFill>
                  <a:srgbClr val="007FA3"/>
                </a:solidFill>
                <a:latin typeface="Helvetica Neue"/>
                <a:ea typeface="Helvetica Neue"/>
                <a:cs typeface="Helvetica Neue"/>
                <a:sym typeface="Helvetica Neue"/>
              </a:rPr>
              <a:t>Business Environment</a:t>
            </a:r>
            <a:br>
              <a:rPr b="1" i="0" lang="en-US" sz="2400" u="none">
                <a:solidFill>
                  <a:srgbClr val="007FA3"/>
                </a:solidFill>
                <a:latin typeface="Helvetica Neue"/>
                <a:ea typeface="Helvetica Neue"/>
                <a:cs typeface="Helvetica Neue"/>
                <a:sym typeface="Helvetica Neue"/>
              </a:rPr>
            </a:br>
            <a:r>
              <a:rPr b="1" i="0" lang="en-US" sz="1200" u="none">
                <a:solidFill>
                  <a:srgbClr val="007FA3"/>
                </a:solidFill>
                <a:latin typeface="Tahoma"/>
                <a:ea typeface="Tahoma"/>
                <a:cs typeface="Tahoma"/>
                <a:sym typeface="Tahoma"/>
              </a:rPr>
              <a:t>The Business Environment is the sum total of all external and internal </a:t>
            </a:r>
            <a:br>
              <a:rPr b="1" i="0" lang="en-US" sz="1200" u="none">
                <a:solidFill>
                  <a:srgbClr val="007FA3"/>
                </a:solidFill>
                <a:latin typeface="Tahoma"/>
                <a:ea typeface="Tahoma"/>
                <a:cs typeface="Tahoma"/>
                <a:sym typeface="Tahoma"/>
              </a:rPr>
            </a:br>
            <a:r>
              <a:rPr b="1" i="0" lang="en-US" sz="1200" u="none">
                <a:solidFill>
                  <a:srgbClr val="007FA3"/>
                </a:solidFill>
                <a:latin typeface="Tahoma"/>
                <a:ea typeface="Tahoma"/>
                <a:cs typeface="Tahoma"/>
                <a:sym typeface="Tahoma"/>
              </a:rPr>
              <a:t>factors that influence a business. An external business environment is composed of all the outside factors or influences that impact the </a:t>
            </a:r>
            <a:br>
              <a:rPr b="1" i="0" lang="en-US" sz="1200" u="none">
                <a:solidFill>
                  <a:srgbClr val="007FA3"/>
                </a:solidFill>
                <a:latin typeface="Tahoma"/>
                <a:ea typeface="Tahoma"/>
                <a:cs typeface="Tahoma"/>
                <a:sym typeface="Tahoma"/>
              </a:rPr>
            </a:br>
            <a:r>
              <a:rPr b="1" i="0" lang="en-US" sz="1200" u="none">
                <a:solidFill>
                  <a:srgbClr val="007FA3"/>
                </a:solidFill>
                <a:latin typeface="Tahoma"/>
                <a:ea typeface="Tahoma"/>
                <a:cs typeface="Tahoma"/>
                <a:sym typeface="Tahoma"/>
              </a:rPr>
              <a:t>operation of business. </a:t>
            </a:r>
            <a:endParaRPr/>
          </a:p>
        </p:txBody>
      </p:sp>
      <p:sp>
        <p:nvSpPr>
          <p:cNvPr id="137" name="Google Shape;137;p7"/>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138" name="Google Shape;138;p7"/>
          <p:cNvPicPr preferRelativeResize="0"/>
          <p:nvPr/>
        </p:nvPicPr>
        <p:blipFill rotWithShape="1">
          <a:blip r:embed="rId3">
            <a:alphaModFix/>
          </a:blip>
          <a:srcRect b="0" l="0" r="0" t="0"/>
          <a:stretch/>
        </p:blipFill>
        <p:spPr>
          <a:xfrm>
            <a:off x="1908175" y="1565275"/>
            <a:ext cx="4641850" cy="4052887"/>
          </a:xfrm>
          <a:prstGeom prst="rect">
            <a:avLst/>
          </a:prstGeom>
          <a:noFill/>
          <a:ln>
            <a:noFill/>
          </a:ln>
        </p:spPr>
      </p:pic>
      <p:sp>
        <p:nvSpPr>
          <p:cNvPr id="139" name="Google Shape;139;p7"/>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140" name="Google Shape;140;p7"/>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141" name="Google Shape;141;p7"/>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142" name="Google Shape;142;p7"/>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151" name="Google Shape;151;p8"/>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2" name="Google Shape;152;p8"/>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153" name="Google Shape;153;p8"/>
          <p:cNvSpPr txBox="1"/>
          <p:nvPr/>
        </p:nvSpPr>
        <p:spPr>
          <a:xfrm>
            <a:off x="1600200" y="1568450"/>
            <a:ext cx="5943600" cy="1085850"/>
          </a:xfrm>
          <a:prstGeom prst="rect">
            <a:avLst/>
          </a:prstGeom>
          <a:noFill/>
          <a:ln>
            <a:noFill/>
          </a:ln>
        </p:spPr>
        <p:txBody>
          <a:bodyPr anchorCtr="0" anchor="t" bIns="45700" lIns="91425" spcFirstLastPara="1" rIns="91425" wrap="square" tIns="45700">
            <a:spAutoFit/>
          </a:bodyPr>
          <a:lstStyle/>
          <a:p>
            <a:pPr indent="-214311" lvl="0" marL="214311" marR="0" rtl="0" algn="just">
              <a:lnSpc>
                <a:spcPct val="100000"/>
              </a:lnSpc>
              <a:spcBef>
                <a:spcPts val="0"/>
              </a:spcBef>
              <a:spcAft>
                <a:spcPts val="0"/>
              </a:spcAft>
              <a:buClr>
                <a:schemeClr val="dk1"/>
              </a:buClr>
              <a:buSzPts val="1500"/>
              <a:buFont typeface="Arial"/>
              <a:buNone/>
            </a:pPr>
            <a:r>
              <a:rPr b="0" i="0" lang="en-US" sz="1500" u="none">
                <a:solidFill>
                  <a:schemeClr val="dk1"/>
                </a:solidFill>
                <a:latin typeface="Arial"/>
                <a:ea typeface="Arial"/>
                <a:cs typeface="Arial"/>
                <a:sym typeface="Arial"/>
              </a:rPr>
              <a:t>Government actions which affects the operations of a </a:t>
            </a:r>
            <a:endParaRPr/>
          </a:p>
          <a:p>
            <a:pPr indent="-214311" lvl="0" marL="214311" marR="0" rtl="0" algn="just">
              <a:lnSpc>
                <a:spcPct val="100000"/>
              </a:lnSpc>
              <a:spcBef>
                <a:spcPts val="0"/>
              </a:spcBef>
              <a:spcAft>
                <a:spcPts val="0"/>
              </a:spcAft>
              <a:buClr>
                <a:schemeClr val="dk1"/>
              </a:buClr>
              <a:buSzPts val="1500"/>
              <a:buFont typeface="Arial"/>
              <a:buNone/>
            </a:pPr>
            <a:r>
              <a:rPr b="0" i="0" lang="en-US" sz="1500" u="none">
                <a:solidFill>
                  <a:schemeClr val="dk1"/>
                </a:solidFill>
                <a:latin typeface="Arial"/>
                <a:ea typeface="Arial"/>
                <a:cs typeface="Arial"/>
                <a:sym typeface="Arial"/>
              </a:rPr>
              <a:t>company or business. </a:t>
            </a:r>
            <a:r>
              <a:rPr b="0" i="0" lang="en-US" sz="1500" u="none">
                <a:solidFill>
                  <a:schemeClr val="dk1"/>
                </a:solidFill>
                <a:latin typeface="Helvetica Neue"/>
                <a:ea typeface="Helvetica Neue"/>
                <a:cs typeface="Helvetica Neue"/>
                <a:sym typeface="Helvetica Neue"/>
              </a:rPr>
              <a:t>A government can promote business </a:t>
            </a:r>
            <a:endParaRPr/>
          </a:p>
          <a:p>
            <a:pPr indent="-214311" lvl="0" marL="214311" marR="0" rtl="0" algn="just">
              <a:lnSpc>
                <a:spcPct val="100000"/>
              </a:lnSpc>
              <a:spcBef>
                <a:spcPts val="0"/>
              </a:spcBef>
              <a:spcAft>
                <a:spcPts val="0"/>
              </a:spcAft>
              <a:buClr>
                <a:schemeClr val="dk1"/>
              </a:buClr>
              <a:buSzPts val="1500"/>
              <a:buFont typeface="Helvetica Neue"/>
              <a:buNone/>
            </a:pPr>
            <a:r>
              <a:rPr b="0" i="0" lang="en-US" sz="1500" u="none">
                <a:solidFill>
                  <a:schemeClr val="dk1"/>
                </a:solidFill>
                <a:latin typeface="Helvetica Neue"/>
                <a:ea typeface="Helvetica Neue"/>
                <a:cs typeface="Helvetica Neue"/>
                <a:sym typeface="Helvetica Neue"/>
              </a:rPr>
              <a:t>through:</a:t>
            </a:r>
            <a:endParaRPr/>
          </a:p>
          <a:p>
            <a:pPr indent="0" lvl="0" marL="0" marR="0" rtl="0" algn="l">
              <a:lnSpc>
                <a:spcPct val="100000"/>
              </a:lnSpc>
              <a:spcBef>
                <a:spcPts val="0"/>
              </a:spcBef>
              <a:spcAft>
                <a:spcPts val="0"/>
              </a:spcAft>
              <a:buNone/>
            </a:pPr>
            <a:r>
              <a:t/>
            </a:r>
            <a:endParaRPr b="0" i="0" sz="1500" u="none">
              <a:solidFill>
                <a:schemeClr val="dk1"/>
              </a:solidFill>
              <a:latin typeface="Helvetica Neue"/>
              <a:ea typeface="Helvetica Neue"/>
              <a:cs typeface="Helvetica Neue"/>
              <a:sym typeface="Helvetica Neue"/>
            </a:endParaRPr>
          </a:p>
        </p:txBody>
      </p:sp>
      <p:sp>
        <p:nvSpPr>
          <p:cNvPr id="154" name="Google Shape;154;p8"/>
          <p:cNvSpPr txBox="1"/>
          <p:nvPr>
            <p:ph type="ctrTitle"/>
          </p:nvPr>
        </p:nvSpPr>
        <p:spPr>
          <a:xfrm>
            <a:off x="1657350" y="196850"/>
            <a:ext cx="5829300" cy="11033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400"/>
              <a:buFont typeface="Helvetica Neue"/>
              <a:buNone/>
            </a:pPr>
            <a:r>
              <a:rPr b="1" i="0" lang="en-US" sz="2400" u="none">
                <a:solidFill>
                  <a:srgbClr val="007FA3"/>
                </a:solidFill>
                <a:latin typeface="Helvetica Neue"/>
                <a:ea typeface="Helvetica Neue"/>
                <a:cs typeface="Helvetica Neue"/>
                <a:sym typeface="Helvetica Neue"/>
              </a:rPr>
              <a:t>1. Economic &amp; Legal Environment</a:t>
            </a:r>
            <a:endParaRPr/>
          </a:p>
        </p:txBody>
      </p:sp>
      <p:sp>
        <p:nvSpPr>
          <p:cNvPr id="155" name="Google Shape;155;p8"/>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156" name="Google Shape;156;p8"/>
          <p:cNvPicPr preferRelativeResize="0"/>
          <p:nvPr/>
        </p:nvPicPr>
        <p:blipFill rotWithShape="1">
          <a:blip r:embed="rId3">
            <a:alphaModFix/>
          </a:blip>
          <a:srcRect b="0" l="0" r="0" t="0"/>
          <a:stretch/>
        </p:blipFill>
        <p:spPr>
          <a:xfrm>
            <a:off x="2389187" y="2249487"/>
            <a:ext cx="4572000" cy="3071812"/>
          </a:xfrm>
          <a:prstGeom prst="rect">
            <a:avLst/>
          </a:prstGeom>
          <a:noFill/>
          <a:ln>
            <a:noFill/>
          </a:ln>
        </p:spPr>
      </p:pic>
      <p:sp>
        <p:nvSpPr>
          <p:cNvPr id="157" name="Google Shape;157;p8"/>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8" name="Google Shape;158;p8"/>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159" name="Google Shape;159;p8"/>
          <p:cNvPicPr preferRelativeResize="0"/>
          <p:nvPr/>
        </p:nvPicPr>
        <p:blipFill rotWithShape="1">
          <a:blip r:embed="rId4">
            <a:alphaModFix/>
          </a:blip>
          <a:srcRect b="0" l="0" r="0" t="0"/>
          <a:stretch/>
        </p:blipFill>
        <p:spPr>
          <a:xfrm>
            <a:off x="6350" y="6356350"/>
            <a:ext cx="9144000" cy="479425"/>
          </a:xfrm>
          <a:prstGeom prst="rect">
            <a:avLst/>
          </a:prstGeom>
          <a:noFill/>
          <a:ln>
            <a:noFill/>
          </a:ln>
        </p:spPr>
      </p:pic>
      <p:pic>
        <p:nvPicPr>
          <p:cNvPr id="160" name="Google Shape;160;p8"/>
          <p:cNvPicPr preferRelativeResize="0"/>
          <p:nvPr/>
        </p:nvPicPr>
        <p:blipFill rotWithShape="1">
          <a:blip r:embed="rId5">
            <a:alphaModFix/>
          </a:blip>
          <a:srcRect b="0" l="0" r="0" t="0"/>
          <a:stretch/>
        </p:blipFill>
        <p:spPr>
          <a:xfrm>
            <a:off x="7510462" y="5338762"/>
            <a:ext cx="1549400" cy="709612"/>
          </a:xfrm>
          <a:prstGeom prst="rect">
            <a:avLst/>
          </a:prstGeom>
          <a:noFill/>
          <a:ln>
            <a:noFill/>
          </a:ln>
        </p:spPr>
      </p:pic>
      <p:pic>
        <p:nvPicPr>
          <p:cNvPr descr="BracU Logo | Brac University" id="161" name="Google Shape;161;p8"/>
          <p:cNvPicPr preferRelativeResize="0"/>
          <p:nvPr/>
        </p:nvPicPr>
        <p:blipFill rotWithShape="1">
          <a:blip r:embed="rId6">
            <a:alphaModFix/>
          </a:blip>
          <a:srcRect b="0" l="0" r="0" t="0"/>
          <a:stretch/>
        </p:blipFill>
        <p:spPr>
          <a:xfrm>
            <a:off x="84137" y="5375275"/>
            <a:ext cx="1549400" cy="800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170" name="Google Shape;170;p9"/>
          <p:cNvSpPr/>
          <p:nvPr/>
        </p:nvSpPr>
        <p:spPr>
          <a:xfrm>
            <a:off x="1152525" y="585787"/>
            <a:ext cx="657860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1" name="Google Shape;171;p9"/>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172" name="Google Shape;172;p9"/>
          <p:cNvSpPr txBox="1"/>
          <p:nvPr>
            <p:ph type="ctrTitle"/>
          </p:nvPr>
        </p:nvSpPr>
        <p:spPr>
          <a:xfrm>
            <a:off x="1412875" y="1231900"/>
            <a:ext cx="5829300" cy="11017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400"/>
              <a:buFont typeface="Helvetica Neue"/>
              <a:buNone/>
            </a:pPr>
            <a:r>
              <a:rPr b="1" i="0" lang="en-US" sz="2400" u="none">
                <a:solidFill>
                  <a:srgbClr val="007FA3"/>
                </a:solidFill>
                <a:latin typeface="Helvetica Neue"/>
                <a:ea typeface="Helvetica Neue"/>
                <a:cs typeface="Helvetica Neue"/>
                <a:sym typeface="Helvetica Neue"/>
              </a:rPr>
              <a:t>1. Economic &amp; Legal Environment</a:t>
            </a:r>
            <a:endParaRPr/>
          </a:p>
        </p:txBody>
      </p:sp>
      <p:sp>
        <p:nvSpPr>
          <p:cNvPr id="173" name="Google Shape;173;p9"/>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sp>
        <p:nvSpPr>
          <p:cNvPr id="174" name="Google Shape;174;p9"/>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5" name="Google Shape;175;p9"/>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176" name="Google Shape;176;p9"/>
          <p:cNvPicPr preferRelativeResize="0"/>
          <p:nvPr/>
        </p:nvPicPr>
        <p:blipFill rotWithShape="1">
          <a:blip r:embed="rId3">
            <a:alphaModFix/>
          </a:blip>
          <a:srcRect b="0" l="0" r="0" t="0"/>
          <a:stretch/>
        </p:blipFill>
        <p:spPr>
          <a:xfrm>
            <a:off x="6350" y="6165850"/>
            <a:ext cx="9144000" cy="669925"/>
          </a:xfrm>
          <a:prstGeom prst="rect">
            <a:avLst/>
          </a:prstGeom>
          <a:noFill/>
          <a:ln>
            <a:noFill/>
          </a:ln>
        </p:spPr>
      </p:pic>
      <p:pic>
        <p:nvPicPr>
          <p:cNvPr id="177" name="Google Shape;177;p9"/>
          <p:cNvPicPr preferRelativeResize="0"/>
          <p:nvPr/>
        </p:nvPicPr>
        <p:blipFill rotWithShape="1">
          <a:blip r:embed="rId4">
            <a:alphaModFix/>
          </a:blip>
          <a:srcRect b="0" l="0" r="0" t="0"/>
          <a:stretch/>
        </p:blipFill>
        <p:spPr>
          <a:xfrm>
            <a:off x="7510462" y="5054600"/>
            <a:ext cx="1549400" cy="993775"/>
          </a:xfrm>
          <a:prstGeom prst="rect">
            <a:avLst/>
          </a:prstGeom>
          <a:noFill/>
          <a:ln>
            <a:noFill/>
          </a:ln>
        </p:spPr>
      </p:pic>
      <p:pic>
        <p:nvPicPr>
          <p:cNvPr descr="BracU Logo | Brac University" id="178" name="Google Shape;178;p9"/>
          <p:cNvPicPr preferRelativeResize="0"/>
          <p:nvPr/>
        </p:nvPicPr>
        <p:blipFill rotWithShape="1">
          <a:blip r:embed="rId5">
            <a:alphaModFix/>
          </a:blip>
          <a:srcRect b="0" l="0" r="0" t="0"/>
          <a:stretch/>
        </p:blipFill>
        <p:spPr>
          <a:xfrm>
            <a:off x="84137" y="5054600"/>
            <a:ext cx="1549400" cy="1120775"/>
          </a:xfrm>
          <a:prstGeom prst="rect">
            <a:avLst/>
          </a:prstGeom>
          <a:noFill/>
          <a:ln>
            <a:noFill/>
          </a:ln>
        </p:spPr>
      </p:pic>
      <p:pic>
        <p:nvPicPr>
          <p:cNvPr descr="How Legal Factors affect Business Environment | Marketing Tutor" id="179" name="Google Shape;179;p9"/>
          <p:cNvPicPr preferRelativeResize="0"/>
          <p:nvPr/>
        </p:nvPicPr>
        <p:blipFill rotWithShape="1">
          <a:blip r:embed="rId6">
            <a:alphaModFix/>
          </a:blip>
          <a:srcRect b="0" l="0" r="0" t="0"/>
          <a:stretch/>
        </p:blipFill>
        <p:spPr>
          <a:xfrm>
            <a:off x="1763712" y="2449512"/>
            <a:ext cx="2619375" cy="1743075"/>
          </a:xfrm>
          <a:prstGeom prst="rect">
            <a:avLst/>
          </a:prstGeom>
          <a:noFill/>
          <a:ln>
            <a:noFill/>
          </a:ln>
        </p:spPr>
      </p:pic>
      <p:pic>
        <p:nvPicPr>
          <p:cNvPr descr="What is corruption? - Transparency.org" id="180" name="Google Shape;180;p9"/>
          <p:cNvPicPr preferRelativeResize="0"/>
          <p:nvPr/>
        </p:nvPicPr>
        <p:blipFill rotWithShape="1">
          <a:blip r:embed="rId7">
            <a:alphaModFix/>
          </a:blip>
          <a:srcRect b="0" l="0" r="0" t="0"/>
          <a:stretch/>
        </p:blipFill>
        <p:spPr>
          <a:xfrm>
            <a:off x="4383087" y="2449512"/>
            <a:ext cx="2859087" cy="174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187" name="Google Shape;187;p10"/>
          <p:cNvSpPr/>
          <p:nvPr/>
        </p:nvSpPr>
        <p:spPr>
          <a:xfrm>
            <a:off x="1517650" y="12065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8" name="Google Shape;188;p10"/>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189" name="Google Shape;189;p10"/>
          <p:cNvSpPr txBox="1"/>
          <p:nvPr/>
        </p:nvSpPr>
        <p:spPr>
          <a:xfrm>
            <a:off x="1252537" y="1320800"/>
            <a:ext cx="5857875" cy="3924300"/>
          </a:xfrm>
          <a:prstGeom prst="rect">
            <a:avLst/>
          </a:prstGeom>
          <a:noFill/>
          <a:ln>
            <a:noFill/>
          </a:ln>
        </p:spPr>
        <p:txBody>
          <a:bodyPr anchorCtr="0" anchor="t" bIns="45700" lIns="91425" spcFirstLastPara="1" rIns="91425" wrap="square" tIns="45700">
            <a:spAutoFit/>
          </a:bodyPr>
          <a:lstStyle/>
          <a:p>
            <a:pPr indent="-150811" lvl="0" marL="214311" marR="0" rtl="0" algn="l">
              <a:lnSpc>
                <a:spcPct val="100000"/>
              </a:lnSpc>
              <a:spcBef>
                <a:spcPts val="0"/>
              </a:spcBef>
              <a:spcAft>
                <a:spcPts val="0"/>
              </a:spcAft>
              <a:buClr>
                <a:schemeClr val="dk1"/>
              </a:buClr>
              <a:buSzPts val="1000"/>
              <a:buFont typeface="Arial"/>
              <a:buNone/>
            </a:pPr>
            <a:r>
              <a:t/>
            </a:r>
            <a:endParaRPr b="0" i="0" sz="10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Helvetica Neue"/>
              <a:buNone/>
            </a:pPr>
            <a:r>
              <a:rPr b="1" i="0" lang="en-US" sz="1200" u="none">
                <a:solidFill>
                  <a:schemeClr val="dk1"/>
                </a:solidFill>
                <a:latin typeface="Helvetica Neue"/>
                <a:ea typeface="Helvetica Neue"/>
                <a:cs typeface="Helvetica Neue"/>
                <a:sym typeface="Helvetica Neue"/>
              </a:rPr>
              <a:t>    </a:t>
            </a:r>
            <a:endParaRPr/>
          </a:p>
          <a:p>
            <a:pPr indent="-214311" lvl="0" marL="214311" marR="0" rtl="0" algn="l">
              <a:lnSpc>
                <a:spcPct val="100000"/>
              </a:lnSpc>
              <a:spcBef>
                <a:spcPts val="0"/>
              </a:spcBef>
              <a:spcAft>
                <a:spcPts val="0"/>
              </a:spcAft>
              <a:buClr>
                <a:schemeClr val="dk1"/>
              </a:buClr>
              <a:buSzPts val="1200"/>
              <a:buFont typeface="Helvetica Neue"/>
              <a:buNone/>
            </a:pPr>
            <a:r>
              <a:rPr b="1" i="0" lang="en-US" sz="1200" u="none">
                <a:solidFill>
                  <a:schemeClr val="dk1"/>
                </a:solidFill>
                <a:latin typeface="Helvetica Neue"/>
                <a:ea typeface="Helvetica Neue"/>
                <a:cs typeface="Helvetica Neue"/>
                <a:sym typeface="Helvetica Neue"/>
              </a:rPr>
              <a:t>     Technology -- </a:t>
            </a:r>
            <a:r>
              <a:rPr b="0" i="1" lang="en-US" sz="1200" u="none">
                <a:solidFill>
                  <a:schemeClr val="dk1"/>
                </a:solidFill>
                <a:latin typeface="Helvetica Neue"/>
                <a:ea typeface="Helvetica Neue"/>
                <a:cs typeface="Helvetica Neue"/>
                <a:sym typeface="Helvetica Neue"/>
              </a:rPr>
              <a:t>Everything from phones  to copiers and the various </a:t>
            </a:r>
            <a:endParaRPr/>
          </a:p>
          <a:p>
            <a:pPr indent="-214311" lvl="0" marL="214311" marR="0" rtl="0" algn="l">
              <a:lnSpc>
                <a:spcPct val="100000"/>
              </a:lnSpc>
              <a:spcBef>
                <a:spcPts val="0"/>
              </a:spcBef>
              <a:spcAft>
                <a:spcPts val="0"/>
              </a:spcAft>
              <a:buClr>
                <a:schemeClr val="dk1"/>
              </a:buClr>
              <a:buSzPts val="1200"/>
              <a:buFont typeface="Helvetica Neue"/>
              <a:buNone/>
            </a:pPr>
            <a:r>
              <a:rPr b="0" i="1" lang="en-US" sz="1200" u="none">
                <a:solidFill>
                  <a:schemeClr val="dk1"/>
                </a:solidFill>
                <a:latin typeface="Helvetica Neue"/>
                <a:ea typeface="Helvetica Neue"/>
                <a:cs typeface="Helvetica Neue"/>
                <a:sym typeface="Helvetica Neue"/>
              </a:rPr>
              <a:t>      software programs that make businesses more  effective, efficient </a:t>
            </a:r>
            <a:endParaRPr/>
          </a:p>
          <a:p>
            <a:pPr indent="-214311" lvl="0" marL="214311" marR="0" rtl="0" algn="l">
              <a:lnSpc>
                <a:spcPct val="100000"/>
              </a:lnSpc>
              <a:spcBef>
                <a:spcPts val="0"/>
              </a:spcBef>
              <a:spcAft>
                <a:spcPts val="0"/>
              </a:spcAft>
              <a:buClr>
                <a:schemeClr val="dk1"/>
              </a:buClr>
              <a:buSzPts val="1200"/>
              <a:buFont typeface="Helvetica Neue"/>
              <a:buNone/>
            </a:pPr>
            <a:r>
              <a:rPr b="0" i="1" lang="en-US" sz="1200" u="none">
                <a:solidFill>
                  <a:schemeClr val="dk1"/>
                </a:solidFill>
                <a:latin typeface="Helvetica Neue"/>
                <a:ea typeface="Helvetica Neue"/>
                <a:cs typeface="Helvetica Neue"/>
                <a:sym typeface="Helvetica Neue"/>
              </a:rPr>
              <a:t>      and productive.</a:t>
            </a:r>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Arial"/>
              <a:buChar char="•"/>
            </a:pPr>
            <a:r>
              <a:rPr b="1" i="0" lang="en-US" sz="1200" u="none">
                <a:solidFill>
                  <a:schemeClr val="dk1"/>
                </a:solidFill>
                <a:latin typeface="Helvetica Neue"/>
                <a:ea typeface="Helvetica Neue"/>
                <a:cs typeface="Helvetica Neue"/>
                <a:sym typeface="Helvetica Neue"/>
              </a:rPr>
              <a:t>Effectiveness -- </a:t>
            </a:r>
            <a:r>
              <a:rPr b="0" i="1" lang="en-US" sz="1200" u="none">
                <a:solidFill>
                  <a:schemeClr val="dk1"/>
                </a:solidFill>
                <a:latin typeface="Helvetica Neue"/>
                <a:ea typeface="Helvetica Neue"/>
                <a:cs typeface="Helvetica Neue"/>
                <a:sym typeface="Helvetica Neue"/>
              </a:rPr>
              <a:t>Producing the desired result.</a:t>
            </a:r>
            <a:endParaRPr/>
          </a:p>
          <a:p>
            <a:pPr indent="-214311" lvl="0" marL="214311" marR="0" rtl="0" algn="l">
              <a:lnSpc>
                <a:spcPct val="100000"/>
              </a:lnSpc>
              <a:spcBef>
                <a:spcPts val="0"/>
              </a:spcBef>
              <a:spcAft>
                <a:spcPts val="0"/>
              </a:spcAft>
              <a:buClr>
                <a:schemeClr val="dk1"/>
              </a:buClr>
              <a:buSzPts val="1200"/>
              <a:buFont typeface="Helvetica Neue"/>
              <a:buNone/>
            </a:pPr>
            <a:r>
              <a:rPr b="0" i="1" lang="en-US" sz="1200" u="none">
                <a:solidFill>
                  <a:schemeClr val="dk1"/>
                </a:solidFill>
                <a:latin typeface="Helvetica Neue"/>
                <a:ea typeface="Helvetica Neue"/>
                <a:cs typeface="Helvetica Neue"/>
                <a:sym typeface="Helvetica Neue"/>
              </a:rPr>
              <a:t>                                (doing the right things)</a:t>
            </a:r>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Arial"/>
              <a:buChar char="•"/>
            </a:pPr>
            <a:r>
              <a:rPr b="1" i="0" lang="en-US" sz="1200" u="none">
                <a:solidFill>
                  <a:schemeClr val="dk1"/>
                </a:solidFill>
                <a:latin typeface="Helvetica Neue"/>
                <a:ea typeface="Helvetica Neue"/>
                <a:cs typeface="Helvetica Neue"/>
                <a:sym typeface="Helvetica Neue"/>
              </a:rPr>
              <a:t>Efficiency -- </a:t>
            </a:r>
            <a:r>
              <a:rPr b="0" i="1" lang="en-US" sz="1200" u="none">
                <a:solidFill>
                  <a:schemeClr val="dk1"/>
                </a:solidFill>
                <a:latin typeface="Helvetica Neue"/>
                <a:ea typeface="Helvetica Neue"/>
                <a:cs typeface="Helvetica Neue"/>
                <a:sym typeface="Helvetica Neue"/>
              </a:rPr>
              <a:t>Producing goods and services using </a:t>
            </a:r>
            <a:endParaRPr/>
          </a:p>
          <a:p>
            <a:pPr indent="-214311" lvl="0" marL="214311" marR="0" rtl="0" algn="l">
              <a:lnSpc>
                <a:spcPct val="100000"/>
              </a:lnSpc>
              <a:spcBef>
                <a:spcPts val="0"/>
              </a:spcBef>
              <a:spcAft>
                <a:spcPts val="0"/>
              </a:spcAft>
              <a:buClr>
                <a:schemeClr val="dk1"/>
              </a:buClr>
              <a:buSzPts val="1200"/>
              <a:buFont typeface="Helvetica Neue"/>
              <a:buNone/>
            </a:pPr>
            <a:r>
              <a:rPr b="0" i="1" lang="en-US" sz="1200" u="none">
                <a:solidFill>
                  <a:schemeClr val="dk1"/>
                </a:solidFill>
                <a:latin typeface="Helvetica Neue"/>
                <a:ea typeface="Helvetica Neue"/>
                <a:cs typeface="Helvetica Neue"/>
                <a:sym typeface="Helvetica Neue"/>
              </a:rPr>
              <a:t>      the least amount of resources. (doing thing right) </a:t>
            </a:r>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138111" lvl="0" marL="214311" marR="0" rtl="0" algn="l">
              <a:lnSpc>
                <a:spcPct val="100000"/>
              </a:lnSpc>
              <a:spcBef>
                <a:spcPts val="0"/>
              </a:spcBef>
              <a:spcAft>
                <a:spcPts val="0"/>
              </a:spcAft>
              <a:buClr>
                <a:schemeClr val="dk1"/>
              </a:buClr>
              <a:buSzPts val="1200"/>
              <a:buFont typeface="Arial"/>
              <a:buNone/>
            </a:pPr>
            <a:r>
              <a:t/>
            </a:r>
            <a:endParaRPr b="1" i="0"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Arial"/>
              <a:buChar char="•"/>
            </a:pPr>
            <a:r>
              <a:rPr b="1" i="0" lang="en-US" sz="1200" u="none">
                <a:solidFill>
                  <a:schemeClr val="dk1"/>
                </a:solidFill>
                <a:latin typeface="Helvetica Neue"/>
                <a:ea typeface="Helvetica Neue"/>
                <a:cs typeface="Helvetica Neue"/>
                <a:sym typeface="Helvetica Neue"/>
              </a:rPr>
              <a:t>Productivity -- </a:t>
            </a:r>
            <a:r>
              <a:rPr b="0" i="1" lang="en-US" sz="1200" u="none">
                <a:solidFill>
                  <a:schemeClr val="dk1"/>
                </a:solidFill>
                <a:latin typeface="Helvetica Neue"/>
                <a:ea typeface="Helvetica Neue"/>
                <a:cs typeface="Helvetica Neue"/>
                <a:sym typeface="Helvetica Neue"/>
              </a:rPr>
              <a:t>The amount of output you generate given the amount of input (example: hours you work).</a:t>
            </a:r>
            <a:endParaRPr/>
          </a:p>
          <a:p>
            <a:pPr indent="-214311" lvl="0" marL="214311" marR="0" rtl="0" algn="l">
              <a:lnSpc>
                <a:spcPct val="100000"/>
              </a:lnSpc>
              <a:spcBef>
                <a:spcPts val="0"/>
              </a:spcBef>
              <a:spcAft>
                <a:spcPts val="0"/>
              </a:spcAft>
              <a:buClr>
                <a:schemeClr val="dk1"/>
              </a:buClr>
              <a:buSzPts val="1200"/>
              <a:buFont typeface="Arial"/>
              <a:buNone/>
            </a:pPr>
            <a:r>
              <a:t/>
            </a:r>
            <a:endParaRPr b="0" i="1"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Helvetica Neue"/>
              <a:buNone/>
            </a:pPr>
            <a:r>
              <a:rPr b="1" i="1" lang="en-US" sz="1200" u="none">
                <a:solidFill>
                  <a:schemeClr val="dk1"/>
                </a:solidFill>
                <a:latin typeface="Helvetica Neue"/>
                <a:ea typeface="Helvetica Neue"/>
                <a:cs typeface="Helvetica Neue"/>
                <a:sym typeface="Helvetica Neue"/>
              </a:rPr>
              <a:t>                         </a:t>
            </a:r>
            <a:endParaRPr b="0" i="1"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000"/>
              <a:buFont typeface="Helvetica Neue"/>
              <a:buNone/>
            </a:pPr>
            <a:r>
              <a:rPr b="0" i="0" lang="en-US" sz="1000" u="none">
                <a:solidFill>
                  <a:schemeClr val="dk1"/>
                </a:solidFill>
                <a:latin typeface="Helvetica Neue"/>
                <a:ea typeface="Helvetica Neue"/>
                <a:cs typeface="Helvetica Neue"/>
                <a:sym typeface="Helvetica Neue"/>
              </a:rPr>
              <a:t>  </a:t>
            </a:r>
            <a:endParaRPr/>
          </a:p>
        </p:txBody>
      </p:sp>
      <p:sp>
        <p:nvSpPr>
          <p:cNvPr id="190" name="Google Shape;190;p10"/>
          <p:cNvSpPr txBox="1"/>
          <p:nvPr>
            <p:ph type="ctrTitle"/>
          </p:nvPr>
        </p:nvSpPr>
        <p:spPr>
          <a:xfrm>
            <a:off x="1657350" y="427037"/>
            <a:ext cx="5829300" cy="88423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100"/>
              <a:buFont typeface="Helvetica Neue"/>
              <a:buNone/>
            </a:pPr>
            <a:r>
              <a:rPr b="1" i="0" lang="en-US" sz="2100" u="none">
                <a:solidFill>
                  <a:srgbClr val="007FA3"/>
                </a:solidFill>
                <a:latin typeface="Helvetica Neue"/>
                <a:ea typeface="Helvetica Neue"/>
                <a:cs typeface="Helvetica Neue"/>
                <a:sym typeface="Helvetica Neue"/>
              </a:rPr>
              <a:t>2. TECHNOLOGICAL ENVIRONMENT</a:t>
            </a:r>
            <a:endParaRPr/>
          </a:p>
        </p:txBody>
      </p:sp>
      <p:sp>
        <p:nvSpPr>
          <p:cNvPr id="191" name="Google Shape;191;p10"/>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192" name="Google Shape;192;p10"/>
          <p:cNvPicPr preferRelativeResize="0"/>
          <p:nvPr/>
        </p:nvPicPr>
        <p:blipFill rotWithShape="1">
          <a:blip r:embed="rId3">
            <a:alphaModFix/>
          </a:blip>
          <a:srcRect b="0" l="0" r="0" t="0"/>
          <a:stretch/>
        </p:blipFill>
        <p:spPr>
          <a:xfrm>
            <a:off x="4983562" y="2247593"/>
            <a:ext cx="2671763" cy="1919041"/>
          </a:xfrm>
          <a:prstGeom prst="rect">
            <a:avLst/>
          </a:prstGeom>
          <a:noFill/>
          <a:ln>
            <a:noFill/>
          </a:ln>
        </p:spPr>
      </p:pic>
      <p:sp>
        <p:nvSpPr>
          <p:cNvPr id="193" name="Google Shape;193;p10"/>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4" name="Google Shape;194;p10"/>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195" name="Google Shape;195;p10"/>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196" name="Google Shape;196;p10"/>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197" name="Google Shape;197;p10"/>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204" name="Google Shape;204;p11"/>
          <p:cNvSpPr/>
          <p:nvPr/>
        </p:nvSpPr>
        <p:spPr>
          <a:xfrm>
            <a:off x="1311275" y="1273175"/>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5" name="Google Shape;205;p11"/>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206" name="Google Shape;206;p11"/>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207" name="Google Shape;207;p11"/>
          <p:cNvSpPr txBox="1"/>
          <p:nvPr/>
        </p:nvSpPr>
        <p:spPr>
          <a:xfrm>
            <a:off x="1571625" y="1106487"/>
            <a:ext cx="6672262" cy="2170112"/>
          </a:xfrm>
          <a:prstGeom prst="rect">
            <a:avLst/>
          </a:prstGeom>
          <a:noFill/>
          <a:ln>
            <a:noFill/>
          </a:ln>
        </p:spPr>
        <p:txBody>
          <a:bodyPr anchorCtr="0" anchor="t" bIns="45700" lIns="91425" spcFirstLastPara="1" rIns="91425" wrap="square" tIns="45700">
            <a:spAutoFit/>
          </a:bodyPr>
          <a:lstStyle/>
          <a:p>
            <a:pPr indent="-150811" lvl="0" marL="214311" marR="0" rtl="0" algn="l">
              <a:lnSpc>
                <a:spcPct val="100000"/>
              </a:lnSpc>
              <a:spcBef>
                <a:spcPts val="0"/>
              </a:spcBef>
              <a:spcAft>
                <a:spcPts val="0"/>
              </a:spcAft>
              <a:buClr>
                <a:schemeClr val="dk1"/>
              </a:buClr>
              <a:buSzPts val="1000"/>
              <a:buFont typeface="Arial"/>
              <a:buNone/>
            </a:pPr>
            <a:r>
              <a:t/>
            </a:r>
            <a:endParaRPr b="0" i="0" sz="10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Helvetica Neue"/>
              <a:buNone/>
            </a:pPr>
            <a:r>
              <a:rPr b="1" i="0" lang="en-US" sz="1200" u="none">
                <a:solidFill>
                  <a:schemeClr val="dk1"/>
                </a:solidFill>
                <a:latin typeface="Helvetica Neue"/>
                <a:ea typeface="Helvetica Neue"/>
                <a:cs typeface="Helvetica Neue"/>
                <a:sym typeface="Helvetica Neue"/>
              </a:rPr>
              <a:t>    </a:t>
            </a:r>
            <a:endParaRPr b="0" i="1"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Arial"/>
              <a:buNone/>
            </a:pPr>
            <a:r>
              <a:t/>
            </a:r>
            <a:endParaRPr b="1" i="1"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Helvetica Neue"/>
              <a:buNone/>
            </a:pPr>
            <a:r>
              <a:rPr b="1" i="1" lang="en-US" sz="1200" u="none">
                <a:solidFill>
                  <a:schemeClr val="dk1"/>
                </a:solidFill>
                <a:latin typeface="Helvetica Neue"/>
                <a:ea typeface="Helvetica Neue"/>
                <a:cs typeface="Helvetica Neue"/>
                <a:sym typeface="Helvetica Neue"/>
              </a:rPr>
              <a:t>                     </a:t>
            </a:r>
            <a:endParaRPr/>
          </a:p>
          <a:p>
            <a:pPr indent="-214311" lvl="0" marL="214311" marR="0" rtl="0" algn="l">
              <a:lnSpc>
                <a:spcPct val="100000"/>
              </a:lnSpc>
              <a:spcBef>
                <a:spcPts val="0"/>
              </a:spcBef>
              <a:spcAft>
                <a:spcPts val="0"/>
              </a:spcAft>
              <a:buClr>
                <a:srgbClr val="72BFC5"/>
              </a:buClr>
              <a:buSzPts val="1800"/>
              <a:buFont typeface="Helvetica Neue"/>
              <a:buNone/>
            </a:pPr>
            <a:r>
              <a:rPr b="1" i="1" lang="en-US" sz="1800" u="none">
                <a:solidFill>
                  <a:srgbClr val="72BFC5"/>
                </a:solidFill>
                <a:latin typeface="Helvetica Neue"/>
                <a:ea typeface="Helvetica Neue"/>
                <a:cs typeface="Helvetica Neue"/>
                <a:sym typeface="Helvetica Neue"/>
              </a:rPr>
              <a:t>Food for thought: Does being busy means being productive?</a:t>
            </a:r>
            <a:endParaRPr/>
          </a:p>
          <a:p>
            <a:pPr indent="-214311" lvl="0" marL="214311"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3">
                  <a:extLst>
                    <a:ext uri="{A12FA001-AC4F-418D-AE19-62706E023703}">
                      <ahyp:hlinkClr val="tx"/>
                    </a:ext>
                  </a:extLst>
                </a:hlinkClick>
              </a:rPr>
              <a:t>https://youtu.be/HPLBwuj7sMA</a:t>
            </a:r>
            <a:endParaRPr b="1" i="1" sz="1800" u="none">
              <a:solidFill>
                <a:srgbClr val="72BFC5"/>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Arial"/>
              <a:buNone/>
            </a:pPr>
            <a:r>
              <a:t/>
            </a:r>
            <a:endParaRPr b="1" i="1"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200"/>
              <a:buFont typeface="Arial"/>
              <a:buNone/>
            </a:pPr>
            <a:r>
              <a:t/>
            </a:r>
            <a:endParaRPr b="0" i="1" sz="1200" u="none">
              <a:solidFill>
                <a:schemeClr val="dk1"/>
              </a:solidFill>
              <a:latin typeface="Helvetica Neue"/>
              <a:ea typeface="Helvetica Neue"/>
              <a:cs typeface="Helvetica Neue"/>
              <a:sym typeface="Helvetica Neue"/>
            </a:endParaRPr>
          </a:p>
          <a:p>
            <a:pPr indent="-214311" lvl="0" marL="214311" marR="0" rtl="0" algn="l">
              <a:lnSpc>
                <a:spcPct val="100000"/>
              </a:lnSpc>
              <a:spcBef>
                <a:spcPts val="0"/>
              </a:spcBef>
              <a:spcAft>
                <a:spcPts val="0"/>
              </a:spcAft>
              <a:buClr>
                <a:schemeClr val="dk1"/>
              </a:buClr>
              <a:buSzPts val="1000"/>
              <a:buFont typeface="Helvetica Neue"/>
              <a:buNone/>
            </a:pPr>
            <a:r>
              <a:rPr b="0" i="0" lang="en-US" sz="1000" u="none">
                <a:solidFill>
                  <a:schemeClr val="dk1"/>
                </a:solidFill>
                <a:latin typeface="Helvetica Neue"/>
                <a:ea typeface="Helvetica Neue"/>
                <a:cs typeface="Helvetica Neue"/>
                <a:sym typeface="Helvetica Neue"/>
              </a:rPr>
              <a:t>  </a:t>
            </a:r>
            <a:endParaRPr/>
          </a:p>
        </p:txBody>
      </p:sp>
      <p:sp>
        <p:nvSpPr>
          <p:cNvPr id="208" name="Google Shape;208;p11"/>
          <p:cNvSpPr txBox="1"/>
          <p:nvPr>
            <p:ph type="ctrTitle"/>
          </p:nvPr>
        </p:nvSpPr>
        <p:spPr>
          <a:xfrm>
            <a:off x="1571625" y="363537"/>
            <a:ext cx="5829300" cy="8826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100"/>
              <a:buFont typeface="Helvetica Neue"/>
              <a:buNone/>
            </a:pPr>
            <a:r>
              <a:rPr b="1" i="0" lang="en-US" sz="2100" u="none">
                <a:solidFill>
                  <a:srgbClr val="007FA3"/>
                </a:solidFill>
                <a:latin typeface="Helvetica Neue"/>
                <a:ea typeface="Helvetica Neue"/>
                <a:cs typeface="Helvetica Neue"/>
                <a:sym typeface="Helvetica Neue"/>
              </a:rPr>
              <a:t>2. TECHNOLOGICAL ENVIRONMENT</a:t>
            </a:r>
            <a:endParaRPr/>
          </a:p>
        </p:txBody>
      </p:sp>
      <p:sp>
        <p:nvSpPr>
          <p:cNvPr id="209" name="Google Shape;209;p11"/>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sp>
        <p:nvSpPr>
          <p:cNvPr id="210" name="Google Shape;210;p11"/>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1" name="Google Shape;211;p11"/>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212" name="Google Shape;212;p11"/>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213" name="Google Shape;213;p11"/>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214" name="Google Shape;214;p11"/>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pic>
        <p:nvPicPr>
          <p:cNvPr descr="Technological Factors Affect Business Environment | Marketing Tutor" id="215" name="Google Shape;215;p11"/>
          <p:cNvPicPr preferRelativeResize="0"/>
          <p:nvPr/>
        </p:nvPicPr>
        <p:blipFill rotWithShape="1">
          <a:blip r:embed="rId7">
            <a:alphaModFix/>
          </a:blip>
          <a:srcRect b="0" l="0" r="0" t="0"/>
          <a:stretch/>
        </p:blipFill>
        <p:spPr>
          <a:xfrm>
            <a:off x="1784350" y="2978150"/>
            <a:ext cx="2441575" cy="1924050"/>
          </a:xfrm>
          <a:prstGeom prst="rect">
            <a:avLst/>
          </a:prstGeom>
          <a:noFill/>
          <a:ln>
            <a:noFill/>
          </a:ln>
        </p:spPr>
      </p:pic>
      <p:pic>
        <p:nvPicPr>
          <p:cNvPr descr="How to Know About The Business Environment - howtonc.com" id="216" name="Google Shape;216;p11"/>
          <p:cNvPicPr preferRelativeResize="0"/>
          <p:nvPr/>
        </p:nvPicPr>
        <p:blipFill rotWithShape="1">
          <a:blip r:embed="rId8">
            <a:alphaModFix/>
          </a:blip>
          <a:srcRect b="0" l="0" r="0" t="0"/>
          <a:stretch/>
        </p:blipFill>
        <p:spPr>
          <a:xfrm>
            <a:off x="4225925" y="2940050"/>
            <a:ext cx="2746375" cy="1924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223" name="Google Shape;223;p12"/>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4" name="Google Shape;224;p12"/>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225" name="Google Shape;225;p12"/>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226" name="Google Shape;226;p12"/>
          <p:cNvSpPr txBox="1"/>
          <p:nvPr/>
        </p:nvSpPr>
        <p:spPr>
          <a:xfrm>
            <a:off x="1519237" y="1836737"/>
            <a:ext cx="5943600" cy="2516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Helvetica Neue"/>
              <a:buNone/>
            </a:pPr>
            <a:r>
              <a:rPr b="1" i="0" lang="en-US" sz="1100" u="none">
                <a:solidFill>
                  <a:schemeClr val="dk1"/>
                </a:solidFill>
                <a:latin typeface="Helvetica Neue"/>
                <a:ea typeface="Helvetica Neue"/>
                <a:cs typeface="Helvetica Neue"/>
                <a:sym typeface="Helvetica Neue"/>
              </a:rPr>
              <a:t>E-Commerce</a:t>
            </a:r>
            <a:r>
              <a:rPr b="1" i="1" lang="en-US" sz="1100" u="none">
                <a:solidFill>
                  <a:schemeClr val="dk1"/>
                </a:solidFill>
                <a:latin typeface="Helvetica Neue"/>
                <a:ea typeface="Helvetica Neue"/>
                <a:cs typeface="Helvetica Neue"/>
                <a:sym typeface="Helvetica Neue"/>
              </a:rPr>
              <a:t>--</a:t>
            </a:r>
            <a:r>
              <a:rPr b="0" i="1" lang="en-US" sz="1100" u="none">
                <a:solidFill>
                  <a:schemeClr val="dk1"/>
                </a:solidFill>
                <a:latin typeface="Helvetica Neue"/>
                <a:ea typeface="Helvetica Neue"/>
                <a:cs typeface="Helvetica Neue"/>
                <a:sym typeface="Helvetica Neue"/>
              </a:rPr>
              <a:t> </a:t>
            </a:r>
            <a:r>
              <a:rPr b="0" i="1" lang="en-US" sz="1100" u="none">
                <a:solidFill>
                  <a:schemeClr val="dk1"/>
                </a:solidFill>
                <a:latin typeface="Arial"/>
                <a:ea typeface="Arial"/>
                <a:cs typeface="Arial"/>
                <a:sym typeface="Arial"/>
              </a:rPr>
              <a:t>The buying and selling of goods </a:t>
            </a:r>
            <a:endParaRPr/>
          </a:p>
          <a:p>
            <a:pPr indent="0" lvl="0" marL="0" marR="0" rtl="0" algn="l">
              <a:lnSpc>
                <a:spcPct val="100000"/>
              </a:lnSpc>
              <a:spcBef>
                <a:spcPts val="0"/>
              </a:spcBef>
              <a:spcAft>
                <a:spcPts val="0"/>
              </a:spcAft>
              <a:buClr>
                <a:schemeClr val="dk1"/>
              </a:buClr>
              <a:buSzPts val="1100"/>
              <a:buFont typeface="Arial"/>
              <a:buNone/>
            </a:pPr>
            <a:r>
              <a:rPr b="0" i="1" lang="en-US" sz="1100" u="none">
                <a:solidFill>
                  <a:schemeClr val="dk1"/>
                </a:solidFill>
                <a:latin typeface="Arial"/>
                <a:ea typeface="Arial"/>
                <a:cs typeface="Arial"/>
                <a:sym typeface="Arial"/>
              </a:rPr>
              <a:t>and services over the internet.(B2B, B2C).</a:t>
            </a:r>
            <a:endParaRPr/>
          </a:p>
          <a:p>
            <a:pPr indent="0" lvl="0" marL="0" marR="0" rtl="0" algn="l">
              <a:lnSpc>
                <a:spcPct val="100000"/>
              </a:lnSpc>
              <a:spcBef>
                <a:spcPts val="0"/>
              </a:spcBef>
              <a:spcAft>
                <a:spcPts val="0"/>
              </a:spcAft>
              <a:buClr>
                <a:schemeClr val="dk1"/>
              </a:buClr>
              <a:buSzPts val="1100"/>
              <a:buFont typeface="Arial"/>
              <a:buNone/>
            </a:pPr>
            <a:r>
              <a:t/>
            </a:r>
            <a:endParaRPr b="1" i="0" sz="1100" u="sng">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100" u="sng">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sng">
                <a:solidFill>
                  <a:schemeClr val="dk1"/>
                </a:solidFill>
                <a:latin typeface="Arial"/>
                <a:ea typeface="Arial"/>
                <a:cs typeface="Arial"/>
                <a:sym typeface="Arial"/>
              </a:rPr>
              <a:t>Universal Product Code</a:t>
            </a:r>
            <a:r>
              <a:rPr b="1" i="0" lang="en-US" sz="1100" u="none">
                <a:solidFill>
                  <a:schemeClr val="dk1"/>
                </a:solidFill>
                <a:latin typeface="Arial"/>
                <a:ea typeface="Arial"/>
                <a:cs typeface="Arial"/>
                <a:sym typeface="Arial"/>
              </a:rPr>
              <a:t> </a:t>
            </a:r>
            <a:r>
              <a:rPr b="0" i="0" lang="en-US" sz="1100" u="none">
                <a:solidFill>
                  <a:schemeClr val="dk1"/>
                </a:solidFill>
                <a:latin typeface="Arial"/>
                <a:ea typeface="Arial"/>
                <a:cs typeface="Arial"/>
                <a:sym typeface="Arial"/>
              </a:rPr>
              <a:t> helps scan what product </a:t>
            </a:r>
            <a:endParaRPr/>
          </a:p>
          <a:p>
            <a:pPr indent="0" lvl="0" marL="0" marR="0" rtl="0" algn="l">
              <a:lnSpc>
                <a:spcPct val="100000"/>
              </a:lnSpc>
              <a:spcBef>
                <a:spcPts val="0"/>
              </a:spcBef>
              <a:spcAft>
                <a:spcPts val="0"/>
              </a:spcAft>
              <a:buClr>
                <a:schemeClr val="dk1"/>
              </a:buClr>
              <a:buSzPts val="1100"/>
              <a:buFont typeface="Arial"/>
              <a:buNone/>
            </a:pPr>
            <a:r>
              <a:rPr b="0" i="0" lang="en-US" sz="1100" u="none">
                <a:solidFill>
                  <a:schemeClr val="dk1"/>
                </a:solidFill>
                <a:latin typeface="Arial"/>
                <a:ea typeface="Arial"/>
                <a:cs typeface="Arial"/>
                <a:sym typeface="Arial"/>
              </a:rPr>
              <a:t>was bought, in what size and color and at what price. </a:t>
            </a:r>
            <a:endParaRPr/>
          </a:p>
          <a:p>
            <a:pPr indent="0" lvl="0" marL="0" marR="0" rtl="0" algn="l">
              <a:lnSpc>
                <a:spcPct val="100000"/>
              </a:lnSpc>
              <a:spcBef>
                <a:spcPts val="0"/>
              </a:spcBef>
              <a:spcAft>
                <a:spcPts val="0"/>
              </a:spcAft>
              <a:buClr>
                <a:schemeClr val="dk1"/>
              </a:buClr>
              <a:buSzPts val="1100"/>
              <a:buFont typeface="Arial"/>
              <a:buNone/>
            </a:pPr>
            <a:r>
              <a:rPr b="1" i="0" lang="en-US" sz="1100" u="none">
                <a:solidFill>
                  <a:schemeClr val="dk1"/>
                </a:solidFill>
                <a:latin typeface="Arial"/>
                <a:ea typeface="Arial"/>
                <a:cs typeface="Arial"/>
                <a:sym typeface="Arial"/>
              </a:rPr>
              <a:t>A </a:t>
            </a:r>
            <a:r>
              <a:rPr b="1" i="0" lang="en-US" sz="1100" u="sng">
                <a:solidFill>
                  <a:schemeClr val="dk1"/>
                </a:solidFill>
                <a:latin typeface="Arial"/>
                <a:ea typeface="Arial"/>
                <a:cs typeface="Arial"/>
                <a:sym typeface="Arial"/>
              </a:rPr>
              <a:t>scanner</a:t>
            </a:r>
            <a:r>
              <a:rPr b="1" i="0" lang="en-US" sz="1100" u="none">
                <a:solidFill>
                  <a:schemeClr val="dk1"/>
                </a:solidFill>
                <a:latin typeface="Arial"/>
                <a:ea typeface="Arial"/>
                <a:cs typeface="Arial"/>
                <a:sym typeface="Arial"/>
              </a:rPr>
              <a:t> </a:t>
            </a:r>
            <a:r>
              <a:rPr b="0" i="0" lang="en-US" sz="1100" u="none">
                <a:solidFill>
                  <a:schemeClr val="dk1"/>
                </a:solidFill>
                <a:latin typeface="Arial"/>
                <a:ea typeface="Arial"/>
                <a:cs typeface="Arial"/>
                <a:sym typeface="Arial"/>
              </a:rPr>
              <a:t>at the checkout counter can read that </a:t>
            </a:r>
            <a:endParaRPr/>
          </a:p>
          <a:p>
            <a:pPr indent="0" lvl="0" marL="0" marR="0" rtl="0" algn="l">
              <a:lnSpc>
                <a:spcPct val="100000"/>
              </a:lnSpc>
              <a:spcBef>
                <a:spcPts val="0"/>
              </a:spcBef>
              <a:spcAft>
                <a:spcPts val="0"/>
              </a:spcAft>
              <a:buClr>
                <a:schemeClr val="dk1"/>
              </a:buClr>
              <a:buSzPts val="1100"/>
              <a:buFont typeface="Arial"/>
              <a:buNone/>
            </a:pPr>
            <a:r>
              <a:rPr b="0" i="0" lang="en-US" sz="1100" u="none">
                <a:solidFill>
                  <a:schemeClr val="dk1"/>
                </a:solidFill>
                <a:latin typeface="Arial"/>
                <a:ea typeface="Arial"/>
                <a:cs typeface="Arial"/>
                <a:sym typeface="Arial"/>
              </a:rPr>
              <a:t>information and put it into a </a:t>
            </a:r>
            <a:r>
              <a:rPr b="1" i="0" lang="en-US" sz="1100" u="sng">
                <a:solidFill>
                  <a:schemeClr val="dk1"/>
                </a:solidFill>
                <a:latin typeface="Arial"/>
                <a:ea typeface="Arial"/>
                <a:cs typeface="Arial"/>
                <a:sym typeface="Arial"/>
              </a:rPr>
              <a:t>Database,</a:t>
            </a:r>
            <a:r>
              <a:rPr b="0" i="0" lang="en-US" sz="1100" u="none">
                <a:solidFill>
                  <a:schemeClr val="dk1"/>
                </a:solidFill>
                <a:latin typeface="Arial"/>
                <a:ea typeface="Arial"/>
                <a:cs typeface="Arial"/>
                <a:sym typeface="Arial"/>
              </a:rPr>
              <a:t> which is an </a:t>
            </a:r>
            <a:endParaRPr/>
          </a:p>
          <a:p>
            <a:pPr indent="0" lvl="0" marL="0" marR="0" rtl="0" algn="l">
              <a:lnSpc>
                <a:spcPct val="100000"/>
              </a:lnSpc>
              <a:spcBef>
                <a:spcPts val="0"/>
              </a:spcBef>
              <a:spcAft>
                <a:spcPts val="0"/>
              </a:spcAft>
              <a:buClr>
                <a:schemeClr val="dk1"/>
              </a:buClr>
              <a:buSzPts val="1100"/>
              <a:buFont typeface="Arial"/>
              <a:buNone/>
            </a:pPr>
            <a:r>
              <a:rPr b="0" i="0" lang="en-US" sz="1100" u="none">
                <a:solidFill>
                  <a:schemeClr val="dk1"/>
                </a:solidFill>
                <a:latin typeface="Arial"/>
                <a:ea typeface="Arial"/>
                <a:cs typeface="Arial"/>
                <a:sym typeface="Arial"/>
              </a:rPr>
              <a:t>electronic storage file where vast amounts of information </a:t>
            </a:r>
            <a:endParaRPr/>
          </a:p>
          <a:p>
            <a:pPr indent="0" lvl="0" marL="0" marR="0" rtl="0" algn="l">
              <a:lnSpc>
                <a:spcPct val="100000"/>
              </a:lnSpc>
              <a:spcBef>
                <a:spcPts val="0"/>
              </a:spcBef>
              <a:spcAft>
                <a:spcPts val="0"/>
              </a:spcAft>
              <a:buClr>
                <a:schemeClr val="dk1"/>
              </a:buClr>
              <a:buSzPts val="1100"/>
              <a:buFont typeface="Arial"/>
              <a:buNone/>
            </a:pPr>
            <a:r>
              <a:rPr b="0" i="0" lang="en-US" sz="1100" u="none">
                <a:solidFill>
                  <a:schemeClr val="dk1"/>
                </a:solidFill>
                <a:latin typeface="Arial"/>
                <a:ea typeface="Arial"/>
                <a:cs typeface="Arial"/>
                <a:sym typeface="Arial"/>
              </a:rPr>
              <a:t>about customers (name, address, telephone numbers) are</a:t>
            </a:r>
            <a:endParaRPr/>
          </a:p>
          <a:p>
            <a:pPr indent="0" lvl="0" marL="0" marR="0" rtl="0" algn="l">
              <a:lnSpc>
                <a:spcPct val="100000"/>
              </a:lnSpc>
              <a:spcBef>
                <a:spcPts val="0"/>
              </a:spcBef>
              <a:spcAft>
                <a:spcPts val="0"/>
              </a:spcAft>
              <a:buClr>
                <a:schemeClr val="dk1"/>
              </a:buClr>
              <a:buSzPts val="1100"/>
              <a:buFont typeface="Arial"/>
              <a:buNone/>
            </a:pPr>
            <a:r>
              <a:rPr b="0" i="0" lang="en-US" sz="1100" u="none">
                <a:solidFill>
                  <a:schemeClr val="dk1"/>
                </a:solidFill>
                <a:latin typeface="Arial"/>
                <a:ea typeface="Arial"/>
                <a:cs typeface="Arial"/>
                <a:sym typeface="Arial"/>
              </a:rPr>
              <a:t>stored.</a:t>
            </a:r>
            <a:endParaRPr/>
          </a:p>
          <a:p>
            <a:pPr indent="0" lvl="0" marL="0" marR="0" rtl="0" algn="l">
              <a:lnSpc>
                <a:spcPct val="100000"/>
              </a:lnSpc>
              <a:spcBef>
                <a:spcPts val="0"/>
              </a:spcBef>
              <a:spcAft>
                <a:spcPts val="0"/>
              </a:spcAft>
              <a:buClr>
                <a:schemeClr val="dk1"/>
              </a:buClr>
              <a:buSzPts val="1100"/>
              <a:buFont typeface="Arial"/>
              <a:buNone/>
            </a:pPr>
            <a:r>
              <a:t/>
            </a:r>
            <a:endParaRPr b="1" i="0" sz="1100" u="sng">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sng">
                <a:solidFill>
                  <a:schemeClr val="dk1"/>
                </a:solidFill>
                <a:latin typeface="Arial"/>
                <a:ea typeface="Arial"/>
                <a:cs typeface="Arial"/>
                <a:sym typeface="Arial"/>
              </a:rPr>
              <a:t>Identity theft </a:t>
            </a:r>
            <a:r>
              <a:rPr b="0" i="0" lang="en-US" sz="1100" u="none">
                <a:solidFill>
                  <a:schemeClr val="dk1"/>
                </a:solidFill>
                <a:latin typeface="Arial"/>
                <a:ea typeface="Arial"/>
                <a:cs typeface="Arial"/>
                <a:sym typeface="Arial"/>
              </a:rPr>
              <a:t>is the obtaining of individual personal</a:t>
            </a:r>
            <a:endParaRPr/>
          </a:p>
          <a:p>
            <a:pPr indent="0" lvl="0" marL="0" marR="0" rtl="0" algn="l">
              <a:lnSpc>
                <a:spcPct val="100000"/>
              </a:lnSpc>
              <a:spcBef>
                <a:spcPts val="0"/>
              </a:spcBef>
              <a:spcAft>
                <a:spcPts val="0"/>
              </a:spcAft>
              <a:buClr>
                <a:schemeClr val="dk1"/>
              </a:buClr>
              <a:buSzPts val="1100"/>
              <a:buFont typeface="Arial"/>
              <a:buNone/>
            </a:pPr>
            <a:r>
              <a:rPr b="0" i="0" lang="en-US" sz="1100" u="none">
                <a:solidFill>
                  <a:schemeClr val="dk1"/>
                </a:solidFill>
                <a:latin typeface="Arial"/>
                <a:ea typeface="Arial"/>
                <a:cs typeface="Arial"/>
                <a:sym typeface="Arial"/>
              </a:rPr>
              <a:t>information for illegal purpose.</a:t>
            </a:r>
            <a:endParaRPr/>
          </a:p>
        </p:txBody>
      </p:sp>
      <p:sp>
        <p:nvSpPr>
          <p:cNvPr id="227" name="Google Shape;227;p12"/>
          <p:cNvSpPr txBox="1"/>
          <p:nvPr>
            <p:ph type="ctrTitle"/>
          </p:nvPr>
        </p:nvSpPr>
        <p:spPr>
          <a:xfrm>
            <a:off x="1576387" y="196850"/>
            <a:ext cx="5829300" cy="11033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400"/>
              <a:buFont typeface="Helvetica Neue"/>
              <a:buNone/>
            </a:pPr>
            <a:r>
              <a:rPr b="1" i="0" lang="en-US" sz="2400" u="none">
                <a:solidFill>
                  <a:srgbClr val="007FA3"/>
                </a:solidFill>
                <a:latin typeface="Helvetica Neue"/>
                <a:ea typeface="Helvetica Neue"/>
                <a:cs typeface="Helvetica Neue"/>
                <a:sym typeface="Helvetica Neue"/>
              </a:rPr>
              <a:t>BENEFITS of TECHNOLOGY</a:t>
            </a:r>
            <a:endParaRPr/>
          </a:p>
        </p:txBody>
      </p:sp>
      <p:sp>
        <p:nvSpPr>
          <p:cNvPr id="228" name="Google Shape;228;p12"/>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descr="B2B or Not 2B: A Look at What Makes B2B and B2C Communications Similar" id="229" name="Google Shape;229;p12"/>
          <p:cNvPicPr preferRelativeResize="0"/>
          <p:nvPr/>
        </p:nvPicPr>
        <p:blipFill rotWithShape="1">
          <a:blip r:embed="rId3">
            <a:alphaModFix/>
          </a:blip>
          <a:srcRect b="8157" l="0" r="-873" t="0"/>
          <a:stretch/>
        </p:blipFill>
        <p:spPr>
          <a:xfrm>
            <a:off x="5257801" y="1993620"/>
            <a:ext cx="2857499" cy="1490179"/>
          </a:xfrm>
          <a:prstGeom prst="rect">
            <a:avLst/>
          </a:prstGeom>
          <a:noFill/>
          <a:ln>
            <a:noFill/>
          </a:ln>
        </p:spPr>
      </p:pic>
      <p:pic>
        <p:nvPicPr>
          <p:cNvPr id="230" name="Google Shape;230;p12"/>
          <p:cNvPicPr preferRelativeResize="0"/>
          <p:nvPr/>
        </p:nvPicPr>
        <p:blipFill rotWithShape="1">
          <a:blip r:embed="rId4">
            <a:alphaModFix/>
          </a:blip>
          <a:srcRect b="0" l="0" r="0" t="0"/>
          <a:stretch/>
        </p:blipFill>
        <p:spPr>
          <a:xfrm>
            <a:off x="2984109" y="4345265"/>
            <a:ext cx="2400300" cy="1210191"/>
          </a:xfrm>
          <a:prstGeom prst="ellipse">
            <a:avLst/>
          </a:prstGeom>
          <a:noFill/>
          <a:ln>
            <a:noFill/>
          </a:ln>
        </p:spPr>
      </p:pic>
      <p:pic>
        <p:nvPicPr>
          <p:cNvPr id="231" name="Google Shape;231;p12"/>
          <p:cNvPicPr preferRelativeResize="0"/>
          <p:nvPr/>
        </p:nvPicPr>
        <p:blipFill rotWithShape="1">
          <a:blip r:embed="rId5">
            <a:alphaModFix/>
          </a:blip>
          <a:srcRect b="0" l="0" r="0" t="0"/>
          <a:stretch/>
        </p:blipFill>
        <p:spPr>
          <a:xfrm>
            <a:off x="5594513" y="3324160"/>
            <a:ext cx="2400333" cy="1607344"/>
          </a:xfrm>
          <a:prstGeom prst="rect">
            <a:avLst/>
          </a:prstGeom>
          <a:noFill/>
          <a:ln>
            <a:noFill/>
          </a:ln>
        </p:spPr>
      </p:pic>
      <p:sp>
        <p:nvSpPr>
          <p:cNvPr id="232" name="Google Shape;232;p12"/>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233" name="Google Shape;233;p12"/>
          <p:cNvPicPr preferRelativeResize="0"/>
          <p:nvPr/>
        </p:nvPicPr>
        <p:blipFill rotWithShape="1">
          <a:blip r:embed="rId6">
            <a:alphaModFix/>
          </a:blip>
          <a:srcRect b="0" l="0" r="0" t="0"/>
          <a:stretch/>
        </p:blipFill>
        <p:spPr>
          <a:xfrm>
            <a:off x="6350" y="6165850"/>
            <a:ext cx="9144000" cy="669925"/>
          </a:xfrm>
          <a:prstGeom prst="rect">
            <a:avLst/>
          </a:prstGeom>
          <a:noFill/>
          <a:ln>
            <a:noFill/>
          </a:ln>
        </p:spPr>
      </p:pic>
      <p:pic>
        <p:nvPicPr>
          <p:cNvPr id="234" name="Google Shape;234;p12"/>
          <p:cNvPicPr preferRelativeResize="0"/>
          <p:nvPr/>
        </p:nvPicPr>
        <p:blipFill rotWithShape="1">
          <a:blip r:embed="rId7">
            <a:alphaModFix/>
          </a:blip>
          <a:srcRect b="0" l="0" r="0" t="0"/>
          <a:stretch/>
        </p:blipFill>
        <p:spPr>
          <a:xfrm>
            <a:off x="7510462" y="5054600"/>
            <a:ext cx="1549400" cy="993775"/>
          </a:xfrm>
          <a:prstGeom prst="rect">
            <a:avLst/>
          </a:prstGeom>
          <a:noFill/>
          <a:ln>
            <a:noFill/>
          </a:ln>
        </p:spPr>
      </p:pic>
      <p:pic>
        <p:nvPicPr>
          <p:cNvPr descr="BracU Logo | Brac University" id="235" name="Google Shape;235;p12"/>
          <p:cNvPicPr preferRelativeResize="0"/>
          <p:nvPr/>
        </p:nvPicPr>
        <p:blipFill rotWithShape="1">
          <a:blip r:embed="rId8">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242" name="Google Shape;242;p13"/>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 name="Google Shape;243;p13"/>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244" name="Google Shape;244;p13"/>
          <p:cNvSpPr txBox="1"/>
          <p:nvPr/>
        </p:nvSpPr>
        <p:spPr>
          <a:xfrm>
            <a:off x="1485900" y="1895475"/>
            <a:ext cx="6319837" cy="2584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Firms should offer both high quality product and outstanding services at competitive price.</a:t>
            </a:r>
            <a:endParaRPr/>
          </a:p>
          <a:p>
            <a:pPr indent="0" lvl="0" marL="0" marR="0" rtl="0" algn="l">
              <a:lnSpc>
                <a:spcPct val="100000"/>
              </a:lnSpc>
              <a:spcBef>
                <a:spcPts val="0"/>
              </a:spcBef>
              <a:spcAft>
                <a:spcPts val="0"/>
              </a:spcAft>
              <a:buClr>
                <a:schemeClr val="dk1"/>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Need to know the competitors</a:t>
            </a:r>
            <a:endParaRPr/>
          </a:p>
          <a:p>
            <a:pPr indent="0" lvl="0" marL="0" marR="0" rtl="0" algn="l">
              <a:lnSpc>
                <a:spcPct val="100000"/>
              </a:lnSpc>
              <a:spcBef>
                <a:spcPts val="0"/>
              </a:spcBef>
              <a:spcAft>
                <a:spcPts val="0"/>
              </a:spcAft>
              <a:buClr>
                <a:schemeClr val="dk1"/>
              </a:buClr>
              <a:buSzPts val="1100"/>
              <a:buFont typeface="Arial"/>
              <a:buNone/>
            </a:pPr>
            <a:r>
              <a:t/>
            </a:r>
            <a:endParaRPr b="0" i="0" sz="11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45" name="Google Shape;245;p13"/>
          <p:cNvSpPr txBox="1"/>
          <p:nvPr>
            <p:ph type="ctrTitle"/>
          </p:nvPr>
        </p:nvSpPr>
        <p:spPr>
          <a:xfrm>
            <a:off x="1746250" y="306387"/>
            <a:ext cx="5572125" cy="1101725"/>
          </a:xfrm>
          <a:prstGeom prst="rect">
            <a:avLst/>
          </a:prstGeom>
          <a:noFill/>
          <a:ln>
            <a:noFill/>
          </a:ln>
        </p:spPr>
        <p:txBody>
          <a:bodyPr anchorCtr="0" anchor="ctr" bIns="45700" lIns="91425" spcFirstLastPara="1" rIns="91425" wrap="square" tIns="45700">
            <a:noAutofit/>
          </a:bodyPr>
          <a:lstStyle/>
          <a:p>
            <a:pPr indent="-214311" lvl="0" marL="214311" rtl="0" algn="ctr">
              <a:lnSpc>
                <a:spcPct val="100000"/>
              </a:lnSpc>
              <a:spcBef>
                <a:spcPts val="0"/>
              </a:spcBef>
              <a:spcAft>
                <a:spcPts val="0"/>
              </a:spcAft>
              <a:buClr>
                <a:srgbClr val="000000"/>
              </a:buClr>
              <a:buSzPts val="2400"/>
              <a:buFont typeface="Helvetica Neue"/>
              <a:buNone/>
            </a:pPr>
            <a:r>
              <a:rPr b="1" i="0" lang="en-US" sz="2400" u="none">
                <a:solidFill>
                  <a:srgbClr val="000000"/>
                </a:solidFill>
                <a:latin typeface="Helvetica Neue"/>
                <a:ea typeface="Helvetica Neue"/>
                <a:cs typeface="Helvetica Neue"/>
                <a:sym typeface="Helvetica Neue"/>
              </a:rPr>
              <a:t>3. COMPETITIVE ENVIRONMENT </a:t>
            </a:r>
            <a:endParaRPr/>
          </a:p>
        </p:txBody>
      </p:sp>
      <p:sp>
        <p:nvSpPr>
          <p:cNvPr id="246" name="Google Shape;246;p13"/>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Times New Roman"/>
              <a:buNone/>
            </a:pPr>
            <a:r>
              <a:rPr b="0" i="0" lang="en-US" sz="900" u="none">
                <a:solidFill>
                  <a:srgbClr val="000000"/>
                </a:solidFill>
                <a:latin typeface="Times New Roman"/>
                <a:ea typeface="Times New Roman"/>
                <a:cs typeface="Times New Roman"/>
                <a:sym typeface="Times New Roman"/>
              </a:rPr>
              <a:t>1-</a:t>
            </a:r>
            <a:fld id="{00000000-1234-1234-1234-123412341234}" type="slidenum">
              <a:rPr b="0" i="0" lang="en-US" sz="900" u="none">
                <a:solidFill>
                  <a:srgbClr val="000000"/>
                </a:solidFill>
                <a:latin typeface="Times New Roman"/>
                <a:ea typeface="Times New Roman"/>
                <a:cs typeface="Times New Roman"/>
                <a:sym typeface="Times New Roman"/>
              </a:rPr>
              <a:t>‹#›</a:t>
            </a:fld>
            <a:endParaRPr/>
          </a:p>
        </p:txBody>
      </p:sp>
      <p:pic>
        <p:nvPicPr>
          <p:cNvPr id="247" name="Google Shape;247;p13"/>
          <p:cNvPicPr preferRelativeResize="0"/>
          <p:nvPr/>
        </p:nvPicPr>
        <p:blipFill rotWithShape="1">
          <a:blip r:embed="rId3">
            <a:alphaModFix/>
          </a:blip>
          <a:srcRect b="0" l="0" r="0" t="0"/>
          <a:stretch/>
        </p:blipFill>
        <p:spPr>
          <a:xfrm>
            <a:off x="5229483" y="2635019"/>
            <a:ext cx="2407444" cy="1254919"/>
          </a:xfrm>
          <a:prstGeom prst="rect">
            <a:avLst/>
          </a:prstGeom>
          <a:noFill/>
          <a:ln>
            <a:noFill/>
          </a:ln>
        </p:spPr>
      </p:pic>
      <p:pic>
        <p:nvPicPr>
          <p:cNvPr id="248" name="Google Shape;248;p13"/>
          <p:cNvPicPr preferRelativeResize="0"/>
          <p:nvPr/>
        </p:nvPicPr>
        <p:blipFill rotWithShape="1">
          <a:blip r:embed="rId4">
            <a:alphaModFix/>
          </a:blip>
          <a:srcRect b="0" l="0" r="0" t="0"/>
          <a:stretch/>
        </p:blipFill>
        <p:spPr>
          <a:xfrm>
            <a:off x="2361770" y="3488636"/>
            <a:ext cx="3082949" cy="1591124"/>
          </a:xfrm>
          <a:prstGeom prst="rect">
            <a:avLst/>
          </a:prstGeom>
          <a:noFill/>
          <a:ln>
            <a:noFill/>
          </a:ln>
        </p:spPr>
      </p:pic>
      <p:sp>
        <p:nvSpPr>
          <p:cNvPr id="249" name="Google Shape;249;p13"/>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0" name="Google Shape;250;p13"/>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251" name="Google Shape;251;p13"/>
          <p:cNvPicPr preferRelativeResize="0"/>
          <p:nvPr/>
        </p:nvPicPr>
        <p:blipFill rotWithShape="1">
          <a:blip r:embed="rId5">
            <a:alphaModFix/>
          </a:blip>
          <a:srcRect b="0" l="0" r="0" t="0"/>
          <a:stretch/>
        </p:blipFill>
        <p:spPr>
          <a:xfrm>
            <a:off x="6350" y="6165850"/>
            <a:ext cx="9144000" cy="669925"/>
          </a:xfrm>
          <a:prstGeom prst="rect">
            <a:avLst/>
          </a:prstGeom>
          <a:noFill/>
          <a:ln>
            <a:noFill/>
          </a:ln>
        </p:spPr>
      </p:pic>
      <p:pic>
        <p:nvPicPr>
          <p:cNvPr id="252" name="Google Shape;252;p13"/>
          <p:cNvPicPr preferRelativeResize="0"/>
          <p:nvPr/>
        </p:nvPicPr>
        <p:blipFill rotWithShape="1">
          <a:blip r:embed="rId6">
            <a:alphaModFix/>
          </a:blip>
          <a:srcRect b="0" l="0" r="0" t="0"/>
          <a:stretch/>
        </p:blipFill>
        <p:spPr>
          <a:xfrm>
            <a:off x="7510462" y="5054600"/>
            <a:ext cx="1549400" cy="993775"/>
          </a:xfrm>
          <a:prstGeom prst="rect">
            <a:avLst/>
          </a:prstGeom>
          <a:noFill/>
          <a:ln>
            <a:noFill/>
          </a:ln>
        </p:spPr>
      </p:pic>
      <p:pic>
        <p:nvPicPr>
          <p:cNvPr descr="BracU Logo | Brac University" id="253" name="Google Shape;253;p13"/>
          <p:cNvPicPr preferRelativeResize="0"/>
          <p:nvPr/>
        </p:nvPicPr>
        <p:blipFill rotWithShape="1">
          <a:blip r:embed="rId7">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260" name="Google Shape;260;p14"/>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1" name="Google Shape;261;p14"/>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262" name="Google Shape;262;p14"/>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263" name="Google Shape;263;p14"/>
          <p:cNvSpPr txBox="1"/>
          <p:nvPr/>
        </p:nvSpPr>
        <p:spPr>
          <a:xfrm>
            <a:off x="1543050" y="2046287"/>
            <a:ext cx="6319837" cy="1984375"/>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rgbClr val="000000"/>
              </a:buClr>
              <a:buSzPts val="1800"/>
              <a:buFont typeface="Arial"/>
              <a:buChar char="•"/>
            </a:pPr>
            <a:r>
              <a:rPr b="0" i="1" lang="en-US" sz="1800" u="none">
                <a:solidFill>
                  <a:srgbClr val="000000"/>
                </a:solidFill>
                <a:latin typeface="Arial"/>
                <a:ea typeface="Arial"/>
                <a:cs typeface="Arial"/>
                <a:sym typeface="Arial"/>
              </a:rPr>
              <a:t>Two ways to compete:</a:t>
            </a:r>
            <a:endParaRPr/>
          </a:p>
          <a:p>
            <a:pPr indent="0" lvl="0" marL="0" marR="0" rtl="0" algn="l">
              <a:lnSpc>
                <a:spcPct val="100000"/>
              </a:lnSpc>
              <a:spcBef>
                <a:spcPts val="0"/>
              </a:spcBef>
              <a:spcAft>
                <a:spcPts val="0"/>
              </a:spcAft>
              <a:buClr>
                <a:schemeClr val="dk1"/>
              </a:buClr>
              <a:buSzPts val="1800"/>
              <a:buFont typeface="Arial"/>
              <a:buNone/>
            </a:pPr>
            <a:r>
              <a:t/>
            </a:r>
            <a:endParaRPr b="0" i="1" sz="1800" u="non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rgbClr val="000000"/>
              </a:buClr>
              <a:buSzPts val="1800"/>
              <a:buFont typeface="Arimo"/>
              <a:buChar char="-"/>
            </a:pPr>
            <a:r>
              <a:rPr b="0" i="0" lang="en-US" sz="1800" u="none">
                <a:solidFill>
                  <a:srgbClr val="000000"/>
                </a:solidFill>
                <a:latin typeface="Arimo"/>
                <a:ea typeface="Arimo"/>
                <a:cs typeface="Arimo"/>
                <a:sym typeface="Arimo"/>
              </a:rPr>
              <a:t>by exceeding customer expectations</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rgbClr val="000000"/>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rgbClr val="000000"/>
              </a:solidFill>
              <a:latin typeface="Arimo"/>
              <a:ea typeface="Arimo"/>
              <a:cs typeface="Arimo"/>
              <a:sym typeface="Arimo"/>
            </a:endParaRPr>
          </a:p>
          <a:p>
            <a:pPr indent="-114300" lvl="0" marL="0" marR="0" rtl="0" algn="l">
              <a:lnSpc>
                <a:spcPct val="100000"/>
              </a:lnSpc>
              <a:spcBef>
                <a:spcPts val="0"/>
              </a:spcBef>
              <a:spcAft>
                <a:spcPts val="0"/>
              </a:spcAft>
              <a:buClr>
                <a:srgbClr val="000000"/>
              </a:buClr>
              <a:buSzPts val="1800"/>
              <a:buFont typeface="Arimo"/>
              <a:buChar char="-"/>
            </a:pPr>
            <a:r>
              <a:rPr b="0" i="0" lang="en-US" sz="1800" u="none">
                <a:solidFill>
                  <a:srgbClr val="000000"/>
                </a:solidFill>
                <a:latin typeface="Arimo"/>
                <a:ea typeface="Arimo"/>
                <a:cs typeface="Arimo"/>
                <a:sym typeface="Arimo"/>
              </a:rPr>
              <a:t>by restructuring and empowering the employees</a:t>
            </a:r>
            <a:endParaRPr/>
          </a:p>
          <a:p>
            <a:pPr indent="0" lvl="0" marL="0" marR="0" rtl="0" algn="l">
              <a:lnSpc>
                <a:spcPct val="100000"/>
              </a:lnSpc>
              <a:spcBef>
                <a:spcPts val="0"/>
              </a:spcBef>
              <a:spcAft>
                <a:spcPts val="0"/>
              </a:spcAft>
              <a:buNone/>
            </a:pPr>
            <a:r>
              <a:t/>
            </a:r>
            <a:endParaRPr b="0" i="0" sz="1800" u="none">
              <a:solidFill>
                <a:srgbClr val="000000"/>
              </a:solidFill>
              <a:latin typeface="Arimo"/>
              <a:ea typeface="Arimo"/>
              <a:cs typeface="Arimo"/>
              <a:sym typeface="Arimo"/>
            </a:endParaRPr>
          </a:p>
        </p:txBody>
      </p:sp>
      <p:sp>
        <p:nvSpPr>
          <p:cNvPr id="264" name="Google Shape;264;p14"/>
          <p:cNvSpPr txBox="1"/>
          <p:nvPr>
            <p:ph type="ctrTitle"/>
          </p:nvPr>
        </p:nvSpPr>
        <p:spPr>
          <a:xfrm>
            <a:off x="1628775" y="149225"/>
            <a:ext cx="5829300" cy="1101725"/>
          </a:xfrm>
          <a:prstGeom prst="rect">
            <a:avLst/>
          </a:prstGeom>
          <a:noFill/>
          <a:ln>
            <a:noFill/>
          </a:ln>
        </p:spPr>
        <p:txBody>
          <a:bodyPr anchorCtr="0" anchor="ctr" bIns="45700" lIns="91425" spcFirstLastPara="1" rIns="91425" wrap="square" tIns="45700">
            <a:noAutofit/>
          </a:bodyPr>
          <a:lstStyle/>
          <a:p>
            <a:pPr indent="-214311" lvl="0" marL="214311" rtl="0" algn="ctr">
              <a:lnSpc>
                <a:spcPct val="100000"/>
              </a:lnSpc>
              <a:spcBef>
                <a:spcPts val="0"/>
              </a:spcBef>
              <a:spcAft>
                <a:spcPts val="0"/>
              </a:spcAft>
              <a:buClr>
                <a:srgbClr val="000000"/>
              </a:buClr>
              <a:buSzPts val="2400"/>
              <a:buFont typeface="Helvetica Neue"/>
              <a:buNone/>
            </a:pPr>
            <a:br>
              <a:rPr b="1" i="0" lang="en-US" sz="2400" u="none">
                <a:solidFill>
                  <a:srgbClr val="000000"/>
                </a:solidFill>
                <a:latin typeface="Helvetica Neue"/>
                <a:ea typeface="Helvetica Neue"/>
                <a:cs typeface="Helvetica Neue"/>
                <a:sym typeface="Helvetica Neue"/>
              </a:rPr>
            </a:br>
            <a:r>
              <a:rPr b="1" i="0" lang="en-US" sz="2400" u="none">
                <a:solidFill>
                  <a:srgbClr val="000000"/>
                </a:solidFill>
                <a:latin typeface="Helvetica Neue"/>
                <a:ea typeface="Helvetica Neue"/>
                <a:cs typeface="Helvetica Neue"/>
                <a:sym typeface="Helvetica Neue"/>
              </a:rPr>
              <a:t>3. COMPETITIVE ENVIRONMENT </a:t>
            </a:r>
            <a:endParaRPr/>
          </a:p>
        </p:txBody>
      </p:sp>
      <p:sp>
        <p:nvSpPr>
          <p:cNvPr id="265" name="Google Shape;265;p14"/>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Times New Roman"/>
              <a:buNone/>
            </a:pPr>
            <a:r>
              <a:rPr b="0" i="0" lang="en-US" sz="900" u="none">
                <a:solidFill>
                  <a:srgbClr val="000000"/>
                </a:solidFill>
                <a:latin typeface="Times New Roman"/>
                <a:ea typeface="Times New Roman"/>
                <a:cs typeface="Times New Roman"/>
                <a:sym typeface="Times New Roman"/>
              </a:rPr>
              <a:t>1-</a:t>
            </a:r>
            <a:fld id="{00000000-1234-1234-1234-123412341234}" type="slidenum">
              <a:rPr b="0" i="0" lang="en-US" sz="900" u="none">
                <a:solidFill>
                  <a:srgbClr val="000000"/>
                </a:solidFill>
                <a:latin typeface="Times New Roman"/>
                <a:ea typeface="Times New Roman"/>
                <a:cs typeface="Times New Roman"/>
                <a:sym typeface="Times New Roman"/>
              </a:rPr>
              <a:t>‹#›</a:t>
            </a:fld>
            <a:endParaRPr/>
          </a:p>
        </p:txBody>
      </p:sp>
      <p:pic>
        <p:nvPicPr>
          <p:cNvPr id="266" name="Google Shape;266;p14"/>
          <p:cNvPicPr preferRelativeResize="0"/>
          <p:nvPr/>
        </p:nvPicPr>
        <p:blipFill rotWithShape="1">
          <a:blip r:embed="rId3">
            <a:alphaModFix/>
          </a:blip>
          <a:srcRect b="9755" l="0" r="0" t="0"/>
          <a:stretch/>
        </p:blipFill>
        <p:spPr>
          <a:xfrm>
            <a:off x="5757069" y="1852574"/>
            <a:ext cx="2269331" cy="1543051"/>
          </a:xfrm>
          <a:prstGeom prst="rect">
            <a:avLst/>
          </a:prstGeom>
          <a:noFill/>
          <a:ln>
            <a:noFill/>
          </a:ln>
        </p:spPr>
      </p:pic>
      <p:pic>
        <p:nvPicPr>
          <p:cNvPr id="267" name="Google Shape;267;p14"/>
          <p:cNvPicPr preferRelativeResize="0"/>
          <p:nvPr/>
        </p:nvPicPr>
        <p:blipFill rotWithShape="1">
          <a:blip r:embed="rId4">
            <a:alphaModFix/>
          </a:blip>
          <a:srcRect b="0" l="0" r="0" t="0"/>
          <a:stretch/>
        </p:blipFill>
        <p:spPr>
          <a:xfrm>
            <a:off x="3257551" y="4269449"/>
            <a:ext cx="2307431" cy="1371600"/>
          </a:xfrm>
          <a:prstGeom prst="rect">
            <a:avLst/>
          </a:prstGeom>
          <a:noFill/>
          <a:ln>
            <a:noFill/>
          </a:ln>
        </p:spPr>
      </p:pic>
      <p:sp>
        <p:nvSpPr>
          <p:cNvPr id="268" name="Google Shape;268;p14"/>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9" name="Google Shape;269;p14"/>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270" name="Google Shape;270;p14"/>
          <p:cNvPicPr preferRelativeResize="0"/>
          <p:nvPr/>
        </p:nvPicPr>
        <p:blipFill rotWithShape="1">
          <a:blip r:embed="rId5">
            <a:alphaModFix/>
          </a:blip>
          <a:srcRect b="0" l="0" r="0" t="0"/>
          <a:stretch/>
        </p:blipFill>
        <p:spPr>
          <a:xfrm>
            <a:off x="6350" y="6165850"/>
            <a:ext cx="9144000" cy="669925"/>
          </a:xfrm>
          <a:prstGeom prst="rect">
            <a:avLst/>
          </a:prstGeom>
          <a:noFill/>
          <a:ln>
            <a:noFill/>
          </a:ln>
        </p:spPr>
      </p:pic>
      <p:pic>
        <p:nvPicPr>
          <p:cNvPr id="271" name="Google Shape;271;p14"/>
          <p:cNvPicPr preferRelativeResize="0"/>
          <p:nvPr/>
        </p:nvPicPr>
        <p:blipFill rotWithShape="1">
          <a:blip r:embed="rId6">
            <a:alphaModFix/>
          </a:blip>
          <a:srcRect b="0" l="0" r="0" t="0"/>
          <a:stretch/>
        </p:blipFill>
        <p:spPr>
          <a:xfrm>
            <a:off x="7510462" y="5054600"/>
            <a:ext cx="1549400" cy="993775"/>
          </a:xfrm>
          <a:prstGeom prst="rect">
            <a:avLst/>
          </a:prstGeom>
          <a:noFill/>
          <a:ln>
            <a:noFill/>
          </a:ln>
        </p:spPr>
      </p:pic>
      <p:pic>
        <p:nvPicPr>
          <p:cNvPr descr="BracU Logo | Brac University" id="272" name="Google Shape;272;p14"/>
          <p:cNvPicPr preferRelativeResize="0"/>
          <p:nvPr/>
        </p:nvPicPr>
        <p:blipFill rotWithShape="1">
          <a:blip r:embed="rId7">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279" name="Google Shape;279;p15"/>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0" name="Google Shape;280;p15"/>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281" name="Google Shape;281;p15"/>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282" name="Google Shape;282;p15"/>
          <p:cNvSpPr txBox="1"/>
          <p:nvPr/>
        </p:nvSpPr>
        <p:spPr>
          <a:xfrm>
            <a:off x="1428750" y="1833562"/>
            <a:ext cx="5943600" cy="3865562"/>
          </a:xfrm>
          <a:prstGeom prst="rect">
            <a:avLst/>
          </a:prstGeom>
          <a:noFill/>
          <a:ln>
            <a:noFill/>
          </a:ln>
        </p:spPr>
        <p:txBody>
          <a:bodyPr anchorCtr="0" anchor="t" bIns="45700" lIns="91425" spcFirstLastPara="1" rIns="91425" wrap="square" tIns="45700">
            <a:spAutoFit/>
          </a:bodyPr>
          <a:lstStyle/>
          <a:p>
            <a:pPr indent="-214311" lvl="1" marL="214311"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Helvetica Neue"/>
                <a:ea typeface="Helvetica Neue"/>
                <a:cs typeface="Helvetica Neue"/>
                <a:sym typeface="Helvetica Neue"/>
              </a:rPr>
              <a:t>Demography is the statistical study of human population with </a:t>
            </a:r>
            <a:endParaRPr/>
          </a:p>
          <a:p>
            <a:pPr indent="-214311" lvl="1" marL="214311" marR="0" rtl="0" algn="l">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regard to size, density and other characteristics, i.e., age, race, gender &amp; income. </a:t>
            </a:r>
            <a:endParaRPr/>
          </a:p>
          <a:p>
            <a:pPr indent="-214311" lvl="1" marL="214311" marR="0" rtl="0" algn="l">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 Diversity has grown from just recruiting minority and female workers. </a:t>
            </a:r>
            <a:endParaRPr/>
          </a:p>
          <a:p>
            <a:pPr indent="-214311" lvl="1" marL="214311" marR="0" rtl="0" algn="l">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 Two income families</a:t>
            </a:r>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144461" lvl="1" marL="214311"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a:p>
            <a:pPr indent="-214311" lvl="1" marL="214311"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Helvetica Neue"/>
                <a:ea typeface="Helvetica Neue"/>
                <a:cs typeface="Helvetica Neue"/>
                <a:sym typeface="Helvetica Neue"/>
              </a:rPr>
              <a:t>Changes in customers’ tastes and preferences</a:t>
            </a:r>
            <a:endParaRPr/>
          </a:p>
        </p:txBody>
      </p:sp>
      <p:sp>
        <p:nvSpPr>
          <p:cNvPr id="283" name="Google Shape;283;p15"/>
          <p:cNvSpPr txBox="1"/>
          <p:nvPr>
            <p:ph type="ctrTitle"/>
          </p:nvPr>
        </p:nvSpPr>
        <p:spPr>
          <a:xfrm>
            <a:off x="1792287" y="244475"/>
            <a:ext cx="5829300" cy="1103312"/>
          </a:xfrm>
          <a:prstGeom prst="rect">
            <a:avLst/>
          </a:prstGeom>
          <a:noFill/>
          <a:ln>
            <a:noFill/>
          </a:ln>
        </p:spPr>
        <p:txBody>
          <a:bodyPr anchorCtr="0" anchor="ctr" bIns="45700" lIns="91425" spcFirstLastPara="1" rIns="91425" wrap="square" tIns="45700">
            <a:noAutofit/>
          </a:bodyPr>
          <a:lstStyle/>
          <a:p>
            <a:pPr indent="-214311" lvl="0" marL="214311" rtl="0" algn="ctr">
              <a:lnSpc>
                <a:spcPct val="100000"/>
              </a:lnSpc>
              <a:spcBef>
                <a:spcPts val="0"/>
              </a:spcBef>
              <a:spcAft>
                <a:spcPts val="0"/>
              </a:spcAft>
              <a:buClr>
                <a:srgbClr val="000000"/>
              </a:buClr>
              <a:buSzPts val="2400"/>
              <a:buFont typeface="Helvetica Neue"/>
              <a:buNone/>
            </a:pPr>
            <a:r>
              <a:rPr b="1" i="0" lang="en-US" sz="2400" u="none">
                <a:solidFill>
                  <a:srgbClr val="000000"/>
                </a:solidFill>
                <a:latin typeface="Helvetica Neue"/>
                <a:ea typeface="Helvetica Neue"/>
                <a:cs typeface="Helvetica Neue"/>
                <a:sym typeface="Helvetica Neue"/>
              </a:rPr>
              <a:t>4. SOCIAL ENVIRONMENT </a:t>
            </a:r>
            <a:endParaRPr/>
          </a:p>
        </p:txBody>
      </p:sp>
      <p:sp>
        <p:nvSpPr>
          <p:cNvPr id="284" name="Google Shape;284;p15"/>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285" name="Google Shape;285;p15"/>
          <p:cNvPicPr preferRelativeResize="0"/>
          <p:nvPr/>
        </p:nvPicPr>
        <p:blipFill rotWithShape="1">
          <a:blip r:embed="rId3">
            <a:alphaModFix/>
          </a:blip>
          <a:srcRect b="0" l="0" r="0" t="0"/>
          <a:stretch/>
        </p:blipFill>
        <p:spPr>
          <a:xfrm>
            <a:off x="3989200" y="3834976"/>
            <a:ext cx="3297425" cy="1483553"/>
          </a:xfrm>
          <a:prstGeom prst="rect">
            <a:avLst/>
          </a:prstGeom>
          <a:noFill/>
          <a:ln>
            <a:noFill/>
          </a:ln>
        </p:spPr>
      </p:pic>
      <p:pic>
        <p:nvPicPr>
          <p:cNvPr id="286" name="Google Shape;286;p15"/>
          <p:cNvPicPr preferRelativeResize="0"/>
          <p:nvPr/>
        </p:nvPicPr>
        <p:blipFill rotWithShape="1">
          <a:blip r:embed="rId4">
            <a:alphaModFix/>
          </a:blip>
          <a:srcRect b="0" l="0" r="0" t="0"/>
          <a:stretch/>
        </p:blipFill>
        <p:spPr>
          <a:xfrm>
            <a:off x="851820" y="3991593"/>
            <a:ext cx="2369400" cy="1314449"/>
          </a:xfrm>
          <a:prstGeom prst="rect">
            <a:avLst/>
          </a:prstGeom>
          <a:noFill/>
          <a:ln>
            <a:noFill/>
          </a:ln>
        </p:spPr>
      </p:pic>
      <p:sp>
        <p:nvSpPr>
          <p:cNvPr id="287" name="Google Shape;287;p15"/>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8" name="Google Shape;288;p15"/>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289" name="Google Shape;289;p15"/>
          <p:cNvPicPr preferRelativeResize="0"/>
          <p:nvPr/>
        </p:nvPicPr>
        <p:blipFill rotWithShape="1">
          <a:blip r:embed="rId5">
            <a:alphaModFix/>
          </a:blip>
          <a:srcRect b="0" l="0" r="0" t="0"/>
          <a:stretch/>
        </p:blipFill>
        <p:spPr>
          <a:xfrm>
            <a:off x="6350" y="6165850"/>
            <a:ext cx="9144000" cy="669925"/>
          </a:xfrm>
          <a:prstGeom prst="rect">
            <a:avLst/>
          </a:prstGeom>
          <a:noFill/>
          <a:ln>
            <a:noFill/>
          </a:ln>
        </p:spPr>
      </p:pic>
      <p:pic>
        <p:nvPicPr>
          <p:cNvPr id="290" name="Google Shape;290;p15"/>
          <p:cNvPicPr preferRelativeResize="0"/>
          <p:nvPr/>
        </p:nvPicPr>
        <p:blipFill rotWithShape="1">
          <a:blip r:embed="rId6">
            <a:alphaModFix/>
          </a:blip>
          <a:srcRect b="0" l="0" r="0" t="0"/>
          <a:stretch/>
        </p:blipFill>
        <p:spPr>
          <a:xfrm>
            <a:off x="7510462" y="5054600"/>
            <a:ext cx="1549400" cy="993775"/>
          </a:xfrm>
          <a:prstGeom prst="rect">
            <a:avLst/>
          </a:prstGeom>
          <a:noFill/>
          <a:ln>
            <a:noFill/>
          </a:ln>
        </p:spPr>
      </p:pic>
      <p:pic>
        <p:nvPicPr>
          <p:cNvPr descr="BracU Logo | Brac University" id="291" name="Google Shape;291;p15"/>
          <p:cNvPicPr preferRelativeResize="0"/>
          <p:nvPr/>
        </p:nvPicPr>
        <p:blipFill rotWithShape="1">
          <a:blip r:embed="rId7">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298" name="Google Shape;298;p16"/>
          <p:cNvSpPr/>
          <p:nvPr/>
        </p:nvSpPr>
        <p:spPr>
          <a:xfrm>
            <a:off x="1485900" y="1143000"/>
            <a:ext cx="6115050" cy="4686300"/>
          </a:xfrm>
          <a:prstGeom prst="roundRect">
            <a:avLst>
              <a:gd fmla="val 16667" name="adj"/>
            </a:avLst>
          </a:prstGeom>
          <a:solidFill>
            <a:srgbClr val="FFD95C"/>
          </a:solidFill>
          <a:ln cap="flat" cmpd="sng" w="9525">
            <a:solidFill>
              <a:srgbClr val="FFD95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9" name="Google Shape;299;p16"/>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300" name="Google Shape;300;p16"/>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301" name="Google Shape;301;p16"/>
          <p:cNvSpPr txBox="1"/>
          <p:nvPr/>
        </p:nvSpPr>
        <p:spPr>
          <a:xfrm>
            <a:off x="1693862" y="2362200"/>
            <a:ext cx="5943600" cy="3048000"/>
          </a:xfrm>
          <a:prstGeom prst="rect">
            <a:avLst/>
          </a:prstGeom>
          <a:noFill/>
          <a:ln>
            <a:noFill/>
          </a:ln>
        </p:spPr>
        <p:txBody>
          <a:bodyPr anchorCtr="0" anchor="t" bIns="45700" lIns="91425" spcFirstLastPara="1" rIns="91425" wrap="square" tIns="45700">
            <a:spAutoFit/>
          </a:bodyPr>
          <a:lstStyle/>
          <a:p>
            <a:pPr indent="0" lvl="1" marL="4762" marR="0" rtl="0" algn="l">
              <a:lnSpc>
                <a:spcPct val="100000"/>
              </a:lnSpc>
              <a:spcBef>
                <a:spcPts val="0"/>
              </a:spcBef>
              <a:spcAft>
                <a:spcPts val="0"/>
              </a:spcAft>
              <a:buClr>
                <a:srgbClr val="000000"/>
              </a:buClr>
              <a:buSzPts val="1800"/>
              <a:buFont typeface="Tahoma"/>
              <a:buNone/>
            </a:pPr>
            <a:r>
              <a:rPr b="1" i="0" lang="en-US" sz="1800" u="none" cap="none" strike="noStrike">
                <a:solidFill>
                  <a:srgbClr val="000000"/>
                </a:solidFill>
                <a:latin typeface="Tahoma"/>
                <a:ea typeface="Tahoma"/>
                <a:cs typeface="Tahoma"/>
                <a:sym typeface="Tahoma"/>
              </a:rPr>
              <a:t>Significant changes in global environment are </a:t>
            </a:r>
            <a:endParaRPr/>
          </a:p>
          <a:p>
            <a:pPr indent="0" lvl="1" marL="4762" marR="0" rtl="0" algn="l">
              <a:lnSpc>
                <a:spcPct val="100000"/>
              </a:lnSpc>
              <a:spcBef>
                <a:spcPts val="0"/>
              </a:spcBef>
              <a:spcAft>
                <a:spcPts val="0"/>
              </a:spcAft>
              <a:buClr>
                <a:srgbClr val="000000"/>
              </a:buClr>
              <a:buSzPts val="1800"/>
              <a:buFont typeface="Tahoma"/>
              <a:buNone/>
            </a:pPr>
            <a:r>
              <a:rPr b="1" i="0" lang="en-US" sz="1800" u="none" cap="none" strike="noStrike">
                <a:solidFill>
                  <a:srgbClr val="000000"/>
                </a:solidFill>
                <a:latin typeface="Tahoma"/>
                <a:ea typeface="Tahoma"/>
                <a:cs typeface="Tahoma"/>
                <a:sym typeface="Tahoma"/>
              </a:rPr>
              <a:t>Contributed by:</a:t>
            </a:r>
            <a:endParaRPr/>
          </a:p>
          <a:p>
            <a:pPr indent="0" lvl="1" marL="4762" marR="0" rtl="0" algn="l">
              <a:lnSpc>
                <a:spcPct val="100000"/>
              </a:lnSpc>
              <a:spcBef>
                <a:spcPts val="0"/>
              </a:spcBef>
              <a:spcAft>
                <a:spcPts val="0"/>
              </a:spcAft>
              <a:buClr>
                <a:schemeClr val="dk1"/>
              </a:buClr>
              <a:buSzPts val="1800"/>
              <a:buFont typeface="Arial"/>
              <a:buNone/>
            </a:pPr>
            <a:r>
              <a:t/>
            </a:r>
            <a:endParaRPr b="1" i="0" sz="1800" u="none" cap="none" strike="noStrike">
              <a:solidFill>
                <a:srgbClr val="000000"/>
              </a:solidFill>
              <a:latin typeface="Tahoma"/>
              <a:ea typeface="Tahoma"/>
              <a:cs typeface="Tahoma"/>
              <a:sym typeface="Tahoma"/>
            </a:endParaRPr>
          </a:p>
          <a:p>
            <a:pPr indent="-114300" lvl="1" marL="4762"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Tahoma"/>
                <a:ea typeface="Tahoma"/>
                <a:cs typeface="Tahoma"/>
                <a:sym typeface="Tahoma"/>
              </a:rPr>
              <a:t>Increase of global competition</a:t>
            </a:r>
            <a:endParaRPr/>
          </a:p>
          <a:p>
            <a:pPr indent="0" lvl="1" marL="4762"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Tahoma"/>
              <a:ea typeface="Tahoma"/>
              <a:cs typeface="Tahoma"/>
              <a:sym typeface="Tahoma"/>
            </a:endParaRPr>
          </a:p>
          <a:p>
            <a:pPr indent="-114300" lvl="1" marL="4762"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Tahoma"/>
                <a:ea typeface="Tahoma"/>
                <a:cs typeface="Tahoma"/>
                <a:sym typeface="Tahoma"/>
              </a:rPr>
              <a:t>Increase of free trade among nations</a:t>
            </a:r>
            <a:endParaRPr/>
          </a:p>
          <a:p>
            <a:pPr indent="0" lvl="1" marL="4762"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85762" lvl="0" marL="385762" marR="0" rtl="0" algn="l">
              <a:lnSpc>
                <a:spcPct val="100000"/>
              </a:lnSpc>
              <a:spcBef>
                <a:spcPts val="0"/>
              </a:spcBef>
              <a:spcAft>
                <a:spcPts val="0"/>
              </a:spcAft>
              <a:buClr>
                <a:schemeClr val="dk1"/>
              </a:buClr>
              <a:buSzPts val="600"/>
              <a:buFont typeface="Arial"/>
              <a:buNone/>
            </a:pPr>
            <a:r>
              <a:t/>
            </a:r>
            <a:endParaRPr b="0" i="1" sz="6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1" sz="600" u="none">
              <a:solidFill>
                <a:srgbClr val="000000"/>
              </a:solidFill>
              <a:latin typeface="Calibri"/>
              <a:ea typeface="Calibri"/>
              <a:cs typeface="Calibri"/>
              <a:sym typeface="Calibri"/>
            </a:endParaRPr>
          </a:p>
        </p:txBody>
      </p:sp>
      <p:sp>
        <p:nvSpPr>
          <p:cNvPr id="302" name="Google Shape;302;p16"/>
          <p:cNvSpPr txBox="1"/>
          <p:nvPr>
            <p:ph type="ctrTitle"/>
          </p:nvPr>
        </p:nvSpPr>
        <p:spPr>
          <a:xfrm>
            <a:off x="1257300" y="1085850"/>
            <a:ext cx="5829300" cy="11033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400"/>
              <a:buFont typeface="Helvetica Neue"/>
              <a:buNone/>
            </a:pPr>
            <a:r>
              <a:rPr b="1" i="0" lang="en-US" sz="2400" u="none">
                <a:solidFill>
                  <a:srgbClr val="007FA3"/>
                </a:solidFill>
                <a:latin typeface="Helvetica Neue"/>
                <a:ea typeface="Helvetica Neue"/>
                <a:cs typeface="Helvetica Neue"/>
                <a:sym typeface="Helvetica Neue"/>
              </a:rPr>
              <a:t>5. GLOBAL ENVIRONMENT</a:t>
            </a:r>
            <a:endParaRPr/>
          </a:p>
        </p:txBody>
      </p:sp>
      <p:sp>
        <p:nvSpPr>
          <p:cNvPr id="303" name="Google Shape;303;p16"/>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304" name="Google Shape;304;p16"/>
          <p:cNvPicPr preferRelativeResize="0"/>
          <p:nvPr/>
        </p:nvPicPr>
        <p:blipFill rotWithShape="1">
          <a:blip r:embed="rId3">
            <a:alphaModFix/>
          </a:blip>
          <a:srcRect b="0" l="0" r="0" t="0"/>
          <a:stretch/>
        </p:blipFill>
        <p:spPr>
          <a:xfrm>
            <a:off x="4922354" y="4003964"/>
            <a:ext cx="2433638" cy="1775801"/>
          </a:xfrm>
          <a:prstGeom prst="rect">
            <a:avLst/>
          </a:prstGeom>
          <a:noFill/>
          <a:ln>
            <a:noFill/>
          </a:ln>
        </p:spPr>
      </p:pic>
      <p:pic>
        <p:nvPicPr>
          <p:cNvPr id="305" name="Google Shape;305;p16"/>
          <p:cNvPicPr preferRelativeResize="0"/>
          <p:nvPr/>
        </p:nvPicPr>
        <p:blipFill rotWithShape="1">
          <a:blip r:embed="rId4">
            <a:alphaModFix/>
          </a:blip>
          <a:srcRect b="0" l="0" r="0" t="0"/>
          <a:stretch/>
        </p:blipFill>
        <p:spPr>
          <a:xfrm>
            <a:off x="1497066" y="4143375"/>
            <a:ext cx="2428741" cy="1628775"/>
          </a:xfrm>
          <a:prstGeom prst="rect">
            <a:avLst/>
          </a:prstGeom>
          <a:noFill/>
          <a:ln>
            <a:noFill/>
          </a:ln>
        </p:spPr>
      </p:pic>
      <p:sp>
        <p:nvSpPr>
          <p:cNvPr id="306" name="Google Shape;306;p16"/>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7" name="Google Shape;307;p16"/>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308" name="Google Shape;308;p16"/>
          <p:cNvPicPr preferRelativeResize="0"/>
          <p:nvPr/>
        </p:nvPicPr>
        <p:blipFill rotWithShape="1">
          <a:blip r:embed="rId5">
            <a:alphaModFix/>
          </a:blip>
          <a:srcRect b="0" l="0" r="0" t="0"/>
          <a:stretch/>
        </p:blipFill>
        <p:spPr>
          <a:xfrm>
            <a:off x="6350" y="6464300"/>
            <a:ext cx="9144000" cy="371475"/>
          </a:xfrm>
          <a:prstGeom prst="rect">
            <a:avLst/>
          </a:prstGeom>
          <a:noFill/>
          <a:ln>
            <a:noFill/>
          </a:ln>
        </p:spPr>
      </p:pic>
      <p:pic>
        <p:nvPicPr>
          <p:cNvPr id="309" name="Google Shape;309;p16"/>
          <p:cNvPicPr preferRelativeResize="0"/>
          <p:nvPr/>
        </p:nvPicPr>
        <p:blipFill rotWithShape="1">
          <a:blip r:embed="rId6">
            <a:alphaModFix/>
          </a:blip>
          <a:srcRect b="0" l="0" r="0" t="0"/>
          <a:stretch/>
        </p:blipFill>
        <p:spPr>
          <a:xfrm>
            <a:off x="7488237" y="5243512"/>
            <a:ext cx="1549400" cy="993775"/>
          </a:xfrm>
          <a:prstGeom prst="rect">
            <a:avLst/>
          </a:prstGeom>
          <a:noFill/>
          <a:ln>
            <a:noFill/>
          </a:ln>
        </p:spPr>
      </p:pic>
      <p:pic>
        <p:nvPicPr>
          <p:cNvPr descr="BracU Logo | Brac University" id="310" name="Google Shape;310;p16"/>
          <p:cNvPicPr preferRelativeResize="0"/>
          <p:nvPr/>
        </p:nvPicPr>
        <p:blipFill rotWithShape="1">
          <a:blip r:embed="rId7">
            <a:alphaModFix/>
          </a:blip>
          <a:srcRect b="0" l="0" r="0" t="0"/>
          <a:stretch/>
        </p:blipFill>
        <p:spPr>
          <a:xfrm>
            <a:off x="144462" y="5381625"/>
            <a:ext cx="1549400" cy="1120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317" name="Google Shape;317;p17"/>
          <p:cNvSpPr/>
          <p:nvPr/>
        </p:nvSpPr>
        <p:spPr>
          <a:xfrm>
            <a:off x="1485900" y="1143000"/>
            <a:ext cx="6115050" cy="46863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8" name="Google Shape;318;p17"/>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319" name="Google Shape;319;p17"/>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320" name="Google Shape;320;p17"/>
          <p:cNvSpPr txBox="1"/>
          <p:nvPr/>
        </p:nvSpPr>
        <p:spPr>
          <a:xfrm>
            <a:off x="1546225" y="2128837"/>
            <a:ext cx="4525962" cy="1708150"/>
          </a:xfrm>
          <a:prstGeom prst="rect">
            <a:avLst/>
          </a:prstGeom>
          <a:noFill/>
          <a:ln>
            <a:noFill/>
          </a:ln>
        </p:spPr>
        <p:txBody>
          <a:bodyPr anchorCtr="0" anchor="t" bIns="45700" lIns="91425" spcFirstLastPara="1" rIns="91425" wrap="square" tIns="45700">
            <a:spAutoFit/>
          </a:bodyPr>
          <a:lstStyle/>
          <a:p>
            <a:pPr indent="0" lvl="1" marL="4762" marR="0" rtl="0" algn="l">
              <a:lnSpc>
                <a:spcPct val="100000"/>
              </a:lnSpc>
              <a:spcBef>
                <a:spcPts val="0"/>
              </a:spcBef>
              <a:spcAft>
                <a:spcPts val="0"/>
              </a:spcAft>
              <a:buClr>
                <a:srgbClr val="000000"/>
              </a:buClr>
              <a:buSzPts val="1500"/>
              <a:buFont typeface="Times New Roman"/>
              <a:buNone/>
            </a:pPr>
            <a:r>
              <a:rPr b="1" i="0" lang="en-US" sz="1500" u="none" cap="none" strike="noStrike">
                <a:solidFill>
                  <a:srgbClr val="000000"/>
                </a:solidFill>
                <a:latin typeface="Times New Roman"/>
                <a:ea typeface="Times New Roman"/>
                <a:cs typeface="Times New Roman"/>
                <a:sym typeface="Times New Roman"/>
              </a:rPr>
              <a:t>Negative effects of globalization on businesses:</a:t>
            </a:r>
            <a:endParaRPr/>
          </a:p>
          <a:p>
            <a:pPr indent="0" lvl="1" marL="4762" marR="0" rtl="0" algn="l">
              <a:lnSpc>
                <a:spcPct val="100000"/>
              </a:lnSpc>
              <a:spcBef>
                <a:spcPts val="0"/>
              </a:spcBef>
              <a:spcAft>
                <a:spcPts val="0"/>
              </a:spcAft>
              <a:buClr>
                <a:schemeClr val="dk1"/>
              </a:buClr>
              <a:buSzPts val="1500"/>
              <a:buFont typeface="Arial"/>
              <a:buNone/>
            </a:pPr>
            <a:r>
              <a:t/>
            </a:r>
            <a:endParaRPr b="1" i="0" sz="1500" u="none" cap="none" strike="noStrike">
              <a:solidFill>
                <a:srgbClr val="000000"/>
              </a:solidFill>
              <a:latin typeface="Times New Roman"/>
              <a:ea typeface="Times New Roman"/>
              <a:cs typeface="Times New Roman"/>
              <a:sym typeface="Times New Roman"/>
            </a:endParaRPr>
          </a:p>
          <a:p>
            <a:pPr indent="-95250" lvl="1" marL="4762"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Times New Roman"/>
                <a:ea typeface="Times New Roman"/>
                <a:cs typeface="Times New Roman"/>
                <a:sym typeface="Times New Roman"/>
              </a:rPr>
              <a:t>Wars and terrorism </a:t>
            </a:r>
            <a:endParaRPr/>
          </a:p>
          <a:p>
            <a:pPr indent="0" lvl="1" marL="4762" marR="0" rtl="0" algn="l">
              <a:lnSpc>
                <a:spcPct val="100000"/>
              </a:lnSpc>
              <a:spcBef>
                <a:spcPts val="0"/>
              </a:spcBef>
              <a:spcAft>
                <a:spcPts val="0"/>
              </a:spcAft>
              <a:buClr>
                <a:schemeClr val="dk1"/>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a:p>
            <a:pPr indent="-95250" lvl="1" marL="4762"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Times New Roman"/>
                <a:ea typeface="Times New Roman"/>
                <a:cs typeface="Times New Roman"/>
                <a:sym typeface="Times New Roman"/>
              </a:rPr>
              <a:t>Global Pandemic</a:t>
            </a:r>
            <a:endParaRPr/>
          </a:p>
          <a:p>
            <a:pPr indent="0" lvl="1" marL="4762" marR="0" rtl="0" algn="l">
              <a:lnSpc>
                <a:spcPct val="100000"/>
              </a:lnSpc>
              <a:spcBef>
                <a:spcPts val="0"/>
              </a:spcBef>
              <a:spcAft>
                <a:spcPts val="0"/>
              </a:spcAft>
              <a:buClr>
                <a:schemeClr val="dk1"/>
              </a:buClr>
              <a:buSzPts val="1500"/>
              <a:buFont typeface="Arial"/>
              <a:buNone/>
            </a:pPr>
            <a:r>
              <a:t/>
            </a:r>
            <a:endParaRPr b="1" i="0" sz="1500" u="none" cap="none" strike="noStrike">
              <a:solidFill>
                <a:srgbClr val="000000"/>
              </a:solidFill>
              <a:latin typeface="Times New Roman"/>
              <a:ea typeface="Times New Roman"/>
              <a:cs typeface="Times New Roman"/>
              <a:sym typeface="Times New Roman"/>
            </a:endParaRPr>
          </a:p>
          <a:p>
            <a:pPr indent="0" lvl="1" marL="4762" marR="0" rtl="0" algn="l">
              <a:lnSpc>
                <a:spcPct val="100000"/>
              </a:lnSpc>
              <a:spcBef>
                <a:spcPts val="0"/>
              </a:spcBef>
              <a:spcAft>
                <a:spcPts val="0"/>
              </a:spcAft>
              <a:buClr>
                <a:srgbClr val="000000"/>
              </a:buClr>
              <a:buSzPts val="1500"/>
              <a:buFont typeface="Times New Roman"/>
              <a:buNone/>
            </a:pPr>
            <a:r>
              <a:rPr b="1" i="0" lang="en-US" sz="1500" u="none" cap="none" strike="noStrike">
                <a:solidFill>
                  <a:srgbClr val="000000"/>
                </a:solidFill>
                <a:latin typeface="Times New Roman"/>
                <a:ea typeface="Times New Roman"/>
                <a:cs typeface="Times New Roman"/>
                <a:sym typeface="Times New Roman"/>
              </a:rPr>
              <a:t>How to stay updated with globalization?</a:t>
            </a:r>
            <a:endParaRPr/>
          </a:p>
        </p:txBody>
      </p:sp>
      <p:sp>
        <p:nvSpPr>
          <p:cNvPr id="321" name="Google Shape;321;p17"/>
          <p:cNvSpPr txBox="1"/>
          <p:nvPr>
            <p:ph type="ctrTitle"/>
          </p:nvPr>
        </p:nvSpPr>
        <p:spPr>
          <a:xfrm>
            <a:off x="1257300" y="1085850"/>
            <a:ext cx="5829300" cy="11033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2400"/>
              <a:buFont typeface="Helvetica Neue"/>
              <a:buNone/>
            </a:pPr>
            <a:r>
              <a:rPr b="1" i="0" lang="en-US" sz="2400" u="none">
                <a:solidFill>
                  <a:srgbClr val="000000"/>
                </a:solidFill>
                <a:latin typeface="Helvetica Neue"/>
                <a:ea typeface="Helvetica Neue"/>
                <a:cs typeface="Helvetica Neue"/>
                <a:sym typeface="Helvetica Neue"/>
              </a:rPr>
              <a:t>5. GLOBAL ENVIRONMENT</a:t>
            </a:r>
            <a:endParaRPr/>
          </a:p>
        </p:txBody>
      </p:sp>
      <p:sp>
        <p:nvSpPr>
          <p:cNvPr id="322" name="Google Shape;322;p17"/>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323" name="Google Shape;323;p17"/>
          <p:cNvPicPr preferRelativeResize="0"/>
          <p:nvPr/>
        </p:nvPicPr>
        <p:blipFill rotWithShape="1">
          <a:blip r:embed="rId3">
            <a:alphaModFix/>
          </a:blip>
          <a:srcRect b="0" l="0" r="0" t="0"/>
          <a:stretch/>
        </p:blipFill>
        <p:spPr>
          <a:xfrm>
            <a:off x="5515967" y="4324350"/>
            <a:ext cx="1898452" cy="1314450"/>
          </a:xfrm>
          <a:prstGeom prst="rect">
            <a:avLst/>
          </a:prstGeom>
          <a:noFill/>
          <a:ln>
            <a:noFill/>
          </a:ln>
        </p:spPr>
      </p:pic>
      <p:pic>
        <p:nvPicPr>
          <p:cNvPr id="324" name="Google Shape;324;p17"/>
          <p:cNvPicPr preferRelativeResize="0"/>
          <p:nvPr/>
        </p:nvPicPr>
        <p:blipFill rotWithShape="1">
          <a:blip r:embed="rId4">
            <a:alphaModFix/>
          </a:blip>
          <a:srcRect b="0" l="0" r="0" t="0"/>
          <a:stretch/>
        </p:blipFill>
        <p:spPr>
          <a:xfrm>
            <a:off x="5429250" y="2050653"/>
            <a:ext cx="1614488" cy="1396537"/>
          </a:xfrm>
          <a:prstGeom prst="rect">
            <a:avLst/>
          </a:prstGeom>
          <a:noFill/>
          <a:ln>
            <a:noFill/>
          </a:ln>
        </p:spPr>
      </p:pic>
      <p:pic>
        <p:nvPicPr>
          <p:cNvPr id="325" name="Google Shape;325;p17"/>
          <p:cNvPicPr preferRelativeResize="0"/>
          <p:nvPr/>
        </p:nvPicPr>
        <p:blipFill rotWithShape="1">
          <a:blip r:embed="rId5">
            <a:alphaModFix/>
          </a:blip>
          <a:srcRect b="0" l="0" r="0" t="0"/>
          <a:stretch/>
        </p:blipFill>
        <p:spPr>
          <a:xfrm>
            <a:off x="1691680" y="4218421"/>
            <a:ext cx="3355181" cy="1506104"/>
          </a:xfrm>
          <a:prstGeom prst="rect">
            <a:avLst/>
          </a:prstGeom>
          <a:noFill/>
          <a:ln>
            <a:noFill/>
          </a:ln>
        </p:spPr>
      </p:pic>
      <p:sp>
        <p:nvSpPr>
          <p:cNvPr id="326" name="Google Shape;326;p17"/>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7" name="Google Shape;327;p17"/>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328" name="Google Shape;328;p17"/>
          <p:cNvPicPr preferRelativeResize="0"/>
          <p:nvPr/>
        </p:nvPicPr>
        <p:blipFill rotWithShape="1">
          <a:blip r:embed="rId6">
            <a:alphaModFix/>
          </a:blip>
          <a:srcRect b="0" l="0" r="0" t="0"/>
          <a:stretch/>
        </p:blipFill>
        <p:spPr>
          <a:xfrm>
            <a:off x="6350" y="6165850"/>
            <a:ext cx="9144000" cy="669925"/>
          </a:xfrm>
          <a:prstGeom prst="rect">
            <a:avLst/>
          </a:prstGeom>
          <a:noFill/>
          <a:ln>
            <a:noFill/>
          </a:ln>
        </p:spPr>
      </p:pic>
      <p:pic>
        <p:nvPicPr>
          <p:cNvPr id="329" name="Google Shape;329;p17"/>
          <p:cNvPicPr preferRelativeResize="0"/>
          <p:nvPr/>
        </p:nvPicPr>
        <p:blipFill rotWithShape="1">
          <a:blip r:embed="rId7">
            <a:alphaModFix/>
          </a:blip>
          <a:srcRect b="0" l="0" r="0" t="0"/>
          <a:stretch/>
        </p:blipFill>
        <p:spPr>
          <a:xfrm>
            <a:off x="7510462" y="5054600"/>
            <a:ext cx="1549400" cy="993775"/>
          </a:xfrm>
          <a:prstGeom prst="rect">
            <a:avLst/>
          </a:prstGeom>
          <a:noFill/>
          <a:ln>
            <a:noFill/>
          </a:ln>
        </p:spPr>
      </p:pic>
      <p:pic>
        <p:nvPicPr>
          <p:cNvPr descr="BracU Logo | Brac University" id="330" name="Google Shape;330;p17"/>
          <p:cNvPicPr preferRelativeResize="0"/>
          <p:nvPr/>
        </p:nvPicPr>
        <p:blipFill rotWithShape="1">
          <a:blip r:embed="rId8">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337" name="Google Shape;337;p18"/>
          <p:cNvSpPr/>
          <p:nvPr/>
        </p:nvSpPr>
        <p:spPr>
          <a:xfrm>
            <a:off x="1485900" y="1143000"/>
            <a:ext cx="6400800" cy="502285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8" name="Google Shape;338;p18"/>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Calibri"/>
              <a:buNone/>
            </a:pPr>
            <a:r>
              <a:rPr b="1" i="0" lang="en-US" sz="3000" u="none">
                <a:solidFill>
                  <a:srgbClr val="FFD95C"/>
                </a:solidFill>
                <a:latin typeface="Calibri"/>
                <a:ea typeface="Calibri"/>
                <a:cs typeface="Calibri"/>
                <a:sym typeface="Calibri"/>
              </a:rPr>
              <a:t>*</a:t>
            </a:r>
            <a:endParaRPr/>
          </a:p>
        </p:txBody>
      </p:sp>
      <p:sp>
        <p:nvSpPr>
          <p:cNvPr id="339" name="Google Shape;339;p18"/>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Calibri"/>
              <a:buNone/>
            </a:pPr>
            <a:r>
              <a:rPr b="1" i="0" lang="en-US" sz="3000" u="none">
                <a:solidFill>
                  <a:srgbClr val="660066"/>
                </a:solidFill>
                <a:latin typeface="Calibri"/>
                <a:ea typeface="Calibri"/>
                <a:cs typeface="Calibri"/>
                <a:sym typeface="Calibri"/>
              </a:rPr>
              <a:t>*</a:t>
            </a:r>
            <a:endParaRPr/>
          </a:p>
        </p:txBody>
      </p:sp>
      <p:sp>
        <p:nvSpPr>
          <p:cNvPr id="340" name="Google Shape;340;p18"/>
          <p:cNvSpPr txBox="1"/>
          <p:nvPr/>
        </p:nvSpPr>
        <p:spPr>
          <a:xfrm>
            <a:off x="6629400" y="1252537"/>
            <a:ext cx="1257300" cy="48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Helvetica Neue"/>
              <a:buNone/>
            </a:pPr>
            <a:r>
              <a:rPr b="0" i="1" lang="en-US" sz="1200" u="none">
                <a:solidFill>
                  <a:srgbClr val="FFFFFF"/>
                </a:solidFill>
                <a:latin typeface="Helvetica Neue"/>
                <a:ea typeface="Helvetica Neue"/>
                <a:cs typeface="Helvetica Neue"/>
                <a:sym typeface="Helvetica Neue"/>
              </a:rPr>
              <a:t>The Ecological Environment</a:t>
            </a:r>
            <a:endParaRPr/>
          </a:p>
        </p:txBody>
      </p:sp>
      <p:sp>
        <p:nvSpPr>
          <p:cNvPr id="341" name="Google Shape;341;p18"/>
          <p:cNvSpPr txBox="1"/>
          <p:nvPr/>
        </p:nvSpPr>
        <p:spPr>
          <a:xfrm>
            <a:off x="1485900" y="2065337"/>
            <a:ext cx="3992562" cy="3716337"/>
          </a:xfrm>
          <a:prstGeom prst="rect">
            <a:avLst/>
          </a:prstGeom>
          <a:noFill/>
          <a:ln>
            <a:noFill/>
          </a:ln>
        </p:spPr>
        <p:txBody>
          <a:bodyPr anchorCtr="0" anchor="t" bIns="45700" lIns="91425" spcFirstLastPara="1" rIns="91425" wrap="square" tIns="45700">
            <a:spAutoFit/>
          </a:bodyPr>
          <a:lstStyle/>
          <a:p>
            <a:pPr indent="0" lvl="1" marL="4762" marR="0" rtl="0" algn="l">
              <a:lnSpc>
                <a:spcPct val="100000"/>
              </a:lnSpc>
              <a:spcBef>
                <a:spcPts val="0"/>
              </a:spcBef>
              <a:spcAft>
                <a:spcPts val="0"/>
              </a:spcAft>
              <a:buClr>
                <a:srgbClr val="000000"/>
              </a:buClr>
              <a:buSzPts val="1800"/>
              <a:buFont typeface="Helvetica Neue"/>
              <a:buNone/>
            </a:pPr>
            <a:r>
              <a:rPr b="1" i="1" lang="en-US" sz="1800" u="none" cap="none" strike="noStrike">
                <a:solidFill>
                  <a:srgbClr val="000000"/>
                </a:solidFill>
                <a:latin typeface="Helvetica Neue"/>
                <a:ea typeface="Helvetica Neue"/>
                <a:cs typeface="Helvetica Neue"/>
                <a:sym typeface="Helvetica Neue"/>
              </a:rPr>
              <a:t>More than just climate change</a:t>
            </a:r>
            <a:endParaRPr b="0"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0" lvl="1" marL="4762" marR="0" rtl="0" algn="l">
              <a:lnSpc>
                <a:spcPct val="100000"/>
              </a:lnSpc>
              <a:spcBef>
                <a:spcPts val="0"/>
              </a:spcBef>
              <a:spcAft>
                <a:spcPts val="0"/>
              </a:spcAft>
              <a:buClr>
                <a:schemeClr val="dk1"/>
              </a:buClr>
              <a:buSzPts val="1800"/>
              <a:buFont typeface="Arial"/>
              <a:buNone/>
            </a:pPr>
            <a:r>
              <a:t/>
            </a:r>
            <a:endParaRPr b="1" i="1" sz="1800" u="none" cap="none" strike="noStrike">
              <a:solidFill>
                <a:srgbClr val="000000"/>
              </a:solidFill>
              <a:latin typeface="Helvetica Neue"/>
              <a:ea typeface="Helvetica Neue"/>
              <a:cs typeface="Helvetica Neue"/>
              <a:sym typeface="Helvetica Neue"/>
            </a:endParaRPr>
          </a:p>
          <a:p>
            <a:pPr indent="-114300" lvl="1" marL="4762"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Helvetica Neue"/>
                <a:ea typeface="Helvetica Neue"/>
                <a:cs typeface="Helvetica Neue"/>
                <a:sym typeface="Helvetica Neue"/>
              </a:rPr>
              <a:t>Greening: </a:t>
            </a:r>
            <a:r>
              <a:rPr b="0" i="0" lang="en-US" sz="1800" u="none" cap="none" strike="noStrike">
                <a:solidFill>
                  <a:srgbClr val="000000"/>
                </a:solidFill>
                <a:latin typeface="Helvetica Neue"/>
                <a:ea typeface="Helvetica Neue"/>
                <a:cs typeface="Helvetica Neue"/>
                <a:sym typeface="Helvetica Neue"/>
              </a:rPr>
              <a:t>The trend toward saving energy and producing products that cause less harm to environment.</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Helvetica Neue"/>
              <a:ea typeface="Helvetica Neue"/>
              <a:cs typeface="Helvetica Neue"/>
              <a:sym typeface="Helvetica Neue"/>
            </a:endParaRPr>
          </a:p>
        </p:txBody>
      </p:sp>
      <p:sp>
        <p:nvSpPr>
          <p:cNvPr id="342" name="Google Shape;342;p18"/>
          <p:cNvSpPr txBox="1"/>
          <p:nvPr>
            <p:ph type="ctrTitle"/>
          </p:nvPr>
        </p:nvSpPr>
        <p:spPr>
          <a:xfrm>
            <a:off x="1257300" y="1085850"/>
            <a:ext cx="5829300" cy="11033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2400"/>
              <a:buFont typeface="Helvetica Neue"/>
              <a:buNone/>
            </a:pPr>
            <a:r>
              <a:rPr b="1" i="0" lang="en-US" sz="2400" u="none">
                <a:solidFill>
                  <a:srgbClr val="000000"/>
                </a:solidFill>
                <a:latin typeface="Helvetica Neue"/>
                <a:ea typeface="Helvetica Neue"/>
                <a:cs typeface="Helvetica Neue"/>
                <a:sym typeface="Helvetica Neue"/>
              </a:rPr>
              <a:t>6. Ecological Environment</a:t>
            </a:r>
            <a:endParaRPr/>
          </a:p>
        </p:txBody>
      </p:sp>
      <p:sp>
        <p:nvSpPr>
          <p:cNvPr id="343" name="Google Shape;343;p18"/>
          <p:cNvSpPr txBox="1"/>
          <p:nvPr/>
        </p:nvSpPr>
        <p:spPr>
          <a:xfrm>
            <a:off x="6972300" y="1828800"/>
            <a:ext cx="514350" cy="288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200"/>
              <a:buFont typeface="Helvetica Neue"/>
              <a:buNone/>
            </a:pPr>
            <a:r>
              <a:rPr b="1" i="0" lang="en-US" sz="1200" u="none">
                <a:solidFill>
                  <a:schemeClr val="lt1"/>
                </a:solidFill>
                <a:latin typeface="Helvetica Neue"/>
                <a:ea typeface="Helvetica Neue"/>
                <a:cs typeface="Helvetica Neue"/>
                <a:sym typeface="Helvetica Neue"/>
              </a:rPr>
              <a:t>L</a:t>
            </a:r>
            <a:endParaRPr/>
          </a:p>
        </p:txBody>
      </p:sp>
      <p:sp>
        <p:nvSpPr>
          <p:cNvPr id="344" name="Google Shape;344;p18"/>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fld id="{00000000-1234-1234-1234-123412341234}" type="slidenum">
              <a:rPr b="0" i="0" lang="en-US" sz="900" u="none">
                <a:solidFill>
                  <a:schemeClr val="dk1"/>
                </a:solidFill>
                <a:latin typeface="Times New Roman"/>
                <a:ea typeface="Times New Roman"/>
                <a:cs typeface="Times New Roman"/>
                <a:sym typeface="Times New Roman"/>
              </a:rPr>
              <a:t>‹#›</a:t>
            </a:fld>
            <a:endParaRPr/>
          </a:p>
        </p:txBody>
      </p:sp>
      <p:pic>
        <p:nvPicPr>
          <p:cNvPr id="345" name="Google Shape;345;p18"/>
          <p:cNvPicPr preferRelativeResize="0"/>
          <p:nvPr/>
        </p:nvPicPr>
        <p:blipFill rotWithShape="1">
          <a:blip r:embed="rId3">
            <a:alphaModFix/>
          </a:blip>
          <a:srcRect b="0" l="0" r="0" t="0"/>
          <a:stretch/>
        </p:blipFill>
        <p:spPr>
          <a:xfrm>
            <a:off x="2185394" y="2449454"/>
            <a:ext cx="2902744" cy="1163342"/>
          </a:xfrm>
          <a:prstGeom prst="rect">
            <a:avLst/>
          </a:prstGeom>
          <a:noFill/>
          <a:ln>
            <a:noFill/>
          </a:ln>
        </p:spPr>
      </p:pic>
      <p:pic>
        <p:nvPicPr>
          <p:cNvPr id="346" name="Google Shape;346;p18"/>
          <p:cNvPicPr preferRelativeResize="0"/>
          <p:nvPr/>
        </p:nvPicPr>
        <p:blipFill rotWithShape="1">
          <a:blip r:embed="rId4">
            <a:alphaModFix/>
          </a:blip>
          <a:srcRect b="0" l="0" r="0" t="0"/>
          <a:stretch/>
        </p:blipFill>
        <p:spPr>
          <a:xfrm>
            <a:off x="5426331" y="2902562"/>
            <a:ext cx="2245463" cy="1686239"/>
          </a:xfrm>
          <a:prstGeom prst="rect">
            <a:avLst/>
          </a:prstGeom>
          <a:noFill/>
          <a:ln>
            <a:noFill/>
          </a:ln>
        </p:spPr>
      </p:pic>
      <p:sp>
        <p:nvSpPr>
          <p:cNvPr id="347" name="Google Shape;347;p18"/>
          <p:cNvSpPr txBox="1"/>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8" name="Google Shape;348;p18"/>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349" name="Google Shape;349;p18"/>
          <p:cNvPicPr preferRelativeResize="0"/>
          <p:nvPr/>
        </p:nvPicPr>
        <p:blipFill rotWithShape="1">
          <a:blip r:embed="rId5">
            <a:alphaModFix/>
          </a:blip>
          <a:srcRect b="0" l="0" r="0" t="0"/>
          <a:stretch/>
        </p:blipFill>
        <p:spPr>
          <a:xfrm>
            <a:off x="6350" y="6165850"/>
            <a:ext cx="9144000" cy="669925"/>
          </a:xfrm>
          <a:prstGeom prst="rect">
            <a:avLst/>
          </a:prstGeom>
          <a:noFill/>
          <a:ln>
            <a:noFill/>
          </a:ln>
        </p:spPr>
      </p:pic>
      <p:pic>
        <p:nvPicPr>
          <p:cNvPr id="350" name="Google Shape;350;p18"/>
          <p:cNvPicPr preferRelativeResize="0"/>
          <p:nvPr/>
        </p:nvPicPr>
        <p:blipFill rotWithShape="1">
          <a:blip r:embed="rId6">
            <a:alphaModFix/>
          </a:blip>
          <a:srcRect b="0" l="0" r="0" t="0"/>
          <a:stretch/>
        </p:blipFill>
        <p:spPr>
          <a:xfrm>
            <a:off x="7510462" y="5054600"/>
            <a:ext cx="1549400" cy="993775"/>
          </a:xfrm>
          <a:prstGeom prst="rect">
            <a:avLst/>
          </a:prstGeom>
          <a:noFill/>
          <a:ln>
            <a:noFill/>
          </a:ln>
        </p:spPr>
      </p:pic>
      <p:pic>
        <p:nvPicPr>
          <p:cNvPr descr="BracU Logo | Brac University" id="351" name="Google Shape;351;p18"/>
          <p:cNvPicPr preferRelativeResize="0"/>
          <p:nvPr/>
        </p:nvPicPr>
        <p:blipFill rotWithShape="1">
          <a:blip r:embed="rId7">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9"/>
          <p:cNvSpPr txBox="1"/>
          <p:nvPr/>
        </p:nvSpPr>
        <p:spPr>
          <a:xfrm>
            <a:off x="1844675" y="2187575"/>
            <a:ext cx="5967412" cy="336391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202124"/>
              </a:buClr>
              <a:buSzPts val="1800"/>
              <a:buFont typeface="Arial"/>
              <a:buNone/>
            </a:pPr>
            <a:r>
              <a:rPr b="1" i="0" lang="en-US" sz="1800" u="none">
                <a:solidFill>
                  <a:srgbClr val="202124"/>
                </a:solidFill>
                <a:latin typeface="Arial"/>
                <a:ea typeface="Arial"/>
                <a:cs typeface="Arial"/>
                <a:sym typeface="Arial"/>
              </a:rPr>
              <a:t>PESTLE Analysis</a:t>
            </a:r>
            <a:r>
              <a:rPr b="0" i="0" lang="en-US" sz="1800" u="none">
                <a:solidFill>
                  <a:srgbClr val="202124"/>
                </a:solidFill>
                <a:latin typeface="Arial"/>
                <a:ea typeface="Arial"/>
                <a:cs typeface="Arial"/>
                <a:sym typeface="Arial"/>
              </a:rPr>
              <a:t> (political, economic, social, technological, legal and environmental) is a management method whereby an organization can assess major external factors that influence its operation in order to become more competitive in the market. As described by the acronym, those six areas are central to this model. It offers people professionals insight into the external factors impacting their organization.</a:t>
            </a:r>
            <a:endParaRPr/>
          </a:p>
        </p:txBody>
      </p:sp>
      <p:sp>
        <p:nvSpPr>
          <p:cNvPr id="357" name="Google Shape;357;p19"/>
          <p:cNvSpPr txBox="1"/>
          <p:nvPr/>
        </p:nvSpPr>
        <p:spPr>
          <a:xfrm>
            <a:off x="1844675" y="1052512"/>
            <a:ext cx="5967412" cy="792162"/>
          </a:xfrm>
          <a:prstGeom prst="rect">
            <a:avLst/>
          </a:prstGeom>
          <a:solidFill>
            <a:schemeClr val="accent1"/>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PESTLE ANALYSIS</a:t>
            </a:r>
            <a:endParaRPr/>
          </a:p>
        </p:txBody>
      </p:sp>
      <p:pic>
        <p:nvPicPr>
          <p:cNvPr id="358" name="Google Shape;358;p19"/>
          <p:cNvPicPr preferRelativeResize="0"/>
          <p:nvPr/>
        </p:nvPicPr>
        <p:blipFill rotWithShape="1">
          <a:blip r:embed="rId3">
            <a:alphaModFix/>
          </a:blip>
          <a:srcRect b="0" l="0" r="0" t="0"/>
          <a:stretch/>
        </p:blipFill>
        <p:spPr>
          <a:xfrm>
            <a:off x="6350" y="6165850"/>
            <a:ext cx="9144000" cy="669925"/>
          </a:xfrm>
          <a:prstGeom prst="rect">
            <a:avLst/>
          </a:prstGeom>
          <a:noFill/>
          <a:ln>
            <a:noFill/>
          </a:ln>
        </p:spPr>
      </p:pic>
      <p:pic>
        <p:nvPicPr>
          <p:cNvPr id="359" name="Google Shape;359;p19"/>
          <p:cNvPicPr preferRelativeResize="0"/>
          <p:nvPr/>
        </p:nvPicPr>
        <p:blipFill rotWithShape="1">
          <a:blip r:embed="rId4">
            <a:alphaModFix/>
          </a:blip>
          <a:srcRect b="0" l="0" r="0" t="0"/>
          <a:stretch/>
        </p:blipFill>
        <p:spPr>
          <a:xfrm>
            <a:off x="7510462" y="5054600"/>
            <a:ext cx="1549400" cy="993775"/>
          </a:xfrm>
          <a:prstGeom prst="rect">
            <a:avLst/>
          </a:prstGeom>
          <a:noFill/>
          <a:ln>
            <a:noFill/>
          </a:ln>
        </p:spPr>
      </p:pic>
      <p:pic>
        <p:nvPicPr>
          <p:cNvPr descr="BracU Logo | Brac University" id="360" name="Google Shape;360;p19"/>
          <p:cNvPicPr preferRelativeResize="0"/>
          <p:nvPr/>
        </p:nvPicPr>
        <p:blipFill rotWithShape="1">
          <a:blip r:embed="rId5">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20"/>
          <p:cNvPicPr preferRelativeResize="0"/>
          <p:nvPr/>
        </p:nvPicPr>
        <p:blipFill rotWithShape="1">
          <a:blip r:embed="rId3">
            <a:alphaModFix/>
          </a:blip>
          <a:srcRect b="0" l="0" r="0" t="0"/>
          <a:stretch/>
        </p:blipFill>
        <p:spPr>
          <a:xfrm>
            <a:off x="706437" y="790575"/>
            <a:ext cx="7666037" cy="4391025"/>
          </a:xfrm>
          <a:prstGeom prst="rect">
            <a:avLst/>
          </a:prstGeom>
          <a:noFill/>
          <a:ln>
            <a:noFill/>
          </a:ln>
        </p:spPr>
      </p:pic>
      <p:pic>
        <p:nvPicPr>
          <p:cNvPr id="366" name="Google Shape;366;p20"/>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367" name="Google Shape;367;p20"/>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368" name="Google Shape;368;p20"/>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1"/>
          <p:cNvSpPr txBox="1"/>
          <p:nvPr/>
        </p:nvSpPr>
        <p:spPr>
          <a:xfrm>
            <a:off x="1820862" y="2162175"/>
            <a:ext cx="5967412" cy="253365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202124"/>
              </a:buClr>
              <a:buSzPts val="1800"/>
              <a:buFont typeface="Arial"/>
              <a:buNone/>
            </a:pPr>
            <a:r>
              <a:rPr b="1" i="0" lang="en-US" sz="1800" u="none">
                <a:solidFill>
                  <a:srgbClr val="202124"/>
                </a:solidFill>
                <a:latin typeface="Arial"/>
                <a:ea typeface="Arial"/>
                <a:cs typeface="Arial"/>
                <a:sym typeface="Arial"/>
              </a:rPr>
              <a:t>SWOT Analysis</a:t>
            </a:r>
            <a:r>
              <a:rPr b="0" i="0" lang="en-US" sz="1800" u="none">
                <a:solidFill>
                  <a:srgbClr val="202124"/>
                </a:solidFill>
                <a:latin typeface="Arial"/>
                <a:ea typeface="Arial"/>
                <a:cs typeface="Arial"/>
                <a:sym typeface="Arial"/>
              </a:rPr>
              <a:t> is a simple but useful framework for </a:t>
            </a:r>
            <a:r>
              <a:rPr b="1" i="0" lang="en-US" sz="1800" u="none">
                <a:solidFill>
                  <a:srgbClr val="202124"/>
                </a:solidFill>
                <a:latin typeface="Arial"/>
                <a:ea typeface="Arial"/>
                <a:cs typeface="Arial"/>
                <a:sym typeface="Arial"/>
              </a:rPr>
              <a:t>analyzing</a:t>
            </a:r>
            <a:r>
              <a:rPr b="0" i="0" lang="en-US" sz="1800" u="none">
                <a:solidFill>
                  <a:srgbClr val="202124"/>
                </a:solidFill>
                <a:latin typeface="Arial"/>
                <a:ea typeface="Arial"/>
                <a:cs typeface="Arial"/>
                <a:sym typeface="Arial"/>
              </a:rPr>
              <a:t> your organization's strengths, weaknesses, opportunities, and threats. It helps you to build on what you do well, to address what you're lacking, to minimize risks, and to take the greatest possible advantage of chances for success..</a:t>
            </a:r>
            <a:endParaRPr/>
          </a:p>
        </p:txBody>
      </p:sp>
      <p:sp>
        <p:nvSpPr>
          <p:cNvPr id="374" name="Google Shape;374;p21"/>
          <p:cNvSpPr txBox="1"/>
          <p:nvPr/>
        </p:nvSpPr>
        <p:spPr>
          <a:xfrm>
            <a:off x="1844675" y="1052512"/>
            <a:ext cx="5967412" cy="792162"/>
          </a:xfrm>
          <a:prstGeom prst="rect">
            <a:avLst/>
          </a:prstGeom>
          <a:solidFill>
            <a:schemeClr val="accent1"/>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SWOT ANALYSIS</a:t>
            </a:r>
            <a:endParaRPr/>
          </a:p>
        </p:txBody>
      </p:sp>
      <p:pic>
        <p:nvPicPr>
          <p:cNvPr id="375" name="Google Shape;375;p21"/>
          <p:cNvPicPr preferRelativeResize="0"/>
          <p:nvPr/>
        </p:nvPicPr>
        <p:blipFill rotWithShape="1">
          <a:blip r:embed="rId3">
            <a:alphaModFix/>
          </a:blip>
          <a:srcRect b="0" l="0" r="0" t="0"/>
          <a:stretch/>
        </p:blipFill>
        <p:spPr>
          <a:xfrm>
            <a:off x="6350" y="6165850"/>
            <a:ext cx="9144000" cy="669925"/>
          </a:xfrm>
          <a:prstGeom prst="rect">
            <a:avLst/>
          </a:prstGeom>
          <a:noFill/>
          <a:ln>
            <a:noFill/>
          </a:ln>
        </p:spPr>
      </p:pic>
      <p:pic>
        <p:nvPicPr>
          <p:cNvPr id="376" name="Google Shape;376;p21"/>
          <p:cNvPicPr preferRelativeResize="0"/>
          <p:nvPr/>
        </p:nvPicPr>
        <p:blipFill rotWithShape="1">
          <a:blip r:embed="rId4">
            <a:alphaModFix/>
          </a:blip>
          <a:srcRect b="0" l="0" r="0" t="0"/>
          <a:stretch/>
        </p:blipFill>
        <p:spPr>
          <a:xfrm>
            <a:off x="7510462" y="5054600"/>
            <a:ext cx="1549400" cy="993775"/>
          </a:xfrm>
          <a:prstGeom prst="rect">
            <a:avLst/>
          </a:prstGeom>
          <a:noFill/>
          <a:ln>
            <a:noFill/>
          </a:ln>
        </p:spPr>
      </p:pic>
      <p:pic>
        <p:nvPicPr>
          <p:cNvPr descr="BracU Logo | Brac University" id="377" name="Google Shape;377;p21"/>
          <p:cNvPicPr preferRelativeResize="0"/>
          <p:nvPr/>
        </p:nvPicPr>
        <p:blipFill rotWithShape="1">
          <a:blip r:embed="rId5">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descr="SWOT Analysis | Benefits, Limitation, Example of SWOT Analysis" id="382" name="Google Shape;382;p22"/>
          <p:cNvPicPr preferRelativeResize="0"/>
          <p:nvPr/>
        </p:nvPicPr>
        <p:blipFill rotWithShape="1">
          <a:blip r:embed="rId3">
            <a:alphaModFix/>
          </a:blip>
          <a:srcRect b="0" l="0" r="0" t="0"/>
          <a:stretch/>
        </p:blipFill>
        <p:spPr>
          <a:xfrm>
            <a:off x="1555750" y="476250"/>
            <a:ext cx="6049962" cy="4738687"/>
          </a:xfrm>
          <a:prstGeom prst="rect">
            <a:avLst/>
          </a:prstGeom>
          <a:noFill/>
          <a:ln>
            <a:noFill/>
          </a:ln>
        </p:spPr>
      </p:pic>
      <p:pic>
        <p:nvPicPr>
          <p:cNvPr id="383" name="Google Shape;383;p22"/>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384" name="Google Shape;384;p22"/>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385" name="Google Shape;385;p22"/>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p:txBody>
      </p:sp>
      <p:sp>
        <p:nvSpPr>
          <p:cNvPr id="392" name="Google Shape;392;p23"/>
          <p:cNvSpPr/>
          <p:nvPr/>
        </p:nvSpPr>
        <p:spPr>
          <a:xfrm>
            <a:off x="1281112" y="692150"/>
            <a:ext cx="6719887" cy="5308600"/>
          </a:xfrm>
          <a:prstGeom prst="roundRect">
            <a:avLst>
              <a:gd fmla="val 16667" name="adj"/>
            </a:avLst>
          </a:prstGeom>
          <a:solidFill>
            <a:srgbClr val="FFD95C"/>
          </a:solidFill>
          <a:ln cap="flat" cmpd="sng" w="9525">
            <a:solidFill>
              <a:srgbClr val="F7A42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3" name="Google Shape;393;p23"/>
          <p:cNvSpPr txBox="1"/>
          <p:nvPr/>
        </p:nvSpPr>
        <p:spPr>
          <a:xfrm>
            <a:off x="7486650" y="1714500"/>
            <a:ext cx="37623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D95C"/>
              </a:buClr>
              <a:buSzPts val="3000"/>
              <a:buFont typeface="Arial"/>
              <a:buNone/>
            </a:pPr>
            <a:r>
              <a:rPr b="1" i="0" lang="en-US" sz="3000" u="none">
                <a:solidFill>
                  <a:srgbClr val="FFD95C"/>
                </a:solidFill>
                <a:latin typeface="Arial"/>
                <a:ea typeface="Arial"/>
                <a:cs typeface="Arial"/>
                <a:sym typeface="Arial"/>
              </a:rPr>
              <a:t>*</a:t>
            </a:r>
            <a:endParaRPr/>
          </a:p>
        </p:txBody>
      </p:sp>
      <p:sp>
        <p:nvSpPr>
          <p:cNvPr id="394" name="Google Shape;394;p23"/>
          <p:cNvSpPr txBox="1"/>
          <p:nvPr/>
        </p:nvSpPr>
        <p:spPr>
          <a:xfrm>
            <a:off x="6515100" y="857250"/>
            <a:ext cx="4572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3000"/>
              <a:buFont typeface="Arial"/>
              <a:buNone/>
            </a:pPr>
            <a:r>
              <a:rPr b="1" i="0" lang="en-US" sz="3000" u="none">
                <a:solidFill>
                  <a:srgbClr val="660066"/>
                </a:solidFill>
                <a:latin typeface="Arial"/>
                <a:ea typeface="Arial"/>
                <a:cs typeface="Arial"/>
                <a:sym typeface="Arial"/>
              </a:rPr>
              <a:t>*</a:t>
            </a:r>
            <a:endParaRPr/>
          </a:p>
        </p:txBody>
      </p:sp>
      <p:sp>
        <p:nvSpPr>
          <p:cNvPr id="395" name="Google Shape;395;p23"/>
          <p:cNvSpPr txBox="1"/>
          <p:nvPr/>
        </p:nvSpPr>
        <p:spPr>
          <a:xfrm>
            <a:off x="1485900" y="1908175"/>
            <a:ext cx="6115050" cy="1708150"/>
          </a:xfrm>
          <a:prstGeom prst="rect">
            <a:avLst/>
          </a:prstGeom>
          <a:noFill/>
          <a:ln>
            <a:noFill/>
          </a:ln>
        </p:spPr>
        <p:txBody>
          <a:bodyPr anchorCtr="0" anchor="t" bIns="45700" lIns="91425" spcFirstLastPara="1" rIns="91425" wrap="square" tIns="45700">
            <a:spAutoFit/>
          </a:bodyPr>
          <a:lstStyle/>
          <a:p>
            <a:pPr indent="-257175" lvl="0" marL="257175" marR="0" rtl="0" algn="l">
              <a:lnSpc>
                <a:spcPct val="100000"/>
              </a:lnSpc>
              <a:spcBef>
                <a:spcPts val="0"/>
              </a:spcBef>
              <a:spcAft>
                <a:spcPts val="0"/>
              </a:spcAft>
              <a:buClr>
                <a:schemeClr val="dk1"/>
              </a:buClr>
              <a:buSzPts val="1800"/>
              <a:buFont typeface="Arial"/>
              <a:buNone/>
            </a:pPr>
            <a:r>
              <a:t/>
            </a:r>
            <a:endParaRPr b="0" i="0" sz="1800" u="none">
              <a:solidFill>
                <a:srgbClr val="000000"/>
              </a:solidFill>
              <a:latin typeface="Helvetica Neue"/>
              <a:ea typeface="Helvetica Neue"/>
              <a:cs typeface="Helvetica Neue"/>
              <a:sym typeface="Helvetica Neue"/>
            </a:endParaRPr>
          </a:p>
          <a:p>
            <a:pPr indent="-257175" lvl="0" marL="257175" marR="0" rtl="0" algn="l">
              <a:lnSpc>
                <a:spcPct val="100000"/>
              </a:lnSpc>
              <a:spcBef>
                <a:spcPts val="0"/>
              </a:spcBef>
              <a:spcAft>
                <a:spcPts val="0"/>
              </a:spcAft>
              <a:buClr>
                <a:srgbClr val="000000"/>
              </a:buClr>
              <a:buSzPts val="1800"/>
              <a:buFont typeface="Helvetica Neue"/>
              <a:buNone/>
            </a:pPr>
            <a:r>
              <a:rPr b="0" i="0" lang="en-US" sz="1800" u="none">
                <a:solidFill>
                  <a:srgbClr val="000000"/>
                </a:solidFill>
                <a:latin typeface="Helvetica Neue"/>
                <a:ea typeface="Helvetica Neue"/>
                <a:cs typeface="Helvetica Neue"/>
                <a:sym typeface="Helvetica Neue"/>
              </a:rPr>
              <a:t>Any individual or group who can affect or are affected by the achievement of a firm’s objectives </a:t>
            </a:r>
            <a:endParaRPr b="1" i="0" sz="1800" u="none">
              <a:solidFill>
                <a:srgbClr val="000000"/>
              </a:solidFill>
              <a:latin typeface="Helvetica Neue"/>
              <a:ea typeface="Helvetica Neue"/>
              <a:cs typeface="Helvetica Neue"/>
              <a:sym typeface="Helvetica Neue"/>
            </a:endParaRPr>
          </a:p>
          <a:p>
            <a:pPr indent="-142875" lvl="0" marL="257175" marR="0" rtl="0" algn="l">
              <a:lnSpc>
                <a:spcPct val="100000"/>
              </a:lnSpc>
              <a:spcBef>
                <a:spcPts val="0"/>
              </a:spcBef>
              <a:spcAft>
                <a:spcPts val="0"/>
              </a:spcAft>
              <a:buClr>
                <a:schemeClr val="dk1"/>
              </a:buClr>
              <a:buSzPts val="1800"/>
              <a:buFont typeface="Arial"/>
              <a:buNone/>
            </a:pPr>
            <a:r>
              <a:t/>
            </a:r>
            <a:endParaRPr b="1" i="0" sz="1800" u="none">
              <a:solidFill>
                <a:srgbClr val="000000"/>
              </a:solidFill>
              <a:latin typeface="Helvetica Neue"/>
              <a:ea typeface="Helvetica Neue"/>
              <a:cs typeface="Helvetica Neue"/>
              <a:sym typeface="Helvetica Neue"/>
            </a:endParaRPr>
          </a:p>
          <a:p>
            <a:pPr indent="-257175" lvl="0" marL="257175" marR="0" rtl="0" algn="l">
              <a:lnSpc>
                <a:spcPct val="100000"/>
              </a:lnSpc>
              <a:spcBef>
                <a:spcPts val="0"/>
              </a:spcBef>
              <a:spcAft>
                <a:spcPts val="0"/>
              </a:spcAft>
              <a:buClr>
                <a:schemeClr val="dk1"/>
              </a:buClr>
              <a:buSzPts val="1800"/>
              <a:buFont typeface="Arial"/>
              <a:buNone/>
            </a:pPr>
            <a:r>
              <a:t/>
            </a:r>
            <a:endParaRPr b="0" i="1" sz="1800" u="non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t/>
            </a:r>
            <a:endParaRPr b="0" i="1" sz="1800" u="none">
              <a:solidFill>
                <a:srgbClr val="000000"/>
              </a:solidFill>
              <a:latin typeface="Helvetica Neue"/>
              <a:ea typeface="Helvetica Neue"/>
              <a:cs typeface="Helvetica Neue"/>
              <a:sym typeface="Helvetica Neue"/>
            </a:endParaRPr>
          </a:p>
        </p:txBody>
      </p:sp>
      <p:sp>
        <p:nvSpPr>
          <p:cNvPr id="396" name="Google Shape;396;p23"/>
          <p:cNvSpPr txBox="1"/>
          <p:nvPr>
            <p:ph type="ctrTitle"/>
          </p:nvPr>
        </p:nvSpPr>
        <p:spPr>
          <a:xfrm>
            <a:off x="1662112" y="971550"/>
            <a:ext cx="5829300" cy="952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FA3"/>
              </a:buClr>
              <a:buSzPts val="2100"/>
              <a:buFont typeface="Helvetica Neue"/>
              <a:buNone/>
            </a:pPr>
            <a:r>
              <a:rPr b="1" i="0" lang="en-US" sz="2100" u="none">
                <a:solidFill>
                  <a:srgbClr val="007FA3"/>
                </a:solidFill>
                <a:latin typeface="Helvetica Neue"/>
                <a:ea typeface="Helvetica Neue"/>
                <a:cs typeface="Helvetica Neue"/>
                <a:sym typeface="Helvetica Neue"/>
              </a:rPr>
              <a:t>Stakeholders</a:t>
            </a:r>
            <a:endParaRPr/>
          </a:p>
        </p:txBody>
      </p:sp>
      <p:sp>
        <p:nvSpPr>
          <p:cNvPr id="397" name="Google Shape;397;p23"/>
          <p:cNvSpPr txBox="1"/>
          <p:nvPr/>
        </p:nvSpPr>
        <p:spPr>
          <a:xfrm>
            <a:off x="6572250" y="5657850"/>
            <a:ext cx="142875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Times New Roman"/>
              <a:buNone/>
            </a:pPr>
            <a:r>
              <a:rPr b="0" i="0" lang="en-US" sz="900" u="none">
                <a:solidFill>
                  <a:srgbClr val="000000"/>
                </a:solidFill>
                <a:latin typeface="Times New Roman"/>
                <a:ea typeface="Times New Roman"/>
                <a:cs typeface="Times New Roman"/>
                <a:sym typeface="Times New Roman"/>
              </a:rPr>
              <a:t>1-</a:t>
            </a:r>
            <a:fld id="{00000000-1234-1234-1234-123412341234}" type="slidenum">
              <a:rPr b="0" i="0" lang="en-US" sz="900" u="none">
                <a:solidFill>
                  <a:srgbClr val="000000"/>
                </a:solidFill>
                <a:latin typeface="Times New Roman"/>
                <a:ea typeface="Times New Roman"/>
                <a:cs typeface="Times New Roman"/>
                <a:sym typeface="Times New Roman"/>
              </a:rPr>
              <a:t>‹#›</a:t>
            </a:fld>
            <a:endParaRPr/>
          </a:p>
        </p:txBody>
      </p:sp>
      <p:sp>
        <p:nvSpPr>
          <p:cNvPr id="398" name="Google Shape;398;p23"/>
          <p:cNvSpPr txBox="1"/>
          <p:nvPr/>
        </p:nvSpPr>
        <p:spPr>
          <a:xfrm>
            <a:off x="2228850" y="3143250"/>
            <a:ext cx="5095875" cy="1730375"/>
          </a:xfrm>
          <a:prstGeom prst="rect">
            <a:avLst/>
          </a:prstGeom>
          <a:noFill/>
          <a:ln>
            <a:noFill/>
          </a:ln>
        </p:spPr>
        <p:txBody>
          <a:bodyPr anchorCtr="0" anchor="t" bIns="45700" lIns="91425" spcFirstLastPara="1" rIns="91425" wrap="square" tIns="45700">
            <a:spAutoFit/>
          </a:bodyPr>
          <a:lstStyle/>
          <a:p>
            <a:pPr indent="-257175" lvl="0" marL="257175" marR="0" rtl="0" algn="l">
              <a:lnSpc>
                <a:spcPct val="100000"/>
              </a:lnSpc>
              <a:spcBef>
                <a:spcPts val="0"/>
              </a:spcBef>
              <a:spcAft>
                <a:spcPts val="0"/>
              </a:spcAft>
              <a:buClr>
                <a:schemeClr val="dk1"/>
              </a:buClr>
              <a:buSzPts val="1900"/>
              <a:buFont typeface="Arial"/>
              <a:buNone/>
            </a:pPr>
            <a:r>
              <a:t/>
            </a:r>
            <a:endParaRPr b="0" i="0" sz="1900" u="none">
              <a:solidFill>
                <a:srgbClr val="000000"/>
              </a:solidFill>
              <a:latin typeface="Arial"/>
              <a:ea typeface="Arial"/>
              <a:cs typeface="Arial"/>
              <a:sym typeface="Arial"/>
            </a:endParaRPr>
          </a:p>
          <a:p>
            <a:pPr indent="-257175" lvl="0" marL="257175" marR="0" rtl="0" algn="l">
              <a:lnSpc>
                <a:spcPct val="100000"/>
              </a:lnSpc>
              <a:spcBef>
                <a:spcPts val="0"/>
              </a:spcBef>
              <a:spcAft>
                <a:spcPts val="0"/>
              </a:spcAft>
              <a:buClr>
                <a:srgbClr val="000000"/>
              </a:buClr>
              <a:buSzPts val="1800"/>
              <a:buFont typeface="Arial"/>
              <a:buChar char="•"/>
            </a:pPr>
            <a:r>
              <a:rPr b="1" i="0" lang="en-US" sz="1800" u="none">
                <a:solidFill>
                  <a:srgbClr val="000000"/>
                </a:solidFill>
                <a:latin typeface="Helvetica Neue"/>
                <a:ea typeface="Helvetica Neue"/>
                <a:cs typeface="Helvetica Neue"/>
                <a:sym typeface="Helvetica Neue"/>
              </a:rPr>
              <a:t>Stakeholders- </a:t>
            </a:r>
            <a:r>
              <a:rPr b="0" i="0" lang="en-US" sz="1800" u="none">
                <a:solidFill>
                  <a:srgbClr val="000000"/>
                </a:solidFill>
                <a:latin typeface="Helvetica Neue"/>
                <a:ea typeface="Helvetica Neue"/>
                <a:cs typeface="Helvetica Neue"/>
                <a:sym typeface="Helvetica Neue"/>
              </a:rPr>
              <a:t>customers, employees, stockholders, suppliers, government etc</a:t>
            </a:r>
            <a:r>
              <a:rPr b="1" i="0" lang="en-US" sz="1800" u="none">
                <a:solidFill>
                  <a:srgbClr val="000000"/>
                </a:solidFill>
                <a:latin typeface="Helvetica Neue"/>
                <a:ea typeface="Helvetica Neue"/>
                <a:cs typeface="Helvetica Neue"/>
                <a:sym typeface="Helvetica Neue"/>
              </a:rPr>
              <a:t>.</a:t>
            </a:r>
            <a:endParaRPr/>
          </a:p>
          <a:p>
            <a:pPr indent="-142875" lvl="0" marL="257175" marR="0" rtl="0" algn="l">
              <a:lnSpc>
                <a:spcPct val="100000"/>
              </a:lnSpc>
              <a:spcBef>
                <a:spcPts val="0"/>
              </a:spcBef>
              <a:spcAft>
                <a:spcPts val="0"/>
              </a:spcAft>
              <a:buClr>
                <a:schemeClr val="dk1"/>
              </a:buClr>
              <a:buSzPts val="1800"/>
              <a:buFont typeface="Arial"/>
              <a:buNone/>
            </a:pPr>
            <a:r>
              <a:t/>
            </a:r>
            <a:endParaRPr b="1" i="0" sz="1800" u="none">
              <a:solidFill>
                <a:srgbClr val="000000"/>
              </a:solidFill>
              <a:latin typeface="Helvetica Neue"/>
              <a:ea typeface="Helvetica Neue"/>
              <a:cs typeface="Helvetica Neue"/>
              <a:sym typeface="Helvetica Neue"/>
            </a:endParaRPr>
          </a:p>
          <a:p>
            <a:pPr indent="-257175" lvl="0" marL="257175" marR="0" rtl="0" algn="l">
              <a:lnSpc>
                <a:spcPct val="100000"/>
              </a:lnSpc>
              <a:spcBef>
                <a:spcPts val="0"/>
              </a:spcBef>
              <a:spcAft>
                <a:spcPts val="0"/>
              </a:spcAft>
              <a:buClr>
                <a:schemeClr val="dk1"/>
              </a:buClr>
              <a:buSzPts val="1800"/>
              <a:buFont typeface="Arial"/>
              <a:buNone/>
            </a:pPr>
            <a:r>
              <a:t/>
            </a:r>
            <a:endParaRPr b="0" i="1" sz="1800" u="non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t/>
            </a:r>
            <a:endParaRPr b="0" i="1" sz="1800" u="none">
              <a:solidFill>
                <a:srgbClr val="000000"/>
              </a:solidFill>
              <a:latin typeface="Helvetica Neue"/>
              <a:ea typeface="Helvetica Neue"/>
              <a:cs typeface="Helvetica Neue"/>
              <a:sym typeface="Helvetica Neue"/>
            </a:endParaRPr>
          </a:p>
        </p:txBody>
      </p:sp>
      <p:pic>
        <p:nvPicPr>
          <p:cNvPr descr="Stakeholder Maps - Keep the Important People Happy | Interaction ..." id="399" name="Google Shape;399;p23"/>
          <p:cNvPicPr preferRelativeResize="0"/>
          <p:nvPr/>
        </p:nvPicPr>
        <p:blipFill rotWithShape="1">
          <a:blip r:embed="rId3">
            <a:alphaModFix/>
          </a:blip>
          <a:srcRect b="0" l="0" r="0" t="0"/>
          <a:stretch/>
        </p:blipFill>
        <p:spPr>
          <a:xfrm>
            <a:off x="1885950" y="3005137"/>
            <a:ext cx="5715000" cy="2652712"/>
          </a:xfrm>
          <a:prstGeom prst="rect">
            <a:avLst/>
          </a:prstGeom>
          <a:noFill/>
          <a:ln>
            <a:noFill/>
          </a:ln>
        </p:spPr>
      </p:pic>
      <p:pic>
        <p:nvPicPr>
          <p:cNvPr id="400" name="Google Shape;400;p23"/>
          <p:cNvPicPr preferRelativeResize="0"/>
          <p:nvPr/>
        </p:nvPicPr>
        <p:blipFill rotWithShape="1">
          <a:blip r:embed="rId4">
            <a:alphaModFix/>
          </a:blip>
          <a:srcRect b="0" l="0" r="0" t="0"/>
          <a:stretch/>
        </p:blipFill>
        <p:spPr>
          <a:xfrm>
            <a:off x="6350" y="6165850"/>
            <a:ext cx="9144000" cy="669925"/>
          </a:xfrm>
          <a:prstGeom prst="rect">
            <a:avLst/>
          </a:prstGeom>
          <a:noFill/>
          <a:ln>
            <a:noFill/>
          </a:ln>
        </p:spPr>
      </p:pic>
      <p:pic>
        <p:nvPicPr>
          <p:cNvPr id="401" name="Google Shape;401;p23"/>
          <p:cNvPicPr preferRelativeResize="0"/>
          <p:nvPr/>
        </p:nvPicPr>
        <p:blipFill rotWithShape="1">
          <a:blip r:embed="rId5">
            <a:alphaModFix/>
          </a:blip>
          <a:srcRect b="0" l="0" r="0" t="0"/>
          <a:stretch/>
        </p:blipFill>
        <p:spPr>
          <a:xfrm>
            <a:off x="7510462" y="5054600"/>
            <a:ext cx="1549400" cy="993775"/>
          </a:xfrm>
          <a:prstGeom prst="rect">
            <a:avLst/>
          </a:prstGeom>
          <a:noFill/>
          <a:ln>
            <a:noFill/>
          </a:ln>
        </p:spPr>
      </p:pic>
      <p:pic>
        <p:nvPicPr>
          <p:cNvPr descr="BracU Logo | Brac University" id="402" name="Google Shape;402;p23"/>
          <p:cNvPicPr preferRelativeResize="0"/>
          <p:nvPr/>
        </p:nvPicPr>
        <p:blipFill rotWithShape="1">
          <a:blip r:embed="rId6">
            <a:alphaModFix/>
          </a:blip>
          <a:srcRect b="0" l="0" r="0" t="0"/>
          <a:stretch/>
        </p:blipFill>
        <p:spPr>
          <a:xfrm>
            <a:off x="84137" y="5054600"/>
            <a:ext cx="1549400" cy="1120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2008-02-08T10:41:40Z</dcterms:created>
  <dc:creator>laser</dc:creator>
</cp:coreProperties>
</file>

<file path=docProps/custom.xml><?xml version="1.0" encoding="utf-8"?>
<Properties xmlns="http://schemas.openxmlformats.org/officeDocument/2006/custom-properties" xmlns:vt="http://schemas.openxmlformats.org/officeDocument/2006/docPropsVTypes"/>
</file>