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Lobster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hwkkpEPWzX4EHYMy931qWCHO7R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Lobs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650402cda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g2650402cd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6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6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6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7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7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7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9" name="Google Shape;39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7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650402cdae_0_0"/>
          <p:cNvSpPr txBox="1"/>
          <p:nvPr>
            <p:ph type="title"/>
          </p:nvPr>
        </p:nvSpPr>
        <p:spPr>
          <a:xfrm>
            <a:off x="311700" y="1650150"/>
            <a:ext cx="8520600" cy="8418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Lecture 14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51" name="Google Shape;51;g2650402cdae_0_0"/>
          <p:cNvSpPr txBox="1"/>
          <p:nvPr/>
        </p:nvSpPr>
        <p:spPr>
          <a:xfrm>
            <a:off x="4303700" y="2678725"/>
            <a:ext cx="4868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Topics: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Divisibility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Modular Arithmetic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Congruence Relation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 Divisibility and Modular Arithmetic</a:t>
            </a:r>
            <a:endParaRPr/>
          </a:p>
        </p:txBody>
      </p:sp>
      <p:sp>
        <p:nvSpPr>
          <p:cNvPr id="57" name="Google Shape;57;p2"/>
          <p:cNvSpPr txBox="1"/>
          <p:nvPr>
            <p:ph idx="1" type="body"/>
          </p:nvPr>
        </p:nvSpPr>
        <p:spPr>
          <a:xfrm>
            <a:off x="311700" y="1152475"/>
            <a:ext cx="8520600" cy="36852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84" r="-282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 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 Divisibility and Modular Arithmetic (Continued)</a:t>
            </a:r>
            <a:endParaRPr/>
          </a:p>
        </p:txBody>
      </p:sp>
      <p:sp>
        <p:nvSpPr>
          <p:cNvPr id="63" name="Google Shape;63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0" r="-641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 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78"/>
              <a:buNone/>
            </a:pPr>
            <a:r>
              <a:rPr b="0" i="0" lang="e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4.1 Divisibility and Modular Arithmetic (Continued)</a:t>
            </a:r>
            <a:endParaRPr/>
          </a:p>
        </p:txBody>
      </p:sp>
      <p:sp>
        <p:nvSpPr>
          <p:cNvPr id="69" name="Google Shape;6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0" r="-641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4.1.3 The Division Algorithm</a:t>
            </a:r>
            <a:endParaRPr/>
          </a:p>
        </p:txBody>
      </p:sp>
      <p:sp>
        <p:nvSpPr>
          <p:cNvPr id="75" name="Google Shape;75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0" r="-641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4.1.3 The Division Algorithm (Continued)</a:t>
            </a:r>
            <a:endParaRPr/>
          </a:p>
        </p:txBody>
      </p:sp>
      <p:sp>
        <p:nvSpPr>
          <p:cNvPr id="81" name="Google Shape;81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27" r="-497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4.1.4 Modular Arithmetic</a:t>
            </a:r>
            <a:endParaRPr/>
          </a:p>
        </p:txBody>
      </p:sp>
      <p:sp>
        <p:nvSpPr>
          <p:cNvPr id="87" name="Google Shape;8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27" r="-497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4.1.4 Modular Arithmetic (Continued)</a:t>
            </a:r>
            <a:endParaRPr/>
          </a:p>
        </p:txBody>
      </p:sp>
      <p:sp>
        <p:nvSpPr>
          <p:cNvPr id="93" name="Google Shape;93;p8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27" r="-497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4.1.4 Modular Arithmetic (Continued)</a:t>
            </a:r>
            <a:endParaRPr/>
          </a:p>
        </p:txBody>
      </p:sp>
      <p:sp>
        <p:nvSpPr>
          <p:cNvPr id="99" name="Google Shape;99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0" r="-641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 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4.1.4 Modular Arithmetic (Continued)</a:t>
            </a:r>
            <a:endParaRPr/>
          </a:p>
        </p:txBody>
      </p:sp>
      <p:sp>
        <p:nvSpPr>
          <p:cNvPr id="105" name="Google Shape;105;p10"/>
          <p:cNvSpPr txBox="1"/>
          <p:nvPr>
            <p:ph idx="1" type="body"/>
          </p:nvPr>
        </p:nvSpPr>
        <p:spPr>
          <a:xfrm>
            <a:off x="311700" y="1152474"/>
            <a:ext cx="8520600" cy="37243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26" r="-4074" t="-8344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 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4.1.5 Arithmetic Modulo m</a:t>
            </a:r>
            <a:endParaRPr/>
          </a:p>
        </p:txBody>
      </p:sp>
      <p:sp>
        <p:nvSpPr>
          <p:cNvPr id="111" name="Google Shape;111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0" r="-641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 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4.1.5 Arithmetic Modulo m (Continued)</a:t>
            </a:r>
            <a:endParaRPr/>
          </a:p>
        </p:txBody>
      </p:sp>
      <p:sp>
        <p:nvSpPr>
          <p:cNvPr id="117" name="Google Shape;11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0" r="-641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 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