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Constantia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Constantia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nstantia-italic.fntdata"/><Relationship Id="rId47" Type="http://schemas.openxmlformats.org/officeDocument/2006/relationships/font" Target="fonts/Constantia-bold.fntdata"/><Relationship Id="rId49" Type="http://schemas.openxmlformats.org/officeDocument/2006/relationships/font" Target="fonts/Constanti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dd83301f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g33dd83301f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dd83301f7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g33dd83301f7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dd83301f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3dd83301f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Bottom-up memory might be really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video camera if we had it, an actual recording of what we hear, what we see,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experience out there in the world. Top-down processes are the mental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things we have in our minds that let us interpret what's out there, concepts,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expectations. Also, it turns out, you'll see that subsequent experiences go back and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memories from prior times. And which of these things, the bottom-up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 experience, or the top-down interpretation grows over time to constitute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memory?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g33dd83301f7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dd83301f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dd83301f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dd83301f7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3dd83301f7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we can have a very simple model of memory, a flash for a moment. I'll give you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example of how people test this, a sensory memory, very tiny moments only.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Short-term memory that you can rehearse in some cases. Somebody tells you 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number, And you can repeat it over and over again. You have that capacity. And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long-term memory, things that last for a long time.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we talk about the brain organization of human memory, we'll say that shortterm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is probably, lasts seconds. And everything after that is long-term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memory. Now, of course, if you just experienced something, you'd remember 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better. If it's a week, a month, a year, five years from now, most likely less better. So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passes. But we think almost all of that is in the context of long-term memory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capacities of your mind.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3dd83301f7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dd83301f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dd83301f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dd83301f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dd83301f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dd83301f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dd83301f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dd83301f7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3dd83301f7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INSTRUCTORS: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ASK A VOLUNTEER TO CLOSE THEIR EYES. READ EACH BULLET POINT AND HAVE THEM REPEAT THE NUMBERS BACK TO YOU. THEY WILL NOT BE ABLE TO GET PAST 8 OR 9. THAT IS THE LIMIT OF HUMAN SHORT TERM MEMORY.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3dd83301f7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dd83301f7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3dd83301f7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used to be some confusions about this. Because they would say kids in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countries have different limits. And they'd say our country is smarter than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country, or our educational system is better than your educational system. 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turned out that all of that got equated around the world if you counted up the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syllables that are in the digits. The real unit of memory here are syllables.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in English, most of the numbers are one syllable. 1, 2, 3, 4, 5, 6 are all 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syllable. 7 gets two. 8 is one syllable. 9 is one syllable.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some other languages, the words that go with the digits are two syllables. So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countries that have two syllables, they have lower spans not because they were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dumber or had a worse education system. It's because the real unit is number of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syllables. Because you're hearing it. It's language. So around the world, it's the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 capacity of the human mind is that you're limited to these kinds of stuff.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3dd83301f7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dd83301f7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3dd83301f7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dd83301f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dd83301f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dd83301f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dd83301f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dd83301f7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3dd83301f7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people use the word "chunking" as the way in which you use your background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to get big pieces of information stored that are better than you think for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short-term memory limits. So here's a quick one. I need a volunteer.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CLASS THIS AND THEN MOVE TO NEXT BLANK SLIDE, ASK THEM TO REMEMBER </a:t>
            </a:r>
            <a:endParaRPr/>
          </a:p>
        </p:txBody>
      </p:sp>
      <p:sp>
        <p:nvSpPr>
          <p:cNvPr id="166" name="Google Shape;166;g33dd83301f7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dd83301f7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3dd83301f7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dd83301f7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3dd83301f7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CLASS THIS AND THEN MOVE TO NEXT BLANK SLIDE, ASK THEM TO REMEMBER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3dd83301f7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dd83301f7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3dd83301f7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same letters, it's just that now you see the chunks. And you can map them onto background knowledge. Much much easier to remember!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3dd83301f7_0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3dd83301f7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3dd83301f7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dd83301f7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3dd83301f7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dd83301f7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3dd83301f7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use your background knowledge of what does a sentence mean? What's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ergative syntax? All your background knowledge can be applied. Again, the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of background knowledge is immense.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can tell you that if you go work somewhere, or if you're working in a lab now, or if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you're working in any place, you might be impressed by people who are older than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you, and what they know, and what they can learn and pick up. It's background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knowledge, background knowledge, background knowledge. It lets you quickly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an idea, because you can interpret it from prior ideas that you know,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quickly read a paper, because you can slot it into prior things you know. Background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is incredibly powerful to let you discover the signal and get a lot of the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specific information in any kind of information out there.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3dd83301f7_0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dd83301f7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3dd83301f7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dd83301f7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3dd83301f7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this is correct. High is correct. This is what order the word was in the first word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heard, say the fifth. This experiment is 15 words. You can see that. Here's their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things are noteworthy. People do best for the first couple of words. And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sometimes they did best for the last couple of words.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here's three delays. These delays are zero seconds what we did. You get the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list, you immediately write them down and recall them verbally. That's zero,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immediate. Or I wait 10 seconds and then say, now recall. Or I wait 1/2 minute and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say, now recall.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memory for the first two items is what's called a primacy effect. It doesn't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matter. In all three conditions, those are the best two remembered words, 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average, for most of the experiment.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people think that's a signature of long-term memory. You can get those one 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words. And then you start to get overwhelmed in long-term memory. Here, you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get the boost for the last couple of words if there's zero second delay. If there's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seconds or 30 seconds delay, no boost.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3dd83301f7_0_1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dd83301f7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3dd83301f7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Ebbinghaus is one of the founders of experimental studies of memory. And he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was heroic. He would just train himself. He would use nonsense syllables, because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wanted to get rid of a lot of background stuff, rote memory.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he would learn thousands of these and then test himself and score himself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honestly. He did the bulk of the work on himself. And he discovered something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that's pretty simple, but that has had a huge effect.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how well do you do s.ince you learned something all in long-term memory if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you're tested immediately? 100% if it's small list and you studied a lot. 20 minutes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later, an hour later, nine hours later, you can see the steep forgetting up until about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hours. And then it sort of hangs in there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3dd83301f7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3dd83301f7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3dd83301f7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3dd83301f7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33dd83301f7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3dd83301f7_0_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3dd83301f7_0_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3dd83301f7_0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33dd83301f7_0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dd83301f7_0_2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g33dd83301f7_0_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3dd83301f7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33dd83301f7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dd83301f7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3dd83301f7_0_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PEOPLE HAVE A MUCH EASIER TIME REMEMBERING WORDS THE SECOND TIME BECAUSE YOU ARE ENCODING THE MEANING – A DEEPER ENGAGEMENT WITH IT </a:t>
            </a:r>
            <a:endParaRPr/>
          </a:p>
        </p:txBody>
      </p:sp>
      <p:sp>
        <p:nvSpPr>
          <p:cNvPr id="304" name="Google Shape;304;g33dd83301f7_0_2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3dd83301f7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3dd83301f7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dd83301f7_0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g33dd83301f7_0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3dd83301f7_0_2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33dd83301f7_0_2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3dd83301f7_0_2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3dd83301f7_0_2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of them is like passive.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Well, I haven't used it in a while. It's just not available anymore. Because time has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passed. It's not been used. It's not available. That's passive forgetting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other way to think about why we forget is not that it's a passive loss of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knowledge. But that experiences you have after that moment when you learned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something, will go back and write over, and muddy, and confuse your memory for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original event. It's active interference of subsequent experience.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g33dd83301f7_0_2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3dd83301f7_0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3dd83301f7_0_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people have talked about it in two different directions that you can think about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this. One of them is what you call proactive interference where things from before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 up your learning on something. Or retroactive interference, you already have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memory. And now new things mess you up and write over the memory. So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 is threatened by what came before they experience or what happens after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experience In the way that it interferes with accuracy of memory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g33dd83301f7_0_2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3dd83301f7_0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g33dd83301f7_0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3dd83301f7_0_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3dd83301f7_0_2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ASK STUDENTS TO SHARE SOME OF THEIR OWN TIPS FOR REMEMBERING – ALL OF WHICH PROBABLY FALL INTO SOME OF THE CATEGORIES WE ARE DISCUSSING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g33dd83301f7_0_2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3dd83301f7_0_2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3dd83301f7_0_2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3dd83301f7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3dd83301f7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3dd83301f7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3dd83301f7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458201" y="696106"/>
            <a:ext cx="6227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300"/>
              <a:buFont typeface="Arial"/>
              <a:buNone/>
              <a:defRPr b="1" i="0" sz="33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416157" y="2840030"/>
            <a:ext cx="6311700" cy="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0"/>
              </a:buClr>
              <a:buSzPts val="3000"/>
              <a:buChar char="•"/>
              <a:defRPr b="1" i="0" sz="30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jpg"/><Relationship Id="rId4" Type="http://schemas.openxmlformats.org/officeDocument/2006/relationships/hyperlink" Target="http://www.sciencedirect.com/" TargetMode="External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9.png"/><Relationship Id="rId13" Type="http://schemas.openxmlformats.org/officeDocument/2006/relationships/image" Target="../media/image21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jpg"/><Relationship Id="rId4" Type="http://schemas.openxmlformats.org/officeDocument/2006/relationships/hyperlink" Target="http://www.sciencedirect.com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1790581" y="650006"/>
            <a:ext cx="6390600" cy="15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onstantia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r>
              <a:rPr lang="en"/>
              <a:t> 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1622675" y="2644519"/>
            <a:ext cx="63906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5"/>
              <a:buNone/>
            </a:pPr>
            <a:r>
              <a:rPr lang="en" sz="1710">
                <a:latin typeface="Times New Roman"/>
                <a:ea typeface="Times New Roman"/>
                <a:cs typeface="Times New Roman"/>
                <a:sym typeface="Times New Roman"/>
              </a:rPr>
              <a:t>PSY 101, BRAC University</a:t>
            </a:r>
            <a:endParaRPr sz="17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585"/>
              <a:buNone/>
            </a:pPr>
            <a:r>
              <a:t/>
            </a:r>
            <a:endParaRPr sz="17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585"/>
              <a:buNone/>
            </a:pPr>
            <a:r>
              <a:t/>
            </a:r>
            <a:endParaRPr sz="171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Remembering and forgetting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159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Why do we remember what we experience?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Why do we forget what we experience?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Bottom-Up and Top-Down Influences on Memory 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47650" lvl="0" marL="20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•"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Bottom-Up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698500" marR="736600" rtl="0" algn="l">
              <a:lnSpc>
                <a:spcPct val="1197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perceptual experience  what we see and hear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650" lvl="0" marL="203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•"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Top-Down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698500" marR="0" rtl="0" algn="l">
              <a:lnSpc>
                <a:spcPct val="1099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prior knowledge, concepts,  expectations, subsequent  experience and which grows over time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244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Memory processing in psychology involves three stages</a:t>
            </a:r>
            <a:endParaRPr b="1" sz="12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628650" y="1566950"/>
            <a:ext cx="7886700" cy="3065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b="1"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Encoding</a:t>
            </a: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The first step in creating a memory, where the brain receives sensory information and transforms it into stored information. 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b="1"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The ability to maintain information over time. 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Char char="●"/>
            </a:pPr>
            <a:r>
              <a:rPr b="1"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Retrieval</a:t>
            </a: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The ability to access stored information when needed. 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1227982" y="568094"/>
            <a:ext cx="79161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0425">
            <a:spAutoFit/>
          </a:bodyPr>
          <a:lstStyle/>
          <a:p>
            <a:pPr indent="-1600200" lvl="0" marL="2082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tantia"/>
              <a:buNone/>
            </a:pPr>
            <a:r>
              <a:rPr lang="en" sz="3000"/>
              <a:t>The Three-Stage Model of  Memory</a:t>
            </a:r>
            <a:endParaRPr/>
          </a:p>
        </p:txBody>
      </p:sp>
      <p:grpSp>
        <p:nvGrpSpPr>
          <p:cNvPr id="93" name="Google Shape;93;p19"/>
          <p:cNvGrpSpPr/>
          <p:nvPr/>
        </p:nvGrpSpPr>
        <p:grpSpPr>
          <a:xfrm>
            <a:off x="1492023" y="1650022"/>
            <a:ext cx="7136435" cy="3076130"/>
            <a:chOff x="467877" y="2191936"/>
            <a:chExt cx="8191500" cy="2451100"/>
          </a:xfrm>
        </p:grpSpPr>
        <p:sp>
          <p:nvSpPr>
            <p:cNvPr id="94" name="Google Shape;94;p19"/>
            <p:cNvSpPr/>
            <p:nvPr/>
          </p:nvSpPr>
          <p:spPr>
            <a:xfrm>
              <a:off x="467877" y="2191936"/>
              <a:ext cx="8191500" cy="2451100"/>
            </a:xfrm>
            <a:custGeom>
              <a:rect b="b" l="l" r="r" t="t"/>
              <a:pathLst>
                <a:path extrusionOk="0" h="2451100" w="8191500">
                  <a:moveTo>
                    <a:pt x="8191500" y="0"/>
                  </a:moveTo>
                  <a:lnTo>
                    <a:pt x="0" y="0"/>
                  </a:lnTo>
                  <a:lnTo>
                    <a:pt x="0" y="2451100"/>
                  </a:lnTo>
                  <a:lnTo>
                    <a:pt x="8191500" y="2451100"/>
                  </a:lnTo>
                  <a:lnTo>
                    <a:pt x="81915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9"/>
            <p:cNvSpPr/>
            <p:nvPr/>
          </p:nvSpPr>
          <p:spPr>
            <a:xfrm>
              <a:off x="467877" y="2191936"/>
              <a:ext cx="8191500" cy="2451100"/>
            </a:xfrm>
            <a:custGeom>
              <a:rect b="b" l="l" r="r" t="t"/>
              <a:pathLst>
                <a:path extrusionOk="0" h="2451100" w="8191500">
                  <a:moveTo>
                    <a:pt x="8191500" y="2451100"/>
                  </a:moveTo>
                  <a:lnTo>
                    <a:pt x="0" y="2451100"/>
                  </a:lnTo>
                  <a:lnTo>
                    <a:pt x="0" y="0"/>
                  </a:lnTo>
                  <a:lnTo>
                    <a:pt x="8191500" y="0"/>
                  </a:lnTo>
                  <a:lnTo>
                    <a:pt x="8191500" y="2451100"/>
                  </a:lnTo>
                  <a:close/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9"/>
            <p:cNvSpPr/>
            <p:nvPr/>
          </p:nvSpPr>
          <p:spPr>
            <a:xfrm>
              <a:off x="6706752" y="2780772"/>
              <a:ext cx="1750695" cy="575310"/>
            </a:xfrm>
            <a:custGeom>
              <a:rect b="b" l="l" r="r" t="t"/>
              <a:pathLst>
                <a:path extrusionOk="0" h="575310" w="1750695">
                  <a:moveTo>
                    <a:pt x="1659432" y="0"/>
                  </a:moveTo>
                  <a:lnTo>
                    <a:pt x="1687486" y="35376"/>
                  </a:lnTo>
                  <a:lnTo>
                    <a:pt x="1708070" y="72167"/>
                  </a:lnTo>
                  <a:lnTo>
                    <a:pt x="1720744" y="110206"/>
                  </a:lnTo>
                  <a:lnTo>
                    <a:pt x="1725066" y="149326"/>
                  </a:lnTo>
                  <a:lnTo>
                    <a:pt x="1722786" y="177896"/>
                  </a:lnTo>
                  <a:lnTo>
                    <a:pt x="1705007" y="233342"/>
                  </a:lnTo>
                  <a:lnTo>
                    <a:pt x="1670628" y="286077"/>
                  </a:lnTo>
                  <a:lnTo>
                    <a:pt x="1620877" y="335561"/>
                  </a:lnTo>
                  <a:lnTo>
                    <a:pt x="1590621" y="358914"/>
                  </a:lnTo>
                  <a:lnTo>
                    <a:pt x="1556983" y="381251"/>
                  </a:lnTo>
                  <a:lnTo>
                    <a:pt x="1520118" y="402504"/>
                  </a:lnTo>
                  <a:lnTo>
                    <a:pt x="1480178" y="422606"/>
                  </a:lnTo>
                  <a:lnTo>
                    <a:pt x="1437316" y="441489"/>
                  </a:lnTo>
                  <a:lnTo>
                    <a:pt x="1391688" y="459085"/>
                  </a:lnTo>
                  <a:lnTo>
                    <a:pt x="1343446" y="475326"/>
                  </a:lnTo>
                  <a:lnTo>
                    <a:pt x="1292745" y="490146"/>
                  </a:lnTo>
                  <a:lnTo>
                    <a:pt x="1239737" y="503475"/>
                  </a:lnTo>
                  <a:lnTo>
                    <a:pt x="1184576" y="515247"/>
                  </a:lnTo>
                  <a:lnTo>
                    <a:pt x="1127417" y="525393"/>
                  </a:lnTo>
                  <a:lnTo>
                    <a:pt x="1068413" y="533846"/>
                  </a:lnTo>
                  <a:lnTo>
                    <a:pt x="1007717" y="540539"/>
                  </a:lnTo>
                  <a:lnTo>
                    <a:pt x="945483" y="545403"/>
                  </a:lnTo>
                  <a:lnTo>
                    <a:pt x="881865" y="548372"/>
                  </a:lnTo>
                  <a:lnTo>
                    <a:pt x="817016" y="549376"/>
                  </a:lnTo>
                  <a:lnTo>
                    <a:pt x="754143" y="548432"/>
                  </a:lnTo>
                  <a:lnTo>
                    <a:pt x="692423" y="545640"/>
                  </a:lnTo>
                  <a:lnTo>
                    <a:pt x="631995" y="541063"/>
                  </a:lnTo>
                  <a:lnTo>
                    <a:pt x="572999" y="534762"/>
                  </a:lnTo>
                  <a:lnTo>
                    <a:pt x="515576" y="526799"/>
                  </a:lnTo>
                  <a:lnTo>
                    <a:pt x="459865" y="517235"/>
                  </a:lnTo>
                  <a:lnTo>
                    <a:pt x="406005" y="506133"/>
                  </a:lnTo>
                  <a:lnTo>
                    <a:pt x="354137" y="493553"/>
                  </a:lnTo>
                  <a:lnTo>
                    <a:pt x="304400" y="479558"/>
                  </a:lnTo>
                  <a:lnTo>
                    <a:pt x="256933" y="464209"/>
                  </a:lnTo>
                  <a:lnTo>
                    <a:pt x="211878" y="447568"/>
                  </a:lnTo>
                  <a:lnTo>
                    <a:pt x="169373" y="429696"/>
                  </a:lnTo>
                  <a:lnTo>
                    <a:pt x="129559" y="410656"/>
                  </a:lnTo>
                  <a:lnTo>
                    <a:pt x="92574" y="390508"/>
                  </a:lnTo>
                  <a:lnTo>
                    <a:pt x="58560" y="369315"/>
                  </a:lnTo>
                  <a:lnTo>
                    <a:pt x="0" y="324040"/>
                  </a:lnTo>
                  <a:lnTo>
                    <a:pt x="24145" y="348122"/>
                  </a:lnTo>
                  <a:lnTo>
                    <a:pt x="82543" y="393638"/>
                  </a:lnTo>
                  <a:lnTo>
                    <a:pt x="116515" y="414947"/>
                  </a:lnTo>
                  <a:lnTo>
                    <a:pt x="153481" y="435208"/>
                  </a:lnTo>
                  <a:lnTo>
                    <a:pt x="193300" y="454358"/>
                  </a:lnTo>
                  <a:lnTo>
                    <a:pt x="235831" y="472333"/>
                  </a:lnTo>
                  <a:lnTo>
                    <a:pt x="280934" y="489073"/>
                  </a:lnTo>
                  <a:lnTo>
                    <a:pt x="328468" y="504515"/>
                  </a:lnTo>
                  <a:lnTo>
                    <a:pt x="378291" y="518596"/>
                  </a:lnTo>
                  <a:lnTo>
                    <a:pt x="430263" y="531254"/>
                  </a:lnTo>
                  <a:lnTo>
                    <a:pt x="484244" y="542426"/>
                  </a:lnTo>
                  <a:lnTo>
                    <a:pt x="540092" y="552051"/>
                  </a:lnTo>
                  <a:lnTo>
                    <a:pt x="597667" y="560066"/>
                  </a:lnTo>
                  <a:lnTo>
                    <a:pt x="656827" y="566408"/>
                  </a:lnTo>
                  <a:lnTo>
                    <a:pt x="717433" y="571015"/>
                  </a:lnTo>
                  <a:lnTo>
                    <a:pt x="779343" y="573826"/>
                  </a:lnTo>
                  <a:lnTo>
                    <a:pt x="842416" y="574776"/>
                  </a:lnTo>
                  <a:lnTo>
                    <a:pt x="907265" y="573772"/>
                  </a:lnTo>
                  <a:lnTo>
                    <a:pt x="970883" y="570803"/>
                  </a:lnTo>
                  <a:lnTo>
                    <a:pt x="1033117" y="565939"/>
                  </a:lnTo>
                  <a:lnTo>
                    <a:pt x="1093813" y="559246"/>
                  </a:lnTo>
                  <a:lnTo>
                    <a:pt x="1152817" y="550793"/>
                  </a:lnTo>
                  <a:lnTo>
                    <a:pt x="1209976" y="540647"/>
                  </a:lnTo>
                  <a:lnTo>
                    <a:pt x="1265137" y="528875"/>
                  </a:lnTo>
                  <a:lnTo>
                    <a:pt x="1318145" y="515546"/>
                  </a:lnTo>
                  <a:lnTo>
                    <a:pt x="1368846" y="500726"/>
                  </a:lnTo>
                  <a:lnTo>
                    <a:pt x="1417088" y="484485"/>
                  </a:lnTo>
                  <a:lnTo>
                    <a:pt x="1462716" y="466889"/>
                  </a:lnTo>
                  <a:lnTo>
                    <a:pt x="1505578" y="448006"/>
                  </a:lnTo>
                  <a:lnTo>
                    <a:pt x="1545518" y="427904"/>
                  </a:lnTo>
                  <a:lnTo>
                    <a:pt x="1582383" y="406651"/>
                  </a:lnTo>
                  <a:lnTo>
                    <a:pt x="1616021" y="384314"/>
                  </a:lnTo>
                  <a:lnTo>
                    <a:pt x="1646277" y="360961"/>
                  </a:lnTo>
                  <a:lnTo>
                    <a:pt x="1696028" y="311477"/>
                  </a:lnTo>
                  <a:lnTo>
                    <a:pt x="1730407" y="258742"/>
                  </a:lnTo>
                  <a:lnTo>
                    <a:pt x="1748186" y="203296"/>
                  </a:lnTo>
                  <a:lnTo>
                    <a:pt x="1750466" y="174726"/>
                  </a:lnTo>
                  <a:lnTo>
                    <a:pt x="1744438" y="128414"/>
                  </a:lnTo>
                  <a:lnTo>
                    <a:pt x="1726804" y="83662"/>
                  </a:lnTo>
                  <a:lnTo>
                    <a:pt x="1698243" y="40761"/>
                  </a:lnTo>
                  <a:lnTo>
                    <a:pt x="1659432" y="0"/>
                  </a:lnTo>
                  <a:close/>
                </a:path>
              </a:pathLst>
            </a:custGeom>
            <a:solidFill>
              <a:srgbClr val="E4805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9"/>
            <p:cNvSpPr/>
            <p:nvPr/>
          </p:nvSpPr>
          <p:spPr>
            <a:xfrm>
              <a:off x="4090552" y="2780772"/>
              <a:ext cx="1750695" cy="575310"/>
            </a:xfrm>
            <a:custGeom>
              <a:rect b="b" l="l" r="r" t="t"/>
              <a:pathLst>
                <a:path extrusionOk="0" h="575310" w="1750695">
                  <a:moveTo>
                    <a:pt x="1659432" y="0"/>
                  </a:moveTo>
                  <a:lnTo>
                    <a:pt x="1687486" y="35376"/>
                  </a:lnTo>
                  <a:lnTo>
                    <a:pt x="1708070" y="72167"/>
                  </a:lnTo>
                  <a:lnTo>
                    <a:pt x="1720744" y="110206"/>
                  </a:lnTo>
                  <a:lnTo>
                    <a:pt x="1725066" y="149326"/>
                  </a:lnTo>
                  <a:lnTo>
                    <a:pt x="1722786" y="177896"/>
                  </a:lnTo>
                  <a:lnTo>
                    <a:pt x="1705007" y="233342"/>
                  </a:lnTo>
                  <a:lnTo>
                    <a:pt x="1670628" y="286077"/>
                  </a:lnTo>
                  <a:lnTo>
                    <a:pt x="1620877" y="335561"/>
                  </a:lnTo>
                  <a:lnTo>
                    <a:pt x="1590621" y="358914"/>
                  </a:lnTo>
                  <a:lnTo>
                    <a:pt x="1556983" y="381251"/>
                  </a:lnTo>
                  <a:lnTo>
                    <a:pt x="1520118" y="402504"/>
                  </a:lnTo>
                  <a:lnTo>
                    <a:pt x="1480178" y="422606"/>
                  </a:lnTo>
                  <a:lnTo>
                    <a:pt x="1437316" y="441489"/>
                  </a:lnTo>
                  <a:lnTo>
                    <a:pt x="1391688" y="459085"/>
                  </a:lnTo>
                  <a:lnTo>
                    <a:pt x="1343446" y="475326"/>
                  </a:lnTo>
                  <a:lnTo>
                    <a:pt x="1292745" y="490146"/>
                  </a:lnTo>
                  <a:lnTo>
                    <a:pt x="1239737" y="503475"/>
                  </a:lnTo>
                  <a:lnTo>
                    <a:pt x="1184576" y="515247"/>
                  </a:lnTo>
                  <a:lnTo>
                    <a:pt x="1127417" y="525393"/>
                  </a:lnTo>
                  <a:lnTo>
                    <a:pt x="1068413" y="533846"/>
                  </a:lnTo>
                  <a:lnTo>
                    <a:pt x="1007717" y="540539"/>
                  </a:lnTo>
                  <a:lnTo>
                    <a:pt x="945483" y="545403"/>
                  </a:lnTo>
                  <a:lnTo>
                    <a:pt x="881865" y="548372"/>
                  </a:lnTo>
                  <a:lnTo>
                    <a:pt x="817016" y="549376"/>
                  </a:lnTo>
                  <a:lnTo>
                    <a:pt x="754143" y="548432"/>
                  </a:lnTo>
                  <a:lnTo>
                    <a:pt x="692423" y="545640"/>
                  </a:lnTo>
                  <a:lnTo>
                    <a:pt x="631995" y="541063"/>
                  </a:lnTo>
                  <a:lnTo>
                    <a:pt x="572999" y="534762"/>
                  </a:lnTo>
                  <a:lnTo>
                    <a:pt x="515576" y="526799"/>
                  </a:lnTo>
                  <a:lnTo>
                    <a:pt x="459865" y="517235"/>
                  </a:lnTo>
                  <a:lnTo>
                    <a:pt x="406005" y="506133"/>
                  </a:lnTo>
                  <a:lnTo>
                    <a:pt x="354137" y="493553"/>
                  </a:lnTo>
                  <a:lnTo>
                    <a:pt x="304400" y="479558"/>
                  </a:lnTo>
                  <a:lnTo>
                    <a:pt x="256933" y="464209"/>
                  </a:lnTo>
                  <a:lnTo>
                    <a:pt x="211878" y="447568"/>
                  </a:lnTo>
                  <a:lnTo>
                    <a:pt x="169373" y="429696"/>
                  </a:lnTo>
                  <a:lnTo>
                    <a:pt x="129559" y="410656"/>
                  </a:lnTo>
                  <a:lnTo>
                    <a:pt x="92574" y="390508"/>
                  </a:lnTo>
                  <a:lnTo>
                    <a:pt x="58560" y="369315"/>
                  </a:lnTo>
                  <a:lnTo>
                    <a:pt x="0" y="324040"/>
                  </a:lnTo>
                  <a:lnTo>
                    <a:pt x="24145" y="348122"/>
                  </a:lnTo>
                  <a:lnTo>
                    <a:pt x="82543" y="393638"/>
                  </a:lnTo>
                  <a:lnTo>
                    <a:pt x="116515" y="414947"/>
                  </a:lnTo>
                  <a:lnTo>
                    <a:pt x="153481" y="435208"/>
                  </a:lnTo>
                  <a:lnTo>
                    <a:pt x="193300" y="454358"/>
                  </a:lnTo>
                  <a:lnTo>
                    <a:pt x="235831" y="472333"/>
                  </a:lnTo>
                  <a:lnTo>
                    <a:pt x="280934" y="489073"/>
                  </a:lnTo>
                  <a:lnTo>
                    <a:pt x="328468" y="504515"/>
                  </a:lnTo>
                  <a:lnTo>
                    <a:pt x="378291" y="518596"/>
                  </a:lnTo>
                  <a:lnTo>
                    <a:pt x="430263" y="531254"/>
                  </a:lnTo>
                  <a:lnTo>
                    <a:pt x="484244" y="542426"/>
                  </a:lnTo>
                  <a:lnTo>
                    <a:pt x="540092" y="552051"/>
                  </a:lnTo>
                  <a:lnTo>
                    <a:pt x="597667" y="560066"/>
                  </a:lnTo>
                  <a:lnTo>
                    <a:pt x="656827" y="566408"/>
                  </a:lnTo>
                  <a:lnTo>
                    <a:pt x="717433" y="571015"/>
                  </a:lnTo>
                  <a:lnTo>
                    <a:pt x="779343" y="573826"/>
                  </a:lnTo>
                  <a:lnTo>
                    <a:pt x="842416" y="574776"/>
                  </a:lnTo>
                  <a:lnTo>
                    <a:pt x="907265" y="573772"/>
                  </a:lnTo>
                  <a:lnTo>
                    <a:pt x="970883" y="570803"/>
                  </a:lnTo>
                  <a:lnTo>
                    <a:pt x="1033117" y="565939"/>
                  </a:lnTo>
                  <a:lnTo>
                    <a:pt x="1093813" y="559246"/>
                  </a:lnTo>
                  <a:lnTo>
                    <a:pt x="1152817" y="550793"/>
                  </a:lnTo>
                  <a:lnTo>
                    <a:pt x="1209976" y="540647"/>
                  </a:lnTo>
                  <a:lnTo>
                    <a:pt x="1265137" y="528875"/>
                  </a:lnTo>
                  <a:lnTo>
                    <a:pt x="1318145" y="515546"/>
                  </a:lnTo>
                  <a:lnTo>
                    <a:pt x="1368846" y="500726"/>
                  </a:lnTo>
                  <a:lnTo>
                    <a:pt x="1417088" y="484485"/>
                  </a:lnTo>
                  <a:lnTo>
                    <a:pt x="1462716" y="466889"/>
                  </a:lnTo>
                  <a:lnTo>
                    <a:pt x="1505578" y="448006"/>
                  </a:lnTo>
                  <a:lnTo>
                    <a:pt x="1545518" y="427904"/>
                  </a:lnTo>
                  <a:lnTo>
                    <a:pt x="1582383" y="406651"/>
                  </a:lnTo>
                  <a:lnTo>
                    <a:pt x="1616021" y="384314"/>
                  </a:lnTo>
                  <a:lnTo>
                    <a:pt x="1646277" y="360961"/>
                  </a:lnTo>
                  <a:lnTo>
                    <a:pt x="1696028" y="311477"/>
                  </a:lnTo>
                  <a:lnTo>
                    <a:pt x="1730407" y="258742"/>
                  </a:lnTo>
                  <a:lnTo>
                    <a:pt x="1748186" y="203296"/>
                  </a:lnTo>
                  <a:lnTo>
                    <a:pt x="1750466" y="174726"/>
                  </a:lnTo>
                  <a:lnTo>
                    <a:pt x="1744438" y="128414"/>
                  </a:lnTo>
                  <a:lnTo>
                    <a:pt x="1726804" y="83662"/>
                  </a:lnTo>
                  <a:lnTo>
                    <a:pt x="1698243" y="40761"/>
                  </a:lnTo>
                  <a:lnTo>
                    <a:pt x="1659432" y="0"/>
                  </a:lnTo>
                  <a:close/>
                </a:path>
              </a:pathLst>
            </a:custGeom>
            <a:solidFill>
              <a:srgbClr val="71AA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9"/>
            <p:cNvSpPr/>
            <p:nvPr/>
          </p:nvSpPr>
          <p:spPr>
            <a:xfrm>
              <a:off x="1423552" y="2780772"/>
              <a:ext cx="1750695" cy="575310"/>
            </a:xfrm>
            <a:custGeom>
              <a:rect b="b" l="l" r="r" t="t"/>
              <a:pathLst>
                <a:path extrusionOk="0" h="575310" w="1750695">
                  <a:moveTo>
                    <a:pt x="1659445" y="0"/>
                  </a:moveTo>
                  <a:lnTo>
                    <a:pt x="1687494" y="35376"/>
                  </a:lnTo>
                  <a:lnTo>
                    <a:pt x="1708078" y="72167"/>
                  </a:lnTo>
                  <a:lnTo>
                    <a:pt x="1720754" y="110206"/>
                  </a:lnTo>
                  <a:lnTo>
                    <a:pt x="1725079" y="149326"/>
                  </a:lnTo>
                  <a:lnTo>
                    <a:pt x="1722799" y="177896"/>
                  </a:lnTo>
                  <a:lnTo>
                    <a:pt x="1705020" y="233342"/>
                  </a:lnTo>
                  <a:lnTo>
                    <a:pt x="1670640" y="286077"/>
                  </a:lnTo>
                  <a:lnTo>
                    <a:pt x="1620889" y="335561"/>
                  </a:lnTo>
                  <a:lnTo>
                    <a:pt x="1590634" y="358914"/>
                  </a:lnTo>
                  <a:lnTo>
                    <a:pt x="1556996" y="381251"/>
                  </a:lnTo>
                  <a:lnTo>
                    <a:pt x="1520130" y="402504"/>
                  </a:lnTo>
                  <a:lnTo>
                    <a:pt x="1480190" y="422606"/>
                  </a:lnTo>
                  <a:lnTo>
                    <a:pt x="1437329" y="441489"/>
                  </a:lnTo>
                  <a:lnTo>
                    <a:pt x="1391701" y="459085"/>
                  </a:lnTo>
                  <a:lnTo>
                    <a:pt x="1343459" y="475326"/>
                  </a:lnTo>
                  <a:lnTo>
                    <a:pt x="1292757" y="490146"/>
                  </a:lnTo>
                  <a:lnTo>
                    <a:pt x="1239750" y="503475"/>
                  </a:lnTo>
                  <a:lnTo>
                    <a:pt x="1184589" y="515247"/>
                  </a:lnTo>
                  <a:lnTo>
                    <a:pt x="1127430" y="525393"/>
                  </a:lnTo>
                  <a:lnTo>
                    <a:pt x="1068425" y="533846"/>
                  </a:lnTo>
                  <a:lnTo>
                    <a:pt x="1007729" y="540539"/>
                  </a:lnTo>
                  <a:lnTo>
                    <a:pt x="945495" y="545403"/>
                  </a:lnTo>
                  <a:lnTo>
                    <a:pt x="881877" y="548372"/>
                  </a:lnTo>
                  <a:lnTo>
                    <a:pt x="817029" y="549376"/>
                  </a:lnTo>
                  <a:lnTo>
                    <a:pt x="754153" y="548432"/>
                  </a:lnTo>
                  <a:lnTo>
                    <a:pt x="692431" y="545640"/>
                  </a:lnTo>
                  <a:lnTo>
                    <a:pt x="632002" y="541063"/>
                  </a:lnTo>
                  <a:lnTo>
                    <a:pt x="573005" y="534762"/>
                  </a:lnTo>
                  <a:lnTo>
                    <a:pt x="515581" y="526799"/>
                  </a:lnTo>
                  <a:lnTo>
                    <a:pt x="459868" y="517235"/>
                  </a:lnTo>
                  <a:lnTo>
                    <a:pt x="406008" y="506133"/>
                  </a:lnTo>
                  <a:lnTo>
                    <a:pt x="354139" y="493553"/>
                  </a:lnTo>
                  <a:lnTo>
                    <a:pt x="304401" y="479558"/>
                  </a:lnTo>
                  <a:lnTo>
                    <a:pt x="256934" y="464209"/>
                  </a:lnTo>
                  <a:lnTo>
                    <a:pt x="211879" y="447568"/>
                  </a:lnTo>
                  <a:lnTo>
                    <a:pt x="169374" y="429696"/>
                  </a:lnTo>
                  <a:lnTo>
                    <a:pt x="129559" y="410656"/>
                  </a:lnTo>
                  <a:lnTo>
                    <a:pt x="92575" y="390508"/>
                  </a:lnTo>
                  <a:lnTo>
                    <a:pt x="58560" y="369315"/>
                  </a:lnTo>
                  <a:lnTo>
                    <a:pt x="0" y="324040"/>
                  </a:lnTo>
                  <a:lnTo>
                    <a:pt x="24147" y="348122"/>
                  </a:lnTo>
                  <a:lnTo>
                    <a:pt x="82549" y="393638"/>
                  </a:lnTo>
                  <a:lnTo>
                    <a:pt x="116522" y="414947"/>
                  </a:lnTo>
                  <a:lnTo>
                    <a:pt x="153489" y="435208"/>
                  </a:lnTo>
                  <a:lnTo>
                    <a:pt x="193309" y="454358"/>
                  </a:lnTo>
                  <a:lnTo>
                    <a:pt x="235841" y="472333"/>
                  </a:lnTo>
                  <a:lnTo>
                    <a:pt x="280945" y="489073"/>
                  </a:lnTo>
                  <a:lnTo>
                    <a:pt x="328479" y="504515"/>
                  </a:lnTo>
                  <a:lnTo>
                    <a:pt x="378302" y="518596"/>
                  </a:lnTo>
                  <a:lnTo>
                    <a:pt x="430275" y="531254"/>
                  </a:lnTo>
                  <a:lnTo>
                    <a:pt x="484256" y="542426"/>
                  </a:lnTo>
                  <a:lnTo>
                    <a:pt x="540104" y="552051"/>
                  </a:lnTo>
                  <a:lnTo>
                    <a:pt x="597679" y="560066"/>
                  </a:lnTo>
                  <a:lnTo>
                    <a:pt x="656840" y="566408"/>
                  </a:lnTo>
                  <a:lnTo>
                    <a:pt x="717446" y="571015"/>
                  </a:lnTo>
                  <a:lnTo>
                    <a:pt x="779355" y="573826"/>
                  </a:lnTo>
                  <a:lnTo>
                    <a:pt x="842429" y="574776"/>
                  </a:lnTo>
                  <a:lnTo>
                    <a:pt x="907277" y="573772"/>
                  </a:lnTo>
                  <a:lnTo>
                    <a:pt x="970895" y="570803"/>
                  </a:lnTo>
                  <a:lnTo>
                    <a:pt x="1033129" y="565939"/>
                  </a:lnTo>
                  <a:lnTo>
                    <a:pt x="1093825" y="559246"/>
                  </a:lnTo>
                  <a:lnTo>
                    <a:pt x="1152830" y="550793"/>
                  </a:lnTo>
                  <a:lnTo>
                    <a:pt x="1209989" y="540647"/>
                  </a:lnTo>
                  <a:lnTo>
                    <a:pt x="1265150" y="528875"/>
                  </a:lnTo>
                  <a:lnTo>
                    <a:pt x="1318157" y="515546"/>
                  </a:lnTo>
                  <a:lnTo>
                    <a:pt x="1368859" y="500726"/>
                  </a:lnTo>
                  <a:lnTo>
                    <a:pt x="1417101" y="484485"/>
                  </a:lnTo>
                  <a:lnTo>
                    <a:pt x="1462729" y="466889"/>
                  </a:lnTo>
                  <a:lnTo>
                    <a:pt x="1505590" y="448006"/>
                  </a:lnTo>
                  <a:lnTo>
                    <a:pt x="1545530" y="427904"/>
                  </a:lnTo>
                  <a:lnTo>
                    <a:pt x="1582396" y="406651"/>
                  </a:lnTo>
                  <a:lnTo>
                    <a:pt x="1616034" y="384314"/>
                  </a:lnTo>
                  <a:lnTo>
                    <a:pt x="1646289" y="360961"/>
                  </a:lnTo>
                  <a:lnTo>
                    <a:pt x="1696040" y="311477"/>
                  </a:lnTo>
                  <a:lnTo>
                    <a:pt x="1730420" y="258742"/>
                  </a:lnTo>
                  <a:lnTo>
                    <a:pt x="1748199" y="203296"/>
                  </a:lnTo>
                  <a:lnTo>
                    <a:pt x="1750479" y="174726"/>
                  </a:lnTo>
                  <a:lnTo>
                    <a:pt x="1744448" y="128414"/>
                  </a:lnTo>
                  <a:lnTo>
                    <a:pt x="1726812" y="83662"/>
                  </a:lnTo>
                  <a:lnTo>
                    <a:pt x="1698251" y="40761"/>
                  </a:lnTo>
                  <a:lnTo>
                    <a:pt x="1659445" y="0"/>
                  </a:lnTo>
                  <a:close/>
                </a:path>
              </a:pathLst>
            </a:custGeom>
            <a:solidFill>
              <a:srgbClr val="79AEB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9" name="Google Shape;9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15667" y="2530010"/>
              <a:ext cx="1816112" cy="800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99569" y="2530010"/>
              <a:ext cx="1815998" cy="800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32493" y="2530010"/>
              <a:ext cx="1816112" cy="80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9"/>
            <p:cNvSpPr/>
            <p:nvPr/>
          </p:nvSpPr>
          <p:spPr>
            <a:xfrm>
              <a:off x="655202" y="2826936"/>
              <a:ext cx="609600" cy="130175"/>
            </a:xfrm>
            <a:custGeom>
              <a:rect b="b" l="l" r="r" t="t"/>
              <a:pathLst>
                <a:path extrusionOk="0" h="130175" w="609600">
                  <a:moveTo>
                    <a:pt x="482600" y="0"/>
                  </a:moveTo>
                  <a:lnTo>
                    <a:pt x="482600" y="79375"/>
                  </a:lnTo>
                  <a:lnTo>
                    <a:pt x="0" y="79375"/>
                  </a:lnTo>
                  <a:lnTo>
                    <a:pt x="0" y="130175"/>
                  </a:lnTo>
                  <a:lnTo>
                    <a:pt x="609600" y="130175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rgbClr val="BE674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655202" y="2957111"/>
              <a:ext cx="609600" cy="130175"/>
            </a:xfrm>
            <a:custGeom>
              <a:rect b="b" l="l" r="r" t="t"/>
              <a:pathLst>
                <a:path extrusionOk="0" h="130175" w="609600">
                  <a:moveTo>
                    <a:pt x="6096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482600" y="50800"/>
                  </a:lnTo>
                  <a:lnTo>
                    <a:pt x="482600" y="130175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AA431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3207902" y="2826936"/>
              <a:ext cx="736600" cy="130175"/>
            </a:xfrm>
            <a:custGeom>
              <a:rect b="b" l="l" r="r" t="t"/>
              <a:pathLst>
                <a:path extrusionOk="0" h="130175" w="736600">
                  <a:moveTo>
                    <a:pt x="609600" y="0"/>
                  </a:moveTo>
                  <a:lnTo>
                    <a:pt x="609600" y="79375"/>
                  </a:lnTo>
                  <a:lnTo>
                    <a:pt x="0" y="79375"/>
                  </a:lnTo>
                  <a:lnTo>
                    <a:pt x="0" y="130175"/>
                  </a:lnTo>
                  <a:lnTo>
                    <a:pt x="736600" y="130175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BE674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9"/>
            <p:cNvSpPr/>
            <p:nvPr/>
          </p:nvSpPr>
          <p:spPr>
            <a:xfrm>
              <a:off x="3207902" y="2957111"/>
              <a:ext cx="736600" cy="130175"/>
            </a:xfrm>
            <a:custGeom>
              <a:rect b="b" l="l" r="r" t="t"/>
              <a:pathLst>
                <a:path extrusionOk="0" h="130175" w="736600">
                  <a:moveTo>
                    <a:pt x="7366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609600" y="50800"/>
                  </a:lnTo>
                  <a:lnTo>
                    <a:pt x="609600" y="130174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AA431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9"/>
            <p:cNvSpPr/>
            <p:nvPr/>
          </p:nvSpPr>
          <p:spPr>
            <a:xfrm>
              <a:off x="5849502" y="2572936"/>
              <a:ext cx="736600" cy="130175"/>
            </a:xfrm>
            <a:custGeom>
              <a:rect b="b" l="l" r="r" t="t"/>
              <a:pathLst>
                <a:path extrusionOk="0" h="130175" w="736600">
                  <a:moveTo>
                    <a:pt x="609600" y="0"/>
                  </a:moveTo>
                  <a:lnTo>
                    <a:pt x="609600" y="79375"/>
                  </a:lnTo>
                  <a:lnTo>
                    <a:pt x="0" y="79375"/>
                  </a:lnTo>
                  <a:lnTo>
                    <a:pt x="0" y="130175"/>
                  </a:lnTo>
                  <a:lnTo>
                    <a:pt x="736600" y="130175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BE674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5849502" y="2703111"/>
              <a:ext cx="736600" cy="130175"/>
            </a:xfrm>
            <a:custGeom>
              <a:rect b="b" l="l" r="r" t="t"/>
              <a:pathLst>
                <a:path extrusionOk="0" h="130175" w="736600">
                  <a:moveTo>
                    <a:pt x="7366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609600" y="50800"/>
                  </a:lnTo>
                  <a:lnTo>
                    <a:pt x="609600" y="130175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AA431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5849502" y="3173011"/>
              <a:ext cx="736600" cy="130175"/>
            </a:xfrm>
            <a:custGeom>
              <a:rect b="b" l="l" r="r" t="t"/>
              <a:pathLst>
                <a:path extrusionOk="0" h="130175" w="736600">
                  <a:moveTo>
                    <a:pt x="736600" y="0"/>
                  </a:moveTo>
                  <a:lnTo>
                    <a:pt x="0" y="0"/>
                  </a:lnTo>
                  <a:lnTo>
                    <a:pt x="127000" y="130174"/>
                  </a:lnTo>
                  <a:lnTo>
                    <a:pt x="127000" y="50799"/>
                  </a:lnTo>
                  <a:lnTo>
                    <a:pt x="736600" y="50799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BE674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4249280" y="3042843"/>
              <a:ext cx="2337434" cy="1177925"/>
            </a:xfrm>
            <a:custGeom>
              <a:rect b="b" l="l" r="r" t="t"/>
              <a:pathLst>
                <a:path extrusionOk="0" h="1177925" w="2337434">
                  <a:moveTo>
                    <a:pt x="1358900" y="434962"/>
                  </a:moveTo>
                  <a:lnTo>
                    <a:pt x="1228725" y="561962"/>
                  </a:lnTo>
                  <a:lnTo>
                    <a:pt x="1308100" y="561962"/>
                  </a:lnTo>
                  <a:lnTo>
                    <a:pt x="1308100" y="1120762"/>
                  </a:lnTo>
                  <a:lnTo>
                    <a:pt x="1301750" y="1127112"/>
                  </a:lnTo>
                  <a:lnTo>
                    <a:pt x="57150" y="1127112"/>
                  </a:lnTo>
                  <a:lnTo>
                    <a:pt x="50800" y="1120762"/>
                  </a:lnTo>
                  <a:lnTo>
                    <a:pt x="50800" y="485762"/>
                  </a:lnTo>
                  <a:lnTo>
                    <a:pt x="0" y="485762"/>
                  </a:lnTo>
                  <a:lnTo>
                    <a:pt x="0" y="1171562"/>
                  </a:lnTo>
                  <a:lnTo>
                    <a:pt x="6350" y="1177912"/>
                  </a:lnTo>
                  <a:lnTo>
                    <a:pt x="1352550" y="1177912"/>
                  </a:lnTo>
                  <a:lnTo>
                    <a:pt x="1358900" y="1171562"/>
                  </a:lnTo>
                  <a:lnTo>
                    <a:pt x="1358900" y="434962"/>
                  </a:lnTo>
                  <a:close/>
                </a:path>
                <a:path extrusionOk="0" h="1177925" w="2337434">
                  <a:moveTo>
                    <a:pt x="2336812" y="79375"/>
                  </a:moveTo>
                  <a:lnTo>
                    <a:pt x="1727212" y="79375"/>
                  </a:lnTo>
                  <a:lnTo>
                    <a:pt x="1727212" y="0"/>
                  </a:lnTo>
                  <a:lnTo>
                    <a:pt x="1600212" y="130175"/>
                  </a:lnTo>
                  <a:lnTo>
                    <a:pt x="2336812" y="130175"/>
                  </a:lnTo>
                  <a:lnTo>
                    <a:pt x="2336812" y="79375"/>
                  </a:lnTo>
                  <a:close/>
                </a:path>
              </a:pathLst>
            </a:custGeom>
            <a:solidFill>
              <a:srgbClr val="AA431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4198489" y="3477799"/>
              <a:ext cx="1539875" cy="793750"/>
            </a:xfrm>
            <a:custGeom>
              <a:rect b="b" l="l" r="r" t="t"/>
              <a:pathLst>
                <a:path extrusionOk="0" h="793750" w="1539875">
                  <a:moveTo>
                    <a:pt x="1409700" y="0"/>
                  </a:moveTo>
                  <a:lnTo>
                    <a:pt x="1409700" y="736600"/>
                  </a:lnTo>
                  <a:lnTo>
                    <a:pt x="1403350" y="742950"/>
                  </a:lnTo>
                  <a:lnTo>
                    <a:pt x="57150" y="742950"/>
                  </a:lnTo>
                  <a:lnTo>
                    <a:pt x="50800" y="736600"/>
                  </a:lnTo>
                  <a:lnTo>
                    <a:pt x="50800" y="50800"/>
                  </a:lnTo>
                  <a:lnTo>
                    <a:pt x="0" y="50800"/>
                  </a:lnTo>
                  <a:lnTo>
                    <a:pt x="0" y="787400"/>
                  </a:lnTo>
                  <a:lnTo>
                    <a:pt x="6350" y="793750"/>
                  </a:lnTo>
                  <a:lnTo>
                    <a:pt x="1454150" y="793750"/>
                  </a:lnTo>
                  <a:lnTo>
                    <a:pt x="1460500" y="787400"/>
                  </a:lnTo>
                  <a:lnTo>
                    <a:pt x="1460500" y="127000"/>
                  </a:lnTo>
                  <a:lnTo>
                    <a:pt x="1539875" y="127000"/>
                  </a:lnTo>
                  <a:lnTo>
                    <a:pt x="1409700" y="0"/>
                  </a:lnTo>
                  <a:close/>
                </a:path>
              </a:pathLst>
            </a:custGeom>
            <a:solidFill>
              <a:srgbClr val="BE674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19"/>
          <p:cNvSpPr txBox="1"/>
          <p:nvPr/>
        </p:nvSpPr>
        <p:spPr>
          <a:xfrm>
            <a:off x="2381106" y="2421459"/>
            <a:ext cx="10833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1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Sensory Memory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873098" y="2397602"/>
            <a:ext cx="9318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-11430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1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Short-Term  Memory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7142805" y="2428350"/>
            <a:ext cx="9975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-88900" lvl="0" marL="88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1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Long-Term  Memory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6204519" y="3098531"/>
            <a:ext cx="7575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Rehearsal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6204519" y="3528737"/>
            <a:ext cx="14355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Image by MIT OpenCourseWare.</a:t>
            </a:r>
            <a:endParaRPr b="0" i="0" sz="7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525" y="140225"/>
            <a:ext cx="7514525" cy="486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What have you just seen?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Sensory Memory</a:t>
            </a:r>
            <a:endParaRPr b="1"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Sensory memory is </a:t>
            </a:r>
            <a:r>
              <a:rPr lang="en" sz="3000">
                <a:solidFill>
                  <a:srgbClr val="040C28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mental representation of how environmental events look, sound, feel, smell and taste</a:t>
            </a:r>
            <a:r>
              <a:rPr lang="en" sz="3000">
                <a:solidFill>
                  <a:srgbClr val="1F1F1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It includes a long-term component useful for such activities as recognizing a color or a familiar voice. However, most vivid details of sensory memory seem to fade quickly.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/>
              <a:t>Test of Digit Span 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628650" y="564871"/>
            <a:ext cx="7886700" cy="4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b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95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Span of 4: 6 1 9 4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95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Span of 5: 3 7 8 5 2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95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Span of 6: 9 6 5 2 8 3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95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Span of 7: 4 2 6 9 8 5 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95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Span of 8: 8 1 6 3 7 2 4 9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95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Span of 9: 6 2 5 7 3 4 9 8 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95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Span of 10: 9 3 8 2 4 7 1 5 3 6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95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b="1" lang="en" sz="2200">
                <a:latin typeface="Times New Roman"/>
                <a:ea typeface="Times New Roman"/>
                <a:cs typeface="Times New Roman"/>
                <a:sym typeface="Times New Roman"/>
              </a:rPr>
              <a:t>Span of 11: 5 8 1 4 7 9 3 2 6 1 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b="1" lang="en" sz="3400">
                <a:latin typeface="Times New Roman"/>
                <a:ea typeface="Times New Roman"/>
                <a:cs typeface="Times New Roman"/>
                <a:sym typeface="Times New Roman"/>
              </a:rPr>
              <a:t>Short-term memory	</a:t>
            </a:r>
            <a:endParaRPr b="1"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032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•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Capacity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Font typeface="Times New Roman"/>
              <a:buChar char="•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+/- 2 chunks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Font typeface="Times New Roman"/>
              <a:buChar char="•"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knowledge defines chunks, allows for more information to be retained in memory, may also miscode information 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628650" y="150469"/>
            <a:ext cx="78867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" sz="3400">
                <a:latin typeface="Times New Roman"/>
                <a:ea typeface="Times New Roman"/>
                <a:cs typeface="Times New Roman"/>
                <a:sym typeface="Times New Roman"/>
              </a:rPr>
              <a:t>Long Term Memory</a:t>
            </a:r>
            <a:endParaRPr b="1"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625" y="830424"/>
            <a:ext cx="8515350" cy="420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249300" y="254375"/>
            <a:ext cx="8608200" cy="471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605"/>
              <a:buNone/>
            </a:pPr>
            <a:r>
              <a:rPr b="1" lang="en" sz="1857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Implicit memory</a:t>
            </a:r>
            <a:br>
              <a:rPr b="1" lang="en" sz="1857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57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Unconscious memory that is recalled without effort or awareness. For example, you might remember how to ride a bike without consciously thinking about it. </a:t>
            </a:r>
            <a:endParaRPr sz="1857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40000"/>
              </a:lnSpc>
              <a:spcBef>
                <a:spcPts val="2100"/>
              </a:spcBef>
              <a:spcAft>
                <a:spcPts val="0"/>
              </a:spcAft>
              <a:buSzPts val="605"/>
              <a:buNone/>
            </a:pPr>
            <a:r>
              <a:rPr b="1" lang="en" sz="1857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Explicit memory</a:t>
            </a:r>
            <a:br>
              <a:rPr b="1" lang="en" sz="1857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857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Conscious memory that requires effort to retrieve. For example, you might recall items on a list.</a:t>
            </a:r>
            <a:endParaRPr sz="1857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40000"/>
              </a:lnSpc>
              <a:spcBef>
                <a:spcPts val="2100"/>
              </a:spcBef>
              <a:spcAft>
                <a:spcPts val="0"/>
              </a:spcAft>
              <a:buSzPts val="605"/>
              <a:buNone/>
            </a:pPr>
            <a:r>
              <a:rPr lang="en" sz="1857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Implicit memory is unconscious recall, like skills and habits (e.g., riding a bike), while explicit memory is conscious recall of facts and events (e.g., remembering a birthday). Both are vital components of long-term memory, with implicit being more about “knowing how” and explicit about “knowing that.”</a:t>
            </a:r>
            <a:endParaRPr sz="1857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40000"/>
              </a:lnSpc>
              <a:spcBef>
                <a:spcPts val="800"/>
              </a:spcBef>
              <a:spcAft>
                <a:spcPts val="1500"/>
              </a:spcAft>
              <a:buSzPts val="605"/>
              <a:buNone/>
            </a:pPr>
            <a:r>
              <a:t/>
            </a:r>
            <a:endParaRPr sz="66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500" y="152400"/>
            <a:ext cx="415787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/>
              <a:t>What letters do you see? </a:t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G D C E I A H B F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Cristiano Ronaldo: “Kỷ lục chạy theo tôi” | CHUYÊN TRANG THỂ THAO" id="174" name="Google Shape;174;p29"/>
          <p:cNvSpPr/>
          <p:nvPr/>
        </p:nvSpPr>
        <p:spPr>
          <a:xfrm>
            <a:off x="4457700" y="24574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ristiano Ronaldo: “Kỷ lục chạy theo tôi” | CHUYÊN TRANG THỂ THAO" id="175" name="Google Shape;175;p29"/>
          <p:cNvSpPr/>
          <p:nvPr/>
        </p:nvSpPr>
        <p:spPr>
          <a:xfrm>
            <a:off x="4572000" y="25717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ristiano Ronaldo: “Kỷ lục chạy theo tôi” | CHUYÊN TRANG THỂ THAO" id="176" name="Google Shape;176;p29"/>
          <p:cNvSpPr/>
          <p:nvPr/>
        </p:nvSpPr>
        <p:spPr>
          <a:xfrm>
            <a:off x="4686300" y="26860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Cristiano Ronaldo: “Kỷ lục chạy theo tôi” | CHUYÊN TRANG THỂ THAO" id="177" name="Google Shape;177;p29"/>
          <p:cNvSpPr/>
          <p:nvPr/>
        </p:nvSpPr>
        <p:spPr>
          <a:xfrm>
            <a:off x="4800600" y="28003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/>
              <a:t>What letters do you see? 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A B C D E F G H I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/>
              <a:t>WHAT WORDS DO YOU SEE</a:t>
            </a:r>
            <a:endParaRPr/>
          </a:p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LEAF PAPER SEAT TIRE CAR FISH ROCK WIRE WHEEL BEACH TREE BOY RADIO RULE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t/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WHILE I WAS WALKING THROUGH THE WOODS A RABBIT RAN ACROSS MY PATH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/>
              <a:t>A few more things about memory…</a:t>
            </a:r>
            <a:endParaRPr/>
          </a:p>
        </p:txBody>
      </p:sp>
      <p:sp>
        <p:nvSpPr>
          <p:cNvPr id="212" name="Google Shape;212;p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Primacy and recency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Deep vs shallow encoding 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Context matters!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/>
              <a:t>Organization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1419550" y="179353"/>
            <a:ext cx="64734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None/>
            </a:pPr>
            <a:r>
              <a:rPr lang="en" sz="2400"/>
              <a:t>Primacy Effect = LTM	Recency Effect = STM</a:t>
            </a:r>
            <a:endParaRPr sz="2400"/>
          </a:p>
        </p:txBody>
      </p:sp>
      <p:grpSp>
        <p:nvGrpSpPr>
          <p:cNvPr id="219" name="Google Shape;219;p36"/>
          <p:cNvGrpSpPr/>
          <p:nvPr/>
        </p:nvGrpSpPr>
        <p:grpSpPr>
          <a:xfrm>
            <a:off x="1444569" y="566482"/>
            <a:ext cx="6252606" cy="4058448"/>
            <a:chOff x="404829" y="752500"/>
            <a:chExt cx="8305800" cy="5391137"/>
          </a:xfrm>
        </p:grpSpPr>
        <p:pic>
          <p:nvPicPr>
            <p:cNvPr id="220" name="Google Shape;220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4829" y="1431937"/>
              <a:ext cx="8305800" cy="4711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36"/>
            <p:cNvSpPr/>
            <p:nvPr/>
          </p:nvSpPr>
          <p:spPr>
            <a:xfrm>
              <a:off x="1573225" y="752500"/>
              <a:ext cx="4343400" cy="1828800"/>
            </a:xfrm>
            <a:custGeom>
              <a:rect b="b" l="l" r="r" t="t"/>
              <a:pathLst>
                <a:path extrusionOk="0" h="1828800" w="4343400">
                  <a:moveTo>
                    <a:pt x="228600" y="1181100"/>
                  </a:moveTo>
                  <a:lnTo>
                    <a:pt x="152400" y="1181100"/>
                  </a:lnTo>
                  <a:lnTo>
                    <a:pt x="152400" y="38100"/>
                  </a:lnTo>
                  <a:lnTo>
                    <a:pt x="76200" y="38100"/>
                  </a:lnTo>
                  <a:lnTo>
                    <a:pt x="76200" y="1181100"/>
                  </a:lnTo>
                  <a:lnTo>
                    <a:pt x="0" y="1181100"/>
                  </a:lnTo>
                  <a:lnTo>
                    <a:pt x="76200" y="1333500"/>
                  </a:lnTo>
                  <a:lnTo>
                    <a:pt x="114300" y="1409700"/>
                  </a:lnTo>
                  <a:lnTo>
                    <a:pt x="152400" y="1333500"/>
                  </a:lnTo>
                  <a:lnTo>
                    <a:pt x="228600" y="1181100"/>
                  </a:lnTo>
                  <a:close/>
                </a:path>
                <a:path extrusionOk="0" h="1828800" w="4343400">
                  <a:moveTo>
                    <a:pt x="4343400" y="1600200"/>
                  </a:moveTo>
                  <a:lnTo>
                    <a:pt x="4267200" y="1600200"/>
                  </a:lnTo>
                  <a:lnTo>
                    <a:pt x="4267200" y="0"/>
                  </a:lnTo>
                  <a:lnTo>
                    <a:pt x="4191000" y="0"/>
                  </a:lnTo>
                  <a:lnTo>
                    <a:pt x="4191000" y="1600200"/>
                  </a:lnTo>
                  <a:lnTo>
                    <a:pt x="4114800" y="1600200"/>
                  </a:lnTo>
                  <a:lnTo>
                    <a:pt x="4191000" y="1752600"/>
                  </a:lnTo>
                  <a:lnTo>
                    <a:pt x="4229100" y="1828800"/>
                  </a:lnTo>
                  <a:lnTo>
                    <a:pt x="4267200" y="1752600"/>
                  </a:lnTo>
                  <a:lnTo>
                    <a:pt x="4343400" y="160020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36"/>
          <p:cNvSpPr txBox="1"/>
          <p:nvPr/>
        </p:nvSpPr>
        <p:spPr>
          <a:xfrm>
            <a:off x="1684758" y="4605814"/>
            <a:ext cx="57597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16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Courtesy of Elsevier, Inc., </a:t>
            </a:r>
            <a:r>
              <a:rPr b="0" i="0" lang="en" sz="800" u="sng" cap="none" strike="noStrike">
                <a:solidFill>
                  <a:srgbClr val="FFAABF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http://www.sciencedirect.com</a:t>
            </a:r>
            <a:r>
              <a:rPr b="0" i="0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. Used with permission. Source: Glanzer, M.</a:t>
            </a:r>
            <a:r>
              <a:rPr b="0" i="1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and A. R. Cunitz.  "Two Storage Mechanisms in Free Recall." </a:t>
            </a:r>
            <a:r>
              <a:rPr b="0" i="1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Journal of Verbal Learning and Verbal Behavior </a:t>
            </a:r>
            <a:r>
              <a:rPr b="0" i="0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5, no. 4 (1966): 351-60.</a:t>
            </a:r>
            <a:endParaRPr b="0" i="0" sz="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1646698" y="285466"/>
            <a:ext cx="59667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nstantia"/>
              <a:buNone/>
            </a:pPr>
            <a:r>
              <a:rPr lang="en" sz="3000"/>
              <a:t>Ebbinghaus’ Curve of Forgetting</a:t>
            </a:r>
            <a:endParaRPr sz="3000"/>
          </a:p>
        </p:txBody>
      </p:sp>
      <p:grpSp>
        <p:nvGrpSpPr>
          <p:cNvPr id="229" name="Google Shape;229;p37"/>
          <p:cNvGrpSpPr/>
          <p:nvPr/>
        </p:nvGrpSpPr>
        <p:grpSpPr>
          <a:xfrm>
            <a:off x="2151710" y="1019093"/>
            <a:ext cx="4847204" cy="3680816"/>
            <a:chOff x="1344177" y="1353736"/>
            <a:chExt cx="6438900" cy="4889500"/>
          </a:xfrm>
        </p:grpSpPr>
        <p:sp>
          <p:nvSpPr>
            <p:cNvPr id="230" name="Google Shape;230;p37"/>
            <p:cNvSpPr/>
            <p:nvPr/>
          </p:nvSpPr>
          <p:spPr>
            <a:xfrm>
              <a:off x="1344177" y="1353736"/>
              <a:ext cx="6438900" cy="4889500"/>
            </a:xfrm>
            <a:custGeom>
              <a:rect b="b" l="l" r="r" t="t"/>
              <a:pathLst>
                <a:path extrusionOk="0" h="4889500" w="6438900">
                  <a:moveTo>
                    <a:pt x="6438900" y="0"/>
                  </a:moveTo>
                  <a:lnTo>
                    <a:pt x="0" y="0"/>
                  </a:lnTo>
                  <a:lnTo>
                    <a:pt x="0" y="4889500"/>
                  </a:lnTo>
                  <a:lnTo>
                    <a:pt x="6438900" y="4889500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37"/>
            <p:cNvSpPr/>
            <p:nvPr/>
          </p:nvSpPr>
          <p:spPr>
            <a:xfrm>
              <a:off x="1344177" y="1353736"/>
              <a:ext cx="6438900" cy="4889500"/>
            </a:xfrm>
            <a:custGeom>
              <a:rect b="b" l="l" r="r" t="t"/>
              <a:pathLst>
                <a:path extrusionOk="0" h="4889500" w="6438900">
                  <a:moveTo>
                    <a:pt x="6438900" y="4889500"/>
                  </a:moveTo>
                  <a:lnTo>
                    <a:pt x="0" y="4889500"/>
                  </a:lnTo>
                  <a:lnTo>
                    <a:pt x="0" y="0"/>
                  </a:lnTo>
                  <a:lnTo>
                    <a:pt x="6438900" y="0"/>
                  </a:lnTo>
                  <a:lnTo>
                    <a:pt x="6438900" y="4889500"/>
                  </a:lnTo>
                  <a:close/>
                </a:path>
              </a:pathLst>
            </a:custGeom>
            <a:noFill/>
            <a:ln cap="flat" cmpd="sng" w="126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2" name="Google Shape;232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82161" y="1553431"/>
              <a:ext cx="64071" cy="107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25039" y="5487370"/>
              <a:ext cx="107543" cy="640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37"/>
            <p:cNvSpPr/>
            <p:nvPr/>
          </p:nvSpPr>
          <p:spPr>
            <a:xfrm>
              <a:off x="2214127" y="1639486"/>
              <a:ext cx="5232400" cy="3879850"/>
            </a:xfrm>
            <a:custGeom>
              <a:rect b="b" l="l" r="r" t="t"/>
              <a:pathLst>
                <a:path extrusionOk="0" h="3879850" w="5232400">
                  <a:moveTo>
                    <a:pt x="5232400" y="3879849"/>
                  </a:moveTo>
                  <a:lnTo>
                    <a:pt x="0" y="3879850"/>
                  </a:ln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C4D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5" name="Google Shape;235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66184" y="1510391"/>
              <a:ext cx="96100" cy="1613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3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14281" y="5471394"/>
              <a:ext cx="161328" cy="9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37"/>
            <p:cNvSpPr/>
            <p:nvPr/>
          </p:nvSpPr>
          <p:spPr>
            <a:xfrm>
              <a:off x="2214127" y="2122086"/>
              <a:ext cx="4724400" cy="3397250"/>
            </a:xfrm>
            <a:custGeom>
              <a:rect b="b" l="l" r="r" t="t"/>
              <a:pathLst>
                <a:path extrusionOk="0" h="3397250" w="4724400">
                  <a:moveTo>
                    <a:pt x="76199" y="339725"/>
                  </a:moveTo>
                  <a:lnTo>
                    <a:pt x="0" y="339725"/>
                  </a:lnTo>
                </a:path>
                <a:path extrusionOk="0" h="3397250" w="4724400">
                  <a:moveTo>
                    <a:pt x="76199" y="679450"/>
                  </a:moveTo>
                  <a:lnTo>
                    <a:pt x="0" y="679450"/>
                  </a:lnTo>
                </a:path>
                <a:path extrusionOk="0" h="3397250" w="4724400">
                  <a:moveTo>
                    <a:pt x="76199" y="1019175"/>
                  </a:moveTo>
                  <a:lnTo>
                    <a:pt x="0" y="1019175"/>
                  </a:lnTo>
                </a:path>
                <a:path extrusionOk="0" h="3397250" w="4724400">
                  <a:moveTo>
                    <a:pt x="76199" y="1358900"/>
                  </a:moveTo>
                  <a:lnTo>
                    <a:pt x="0" y="1358900"/>
                  </a:lnTo>
                </a:path>
                <a:path extrusionOk="0" h="3397250" w="4724400">
                  <a:moveTo>
                    <a:pt x="76199" y="1698625"/>
                  </a:moveTo>
                  <a:lnTo>
                    <a:pt x="0" y="1698625"/>
                  </a:lnTo>
                </a:path>
                <a:path extrusionOk="0" h="3397250" w="4724400">
                  <a:moveTo>
                    <a:pt x="76200" y="2038350"/>
                  </a:moveTo>
                  <a:lnTo>
                    <a:pt x="0" y="2038350"/>
                  </a:lnTo>
                </a:path>
                <a:path extrusionOk="0" h="3397250" w="4724400">
                  <a:moveTo>
                    <a:pt x="76200" y="2378075"/>
                  </a:moveTo>
                  <a:lnTo>
                    <a:pt x="0" y="2378075"/>
                  </a:lnTo>
                </a:path>
                <a:path extrusionOk="0" h="3397250" w="4724400">
                  <a:moveTo>
                    <a:pt x="76200" y="2717800"/>
                  </a:moveTo>
                  <a:lnTo>
                    <a:pt x="0" y="2717800"/>
                  </a:lnTo>
                </a:path>
                <a:path extrusionOk="0" h="3397250" w="4724400">
                  <a:moveTo>
                    <a:pt x="76200" y="3057525"/>
                  </a:moveTo>
                  <a:lnTo>
                    <a:pt x="0" y="3057525"/>
                  </a:lnTo>
                </a:path>
                <a:path extrusionOk="0" h="3397250" w="4724400">
                  <a:moveTo>
                    <a:pt x="431800" y="3397250"/>
                  </a:moveTo>
                  <a:lnTo>
                    <a:pt x="431800" y="3321050"/>
                  </a:lnTo>
                </a:path>
                <a:path extrusionOk="0" h="3397250" w="4724400">
                  <a:moveTo>
                    <a:pt x="622300" y="3397250"/>
                  </a:moveTo>
                  <a:lnTo>
                    <a:pt x="622300" y="3321050"/>
                  </a:lnTo>
                </a:path>
                <a:path extrusionOk="0" h="3397250" w="4724400">
                  <a:moveTo>
                    <a:pt x="1168400" y="3397250"/>
                  </a:moveTo>
                  <a:lnTo>
                    <a:pt x="1168400" y="3321050"/>
                  </a:lnTo>
                </a:path>
                <a:path extrusionOk="0" h="3397250" w="4724400">
                  <a:moveTo>
                    <a:pt x="4724400" y="3397250"/>
                  </a:moveTo>
                  <a:lnTo>
                    <a:pt x="4724400" y="3321050"/>
                  </a:lnTo>
                </a:path>
                <a:path extrusionOk="0" h="3397250" w="4724400">
                  <a:moveTo>
                    <a:pt x="7619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2C4D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37"/>
            <p:cNvSpPr/>
            <p:nvPr/>
          </p:nvSpPr>
          <p:spPr>
            <a:xfrm>
              <a:off x="2336364" y="2114936"/>
              <a:ext cx="4604384" cy="2660650"/>
            </a:xfrm>
            <a:custGeom>
              <a:rect b="b" l="l" r="r" t="t"/>
              <a:pathLst>
                <a:path extrusionOk="0" h="2660650" w="4604384">
                  <a:moveTo>
                    <a:pt x="4604283" y="2660395"/>
                  </a:moveTo>
                  <a:lnTo>
                    <a:pt x="4085904" y="2652695"/>
                  </a:lnTo>
                  <a:lnTo>
                    <a:pt x="3810860" y="2648419"/>
                  </a:lnTo>
                  <a:lnTo>
                    <a:pt x="3687125" y="2646029"/>
                  </a:lnTo>
                  <a:lnTo>
                    <a:pt x="3622675" y="2643987"/>
                  </a:lnTo>
                  <a:lnTo>
                    <a:pt x="3603917" y="2643373"/>
                  </a:lnTo>
                  <a:lnTo>
                    <a:pt x="3574624" y="2642503"/>
                  </a:lnTo>
                  <a:lnTo>
                    <a:pt x="3535978" y="2641406"/>
                  </a:lnTo>
                  <a:lnTo>
                    <a:pt x="3489159" y="2640114"/>
                  </a:lnTo>
                  <a:lnTo>
                    <a:pt x="3435349" y="2638654"/>
                  </a:lnTo>
                  <a:lnTo>
                    <a:pt x="3375729" y="2637058"/>
                  </a:lnTo>
                  <a:lnTo>
                    <a:pt x="3311480" y="2635354"/>
                  </a:lnTo>
                  <a:lnTo>
                    <a:pt x="3243783" y="2633573"/>
                  </a:lnTo>
                  <a:lnTo>
                    <a:pt x="3173818" y="2631744"/>
                  </a:lnTo>
                  <a:lnTo>
                    <a:pt x="3102768" y="2629898"/>
                  </a:lnTo>
                  <a:lnTo>
                    <a:pt x="3031813" y="2628063"/>
                  </a:lnTo>
                  <a:lnTo>
                    <a:pt x="2962135" y="2626271"/>
                  </a:lnTo>
                  <a:lnTo>
                    <a:pt x="2894914" y="2624549"/>
                  </a:lnTo>
                  <a:lnTo>
                    <a:pt x="2831331" y="2622929"/>
                  </a:lnTo>
                  <a:lnTo>
                    <a:pt x="2772568" y="2621440"/>
                  </a:lnTo>
                  <a:lnTo>
                    <a:pt x="2719806" y="2620111"/>
                  </a:lnTo>
                  <a:lnTo>
                    <a:pt x="2674226" y="2618973"/>
                  </a:lnTo>
                  <a:lnTo>
                    <a:pt x="2609335" y="2617388"/>
                  </a:lnTo>
                  <a:lnTo>
                    <a:pt x="2592387" y="2617000"/>
                  </a:lnTo>
                  <a:lnTo>
                    <a:pt x="2543531" y="2615847"/>
                  </a:lnTo>
                  <a:lnTo>
                    <a:pt x="2494675" y="2614485"/>
                  </a:lnTo>
                  <a:lnTo>
                    <a:pt x="2445819" y="2612949"/>
                  </a:lnTo>
                  <a:lnTo>
                    <a:pt x="2396963" y="2611274"/>
                  </a:lnTo>
                  <a:lnTo>
                    <a:pt x="2348109" y="2609495"/>
                  </a:lnTo>
                  <a:lnTo>
                    <a:pt x="2299256" y="2607649"/>
                  </a:lnTo>
                  <a:lnTo>
                    <a:pt x="2250405" y="2605769"/>
                  </a:lnTo>
                  <a:lnTo>
                    <a:pt x="2201557" y="2603892"/>
                  </a:lnTo>
                  <a:lnTo>
                    <a:pt x="2152711" y="2602053"/>
                  </a:lnTo>
                  <a:lnTo>
                    <a:pt x="2103869" y="2600286"/>
                  </a:lnTo>
                  <a:lnTo>
                    <a:pt x="2053944" y="2598533"/>
                  </a:lnTo>
                  <a:lnTo>
                    <a:pt x="2004019" y="2596790"/>
                  </a:lnTo>
                  <a:lnTo>
                    <a:pt x="1954092" y="2595059"/>
                  </a:lnTo>
                  <a:lnTo>
                    <a:pt x="1904165" y="2593340"/>
                  </a:lnTo>
                  <a:lnTo>
                    <a:pt x="1854237" y="2591638"/>
                  </a:lnTo>
                  <a:lnTo>
                    <a:pt x="1804308" y="2589952"/>
                  </a:lnTo>
                  <a:lnTo>
                    <a:pt x="1754378" y="2588284"/>
                  </a:lnTo>
                  <a:lnTo>
                    <a:pt x="1704447" y="2586638"/>
                  </a:lnTo>
                  <a:lnTo>
                    <a:pt x="1654516" y="2585013"/>
                  </a:lnTo>
                  <a:lnTo>
                    <a:pt x="1604583" y="2583412"/>
                  </a:lnTo>
                  <a:lnTo>
                    <a:pt x="1554650" y="2581837"/>
                  </a:lnTo>
                  <a:lnTo>
                    <a:pt x="1504716" y="2580290"/>
                  </a:lnTo>
                  <a:lnTo>
                    <a:pt x="1454780" y="2578772"/>
                  </a:lnTo>
                  <a:lnTo>
                    <a:pt x="1404845" y="2577284"/>
                  </a:lnTo>
                  <a:lnTo>
                    <a:pt x="1354908" y="2575829"/>
                  </a:lnTo>
                  <a:lnTo>
                    <a:pt x="1304970" y="2574409"/>
                  </a:lnTo>
                  <a:lnTo>
                    <a:pt x="1255032" y="2573025"/>
                  </a:lnTo>
                  <a:lnTo>
                    <a:pt x="1205092" y="2571679"/>
                  </a:lnTo>
                  <a:lnTo>
                    <a:pt x="1155152" y="2570372"/>
                  </a:lnTo>
                  <a:lnTo>
                    <a:pt x="1105211" y="2569107"/>
                  </a:lnTo>
                  <a:lnTo>
                    <a:pt x="1055269" y="2567885"/>
                  </a:lnTo>
                  <a:lnTo>
                    <a:pt x="1005326" y="2566708"/>
                  </a:lnTo>
                  <a:lnTo>
                    <a:pt x="955382" y="2565577"/>
                  </a:lnTo>
                  <a:lnTo>
                    <a:pt x="905409" y="2564698"/>
                  </a:lnTo>
                  <a:lnTo>
                    <a:pt x="855256" y="2563563"/>
                  </a:lnTo>
                  <a:lnTo>
                    <a:pt x="805164" y="2561107"/>
                  </a:lnTo>
                  <a:lnTo>
                    <a:pt x="755374" y="2556268"/>
                  </a:lnTo>
                  <a:lnTo>
                    <a:pt x="706129" y="2547982"/>
                  </a:lnTo>
                  <a:lnTo>
                    <a:pt x="657669" y="2535186"/>
                  </a:lnTo>
                  <a:lnTo>
                    <a:pt x="611606" y="2518409"/>
                  </a:lnTo>
                  <a:lnTo>
                    <a:pt x="567450" y="2497818"/>
                  </a:lnTo>
                  <a:lnTo>
                    <a:pt x="525629" y="2472905"/>
                  </a:lnTo>
                  <a:lnTo>
                    <a:pt x="486575" y="2443162"/>
                  </a:lnTo>
                  <a:lnTo>
                    <a:pt x="444671" y="2406501"/>
                  </a:lnTo>
                  <a:lnTo>
                    <a:pt x="404818" y="2369728"/>
                  </a:lnTo>
                  <a:lnTo>
                    <a:pt x="367214" y="2331940"/>
                  </a:lnTo>
                  <a:lnTo>
                    <a:pt x="332056" y="2292233"/>
                  </a:lnTo>
                  <a:lnTo>
                    <a:pt x="299544" y="2249704"/>
                  </a:lnTo>
                  <a:lnTo>
                    <a:pt x="269875" y="2203450"/>
                  </a:lnTo>
                  <a:lnTo>
                    <a:pt x="250480" y="2168525"/>
                  </a:lnTo>
                  <a:lnTo>
                    <a:pt x="232284" y="2132917"/>
                  </a:lnTo>
                  <a:lnTo>
                    <a:pt x="215005" y="2096847"/>
                  </a:lnTo>
                  <a:lnTo>
                    <a:pt x="198361" y="2060536"/>
                  </a:lnTo>
                  <a:lnTo>
                    <a:pt x="181848" y="2023543"/>
                  </a:lnTo>
                  <a:lnTo>
                    <a:pt x="165711" y="1986368"/>
                  </a:lnTo>
                  <a:lnTo>
                    <a:pt x="150042" y="1948994"/>
                  </a:lnTo>
                  <a:lnTo>
                    <a:pt x="134937" y="1911400"/>
                  </a:lnTo>
                  <a:lnTo>
                    <a:pt x="119059" y="1867036"/>
                  </a:lnTo>
                  <a:lnTo>
                    <a:pt x="105629" y="1822364"/>
                  </a:lnTo>
                  <a:lnTo>
                    <a:pt x="93889" y="1777201"/>
                  </a:lnTo>
                  <a:lnTo>
                    <a:pt x="83083" y="1731365"/>
                  </a:lnTo>
                  <a:lnTo>
                    <a:pt x="72327" y="1683140"/>
                  </a:lnTo>
                  <a:lnTo>
                    <a:pt x="62101" y="1634780"/>
                  </a:lnTo>
                  <a:lnTo>
                    <a:pt x="52406" y="1586313"/>
                  </a:lnTo>
                  <a:lnTo>
                    <a:pt x="43243" y="1537766"/>
                  </a:lnTo>
                  <a:lnTo>
                    <a:pt x="34976" y="1490014"/>
                  </a:lnTo>
                  <a:lnTo>
                    <a:pt x="30585" y="1440994"/>
                  </a:lnTo>
                  <a:lnTo>
                    <a:pt x="27387" y="1408810"/>
                  </a:lnTo>
                  <a:lnTo>
                    <a:pt x="21437" y="1340650"/>
                  </a:lnTo>
                  <a:lnTo>
                    <a:pt x="19421" y="1290893"/>
                  </a:lnTo>
                  <a:lnTo>
                    <a:pt x="18005" y="1247749"/>
                  </a:lnTo>
                  <a:lnTo>
                    <a:pt x="16391" y="1195302"/>
                  </a:lnTo>
                  <a:lnTo>
                    <a:pt x="14635" y="1135708"/>
                  </a:lnTo>
                  <a:lnTo>
                    <a:pt x="12791" y="1071122"/>
                  </a:lnTo>
                  <a:lnTo>
                    <a:pt x="10917" y="1003700"/>
                  </a:lnTo>
                  <a:lnTo>
                    <a:pt x="9066" y="935597"/>
                  </a:lnTo>
                  <a:lnTo>
                    <a:pt x="7296" y="868970"/>
                  </a:lnTo>
                  <a:lnTo>
                    <a:pt x="5661" y="805974"/>
                  </a:lnTo>
                  <a:lnTo>
                    <a:pt x="4217" y="748765"/>
                  </a:lnTo>
                  <a:lnTo>
                    <a:pt x="3020" y="699497"/>
                  </a:lnTo>
                  <a:lnTo>
                    <a:pt x="2125" y="660328"/>
                  </a:lnTo>
                  <a:lnTo>
                    <a:pt x="1222" y="602138"/>
                  </a:lnTo>
                  <a:lnTo>
                    <a:pt x="918" y="557113"/>
                  </a:lnTo>
                  <a:lnTo>
                    <a:pt x="669" y="501291"/>
                  </a:lnTo>
                  <a:lnTo>
                    <a:pt x="470" y="437622"/>
                  </a:lnTo>
                  <a:lnTo>
                    <a:pt x="315" y="369058"/>
                  </a:lnTo>
                  <a:lnTo>
                    <a:pt x="198" y="298551"/>
                  </a:lnTo>
                  <a:lnTo>
                    <a:pt x="114" y="229053"/>
                  </a:lnTo>
                  <a:lnTo>
                    <a:pt x="58" y="163515"/>
                  </a:lnTo>
                  <a:lnTo>
                    <a:pt x="24" y="104889"/>
                  </a:lnTo>
                  <a:lnTo>
                    <a:pt x="7" y="56126"/>
                  </a:lnTo>
                  <a:lnTo>
                    <a:pt x="0" y="20179"/>
                  </a:lnTo>
                  <a:lnTo>
                    <a:pt x="0" y="0"/>
                  </a:lnTo>
                </a:path>
              </a:pathLst>
            </a:custGeom>
            <a:noFill/>
            <a:ln cap="flat" cmpd="sng" w="15875">
              <a:solidFill>
                <a:srgbClr val="3192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9" name="Google Shape;239;p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880996" y="4728304"/>
              <a:ext cx="118236" cy="1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22875" y="4626704"/>
              <a:ext cx="118237" cy="1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68304" y="4510283"/>
              <a:ext cx="118249" cy="1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77804" y="4317662"/>
              <a:ext cx="118249" cy="1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05833" y="4180083"/>
              <a:ext cx="118249" cy="104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37"/>
            <p:cNvSpPr/>
            <p:nvPr/>
          </p:nvSpPr>
          <p:spPr>
            <a:xfrm>
              <a:off x="2393654" y="3915491"/>
              <a:ext cx="106044" cy="91439"/>
            </a:xfrm>
            <a:custGeom>
              <a:rect b="b" l="l" r="r" t="t"/>
              <a:pathLst>
                <a:path extrusionOk="0" h="91439" w="106044">
                  <a:moveTo>
                    <a:pt x="79159" y="0"/>
                  </a:moveTo>
                  <a:lnTo>
                    <a:pt x="26390" y="0"/>
                  </a:lnTo>
                  <a:lnTo>
                    <a:pt x="0" y="45707"/>
                  </a:lnTo>
                  <a:lnTo>
                    <a:pt x="26390" y="91401"/>
                  </a:lnTo>
                  <a:lnTo>
                    <a:pt x="79159" y="91401"/>
                  </a:lnTo>
                  <a:lnTo>
                    <a:pt x="105549" y="45707"/>
                  </a:lnTo>
                  <a:lnTo>
                    <a:pt x="79159" y="0"/>
                  </a:lnTo>
                  <a:close/>
                </a:path>
              </a:pathLst>
            </a:custGeom>
            <a:solidFill>
              <a:srgbClr val="C7E8E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37"/>
            <p:cNvSpPr/>
            <p:nvPr/>
          </p:nvSpPr>
          <p:spPr>
            <a:xfrm>
              <a:off x="2393654" y="3915491"/>
              <a:ext cx="106044" cy="91439"/>
            </a:xfrm>
            <a:custGeom>
              <a:rect b="b" l="l" r="r" t="t"/>
              <a:pathLst>
                <a:path extrusionOk="0" h="91439" w="106044">
                  <a:moveTo>
                    <a:pt x="26390" y="91401"/>
                  </a:moveTo>
                  <a:lnTo>
                    <a:pt x="0" y="45707"/>
                  </a:lnTo>
                  <a:lnTo>
                    <a:pt x="26390" y="0"/>
                  </a:lnTo>
                  <a:lnTo>
                    <a:pt x="79159" y="0"/>
                  </a:lnTo>
                  <a:lnTo>
                    <a:pt x="105549" y="45707"/>
                  </a:lnTo>
                  <a:lnTo>
                    <a:pt x="79159" y="91401"/>
                  </a:lnTo>
                  <a:lnTo>
                    <a:pt x="26390" y="91401"/>
                  </a:lnTo>
                  <a:close/>
                </a:path>
              </a:pathLst>
            </a:custGeom>
            <a:noFill/>
            <a:ln cap="flat" cmpd="sng" w="12700">
              <a:solidFill>
                <a:srgbClr val="3192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6" name="Google Shape;246;p3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311104" y="3523912"/>
              <a:ext cx="118249" cy="1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273004" y="2071870"/>
              <a:ext cx="118249" cy="1041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7"/>
          <p:cNvSpPr txBox="1"/>
          <p:nvPr/>
        </p:nvSpPr>
        <p:spPr>
          <a:xfrm>
            <a:off x="2528646" y="1510244"/>
            <a:ext cx="228600" cy="19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100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90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70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60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50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40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2601611" y="3552348"/>
            <a:ext cx="1560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0" name="Google Shape;250;p37"/>
          <p:cNvSpPr txBox="1"/>
          <p:nvPr/>
        </p:nvSpPr>
        <p:spPr>
          <a:xfrm>
            <a:off x="3090339" y="4169223"/>
            <a:ext cx="226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1 2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1" name="Google Shape;251;p37"/>
          <p:cNvSpPr txBox="1"/>
          <p:nvPr/>
        </p:nvSpPr>
        <p:spPr>
          <a:xfrm>
            <a:off x="3644805" y="4169223"/>
            <a:ext cx="828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2" name="Google Shape;252;p37"/>
          <p:cNvSpPr txBox="1"/>
          <p:nvPr/>
        </p:nvSpPr>
        <p:spPr>
          <a:xfrm>
            <a:off x="6285198" y="4169223"/>
            <a:ext cx="1560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31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3" name="Google Shape;253;p37"/>
          <p:cNvSpPr txBox="1"/>
          <p:nvPr/>
        </p:nvSpPr>
        <p:spPr>
          <a:xfrm rot="-5400000">
            <a:off x="1384677" y="2621550"/>
            <a:ext cx="21330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Percentage of words remembered</a:t>
            </a:r>
            <a:endParaRPr b="0" i="0" sz="1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4" name="Google Shape;254;p37"/>
          <p:cNvSpPr txBox="1"/>
          <p:nvPr/>
        </p:nvSpPr>
        <p:spPr>
          <a:xfrm>
            <a:off x="4163170" y="4389131"/>
            <a:ext cx="1225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Days since learning</a:t>
            </a:r>
            <a:endParaRPr b="0" i="0" sz="1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3399215" y="2810773"/>
            <a:ext cx="5637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225">
            <a:spAutoFit/>
          </a:bodyPr>
          <a:lstStyle/>
          <a:p>
            <a:pPr indent="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C8676"/>
                </a:solidFill>
                <a:latin typeface="Verdana"/>
                <a:ea typeface="Verdana"/>
                <a:cs typeface="Verdana"/>
                <a:sym typeface="Verdana"/>
              </a:rPr>
              <a:t>1 hour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C8676"/>
                </a:solidFill>
                <a:latin typeface="Verdana"/>
                <a:ea typeface="Verdana"/>
                <a:cs typeface="Verdana"/>
                <a:sym typeface="Verdana"/>
              </a:rPr>
              <a:t>9 hours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6" name="Google Shape;256;p37"/>
          <p:cNvSpPr txBox="1"/>
          <p:nvPr/>
        </p:nvSpPr>
        <p:spPr>
          <a:xfrm>
            <a:off x="3835514" y="2612414"/>
            <a:ext cx="6582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C8676"/>
                </a:solidFill>
                <a:latin typeface="Verdana"/>
                <a:ea typeface="Verdana"/>
                <a:cs typeface="Verdana"/>
                <a:sym typeface="Verdana"/>
              </a:rPr>
              <a:t>20 minutes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2990221" y="1672358"/>
            <a:ext cx="984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Immediate recall</a:t>
            </a:r>
            <a:endParaRPr b="0" i="0" sz="9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58" name="Google Shape;258;p37"/>
          <p:cNvGrpSpPr/>
          <p:nvPr/>
        </p:nvGrpSpPr>
        <p:grpSpPr>
          <a:xfrm>
            <a:off x="2983231" y="2670364"/>
            <a:ext cx="836797" cy="535811"/>
            <a:chOff x="2448747" y="3547242"/>
            <a:chExt cx="1111580" cy="711758"/>
          </a:xfrm>
        </p:grpSpPr>
        <p:sp>
          <p:nvSpPr>
            <p:cNvPr id="259" name="Google Shape;259;p37"/>
            <p:cNvSpPr/>
            <p:nvPr/>
          </p:nvSpPr>
          <p:spPr>
            <a:xfrm>
              <a:off x="2512247" y="3928242"/>
              <a:ext cx="107950" cy="64135"/>
            </a:xfrm>
            <a:custGeom>
              <a:rect b="b" l="l" r="r" t="t"/>
              <a:pathLst>
                <a:path extrusionOk="0" h="64135" w="107950">
                  <a:moveTo>
                    <a:pt x="107543" y="0"/>
                  </a:moveTo>
                  <a:lnTo>
                    <a:pt x="56057" y="18948"/>
                  </a:lnTo>
                  <a:lnTo>
                    <a:pt x="11171" y="30242"/>
                  </a:lnTo>
                  <a:lnTo>
                    <a:pt x="0" y="32029"/>
                  </a:lnTo>
                  <a:lnTo>
                    <a:pt x="11171" y="33816"/>
                  </a:lnTo>
                  <a:lnTo>
                    <a:pt x="56057" y="45123"/>
                  </a:lnTo>
                  <a:lnTo>
                    <a:pt x="107543" y="64071"/>
                  </a:lnTo>
                  <a:lnTo>
                    <a:pt x="1075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37"/>
            <p:cNvSpPr/>
            <p:nvPr/>
          </p:nvSpPr>
          <p:spPr>
            <a:xfrm>
              <a:off x="2598302" y="3960335"/>
              <a:ext cx="619125" cy="0"/>
            </a:xfrm>
            <a:custGeom>
              <a:rect b="b" l="l" r="r" t="t"/>
              <a:pathLst>
                <a:path extrusionOk="0" h="120000" w="619125">
                  <a:moveTo>
                    <a:pt x="61912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6F6F6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1" name="Google Shape;261;p3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512247" y="3928242"/>
              <a:ext cx="107543" cy="640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3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448747" y="3547242"/>
              <a:ext cx="107543" cy="640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37"/>
            <p:cNvSpPr/>
            <p:nvPr/>
          </p:nvSpPr>
          <p:spPr>
            <a:xfrm>
              <a:off x="2534802" y="3579348"/>
              <a:ext cx="1025525" cy="0"/>
            </a:xfrm>
            <a:custGeom>
              <a:rect b="b" l="l" r="r" t="t"/>
              <a:pathLst>
                <a:path extrusionOk="0" h="120000" w="1025525">
                  <a:moveTo>
                    <a:pt x="1025525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6F6F6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4" name="Google Shape;264;p3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448747" y="3547242"/>
              <a:ext cx="107543" cy="640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639247" y="4194942"/>
              <a:ext cx="324180" cy="640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6" name="Google Shape;266;p37"/>
          <p:cNvSpPr txBox="1"/>
          <p:nvPr/>
        </p:nvSpPr>
        <p:spPr>
          <a:xfrm>
            <a:off x="5552982" y="4710050"/>
            <a:ext cx="14355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Image by MIT OpenCourseWare.</a:t>
            </a:r>
            <a:endParaRPr b="0" i="0" sz="7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/>
        </p:nvSpPr>
        <p:spPr>
          <a:xfrm>
            <a:off x="1419550" y="675539"/>
            <a:ext cx="52017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word is in CAPITAL LETTERS,  Tap left hand</a:t>
            </a:r>
            <a:endParaRPr b="0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1419551" y="2036749"/>
            <a:ext cx="45042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75">
            <a:spAutoFit/>
          </a:bodyPr>
          <a:lstStyle/>
          <a:p>
            <a:pPr indent="0" lvl="0" marL="12700" marR="0" rtl="0" algn="l">
              <a:lnSpc>
                <a:spcPct val="110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word is in lowercase letters,  Tap right hand</a:t>
            </a:r>
            <a:endParaRPr b="0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9"/>
          <p:cNvSpPr txBox="1"/>
          <p:nvPr/>
        </p:nvSpPr>
        <p:spPr>
          <a:xfrm>
            <a:off x="4631849" y="179352"/>
            <a:ext cx="1393800" cy="48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75">
            <a:spAutoFit/>
          </a:bodyPr>
          <a:lstStyle/>
          <a:p>
            <a:pPr indent="0" lvl="0" marL="12700" marR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zebra  CAR  TABLE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9645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mosquito  MONKEY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3340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  DESK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75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termite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98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00" rtl="0" algn="l">
              <a:lnSpc>
                <a:spcPct val="9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wasp  camel  SOFA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9"/>
          <p:cNvSpPr txBox="1"/>
          <p:nvPr/>
        </p:nvSpPr>
        <p:spPr>
          <a:xfrm>
            <a:off x="3457330" y="140494"/>
            <a:ext cx="1388700" cy="48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marR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zebra  CAR  TABLE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9656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mosquito  MONKEY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20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  DESK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termite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00" rtl="0" algn="l">
              <a:lnSpc>
                <a:spcPct val="9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wasp  camel  SOFA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type="title"/>
          </p:nvPr>
        </p:nvSpPr>
        <p:spPr>
          <a:xfrm>
            <a:off x="1769462" y="1868104"/>
            <a:ext cx="5605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/>
              <a:t>WHAT WERE THE WORDS?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/>
        </p:nvSpPr>
        <p:spPr>
          <a:xfrm>
            <a:off x="1419550" y="675539"/>
            <a:ext cx="46845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If word names a LIVING thing,  Tap left hand</a:t>
            </a:r>
            <a:endParaRPr b="0" i="0" sz="27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9" name="Google Shape;289;p41"/>
          <p:cNvSpPr txBox="1"/>
          <p:nvPr/>
        </p:nvSpPr>
        <p:spPr>
          <a:xfrm>
            <a:off x="1419550" y="2036749"/>
            <a:ext cx="4914600" cy="8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75">
            <a:spAutoFit/>
          </a:bodyPr>
          <a:lstStyle/>
          <a:p>
            <a:pPr indent="0" lvl="0" marL="12700" marR="0" rtl="0" algn="l">
              <a:lnSpc>
                <a:spcPct val="110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If word names a non-living thing,  Tap right hand</a:t>
            </a:r>
            <a:endParaRPr b="0" i="0" sz="27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/>
          <p:nvPr/>
        </p:nvSpPr>
        <p:spPr>
          <a:xfrm>
            <a:off x="4459761" y="328496"/>
            <a:ext cx="1837200" cy="4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SPIDER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749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chair  FOX  TRUCK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104900" rtl="0" algn="l">
              <a:lnSpc>
                <a:spcPct val="119645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lamp  BEE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2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tiger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66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boat  RABBIT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850900" rtl="0" algn="l">
              <a:lnSpc>
                <a:spcPct val="119645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tractor  bed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2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BUTTERFLY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2"/>
          <p:cNvSpPr txBox="1"/>
          <p:nvPr/>
        </p:nvSpPr>
        <p:spPr>
          <a:xfrm>
            <a:off x="3307652" y="327278"/>
            <a:ext cx="1830300" cy="48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SPIDER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749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chair  FOX  TRUCK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104900" rtl="0" algn="l">
              <a:lnSpc>
                <a:spcPct val="119656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lamp  BEE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tiger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66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boat  RABBIT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850900" rtl="0" algn="l">
              <a:lnSpc>
                <a:spcPct val="119656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tractor  bed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BUTTERFLY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>
            <p:ph type="title"/>
          </p:nvPr>
        </p:nvSpPr>
        <p:spPr>
          <a:xfrm>
            <a:off x="1769462" y="1868104"/>
            <a:ext cx="5605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/>
              <a:t>WHAT WERE THE WORDS?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 txBox="1"/>
          <p:nvPr/>
        </p:nvSpPr>
        <p:spPr>
          <a:xfrm>
            <a:off x="4689689" y="239767"/>
            <a:ext cx="1383300" cy="3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19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SPIDER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58800" rtl="0" algn="l">
              <a:lnSpc>
                <a:spcPct val="119593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chair  FOX  TRUCK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825500" rtl="0" algn="l">
              <a:lnSpc>
                <a:spcPct val="119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lamp  BEE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495300" rtl="0" algn="l">
              <a:lnSpc>
                <a:spcPct val="119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tiger  boat  RABBIT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635000" rtl="0" algn="l">
              <a:lnSpc>
                <a:spcPct val="119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tractor  bed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8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BUTTERFLY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4"/>
          <p:cNvSpPr txBox="1"/>
          <p:nvPr/>
        </p:nvSpPr>
        <p:spPr>
          <a:xfrm>
            <a:off x="2849597" y="249758"/>
            <a:ext cx="1051500" cy="3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zebra  CAR  TABLE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9593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mosquito  MONKEY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39370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  DESK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66700" rtl="0" algn="l">
              <a:lnSpc>
                <a:spcPct val="119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termite  BUS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381000" rtl="0" algn="l">
              <a:lnSpc>
                <a:spcPct val="1195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wasp  camel  SOFA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4"/>
          <p:cNvSpPr txBox="1"/>
          <p:nvPr/>
        </p:nvSpPr>
        <p:spPr>
          <a:xfrm>
            <a:off x="344961" y="2397335"/>
            <a:ext cx="19923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Appearance  Shallow Encoding  </a:t>
            </a:r>
            <a:endParaRPr sz="1100"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Poor Memory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4"/>
          <p:cNvSpPr txBox="1"/>
          <p:nvPr/>
        </p:nvSpPr>
        <p:spPr>
          <a:xfrm>
            <a:off x="7111149" y="2397335"/>
            <a:ext cx="1688100" cy="9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19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9593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 Encoding  Good Memory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6073" y="611867"/>
            <a:ext cx="4467342" cy="30665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5"/>
          <p:cNvSpPr txBox="1"/>
          <p:nvPr/>
        </p:nvSpPr>
        <p:spPr>
          <a:xfrm>
            <a:off x="2665702" y="3930326"/>
            <a:ext cx="4290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09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Courtesy of Elsevier, Inc., </a:t>
            </a:r>
            <a:r>
              <a:rPr b="0" i="0" lang="en" sz="800" u="sng" cap="none" strike="noStrike">
                <a:solidFill>
                  <a:srgbClr val="FFAABF"/>
                </a:solidFill>
                <a:latin typeface="Verdana"/>
                <a:ea typeface="Verdana"/>
                <a:cs typeface="Verdana"/>
                <a:sym typeface="Verdan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http://www.sciencedirect.com</a:t>
            </a:r>
            <a:r>
              <a:rPr b="0" i="0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. Used with permission. Source:  Craik, F. I. M.</a:t>
            </a:r>
            <a:r>
              <a:rPr b="0" i="1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and R. S. Lockhart. "Levels of Processing: A Framework for Memory  Research." </a:t>
            </a:r>
            <a:r>
              <a:rPr b="0" i="1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Journal of Verbal Learning and Verbal Behavior </a:t>
            </a:r>
            <a:r>
              <a:rPr b="0" i="0" lang="en" sz="80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11, no. 6 (1972): 671-84.</a:t>
            </a:r>
            <a:endParaRPr b="0" i="0" sz="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>
            <p:ph type="title"/>
          </p:nvPr>
        </p:nvSpPr>
        <p:spPr>
          <a:xfrm>
            <a:off x="3848862" y="353747"/>
            <a:ext cx="14460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/>
              <a:t>SERVE</a:t>
            </a:r>
            <a:endParaRPr/>
          </a:p>
        </p:txBody>
      </p:sp>
      <p:sp>
        <p:nvSpPr>
          <p:cNvPr id="321" name="Google Shape;321;p46"/>
          <p:cNvSpPr txBox="1"/>
          <p:nvPr/>
        </p:nvSpPr>
        <p:spPr>
          <a:xfrm>
            <a:off x="1190101" y="1869481"/>
            <a:ext cx="8499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5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CAREER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DUST  PHYSICIAN  SKILLED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6"/>
          <p:cNvSpPr txBox="1"/>
          <p:nvPr/>
        </p:nvSpPr>
        <p:spPr>
          <a:xfrm>
            <a:off x="2165256" y="1878371"/>
            <a:ext cx="816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50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VACUUM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DESIGNED  HOME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3082984" y="1878505"/>
            <a:ext cx="774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50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WRITER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SCRUB  PLUMBER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6"/>
          <p:cNvSpPr txBox="1"/>
          <p:nvPr/>
        </p:nvSpPr>
        <p:spPr>
          <a:xfrm>
            <a:off x="2165263" y="2798984"/>
            <a:ext cx="17085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PURCHASE CREATIVE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6"/>
          <p:cNvSpPr txBox="1"/>
          <p:nvPr/>
        </p:nvSpPr>
        <p:spPr>
          <a:xfrm>
            <a:off x="4000784" y="1878505"/>
            <a:ext cx="10464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75">
            <a:spAutoFit/>
          </a:bodyPr>
          <a:lstStyle/>
          <a:p>
            <a:pPr indent="0" lvl="0" marL="12700" marR="0" rtl="0" algn="l">
              <a:lnSpc>
                <a:spcPct val="15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ELECTRICIAN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HOUSEWORK  ARTIST  BATHE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6"/>
          <p:cNvSpPr txBox="1"/>
          <p:nvPr/>
        </p:nvSpPr>
        <p:spPr>
          <a:xfrm>
            <a:off x="5153775" y="1869375"/>
            <a:ext cx="14460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25">
            <a:spAutoFit/>
          </a:bodyPr>
          <a:lstStyle/>
          <a:p>
            <a:pPr indent="0" lvl="0" marL="12700" marR="0" rtl="0" algn="l">
              <a:lnSpc>
                <a:spcPct val="15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TEACHER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CARPENTER  RESPONSIBILITIES  FOOD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6"/>
          <p:cNvSpPr txBox="1"/>
          <p:nvPr/>
        </p:nvSpPr>
        <p:spPr>
          <a:xfrm>
            <a:off x="6696896" y="1878371"/>
            <a:ext cx="12246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5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COOK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ENTERTAIN  CHILD CARE  PROFESSIONAL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6"/>
          <p:cNvSpPr txBox="1"/>
          <p:nvPr/>
        </p:nvSpPr>
        <p:spPr>
          <a:xfrm>
            <a:off x="1821088" y="1272682"/>
            <a:ext cx="945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EDUCATE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6"/>
          <p:cNvSpPr txBox="1"/>
          <p:nvPr/>
        </p:nvSpPr>
        <p:spPr>
          <a:xfrm>
            <a:off x="6237992" y="1330044"/>
            <a:ext cx="84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LAWYER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7"/>
          <p:cNvSpPr txBox="1"/>
          <p:nvPr>
            <p:ph type="title"/>
          </p:nvPr>
        </p:nvSpPr>
        <p:spPr>
          <a:xfrm>
            <a:off x="2609260" y="353747"/>
            <a:ext cx="39246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/>
              <a:t>RESPONSIBILITIES</a:t>
            </a:r>
            <a:endParaRPr/>
          </a:p>
        </p:txBody>
      </p:sp>
      <p:sp>
        <p:nvSpPr>
          <p:cNvPr id="335" name="Google Shape;335;p47"/>
          <p:cNvSpPr txBox="1"/>
          <p:nvPr/>
        </p:nvSpPr>
        <p:spPr>
          <a:xfrm>
            <a:off x="2509437" y="1812119"/>
            <a:ext cx="10449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5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SKILLED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PLUMBER  ELECTRICIAN  CARPENTER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7"/>
          <p:cNvSpPr txBox="1"/>
          <p:nvPr/>
        </p:nvSpPr>
        <p:spPr>
          <a:xfrm>
            <a:off x="3714023" y="1811887"/>
            <a:ext cx="8166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25">
            <a:spAutoFit/>
          </a:bodyPr>
          <a:lstStyle/>
          <a:p>
            <a:pPr indent="0" lvl="0" marL="12700" marR="0" rtl="0" algn="l">
              <a:lnSpc>
                <a:spcPct val="15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CREATIVE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WRITER  ARTIST  DESIGNER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7"/>
          <p:cNvSpPr txBox="1"/>
          <p:nvPr/>
        </p:nvSpPr>
        <p:spPr>
          <a:xfrm>
            <a:off x="4689204" y="1811887"/>
            <a:ext cx="1046400" cy="11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5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HOUSEWORK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VACUUM  DUST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SCRUB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7"/>
          <p:cNvSpPr txBox="1"/>
          <p:nvPr/>
        </p:nvSpPr>
        <p:spPr>
          <a:xfrm>
            <a:off x="5893796" y="1811887"/>
            <a:ext cx="9612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25">
            <a:spAutoFit/>
          </a:bodyPr>
          <a:lstStyle/>
          <a:p>
            <a:pPr indent="0" lvl="0" marL="12700" marR="0" rtl="0" algn="l">
              <a:lnSpc>
                <a:spcPct val="15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 CARE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BATHE  EDUCATE  ENTERTAIN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7"/>
          <p:cNvSpPr txBox="1"/>
          <p:nvPr/>
        </p:nvSpPr>
        <p:spPr>
          <a:xfrm>
            <a:off x="7041071" y="1821009"/>
            <a:ext cx="873900" cy="10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5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FOOD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PURCHASE  COOK  SERVE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7"/>
          <p:cNvSpPr txBox="1"/>
          <p:nvPr/>
        </p:nvSpPr>
        <p:spPr>
          <a:xfrm>
            <a:off x="1190101" y="1812020"/>
            <a:ext cx="12246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25">
            <a:spAutoFit/>
          </a:bodyPr>
          <a:lstStyle/>
          <a:p>
            <a:pPr indent="0" lvl="0" marL="12700" marR="0" rtl="0" algn="l">
              <a:lnSpc>
                <a:spcPct val="1504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PROFESSIONAL </a:t>
            </a: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LAWYER  PHYSICIAN  TEACHER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7"/>
          <p:cNvSpPr txBox="1"/>
          <p:nvPr/>
        </p:nvSpPr>
        <p:spPr>
          <a:xfrm>
            <a:off x="1821088" y="1272682"/>
            <a:ext cx="828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CAREER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47"/>
          <p:cNvSpPr txBox="1"/>
          <p:nvPr/>
        </p:nvSpPr>
        <p:spPr>
          <a:xfrm>
            <a:off x="6523626" y="1272682"/>
            <a:ext cx="594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7"/>
          <p:cNvSpPr txBox="1"/>
          <p:nvPr/>
        </p:nvSpPr>
        <p:spPr>
          <a:xfrm>
            <a:off x="1362188" y="3739267"/>
            <a:ext cx="63573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better after semantically organized display than after random display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8"/>
          <p:cNvSpPr txBox="1"/>
          <p:nvPr>
            <p:ph type="ctrTitle"/>
          </p:nvPr>
        </p:nvSpPr>
        <p:spPr>
          <a:xfrm>
            <a:off x="635999" y="559669"/>
            <a:ext cx="6250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WHY DO WE FORGET?</a:t>
            </a:r>
            <a:endParaRPr/>
          </a:p>
        </p:txBody>
      </p:sp>
      <p:sp>
        <p:nvSpPr>
          <p:cNvPr id="350" name="Google Shape;350;p48"/>
          <p:cNvSpPr txBox="1"/>
          <p:nvPr/>
        </p:nvSpPr>
        <p:spPr>
          <a:xfrm>
            <a:off x="870857" y="1643231"/>
            <a:ext cx="44868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20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passive forgetting?  or</a:t>
            </a:r>
            <a:endParaRPr b="0" i="0" sz="27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7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interference?</a:t>
            </a:r>
            <a:endParaRPr b="0" i="0" sz="27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9"/>
          <p:cNvSpPr txBox="1"/>
          <p:nvPr>
            <p:ph type="title"/>
          </p:nvPr>
        </p:nvSpPr>
        <p:spPr>
          <a:xfrm>
            <a:off x="277625" y="375023"/>
            <a:ext cx="78867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Interference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49"/>
          <p:cNvSpPr txBox="1"/>
          <p:nvPr>
            <p:ph idx="1" type="body"/>
          </p:nvPr>
        </p:nvSpPr>
        <p:spPr>
          <a:xfrm>
            <a:off x="628650" y="1369226"/>
            <a:ext cx="78867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/>
              <a:t>    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Proactive interference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i="0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Occurs when you cannot learn a new task because of an old task that had been learnt.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Retroactive interference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i="0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ccurs when you forget a previously learnt task due to the learning of a new task. 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0"/>
          <p:cNvSpPr txBox="1"/>
          <p:nvPr>
            <p:ph type="title"/>
          </p:nvPr>
        </p:nvSpPr>
        <p:spPr>
          <a:xfrm>
            <a:off x="870857" y="266984"/>
            <a:ext cx="49947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lang="en"/>
              <a:t>FLASHBULB MEMORIES</a:t>
            </a:r>
            <a:endParaRPr/>
          </a:p>
        </p:txBody>
      </p:sp>
      <p:sp>
        <p:nvSpPr>
          <p:cNvPr id="363" name="Google Shape;363;p50"/>
          <p:cNvSpPr txBox="1"/>
          <p:nvPr/>
        </p:nvSpPr>
        <p:spPr>
          <a:xfrm>
            <a:off x="870857" y="1151252"/>
            <a:ext cx="6360900" cy="25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5000">
            <a:spAutoFit/>
          </a:bodyPr>
          <a:lstStyle/>
          <a:p>
            <a:pPr indent="-254000" lvl="0" marL="266700" marR="304800" rtl="0" algn="l">
              <a:lnSpc>
                <a:spcPct val="798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Char char="•"/>
            </a:pPr>
            <a:r>
              <a:rPr b="1" i="0" lang="en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Emotion important in determining what we remember - surprise &amp; arousal</a:t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698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place</a:t>
            </a:r>
            <a:endParaRPr b="0" i="0" sz="15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698500" marR="2819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ongoing activity  source of news  own feelings  emotions in others  aftermath</a:t>
            </a:r>
            <a:endParaRPr b="0" i="0" sz="15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266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Studies that test right after and a year later:</a:t>
            </a:r>
            <a:endParaRPr b="0" i="0" sz="15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120650" lvl="1" marL="812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nstantia"/>
              <a:buChar char="-"/>
            </a:pPr>
            <a:r>
              <a:rPr b="1" i="1" lang="en" sz="1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better remembered, but susceptible to distortion</a:t>
            </a:r>
            <a:endParaRPr b="0" i="0" sz="15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120650" lvl="1" marL="812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nstantia"/>
              <a:buChar char="-"/>
            </a:pPr>
            <a:r>
              <a:rPr b="1" i="1" lang="en" sz="1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over-confident</a:t>
            </a:r>
            <a:endParaRPr b="0" i="0" sz="15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1"/>
          <p:cNvSpPr txBox="1"/>
          <p:nvPr>
            <p:ph idx="1" type="body"/>
          </p:nvPr>
        </p:nvSpPr>
        <p:spPr>
          <a:xfrm>
            <a:off x="974272" y="15978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What do you do to remember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better when studying? 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Improving Memory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5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889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an understanding of memory contribute to more effective study techniques?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research–based strategies include studying repeatedly, making material personally meaningful, activating retrieval cues, using mnemonic devices, minimizing interference, getting adequate sleep, and self-testing.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3"/>
          <p:cNvSpPr txBox="1"/>
          <p:nvPr>
            <p:ph type="title"/>
          </p:nvPr>
        </p:nvSpPr>
        <p:spPr>
          <a:xfrm>
            <a:off x="628650" y="273847"/>
            <a:ext cx="7886700" cy="499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b="1"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According to psychology, there are several ways to improve memory, including:</a:t>
            </a:r>
            <a:endParaRPr b="1" sz="3600"/>
          </a:p>
        </p:txBody>
      </p:sp>
      <p:sp>
        <p:nvSpPr>
          <p:cNvPr id="381" name="Google Shape;381;p53"/>
          <p:cNvSpPr txBox="1"/>
          <p:nvPr>
            <p:ph idx="1" type="body"/>
          </p:nvPr>
        </p:nvSpPr>
        <p:spPr>
          <a:xfrm>
            <a:off x="628650" y="1048025"/>
            <a:ext cx="8381400" cy="3968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47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818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b="1" lang="en" sz="36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Sleep: </a:t>
            </a:r>
            <a:r>
              <a:rPr lang="en" sz="36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Sleep helps the brain organize itself and move information from short-term to long-term memory. </a:t>
            </a:r>
            <a:br>
              <a:rPr lang="en" sz="36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6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81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b="1" lang="en" sz="36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Exercise:</a:t>
            </a:r>
            <a:r>
              <a:rPr lang="en" sz="36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Physical activity increases blood flow to the brain, which can improve memory. Exercise can also stimulate new brain cell growth and improve connections between them. </a:t>
            </a:r>
            <a:br>
              <a:rPr lang="en" sz="36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6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54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89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3410"/>
              <a:buFont typeface="Times New Roman"/>
              <a:buChar char="●"/>
            </a:pPr>
            <a:r>
              <a:rPr b="1" lang="en" sz="36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Elaborative rehearsal: </a:t>
            </a:r>
            <a:r>
              <a:rPr lang="en" sz="3654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technique helps move thoughts and ideas from short-term to long-term memory. </a:t>
            </a:r>
            <a:br>
              <a:rPr lang="en" sz="2317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4"/>
          <p:cNvSpPr txBox="1"/>
          <p:nvPr>
            <p:ph type="title"/>
          </p:nvPr>
        </p:nvSpPr>
        <p:spPr>
          <a:xfrm>
            <a:off x="628650" y="574900"/>
            <a:ext cx="7886700" cy="810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According to psychology, there are several ways to improve memory, including:</a:t>
            </a:r>
            <a:endParaRPr b="1" sz="344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387" name="Google Shape;387;p54"/>
          <p:cNvSpPr txBox="1"/>
          <p:nvPr>
            <p:ph idx="1" type="body"/>
          </p:nvPr>
        </p:nvSpPr>
        <p:spPr>
          <a:xfrm>
            <a:off x="442350" y="1385225"/>
            <a:ext cx="8259300" cy="3678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0288" lvl="0" marL="45720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74"/>
              <a:buFont typeface="Times New Roman"/>
              <a:buChar char="●"/>
            </a:pPr>
            <a:r>
              <a:rPr b="1" lang="en" sz="2073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Self-reference effect:</a:t>
            </a:r>
            <a:r>
              <a:rPr lang="en" sz="2073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Associating memory materials with yourself can improve memory recall. </a:t>
            </a:r>
            <a:endParaRPr sz="2073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028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4"/>
              <a:buFont typeface="Times New Roman"/>
              <a:buChar char="●"/>
            </a:pPr>
            <a:r>
              <a:rPr b="1" lang="en" sz="2073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Reduce interference:</a:t>
            </a:r>
            <a:r>
              <a:rPr lang="en" sz="2073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Study in a quiet place without distractions. </a:t>
            </a:r>
            <a:endParaRPr sz="2073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028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4"/>
              <a:buFont typeface="Times New Roman"/>
              <a:buChar char="●"/>
            </a:pPr>
            <a:r>
              <a:rPr b="1" lang="en" sz="2073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Brain-training apps:</a:t>
            </a:r>
            <a:r>
              <a:rPr lang="en" sz="2073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Some evidence suggests that brain-training apps can improve memory and attention span. </a:t>
            </a:r>
            <a:endParaRPr sz="2073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0288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4"/>
              <a:buFont typeface="Times New Roman"/>
              <a:buChar char="●"/>
            </a:pPr>
            <a:r>
              <a:rPr b="1" lang="en" sz="2073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Other ways to improve memory include: </a:t>
            </a:r>
            <a:r>
              <a:rPr lang="en" sz="2073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Staying mentally active, Spending time with others, Staying organized, Eating a healthy diet, and Managing chronic health problems</a:t>
            </a:r>
            <a:endParaRPr sz="2073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21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