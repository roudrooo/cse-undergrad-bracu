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Constantia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D3F735-15B8-44D0-A037-174851F446C5}">
  <a:tblStyle styleId="{45D3F735-15B8-44D0-A037-174851F446C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Constantia-bold.fntdata"/><Relationship Id="rId12" Type="http://schemas.openxmlformats.org/officeDocument/2006/relationships/slide" Target="slides/slide6.xml"/><Relationship Id="rId34" Type="http://schemas.openxmlformats.org/officeDocument/2006/relationships/font" Target="fonts/Constantia-regular.fntdata"/><Relationship Id="rId15" Type="http://schemas.openxmlformats.org/officeDocument/2006/relationships/slide" Target="slides/slide9.xml"/><Relationship Id="rId37" Type="http://schemas.openxmlformats.org/officeDocument/2006/relationships/font" Target="fonts/Constantia-boldItalic.fntdata"/><Relationship Id="rId14" Type="http://schemas.openxmlformats.org/officeDocument/2006/relationships/slide" Target="slides/slide8.xml"/><Relationship Id="rId36" Type="http://schemas.openxmlformats.org/officeDocument/2006/relationships/font" Target="fonts/Constantia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f57f22761_0_0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2f57f22761_0_0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g32f57f22761_0_0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2f57f22761_0_6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2f57f22761_0_6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32f57f22761_0_6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9c6936c7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9c6936c7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9c6936c7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9c6936c7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f57f22761_0_17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2f57f22761_0_17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g32f57f22761_0_17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f7e5c2689_0_0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2f7e5c2689_0_0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2f7e5c2689_0_0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f57f22761_0_22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2f57f22761_0_22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9c6936c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9c6936c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9c6936c7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9c6936c7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f57f2276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f57f2276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f57f2276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f57f2276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a2d9623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6a2d9623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2f57f22761_0_45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2f57f22761_0_45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2f57f22761_0_45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f57f22761_0_50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2f57f22761_0_50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f57f22761_0_55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2f57f22761_0_55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2f57f22761_0_55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f57f22761_0_63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2f57f22761_0_63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2f57f22761_0_63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f57f22761_0_68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2f57f22761_0_68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2f57f22761_0_68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f57f22761_0_74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2f57f22761_0_74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2f57f22761_0_74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2f57f22761_0_80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2f57f22761_0_80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a2d96238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6a2d96238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2f57f22761_0_96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2f57f22761_0_96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2f57f22761_0_96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a2d96238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a2d96238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f57f22761_0_110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2f57f22761_0_110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2f57f22761_0_110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f57f22761_0_130:notes"/>
          <p:cNvSpPr txBox="1"/>
          <p:nvPr>
            <p:ph idx="1" type="body"/>
          </p:nvPr>
        </p:nvSpPr>
        <p:spPr>
          <a:xfrm>
            <a:off x="701676" y="4416431"/>
            <a:ext cx="56070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1" name="Google Shape;221;g32f57f22761_0_130:notes"/>
          <p:cNvSpPr/>
          <p:nvPr>
            <p:ph idx="2" type="sldImg"/>
          </p:nvPr>
        </p:nvSpPr>
        <p:spPr>
          <a:xfrm>
            <a:off x="101828" y="697387"/>
            <a:ext cx="6806100" cy="348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2f57f22761_0_135:notes"/>
          <p:cNvSpPr txBox="1"/>
          <p:nvPr>
            <p:ph idx="1" type="body"/>
          </p:nvPr>
        </p:nvSpPr>
        <p:spPr>
          <a:xfrm>
            <a:off x="701676" y="4416431"/>
            <a:ext cx="56070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7" name="Google Shape;227;g32f57f22761_0_135:notes"/>
          <p:cNvSpPr/>
          <p:nvPr>
            <p:ph idx="2" type="sldImg"/>
          </p:nvPr>
        </p:nvSpPr>
        <p:spPr>
          <a:xfrm>
            <a:off x="101828" y="697387"/>
            <a:ext cx="6806100" cy="348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f57f22761_0_140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2f57f22761_0_140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32f57f22761_0_140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2f57f22761_0_146:notes"/>
          <p:cNvSpPr/>
          <p:nvPr>
            <p:ph idx="2" type="sldImg"/>
          </p:nvPr>
        </p:nvSpPr>
        <p:spPr>
          <a:xfrm>
            <a:off x="417009" y="1143186"/>
            <a:ext cx="60240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2f57f22761_0_146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2f57f22761_0_146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92918" y="374650"/>
            <a:ext cx="80796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07492" y="1508760"/>
            <a:ext cx="8065500" cy="28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Char char=" "/>
              <a:defRPr/>
            </a:lvl1pPr>
            <a:lvl2pPr indent="-317500" lvl="1" marL="9144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 "/>
              <a:defRPr/>
            </a:lvl2pPr>
            <a:lvl3pPr indent="-317500" lvl="2" marL="13716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 "/>
              <a:defRPr/>
            </a:lvl3pPr>
            <a:lvl4pPr indent="-317500" lvl="3" marL="18288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 "/>
              <a:defRPr/>
            </a:lvl4pPr>
            <a:lvl5pPr indent="-317500" lvl="4" marL="22860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 "/>
              <a:defRPr/>
            </a:lvl5pPr>
            <a:lvl6pPr indent="-317500" lvl="5" marL="27432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 "/>
              <a:defRPr/>
            </a:lvl6pPr>
            <a:lvl7pPr indent="-317500" lvl="6" marL="32004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 "/>
              <a:defRPr/>
            </a:lvl7pPr>
            <a:lvl8pPr indent="-317500" lvl="7" marL="36576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 "/>
              <a:defRPr/>
            </a:lvl8pPr>
            <a:lvl9pPr indent="-317500" lvl="8" marL="4114800" algn="l">
              <a:lnSpc>
                <a:spcPct val="85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Char char=" 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14350" y="4809335"/>
            <a:ext cx="3086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514350" y="4916023"/>
            <a:ext cx="3771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72945" y="4407309"/>
            <a:ext cx="21948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700"/>
              <a:buFont typeface="Calibri"/>
              <a:buNone/>
              <a:defRPr b="0" i="0" sz="7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700"/>
              <a:buFont typeface="Calibri"/>
              <a:buNone/>
              <a:defRPr b="0" i="0" sz="7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700"/>
              <a:buFont typeface="Calibri"/>
              <a:buNone/>
              <a:defRPr b="0" i="0" sz="7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700"/>
              <a:buFont typeface="Calibri"/>
              <a:buNone/>
              <a:defRPr b="0" i="0" sz="7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700"/>
              <a:buFont typeface="Calibri"/>
              <a:buNone/>
              <a:defRPr b="0" i="0" sz="7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700"/>
              <a:buFont typeface="Calibri"/>
              <a:buNone/>
              <a:defRPr b="0" i="0" sz="7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700"/>
              <a:buFont typeface="Calibri"/>
              <a:buNone/>
              <a:defRPr b="0" i="0" sz="7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700"/>
              <a:buFont typeface="Calibri"/>
              <a:buNone/>
              <a:defRPr b="0" i="0" sz="7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700"/>
              <a:buFont typeface="Calibri"/>
              <a:buNone/>
              <a:defRPr b="0" i="0" sz="7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057419" y="558435"/>
            <a:ext cx="70293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E701"/>
              </a:buClr>
              <a:buSzPts val="3300"/>
              <a:buFont typeface="Constantia"/>
              <a:buNone/>
              <a:defRPr b="0" i="0" sz="3300">
                <a:solidFill>
                  <a:srgbClr val="FFE70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880360"/>
            <a:ext cx="64008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1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  <a:defRPr sz="11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12.jp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en.wikipedia.org/wiki/Edwin_Smith_Papyrus" TargetMode="External"/><Relationship Id="rId4" Type="http://schemas.openxmlformats.org/officeDocument/2006/relationships/hyperlink" Target="https://en.wikipedia.org/wiki/Leipzig" TargetMode="External"/><Relationship Id="rId5" Type="http://schemas.openxmlformats.org/officeDocument/2006/relationships/hyperlink" Target="https://en.wikipedia.org/wiki/Gustav_Fechner" TargetMode="External"/><Relationship Id="rId6" Type="http://schemas.openxmlformats.org/officeDocument/2006/relationships/hyperlink" Target="https://en.wikipedia.org/wiki/Signal_Detection_Theory" TargetMode="External"/><Relationship Id="rId7" Type="http://schemas.openxmlformats.org/officeDocument/2006/relationships/hyperlink" Target="https://en.wikipedia.org/wiki/Wilhelm_Wundt" TargetMode="External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hyperlink" Target="https://en.wikipedia.org/wiki/Cognitive_science" TargetMode="External"/><Relationship Id="rId10" Type="http://schemas.openxmlformats.org/officeDocument/2006/relationships/hyperlink" Target="https://en.wikipedia.org/wiki/Operant_conditioning" TargetMode="External"/><Relationship Id="rId13" Type="http://schemas.openxmlformats.org/officeDocument/2006/relationships/hyperlink" Target="https://en.wikipedia.org/wiki/Linguistics" TargetMode="External"/><Relationship Id="rId12" Type="http://schemas.openxmlformats.org/officeDocument/2006/relationships/hyperlink" Target="https://en.wikipedia.org/wiki/Cognitive_psychology" TargetMode="Externa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n.wikipedia.org/wiki/Experimental_psychology" TargetMode="External"/><Relationship Id="rId4" Type="http://schemas.openxmlformats.org/officeDocument/2006/relationships/hyperlink" Target="https://en.wikipedia.org/wiki/G._Stanley_Hall" TargetMode="External"/><Relationship Id="rId9" Type="http://schemas.openxmlformats.org/officeDocument/2006/relationships/hyperlink" Target="https://en.wikipedia.org/wiki/B._F._Skinner" TargetMode="External"/><Relationship Id="rId15" Type="http://schemas.openxmlformats.org/officeDocument/2006/relationships/hyperlink" Target="https://en.wikipedia.org/wiki/Philosophy" TargetMode="External"/><Relationship Id="rId14" Type="http://schemas.openxmlformats.org/officeDocument/2006/relationships/hyperlink" Target="https://en.wikipedia.org/wiki/Computer_science" TargetMode="External"/><Relationship Id="rId17" Type="http://schemas.openxmlformats.org/officeDocument/2006/relationships/hyperlink" Target="https://en.wikipedia.org/wiki/Neurobiology" TargetMode="External"/><Relationship Id="rId16" Type="http://schemas.openxmlformats.org/officeDocument/2006/relationships/hyperlink" Target="https://en.wikipedia.org/wiki/Behaviorism" TargetMode="External"/><Relationship Id="rId5" Type="http://schemas.openxmlformats.org/officeDocument/2006/relationships/hyperlink" Target="https://en.wikipedia.org/wiki/Pedagogy" TargetMode="External"/><Relationship Id="rId6" Type="http://schemas.openxmlformats.org/officeDocument/2006/relationships/hyperlink" Target="https://en.wikipedia.org/wiki/John_Dewey" TargetMode="External"/><Relationship Id="rId7" Type="http://schemas.openxmlformats.org/officeDocument/2006/relationships/hyperlink" Target="https://en.wikipedia.org/wiki/Behaviorism" TargetMode="External"/><Relationship Id="rId8" Type="http://schemas.openxmlformats.org/officeDocument/2006/relationships/hyperlink" Target="https://en.wikipedia.org/wiki/John_B._Watson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jpg"/><Relationship Id="rId4" Type="http://schemas.openxmlformats.org/officeDocument/2006/relationships/image" Target="../media/image13.jpg"/><Relationship Id="rId5" Type="http://schemas.openxmlformats.org/officeDocument/2006/relationships/image" Target="../media/image3.jpg"/><Relationship Id="rId6" Type="http://schemas.openxmlformats.org/officeDocument/2006/relationships/image" Target="../media/image5.png"/><Relationship Id="rId7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hyperlink" Target="mailto:tasnuva.huque@bracu.ac.bd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643500" y="978675"/>
            <a:ext cx="7857000" cy="15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onstantia"/>
              <a:buNone/>
            </a:pPr>
            <a:r>
              <a:rPr lang="en" sz="5400">
                <a:latin typeface="Times New Roman"/>
                <a:ea typeface="Times New Roman"/>
                <a:cs typeface="Times New Roman"/>
                <a:sym typeface="Times New Roman"/>
              </a:rPr>
              <a:t>Introduction to Psychology </a:t>
            </a:r>
            <a:r>
              <a:rPr lang="en" sz="4488">
                <a:latin typeface="Times New Roman"/>
                <a:ea typeface="Times New Roman"/>
                <a:cs typeface="Times New Roman"/>
                <a:sym typeface="Times New Roman"/>
              </a:rPr>
              <a:t>(PSY 101)	</a:t>
            </a:r>
            <a:endParaRPr sz="4488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993325" y="3041375"/>
            <a:ext cx="6948300" cy="16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Monzia Mushtaq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Counselor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Counseling and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Wellness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Centre, BRAC University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697013" y="20068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b="1" lang="en" sz="3400">
                <a:latin typeface="Times New Roman"/>
                <a:ea typeface="Times New Roman"/>
                <a:cs typeface="Times New Roman"/>
                <a:sym typeface="Times New Roman"/>
              </a:rPr>
              <a:t>Introducing Ourselves</a:t>
            </a:r>
            <a:endParaRPr b="1" sz="3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ow to introduce yourself in a better way | The Daily Star" id="75" name="Google Shape;75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250" y="1329451"/>
            <a:ext cx="6517500" cy="367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92925" y="374650"/>
            <a:ext cx="8079600" cy="687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Class Norms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507492" y="1508760"/>
            <a:ext cx="8065500" cy="2824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Attendance, participation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Open-mindedness, respect for diverse perspectives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Encouragement to question and reflect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Confidentiality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492918" y="374650"/>
            <a:ext cx="8079600" cy="1243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Ask yourself….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507492" y="1508760"/>
            <a:ext cx="8065500" cy="2824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are you taking this course?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 you hope to learn?</a:t>
            </a:r>
            <a:b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you learn best? (visual, audio, group, solo?)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7002" y="374650"/>
            <a:ext cx="2431499" cy="219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709650" y="157754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What is this course going to be like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 (Course Outline)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500450" y="210050"/>
            <a:ext cx="8079600" cy="7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Introduction to Psychology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507500" y="1508748"/>
            <a:ext cx="8065500" cy="3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159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Brain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Perception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Emotion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Personality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Psychopathology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and group interactions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8025" y="1145622"/>
            <a:ext cx="2304776" cy="189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ges of Human Development: What It Is &amp; Why It's Important | Maryville  Online" id="103" name="Google Shape;1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5677" y="1576675"/>
            <a:ext cx="2367275" cy="1238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ality in the workplace: are you bringing it? - Work Life by Atlassian" id="104" name="Google Shape;1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26275" y="3248977"/>
            <a:ext cx="3330244" cy="1621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92918" y="374650"/>
            <a:ext cx="8079600" cy="12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507492" y="1508760"/>
            <a:ext cx="8065500" cy="28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635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What is Psychology? Know Psychology Skills, Career Path, Eligibility &amp;  Courses | Shiksha Online" id="111" name="Google Shape;1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321469"/>
            <a:ext cx="8572500" cy="4500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27425" y="729250"/>
            <a:ext cx="8065500" cy="3796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 of Psychology </a:t>
            </a:r>
            <a:endParaRPr b="1"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“The scientific study of behavior and mental processes.”</a:t>
            </a:r>
            <a:b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 down:</a:t>
            </a:r>
            <a:b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Scientific → systematic methods</a:t>
            </a:r>
            <a:b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 → observable actions</a:t>
            </a:r>
            <a:b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Mental processes → thoughts, feelings, motives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9025" y="1917585"/>
            <a:ext cx="2891174" cy="162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492918" y="374650"/>
            <a:ext cx="8079600" cy="1243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Think-Pair-Share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507492" y="1508760"/>
            <a:ext cx="8065500" cy="2824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“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psychology more of a science or an art? Why?”</a:t>
            </a:r>
            <a:b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 in pairs, then share with class.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411925" y="354300"/>
            <a:ext cx="8079600" cy="496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History of Psychology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617625" y="1073250"/>
            <a:ext cx="8309700" cy="3938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Many 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ancient cultures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throughout history have speculated on the nature of the mind, heart, soul, spirit, brain, etc. For instance, in Ancient Egypt, the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Edwin Smith Papyrus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contains an early description of the brain, and some speculations on its functions.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Psychology as a field of 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experimental study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began in 1854 in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Leipzig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Germany, when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Gustav Fechner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created the first theory of how judgments about sensory experiences are made and how to experiment on them. Fechner's theory, recognized today as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Signal Detection Theory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 1879,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Wilhelm Wundt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founded the first psychological laboratory dedicated exclusively to psychological research in Leipzig, Germany. Wundt was also the first person to refer to himself as a </a:t>
            </a:r>
            <a:r>
              <a:rPr i="1"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psychologist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472675" y="425775"/>
            <a:ext cx="8079600" cy="5163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History of Psychology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539250" y="1194750"/>
            <a:ext cx="8065500" cy="3807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Soon after the development of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experimental psychology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various kinds of 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applied psychology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appeared.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G. Stanley Hall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brought scientific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pedagogy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to the United States from Germany in the early 1880s.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John Dewey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's educational theory of the 1890s was another example.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ehaviorism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by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John B. Watson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which was popularized by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B. F. Skinner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through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operant conditioning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Behaviorism proposed emphasizing the study of overt behavior, due to the fact that it could be quantified and easily measured.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final decades of the 20th century saw the rise of 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cognitive science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an interdisciplinary approach to studying the human mind. Cognitive science again considers the mind as a subject for investigation, using the tools of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cognitive psychology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linguistics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computer science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philosophy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behaviorism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neurobiology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500450" y="282850"/>
            <a:ext cx="8079600" cy="6735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Major Perspectives in Psychology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507500" y="1093825"/>
            <a:ext cx="8065500" cy="3815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</a:t>
            </a:r>
            <a:r>
              <a:rPr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Brain and genetics</a:t>
            </a:r>
            <a:br>
              <a:rPr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</a:t>
            </a:r>
            <a:r>
              <a:rPr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Learning through environment</a:t>
            </a:r>
            <a:br>
              <a:rPr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Cognitive</a:t>
            </a:r>
            <a:r>
              <a:rPr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Mental processes</a:t>
            </a:r>
            <a:br>
              <a:rPr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Psychoanalytic</a:t>
            </a:r>
            <a:r>
              <a:rPr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Unconscious motives</a:t>
            </a:r>
            <a:br>
              <a:rPr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Humanistic</a:t>
            </a:r>
            <a:r>
              <a:rPr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Personal growth</a:t>
            </a:r>
            <a:br>
              <a:rPr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Socio-cultural</a:t>
            </a:r>
            <a:r>
              <a:rPr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Influence of society and culture</a:t>
            </a:r>
            <a:br>
              <a:rPr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Evolutionary</a:t>
            </a:r>
            <a:r>
              <a:rPr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Adaptation and survival</a:t>
            </a:r>
            <a:br>
              <a:rPr lang="en" sz="7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/>
        </p:nvSpPr>
        <p:spPr>
          <a:xfrm>
            <a:off x="830250" y="1619250"/>
            <a:ext cx="76446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0" lang="en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Let’s go through some interesting examples of perception, thinking..</a:t>
            </a:r>
            <a:endParaRPr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0341" y="345512"/>
            <a:ext cx="5716169" cy="458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/>
          <p:cNvSpPr txBox="1"/>
          <p:nvPr>
            <p:ph type="title"/>
          </p:nvPr>
        </p:nvSpPr>
        <p:spPr>
          <a:xfrm>
            <a:off x="3436988" y="1749937"/>
            <a:ext cx="2343900" cy="17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07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Times New Roman"/>
              <a:buNone/>
            </a:pPr>
            <a:r>
              <a:rPr lang="en" sz="3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WAY  NOT DO  ENTER</a:t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29"/>
          <p:cNvGrpSpPr/>
          <p:nvPr/>
        </p:nvGrpSpPr>
        <p:grpSpPr>
          <a:xfrm>
            <a:off x="1359706" y="391983"/>
            <a:ext cx="6424696" cy="4359615"/>
            <a:chOff x="292100" y="520700"/>
            <a:chExt cx="8534400" cy="5791200"/>
          </a:xfrm>
        </p:grpSpPr>
        <p:sp>
          <p:nvSpPr>
            <p:cNvPr id="160" name="Google Shape;160;p29"/>
            <p:cNvSpPr/>
            <p:nvPr/>
          </p:nvSpPr>
          <p:spPr>
            <a:xfrm>
              <a:off x="292100" y="520700"/>
              <a:ext cx="8534400" cy="5791200"/>
            </a:xfrm>
            <a:custGeom>
              <a:rect b="b" l="l" r="r" t="t"/>
              <a:pathLst>
                <a:path extrusionOk="0" h="5791200" w="8534400">
                  <a:moveTo>
                    <a:pt x="8534400" y="5791200"/>
                  </a:moveTo>
                  <a:lnTo>
                    <a:pt x="4267199" y="0"/>
                  </a:lnTo>
                  <a:lnTo>
                    <a:pt x="0" y="5791200"/>
                  </a:lnTo>
                  <a:lnTo>
                    <a:pt x="8534400" y="579120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61" name="Google Shape;161;p29"/>
            <p:cNvSpPr/>
            <p:nvPr/>
          </p:nvSpPr>
          <p:spPr>
            <a:xfrm>
              <a:off x="292100" y="520700"/>
              <a:ext cx="8534400" cy="5791200"/>
            </a:xfrm>
            <a:custGeom>
              <a:rect b="b" l="l" r="r" t="t"/>
              <a:pathLst>
                <a:path extrusionOk="0" h="5791200" w="8534400">
                  <a:moveTo>
                    <a:pt x="4267199" y="0"/>
                  </a:moveTo>
                  <a:lnTo>
                    <a:pt x="0" y="5791200"/>
                  </a:lnTo>
                  <a:lnTo>
                    <a:pt x="8534400" y="5791200"/>
                  </a:lnTo>
                  <a:lnTo>
                    <a:pt x="4267199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sp>
        <p:nvSpPr>
          <p:cNvPr id="162" name="Google Shape;162;p29"/>
          <p:cNvSpPr txBox="1"/>
          <p:nvPr>
            <p:ph type="title"/>
          </p:nvPr>
        </p:nvSpPr>
        <p:spPr>
          <a:xfrm>
            <a:off x="2976498" y="2119352"/>
            <a:ext cx="3248100" cy="19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550">
            <a:spAutoFit/>
          </a:bodyPr>
          <a:lstStyle/>
          <a:p>
            <a:pPr indent="0" lvl="0" marL="711200" marR="711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Times New Roman"/>
              <a:buNone/>
            </a:pPr>
            <a:r>
              <a:rPr lang="en" sz="4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PARIS  IN THE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Times New Roman"/>
              <a:buNone/>
            </a:pPr>
            <a:r>
              <a:rPr lang="en" sz="4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SPRING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067050" y="1577539"/>
            <a:ext cx="30099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Automaticity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866286"/>
            <a:ext cx="7134898" cy="276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1"/>
          <p:cNvSpPr txBox="1"/>
          <p:nvPr/>
        </p:nvSpPr>
        <p:spPr>
          <a:xfrm>
            <a:off x="3782436" y="484150"/>
            <a:ext cx="15669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Word Set #1</a:t>
            </a:r>
            <a:endParaRPr b="0" i="0" sz="21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0" y="1542572"/>
            <a:ext cx="6794745" cy="326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2"/>
          <p:cNvSpPr txBox="1"/>
          <p:nvPr>
            <p:ph type="title"/>
          </p:nvPr>
        </p:nvSpPr>
        <p:spPr>
          <a:xfrm>
            <a:off x="3731257" y="868850"/>
            <a:ext cx="15669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onstantia"/>
              <a:buNone/>
            </a:pPr>
            <a:r>
              <a:rPr b="1" lang="en" sz="2100"/>
              <a:t>Word Set #2</a:t>
            </a:r>
            <a:endParaRPr b="1" sz="2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628650" y="1791269"/>
            <a:ext cx="78867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8890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</a:pPr>
            <a:r>
              <a:rPr b="1" lang="en" sz="4100"/>
              <a:t> </a:t>
            </a:r>
            <a:r>
              <a:rPr b="1" lang="en" sz="4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Stroop Effect</a:t>
            </a:r>
            <a:endParaRPr b="1" sz="4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title"/>
          </p:nvPr>
        </p:nvSpPr>
        <p:spPr>
          <a:xfrm>
            <a:off x="492925" y="374650"/>
            <a:ext cx="8079600" cy="841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latin typeface="Times New Roman"/>
                <a:ea typeface="Times New Roman"/>
                <a:cs typeface="Times New Roman"/>
                <a:sym typeface="Times New Roman"/>
              </a:rPr>
              <a:t>Stroop Effect</a:t>
            </a: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34"/>
          <p:cNvSpPr txBox="1"/>
          <p:nvPr>
            <p:ph idx="1" type="body"/>
          </p:nvPr>
        </p:nvSpPr>
        <p:spPr>
          <a:xfrm>
            <a:off x="539250" y="1399074"/>
            <a:ext cx="8065500" cy="3209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demonstrates the interference that automatic processing can have on task performance. It reveals how </a:t>
            </a: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a word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interfere with naming the </a:t>
            </a: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of the word's font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showing the conflict between </a:t>
            </a:r>
            <a:r>
              <a:rPr b="1"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and controlled processes</a:t>
            </a:r>
            <a:r>
              <a:rPr lang="en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748680" y="3329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b="1" lang="en" sz="3500">
                <a:latin typeface="Times New Roman"/>
                <a:ea typeface="Times New Roman"/>
                <a:cs typeface="Times New Roman"/>
                <a:sym typeface="Times New Roman"/>
              </a:rPr>
              <a:t>Mental Health</a:t>
            </a:r>
            <a:endParaRPr b="1"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Mental Health Comorbidities" id="200" name="Google Shape;2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7057" y="1720930"/>
            <a:ext cx="2809945" cy="2291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492925" y="374650"/>
            <a:ext cx="8079600" cy="566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According to the </a:t>
            </a: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World Health Organization (WHO)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4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507500" y="1215925"/>
            <a:ext cx="8065500" cy="36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38100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"Mental health is a state of mental well-being that enables people to cope with the stresses of life, realize their abilities, learn well and work well, and contribute to their community."</a:t>
            </a:r>
            <a:br>
              <a:rPr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</a:t>
            </a:r>
            <a:r>
              <a:rPr i="1"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World Health Organization, 2022</a:t>
            </a:r>
            <a:endParaRPr i="1"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aspects of this definition: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Mental health is more than just the absence of mental disorders.</a:t>
            </a:r>
            <a:br>
              <a:rPr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involves positive functioning, such as emotional, psychological, and social well-being.</a:t>
            </a:r>
            <a:br>
              <a:rPr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varies across time and is influenced by individual, social, and structural factors.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type="title"/>
          </p:nvPr>
        </p:nvSpPr>
        <p:spPr>
          <a:xfrm>
            <a:off x="500450" y="222775"/>
            <a:ext cx="8079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"/>
              <a:buFont typeface="Calibri"/>
              <a:buNone/>
            </a:pPr>
            <a:r>
              <a:rPr lang="en" sz="2230">
                <a:latin typeface="Times New Roman"/>
                <a:ea typeface="Times New Roman"/>
                <a:cs typeface="Times New Roman"/>
                <a:sym typeface="Times New Roman"/>
              </a:rPr>
              <a:t>Objectives: The Scientific Study of human nature, mind, and behavior </a:t>
            </a: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37"/>
          <p:cNvSpPr txBox="1"/>
          <p:nvPr>
            <p:ph idx="1" type="body"/>
          </p:nvPr>
        </p:nvSpPr>
        <p:spPr>
          <a:xfrm>
            <a:off x="507500" y="1215000"/>
            <a:ext cx="8065500" cy="27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1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our minds make our worlds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see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hear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smell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taste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we feel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we think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remember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we know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7800" lvl="2" marL="863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we act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5,570 5 Senses Images, Stock Photos, 3D objects, &amp; Vectors | Shutterstock" id="214" name="Google Shape;214;p37"/>
          <p:cNvPicPr preferRelativeResize="0"/>
          <p:nvPr/>
        </p:nvPicPr>
        <p:blipFill rotWithShape="1">
          <a:blip r:embed="rId3">
            <a:alphaModFix/>
          </a:blip>
          <a:srcRect b="6720" l="0" r="0" t="23993"/>
          <a:stretch/>
        </p:blipFill>
        <p:spPr>
          <a:xfrm>
            <a:off x="914350" y="4058700"/>
            <a:ext cx="2315525" cy="100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ild Thinking Stock Illustrations – 11,519 Child Thinking Stock  Illustrations, Vectors &amp; Clipart - Dreamstime" id="215" name="Google Shape;21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56283" y="2951591"/>
            <a:ext cx="1523999" cy="1904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member Vectors, Clipart &amp; Illustrations for Free Download - illustAC" id="216" name="Google Shape;21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1453" y="3266499"/>
            <a:ext cx="2195614" cy="1644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mium Vector | Little kid do homework and find the answer" id="217" name="Google Shape;217;p37"/>
          <p:cNvPicPr preferRelativeResize="0"/>
          <p:nvPr/>
        </p:nvPicPr>
        <p:blipFill rotWithShape="1">
          <a:blip r:embed="rId6">
            <a:alphaModFix/>
          </a:blip>
          <a:srcRect b="15031" l="18068" r="16417" t="19613"/>
          <a:stretch/>
        </p:blipFill>
        <p:spPr>
          <a:xfrm>
            <a:off x="6966215" y="1171476"/>
            <a:ext cx="1684867" cy="16340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12,800+ Child Bad Stock Illustrations, Royalty-Free Vector Graphics &amp; Clip  Art - iStock | Child bad teeth, Child bad behaviour, Child bad behavior" id="218" name="Google Shape;218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0930" y="1366475"/>
            <a:ext cx="1778053" cy="1690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/>
          <p:nvPr>
            <p:ph type="title"/>
          </p:nvPr>
        </p:nvSpPr>
        <p:spPr>
          <a:xfrm>
            <a:off x="1602094" y="114486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5716"/>
              </a:buClr>
              <a:buSzPts val="2500"/>
              <a:buFont typeface="Georgia"/>
              <a:buNone/>
            </a:pPr>
            <a:r>
              <a:rPr b="1" lang="en" sz="2700">
                <a:solidFill>
                  <a:srgbClr val="CF57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Psychology’s Subfields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4" name="Google Shape;224;p38"/>
          <p:cNvGraphicFramePr/>
          <p:nvPr/>
        </p:nvGraphicFramePr>
        <p:xfrm>
          <a:off x="1257301" y="6311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{45D3F735-15B8-44D0-A037-174851F446C5}</a:tableStyleId>
              </a:tblPr>
              <a:tblGrid>
                <a:gridCol w="2322900"/>
                <a:gridCol w="4249325"/>
              </a:tblGrid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Georgia"/>
                        <a:buNone/>
                      </a:pPr>
                      <a:r>
                        <a:rPr b="1" i="0" lang="en" sz="1500" u="none" cap="none" strike="noStrike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Subfield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Georgia"/>
                        <a:buNone/>
                      </a:pPr>
                      <a:r>
                        <a:rPr b="1" i="0" lang="en" sz="1500" u="none" cap="none" strike="noStrike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1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Experimental Psychology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The </a:t>
                      </a:r>
                      <a:r>
                        <a:rPr b="0" i="0" lang="en" sz="15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 </a:t>
                      </a:r>
                      <a:r>
                        <a:rPr b="0" i="0" lang="en" sz="1500" u="none" cap="none" strike="noStrike">
                          <a:solidFill>
                            <a:srgbClr val="0070C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of sensing, perceiving, learning and thinking </a:t>
                      </a: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about the world.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1DA"/>
                    </a:solidFill>
                  </a:tcPr>
                </a:tc>
              </a:tr>
              <a:tr h="60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Developmental Psychology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Examines how people  </a:t>
                      </a:r>
                      <a:r>
                        <a:rPr b="0" i="0" lang="en" sz="1500" u="none" cap="none" strike="noStrike">
                          <a:solidFill>
                            <a:srgbClr val="0070C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grow and change </a:t>
                      </a: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from the moment of conception through death.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D"/>
                    </a:solidFill>
                  </a:tcPr>
                </a:tc>
              </a:tr>
              <a:tr h="753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Counseling Psychology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Helping process that enable people to develop </a:t>
                      </a:r>
                      <a:r>
                        <a:rPr b="0" i="0" lang="en" sz="1500" u="none" cap="none" strike="noStrike">
                          <a:solidFill>
                            <a:srgbClr val="0070C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self understanding and make positive changes </a:t>
                      </a: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 their lives.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1DA"/>
                    </a:solidFill>
                  </a:tcPr>
                </a:tc>
              </a:tr>
              <a:tr h="60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Clinical Psychology 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Deals with the </a:t>
                      </a:r>
                      <a:r>
                        <a:rPr b="0" i="0" lang="en" sz="1500" u="none" cap="none" strike="noStrike">
                          <a:solidFill>
                            <a:srgbClr val="0070C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study, diagnosis, and treatment of psychological disorder.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D"/>
                    </a:solidFill>
                  </a:tcPr>
                </a:tc>
              </a:tr>
              <a:tr h="54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Educational Psychology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Concerned with </a:t>
                      </a:r>
                      <a:r>
                        <a:rPr b="0" i="0" lang="en" sz="1500" u="none" cap="none" strike="noStrike">
                          <a:solidFill>
                            <a:srgbClr val="0070C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teaching and learning </a:t>
                      </a: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process.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1DA"/>
                    </a:solidFill>
                  </a:tcPr>
                </a:tc>
              </a:tr>
              <a:tr h="60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Environmental Psychology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Considers the </a:t>
                      </a:r>
                      <a:r>
                        <a:rPr b="0" i="0" lang="en" sz="1500" u="none" cap="none" strike="noStrike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relationships between </a:t>
                      </a:r>
                      <a:r>
                        <a:rPr b="0" i="0" lang="en" sz="1500" u="none" cap="none" strike="noStrike">
                          <a:solidFill>
                            <a:srgbClr val="0070C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people and their physical environment.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type="title"/>
          </p:nvPr>
        </p:nvSpPr>
        <p:spPr>
          <a:xfrm>
            <a:off x="1369219" y="17145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5716"/>
              </a:buClr>
              <a:buSzPts val="2500"/>
              <a:buFont typeface="Georgia"/>
              <a:buNone/>
            </a:pPr>
            <a:r>
              <a:rPr b="1" lang="en" sz="2700">
                <a:solidFill>
                  <a:srgbClr val="CF57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Psychology’s Subfields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0" name="Google Shape;230;p39"/>
          <p:cNvGraphicFramePr/>
          <p:nvPr/>
        </p:nvGraphicFramePr>
        <p:xfrm>
          <a:off x="1314450" y="8001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{45D3F735-15B8-44D0-A037-174851F446C5}</a:tableStyleId>
              </a:tblPr>
              <a:tblGrid>
                <a:gridCol w="1959775"/>
                <a:gridCol w="4612475"/>
              </a:tblGrid>
              <a:tr h="5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Georgia"/>
                        <a:buNone/>
                      </a:pPr>
                      <a:r>
                        <a:rPr b="1" i="0" lang="en" sz="1500" u="none" cap="none" strike="noStrike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Subfield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Georgia"/>
                        <a:buNone/>
                      </a:pPr>
                      <a:r>
                        <a:rPr b="1" i="0" lang="en" sz="1500" u="none" cap="none" strike="noStrike">
                          <a:solidFill>
                            <a:srgbClr val="FFFFFF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Description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Social Psychology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Study of how people’s </a:t>
                      </a:r>
                      <a:r>
                        <a:rPr b="0" i="0" lang="en" sz="1500" u="none" cap="none" strike="noStrike">
                          <a:solidFill>
                            <a:srgbClr val="0070C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thoughts, feelings, and actions are affected by others.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1DA"/>
                    </a:solidFill>
                  </a:tcPr>
                </a:tc>
              </a:tr>
              <a:tr h="5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Health Psychology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Explores the relationship between </a:t>
                      </a:r>
                      <a:r>
                        <a:rPr b="0" i="0" lang="en" sz="1500" u="none" cap="none" strike="noStrike">
                          <a:solidFill>
                            <a:srgbClr val="0070C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psychological factors and physical ailments or diseases.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D"/>
                    </a:solidFill>
                  </a:tcPr>
                </a:tc>
              </a:tr>
              <a:tr h="5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Cognitive Psychology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Focus on the study of </a:t>
                      </a:r>
                      <a:r>
                        <a:rPr b="0" i="0" lang="en" sz="1500" u="none" cap="none" strike="noStrike">
                          <a:solidFill>
                            <a:srgbClr val="0070C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higher mental process.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1DA"/>
                    </a:solidFill>
                  </a:tcPr>
                </a:tc>
              </a:tr>
              <a:tr h="78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School Psychology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Devoted to </a:t>
                      </a:r>
                      <a:r>
                        <a:rPr b="0" i="0" lang="en" sz="1500" u="none" cap="none" strike="noStrike">
                          <a:solidFill>
                            <a:srgbClr val="0070C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counseling children </a:t>
                      </a: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 elementary and secondary schools who have academic or emotional problems.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D"/>
                    </a:solidFill>
                  </a:tcPr>
                </a:tc>
              </a:tr>
              <a:tr h="548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Industrial/Organizational Psychology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1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Concerned with the </a:t>
                      </a:r>
                      <a:r>
                        <a:rPr b="0" i="0" lang="en" sz="1500" u="none" cap="none" strike="noStrike">
                          <a:solidFill>
                            <a:srgbClr val="0070C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psychology of workplace.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D1DA"/>
                    </a:solidFill>
                  </a:tcPr>
                </a:tc>
              </a:tr>
              <a:tr h="57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Sport  Psychology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Georgia"/>
                        <a:buNone/>
                      </a:pPr>
                      <a:r>
                        <a:rPr b="0" i="0" lang="en" sz="1500" u="none" cap="none" strike="noStrike">
                          <a:solidFill>
                            <a:srgbClr val="00000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Applies psychology to </a:t>
                      </a:r>
                      <a:r>
                        <a:rPr b="0" i="0" lang="en" sz="1500" u="none" cap="none" strike="noStrike">
                          <a:solidFill>
                            <a:srgbClr val="0070C0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athletic activity and exercise.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E9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>
            <p:ph type="title"/>
          </p:nvPr>
        </p:nvSpPr>
        <p:spPr>
          <a:xfrm>
            <a:off x="1848678" y="407505"/>
            <a:ext cx="66675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Contacting me!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40"/>
          <p:cNvSpPr txBox="1"/>
          <p:nvPr>
            <p:ph idx="1" type="body"/>
          </p:nvPr>
        </p:nvSpPr>
        <p:spPr>
          <a:xfrm>
            <a:off x="1630017" y="1967947"/>
            <a:ext cx="5460900" cy="28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Email: </a:t>
            </a:r>
            <a:r>
              <a:rPr lang="en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monzia@bracu.ac.bd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Contact: +8801784895561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1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type="title"/>
          </p:nvPr>
        </p:nvSpPr>
        <p:spPr>
          <a:xfrm>
            <a:off x="3062250" y="1577550"/>
            <a:ext cx="2476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onstantia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