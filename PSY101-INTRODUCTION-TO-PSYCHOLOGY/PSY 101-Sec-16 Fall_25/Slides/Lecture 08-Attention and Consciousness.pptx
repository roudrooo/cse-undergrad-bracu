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Constantia"/>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onstantia-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onstantia-italic.fntdata"/><Relationship Id="rId10" Type="http://schemas.openxmlformats.org/officeDocument/2006/relationships/slide" Target="slides/slide5.xml"/><Relationship Id="rId32" Type="http://schemas.openxmlformats.org/officeDocument/2006/relationships/font" Target="fonts/Constantia-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Constantia-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afeb1a27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g34afeb1a27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I want to convince you that in addition to slips of attention that can occur as you get</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older, also how you attend to the world around you is weirder than you think. In a</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broad sense, I hope to convince you that it's happening all the time. Right now, as</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you go back to your room, as you walk to the next class, or your room. How you</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attend to what's around you in the world is weirder than you think.</a:t>
            </a:r>
            <a:endParaRPr/>
          </a:p>
          <a:p>
            <a:pPr indent="0" lvl="0" marL="0" rtl="0" algn="l">
              <a:spcBef>
                <a:spcPts val="0"/>
              </a:spcBef>
              <a:spcAft>
                <a:spcPts val="0"/>
              </a:spcAft>
              <a:buNone/>
            </a:pPr>
            <a:r>
              <a:t/>
            </a:r>
            <a:endParaRPr/>
          </a:p>
        </p:txBody>
      </p:sp>
      <p:sp>
        <p:nvSpPr>
          <p:cNvPr id="59" name="Google Shape;59;g34afeb1a27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afeb1a27c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4afeb1a27c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So what is attention? What do we mean by attending to things? So William James</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was a psychologist at Harvard who, in many ways, articulated concepts in</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psychology that, till this day, turned out to be beautiful ways to talk about them in an</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everyday sense.</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"Everybody knows what attention is. It's the taking possession by the mind in clear</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and vivid form of one out of what seems like several simultaneous objects or trains</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of thought. It applies withdrawal of some things in order to deal with others."</a:t>
            </a:r>
            <a:endParaRPr/>
          </a:p>
          <a:p>
            <a:pPr indent="0" lvl="0" marL="0" rtl="0" algn="l">
              <a:spcBef>
                <a:spcPts val="0"/>
              </a:spcBef>
              <a:spcAft>
                <a:spcPts val="0"/>
              </a:spcAft>
              <a:buNone/>
            </a:pPr>
            <a:r>
              <a:t/>
            </a:r>
            <a:endParaRPr/>
          </a:p>
        </p:txBody>
      </p:sp>
      <p:sp>
        <p:nvSpPr>
          <p:cNvPr id="66" name="Google Shape;66;g34afeb1a27c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afeb1a27c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g34afeb1a27c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So a big idea there is we can pay attention to some things and there's a lot of things</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around us. And so we have to pick where we focus our attention. A little bit like if</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you have a budget. If you have some money, what do you spend your money on,</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and what do not spend your money 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3" name="Google Shape;73;g34afeb1a27c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afeb1a27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afeb1a27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afeb1a27c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4afeb1a27c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Attention is very limited. We can only process one thing at a time. And because of</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that, we miss a lot around us all the time.</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There are unconscious processes that pick up information. So sometimes things</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that we don't notice do influence us.</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And attention can be viewed as kind of a dialogue between two things. Between</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things in the world that capture your attention. If somebody throws a ball at you,</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something dramatic happens-- you hear a scary sound that captures your attention-</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 we talk about that as "bottom-up" processing. It impinges on you. It forces you to</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attend to it. Because it's danger, it's moving, it's unusual.</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And then, "top-down" things. What's your goal? What are you paying attention to?</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What do you care about? What are you up to? People call that top-down</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processing. So things that the environment drives into your attention because</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they're so dramatic, bottom-up. Things that you're looking for, thinking about, you</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know are useful for your purposes, top-down.</a:t>
            </a:r>
            <a:endParaRPr/>
          </a:p>
          <a:p>
            <a:pPr indent="0" lvl="0" marL="0" rtl="0" algn="l">
              <a:spcBef>
                <a:spcPts val="0"/>
              </a:spcBef>
              <a:spcAft>
                <a:spcPts val="0"/>
              </a:spcAft>
              <a:buNone/>
            </a:pPr>
            <a:r>
              <a:t/>
            </a:r>
            <a:endParaRPr/>
          </a:p>
        </p:txBody>
      </p:sp>
      <p:sp>
        <p:nvSpPr>
          <p:cNvPr id="85" name="Google Shape;85;g34afeb1a27c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afeb1a27c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g34afeb1a27c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HERE ASK THE CLASS TO TRY TO DRAW FROM MEMORY WHAT IS ON A 10 TK NOTE. DESPITE REPEATED EXPOSURE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NOBODY WILL REALLY BE ABLE TO DO THIS. BECAUSE THE HAVE NEVER ATTENDED TO THE DETAILS.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we don't attend to something very specifically, we can see it a</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tremendous number of times and it leaves no impression on our mind and no</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memory of it. Now, why is that in an everyday sense? We don't know on a deep</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3</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science sense. But what do you think the point of it is?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BECAUSE IT’S NOT IMPORTANT. So what you attend to, what you decide is important,</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makes incredible difference.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92" name="Google Shape;92;g34afeb1a27c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afeb1a27c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4afeb1a27c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FAMOUS EXPERIMENTS WHERE TO STUDY ATTENTION RESEARCHERS PLAY MESSAGES IN BOTH EARS AND ASK PARTICIPANTS TO ONLY PAY ATTENTION TO ONE EAR. THE EAS THEY DO NOT PAY ATTENTION TO GATHERS SOME INFORMATION BUT NOT EVERYTHING!!!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9" name="Google Shape;99;g34afeb1a27c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afeb1a27c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4afeb1a27c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Have you ever been talking with people, you're at a party. You're at some events, or</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something like that. And somebody mentions your name. Especially your first name,</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4</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but your name. Maybe your last name works, too. And then all of a sudden, you</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notice a conversation around you. It's almost hard to pay attention to the person</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you're talking to because the person over there has just said your name and you</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wonder what they're saying about you.</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Now, here's a really interesting paradox. How did you not notice that other</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conversation, which you didn't? That's like the shadowing task. I'm talking to one</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person, there's some hubbub over here. I don't know what they're talking about. All</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a sudden, they say my name and I notice what they're talking about. Well, how did</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that happen? I wasn't paying attention to it. I don't know anything about it. But my</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name pounced out in my mind and drew my attention to it. So it's kind of a paradox.</a:t>
            </a:r>
            <a:endParaRPr/>
          </a:p>
          <a:p>
            <a:pPr indent="0" lvl="0" marL="0" rtl="0" algn="l">
              <a:spcBef>
                <a:spcPts val="0"/>
              </a:spcBef>
              <a:spcAft>
                <a:spcPts val="0"/>
              </a:spcAft>
              <a:buNone/>
            </a:pPr>
            <a:r>
              <a:rPr lang="en" sz="1200">
                <a:solidFill>
                  <a:schemeClr val="dk1"/>
                </a:solidFill>
                <a:latin typeface="Calibri"/>
                <a:ea typeface="Calibri"/>
                <a:cs typeface="Calibri"/>
                <a:sym typeface="Calibri"/>
              </a:rPr>
              <a:t>I'm not paying attention, but somehow I pick up my name</a:t>
            </a:r>
            <a:endParaRPr/>
          </a:p>
          <a:p>
            <a:pPr indent="0" lvl="0" marL="0" rtl="0" algn="l">
              <a:spcBef>
                <a:spcPts val="0"/>
              </a:spcBef>
              <a:spcAft>
                <a:spcPts val="0"/>
              </a:spcAft>
              <a:buNone/>
            </a:pPr>
            <a:r>
              <a:t/>
            </a:r>
            <a:endParaRPr/>
          </a:p>
        </p:txBody>
      </p:sp>
      <p:sp>
        <p:nvSpPr>
          <p:cNvPr id="106" name="Google Shape;106;g34afeb1a27c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afeb1a27c_0_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4afeb1a27c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afeb1a27c_0_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4afeb1a27c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afeb1a27c_0_5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4afeb1a27c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afeb1a27c_0_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4afeb1a27c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afeb1a27c_0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4afeb1a27c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afeb1a27c_0_6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4afeb1a27c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afeb1a27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4afeb1a27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4afeb1a27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4afeb1a27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afeb1a27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4afeb1a27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4afeb1a27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4afeb1a27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afeb1a27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afeb1a27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afeb1a27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afeb1a27c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afeb1a27c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4afeb1a27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2afacae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72afacae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afeb1a27c_0_10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4afeb1a27c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afeb1a27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afeb1a27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4afeb1a27c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4afeb1a27c_0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4afeb1a27c_0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nstantia"/>
              <a:buNone/>
              <a:defRPr>
                <a:latin typeface="Constantia"/>
                <a:ea typeface="Constantia"/>
                <a:cs typeface="Constantia"/>
                <a:sym typeface="Constant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Constantia"/>
                <a:ea typeface="Constantia"/>
                <a:cs typeface="Constantia"/>
                <a:sym typeface="Constantia"/>
              </a:defRPr>
            </a:lvl1pPr>
            <a:lvl2pPr indent="-342900" lvl="1" marL="914400" algn="l">
              <a:lnSpc>
                <a:spcPct val="90000"/>
              </a:lnSpc>
              <a:spcBef>
                <a:spcPts val="1200"/>
              </a:spcBef>
              <a:spcAft>
                <a:spcPts val="0"/>
              </a:spcAft>
              <a:buClr>
                <a:schemeClr val="dk1"/>
              </a:buClr>
              <a:buSzPts val="1800"/>
              <a:buChar char="○"/>
              <a:defRPr>
                <a:latin typeface="Constantia"/>
                <a:ea typeface="Constantia"/>
                <a:cs typeface="Constantia"/>
                <a:sym typeface="Constantia"/>
              </a:defRPr>
            </a:lvl2pPr>
            <a:lvl3pPr indent="-323850" lvl="2" marL="1371600" algn="l">
              <a:lnSpc>
                <a:spcPct val="90000"/>
              </a:lnSpc>
              <a:spcBef>
                <a:spcPts val="1200"/>
              </a:spcBef>
              <a:spcAft>
                <a:spcPts val="0"/>
              </a:spcAft>
              <a:buClr>
                <a:schemeClr val="dk1"/>
              </a:buClr>
              <a:buSzPts val="1500"/>
              <a:buChar char="■"/>
              <a:defRPr>
                <a:latin typeface="Constantia"/>
                <a:ea typeface="Constantia"/>
                <a:cs typeface="Constantia"/>
                <a:sym typeface="Constantia"/>
              </a:defRPr>
            </a:lvl3pPr>
            <a:lvl4pPr indent="-317500" lvl="3" marL="1828800" algn="l">
              <a:lnSpc>
                <a:spcPct val="90000"/>
              </a:lnSpc>
              <a:spcBef>
                <a:spcPts val="1200"/>
              </a:spcBef>
              <a:spcAft>
                <a:spcPts val="0"/>
              </a:spcAft>
              <a:buClr>
                <a:schemeClr val="dk1"/>
              </a:buClr>
              <a:buSzPts val="1400"/>
              <a:buChar char="●"/>
              <a:defRPr>
                <a:latin typeface="Constantia"/>
                <a:ea typeface="Constantia"/>
                <a:cs typeface="Constantia"/>
                <a:sym typeface="Constantia"/>
              </a:defRPr>
            </a:lvl4pPr>
            <a:lvl5pPr indent="-317500" lvl="4" marL="2286000" algn="l">
              <a:lnSpc>
                <a:spcPct val="90000"/>
              </a:lnSpc>
              <a:spcBef>
                <a:spcPts val="1200"/>
              </a:spcBef>
              <a:spcAft>
                <a:spcPts val="0"/>
              </a:spcAft>
              <a:buClr>
                <a:schemeClr val="dk1"/>
              </a:buClr>
              <a:buSzPts val="1400"/>
              <a:buChar char="○"/>
              <a:defRPr>
                <a:latin typeface="Constantia"/>
                <a:ea typeface="Constantia"/>
                <a:cs typeface="Constantia"/>
                <a:sym typeface="Constantia"/>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www.youtube.com/watch?v=_bnnmWYI0l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www.youtube.com/watch?v=FxDSeZcedlA"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hyperlink" Target="https://my.clevelandclinic.org/health/diseases/12119-insomnia" TargetMode="External"/><Relationship Id="rId4" Type="http://schemas.openxmlformats.org/officeDocument/2006/relationships/hyperlink" Target="https://my.clevelandclinic.org/health/diseases/12115-circadian-rhythm-disorders" TargetMode="External"/><Relationship Id="rId5" Type="http://schemas.openxmlformats.org/officeDocument/2006/relationships/hyperlink" Target="https://my.clevelandclinic.org/health/diseases/14292-sleepwalk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1315981" y="1461356"/>
            <a:ext cx="6390600" cy="15396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86538"/>
              <a:buFont typeface="Constantia"/>
              <a:buNone/>
            </a:pPr>
            <a:r>
              <a:rPr lang="en">
                <a:latin typeface="Times New Roman"/>
                <a:ea typeface="Times New Roman"/>
                <a:cs typeface="Times New Roman"/>
                <a:sym typeface="Times New Roman"/>
              </a:rPr>
              <a:t>Attention and Consciousness</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62" name="Google Shape;62;p14"/>
          <p:cNvSpPr txBox="1"/>
          <p:nvPr>
            <p:ph idx="1" type="subTitle"/>
          </p:nvPr>
        </p:nvSpPr>
        <p:spPr>
          <a:xfrm>
            <a:off x="1484900" y="2871394"/>
            <a:ext cx="6390600" cy="594600"/>
          </a:xfrm>
          <a:prstGeom prst="rect">
            <a:avLst/>
          </a:prstGeom>
          <a:noFill/>
          <a:ln>
            <a:noFill/>
          </a:ln>
        </p:spPr>
        <p:txBody>
          <a:bodyPr anchorCtr="0" anchor="t" bIns="34275" lIns="68575" spcFirstLastPara="1" rIns="68575" wrap="square" tIns="34275">
            <a:normAutofit fontScale="70000" lnSpcReduction="20000"/>
          </a:bodyPr>
          <a:lstStyle/>
          <a:p>
            <a:pPr indent="0" lvl="0" marL="0" rtl="0" algn="ctr">
              <a:lnSpc>
                <a:spcPct val="90000"/>
              </a:lnSpc>
              <a:spcBef>
                <a:spcPts val="0"/>
              </a:spcBef>
              <a:spcAft>
                <a:spcPts val="0"/>
              </a:spcAft>
              <a:buClr>
                <a:schemeClr val="dk1"/>
              </a:buClr>
              <a:buSzPct val="64285"/>
              <a:buNone/>
            </a:pPr>
            <a:r>
              <a:rPr lang="en">
                <a:latin typeface="Constantia"/>
                <a:ea typeface="Constantia"/>
                <a:cs typeface="Constantia"/>
                <a:sym typeface="Constantia"/>
              </a:rPr>
              <a:t>PSY 101, BRAC University</a:t>
            </a:r>
            <a:endParaRPr/>
          </a:p>
          <a:p>
            <a:pPr indent="0" lvl="0" marL="0" rtl="0" algn="ctr">
              <a:lnSpc>
                <a:spcPct val="90000"/>
              </a:lnSpc>
              <a:spcBef>
                <a:spcPts val="800"/>
              </a:spcBef>
              <a:spcAft>
                <a:spcPts val="0"/>
              </a:spcAft>
              <a:buClr>
                <a:schemeClr val="dk1"/>
              </a:buClr>
              <a:buSzPct val="64285"/>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What is attention?</a:t>
            </a:r>
            <a:endParaRPr/>
          </a:p>
        </p:txBody>
      </p:sp>
      <p:sp>
        <p:nvSpPr>
          <p:cNvPr id="69" name="Google Shape;69;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None/>
            </a:pPr>
            <a:r>
              <a:t/>
            </a:r>
            <a:endParaRPr/>
          </a:p>
          <a:p>
            <a:pPr indent="0" lvl="0" marL="0" rtl="0" algn="l">
              <a:lnSpc>
                <a:spcPct val="90000"/>
              </a:lnSpc>
              <a:spcBef>
                <a:spcPts val="800"/>
              </a:spcBef>
              <a:spcAft>
                <a:spcPts val="0"/>
              </a:spcAft>
              <a:buClr>
                <a:schemeClr val="dk1"/>
              </a:buClr>
              <a:buSzPts val="2100"/>
              <a:buNone/>
            </a:pPr>
            <a:r>
              <a:rPr lang="en"/>
              <a:t>Everyone knows what attention is. It is the taking possession by the mind in clear and vivid form of one out of what seem several simultaneous objects or trains of thought…It implies withdrawal from some things in order to deal with others.”</a:t>
            </a:r>
            <a:endParaRPr/>
          </a:p>
          <a:p>
            <a:pPr indent="0" lvl="0" marL="0" rtl="0" algn="l">
              <a:lnSpc>
                <a:spcPct val="90000"/>
              </a:lnSpc>
              <a:spcBef>
                <a:spcPts val="800"/>
              </a:spcBef>
              <a:spcAft>
                <a:spcPts val="0"/>
              </a:spcAft>
              <a:buClr>
                <a:schemeClr val="dk1"/>
              </a:buClr>
              <a:buSzPts val="2100"/>
              <a:buNone/>
            </a:pPr>
            <a:br>
              <a:rPr lang="en"/>
            </a:br>
            <a:endParaRPr/>
          </a:p>
          <a:p>
            <a:pPr indent="0" lvl="0" marL="0" rtl="0" algn="l">
              <a:lnSpc>
                <a:spcPct val="90000"/>
              </a:lnSpc>
              <a:spcBef>
                <a:spcPts val="800"/>
              </a:spcBef>
              <a:spcAft>
                <a:spcPts val="0"/>
              </a:spcAft>
              <a:buClr>
                <a:schemeClr val="dk1"/>
              </a:buClr>
              <a:buSzPts val="2100"/>
              <a:buNone/>
            </a:pPr>
            <a:r>
              <a:rPr lang="en"/>
              <a:t>- William James, 1890</a:t>
            </a:r>
            <a:endParaRPr/>
          </a:p>
          <a:p>
            <a:pPr indent="-38100" lvl="0" marL="177800" rtl="0" algn="l">
              <a:lnSpc>
                <a:spcPct val="90000"/>
              </a:lnSpc>
              <a:spcBef>
                <a:spcPts val="800"/>
              </a:spcBef>
              <a:spcAft>
                <a:spcPts val="1200"/>
              </a:spcAft>
              <a:buClr>
                <a:schemeClr val="dk1"/>
              </a:buClr>
              <a:buSzPts val="21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Attention	</a:t>
            </a:r>
            <a:endParaRPr/>
          </a:p>
        </p:txBody>
      </p:sp>
      <p:sp>
        <p:nvSpPr>
          <p:cNvPr id="76" name="Google Shape;76;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Awareness/consciousness</a:t>
            </a:r>
            <a:endParaRPr/>
          </a:p>
          <a:p>
            <a:pPr indent="-171450" lvl="0" marL="177800" rtl="0" algn="l">
              <a:lnSpc>
                <a:spcPct val="90000"/>
              </a:lnSpc>
              <a:spcBef>
                <a:spcPts val="800"/>
              </a:spcBef>
              <a:spcAft>
                <a:spcPts val="0"/>
              </a:spcAft>
              <a:buClr>
                <a:schemeClr val="dk1"/>
              </a:buClr>
              <a:buSzPts val="2100"/>
              <a:buChar char="●"/>
            </a:pPr>
            <a:r>
              <a:rPr lang="en"/>
              <a:t>We often attend to more than we realize</a:t>
            </a:r>
            <a:endParaRPr/>
          </a:p>
          <a:p>
            <a:pPr indent="-171450" lvl="0" marL="177800" rtl="0" algn="l">
              <a:lnSpc>
                <a:spcPct val="90000"/>
              </a:lnSpc>
              <a:spcBef>
                <a:spcPts val="800"/>
              </a:spcBef>
              <a:spcAft>
                <a:spcPts val="1200"/>
              </a:spcAft>
              <a:buClr>
                <a:schemeClr val="dk1"/>
              </a:buClr>
              <a:buSzPts val="2100"/>
              <a:buChar char="●"/>
            </a:pPr>
            <a:r>
              <a:rPr lang="en"/>
              <a:t>We often attend to less than we realize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7"/>
          <p:cNvPicPr preferRelativeResize="0"/>
          <p:nvPr/>
        </p:nvPicPr>
        <p:blipFill>
          <a:blip r:embed="rId3">
            <a:alphaModFix/>
          </a:blip>
          <a:stretch>
            <a:fillRect/>
          </a:stretch>
        </p:blipFill>
        <p:spPr>
          <a:xfrm>
            <a:off x="2337375" y="147175"/>
            <a:ext cx="4213066"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Attention and Consciousness </a:t>
            </a:r>
            <a:endParaRPr/>
          </a:p>
        </p:txBody>
      </p:sp>
      <p:sp>
        <p:nvSpPr>
          <p:cNvPr id="88" name="Google Shape;88;p18"/>
          <p:cNvSpPr txBox="1"/>
          <p:nvPr>
            <p:ph idx="1" type="body"/>
          </p:nvPr>
        </p:nvSpPr>
        <p:spPr>
          <a:xfrm>
            <a:off x="628650" y="1135450"/>
            <a:ext cx="7886700" cy="3867900"/>
          </a:xfrm>
          <a:prstGeom prst="rect">
            <a:avLst/>
          </a:prstGeom>
          <a:noFill/>
          <a:ln>
            <a:noFill/>
          </a:ln>
        </p:spPr>
        <p:txBody>
          <a:bodyPr anchorCtr="0" anchor="t" bIns="34275" lIns="68575" spcFirstLastPara="1" rIns="68575" wrap="square" tIns="34275">
            <a:normAutofit fontScale="62500" lnSpcReduction="20000"/>
          </a:bodyPr>
          <a:lstStyle/>
          <a:p>
            <a:pPr indent="0" lvl="0" marL="0" rtl="0" algn="l">
              <a:lnSpc>
                <a:spcPct val="90000"/>
              </a:lnSpc>
              <a:spcBef>
                <a:spcPts val="0"/>
              </a:spcBef>
              <a:spcAft>
                <a:spcPts val="0"/>
              </a:spcAft>
              <a:buClr>
                <a:schemeClr val="dk1"/>
              </a:buClr>
              <a:buSzPct val="116666"/>
              <a:buNone/>
            </a:pPr>
            <a:br>
              <a:rPr lang="en"/>
            </a:br>
            <a:endParaRPr/>
          </a:p>
          <a:p>
            <a:pPr indent="-186681" lvl="0" marL="177800" rtl="0" algn="l">
              <a:lnSpc>
                <a:spcPct val="90000"/>
              </a:lnSpc>
              <a:spcBef>
                <a:spcPts val="800"/>
              </a:spcBef>
              <a:spcAft>
                <a:spcPts val="0"/>
              </a:spcAft>
              <a:buClr>
                <a:schemeClr val="dk1"/>
              </a:buClr>
              <a:buSzPct val="100000"/>
              <a:buChar char="●"/>
            </a:pPr>
            <a:r>
              <a:rPr lang="en" sz="3103"/>
              <a:t>Attention as gatekeeper to perception and knowledge</a:t>
            </a:r>
            <a:br>
              <a:rPr lang="en" sz="3103"/>
            </a:br>
            <a:endParaRPr sz="3103"/>
          </a:p>
          <a:p>
            <a:pPr indent="-186681" lvl="0" marL="177800" rtl="0" algn="l">
              <a:lnSpc>
                <a:spcPct val="90000"/>
              </a:lnSpc>
              <a:spcBef>
                <a:spcPts val="800"/>
              </a:spcBef>
              <a:spcAft>
                <a:spcPts val="0"/>
              </a:spcAft>
              <a:buClr>
                <a:schemeClr val="dk1"/>
              </a:buClr>
              <a:buSzPct val="100000"/>
              <a:buChar char="●"/>
            </a:pPr>
            <a:r>
              <a:rPr lang="en" sz="3103"/>
              <a:t>Attention is very limited -one thing at a time (we miss a lot)</a:t>
            </a:r>
            <a:endParaRPr sz="3103"/>
          </a:p>
          <a:p>
            <a:pPr indent="0" lvl="0" marL="0" rtl="0" algn="l">
              <a:lnSpc>
                <a:spcPct val="90000"/>
              </a:lnSpc>
              <a:spcBef>
                <a:spcPts val="800"/>
              </a:spcBef>
              <a:spcAft>
                <a:spcPts val="0"/>
              </a:spcAft>
              <a:buClr>
                <a:schemeClr val="dk1"/>
              </a:buClr>
              <a:buSzPct val="67659"/>
              <a:buNone/>
            </a:pPr>
            <a:r>
              <a:t/>
            </a:r>
            <a:endParaRPr sz="3103"/>
          </a:p>
          <a:p>
            <a:pPr indent="-186681" lvl="0" marL="177800" rtl="0" algn="l">
              <a:lnSpc>
                <a:spcPct val="90000"/>
              </a:lnSpc>
              <a:spcBef>
                <a:spcPts val="800"/>
              </a:spcBef>
              <a:spcAft>
                <a:spcPts val="0"/>
              </a:spcAft>
              <a:buClr>
                <a:schemeClr val="dk1"/>
              </a:buClr>
              <a:buSzPct val="100000"/>
              <a:buChar char="●"/>
            </a:pPr>
            <a:r>
              <a:rPr lang="en" sz="3103"/>
              <a:t> Unconscious/Unattended processes </a:t>
            </a:r>
            <a:endParaRPr sz="3103"/>
          </a:p>
          <a:p>
            <a:pPr indent="-199381" lvl="1" marL="520700" rtl="0" algn="l">
              <a:lnSpc>
                <a:spcPct val="90000"/>
              </a:lnSpc>
              <a:spcBef>
                <a:spcPts val="400"/>
              </a:spcBef>
              <a:spcAft>
                <a:spcPts val="0"/>
              </a:spcAft>
              <a:buClr>
                <a:schemeClr val="dk1"/>
              </a:buClr>
              <a:buSzPct val="100000"/>
              <a:buChar char="○"/>
            </a:pPr>
            <a:r>
              <a:rPr lang="en" sz="3103"/>
              <a:t>(do things we not notice influence us?)</a:t>
            </a:r>
            <a:endParaRPr sz="3103"/>
          </a:p>
          <a:p>
            <a:pPr indent="0" lvl="1" marL="342900" rtl="0" algn="l">
              <a:lnSpc>
                <a:spcPct val="90000"/>
              </a:lnSpc>
              <a:spcBef>
                <a:spcPts val="400"/>
              </a:spcBef>
              <a:spcAft>
                <a:spcPts val="0"/>
              </a:spcAft>
              <a:buClr>
                <a:schemeClr val="dk1"/>
              </a:buClr>
              <a:buSzPct val="57993"/>
              <a:buNone/>
            </a:pPr>
            <a:r>
              <a:t/>
            </a:r>
            <a:endParaRPr sz="3103"/>
          </a:p>
          <a:p>
            <a:pPr indent="-186681" lvl="0" marL="177800" rtl="0" algn="l">
              <a:lnSpc>
                <a:spcPct val="90000"/>
              </a:lnSpc>
              <a:spcBef>
                <a:spcPts val="800"/>
              </a:spcBef>
              <a:spcAft>
                <a:spcPts val="0"/>
              </a:spcAft>
              <a:buClr>
                <a:schemeClr val="dk1"/>
              </a:buClr>
              <a:buSzPct val="100000"/>
              <a:buChar char="●"/>
            </a:pPr>
            <a:r>
              <a:rPr lang="en" sz="3103"/>
              <a:t>Some external stimuli “capture” our attention -“bottom-up” processing</a:t>
            </a:r>
            <a:br>
              <a:rPr lang="en" sz="3103"/>
            </a:br>
            <a:endParaRPr sz="3103"/>
          </a:p>
          <a:p>
            <a:pPr indent="-186681" lvl="0" marL="177800" rtl="0" algn="l">
              <a:lnSpc>
                <a:spcPct val="90000"/>
              </a:lnSpc>
              <a:spcBef>
                <a:spcPts val="800"/>
              </a:spcBef>
              <a:spcAft>
                <a:spcPts val="0"/>
              </a:spcAft>
              <a:buClr>
                <a:schemeClr val="dk1"/>
              </a:buClr>
              <a:buSzPct val="100000"/>
              <a:buChar char="●"/>
            </a:pPr>
            <a:r>
              <a:rPr lang="en" sz="3103"/>
              <a:t>Some internal thoughts &amp; goals direct our attention -“top-down” processing</a:t>
            </a:r>
            <a:endParaRPr sz="3103"/>
          </a:p>
          <a:p>
            <a:pPr indent="-63500" lvl="0" marL="177800" rtl="0" algn="l">
              <a:lnSpc>
                <a:spcPct val="90000"/>
              </a:lnSpc>
              <a:spcBef>
                <a:spcPts val="800"/>
              </a:spcBef>
              <a:spcAft>
                <a:spcPts val="1200"/>
              </a:spcAft>
              <a:buClr>
                <a:schemeClr val="dk1"/>
              </a:buClr>
              <a:buSzPct val="116666"/>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A common object. </a:t>
            </a:r>
            <a:endParaRPr/>
          </a:p>
        </p:txBody>
      </p:sp>
      <p:sp>
        <p:nvSpPr>
          <p:cNvPr id="95" name="Google Shape;95;p1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1200"/>
              </a:spcAft>
              <a:buClr>
                <a:schemeClr val="dk1"/>
              </a:buClr>
              <a:buSzPts val="2100"/>
              <a:buChar char="●"/>
            </a:pPr>
            <a:r>
              <a:rPr lang="en"/>
              <a:t>10 tk note.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Shadowing and Attention (Cherry, 1953)</a:t>
            </a:r>
            <a:endParaRPr/>
          </a:p>
        </p:txBody>
      </p:sp>
      <p:sp>
        <p:nvSpPr>
          <p:cNvPr id="102" name="Google Shape;102;p2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70000" lnSpcReduction="20000"/>
          </a:bodyPr>
          <a:lstStyle/>
          <a:p>
            <a:pPr indent="-182245" lvl="0" marL="177800" rtl="0" algn="l">
              <a:lnSpc>
                <a:spcPct val="90000"/>
              </a:lnSpc>
              <a:spcBef>
                <a:spcPts val="0"/>
              </a:spcBef>
              <a:spcAft>
                <a:spcPts val="0"/>
              </a:spcAft>
              <a:buClr>
                <a:schemeClr val="dk1"/>
              </a:buClr>
              <a:buSzPct val="116666"/>
              <a:buChar char="●"/>
            </a:pPr>
            <a:r>
              <a:rPr lang="en"/>
              <a:t>left ear ‐shadowed message</a:t>
            </a:r>
            <a:endParaRPr/>
          </a:p>
          <a:p>
            <a:pPr indent="-182245" lvl="0" marL="177800" rtl="0" algn="l">
              <a:lnSpc>
                <a:spcPct val="90000"/>
              </a:lnSpc>
              <a:spcBef>
                <a:spcPts val="800"/>
              </a:spcBef>
              <a:spcAft>
                <a:spcPts val="0"/>
              </a:spcAft>
              <a:buClr>
                <a:schemeClr val="dk1"/>
              </a:buClr>
              <a:buSzPct val="116666"/>
              <a:buChar char="●"/>
            </a:pPr>
            <a:r>
              <a:rPr lang="en"/>
              <a:t>right ear ‐second message</a:t>
            </a:r>
            <a:endParaRPr/>
          </a:p>
          <a:p>
            <a:pPr indent="-88900" lvl="0" marL="177800" rtl="0" algn="l">
              <a:lnSpc>
                <a:spcPct val="90000"/>
              </a:lnSpc>
              <a:spcBef>
                <a:spcPts val="800"/>
              </a:spcBef>
              <a:spcAft>
                <a:spcPts val="0"/>
              </a:spcAft>
              <a:buClr>
                <a:schemeClr val="dk1"/>
              </a:buClr>
              <a:buSzPct val="116666"/>
              <a:buNone/>
            </a:pPr>
            <a:r>
              <a:t/>
            </a:r>
            <a:endParaRPr/>
          </a:p>
          <a:p>
            <a:pPr indent="-182245" lvl="0" marL="177800" rtl="0" algn="l">
              <a:lnSpc>
                <a:spcPct val="90000"/>
              </a:lnSpc>
              <a:spcBef>
                <a:spcPts val="800"/>
              </a:spcBef>
              <a:spcAft>
                <a:spcPts val="0"/>
              </a:spcAft>
              <a:buClr>
                <a:schemeClr val="dk1"/>
              </a:buClr>
              <a:buSzPct val="116666"/>
              <a:buChar char="●"/>
            </a:pPr>
            <a:r>
              <a:rPr lang="en"/>
              <a:t>What could be heard in unattended ear?</a:t>
            </a:r>
            <a:endParaRPr/>
          </a:p>
          <a:p>
            <a:pPr indent="-181609" lvl="1" marL="520700" rtl="0" algn="l">
              <a:lnSpc>
                <a:spcPct val="90000"/>
              </a:lnSpc>
              <a:spcBef>
                <a:spcPts val="400"/>
              </a:spcBef>
              <a:spcAft>
                <a:spcPts val="0"/>
              </a:spcAft>
              <a:buClr>
                <a:schemeClr val="dk1"/>
              </a:buClr>
              <a:buSzPct val="128571"/>
              <a:buChar char="○"/>
            </a:pPr>
            <a:r>
              <a:rPr lang="en"/>
              <a:t>if a voice is present</a:t>
            </a:r>
            <a:endParaRPr/>
          </a:p>
          <a:p>
            <a:pPr indent="-181609" lvl="1" marL="520700" rtl="0" algn="l">
              <a:lnSpc>
                <a:spcPct val="90000"/>
              </a:lnSpc>
              <a:spcBef>
                <a:spcPts val="400"/>
              </a:spcBef>
              <a:spcAft>
                <a:spcPts val="0"/>
              </a:spcAft>
              <a:buClr>
                <a:schemeClr val="dk1"/>
              </a:buClr>
              <a:buSzPct val="128571"/>
              <a:buChar char="○"/>
            </a:pPr>
            <a:r>
              <a:rPr lang="en"/>
              <a:t>voice changes from man to woman</a:t>
            </a:r>
            <a:endParaRPr/>
          </a:p>
          <a:p>
            <a:pPr indent="-181609" lvl="1" marL="520700" rtl="0" algn="l">
              <a:lnSpc>
                <a:spcPct val="90000"/>
              </a:lnSpc>
              <a:spcBef>
                <a:spcPts val="400"/>
              </a:spcBef>
              <a:spcAft>
                <a:spcPts val="0"/>
              </a:spcAft>
              <a:buClr>
                <a:schemeClr val="dk1"/>
              </a:buClr>
              <a:buSzPct val="128571"/>
              <a:buChar char="○"/>
            </a:pPr>
            <a:r>
              <a:rPr lang="en"/>
              <a:t>voice becomes a tone</a:t>
            </a:r>
            <a:endParaRPr/>
          </a:p>
          <a:p>
            <a:pPr indent="-88900" lvl="0" marL="177800" rtl="0" algn="l">
              <a:lnSpc>
                <a:spcPct val="90000"/>
              </a:lnSpc>
              <a:spcBef>
                <a:spcPts val="800"/>
              </a:spcBef>
              <a:spcAft>
                <a:spcPts val="0"/>
              </a:spcAft>
              <a:buClr>
                <a:schemeClr val="dk1"/>
              </a:buClr>
              <a:buSzPct val="116666"/>
              <a:buNone/>
            </a:pPr>
            <a:r>
              <a:t/>
            </a:r>
            <a:endParaRPr/>
          </a:p>
          <a:p>
            <a:pPr indent="-88900" lvl="0" marL="177800" rtl="0" algn="l">
              <a:lnSpc>
                <a:spcPct val="90000"/>
              </a:lnSpc>
              <a:spcBef>
                <a:spcPts val="800"/>
              </a:spcBef>
              <a:spcAft>
                <a:spcPts val="0"/>
              </a:spcAft>
              <a:buClr>
                <a:schemeClr val="dk1"/>
              </a:buClr>
              <a:buSzPct val="116666"/>
              <a:buNone/>
            </a:pPr>
            <a:r>
              <a:t/>
            </a:r>
            <a:endParaRPr/>
          </a:p>
          <a:p>
            <a:pPr indent="-182245" lvl="0" marL="177800" rtl="0" algn="l">
              <a:lnSpc>
                <a:spcPct val="90000"/>
              </a:lnSpc>
              <a:spcBef>
                <a:spcPts val="800"/>
              </a:spcBef>
              <a:spcAft>
                <a:spcPts val="0"/>
              </a:spcAft>
              <a:buClr>
                <a:schemeClr val="dk1"/>
              </a:buClr>
              <a:buSzPct val="116666"/>
              <a:buChar char="●"/>
            </a:pPr>
            <a:r>
              <a:rPr lang="en"/>
              <a:t>What was not heard in unattended ear?</a:t>
            </a:r>
            <a:endParaRPr/>
          </a:p>
          <a:p>
            <a:pPr indent="-181609" lvl="1" marL="520700" rtl="0" algn="l">
              <a:lnSpc>
                <a:spcPct val="90000"/>
              </a:lnSpc>
              <a:spcBef>
                <a:spcPts val="400"/>
              </a:spcBef>
              <a:spcAft>
                <a:spcPts val="0"/>
              </a:spcAft>
              <a:buClr>
                <a:schemeClr val="dk1"/>
              </a:buClr>
              <a:buSzPct val="128571"/>
              <a:buChar char="○"/>
            </a:pPr>
            <a:r>
              <a:rPr lang="en"/>
              <a:t>•content of message</a:t>
            </a:r>
            <a:endParaRPr/>
          </a:p>
          <a:p>
            <a:pPr indent="-181609" lvl="1" marL="520700" rtl="0" algn="l">
              <a:lnSpc>
                <a:spcPct val="90000"/>
              </a:lnSpc>
              <a:spcBef>
                <a:spcPts val="400"/>
              </a:spcBef>
              <a:spcAft>
                <a:spcPts val="0"/>
              </a:spcAft>
              <a:buClr>
                <a:schemeClr val="dk1"/>
              </a:buClr>
              <a:buSzPct val="128571"/>
              <a:buChar char="○"/>
            </a:pPr>
            <a:r>
              <a:rPr lang="en"/>
              <a:t>•language of message</a:t>
            </a:r>
            <a:endParaRPr/>
          </a:p>
          <a:p>
            <a:pPr indent="-181609" lvl="1" marL="520700" rtl="0" algn="l">
              <a:lnSpc>
                <a:spcPct val="90000"/>
              </a:lnSpc>
              <a:spcBef>
                <a:spcPts val="400"/>
              </a:spcBef>
              <a:spcAft>
                <a:spcPts val="0"/>
              </a:spcAft>
              <a:buClr>
                <a:schemeClr val="dk1"/>
              </a:buClr>
              <a:buSzPct val="128571"/>
              <a:buChar char="○"/>
            </a:pPr>
            <a:r>
              <a:rPr lang="en"/>
              <a:t>•change in language of message</a:t>
            </a:r>
            <a:endParaRPr/>
          </a:p>
          <a:p>
            <a:pPr indent="-181609" lvl="1" marL="520700" rtl="0" algn="l">
              <a:lnSpc>
                <a:spcPct val="90000"/>
              </a:lnSpc>
              <a:spcBef>
                <a:spcPts val="400"/>
              </a:spcBef>
              <a:spcAft>
                <a:spcPts val="0"/>
              </a:spcAft>
              <a:buClr>
                <a:schemeClr val="dk1"/>
              </a:buClr>
              <a:buSzPct val="128571"/>
              <a:buChar char="○"/>
            </a:pPr>
            <a:r>
              <a:rPr lang="en"/>
              <a:t>•speech vs. nonsense backward speech</a:t>
            </a:r>
            <a:endParaRPr/>
          </a:p>
          <a:p>
            <a:pPr indent="-88900" lvl="0" marL="177800" rtl="0" algn="l">
              <a:lnSpc>
                <a:spcPct val="90000"/>
              </a:lnSpc>
              <a:spcBef>
                <a:spcPts val="800"/>
              </a:spcBef>
              <a:spcAft>
                <a:spcPts val="1200"/>
              </a:spcAft>
              <a:buClr>
                <a:schemeClr val="dk1"/>
              </a:buClr>
              <a:buSzPct val="116666"/>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idx="1" type="body"/>
          </p:nvPr>
        </p:nvSpPr>
        <p:spPr>
          <a:xfrm>
            <a:off x="509155" y="1995053"/>
            <a:ext cx="8634900" cy="41460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dk1"/>
              </a:buClr>
              <a:buSzPts val="2100"/>
              <a:buNone/>
            </a:pPr>
            <a:r>
              <a:rPr lang="en"/>
              <a:t>Conversations at a party: </a:t>
            </a:r>
            <a:endParaRPr/>
          </a:p>
          <a:p>
            <a:pPr indent="0" lvl="0" marL="0" rtl="0" algn="ctr">
              <a:lnSpc>
                <a:spcPct val="90000"/>
              </a:lnSpc>
              <a:spcBef>
                <a:spcPts val="800"/>
              </a:spcBef>
              <a:spcAft>
                <a:spcPts val="1200"/>
              </a:spcAft>
              <a:buClr>
                <a:schemeClr val="dk1"/>
              </a:buClr>
              <a:buSzPts val="2100"/>
              <a:buNone/>
            </a:pPr>
            <a:r>
              <a:rPr lang="en"/>
              <a:t>How can we notice something we do not pay attention to?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t/>
            </a:r>
            <a:endParaRPr/>
          </a:p>
        </p:txBody>
      </p:sp>
      <p:sp>
        <p:nvSpPr>
          <p:cNvPr id="114" name="Google Shape;114;p2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How can we notice something we do not attend to?</a:t>
            </a:r>
            <a:endParaRPr/>
          </a:p>
          <a:p>
            <a:pPr indent="-38100" lvl="0" marL="17780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0"/>
              </a:spcAft>
              <a:buClr>
                <a:schemeClr val="dk1"/>
              </a:buClr>
              <a:buSzPts val="2100"/>
              <a:buChar char="●"/>
            </a:pPr>
            <a:r>
              <a:rPr lang="en"/>
              <a:t>some kinds of information are processed automatically/without attention</a:t>
            </a:r>
            <a:endParaRPr/>
          </a:p>
          <a:p>
            <a:pPr indent="-38100" lvl="0" marL="177800" rtl="0" algn="l">
              <a:lnSpc>
                <a:spcPct val="90000"/>
              </a:lnSpc>
              <a:spcBef>
                <a:spcPts val="800"/>
              </a:spcBef>
              <a:spcAft>
                <a:spcPts val="1200"/>
              </a:spcAft>
              <a:buClr>
                <a:schemeClr val="dk1"/>
              </a:buClr>
              <a:buSzPts val="21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Attention</a:t>
            </a:r>
            <a:endParaRPr/>
          </a:p>
        </p:txBody>
      </p:sp>
      <p:sp>
        <p:nvSpPr>
          <p:cNvPr id="120" name="Google Shape;120;p23"/>
          <p:cNvSpPr txBox="1"/>
          <p:nvPr>
            <p:ph idx="1" type="body"/>
          </p:nvPr>
        </p:nvSpPr>
        <p:spPr>
          <a:xfrm>
            <a:off x="628650" y="915026"/>
            <a:ext cx="7886700" cy="38985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None/>
            </a:pPr>
            <a:r>
              <a:t/>
            </a:r>
            <a:endParaRPr/>
          </a:p>
          <a:p>
            <a:pPr indent="0" lvl="0" marL="0" rtl="0" algn="l">
              <a:lnSpc>
                <a:spcPct val="90000"/>
              </a:lnSpc>
              <a:spcBef>
                <a:spcPts val="800"/>
              </a:spcBef>
              <a:spcAft>
                <a:spcPts val="0"/>
              </a:spcAft>
              <a:buClr>
                <a:schemeClr val="dk1"/>
              </a:buClr>
              <a:buSzPts val="2100"/>
              <a:buNone/>
            </a:pPr>
            <a:r>
              <a:rPr b="1" i="1" lang="en"/>
              <a:t>•controlled </a:t>
            </a:r>
            <a:r>
              <a:rPr b="1" lang="en"/>
              <a:t>or </a:t>
            </a:r>
            <a:r>
              <a:rPr b="1" i="1" lang="en"/>
              <a:t>top-down</a:t>
            </a:r>
            <a:endParaRPr/>
          </a:p>
          <a:p>
            <a:pPr indent="-177800" lvl="1" marL="520700" rtl="0" algn="l">
              <a:lnSpc>
                <a:spcPct val="90000"/>
              </a:lnSpc>
              <a:spcBef>
                <a:spcPts val="400"/>
              </a:spcBef>
              <a:spcAft>
                <a:spcPts val="0"/>
              </a:spcAft>
              <a:buClr>
                <a:schemeClr val="dk1"/>
              </a:buClr>
              <a:buSzPts val="1800"/>
              <a:buChar char="○"/>
            </a:pPr>
            <a:r>
              <a:rPr b="1" lang="en"/>
              <a:t>conscious, effortful, selective, focused</a:t>
            </a:r>
            <a:endParaRPr/>
          </a:p>
          <a:p>
            <a:pPr indent="-177800" lvl="1" marL="520700" rtl="0" algn="l">
              <a:lnSpc>
                <a:spcPct val="90000"/>
              </a:lnSpc>
              <a:spcBef>
                <a:spcPts val="400"/>
              </a:spcBef>
              <a:spcAft>
                <a:spcPts val="0"/>
              </a:spcAft>
              <a:buClr>
                <a:schemeClr val="dk1"/>
              </a:buClr>
              <a:buSzPts val="1800"/>
              <a:buChar char="○"/>
            </a:pPr>
            <a:r>
              <a:rPr b="1" lang="en"/>
              <a:t>goal driven</a:t>
            </a:r>
            <a:endParaRPr/>
          </a:p>
          <a:p>
            <a:pPr indent="-177800" lvl="1" marL="520700" rtl="0" algn="l">
              <a:lnSpc>
                <a:spcPct val="90000"/>
              </a:lnSpc>
              <a:spcBef>
                <a:spcPts val="400"/>
              </a:spcBef>
              <a:spcAft>
                <a:spcPts val="0"/>
              </a:spcAft>
              <a:buClr>
                <a:schemeClr val="dk1"/>
              </a:buClr>
              <a:buSzPts val="1800"/>
              <a:buChar char="○"/>
            </a:pPr>
            <a:r>
              <a:rPr b="1" lang="en"/>
              <a:t>demands a lot of attention</a:t>
            </a:r>
            <a:endParaRPr/>
          </a:p>
          <a:p>
            <a:pPr indent="-171450" lvl="0" marL="177800" rtl="0" algn="l">
              <a:lnSpc>
                <a:spcPct val="90000"/>
              </a:lnSpc>
              <a:spcBef>
                <a:spcPts val="800"/>
              </a:spcBef>
              <a:spcAft>
                <a:spcPts val="0"/>
              </a:spcAft>
              <a:buClr>
                <a:schemeClr val="dk1"/>
              </a:buClr>
              <a:buSzPts val="2100"/>
              <a:buChar char="●"/>
            </a:pPr>
            <a:r>
              <a:rPr b="1" lang="en"/>
              <a:t>•</a:t>
            </a:r>
            <a:r>
              <a:rPr b="1" i="1" lang="en"/>
              <a:t>automatic </a:t>
            </a:r>
            <a:r>
              <a:rPr b="1" lang="en"/>
              <a:t>or </a:t>
            </a:r>
            <a:r>
              <a:rPr b="1" i="1" lang="en"/>
              <a:t>bottom-up</a:t>
            </a:r>
            <a:endParaRPr/>
          </a:p>
          <a:p>
            <a:pPr indent="-177800" lvl="1" marL="520700" rtl="0" algn="l">
              <a:lnSpc>
                <a:spcPct val="90000"/>
              </a:lnSpc>
              <a:spcBef>
                <a:spcPts val="400"/>
              </a:spcBef>
              <a:spcAft>
                <a:spcPts val="0"/>
              </a:spcAft>
              <a:buClr>
                <a:schemeClr val="dk1"/>
              </a:buClr>
              <a:buSzPts val="1800"/>
              <a:buChar char="○"/>
            </a:pPr>
            <a:r>
              <a:rPr b="1" lang="en"/>
              <a:t>unconscious, easy</a:t>
            </a:r>
            <a:endParaRPr/>
          </a:p>
          <a:p>
            <a:pPr indent="-177800" lvl="1" marL="520700" rtl="0" algn="l">
              <a:lnSpc>
                <a:spcPct val="90000"/>
              </a:lnSpc>
              <a:spcBef>
                <a:spcPts val="400"/>
              </a:spcBef>
              <a:spcAft>
                <a:spcPts val="0"/>
              </a:spcAft>
              <a:buClr>
                <a:schemeClr val="dk1"/>
              </a:buClr>
              <a:buSzPts val="1800"/>
              <a:buChar char="○"/>
            </a:pPr>
            <a:r>
              <a:rPr b="1" lang="en"/>
              <a:t>stimulus-driven</a:t>
            </a:r>
            <a:endParaRPr/>
          </a:p>
          <a:p>
            <a:pPr indent="-177800" lvl="1" marL="520700" rtl="0" algn="l">
              <a:lnSpc>
                <a:spcPct val="90000"/>
              </a:lnSpc>
              <a:spcBef>
                <a:spcPts val="400"/>
              </a:spcBef>
              <a:spcAft>
                <a:spcPts val="0"/>
              </a:spcAft>
              <a:buClr>
                <a:schemeClr val="dk1"/>
              </a:buClr>
              <a:buSzPts val="1800"/>
              <a:buChar char="○"/>
            </a:pPr>
            <a:r>
              <a:rPr b="1" lang="en"/>
              <a:t>demands little or no attention </a:t>
            </a:r>
            <a:endParaRPr/>
          </a:p>
          <a:p>
            <a:pPr indent="-38100" lvl="0" marL="177800" rtl="0" algn="l">
              <a:lnSpc>
                <a:spcPct val="90000"/>
              </a:lnSpc>
              <a:spcBef>
                <a:spcPts val="800"/>
              </a:spcBef>
              <a:spcAft>
                <a:spcPts val="1200"/>
              </a:spcAft>
              <a:buClr>
                <a:schemeClr val="dk1"/>
              </a:buClr>
              <a:buSzPts val="21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Limits of Attention </a:t>
            </a:r>
            <a:endParaRPr/>
          </a:p>
        </p:txBody>
      </p:sp>
      <p:sp>
        <p:nvSpPr>
          <p:cNvPr id="126" name="Google Shape;126;p2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None/>
            </a:pPr>
            <a:r>
              <a:t/>
            </a:r>
            <a:endParaRPr/>
          </a:p>
          <a:p>
            <a:pPr indent="-171450" lvl="0" marL="177800" rtl="0" algn="l">
              <a:lnSpc>
                <a:spcPct val="90000"/>
              </a:lnSpc>
              <a:spcBef>
                <a:spcPts val="800"/>
              </a:spcBef>
              <a:spcAft>
                <a:spcPts val="0"/>
              </a:spcAft>
              <a:buClr>
                <a:schemeClr val="dk1"/>
              </a:buClr>
              <a:buSzPts val="2100"/>
              <a:buChar char="●"/>
            </a:pPr>
            <a:r>
              <a:rPr b="1" lang="en"/>
              <a:t>Attention is a very constrained resource.</a:t>
            </a:r>
            <a:endParaRPr/>
          </a:p>
          <a:p>
            <a:pPr indent="0" lvl="0" marL="0" rtl="0" algn="l">
              <a:lnSpc>
                <a:spcPct val="90000"/>
              </a:lnSpc>
              <a:spcBef>
                <a:spcPts val="800"/>
              </a:spcBef>
              <a:spcAft>
                <a:spcPts val="1200"/>
              </a:spcAft>
              <a:buClr>
                <a:schemeClr val="dk1"/>
              </a:buClr>
              <a:buSzPts val="21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Limits of attention </a:t>
            </a:r>
            <a:endParaRPr/>
          </a:p>
        </p:txBody>
      </p:sp>
      <p:sp>
        <p:nvSpPr>
          <p:cNvPr id="132" name="Google Shape;132;p2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1200"/>
              </a:spcAft>
              <a:buClr>
                <a:schemeClr val="dk1"/>
              </a:buClr>
              <a:buSzPts val="2100"/>
              <a:buChar char="●"/>
            </a:pPr>
            <a:r>
              <a:rPr lang="en" u="sng">
                <a:solidFill>
                  <a:schemeClr val="hlink"/>
                </a:solidFill>
                <a:hlinkClick r:id="rId3"/>
              </a:rPr>
              <a:t>https://www.youtube.com/watch?v=_bnnmWYI0lM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idx="1" type="body"/>
          </p:nvPr>
        </p:nvSpPr>
        <p:spPr>
          <a:xfrm>
            <a:off x="628650" y="1879997"/>
            <a:ext cx="7886700" cy="32634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1200"/>
              </a:spcAft>
              <a:buClr>
                <a:schemeClr val="dk1"/>
              </a:buClr>
              <a:buSzPts val="3000"/>
              <a:buNone/>
            </a:pPr>
            <a:r>
              <a:rPr lang="en" sz="3000"/>
              <a:t>So what about when we’re REALLY not paying attention?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275149" y="1411375"/>
            <a:ext cx="3408300" cy="994200"/>
          </a:xfrm>
          <a:prstGeom prst="rect">
            <a:avLst/>
          </a:prstGeom>
          <a:noFill/>
          <a:ln>
            <a:noFill/>
          </a:ln>
        </p:spPr>
        <p:txBody>
          <a:bodyPr anchorCtr="0" anchor="ctr" bIns="34275" lIns="68575" spcFirstLastPara="1" rIns="68575" wrap="square" tIns="34275">
            <a:normAutofit/>
          </a:bodyPr>
          <a:lstStyle/>
          <a:p>
            <a:pPr indent="0" lvl="0" marL="177800" rtl="0" algn="l">
              <a:spcBef>
                <a:spcPts val="0"/>
              </a:spcBef>
              <a:spcAft>
                <a:spcPts val="1200"/>
              </a:spcAft>
              <a:buNone/>
            </a:pPr>
            <a:r>
              <a:rPr b="1" lang="en" sz="2700">
                <a:solidFill>
                  <a:schemeClr val="dk2"/>
                </a:solidFill>
              </a:rPr>
              <a:t>Sleep more, sleep more, sleep more!</a:t>
            </a:r>
            <a:endParaRPr b="1" sz="3700"/>
          </a:p>
        </p:txBody>
      </p:sp>
      <p:pic>
        <p:nvPicPr>
          <p:cNvPr id="143" name="Google Shape;143;p27"/>
          <p:cNvPicPr preferRelativeResize="0"/>
          <p:nvPr/>
        </p:nvPicPr>
        <p:blipFill rotWithShape="1">
          <a:blip r:embed="rId3">
            <a:alphaModFix/>
          </a:blip>
          <a:srcRect b="0" l="0" r="0" t="0"/>
          <a:stretch/>
        </p:blipFill>
        <p:spPr>
          <a:xfrm rot="6544542">
            <a:off x="4387952" y="364212"/>
            <a:ext cx="3311321" cy="44150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628650" y="273852"/>
            <a:ext cx="7886700" cy="667500"/>
          </a:xfrm>
          <a:prstGeom prst="rect">
            <a:avLst/>
          </a:prstGeom>
        </p:spPr>
        <p:txBody>
          <a:bodyPr anchorCtr="0" anchor="ctr" bIns="34275" lIns="68575" spcFirstLastPara="1" rIns="68575" wrap="square" tIns="34275">
            <a:normAutofit/>
          </a:bodyPr>
          <a:lstStyle/>
          <a:p>
            <a:pPr indent="0" lvl="0" marL="1676400" marR="1676400" rtl="0" algn="l">
              <a:lnSpc>
                <a:spcPct val="115000"/>
              </a:lnSpc>
              <a:spcBef>
                <a:spcPts val="0"/>
              </a:spcBef>
              <a:spcAft>
                <a:spcPts val="900"/>
              </a:spcAft>
              <a:buClr>
                <a:schemeClr val="dk1"/>
              </a:buClr>
              <a:buSzPts val="1100"/>
              <a:buFont typeface="Arial"/>
              <a:buNone/>
            </a:pPr>
            <a:r>
              <a:rPr b="1" lang="en" sz="3100">
                <a:solidFill>
                  <a:srgbClr val="1F2937"/>
                </a:solidFill>
                <a:highlight>
                  <a:srgbClr val="FFFFFF"/>
                </a:highlight>
                <a:latin typeface="Times New Roman"/>
                <a:ea typeface="Times New Roman"/>
                <a:cs typeface="Times New Roman"/>
                <a:sym typeface="Times New Roman"/>
              </a:rPr>
              <a:t>Circadian Rhythm</a:t>
            </a:r>
            <a:endParaRPr b="1" sz="3100">
              <a:latin typeface="Times New Roman"/>
              <a:ea typeface="Times New Roman"/>
              <a:cs typeface="Times New Roman"/>
              <a:sym typeface="Times New Roman"/>
            </a:endParaRPr>
          </a:p>
        </p:txBody>
      </p:sp>
      <p:sp>
        <p:nvSpPr>
          <p:cNvPr id="149" name="Google Shape;149;p28"/>
          <p:cNvSpPr txBox="1"/>
          <p:nvPr>
            <p:ph idx="1" type="body"/>
          </p:nvPr>
        </p:nvSpPr>
        <p:spPr>
          <a:xfrm>
            <a:off x="340875" y="726000"/>
            <a:ext cx="7975800" cy="3691500"/>
          </a:xfrm>
          <a:prstGeom prst="rect">
            <a:avLst/>
          </a:prstGeom>
        </p:spPr>
        <p:txBody>
          <a:bodyPr anchorCtr="0" anchor="t" bIns="34275" lIns="68575" spcFirstLastPara="1" rIns="68575" wrap="square" tIns="34275">
            <a:noAutofit/>
          </a:bodyPr>
          <a:lstStyle/>
          <a:p>
            <a:pPr indent="0" lvl="0" marL="0" marR="1676400" rtl="0" algn="just">
              <a:lnSpc>
                <a:spcPct val="115000"/>
              </a:lnSpc>
              <a:spcBef>
                <a:spcPts val="0"/>
              </a:spcBef>
              <a:spcAft>
                <a:spcPts val="0"/>
              </a:spcAft>
              <a:buNone/>
            </a:pPr>
            <a:r>
              <a:t/>
            </a:r>
            <a:endParaRPr sz="2000">
              <a:solidFill>
                <a:srgbClr val="1F2937"/>
              </a:solidFill>
              <a:highlight>
                <a:srgbClr val="FFFFFF"/>
              </a:highlight>
              <a:latin typeface="Times New Roman"/>
              <a:ea typeface="Times New Roman"/>
              <a:cs typeface="Times New Roman"/>
              <a:sym typeface="Times New Roman"/>
            </a:endParaRPr>
          </a:p>
          <a:p>
            <a:pPr indent="0" lvl="0" marL="0" marR="1676400" rtl="0" algn="just">
              <a:lnSpc>
                <a:spcPct val="115000"/>
              </a:lnSpc>
              <a:spcBef>
                <a:spcPts val="900"/>
              </a:spcBef>
              <a:spcAft>
                <a:spcPts val="0"/>
              </a:spcAft>
              <a:buNone/>
            </a:pPr>
            <a:r>
              <a:rPr lang="en" sz="2000">
                <a:solidFill>
                  <a:srgbClr val="1F2937"/>
                </a:solidFill>
                <a:highlight>
                  <a:srgbClr val="FFFFFF"/>
                </a:highlight>
                <a:latin typeface="Times New Roman"/>
                <a:ea typeface="Times New Roman"/>
                <a:cs typeface="Times New Roman"/>
                <a:sym typeface="Times New Roman"/>
              </a:rPr>
              <a:t>One biological rhythm is the 24-hour circadian rhythm (often known as the ‘body clock’), which is reset by levels of light. </a:t>
            </a:r>
            <a:endParaRPr sz="2000">
              <a:solidFill>
                <a:srgbClr val="1F2937"/>
              </a:solidFill>
              <a:highlight>
                <a:srgbClr val="FFFFFF"/>
              </a:highlight>
              <a:latin typeface="Times New Roman"/>
              <a:ea typeface="Times New Roman"/>
              <a:cs typeface="Times New Roman"/>
              <a:sym typeface="Times New Roman"/>
            </a:endParaRPr>
          </a:p>
          <a:p>
            <a:pPr indent="0" lvl="0" marL="0" marR="1676400" rtl="0" algn="just">
              <a:lnSpc>
                <a:spcPct val="115000"/>
              </a:lnSpc>
              <a:spcBef>
                <a:spcPts val="900"/>
              </a:spcBef>
              <a:spcAft>
                <a:spcPts val="0"/>
              </a:spcAft>
              <a:buNone/>
            </a:pPr>
            <a:r>
              <a:rPr lang="en" sz="2000">
                <a:solidFill>
                  <a:srgbClr val="2C2D30"/>
                </a:solidFill>
                <a:latin typeface="Times New Roman"/>
                <a:ea typeface="Times New Roman"/>
                <a:cs typeface="Times New Roman"/>
                <a:sym typeface="Times New Roman"/>
              </a:rPr>
              <a:t>Circadian rhythms are the cycles that tell the body when to sleep, wake, and eat—the biological and psychological processes that oscillate in predictable patterns each day. </a:t>
            </a:r>
            <a:endParaRPr sz="2000">
              <a:solidFill>
                <a:srgbClr val="2C2D30"/>
              </a:solidFill>
              <a:latin typeface="Times New Roman"/>
              <a:ea typeface="Times New Roman"/>
              <a:cs typeface="Times New Roman"/>
              <a:sym typeface="Times New Roman"/>
            </a:endParaRPr>
          </a:p>
          <a:p>
            <a:pPr indent="0" lvl="0" marL="0" marR="1676400" rtl="0" algn="just">
              <a:lnSpc>
                <a:spcPct val="115000"/>
              </a:lnSpc>
              <a:spcBef>
                <a:spcPts val="900"/>
              </a:spcBef>
              <a:spcAft>
                <a:spcPts val="0"/>
              </a:spcAft>
              <a:buClr>
                <a:schemeClr val="dk1"/>
              </a:buClr>
              <a:buSzPts val="1100"/>
              <a:buFont typeface="Arial"/>
              <a:buNone/>
            </a:pPr>
            <a:r>
              <a:rPr lang="en" sz="2000">
                <a:solidFill>
                  <a:srgbClr val="2C2D30"/>
                </a:solidFill>
                <a:latin typeface="Times New Roman"/>
                <a:ea typeface="Times New Roman"/>
                <a:cs typeface="Times New Roman"/>
                <a:sym typeface="Times New Roman"/>
              </a:rPr>
              <a:t>This internal clock is influenced by external cues, like sunlight and temperature, which help determine whether one feels energized or exhausted at different times of the day.</a:t>
            </a:r>
            <a:endParaRPr sz="2000">
              <a:solidFill>
                <a:srgbClr val="1F2937"/>
              </a:solidFill>
              <a:highlight>
                <a:srgbClr val="FFFFFF"/>
              </a:highlight>
              <a:latin typeface="Times New Roman"/>
              <a:ea typeface="Times New Roman"/>
              <a:cs typeface="Times New Roman"/>
              <a:sym typeface="Times New Roman"/>
            </a:endParaRPr>
          </a:p>
          <a:p>
            <a:pPr indent="0" lvl="0" marL="0" rtl="0" algn="l">
              <a:spcBef>
                <a:spcPts val="900"/>
              </a:spcBef>
              <a:spcAft>
                <a:spcPts val="1200"/>
              </a:spcAft>
              <a:buNone/>
            </a:pPr>
            <a:r>
              <a:t/>
            </a:r>
            <a:endParaRPr sz="2000">
              <a:latin typeface="Times New Roman"/>
              <a:ea typeface="Times New Roman"/>
              <a:cs typeface="Times New Roman"/>
              <a:sym typeface="Times New Roman"/>
            </a:endParaRPr>
          </a:p>
        </p:txBody>
      </p:sp>
      <p:pic>
        <p:nvPicPr>
          <p:cNvPr id="150" name="Google Shape;150;p28"/>
          <p:cNvPicPr preferRelativeResize="0"/>
          <p:nvPr/>
        </p:nvPicPr>
        <p:blipFill>
          <a:blip r:embed="rId3">
            <a:alphaModFix/>
          </a:blip>
          <a:stretch>
            <a:fillRect/>
          </a:stretch>
        </p:blipFill>
        <p:spPr>
          <a:xfrm>
            <a:off x="6850875" y="2001725"/>
            <a:ext cx="2216800" cy="1564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29"/>
          <p:cNvPicPr preferRelativeResize="0"/>
          <p:nvPr/>
        </p:nvPicPr>
        <p:blipFill>
          <a:blip r:embed="rId3">
            <a:alphaModFix/>
          </a:blip>
          <a:stretch>
            <a:fillRect/>
          </a:stretch>
        </p:blipFill>
        <p:spPr>
          <a:xfrm>
            <a:off x="40700" y="0"/>
            <a:ext cx="9062600" cy="54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ctr">
              <a:lnSpc>
                <a:spcPct val="115000"/>
              </a:lnSpc>
              <a:spcBef>
                <a:spcPts val="0"/>
              </a:spcBef>
              <a:spcAft>
                <a:spcPts val="1200"/>
              </a:spcAft>
              <a:buClr>
                <a:schemeClr val="dk1"/>
              </a:buClr>
              <a:buSzPts val="1100"/>
              <a:buFont typeface="Arial"/>
              <a:buNone/>
            </a:pPr>
            <a:r>
              <a:rPr b="1" lang="en" sz="2400">
                <a:highlight>
                  <a:srgbClr val="FFFFFF"/>
                </a:highlight>
                <a:latin typeface="Times New Roman"/>
                <a:ea typeface="Times New Roman"/>
                <a:cs typeface="Times New Roman"/>
                <a:sym typeface="Times New Roman"/>
              </a:rPr>
              <a:t>The stages of sleep can be split into two broad categories</a:t>
            </a:r>
            <a:endParaRPr sz="2400">
              <a:latin typeface="Times New Roman"/>
              <a:ea typeface="Times New Roman"/>
              <a:cs typeface="Times New Roman"/>
              <a:sym typeface="Times New Roman"/>
            </a:endParaRPr>
          </a:p>
        </p:txBody>
      </p:sp>
      <p:sp>
        <p:nvSpPr>
          <p:cNvPr id="161" name="Google Shape;161;p30"/>
          <p:cNvSpPr txBox="1"/>
          <p:nvPr>
            <p:ph idx="1" type="body"/>
          </p:nvPr>
        </p:nvSpPr>
        <p:spPr>
          <a:xfrm>
            <a:off x="628650" y="1369226"/>
            <a:ext cx="8076000" cy="3616500"/>
          </a:xfrm>
          <a:prstGeom prst="rect">
            <a:avLst/>
          </a:prstGeom>
        </p:spPr>
        <p:txBody>
          <a:bodyPr anchorCtr="0" anchor="t" bIns="34275" lIns="68575" spcFirstLastPara="1" rIns="68575" wrap="square" tIns="34275">
            <a:normAutofit fontScale="62500" lnSpcReduction="20000"/>
          </a:bodyPr>
          <a:lstStyle/>
          <a:p>
            <a:pPr indent="0" lvl="0" marL="0" rtl="0" algn="just">
              <a:lnSpc>
                <a:spcPct val="115000"/>
              </a:lnSpc>
              <a:spcBef>
                <a:spcPts val="0"/>
              </a:spcBef>
              <a:spcAft>
                <a:spcPts val="0"/>
              </a:spcAft>
              <a:buClr>
                <a:schemeClr val="dk1"/>
              </a:buClr>
              <a:buSzPct val="79381"/>
              <a:buFont typeface="Arial"/>
              <a:buNone/>
            </a:pPr>
            <a:r>
              <a:t/>
            </a:r>
            <a:endParaRPr b="1" sz="1385">
              <a:solidFill>
                <a:schemeClr val="dk1"/>
              </a:solidFill>
              <a:highlight>
                <a:srgbClr val="FFFFFF"/>
              </a:highlight>
              <a:latin typeface="Arial"/>
              <a:ea typeface="Arial"/>
              <a:cs typeface="Arial"/>
              <a:sym typeface="Arial"/>
            </a:endParaRPr>
          </a:p>
          <a:p>
            <a:pPr indent="-369792" lvl="0" marL="457200" rtl="0" algn="just">
              <a:lnSpc>
                <a:spcPct val="150000"/>
              </a:lnSpc>
              <a:spcBef>
                <a:spcPts val="1200"/>
              </a:spcBef>
              <a:spcAft>
                <a:spcPts val="0"/>
              </a:spcAft>
              <a:buSzPct val="100000"/>
              <a:buChar char="●"/>
            </a:pPr>
            <a:r>
              <a:rPr b="1" lang="en" sz="3557">
                <a:solidFill>
                  <a:schemeClr val="dk1"/>
                </a:solidFill>
                <a:highlight>
                  <a:srgbClr val="FFFFFF"/>
                </a:highlight>
                <a:latin typeface="Times New Roman"/>
                <a:ea typeface="Times New Roman"/>
                <a:cs typeface="Times New Roman"/>
                <a:sym typeface="Times New Roman"/>
              </a:rPr>
              <a:t>NREM sleep</a:t>
            </a:r>
            <a:r>
              <a:rPr lang="en" sz="3557">
                <a:solidFill>
                  <a:schemeClr val="dk1"/>
                </a:solidFill>
                <a:highlight>
                  <a:srgbClr val="FFFFFF"/>
                </a:highlight>
                <a:latin typeface="Times New Roman"/>
                <a:ea typeface="Times New Roman"/>
                <a:cs typeface="Times New Roman"/>
                <a:sym typeface="Times New Roman"/>
              </a:rPr>
              <a:t>: also known as non-rapid eye movement, the NREM stages of sleep are also called ‘</a:t>
            </a:r>
            <a:r>
              <a:rPr b="1" lang="en" sz="3557">
                <a:solidFill>
                  <a:schemeClr val="dk1"/>
                </a:solidFill>
                <a:highlight>
                  <a:srgbClr val="FFFFFF"/>
                </a:highlight>
                <a:latin typeface="Times New Roman"/>
                <a:ea typeface="Times New Roman"/>
                <a:cs typeface="Times New Roman"/>
                <a:sym typeface="Times New Roman"/>
              </a:rPr>
              <a:t>quiet sleep</a:t>
            </a:r>
            <a:r>
              <a:rPr lang="en" sz="3557">
                <a:solidFill>
                  <a:schemeClr val="dk1"/>
                </a:solidFill>
                <a:highlight>
                  <a:srgbClr val="FFFFFF"/>
                </a:highlight>
                <a:latin typeface="Times New Roman"/>
                <a:ea typeface="Times New Roman"/>
                <a:cs typeface="Times New Roman"/>
                <a:sym typeface="Times New Roman"/>
              </a:rPr>
              <a:t>’, and is known for holding a majority of the stages of sleep within it (stages 1-4).</a:t>
            </a:r>
            <a:endParaRPr sz="3557">
              <a:solidFill>
                <a:schemeClr val="dk1"/>
              </a:solidFill>
              <a:highlight>
                <a:srgbClr val="FFFFFF"/>
              </a:highlight>
              <a:latin typeface="Times New Roman"/>
              <a:ea typeface="Times New Roman"/>
              <a:cs typeface="Times New Roman"/>
              <a:sym typeface="Times New Roman"/>
            </a:endParaRPr>
          </a:p>
          <a:p>
            <a:pPr indent="-369792" lvl="0" marL="457200" rtl="0" algn="just">
              <a:lnSpc>
                <a:spcPct val="150000"/>
              </a:lnSpc>
              <a:spcBef>
                <a:spcPts val="0"/>
              </a:spcBef>
              <a:spcAft>
                <a:spcPts val="0"/>
              </a:spcAft>
              <a:buSzPct val="100000"/>
              <a:buChar char="●"/>
            </a:pPr>
            <a:r>
              <a:rPr b="1" lang="en" sz="3557">
                <a:solidFill>
                  <a:schemeClr val="dk1"/>
                </a:solidFill>
                <a:highlight>
                  <a:srgbClr val="FFFFFF"/>
                </a:highlight>
                <a:latin typeface="Times New Roman"/>
                <a:ea typeface="Times New Roman"/>
                <a:cs typeface="Times New Roman"/>
                <a:sym typeface="Times New Roman"/>
              </a:rPr>
              <a:t>REM sleep</a:t>
            </a:r>
            <a:r>
              <a:rPr lang="en" sz="3557">
                <a:solidFill>
                  <a:schemeClr val="dk1"/>
                </a:solidFill>
                <a:highlight>
                  <a:srgbClr val="FFFFFF"/>
                </a:highlight>
                <a:latin typeface="Times New Roman"/>
                <a:ea typeface="Times New Roman"/>
                <a:cs typeface="Times New Roman"/>
                <a:sym typeface="Times New Roman"/>
              </a:rPr>
              <a:t>: Rapid Eye Movement sleep, the REM stages of sleep are where you can expect to experience dreaming as well as deep sleep, which is why it is sometimes known as ‘</a:t>
            </a:r>
            <a:r>
              <a:rPr b="1" lang="en" sz="3557">
                <a:solidFill>
                  <a:schemeClr val="dk1"/>
                </a:solidFill>
                <a:highlight>
                  <a:srgbClr val="FFFFFF"/>
                </a:highlight>
                <a:latin typeface="Times New Roman"/>
                <a:ea typeface="Times New Roman"/>
                <a:cs typeface="Times New Roman"/>
                <a:sym typeface="Times New Roman"/>
              </a:rPr>
              <a:t>active sleep</a:t>
            </a:r>
            <a:r>
              <a:rPr lang="en" sz="3557">
                <a:solidFill>
                  <a:schemeClr val="dk1"/>
                </a:solidFill>
                <a:highlight>
                  <a:srgbClr val="FFFFFF"/>
                </a:highlight>
                <a:latin typeface="Times New Roman"/>
                <a:ea typeface="Times New Roman"/>
                <a:cs typeface="Times New Roman"/>
                <a:sym typeface="Times New Roman"/>
              </a:rPr>
              <a:t>’.</a:t>
            </a:r>
            <a:endParaRPr sz="3557">
              <a:solidFill>
                <a:schemeClr val="dk1"/>
              </a:solidFill>
              <a:highlight>
                <a:srgbClr val="FFFFFF"/>
              </a:highlight>
              <a:latin typeface="Times New Roman"/>
              <a:ea typeface="Times New Roman"/>
              <a:cs typeface="Times New Roman"/>
              <a:sym typeface="Times New Roman"/>
            </a:endParaRPr>
          </a:p>
          <a:p>
            <a:pPr indent="0" lvl="0" marL="0" rtl="0" algn="l">
              <a:lnSpc>
                <a:spcPct val="150000"/>
              </a:lnSpc>
              <a:spcBef>
                <a:spcPts val="1800"/>
              </a:spcBef>
              <a:spcAft>
                <a:spcPts val="1200"/>
              </a:spcAft>
              <a:buNone/>
            </a:pPr>
            <a:r>
              <a:t/>
            </a:r>
            <a:endParaRPr sz="3271">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ctr">
              <a:lnSpc>
                <a:spcPct val="150000"/>
              </a:lnSpc>
              <a:spcBef>
                <a:spcPts val="3800"/>
              </a:spcBef>
              <a:spcAft>
                <a:spcPts val="0"/>
              </a:spcAft>
              <a:buClr>
                <a:schemeClr val="dk1"/>
              </a:buClr>
              <a:buSzPts val="990"/>
              <a:buFont typeface="Arial"/>
              <a:buNone/>
            </a:pPr>
            <a:r>
              <a:rPr b="1" lang="en" sz="2400">
                <a:highlight>
                  <a:srgbClr val="FFFFFF"/>
                </a:highlight>
                <a:latin typeface="Times New Roman"/>
                <a:ea typeface="Times New Roman"/>
                <a:cs typeface="Times New Roman"/>
                <a:sym typeface="Times New Roman"/>
              </a:rPr>
              <a:t>Stage 1-Wakefulness</a:t>
            </a:r>
            <a:endParaRPr b="1" sz="2400">
              <a:latin typeface="Times New Roman"/>
              <a:ea typeface="Times New Roman"/>
              <a:cs typeface="Times New Roman"/>
              <a:sym typeface="Times New Roman"/>
            </a:endParaRPr>
          </a:p>
          <a:p>
            <a:pPr indent="0" lvl="0" marL="0" rtl="0" algn="l">
              <a:spcBef>
                <a:spcPts val="1500"/>
              </a:spcBef>
              <a:spcAft>
                <a:spcPts val="0"/>
              </a:spcAft>
              <a:buSzPts val="990"/>
              <a:buNone/>
            </a:pPr>
            <a:r>
              <a:t/>
            </a:r>
            <a:endParaRPr sz="2520"/>
          </a:p>
        </p:txBody>
      </p:sp>
      <p:sp>
        <p:nvSpPr>
          <p:cNvPr id="167" name="Google Shape;167;p31"/>
          <p:cNvSpPr txBox="1"/>
          <p:nvPr>
            <p:ph idx="1" type="body"/>
          </p:nvPr>
        </p:nvSpPr>
        <p:spPr>
          <a:xfrm>
            <a:off x="628650" y="1002250"/>
            <a:ext cx="7886700" cy="4212300"/>
          </a:xfrm>
          <a:prstGeom prst="rect">
            <a:avLst/>
          </a:prstGeom>
        </p:spPr>
        <p:txBody>
          <a:bodyPr anchorCtr="0" anchor="t" bIns="34275" lIns="68575" spcFirstLastPara="1" rIns="68575" wrap="square" tIns="34275">
            <a:noAutofit/>
          </a:bodyPr>
          <a:lstStyle/>
          <a:p>
            <a:pPr indent="0" lvl="0" marL="0" rtl="0" algn="just">
              <a:lnSpc>
                <a:spcPct val="115000"/>
              </a:lnSpc>
              <a:spcBef>
                <a:spcPts val="1400"/>
              </a:spcBef>
              <a:spcAft>
                <a:spcPts val="0"/>
              </a:spcAft>
              <a:buClr>
                <a:schemeClr val="dk1"/>
              </a:buClr>
              <a:buSzPts val="1100"/>
              <a:buFont typeface="Arial"/>
              <a:buNone/>
            </a:pPr>
            <a:r>
              <a:rPr lang="en" sz="2100">
                <a:solidFill>
                  <a:srgbClr val="1A1B1F"/>
                </a:solidFill>
                <a:highlight>
                  <a:srgbClr val="FFFFFF"/>
                </a:highlight>
                <a:latin typeface="Times New Roman"/>
                <a:ea typeface="Times New Roman"/>
                <a:cs typeface="Times New Roman"/>
                <a:sym typeface="Times New Roman"/>
              </a:rPr>
              <a:t>Stage 1 is essentially when a person first falls asleep. This stage normally lasts just one to seven minutes.</a:t>
            </a:r>
            <a:endParaRPr sz="2100">
              <a:solidFill>
                <a:srgbClr val="1A1B1F"/>
              </a:solidFill>
              <a:highlight>
                <a:srgbClr val="FFFFFF"/>
              </a:highlight>
              <a:latin typeface="Times New Roman"/>
              <a:ea typeface="Times New Roman"/>
              <a:cs typeface="Times New Roman"/>
              <a:sym typeface="Times New Roman"/>
            </a:endParaRPr>
          </a:p>
          <a:p>
            <a:pPr indent="0" lvl="0" marL="0" rtl="0" algn="just">
              <a:lnSpc>
                <a:spcPct val="115000"/>
              </a:lnSpc>
              <a:spcBef>
                <a:spcPts val="1400"/>
              </a:spcBef>
              <a:spcAft>
                <a:spcPts val="0"/>
              </a:spcAft>
              <a:buClr>
                <a:schemeClr val="dk1"/>
              </a:buClr>
              <a:buSzPts val="1100"/>
              <a:buFont typeface="Arial"/>
              <a:buNone/>
            </a:pPr>
            <a:r>
              <a:rPr lang="en" sz="2100">
                <a:solidFill>
                  <a:srgbClr val="1A1B1F"/>
                </a:solidFill>
                <a:highlight>
                  <a:srgbClr val="FFFFFF"/>
                </a:highlight>
                <a:latin typeface="Times New Roman"/>
                <a:ea typeface="Times New Roman"/>
                <a:cs typeface="Times New Roman"/>
                <a:sym typeface="Times New Roman"/>
              </a:rPr>
              <a:t>During S1 sleep, the body has not fully relaxed, though the body and brain activities start to slow with periods of brief movements. There are light changes in brain activity associated with falling asleep in this stage.</a:t>
            </a:r>
            <a:endParaRPr sz="2100">
              <a:solidFill>
                <a:srgbClr val="1A1B1F"/>
              </a:solidFill>
              <a:highlight>
                <a:srgbClr val="FFFFFF"/>
              </a:highlight>
              <a:latin typeface="Times New Roman"/>
              <a:ea typeface="Times New Roman"/>
              <a:cs typeface="Times New Roman"/>
              <a:sym typeface="Times New Roman"/>
            </a:endParaRPr>
          </a:p>
          <a:p>
            <a:pPr indent="0" lvl="0" marL="0" rtl="0" algn="just">
              <a:lnSpc>
                <a:spcPct val="115000"/>
              </a:lnSpc>
              <a:spcBef>
                <a:spcPts val="1400"/>
              </a:spcBef>
              <a:spcAft>
                <a:spcPts val="0"/>
              </a:spcAft>
              <a:buClr>
                <a:schemeClr val="dk1"/>
              </a:buClr>
              <a:buSzPts val="1100"/>
              <a:buFont typeface="Arial"/>
              <a:buNone/>
            </a:pPr>
            <a:r>
              <a:rPr lang="en" sz="2100">
                <a:solidFill>
                  <a:srgbClr val="1A1B1F"/>
                </a:solidFill>
                <a:highlight>
                  <a:srgbClr val="FFFFFF"/>
                </a:highlight>
                <a:latin typeface="Times New Roman"/>
                <a:ea typeface="Times New Roman"/>
                <a:cs typeface="Times New Roman"/>
                <a:sym typeface="Times New Roman"/>
              </a:rPr>
              <a:t>It is easy to wake someone up during this sleep stage, but if a person is not disturbed, they can move quickly into stage 2. As the night unfolds, an uninterrupted sleeper may not spend much more time in stage 1 as they move through further sleep cycles.</a:t>
            </a:r>
            <a:endParaRPr sz="2100">
              <a:solidFill>
                <a:srgbClr val="1A1B1F"/>
              </a:solidFill>
              <a:highlight>
                <a:srgbClr val="FFFFFF"/>
              </a:highlight>
              <a:latin typeface="Times New Roman"/>
              <a:ea typeface="Times New Roman"/>
              <a:cs typeface="Times New Roman"/>
              <a:sym typeface="Times New Roman"/>
            </a:endParaRPr>
          </a:p>
          <a:p>
            <a:pPr indent="0" lvl="0" marL="0" rtl="0" algn="l">
              <a:spcBef>
                <a:spcPts val="14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735475" y="681725"/>
            <a:ext cx="7886700" cy="534300"/>
          </a:xfrm>
          <a:prstGeom prst="rect">
            <a:avLst/>
          </a:prstGeom>
        </p:spPr>
        <p:txBody>
          <a:bodyPr anchorCtr="0" anchor="ctr" bIns="34275" lIns="68575" spcFirstLastPara="1" rIns="68575" wrap="square" tIns="34275">
            <a:noAutofit/>
          </a:bodyPr>
          <a:lstStyle/>
          <a:p>
            <a:pPr indent="0" lvl="0" marL="0" rtl="0" algn="ctr">
              <a:lnSpc>
                <a:spcPct val="150000"/>
              </a:lnSpc>
              <a:spcBef>
                <a:spcPts val="3800"/>
              </a:spcBef>
              <a:spcAft>
                <a:spcPts val="0"/>
              </a:spcAft>
              <a:buNone/>
            </a:pPr>
            <a:r>
              <a:rPr b="1" lang="en" sz="2400">
                <a:highlight>
                  <a:srgbClr val="FFFFFF"/>
                </a:highlight>
                <a:latin typeface="Times New Roman"/>
                <a:ea typeface="Times New Roman"/>
                <a:cs typeface="Times New Roman"/>
                <a:sym typeface="Times New Roman"/>
              </a:rPr>
              <a:t>Stage 2- Light Sleep</a:t>
            </a:r>
            <a:endParaRPr b="1" sz="2400">
              <a:highlight>
                <a:srgbClr val="FFFFFF"/>
              </a:highlight>
              <a:latin typeface="Times New Roman"/>
              <a:ea typeface="Times New Roman"/>
              <a:cs typeface="Times New Roman"/>
              <a:sym typeface="Times New Roman"/>
            </a:endParaRPr>
          </a:p>
          <a:p>
            <a:pPr indent="0" lvl="0" marL="0" rtl="0" algn="ctr">
              <a:lnSpc>
                <a:spcPct val="150000"/>
              </a:lnSpc>
              <a:spcBef>
                <a:spcPts val="3800"/>
              </a:spcBef>
              <a:spcAft>
                <a:spcPts val="1500"/>
              </a:spcAft>
              <a:buClr>
                <a:schemeClr val="dk1"/>
              </a:buClr>
              <a:buSzPts val="1100"/>
              <a:buFont typeface="Arial"/>
              <a:buNone/>
            </a:pPr>
            <a:r>
              <a:t/>
            </a:r>
            <a:endParaRPr b="1" sz="2400">
              <a:highlight>
                <a:srgbClr val="FFFFFF"/>
              </a:highlight>
              <a:latin typeface="Times New Roman"/>
              <a:ea typeface="Times New Roman"/>
              <a:cs typeface="Times New Roman"/>
              <a:sym typeface="Times New Roman"/>
            </a:endParaRPr>
          </a:p>
        </p:txBody>
      </p:sp>
      <p:sp>
        <p:nvSpPr>
          <p:cNvPr id="173" name="Google Shape;173;p32"/>
          <p:cNvSpPr txBox="1"/>
          <p:nvPr>
            <p:ph idx="1" type="body"/>
          </p:nvPr>
        </p:nvSpPr>
        <p:spPr>
          <a:xfrm>
            <a:off x="172975" y="1109075"/>
            <a:ext cx="8342400" cy="3523500"/>
          </a:xfrm>
          <a:prstGeom prst="rect">
            <a:avLst/>
          </a:prstGeom>
        </p:spPr>
        <p:txBody>
          <a:bodyPr anchorCtr="0" anchor="t" bIns="34275" lIns="68575" spcFirstLastPara="1" rIns="68575" wrap="square" tIns="34275">
            <a:normAutofit/>
          </a:bodyPr>
          <a:lstStyle/>
          <a:p>
            <a:pPr indent="0" lvl="0" marL="0" rtl="0" algn="just">
              <a:lnSpc>
                <a:spcPct val="115000"/>
              </a:lnSpc>
              <a:spcBef>
                <a:spcPts val="1400"/>
              </a:spcBef>
              <a:spcAft>
                <a:spcPts val="0"/>
              </a:spcAft>
              <a:buClr>
                <a:schemeClr val="dk1"/>
              </a:buClr>
              <a:buSzPts val="1100"/>
              <a:buFont typeface="Arial"/>
              <a:buNone/>
            </a:pPr>
            <a:r>
              <a:rPr lang="en" sz="2000">
                <a:solidFill>
                  <a:srgbClr val="1A1B1F"/>
                </a:solidFill>
                <a:highlight>
                  <a:srgbClr val="FFFFFF"/>
                </a:highlight>
                <a:latin typeface="Times New Roman"/>
                <a:ea typeface="Times New Roman"/>
                <a:cs typeface="Times New Roman"/>
                <a:sym typeface="Times New Roman"/>
              </a:rPr>
              <a:t>During stage 2 the body enters a more subdued state including a drop in temperature, relaxed muscles, and slowed breathing and heart rate. At the same time, brain waves show a new pattern and eye movement stops. On the whole, brain activity slows, but there are short bursts of activity that actually help resist being woken up by external stimuli.</a:t>
            </a:r>
            <a:endParaRPr sz="2000">
              <a:solidFill>
                <a:srgbClr val="1A1B1F"/>
              </a:solidFill>
              <a:highlight>
                <a:srgbClr val="FFFFFF"/>
              </a:highlight>
              <a:latin typeface="Times New Roman"/>
              <a:ea typeface="Times New Roman"/>
              <a:cs typeface="Times New Roman"/>
              <a:sym typeface="Times New Roman"/>
            </a:endParaRPr>
          </a:p>
          <a:p>
            <a:pPr indent="0" lvl="0" marL="0" rtl="0" algn="just">
              <a:lnSpc>
                <a:spcPct val="115000"/>
              </a:lnSpc>
              <a:spcBef>
                <a:spcPts val="1400"/>
              </a:spcBef>
              <a:spcAft>
                <a:spcPts val="0"/>
              </a:spcAft>
              <a:buClr>
                <a:schemeClr val="dk1"/>
              </a:buClr>
              <a:buSzPts val="1100"/>
              <a:buFont typeface="Arial"/>
              <a:buNone/>
            </a:pPr>
            <a:r>
              <a:rPr lang="en" sz="2000">
                <a:solidFill>
                  <a:srgbClr val="1A1B1F"/>
                </a:solidFill>
                <a:highlight>
                  <a:srgbClr val="FFFFFF"/>
                </a:highlight>
                <a:latin typeface="Times New Roman"/>
                <a:ea typeface="Times New Roman"/>
                <a:cs typeface="Times New Roman"/>
                <a:sym typeface="Times New Roman"/>
              </a:rPr>
              <a:t>Stage 2 sleep can last for 10 to 25 minutes during the first sleep cycle, and this stage can become longer during the night. Collectively, a person typically spends about half their sleep time in S2 sleep.</a:t>
            </a:r>
            <a:endParaRPr sz="2000">
              <a:solidFill>
                <a:srgbClr val="1A1B1F"/>
              </a:solidFill>
              <a:highlight>
                <a:srgbClr val="FFFFFF"/>
              </a:highlight>
              <a:latin typeface="Times New Roman"/>
              <a:ea typeface="Times New Roman"/>
              <a:cs typeface="Times New Roman"/>
              <a:sym typeface="Times New Roman"/>
            </a:endParaRPr>
          </a:p>
          <a:p>
            <a:pPr indent="0" lvl="0" marL="0" rtl="0" algn="just">
              <a:spcBef>
                <a:spcPts val="1400"/>
              </a:spcBef>
              <a:spcAft>
                <a:spcPts val="120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439050" y="758046"/>
            <a:ext cx="7886700" cy="362100"/>
          </a:xfrm>
          <a:prstGeom prst="rect">
            <a:avLst/>
          </a:prstGeom>
        </p:spPr>
        <p:txBody>
          <a:bodyPr anchorCtr="0" anchor="ctr" bIns="34275" lIns="68575" spcFirstLastPara="1" rIns="68575" wrap="square" tIns="34275">
            <a:noAutofit/>
          </a:bodyPr>
          <a:lstStyle/>
          <a:p>
            <a:pPr indent="0" lvl="0" marL="0" rtl="0" algn="ctr">
              <a:lnSpc>
                <a:spcPct val="150000"/>
              </a:lnSpc>
              <a:spcBef>
                <a:spcPts val="3800"/>
              </a:spcBef>
              <a:spcAft>
                <a:spcPts val="0"/>
              </a:spcAft>
              <a:buNone/>
            </a:pPr>
            <a:r>
              <a:rPr b="1" lang="en" sz="2300">
                <a:highlight>
                  <a:srgbClr val="FFFFFF"/>
                </a:highlight>
                <a:latin typeface="Times New Roman"/>
                <a:ea typeface="Times New Roman"/>
                <a:cs typeface="Times New Roman"/>
                <a:sym typeface="Times New Roman"/>
              </a:rPr>
              <a:t>Stage 3 &amp; Stage 4 - Deep Sleep</a:t>
            </a:r>
            <a:endParaRPr b="1" sz="2300">
              <a:highlight>
                <a:srgbClr val="FFFFFF"/>
              </a:highlight>
              <a:latin typeface="Times New Roman"/>
              <a:ea typeface="Times New Roman"/>
              <a:cs typeface="Times New Roman"/>
              <a:sym typeface="Times New Roman"/>
            </a:endParaRPr>
          </a:p>
          <a:p>
            <a:pPr indent="0" lvl="0" marL="0" rtl="0" algn="ctr">
              <a:lnSpc>
                <a:spcPct val="150000"/>
              </a:lnSpc>
              <a:spcBef>
                <a:spcPts val="3800"/>
              </a:spcBef>
              <a:spcAft>
                <a:spcPts val="1500"/>
              </a:spcAft>
              <a:buClr>
                <a:schemeClr val="dk1"/>
              </a:buClr>
              <a:buSzPts val="1100"/>
              <a:buFont typeface="Arial"/>
              <a:buNone/>
            </a:pPr>
            <a:r>
              <a:t/>
            </a:r>
            <a:endParaRPr b="1" sz="2000">
              <a:highlight>
                <a:srgbClr val="FFFFFF"/>
              </a:highlight>
              <a:latin typeface="Times New Roman"/>
              <a:ea typeface="Times New Roman"/>
              <a:cs typeface="Times New Roman"/>
              <a:sym typeface="Times New Roman"/>
            </a:endParaRPr>
          </a:p>
        </p:txBody>
      </p:sp>
      <p:sp>
        <p:nvSpPr>
          <p:cNvPr id="179" name="Google Shape;179;p33"/>
          <p:cNvSpPr txBox="1"/>
          <p:nvPr>
            <p:ph idx="1" type="body"/>
          </p:nvPr>
        </p:nvSpPr>
        <p:spPr>
          <a:xfrm>
            <a:off x="249300" y="758050"/>
            <a:ext cx="8266200" cy="4304100"/>
          </a:xfrm>
          <a:prstGeom prst="rect">
            <a:avLst/>
          </a:prstGeom>
        </p:spPr>
        <p:txBody>
          <a:bodyPr anchorCtr="0" anchor="t" bIns="34275" lIns="68575" spcFirstLastPara="1" rIns="68575" wrap="square" tIns="34275">
            <a:noAutofit/>
          </a:bodyPr>
          <a:lstStyle/>
          <a:p>
            <a:pPr indent="0" lvl="0" marL="0" rtl="0" algn="just">
              <a:lnSpc>
                <a:spcPct val="95000"/>
              </a:lnSpc>
              <a:spcBef>
                <a:spcPts val="1400"/>
              </a:spcBef>
              <a:spcAft>
                <a:spcPts val="0"/>
              </a:spcAft>
              <a:buClr>
                <a:schemeClr val="dk1"/>
              </a:buClr>
              <a:buSzPts val="358"/>
              <a:buFont typeface="Arial"/>
              <a:buNone/>
            </a:pPr>
            <a:r>
              <a:rPr lang="en" sz="2038">
                <a:solidFill>
                  <a:srgbClr val="1A1B1F"/>
                </a:solidFill>
                <a:highlight>
                  <a:srgbClr val="FFFFFF"/>
                </a:highlight>
                <a:latin typeface="Times New Roman"/>
                <a:ea typeface="Times New Roman"/>
                <a:cs typeface="Times New Roman"/>
                <a:sym typeface="Times New Roman"/>
              </a:rPr>
              <a:t>Stage 3 sleep is deep sleep, and it is harder to wake someone up if they are in this phase. Muscle tone, pulse, and breathing rate decrease as the body relaxes even further.</a:t>
            </a:r>
            <a:endParaRPr sz="2038">
              <a:solidFill>
                <a:srgbClr val="1A1B1F"/>
              </a:solidFill>
              <a:highlight>
                <a:srgbClr val="FFFFFF"/>
              </a:highlight>
              <a:latin typeface="Times New Roman"/>
              <a:ea typeface="Times New Roman"/>
              <a:cs typeface="Times New Roman"/>
              <a:sym typeface="Times New Roman"/>
            </a:endParaRPr>
          </a:p>
          <a:p>
            <a:pPr indent="0" lvl="0" marL="0" rtl="0" algn="just">
              <a:lnSpc>
                <a:spcPct val="95000"/>
              </a:lnSpc>
              <a:spcBef>
                <a:spcPts val="1400"/>
              </a:spcBef>
              <a:spcAft>
                <a:spcPts val="0"/>
              </a:spcAft>
              <a:buClr>
                <a:schemeClr val="dk1"/>
              </a:buClr>
              <a:buSzPts val="358"/>
              <a:buFont typeface="Arial"/>
              <a:buNone/>
            </a:pPr>
            <a:r>
              <a:rPr lang="en" sz="2038">
                <a:solidFill>
                  <a:srgbClr val="1A1B1F"/>
                </a:solidFill>
                <a:highlight>
                  <a:srgbClr val="FFFFFF"/>
                </a:highlight>
                <a:latin typeface="Times New Roman"/>
                <a:ea typeface="Times New Roman"/>
                <a:cs typeface="Times New Roman"/>
                <a:sym typeface="Times New Roman"/>
              </a:rPr>
              <a:t>The brain activity during this period has an identifiable pattern of what are known as delta waves. For this reason, stage 3 may also be called delta sleep or slow-wave sleep (SWS).</a:t>
            </a:r>
            <a:endParaRPr sz="2038">
              <a:solidFill>
                <a:srgbClr val="1A1B1F"/>
              </a:solidFill>
              <a:highlight>
                <a:srgbClr val="FFFFFF"/>
              </a:highlight>
              <a:latin typeface="Times New Roman"/>
              <a:ea typeface="Times New Roman"/>
              <a:cs typeface="Times New Roman"/>
              <a:sym typeface="Times New Roman"/>
            </a:endParaRPr>
          </a:p>
          <a:p>
            <a:pPr indent="0" lvl="0" marL="0" rtl="0" algn="just">
              <a:lnSpc>
                <a:spcPct val="95000"/>
              </a:lnSpc>
              <a:spcBef>
                <a:spcPts val="1400"/>
              </a:spcBef>
              <a:spcAft>
                <a:spcPts val="0"/>
              </a:spcAft>
              <a:buClr>
                <a:schemeClr val="dk1"/>
              </a:buClr>
              <a:buSzPts val="358"/>
              <a:buFont typeface="Arial"/>
              <a:buNone/>
            </a:pPr>
            <a:r>
              <a:rPr lang="en" sz="2038">
                <a:solidFill>
                  <a:srgbClr val="1A1B1F"/>
                </a:solidFill>
                <a:highlight>
                  <a:srgbClr val="FFFFFF"/>
                </a:highlight>
                <a:latin typeface="Times New Roman"/>
                <a:ea typeface="Times New Roman"/>
                <a:cs typeface="Times New Roman"/>
                <a:sym typeface="Times New Roman"/>
              </a:rPr>
              <a:t>Experts believe that this stage is critical to restorative sleep, allowing for bodily recovery and growth. It may also bolster the immune system and other key bodily processes. Even though brain activity is reduced, there is evidence that deep sleep contributes to insightful thinking You spend the most time in deep sleep during the first half of the night. During the early sleep cycles, S3 stages commonly last for 20 to 40 minutes.</a:t>
            </a:r>
            <a:endParaRPr sz="2038">
              <a:solidFill>
                <a:srgbClr val="1A1B1F"/>
              </a:solidFill>
              <a:highlight>
                <a:srgbClr val="FFFFFF"/>
              </a:highlight>
              <a:latin typeface="Times New Roman"/>
              <a:ea typeface="Times New Roman"/>
              <a:cs typeface="Times New Roman"/>
              <a:sym typeface="Times New Roman"/>
            </a:endParaRPr>
          </a:p>
          <a:p>
            <a:pPr indent="0" lvl="0" marL="0" rtl="0" algn="just">
              <a:lnSpc>
                <a:spcPct val="95000"/>
              </a:lnSpc>
              <a:spcBef>
                <a:spcPts val="1400"/>
              </a:spcBef>
              <a:spcAft>
                <a:spcPts val="1400"/>
              </a:spcAft>
              <a:buSzPts val="358"/>
              <a:buNone/>
            </a:pPr>
            <a:r>
              <a:t/>
            </a:r>
            <a:endParaRPr sz="1785"/>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628650" y="182274"/>
            <a:ext cx="7886700" cy="774300"/>
          </a:xfrm>
          <a:prstGeom prst="rect">
            <a:avLst/>
          </a:prstGeom>
        </p:spPr>
        <p:txBody>
          <a:bodyPr anchorCtr="0" anchor="ctr" bIns="34275" lIns="68575" spcFirstLastPara="1" rIns="68575" wrap="square" tIns="34275">
            <a:normAutofit/>
          </a:bodyPr>
          <a:lstStyle/>
          <a:p>
            <a:pPr indent="0" lvl="0" marL="0" rtl="0" algn="ctr">
              <a:lnSpc>
                <a:spcPct val="115000"/>
              </a:lnSpc>
              <a:spcBef>
                <a:spcPts val="1400"/>
              </a:spcBef>
              <a:spcAft>
                <a:spcPts val="400"/>
              </a:spcAft>
              <a:buClr>
                <a:schemeClr val="dk1"/>
              </a:buClr>
              <a:buSzPts val="1100"/>
              <a:buFont typeface="Arial"/>
              <a:buNone/>
            </a:pPr>
            <a:r>
              <a:rPr b="1" lang="en" sz="2400">
                <a:highlight>
                  <a:srgbClr val="FFFFFF"/>
                </a:highlight>
                <a:latin typeface="Times New Roman"/>
                <a:ea typeface="Times New Roman"/>
                <a:cs typeface="Times New Roman"/>
                <a:sym typeface="Times New Roman"/>
              </a:rPr>
              <a:t>REM sleep stage</a:t>
            </a:r>
            <a:endParaRPr b="1" sz="3900">
              <a:latin typeface="Times New Roman"/>
              <a:ea typeface="Times New Roman"/>
              <a:cs typeface="Times New Roman"/>
              <a:sym typeface="Times New Roman"/>
            </a:endParaRPr>
          </a:p>
        </p:txBody>
      </p:sp>
      <p:sp>
        <p:nvSpPr>
          <p:cNvPr id="185" name="Google Shape;185;p34"/>
          <p:cNvSpPr txBox="1"/>
          <p:nvPr>
            <p:ph idx="1" type="body"/>
          </p:nvPr>
        </p:nvSpPr>
        <p:spPr>
          <a:xfrm>
            <a:off x="340875" y="880150"/>
            <a:ext cx="8174400" cy="4263300"/>
          </a:xfrm>
          <a:prstGeom prst="rect">
            <a:avLst/>
          </a:prstGeom>
        </p:spPr>
        <p:txBody>
          <a:bodyPr anchorCtr="0" anchor="t" bIns="34275" lIns="68575" spcFirstLastPara="1" rIns="68575" wrap="square" tIns="34275">
            <a:normAutofit fontScale="85000" lnSpcReduction="20000"/>
          </a:bodyPr>
          <a:lstStyle/>
          <a:p>
            <a:pPr indent="0" lvl="0" marL="0" rtl="0" algn="just">
              <a:lnSpc>
                <a:spcPct val="115000"/>
              </a:lnSpc>
              <a:spcBef>
                <a:spcPts val="1400"/>
              </a:spcBef>
              <a:spcAft>
                <a:spcPts val="0"/>
              </a:spcAft>
              <a:buClr>
                <a:schemeClr val="dk1"/>
              </a:buClr>
              <a:buSzPct val="54777"/>
              <a:buFont typeface="Arial"/>
              <a:buNone/>
            </a:pPr>
            <a:r>
              <a:t/>
            </a:r>
            <a:endParaRPr sz="2008">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400"/>
              </a:spcBef>
              <a:spcAft>
                <a:spcPts val="0"/>
              </a:spcAft>
              <a:buClr>
                <a:schemeClr val="dk1"/>
              </a:buClr>
              <a:buSzPct val="51126"/>
              <a:buFont typeface="Arial"/>
              <a:buNone/>
            </a:pPr>
            <a:r>
              <a:rPr lang="en" sz="2151">
                <a:solidFill>
                  <a:schemeClr val="dk1"/>
                </a:solidFill>
                <a:highlight>
                  <a:srgbClr val="FFFFFF"/>
                </a:highlight>
                <a:latin typeface="Times New Roman"/>
                <a:ea typeface="Times New Roman"/>
                <a:cs typeface="Times New Roman"/>
                <a:sym typeface="Times New Roman"/>
              </a:rPr>
              <a:t>Once you’re done with the NREM stages of sleep, it’s time to move on to REM. The </a:t>
            </a:r>
            <a:r>
              <a:rPr b="1" lang="en" sz="2151">
                <a:solidFill>
                  <a:schemeClr val="dk1"/>
                </a:solidFill>
                <a:highlight>
                  <a:srgbClr val="FFFFFF"/>
                </a:highlight>
                <a:latin typeface="Times New Roman"/>
                <a:ea typeface="Times New Roman"/>
                <a:cs typeface="Times New Roman"/>
                <a:sym typeface="Times New Roman"/>
              </a:rPr>
              <a:t>Rapid Eye Movement </a:t>
            </a:r>
            <a:r>
              <a:rPr lang="en" sz="2151">
                <a:solidFill>
                  <a:schemeClr val="dk1"/>
                </a:solidFill>
                <a:highlight>
                  <a:srgbClr val="FFFFFF"/>
                </a:highlight>
                <a:latin typeface="Times New Roman"/>
                <a:ea typeface="Times New Roman"/>
                <a:cs typeface="Times New Roman"/>
                <a:sym typeface="Times New Roman"/>
              </a:rPr>
              <a:t>stage comes around nearly ninety minutes into your night of sleep, and as the stages of sleep progress, this period lasts longer and longer.</a:t>
            </a:r>
            <a:endParaRPr sz="2151">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ct val="51126"/>
              <a:buFont typeface="Arial"/>
              <a:buNone/>
            </a:pPr>
            <a:r>
              <a:rPr lang="en" sz="2151">
                <a:solidFill>
                  <a:schemeClr val="dk1"/>
                </a:solidFill>
                <a:highlight>
                  <a:srgbClr val="FFFFFF"/>
                </a:highlight>
                <a:latin typeface="Times New Roman"/>
                <a:ea typeface="Times New Roman"/>
                <a:cs typeface="Times New Roman"/>
                <a:sym typeface="Times New Roman"/>
              </a:rPr>
              <a:t>During this time, your heartbeat and breathing quicken, and it is this stage of sleep that is responsible for dreams. The way we experience REM sleep can vary depending on a lot of factors such as health and age - </a:t>
            </a:r>
            <a:r>
              <a:rPr b="1" lang="en" sz="2151">
                <a:solidFill>
                  <a:schemeClr val="dk1"/>
                </a:solidFill>
                <a:highlight>
                  <a:srgbClr val="FFFFFF"/>
                </a:highlight>
                <a:latin typeface="Times New Roman"/>
                <a:ea typeface="Times New Roman"/>
                <a:cs typeface="Times New Roman"/>
                <a:sym typeface="Times New Roman"/>
              </a:rPr>
              <a:t>infants spend up to 50% of their sleep cycle in REM sleep</a:t>
            </a:r>
            <a:r>
              <a:rPr lang="en" sz="2151">
                <a:solidFill>
                  <a:schemeClr val="dk1"/>
                </a:solidFill>
                <a:highlight>
                  <a:srgbClr val="FFFFFF"/>
                </a:highlight>
                <a:latin typeface="Times New Roman"/>
                <a:ea typeface="Times New Roman"/>
                <a:cs typeface="Times New Roman"/>
                <a:sym typeface="Times New Roman"/>
              </a:rPr>
              <a:t>, for instance, whereas adults only spend about 20% of the same.</a:t>
            </a:r>
            <a:endParaRPr sz="2151">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ct val="51126"/>
              <a:buFont typeface="Arial"/>
              <a:buNone/>
            </a:pPr>
            <a:r>
              <a:rPr lang="en" sz="2151">
                <a:solidFill>
                  <a:schemeClr val="dk1"/>
                </a:solidFill>
                <a:highlight>
                  <a:srgbClr val="FFFFFF"/>
                </a:highlight>
                <a:latin typeface="Times New Roman"/>
                <a:ea typeface="Times New Roman"/>
                <a:cs typeface="Times New Roman"/>
                <a:sym typeface="Times New Roman"/>
              </a:rPr>
              <a:t>It’s important for your brain to complete its REM sleep stages before waking up. Most of us are all too familiar with waking up in the middle of a bad dream and feeling like you’ve had no sleep at all - this is because interrupting your REM cycle leaves you groggy.</a:t>
            </a:r>
            <a:endParaRPr sz="2151">
              <a:solidFill>
                <a:schemeClr val="dk1"/>
              </a:solidFill>
              <a:highlight>
                <a:srgbClr val="FFFFFF"/>
              </a:highlight>
              <a:latin typeface="Times New Roman"/>
              <a:ea typeface="Times New Roman"/>
              <a:cs typeface="Times New Roman"/>
              <a:sym typeface="Times New Roman"/>
            </a:endParaRPr>
          </a:p>
          <a:p>
            <a:pPr indent="0" lvl="0" marL="0" rtl="0" algn="l">
              <a:lnSpc>
                <a:spcPct val="125000"/>
              </a:lnSpc>
              <a:spcBef>
                <a:spcPts val="1800"/>
              </a:spcBef>
              <a:spcAft>
                <a:spcPts val="400"/>
              </a:spcAft>
              <a:buClr>
                <a:schemeClr val="dk1"/>
              </a:buClr>
              <a:buSzPct val="45833"/>
              <a:buFont typeface="Arial"/>
              <a:buNone/>
            </a:pPr>
            <a:r>
              <a:t/>
            </a:r>
            <a:endParaRPr b="1" sz="2400">
              <a:solidFill>
                <a:schemeClr val="dk1"/>
              </a:solidFill>
              <a:highlight>
                <a:srgbClr val="FFFFFF"/>
              </a:highlight>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Stages of Sleep-Video</a:t>
            </a:r>
            <a:endParaRPr/>
          </a:p>
        </p:txBody>
      </p:sp>
      <p:sp>
        <p:nvSpPr>
          <p:cNvPr id="191" name="Google Shape;191;p3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Clr>
                <a:schemeClr val="dk1"/>
              </a:buClr>
              <a:buSzPts val="1100"/>
              <a:buFont typeface="Arial"/>
              <a:buNone/>
            </a:pPr>
            <a:r>
              <a:rPr lang="en" u="sng">
                <a:solidFill>
                  <a:schemeClr val="accent5"/>
                </a:solidFill>
                <a:hlinkClick r:id="rId3">
                  <a:extLst>
                    <a:ext uri="{A12FA001-AC4F-418D-AE19-62706E023703}">
                      <ahyp:hlinkClr val="tx"/>
                    </a:ext>
                  </a:extLst>
                </a:hlinkClick>
              </a:rPr>
              <a:t>https://www.youtube.com/watch?v=FxDSeZcedlA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300"/>
              <a:buFont typeface="Constantia"/>
              <a:buNone/>
            </a:pPr>
            <a:r>
              <a:rPr b="1" lang="en"/>
              <a:t>Functions of Sleep</a:t>
            </a:r>
            <a:endParaRPr b="1"/>
          </a:p>
        </p:txBody>
      </p:sp>
      <p:sp>
        <p:nvSpPr>
          <p:cNvPr id="197" name="Google Shape;197;p3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28600" lvl="0" marL="177800" rtl="0" algn="l">
              <a:lnSpc>
                <a:spcPct val="90000"/>
              </a:lnSpc>
              <a:spcBef>
                <a:spcPts val="0"/>
              </a:spcBef>
              <a:spcAft>
                <a:spcPts val="0"/>
              </a:spcAft>
              <a:buSzPts val="3000"/>
              <a:buFont typeface="Times New Roman"/>
              <a:buChar char="●"/>
            </a:pPr>
            <a:r>
              <a:rPr lang="en" sz="2700">
                <a:solidFill>
                  <a:schemeClr val="dk1"/>
                </a:solidFill>
                <a:latin typeface="Times New Roman"/>
                <a:ea typeface="Times New Roman"/>
                <a:cs typeface="Times New Roman"/>
                <a:sym typeface="Times New Roman"/>
              </a:rPr>
              <a:t>Protection</a:t>
            </a:r>
            <a:endParaRPr sz="2700">
              <a:solidFill>
                <a:schemeClr val="dk1"/>
              </a:solidFill>
              <a:latin typeface="Times New Roman"/>
              <a:ea typeface="Times New Roman"/>
              <a:cs typeface="Times New Roman"/>
              <a:sym typeface="Times New Roman"/>
            </a:endParaRPr>
          </a:p>
          <a:p>
            <a:pPr indent="-228600" lvl="0" marL="177800" rtl="0" algn="l">
              <a:lnSpc>
                <a:spcPct val="90000"/>
              </a:lnSpc>
              <a:spcBef>
                <a:spcPts val="800"/>
              </a:spcBef>
              <a:spcAft>
                <a:spcPts val="0"/>
              </a:spcAft>
              <a:buSzPts val="3000"/>
              <a:buFont typeface="Times New Roman"/>
              <a:buChar char="●"/>
            </a:pPr>
            <a:r>
              <a:rPr lang="en" sz="2700">
                <a:solidFill>
                  <a:schemeClr val="dk1"/>
                </a:solidFill>
                <a:latin typeface="Times New Roman"/>
                <a:ea typeface="Times New Roman"/>
                <a:cs typeface="Times New Roman"/>
                <a:sym typeface="Times New Roman"/>
              </a:rPr>
              <a:t>Recuperate</a:t>
            </a:r>
            <a:endParaRPr sz="2700">
              <a:solidFill>
                <a:schemeClr val="dk1"/>
              </a:solidFill>
              <a:latin typeface="Times New Roman"/>
              <a:ea typeface="Times New Roman"/>
              <a:cs typeface="Times New Roman"/>
              <a:sym typeface="Times New Roman"/>
            </a:endParaRPr>
          </a:p>
          <a:p>
            <a:pPr indent="-228600" lvl="0" marL="177800" rtl="0" algn="l">
              <a:lnSpc>
                <a:spcPct val="90000"/>
              </a:lnSpc>
              <a:spcBef>
                <a:spcPts val="800"/>
              </a:spcBef>
              <a:spcAft>
                <a:spcPts val="0"/>
              </a:spcAft>
              <a:buSzPts val="3000"/>
              <a:buFont typeface="Times New Roman"/>
              <a:buChar char="●"/>
            </a:pPr>
            <a:r>
              <a:rPr lang="en" sz="2700">
                <a:solidFill>
                  <a:schemeClr val="dk1"/>
                </a:solidFill>
                <a:latin typeface="Times New Roman"/>
                <a:ea typeface="Times New Roman"/>
                <a:cs typeface="Times New Roman"/>
                <a:sym typeface="Times New Roman"/>
              </a:rPr>
              <a:t>Making memories</a:t>
            </a:r>
            <a:endParaRPr sz="2700">
              <a:solidFill>
                <a:schemeClr val="dk1"/>
              </a:solidFill>
              <a:latin typeface="Times New Roman"/>
              <a:ea typeface="Times New Roman"/>
              <a:cs typeface="Times New Roman"/>
              <a:sym typeface="Times New Roman"/>
            </a:endParaRPr>
          </a:p>
          <a:p>
            <a:pPr indent="-228600" lvl="0" marL="177800" rtl="0" algn="l">
              <a:lnSpc>
                <a:spcPct val="90000"/>
              </a:lnSpc>
              <a:spcBef>
                <a:spcPts val="800"/>
              </a:spcBef>
              <a:spcAft>
                <a:spcPts val="0"/>
              </a:spcAft>
              <a:buSzPts val="3000"/>
              <a:buFont typeface="Times New Roman"/>
              <a:buChar char="●"/>
            </a:pPr>
            <a:r>
              <a:rPr lang="en" sz="2700">
                <a:solidFill>
                  <a:schemeClr val="dk1"/>
                </a:solidFill>
                <a:latin typeface="Times New Roman"/>
                <a:ea typeface="Times New Roman"/>
                <a:cs typeface="Times New Roman"/>
                <a:sym typeface="Times New Roman"/>
              </a:rPr>
              <a:t>Creative Thinking </a:t>
            </a:r>
            <a:endParaRPr sz="2700">
              <a:solidFill>
                <a:schemeClr val="dk1"/>
              </a:solidFill>
              <a:latin typeface="Times New Roman"/>
              <a:ea typeface="Times New Roman"/>
              <a:cs typeface="Times New Roman"/>
              <a:sym typeface="Times New Roman"/>
            </a:endParaRPr>
          </a:p>
          <a:p>
            <a:pPr indent="-228600" lvl="0" marL="177800" rtl="0" algn="l">
              <a:lnSpc>
                <a:spcPct val="90000"/>
              </a:lnSpc>
              <a:spcBef>
                <a:spcPts val="800"/>
              </a:spcBef>
              <a:spcAft>
                <a:spcPts val="1200"/>
              </a:spcAft>
              <a:buSzPts val="3000"/>
              <a:buFont typeface="Times New Roman"/>
              <a:buChar char="●"/>
            </a:pPr>
            <a:r>
              <a:rPr lang="en" sz="2700">
                <a:solidFill>
                  <a:schemeClr val="dk1"/>
                </a:solidFill>
                <a:latin typeface="Times New Roman"/>
                <a:ea typeface="Times New Roman"/>
                <a:cs typeface="Times New Roman"/>
                <a:sym typeface="Times New Roman"/>
              </a:rPr>
              <a:t>Growth </a:t>
            </a:r>
            <a:endParaRPr sz="27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628650" y="273847"/>
            <a:ext cx="7886700" cy="484200"/>
          </a:xfrm>
          <a:prstGeom prst="rect">
            <a:avLst/>
          </a:prstGeom>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sz="3200"/>
              <a:t>Sleep Disorders</a:t>
            </a:r>
            <a:endParaRPr sz="3200"/>
          </a:p>
        </p:txBody>
      </p:sp>
      <p:sp>
        <p:nvSpPr>
          <p:cNvPr id="203" name="Google Shape;203;p37"/>
          <p:cNvSpPr txBox="1"/>
          <p:nvPr>
            <p:ph idx="1" type="body"/>
          </p:nvPr>
        </p:nvSpPr>
        <p:spPr>
          <a:xfrm>
            <a:off x="356125" y="1109075"/>
            <a:ext cx="8159100" cy="3769800"/>
          </a:xfrm>
          <a:prstGeom prst="rect">
            <a:avLst/>
          </a:prstGeom>
        </p:spPr>
        <p:txBody>
          <a:bodyPr anchorCtr="0" anchor="t" bIns="34275" lIns="68575" spcFirstLastPara="1" rIns="68575" wrap="square" tIns="34275">
            <a:normAutofit fontScale="70000"/>
          </a:bodyPr>
          <a:lstStyle/>
          <a:p>
            <a:pPr indent="-341947" lvl="0" marL="457200" rtl="0" algn="l">
              <a:lnSpc>
                <a:spcPct val="150000"/>
              </a:lnSpc>
              <a:spcBef>
                <a:spcPts val="1200"/>
              </a:spcBef>
              <a:spcAft>
                <a:spcPts val="0"/>
              </a:spcAft>
              <a:buClr>
                <a:schemeClr val="dk1"/>
              </a:buClr>
              <a:buSzPct val="100000"/>
              <a:buFont typeface="Times New Roman"/>
              <a:buChar char="●"/>
            </a:pPr>
            <a:r>
              <a:rPr b="1" lang="en" sz="255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Insomnia</a:t>
            </a:r>
            <a:r>
              <a:rPr b="1" lang="en" sz="2550">
                <a:solidFill>
                  <a:schemeClr val="dk1"/>
                </a:solidFill>
                <a:latin typeface="Times New Roman"/>
                <a:ea typeface="Times New Roman"/>
                <a:cs typeface="Times New Roman"/>
                <a:sym typeface="Times New Roman"/>
              </a:rPr>
              <a:t>:</a:t>
            </a:r>
            <a:r>
              <a:rPr lang="en" sz="2550">
                <a:solidFill>
                  <a:schemeClr val="dk1"/>
                </a:solidFill>
                <a:latin typeface="Times New Roman"/>
                <a:ea typeface="Times New Roman"/>
                <a:cs typeface="Times New Roman"/>
                <a:sym typeface="Times New Roman"/>
              </a:rPr>
              <a:t> You have difficulty falling and staying asleep.</a:t>
            </a:r>
            <a:endParaRPr sz="2550">
              <a:solidFill>
                <a:schemeClr val="dk1"/>
              </a:solidFill>
              <a:latin typeface="Times New Roman"/>
              <a:ea typeface="Times New Roman"/>
              <a:cs typeface="Times New Roman"/>
              <a:sym typeface="Times New Roman"/>
            </a:endParaRPr>
          </a:p>
          <a:p>
            <a:pPr indent="-341947" lvl="0" marL="457200" rtl="0" algn="l">
              <a:lnSpc>
                <a:spcPct val="150000"/>
              </a:lnSpc>
              <a:spcBef>
                <a:spcPts val="0"/>
              </a:spcBef>
              <a:spcAft>
                <a:spcPts val="0"/>
              </a:spcAft>
              <a:buClr>
                <a:schemeClr val="dk1"/>
              </a:buClr>
              <a:buSzPct val="100000"/>
              <a:buFont typeface="Times New Roman"/>
              <a:buChar char="●"/>
            </a:pPr>
            <a:r>
              <a:rPr b="1" lang="en" sz="2550">
                <a:solidFill>
                  <a:schemeClr val="dk1"/>
                </a:solidFill>
                <a:latin typeface="Times New Roman"/>
                <a:ea typeface="Times New Roman"/>
                <a:cs typeface="Times New Roman"/>
                <a:sym typeface="Times New Roman"/>
              </a:rPr>
              <a:t>Sleep-related breathing disorders: </a:t>
            </a:r>
            <a:r>
              <a:rPr lang="en" sz="2550">
                <a:solidFill>
                  <a:schemeClr val="dk1"/>
                </a:solidFill>
                <a:latin typeface="Times New Roman"/>
                <a:ea typeface="Times New Roman"/>
                <a:cs typeface="Times New Roman"/>
                <a:sym typeface="Times New Roman"/>
              </a:rPr>
              <a:t>Your breathing changes while you sleep.</a:t>
            </a:r>
            <a:endParaRPr sz="2550">
              <a:solidFill>
                <a:schemeClr val="dk1"/>
              </a:solidFill>
              <a:latin typeface="Times New Roman"/>
              <a:ea typeface="Times New Roman"/>
              <a:cs typeface="Times New Roman"/>
              <a:sym typeface="Times New Roman"/>
            </a:endParaRPr>
          </a:p>
          <a:p>
            <a:pPr indent="-341947" lvl="0" marL="457200" rtl="0" algn="l">
              <a:lnSpc>
                <a:spcPct val="150000"/>
              </a:lnSpc>
              <a:spcBef>
                <a:spcPts val="0"/>
              </a:spcBef>
              <a:spcAft>
                <a:spcPts val="0"/>
              </a:spcAft>
              <a:buClr>
                <a:schemeClr val="dk1"/>
              </a:buClr>
              <a:buSzPct val="100000"/>
              <a:buFont typeface="Times New Roman"/>
              <a:buChar char="●"/>
            </a:pPr>
            <a:r>
              <a:rPr b="1" lang="en" sz="255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Circadian rhythm sleep-wake disorders</a:t>
            </a:r>
            <a:r>
              <a:rPr b="1" lang="en" sz="2550">
                <a:solidFill>
                  <a:schemeClr val="dk1"/>
                </a:solidFill>
                <a:latin typeface="Times New Roman"/>
                <a:ea typeface="Times New Roman"/>
                <a:cs typeface="Times New Roman"/>
                <a:sym typeface="Times New Roman"/>
              </a:rPr>
              <a:t>:</a:t>
            </a:r>
            <a:r>
              <a:rPr lang="en" sz="2550">
                <a:solidFill>
                  <a:schemeClr val="dk1"/>
                </a:solidFill>
                <a:latin typeface="Times New Roman"/>
                <a:ea typeface="Times New Roman"/>
                <a:cs typeface="Times New Roman"/>
                <a:sym typeface="Times New Roman"/>
              </a:rPr>
              <a:t> Your internal clock makes it difficult to fall asleep and wake up on time.</a:t>
            </a:r>
            <a:endParaRPr sz="2550">
              <a:solidFill>
                <a:schemeClr val="dk1"/>
              </a:solidFill>
              <a:latin typeface="Times New Roman"/>
              <a:ea typeface="Times New Roman"/>
              <a:cs typeface="Times New Roman"/>
              <a:sym typeface="Times New Roman"/>
            </a:endParaRPr>
          </a:p>
          <a:p>
            <a:pPr indent="-341947" lvl="0" marL="457200" rtl="0" algn="l">
              <a:lnSpc>
                <a:spcPct val="150000"/>
              </a:lnSpc>
              <a:spcBef>
                <a:spcPts val="0"/>
              </a:spcBef>
              <a:spcAft>
                <a:spcPts val="0"/>
              </a:spcAft>
              <a:buClr>
                <a:schemeClr val="dk1"/>
              </a:buClr>
              <a:buSzPct val="100000"/>
              <a:buFont typeface="Times New Roman"/>
              <a:buChar char="●"/>
            </a:pPr>
            <a:r>
              <a:rPr b="1" lang="en" sz="2550">
                <a:solidFill>
                  <a:schemeClr val="dk1"/>
                </a:solidFill>
                <a:latin typeface="Times New Roman"/>
                <a:ea typeface="Times New Roman"/>
                <a:cs typeface="Times New Roman"/>
                <a:sym typeface="Times New Roman"/>
              </a:rPr>
              <a:t>Parasomnias:</a:t>
            </a:r>
            <a:r>
              <a:rPr lang="en" sz="2550">
                <a:solidFill>
                  <a:schemeClr val="dk1"/>
                </a:solidFill>
                <a:latin typeface="Times New Roman"/>
                <a:ea typeface="Times New Roman"/>
                <a:cs typeface="Times New Roman"/>
                <a:sym typeface="Times New Roman"/>
              </a:rPr>
              <a:t> Physical actions or verbal expressions happen during sleep like </a:t>
            </a:r>
            <a:r>
              <a:rPr lang="en" sz="255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walking</a:t>
            </a:r>
            <a:r>
              <a:rPr lang="en" sz="2550">
                <a:solidFill>
                  <a:schemeClr val="dk1"/>
                </a:solidFill>
                <a:latin typeface="Times New Roman"/>
                <a:ea typeface="Times New Roman"/>
                <a:cs typeface="Times New Roman"/>
                <a:sym typeface="Times New Roman"/>
              </a:rPr>
              <a:t>, talking or eating.</a:t>
            </a:r>
            <a:endParaRPr sz="2550">
              <a:solidFill>
                <a:schemeClr val="dk1"/>
              </a:solidFill>
              <a:latin typeface="Times New Roman"/>
              <a:ea typeface="Times New Roman"/>
              <a:cs typeface="Times New Roman"/>
              <a:sym typeface="Times New Roman"/>
            </a:endParaRPr>
          </a:p>
          <a:p>
            <a:pPr indent="-341947" lvl="0" marL="457200" rtl="0" algn="l">
              <a:lnSpc>
                <a:spcPct val="150000"/>
              </a:lnSpc>
              <a:spcBef>
                <a:spcPts val="0"/>
              </a:spcBef>
              <a:spcAft>
                <a:spcPts val="0"/>
              </a:spcAft>
              <a:buClr>
                <a:schemeClr val="dk1"/>
              </a:buClr>
              <a:buSzPct val="100000"/>
              <a:buFont typeface="Times New Roman"/>
              <a:buChar char="●"/>
            </a:pPr>
            <a:r>
              <a:rPr b="1" lang="en" sz="2550">
                <a:solidFill>
                  <a:schemeClr val="dk1"/>
                </a:solidFill>
                <a:latin typeface="Times New Roman"/>
                <a:ea typeface="Times New Roman"/>
                <a:cs typeface="Times New Roman"/>
                <a:sym typeface="Times New Roman"/>
              </a:rPr>
              <a:t>Sleep-related movement disorders:</a:t>
            </a:r>
            <a:r>
              <a:rPr lang="en" sz="2550">
                <a:solidFill>
                  <a:schemeClr val="dk1"/>
                </a:solidFill>
                <a:latin typeface="Times New Roman"/>
                <a:ea typeface="Times New Roman"/>
                <a:cs typeface="Times New Roman"/>
                <a:sym typeface="Times New Roman"/>
              </a:rPr>
              <a:t> Physical movements or the urge to move makes it difficult to fall asleep and/or stay asleep</a:t>
            </a:r>
            <a:endParaRPr sz="255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title"/>
          </p:nvPr>
        </p:nvSpPr>
        <p:spPr>
          <a:xfrm>
            <a:off x="628650" y="273848"/>
            <a:ext cx="7886700" cy="621600"/>
          </a:xfrm>
          <a:prstGeom prst="rect">
            <a:avLst/>
          </a:prstGeom>
          <a:noFill/>
          <a:ln>
            <a:noFill/>
          </a:ln>
        </p:spPr>
        <p:txBody>
          <a:bodyPr anchorCtr="0" anchor="ctr" bIns="34275" lIns="68575" spcFirstLastPara="1" rIns="68575" wrap="square" tIns="34275">
            <a:normAutofit/>
          </a:bodyPr>
          <a:lstStyle/>
          <a:p>
            <a:pPr indent="0" lvl="0" marL="177800" rtl="0" algn="ctr">
              <a:spcBef>
                <a:spcPts val="800"/>
              </a:spcBef>
              <a:spcAft>
                <a:spcPts val="1200"/>
              </a:spcAft>
              <a:buNone/>
            </a:pPr>
            <a:r>
              <a:rPr b="1" lang="en" sz="2700">
                <a:latin typeface="Times New Roman"/>
                <a:ea typeface="Times New Roman"/>
                <a:cs typeface="Times New Roman"/>
                <a:sym typeface="Times New Roman"/>
              </a:rPr>
              <a:t>Dreams</a:t>
            </a:r>
            <a:endParaRPr b="1" sz="3700">
              <a:latin typeface="Times New Roman"/>
              <a:ea typeface="Times New Roman"/>
              <a:cs typeface="Times New Roman"/>
              <a:sym typeface="Times New Roman"/>
            </a:endParaRPr>
          </a:p>
        </p:txBody>
      </p:sp>
      <p:sp>
        <p:nvSpPr>
          <p:cNvPr id="210" name="Google Shape;210;p38"/>
          <p:cNvSpPr txBox="1"/>
          <p:nvPr>
            <p:ph idx="1" type="body"/>
          </p:nvPr>
        </p:nvSpPr>
        <p:spPr>
          <a:xfrm>
            <a:off x="628650" y="1032775"/>
            <a:ext cx="7886700" cy="39225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800"/>
              </a:spcBef>
              <a:spcAft>
                <a:spcPts val="0"/>
              </a:spcAft>
              <a:buNone/>
            </a:pPr>
            <a:r>
              <a:t/>
            </a:r>
            <a:endParaRPr sz="2500">
              <a:solidFill>
                <a:schemeClr val="dk1"/>
              </a:solidFill>
              <a:latin typeface="Times New Roman"/>
              <a:ea typeface="Times New Roman"/>
              <a:cs typeface="Times New Roman"/>
              <a:sym typeface="Times New Roman"/>
            </a:endParaRPr>
          </a:p>
          <a:p>
            <a:pPr indent="-167322" lvl="0" marL="177800" rtl="0" algn="just">
              <a:lnSpc>
                <a:spcPct val="115000"/>
              </a:lnSpc>
              <a:spcBef>
                <a:spcPts val="1400"/>
              </a:spcBef>
              <a:spcAft>
                <a:spcPts val="0"/>
              </a:spcAft>
              <a:buSzPct val="100000"/>
              <a:buFont typeface="Times New Roman"/>
              <a:buChar char="●"/>
            </a:pPr>
            <a:r>
              <a:rPr lang="en" sz="2200">
                <a:solidFill>
                  <a:schemeClr val="dk1"/>
                </a:solidFill>
                <a:highlight>
                  <a:srgbClr val="FFFFFF"/>
                </a:highlight>
                <a:latin typeface="Times New Roman"/>
                <a:ea typeface="Times New Roman"/>
                <a:cs typeface="Times New Roman"/>
                <a:sym typeface="Times New Roman"/>
              </a:rPr>
              <a:t>Sigmund Freud: Wish-Fulfillment</a:t>
            </a:r>
            <a:endParaRPr sz="2200">
              <a:solidFill>
                <a:schemeClr val="dk1"/>
              </a:solidFill>
              <a:highlight>
                <a:srgbClr val="FFFFFF"/>
              </a:highlight>
              <a:latin typeface="Times New Roman"/>
              <a:ea typeface="Times New Roman"/>
              <a:cs typeface="Times New Roman"/>
              <a:sym typeface="Times New Roman"/>
            </a:endParaRPr>
          </a:p>
          <a:p>
            <a:pPr indent="0" lvl="0" marL="177800" rtl="0" algn="just">
              <a:lnSpc>
                <a:spcPct val="115000"/>
              </a:lnSpc>
              <a:spcBef>
                <a:spcPts val="1400"/>
              </a:spcBef>
              <a:spcAft>
                <a:spcPts val="0"/>
              </a:spcAft>
              <a:buNone/>
            </a:pPr>
            <a:r>
              <a:t/>
            </a:r>
            <a:endParaRPr sz="2200">
              <a:solidFill>
                <a:schemeClr val="dk1"/>
              </a:solidFill>
              <a:highlight>
                <a:srgbClr val="FFFFFF"/>
              </a:highlight>
              <a:latin typeface="Times New Roman"/>
              <a:ea typeface="Times New Roman"/>
              <a:cs typeface="Times New Roman"/>
              <a:sym typeface="Times New Roman"/>
            </a:endParaRPr>
          </a:p>
          <a:p>
            <a:pPr indent="-167322" lvl="0" marL="177800" rtl="0" algn="just">
              <a:lnSpc>
                <a:spcPct val="115000"/>
              </a:lnSpc>
              <a:spcBef>
                <a:spcPts val="1400"/>
              </a:spcBef>
              <a:spcAft>
                <a:spcPts val="0"/>
              </a:spcAft>
              <a:buSzPct val="100000"/>
              <a:buFont typeface="Times New Roman"/>
              <a:buChar char="●"/>
            </a:pPr>
            <a:r>
              <a:rPr lang="en" sz="2200">
                <a:solidFill>
                  <a:schemeClr val="dk1"/>
                </a:solidFill>
                <a:highlight>
                  <a:srgbClr val="FFFFFF"/>
                </a:highlight>
                <a:latin typeface="Times New Roman"/>
                <a:ea typeface="Times New Roman"/>
                <a:cs typeface="Times New Roman"/>
                <a:sym typeface="Times New Roman"/>
              </a:rPr>
              <a:t>Carl Jung: Dreams-Direct Mental Expressions</a:t>
            </a:r>
            <a:endParaRPr sz="2200">
              <a:solidFill>
                <a:schemeClr val="dk1"/>
              </a:solidFill>
              <a:highlight>
                <a:srgbClr val="FFFFFF"/>
              </a:highlight>
              <a:latin typeface="Times New Roman"/>
              <a:ea typeface="Times New Roman"/>
              <a:cs typeface="Times New Roman"/>
              <a:sym typeface="Times New Roman"/>
            </a:endParaRPr>
          </a:p>
          <a:p>
            <a:pPr indent="0" lvl="0" marL="177800" rtl="0" algn="just">
              <a:lnSpc>
                <a:spcPct val="115000"/>
              </a:lnSpc>
              <a:spcBef>
                <a:spcPts val="1400"/>
              </a:spcBef>
              <a:spcAft>
                <a:spcPts val="0"/>
              </a:spcAft>
              <a:buNone/>
            </a:pPr>
            <a:r>
              <a:t/>
            </a:r>
            <a:endParaRPr sz="2200">
              <a:solidFill>
                <a:schemeClr val="dk1"/>
              </a:solidFill>
              <a:highlight>
                <a:srgbClr val="FFFFFF"/>
              </a:highlight>
              <a:latin typeface="Times New Roman"/>
              <a:ea typeface="Times New Roman"/>
              <a:cs typeface="Times New Roman"/>
              <a:sym typeface="Times New Roman"/>
            </a:endParaRPr>
          </a:p>
          <a:p>
            <a:pPr indent="-167322" lvl="0" marL="177800" rtl="0" algn="just">
              <a:lnSpc>
                <a:spcPct val="115000"/>
              </a:lnSpc>
              <a:spcBef>
                <a:spcPts val="1400"/>
              </a:spcBef>
              <a:spcAft>
                <a:spcPts val="0"/>
              </a:spcAft>
              <a:buSzPct val="1000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Threat Simulation Theory: The primary function of negative dreams, is rehearsal for similar real events, so that threat recognition and avoidance happens faster and more automatically in comparable real situations.</a:t>
            </a:r>
            <a:endParaRPr sz="2200">
              <a:solidFill>
                <a:schemeClr val="dk1"/>
              </a:solidFill>
              <a:highlight>
                <a:srgbClr val="FFFFFF"/>
              </a:highlight>
              <a:latin typeface="Times New Roman"/>
              <a:ea typeface="Times New Roman"/>
              <a:cs typeface="Times New Roman"/>
              <a:sym typeface="Times New Roman"/>
            </a:endParaRPr>
          </a:p>
          <a:p>
            <a:pPr indent="0" lvl="0" marL="177800" rtl="0" algn="l">
              <a:lnSpc>
                <a:spcPct val="115000"/>
              </a:lnSpc>
              <a:spcBef>
                <a:spcPts val="1400"/>
              </a:spcBef>
              <a:spcAft>
                <a:spcPts val="400"/>
              </a:spcAft>
              <a:buNone/>
            </a:pPr>
            <a:r>
              <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