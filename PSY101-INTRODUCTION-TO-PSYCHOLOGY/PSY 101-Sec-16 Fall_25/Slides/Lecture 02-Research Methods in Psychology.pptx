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Lst>
  <p:sldSz cy="5143500" cx="9144000"/>
  <p:notesSz cx="6858000" cy="9144000"/>
  <p:embeddedFontLst>
    <p:embeddedFont>
      <p:font typeface="Constantia"/>
      <p:regular r:id="rId40"/>
      <p:bold r:id="rId41"/>
      <p:italic r:id="rId42"/>
      <p:boldItalic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4BFE9E6-37BC-4EC4-A1F8-DBA932C378A3}">
  <a:tblStyle styleId="{84BFE9E6-37BC-4EC4-A1F8-DBA932C378A3}"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Constantia-regular.fntdata"/><Relationship Id="rId20" Type="http://schemas.openxmlformats.org/officeDocument/2006/relationships/slide" Target="slides/slide14.xml"/><Relationship Id="rId42" Type="http://schemas.openxmlformats.org/officeDocument/2006/relationships/font" Target="fonts/Constantia-italic.fntdata"/><Relationship Id="rId41" Type="http://schemas.openxmlformats.org/officeDocument/2006/relationships/font" Target="fonts/Constantia-bold.fntdata"/><Relationship Id="rId22" Type="http://schemas.openxmlformats.org/officeDocument/2006/relationships/slide" Target="slides/slide16.xml"/><Relationship Id="rId21" Type="http://schemas.openxmlformats.org/officeDocument/2006/relationships/slide" Target="slides/slide15.xml"/><Relationship Id="rId43" Type="http://schemas.openxmlformats.org/officeDocument/2006/relationships/font" Target="fonts/Constantia-boldItalic.fntdata"/><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85f55501e9_2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 name="Google Shape;58;g385f55501e9_2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sz="1200">
                <a:solidFill>
                  <a:schemeClr val="dk1"/>
                </a:solidFill>
                <a:latin typeface="Calibri"/>
                <a:ea typeface="Calibri"/>
                <a:cs typeface="Calibri"/>
                <a:sym typeface="Calibri"/>
              </a:rPr>
              <a:t>So today I want to talk with you about how it is that we can do research of a</a:t>
            </a:r>
            <a:endParaRPr/>
          </a:p>
          <a:p>
            <a:pPr indent="0" lvl="0" marL="0" rtl="0" algn="l">
              <a:lnSpc>
                <a:spcPct val="100000"/>
              </a:lnSpc>
              <a:spcBef>
                <a:spcPts val="0"/>
              </a:spcBef>
              <a:spcAft>
                <a:spcPts val="0"/>
              </a:spcAft>
              <a:buSzPts val="1100"/>
              <a:buNone/>
            </a:pPr>
            <a:r>
              <a:rPr lang="en" sz="1200">
                <a:solidFill>
                  <a:schemeClr val="dk1"/>
                </a:solidFill>
                <a:latin typeface="Calibri"/>
                <a:ea typeface="Calibri"/>
                <a:cs typeface="Calibri"/>
                <a:sym typeface="Calibri"/>
              </a:rPr>
              <a:t>scientific kind for something as complex as human behavior as opposed to things</a:t>
            </a:r>
            <a:endParaRPr/>
          </a:p>
          <a:p>
            <a:pPr indent="0" lvl="0" marL="0" rtl="0" algn="l">
              <a:lnSpc>
                <a:spcPct val="100000"/>
              </a:lnSpc>
              <a:spcBef>
                <a:spcPts val="0"/>
              </a:spcBef>
              <a:spcAft>
                <a:spcPts val="0"/>
              </a:spcAft>
              <a:buSzPts val="1100"/>
              <a:buNone/>
            </a:pPr>
            <a:r>
              <a:rPr lang="en" sz="1200">
                <a:solidFill>
                  <a:schemeClr val="dk1"/>
                </a:solidFill>
                <a:latin typeface="Calibri"/>
                <a:ea typeface="Calibri"/>
                <a:cs typeface="Calibri"/>
                <a:sym typeface="Calibri"/>
              </a:rPr>
              <a:t>that you measure out in space or test tubes or under microscopes. People are</a:t>
            </a:r>
            <a:endParaRPr/>
          </a:p>
          <a:p>
            <a:pPr indent="0" lvl="0" marL="0" rtl="0" algn="l">
              <a:lnSpc>
                <a:spcPct val="100000"/>
              </a:lnSpc>
              <a:spcBef>
                <a:spcPts val="0"/>
              </a:spcBef>
              <a:spcAft>
                <a:spcPts val="0"/>
              </a:spcAft>
              <a:buSzPts val="1100"/>
              <a:buNone/>
            </a:pPr>
            <a:r>
              <a:rPr lang="en" sz="1200">
                <a:solidFill>
                  <a:schemeClr val="dk1"/>
                </a:solidFill>
                <a:latin typeface="Calibri"/>
                <a:ea typeface="Calibri"/>
                <a:cs typeface="Calibri"/>
                <a:sym typeface="Calibri"/>
              </a:rPr>
              <a:t>complex organisms, right? And to do research on them, to understand human</a:t>
            </a:r>
            <a:endParaRPr/>
          </a:p>
          <a:p>
            <a:pPr indent="0" lvl="0" marL="0" rtl="0" algn="l">
              <a:lnSpc>
                <a:spcPct val="100000"/>
              </a:lnSpc>
              <a:spcBef>
                <a:spcPts val="0"/>
              </a:spcBef>
              <a:spcAft>
                <a:spcPts val="0"/>
              </a:spcAft>
              <a:buSzPts val="1100"/>
              <a:buNone/>
            </a:pPr>
            <a:r>
              <a:rPr lang="en" sz="1200">
                <a:solidFill>
                  <a:schemeClr val="dk1"/>
                </a:solidFill>
                <a:latin typeface="Calibri"/>
                <a:ea typeface="Calibri"/>
                <a:cs typeface="Calibri"/>
                <a:sym typeface="Calibri"/>
              </a:rPr>
              <a:t>nature, how the mind works, how the brain supports it, is a challenging story.</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sz="1200">
                <a:solidFill>
                  <a:schemeClr val="dk1"/>
                </a:solidFill>
                <a:latin typeface="Calibri"/>
                <a:ea typeface="Calibri"/>
                <a:cs typeface="Calibri"/>
                <a:sym typeface="Calibri"/>
              </a:rPr>
              <a:t>So the usual thing is an experiment. You have a group of participants. And we'll talk</a:t>
            </a:r>
            <a:endParaRPr/>
          </a:p>
          <a:p>
            <a:pPr indent="0" lvl="0" marL="0" rtl="0" algn="l">
              <a:lnSpc>
                <a:spcPct val="100000"/>
              </a:lnSpc>
              <a:spcBef>
                <a:spcPts val="0"/>
              </a:spcBef>
              <a:spcAft>
                <a:spcPts val="0"/>
              </a:spcAft>
              <a:buSzPts val="1100"/>
              <a:buNone/>
            </a:pPr>
            <a:r>
              <a:rPr lang="en" sz="1200">
                <a:solidFill>
                  <a:schemeClr val="dk1"/>
                </a:solidFill>
                <a:latin typeface="Calibri"/>
                <a:ea typeface="Calibri"/>
                <a:cs typeface="Calibri"/>
                <a:sym typeface="Calibri"/>
              </a:rPr>
              <a:t>about that.</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sz="1200">
                <a:solidFill>
                  <a:schemeClr val="dk1"/>
                </a:solidFill>
                <a:latin typeface="Calibri"/>
                <a:ea typeface="Calibri"/>
                <a:cs typeface="Calibri"/>
                <a:sym typeface="Calibri"/>
              </a:rPr>
              <a:t>is Historically, in psychology there has been another</a:t>
            </a:r>
            <a:endParaRPr/>
          </a:p>
          <a:p>
            <a:pPr indent="0" lvl="0" marL="0" rtl="0" algn="l">
              <a:lnSpc>
                <a:spcPct val="100000"/>
              </a:lnSpc>
              <a:spcBef>
                <a:spcPts val="0"/>
              </a:spcBef>
              <a:spcAft>
                <a:spcPts val="0"/>
              </a:spcAft>
              <a:buSzPts val="1100"/>
              <a:buNone/>
            </a:pPr>
            <a:r>
              <a:rPr lang="en" sz="1200">
                <a:solidFill>
                  <a:schemeClr val="dk1"/>
                </a:solidFill>
                <a:latin typeface="Calibri"/>
                <a:ea typeface="Calibri"/>
                <a:cs typeface="Calibri"/>
                <a:sym typeface="Calibri"/>
              </a:rPr>
              <a:t>thread of the kind of way that people are studied, which is dramatic individual</a:t>
            </a:r>
            <a:endParaRPr/>
          </a:p>
          <a:p>
            <a:pPr indent="0" lvl="0" marL="0" rtl="0" algn="l">
              <a:lnSpc>
                <a:spcPct val="100000"/>
              </a:lnSpc>
              <a:spcBef>
                <a:spcPts val="0"/>
              </a:spcBef>
              <a:spcAft>
                <a:spcPts val="0"/>
              </a:spcAft>
              <a:buSzPts val="1100"/>
              <a:buNone/>
            </a:pPr>
            <a:r>
              <a:rPr lang="en" sz="1200">
                <a:solidFill>
                  <a:schemeClr val="dk1"/>
                </a:solidFill>
                <a:latin typeface="Calibri"/>
                <a:ea typeface="Calibri"/>
                <a:cs typeface="Calibri"/>
                <a:sym typeface="Calibri"/>
              </a:rPr>
              <a:t>stories, case studies, single stories that are illustrative of something that we think</a:t>
            </a:r>
            <a:endParaRPr/>
          </a:p>
          <a:p>
            <a:pPr indent="0" lvl="0" marL="0" rtl="0" algn="l">
              <a:lnSpc>
                <a:spcPct val="100000"/>
              </a:lnSpc>
              <a:spcBef>
                <a:spcPts val="0"/>
              </a:spcBef>
              <a:spcAft>
                <a:spcPts val="0"/>
              </a:spcAft>
              <a:buSzPts val="1100"/>
              <a:buNone/>
            </a:pPr>
            <a:r>
              <a:rPr lang="en" sz="1200">
                <a:solidFill>
                  <a:schemeClr val="dk1"/>
                </a:solidFill>
                <a:latin typeface="Calibri"/>
                <a:ea typeface="Calibri"/>
                <a:cs typeface="Calibri"/>
                <a:sym typeface="Calibri"/>
              </a:rPr>
              <a:t>are broader principles.</a:t>
            </a:r>
            <a:endParaRPr/>
          </a:p>
          <a:p>
            <a:pPr indent="0" lvl="0" marL="0" rtl="0" algn="l">
              <a:lnSpc>
                <a:spcPct val="100000"/>
              </a:lnSpc>
              <a:spcBef>
                <a:spcPts val="0"/>
              </a:spcBef>
              <a:spcAft>
                <a:spcPts val="0"/>
              </a:spcAft>
              <a:buSzPts val="1100"/>
              <a:buNone/>
            </a:pPr>
            <a:r>
              <a:rPr lang="en" sz="1200">
                <a:solidFill>
                  <a:schemeClr val="dk1"/>
                </a:solidFill>
                <a:latin typeface="Calibri"/>
                <a:ea typeface="Calibri"/>
                <a:cs typeface="Calibri"/>
                <a:sym typeface="Calibri"/>
              </a:rPr>
              <a:t>And a lot of our biggest discoveries-- and we'll come to that later in the course--</a:t>
            </a:r>
            <a:endParaRPr/>
          </a:p>
          <a:p>
            <a:pPr indent="0" lvl="0" marL="0" rtl="0" algn="l">
              <a:lnSpc>
                <a:spcPct val="100000"/>
              </a:lnSpc>
              <a:spcBef>
                <a:spcPts val="0"/>
              </a:spcBef>
              <a:spcAft>
                <a:spcPts val="0"/>
              </a:spcAft>
              <a:buSzPts val="1100"/>
              <a:buNone/>
            </a:pPr>
            <a:r>
              <a:rPr lang="en" sz="1200">
                <a:solidFill>
                  <a:schemeClr val="dk1"/>
                </a:solidFill>
                <a:latin typeface="Calibri"/>
                <a:ea typeface="Calibri"/>
                <a:cs typeface="Calibri"/>
                <a:sym typeface="Calibri"/>
              </a:rPr>
              <a:t>have been made on very unusual single individuals who turn out to have a lesson</a:t>
            </a:r>
            <a:endParaRPr/>
          </a:p>
          <a:p>
            <a:pPr indent="0" lvl="0" marL="0" rtl="0" algn="l">
              <a:lnSpc>
                <a:spcPct val="100000"/>
              </a:lnSpc>
              <a:spcBef>
                <a:spcPts val="0"/>
              </a:spcBef>
              <a:spcAft>
                <a:spcPts val="0"/>
              </a:spcAft>
              <a:buSzPts val="1100"/>
              <a:buNone/>
            </a:pPr>
            <a:r>
              <a:rPr lang="en" sz="1200">
                <a:solidFill>
                  <a:schemeClr val="dk1"/>
                </a:solidFill>
                <a:latin typeface="Calibri"/>
                <a:ea typeface="Calibri"/>
                <a:cs typeface="Calibri"/>
                <a:sym typeface="Calibri"/>
              </a:rPr>
              <a:t>that’s incredibly important. </a:t>
            </a:r>
            <a:endParaRPr/>
          </a:p>
          <a:p>
            <a:pPr indent="0" lvl="0" marL="0" rtl="0" algn="l">
              <a:lnSpc>
                <a:spcPct val="100000"/>
              </a:lnSpc>
              <a:spcBef>
                <a:spcPts val="0"/>
              </a:spcBef>
              <a:spcAft>
                <a:spcPts val="0"/>
              </a:spcAft>
              <a:buSzPts val="1100"/>
              <a:buNone/>
            </a:pPr>
            <a:r>
              <a:t/>
            </a:r>
            <a:endParaRPr/>
          </a:p>
        </p:txBody>
      </p:sp>
      <p:sp>
        <p:nvSpPr>
          <p:cNvPr id="59" name="Google Shape;59;g385f55501e9_2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85f55501e9_2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 name="Google Shape;66;g385f55501e9_2_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sz="1200">
                <a:solidFill>
                  <a:schemeClr val="dk1"/>
                </a:solidFill>
                <a:latin typeface="Calibri"/>
                <a:ea typeface="Calibri"/>
                <a:cs typeface="Calibri"/>
                <a:sym typeface="Calibri"/>
              </a:rPr>
              <a:t>So I'm going to talk with you today about research in psychology. And a funny thing</a:t>
            </a:r>
            <a:endParaRPr/>
          </a:p>
          <a:p>
            <a:pPr indent="0" lvl="0" marL="0" rtl="0" algn="l">
              <a:lnSpc>
                <a:spcPct val="100000"/>
              </a:lnSpc>
              <a:spcBef>
                <a:spcPts val="0"/>
              </a:spcBef>
              <a:spcAft>
                <a:spcPts val="0"/>
              </a:spcAft>
              <a:buSzPts val="1100"/>
              <a:buNone/>
            </a:pPr>
            <a:r>
              <a:rPr lang="en" sz="1200">
                <a:solidFill>
                  <a:schemeClr val="dk1"/>
                </a:solidFill>
                <a:latin typeface="Calibri"/>
                <a:ea typeface="Calibri"/>
                <a:cs typeface="Calibri"/>
                <a:sym typeface="Calibri"/>
              </a:rPr>
              <a:t>about psychology, and I'll come back to this, is everybody is an amateur</a:t>
            </a:r>
            <a:endParaRPr/>
          </a:p>
          <a:p>
            <a:pPr indent="0" lvl="0" marL="0" rtl="0" algn="l">
              <a:lnSpc>
                <a:spcPct val="100000"/>
              </a:lnSpc>
              <a:spcBef>
                <a:spcPts val="0"/>
              </a:spcBef>
              <a:spcAft>
                <a:spcPts val="0"/>
              </a:spcAft>
              <a:buSzPts val="1100"/>
              <a:buNone/>
            </a:pPr>
            <a:r>
              <a:rPr lang="en" sz="1200">
                <a:solidFill>
                  <a:schemeClr val="dk1"/>
                </a:solidFill>
                <a:latin typeface="Calibri"/>
                <a:ea typeface="Calibri"/>
                <a:cs typeface="Calibri"/>
                <a:sym typeface="Calibri"/>
              </a:rPr>
              <a:t>psychologist. They have to be. If you deal with people, you're an amateur</a:t>
            </a:r>
            <a:endParaRPr/>
          </a:p>
          <a:p>
            <a:pPr indent="0" lvl="0" marL="0" rtl="0" algn="l">
              <a:lnSpc>
                <a:spcPct val="100000"/>
              </a:lnSpc>
              <a:spcBef>
                <a:spcPts val="0"/>
              </a:spcBef>
              <a:spcAft>
                <a:spcPts val="0"/>
              </a:spcAft>
              <a:buSzPts val="1100"/>
              <a:buNone/>
            </a:pPr>
            <a:r>
              <a:rPr lang="en" sz="1200">
                <a:solidFill>
                  <a:schemeClr val="dk1"/>
                </a:solidFill>
                <a:latin typeface="Calibri"/>
                <a:ea typeface="Calibri"/>
                <a:cs typeface="Calibri"/>
                <a:sym typeface="Calibri"/>
              </a:rPr>
              <a:t>Psychologist. </a:t>
            </a:r>
            <a:endParaRPr/>
          </a:p>
          <a:p>
            <a:pPr indent="0" lvl="0" marL="0" rtl="0" algn="l">
              <a:lnSpc>
                <a:spcPct val="100000"/>
              </a:lnSpc>
              <a:spcBef>
                <a:spcPts val="0"/>
              </a:spcBef>
              <a:spcAft>
                <a:spcPts val="0"/>
              </a:spcAft>
              <a:buSzPts val="11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100"/>
              <a:buNone/>
            </a:pPr>
            <a:r>
              <a:rPr lang="en" sz="1200">
                <a:solidFill>
                  <a:schemeClr val="dk1"/>
                </a:solidFill>
                <a:latin typeface="Calibri"/>
                <a:ea typeface="Calibri"/>
                <a:cs typeface="Calibri"/>
                <a:sym typeface="Calibri"/>
              </a:rPr>
              <a:t>you hear all kinds of stuff, newspaper, internet,</a:t>
            </a:r>
            <a:endParaRPr/>
          </a:p>
          <a:p>
            <a:pPr indent="0" lvl="0" marL="0" rtl="0" algn="l">
              <a:lnSpc>
                <a:spcPct val="100000"/>
              </a:lnSpc>
              <a:spcBef>
                <a:spcPts val="0"/>
              </a:spcBef>
              <a:spcAft>
                <a:spcPts val="0"/>
              </a:spcAft>
              <a:buSzPts val="1100"/>
              <a:buNone/>
            </a:pPr>
            <a:r>
              <a:rPr lang="en" sz="1200">
                <a:solidFill>
                  <a:schemeClr val="dk1"/>
                </a:solidFill>
                <a:latin typeface="Calibri"/>
                <a:ea typeface="Calibri"/>
                <a:cs typeface="Calibri"/>
                <a:sym typeface="Calibri"/>
              </a:rPr>
              <a:t>magazines. Everywhere you go, friends will tell you stuff about psychologists have</a:t>
            </a:r>
            <a:endParaRPr/>
          </a:p>
          <a:p>
            <a:pPr indent="0" lvl="0" marL="0" rtl="0" algn="l">
              <a:lnSpc>
                <a:spcPct val="100000"/>
              </a:lnSpc>
              <a:spcBef>
                <a:spcPts val="0"/>
              </a:spcBef>
              <a:spcAft>
                <a:spcPts val="0"/>
              </a:spcAft>
              <a:buSzPts val="1100"/>
              <a:buNone/>
            </a:pPr>
            <a:r>
              <a:rPr lang="en" sz="1200">
                <a:solidFill>
                  <a:schemeClr val="dk1"/>
                </a:solidFill>
                <a:latin typeface="Calibri"/>
                <a:ea typeface="Calibri"/>
                <a:cs typeface="Calibri"/>
                <a:sym typeface="Calibri"/>
              </a:rPr>
              <a:t>found this or psychologists have found that. So you have your own intuitions to deal</a:t>
            </a:r>
            <a:endParaRPr/>
          </a:p>
          <a:p>
            <a:pPr indent="0" lvl="0" marL="0" rtl="0" algn="l">
              <a:lnSpc>
                <a:spcPct val="100000"/>
              </a:lnSpc>
              <a:spcBef>
                <a:spcPts val="0"/>
              </a:spcBef>
              <a:spcAft>
                <a:spcPts val="0"/>
              </a:spcAft>
              <a:buSzPts val="1100"/>
              <a:buNone/>
            </a:pPr>
            <a:r>
              <a:rPr lang="en" sz="1200">
                <a:solidFill>
                  <a:schemeClr val="dk1"/>
                </a:solidFill>
                <a:latin typeface="Calibri"/>
                <a:ea typeface="Calibri"/>
                <a:cs typeface="Calibri"/>
                <a:sym typeface="Calibri"/>
              </a:rPr>
              <a:t>with people in everyday life.</a:t>
            </a:r>
            <a:endParaRPr/>
          </a:p>
          <a:p>
            <a:pPr indent="0" lvl="0" marL="0" rtl="0" algn="l">
              <a:lnSpc>
                <a:spcPct val="100000"/>
              </a:lnSpc>
              <a:spcBef>
                <a:spcPts val="0"/>
              </a:spcBef>
              <a:spcAft>
                <a:spcPts val="0"/>
              </a:spcAft>
              <a:buSzPts val="11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100"/>
              <a:buNone/>
            </a:pPr>
            <a:r>
              <a:rPr lang="en"/>
              <a:t>So today we’re going to talk a b bit about what makes up science, what makes an experiment, the beginnings of experimental psychology</a:t>
            </a:r>
            <a:endParaRPr/>
          </a:p>
        </p:txBody>
      </p:sp>
      <p:sp>
        <p:nvSpPr>
          <p:cNvPr id="67" name="Google Shape;67;g385f55501e9_2_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85f55501e9_2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85f55501e9_2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85f55501e9_2_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8" name="Google Shape;78;g385f55501e9_2_17: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9" name="Google Shape;79;g385f55501e9_2_17: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85f55501e9_2_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4" name="Google Shape;84;g385f55501e9_2_22: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5" name="Google Shape;85;g385f55501e9_2_22: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85f55501e9_2_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1" name="Google Shape;91;g385f55501e9_2_28: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2" name="Google Shape;92;g385f55501e9_2_28: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85f55501e9_2_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8" name="Google Shape;98;g385f55501e9_2_34: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9" name="Google Shape;99;g385f55501e9_2_34: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85f55501e9_2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85f55501e9_2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85f55501e9_2_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 name="Google Shape;112;g385f55501e9_2_4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sz="1200">
                <a:solidFill>
                  <a:schemeClr val="dk1"/>
                </a:solidFill>
                <a:latin typeface="Calibri"/>
                <a:ea typeface="Calibri"/>
                <a:cs typeface="Calibri"/>
                <a:sym typeface="Calibri"/>
              </a:rPr>
              <a:t>So you're used to hearing about the scientific method. It applies to psychology in</a:t>
            </a:r>
            <a:endParaRPr/>
          </a:p>
          <a:p>
            <a:pPr indent="0" lvl="0" marL="0" rtl="0" algn="l">
              <a:lnSpc>
                <a:spcPct val="100000"/>
              </a:lnSpc>
              <a:spcBef>
                <a:spcPts val="0"/>
              </a:spcBef>
              <a:spcAft>
                <a:spcPts val="0"/>
              </a:spcAft>
              <a:buSzPts val="1100"/>
              <a:buNone/>
            </a:pPr>
            <a:r>
              <a:rPr lang="en" sz="1200">
                <a:solidFill>
                  <a:schemeClr val="dk1"/>
                </a:solidFill>
                <a:latin typeface="Calibri"/>
                <a:ea typeface="Calibri"/>
                <a:cs typeface="Calibri"/>
                <a:sym typeface="Calibri"/>
              </a:rPr>
              <a:t>many ways just like it applies to chemistry, physics, or biology. We have to test</a:t>
            </a:r>
            <a:endParaRPr/>
          </a:p>
          <a:p>
            <a:pPr indent="0" lvl="0" marL="0" rtl="0" algn="l">
              <a:lnSpc>
                <a:spcPct val="100000"/>
              </a:lnSpc>
              <a:spcBef>
                <a:spcPts val="0"/>
              </a:spcBef>
              <a:spcAft>
                <a:spcPts val="0"/>
              </a:spcAft>
              <a:buSzPts val="1100"/>
              <a:buNone/>
            </a:pPr>
            <a:r>
              <a:rPr lang="en" sz="1200">
                <a:solidFill>
                  <a:schemeClr val="dk1"/>
                </a:solidFill>
                <a:latin typeface="Calibri"/>
                <a:ea typeface="Calibri"/>
                <a:cs typeface="Calibri"/>
                <a:sym typeface="Calibri"/>
              </a:rPr>
              <a:t>things that are falsifiable. We have to deal in probabilities of outcomes in terms of</a:t>
            </a:r>
            <a:endParaRPr/>
          </a:p>
          <a:p>
            <a:pPr indent="0" lvl="0" marL="0" rtl="0" algn="l">
              <a:lnSpc>
                <a:spcPct val="100000"/>
              </a:lnSpc>
              <a:spcBef>
                <a:spcPts val="0"/>
              </a:spcBef>
              <a:spcAft>
                <a:spcPts val="0"/>
              </a:spcAft>
              <a:buSzPts val="1100"/>
              <a:buNone/>
            </a:pPr>
            <a:r>
              <a:rPr lang="en" sz="1200">
                <a:solidFill>
                  <a:schemeClr val="dk1"/>
                </a:solidFill>
                <a:latin typeface="Calibri"/>
                <a:ea typeface="Calibri"/>
                <a:cs typeface="Calibri"/>
                <a:sym typeface="Calibri"/>
              </a:rPr>
              <a:t>statistics in some sense. The kinds of data we can have are descriptive or</a:t>
            </a:r>
            <a:endParaRPr/>
          </a:p>
          <a:p>
            <a:pPr indent="0" lvl="0" marL="0" rtl="0" algn="l">
              <a:lnSpc>
                <a:spcPct val="100000"/>
              </a:lnSpc>
              <a:spcBef>
                <a:spcPts val="0"/>
              </a:spcBef>
              <a:spcAft>
                <a:spcPts val="0"/>
              </a:spcAft>
              <a:buSzPts val="1100"/>
              <a:buNone/>
            </a:pPr>
            <a:r>
              <a:rPr lang="en" sz="1200">
                <a:solidFill>
                  <a:schemeClr val="dk1"/>
                </a:solidFill>
                <a:latin typeface="Calibri"/>
                <a:ea typeface="Calibri"/>
                <a:cs typeface="Calibri"/>
                <a:sym typeface="Calibri"/>
              </a:rPr>
              <a:t>correlative or experimental. I'll talk about those in a moment.</a:t>
            </a:r>
            <a:endParaRPr/>
          </a:p>
          <a:p>
            <a:pPr indent="0" lvl="0" marL="0" rtl="0" algn="l">
              <a:lnSpc>
                <a:spcPct val="100000"/>
              </a:lnSpc>
              <a:spcBef>
                <a:spcPts val="0"/>
              </a:spcBef>
              <a:spcAft>
                <a:spcPts val="0"/>
              </a:spcAft>
              <a:buSzPts val="1100"/>
              <a:buNone/>
            </a:pPr>
            <a:r>
              <a:t/>
            </a:r>
            <a:endParaRPr/>
          </a:p>
        </p:txBody>
      </p:sp>
      <p:sp>
        <p:nvSpPr>
          <p:cNvPr id="113" name="Google Shape;113;g385f55501e9_2_4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85f55501e9_2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85f55501e9_2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85f55501e9_2_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 name="Google Shape;125;g385f55501e9_2_5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sz="1200">
                <a:solidFill>
                  <a:schemeClr val="dk1"/>
                </a:solidFill>
                <a:latin typeface="Calibri"/>
                <a:ea typeface="Calibri"/>
                <a:cs typeface="Calibri"/>
                <a:sym typeface="Calibri"/>
              </a:rPr>
              <a:t>So Wilhelm Wundt, big figure in psychology, first textbook in psychology, first</a:t>
            </a:r>
            <a:endParaRPr/>
          </a:p>
          <a:p>
            <a:pPr indent="0" lvl="0" marL="0" rtl="0" algn="l">
              <a:lnSpc>
                <a:spcPct val="100000"/>
              </a:lnSpc>
              <a:spcBef>
                <a:spcPts val="0"/>
              </a:spcBef>
              <a:spcAft>
                <a:spcPts val="0"/>
              </a:spcAft>
              <a:buSzPts val="1100"/>
              <a:buNone/>
            </a:pPr>
            <a:r>
              <a:rPr lang="en" sz="1200">
                <a:solidFill>
                  <a:schemeClr val="dk1"/>
                </a:solidFill>
                <a:latin typeface="Calibri"/>
                <a:ea typeface="Calibri"/>
                <a:cs typeface="Calibri"/>
                <a:sym typeface="Calibri"/>
              </a:rPr>
              <a:t>laboratory in psychology, did the following test of mental chronometry, simply</a:t>
            </a:r>
            <a:endParaRPr/>
          </a:p>
          <a:p>
            <a:pPr indent="0" lvl="0" marL="0" rtl="0" algn="l">
              <a:lnSpc>
                <a:spcPct val="100000"/>
              </a:lnSpc>
              <a:spcBef>
                <a:spcPts val="0"/>
              </a:spcBef>
              <a:spcAft>
                <a:spcPts val="0"/>
              </a:spcAft>
              <a:buSzPts val="1100"/>
              <a:buNone/>
            </a:pPr>
            <a:r>
              <a:rPr lang="en" sz="1200">
                <a:solidFill>
                  <a:schemeClr val="dk1"/>
                </a:solidFill>
                <a:latin typeface="Calibri"/>
                <a:ea typeface="Calibri"/>
                <a:cs typeface="Calibri"/>
                <a:sym typeface="Calibri"/>
              </a:rPr>
              <a:t>measuring how long it takes you to do things. So he would show you a light. And</a:t>
            </a:r>
            <a:endParaRPr/>
          </a:p>
          <a:p>
            <a:pPr indent="0" lvl="0" marL="0" rtl="0" algn="l">
              <a:lnSpc>
                <a:spcPct val="100000"/>
              </a:lnSpc>
              <a:spcBef>
                <a:spcPts val="0"/>
              </a:spcBef>
              <a:spcAft>
                <a:spcPts val="0"/>
              </a:spcAft>
              <a:buSzPts val="1100"/>
              <a:buNone/>
            </a:pPr>
            <a:r>
              <a:rPr lang="en" sz="1200">
                <a:solidFill>
                  <a:schemeClr val="dk1"/>
                </a:solidFill>
                <a:latin typeface="Calibri"/>
                <a:ea typeface="Calibri"/>
                <a:cs typeface="Calibri"/>
                <a:sym typeface="Calibri"/>
              </a:rPr>
              <a:t>you'd simply press the button. And that would take about 1/5 of a second.</a:t>
            </a:r>
            <a:endParaRPr/>
          </a:p>
          <a:p>
            <a:pPr indent="0" lvl="0" marL="0" rtl="0" algn="l">
              <a:lnSpc>
                <a:spcPct val="100000"/>
              </a:lnSpc>
              <a:spcBef>
                <a:spcPts val="0"/>
              </a:spcBef>
              <a:spcAft>
                <a:spcPts val="0"/>
              </a:spcAft>
              <a:buSzPts val="1100"/>
              <a:buNone/>
            </a:pPr>
            <a:r>
              <a:rPr lang="en" sz="1200">
                <a:solidFill>
                  <a:schemeClr val="dk1"/>
                </a:solidFill>
                <a:latin typeface="Calibri"/>
                <a:ea typeface="Calibri"/>
                <a:cs typeface="Calibri"/>
                <a:sym typeface="Calibri"/>
              </a:rPr>
              <a:t>And then he would say, instead, you do this. If the light turns on and it's red, you</a:t>
            </a:r>
            <a:endParaRPr/>
          </a:p>
          <a:p>
            <a:pPr indent="0" lvl="0" marL="0" rtl="0" algn="l">
              <a:lnSpc>
                <a:spcPct val="100000"/>
              </a:lnSpc>
              <a:spcBef>
                <a:spcPts val="0"/>
              </a:spcBef>
              <a:spcAft>
                <a:spcPts val="0"/>
              </a:spcAft>
              <a:buSzPts val="1100"/>
              <a:buNone/>
            </a:pPr>
            <a:r>
              <a:rPr lang="en" sz="1200">
                <a:solidFill>
                  <a:schemeClr val="dk1"/>
                </a:solidFill>
                <a:latin typeface="Calibri"/>
                <a:ea typeface="Calibri"/>
                <a:cs typeface="Calibri"/>
                <a:sym typeface="Calibri"/>
              </a:rPr>
              <a:t>push one button. And if it's green, you push another. So his idea was the motor</a:t>
            </a:r>
            <a:endParaRPr/>
          </a:p>
          <a:p>
            <a:pPr indent="0" lvl="0" marL="0" rtl="0" algn="l">
              <a:lnSpc>
                <a:spcPct val="100000"/>
              </a:lnSpc>
              <a:spcBef>
                <a:spcPts val="0"/>
              </a:spcBef>
              <a:spcAft>
                <a:spcPts val="0"/>
              </a:spcAft>
              <a:buSzPts val="1100"/>
              <a:buNone/>
            </a:pPr>
            <a:r>
              <a:rPr lang="en" sz="1200">
                <a:solidFill>
                  <a:schemeClr val="dk1"/>
                </a:solidFill>
                <a:latin typeface="Calibri"/>
                <a:ea typeface="Calibri"/>
                <a:cs typeface="Calibri"/>
                <a:sym typeface="Calibri"/>
              </a:rPr>
              <a:t>system to push the button is about the same. The time to observe the light is about</a:t>
            </a:r>
            <a:endParaRPr/>
          </a:p>
          <a:p>
            <a:pPr indent="0" lvl="0" marL="0" rtl="0" algn="l">
              <a:lnSpc>
                <a:spcPct val="100000"/>
              </a:lnSpc>
              <a:spcBef>
                <a:spcPts val="0"/>
              </a:spcBef>
              <a:spcAft>
                <a:spcPts val="0"/>
              </a:spcAft>
              <a:buSzPts val="1100"/>
              <a:buNone/>
            </a:pPr>
            <a:r>
              <a:rPr lang="en" sz="1200">
                <a:solidFill>
                  <a:schemeClr val="dk1"/>
                </a:solidFill>
                <a:latin typeface="Calibri"/>
                <a:ea typeface="Calibri"/>
                <a:cs typeface="Calibri"/>
                <a:sym typeface="Calibri"/>
              </a:rPr>
              <a:t>the same.</a:t>
            </a:r>
            <a:endParaRPr/>
          </a:p>
          <a:p>
            <a:pPr indent="0" lvl="0" marL="0" rtl="0" algn="l">
              <a:lnSpc>
                <a:spcPct val="100000"/>
              </a:lnSpc>
              <a:spcBef>
                <a:spcPts val="0"/>
              </a:spcBef>
              <a:spcAft>
                <a:spcPts val="0"/>
              </a:spcAft>
              <a:buSzPts val="1100"/>
              <a:buNone/>
            </a:pPr>
            <a:r>
              <a:rPr lang="en" sz="1200">
                <a:solidFill>
                  <a:schemeClr val="dk1"/>
                </a:solidFill>
                <a:latin typeface="Calibri"/>
                <a:ea typeface="Calibri"/>
                <a:cs typeface="Calibri"/>
                <a:sym typeface="Calibri"/>
              </a:rPr>
              <a:t>But the difference between these two is how long it takes to make a choice, how</a:t>
            </a:r>
            <a:endParaRPr/>
          </a:p>
          <a:p>
            <a:pPr indent="0" lvl="0" marL="0" rtl="0" algn="l">
              <a:lnSpc>
                <a:spcPct val="100000"/>
              </a:lnSpc>
              <a:spcBef>
                <a:spcPts val="0"/>
              </a:spcBef>
              <a:spcAft>
                <a:spcPts val="0"/>
              </a:spcAft>
              <a:buSzPts val="1100"/>
              <a:buNone/>
            </a:pPr>
            <a:r>
              <a:rPr lang="en" sz="1200">
                <a:solidFill>
                  <a:schemeClr val="dk1"/>
                </a:solidFill>
                <a:latin typeface="Calibri"/>
                <a:ea typeface="Calibri"/>
                <a:cs typeface="Calibri"/>
                <a:sym typeface="Calibri"/>
              </a:rPr>
              <a:t>long it takes to make a choice. And that difference, when he subtracts them, took</a:t>
            </a:r>
            <a:endParaRPr/>
          </a:p>
          <a:p>
            <a:pPr indent="0" lvl="0" marL="0" rtl="0" algn="l">
              <a:lnSpc>
                <a:spcPct val="100000"/>
              </a:lnSpc>
              <a:spcBef>
                <a:spcPts val="0"/>
              </a:spcBef>
              <a:spcAft>
                <a:spcPts val="0"/>
              </a:spcAft>
              <a:buSzPts val="1100"/>
              <a:buNone/>
            </a:pPr>
            <a:r>
              <a:rPr lang="en" sz="1200">
                <a:solidFill>
                  <a:schemeClr val="dk1"/>
                </a:solidFill>
                <a:latin typeface="Calibri"/>
                <a:ea typeface="Calibri"/>
                <a:cs typeface="Calibri"/>
                <a:sym typeface="Calibri"/>
              </a:rPr>
              <a:t>about 1/10 of a the second by that measurement. So all of sudden you could start to</a:t>
            </a:r>
            <a:endParaRPr/>
          </a:p>
          <a:p>
            <a:pPr indent="0" lvl="0" marL="0" rtl="0" algn="l">
              <a:lnSpc>
                <a:spcPct val="100000"/>
              </a:lnSpc>
              <a:spcBef>
                <a:spcPts val="0"/>
              </a:spcBef>
              <a:spcAft>
                <a:spcPts val="0"/>
              </a:spcAft>
              <a:buSzPts val="1100"/>
              <a:buNone/>
            </a:pPr>
            <a:r>
              <a:rPr lang="en" sz="1200">
                <a:solidFill>
                  <a:schemeClr val="dk1"/>
                </a:solidFill>
                <a:latin typeface="Calibri"/>
                <a:ea typeface="Calibri"/>
                <a:cs typeface="Calibri"/>
                <a:sym typeface="Calibri"/>
              </a:rPr>
              <a:t>measure, in an objective sense, how long a mental operation takes in your mind.</a:t>
            </a:r>
            <a:endParaRPr/>
          </a:p>
          <a:p>
            <a:pPr indent="0" lvl="0" marL="0" rtl="0" algn="l">
              <a:lnSpc>
                <a:spcPct val="100000"/>
              </a:lnSpc>
              <a:spcBef>
                <a:spcPts val="0"/>
              </a:spcBef>
              <a:spcAft>
                <a:spcPts val="0"/>
              </a:spcAft>
              <a:buSzPts val="1100"/>
              <a:buNone/>
            </a:pPr>
            <a:r>
              <a:t/>
            </a:r>
            <a:endParaRPr/>
          </a:p>
        </p:txBody>
      </p:sp>
      <p:sp>
        <p:nvSpPr>
          <p:cNvPr id="126" name="Google Shape;126;g385f55501e9_2_5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85f55501e9_2_63: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2" name="Google Shape;132;g385f55501e9_2_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85f55501e9_2_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9" name="Google Shape;139;g385f55501e9_2_69: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0" name="Google Shape;140;g385f55501e9_2_69: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85f55501e9_2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85f55501e9_2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85f55501e9_2_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4" name="Google Shape;154;g385f55501e9_2_82: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5" name="Google Shape;155;g385f55501e9_2_82: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85f55501e9_2_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0" name="Google Shape;160;g385f55501e9_2_87: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1" name="Google Shape;161;g385f55501e9_2_87: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85f55501e9_2_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6" name="Google Shape;166;g385f55501e9_2_92: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7" name="Google Shape;167;g385f55501e9_2_92: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85f55501e9_2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85f55501e9_2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85f55501e9_2_102: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8" name="Google Shape;178;g385f55501e9_2_10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85f55501e9_2_106: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3" name="Google Shape;183;g385f55501e9_2_1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85f55501e9_2_1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8" name="Google Shape;188;g385f55501e9_2_110: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9" name="Google Shape;189;g385f55501e9_2_110: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85f55501e9_2_1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4" name="Google Shape;194;g385f55501e9_2_115: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5" name="Google Shape;195;g385f55501e9_2_115: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85f55501e9_2_1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0" name="Google Shape;200;g385f55501e9_2_120: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1" name="Google Shape;201;g385f55501e9_2_120: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85f55501e9_2_1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7" name="Google Shape;207;g385f55501e9_2_126: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8" name="Google Shape;208;g385f55501e9_2_126: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85f55501e9_2_1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4" name="Google Shape;214;g385f55501e9_2_132: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5" name="Google Shape;215;g385f55501e9_2_132: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85f55501e9_2_1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1" name="Google Shape;221;g385f55501e9_2_138: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2" name="Google Shape;222;g385f55501e9_2_138: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85f55501e9_2_1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8" name="Google Shape;228;g385f55501e9_2_144: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9" name="Google Shape;229;g385f55501e9_2_144: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85f55501e9_2_1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5" name="Google Shape;235;g385f55501e9_2_150: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6" name="Google Shape;236;g385f55501e9_2_150: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85f55501e9_2_1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2" name="Google Shape;242;g385f55501e9_2_15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243" name="Google Shape;243;g385f55501e9_2_15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85f55501e9_2_162: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9" name="Google Shape;249;g385f55501e9_2_1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85f55501e9_2_1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1" name="Google Shape;261;g385f55501e9_2_17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262" name="Google Shape;262;g385f55501e9_2_17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85f55501e9_2_185: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4" name="Google Shape;274;g385f55501e9_2_1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85f55501e9_2_1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6" name="Google Shape;286;g385f55501e9_2_19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287" name="Google Shape;287;g385f55501e9_2_19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0" name="Shape 50"/>
        <p:cNvGrpSpPr/>
        <p:nvPr/>
      </p:nvGrpSpPr>
      <p:grpSpPr>
        <a:xfrm>
          <a:off x="0" y="0"/>
          <a:ext cx="0" cy="0"/>
          <a:chOff x="0" y="0"/>
          <a:chExt cx="0" cy="0"/>
        </a:xfrm>
      </p:grpSpPr>
      <p:sp>
        <p:nvSpPr>
          <p:cNvPr id="51" name="Google Shape;51;p13"/>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3300"/>
              <a:buFont typeface="Constantia"/>
              <a:buNone/>
              <a:defRPr>
                <a:latin typeface="Constantia"/>
                <a:ea typeface="Constantia"/>
                <a:cs typeface="Constantia"/>
                <a:sym typeface="Constantia"/>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2" name="Google Shape;52;p13"/>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61950" lvl="0" marL="457200" algn="l">
              <a:lnSpc>
                <a:spcPct val="90000"/>
              </a:lnSpc>
              <a:spcBef>
                <a:spcPts val="800"/>
              </a:spcBef>
              <a:spcAft>
                <a:spcPts val="0"/>
              </a:spcAft>
              <a:buClr>
                <a:schemeClr val="dk1"/>
              </a:buClr>
              <a:buSzPts val="2100"/>
              <a:buChar char="●"/>
              <a:defRPr>
                <a:latin typeface="Constantia"/>
                <a:ea typeface="Constantia"/>
                <a:cs typeface="Constantia"/>
                <a:sym typeface="Constantia"/>
              </a:defRPr>
            </a:lvl1pPr>
            <a:lvl2pPr indent="-342900" lvl="1" marL="914400" algn="l">
              <a:lnSpc>
                <a:spcPct val="90000"/>
              </a:lnSpc>
              <a:spcBef>
                <a:spcPts val="1200"/>
              </a:spcBef>
              <a:spcAft>
                <a:spcPts val="0"/>
              </a:spcAft>
              <a:buClr>
                <a:schemeClr val="dk1"/>
              </a:buClr>
              <a:buSzPts val="1800"/>
              <a:buChar char="○"/>
              <a:defRPr>
                <a:latin typeface="Constantia"/>
                <a:ea typeface="Constantia"/>
                <a:cs typeface="Constantia"/>
                <a:sym typeface="Constantia"/>
              </a:defRPr>
            </a:lvl2pPr>
            <a:lvl3pPr indent="-323850" lvl="2" marL="1371600" algn="l">
              <a:lnSpc>
                <a:spcPct val="90000"/>
              </a:lnSpc>
              <a:spcBef>
                <a:spcPts val="1200"/>
              </a:spcBef>
              <a:spcAft>
                <a:spcPts val="0"/>
              </a:spcAft>
              <a:buClr>
                <a:schemeClr val="dk1"/>
              </a:buClr>
              <a:buSzPts val="1500"/>
              <a:buChar char="■"/>
              <a:defRPr>
                <a:latin typeface="Constantia"/>
                <a:ea typeface="Constantia"/>
                <a:cs typeface="Constantia"/>
                <a:sym typeface="Constantia"/>
              </a:defRPr>
            </a:lvl3pPr>
            <a:lvl4pPr indent="-317500" lvl="3" marL="1828800" algn="l">
              <a:lnSpc>
                <a:spcPct val="90000"/>
              </a:lnSpc>
              <a:spcBef>
                <a:spcPts val="1200"/>
              </a:spcBef>
              <a:spcAft>
                <a:spcPts val="0"/>
              </a:spcAft>
              <a:buClr>
                <a:schemeClr val="dk1"/>
              </a:buClr>
              <a:buSzPts val="1400"/>
              <a:buChar char="●"/>
              <a:defRPr>
                <a:latin typeface="Constantia"/>
                <a:ea typeface="Constantia"/>
                <a:cs typeface="Constantia"/>
                <a:sym typeface="Constantia"/>
              </a:defRPr>
            </a:lvl4pPr>
            <a:lvl5pPr indent="-317500" lvl="4" marL="2286000" algn="l">
              <a:lnSpc>
                <a:spcPct val="90000"/>
              </a:lnSpc>
              <a:spcBef>
                <a:spcPts val="1200"/>
              </a:spcBef>
              <a:spcAft>
                <a:spcPts val="0"/>
              </a:spcAft>
              <a:buClr>
                <a:schemeClr val="dk1"/>
              </a:buClr>
              <a:buSzPts val="1400"/>
              <a:buChar char="○"/>
              <a:defRPr>
                <a:latin typeface="Constantia"/>
                <a:ea typeface="Constantia"/>
                <a:cs typeface="Constantia"/>
                <a:sym typeface="Constantia"/>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53" name="Google Shape;53;p1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54" name="Google Shape;54;p1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55" name="Google Shape;55;p1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 Id="rId3"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 Id="rId3" Type="http://schemas.openxmlformats.org/officeDocument/2006/relationships/image" Target="../media/image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ctrTitle"/>
          </p:nvPr>
        </p:nvSpPr>
        <p:spPr>
          <a:xfrm>
            <a:off x="1245575" y="365602"/>
            <a:ext cx="6390600" cy="1070700"/>
          </a:xfrm>
          <a:prstGeom prst="rect">
            <a:avLst/>
          </a:prstGeom>
          <a:noFill/>
          <a:ln>
            <a:noFill/>
          </a:ln>
        </p:spPr>
        <p:txBody>
          <a:bodyPr anchorCtr="0" anchor="b" bIns="34275" lIns="68575" spcFirstLastPara="1" rIns="68575" wrap="square" tIns="34275">
            <a:normAutofit/>
          </a:bodyPr>
          <a:lstStyle/>
          <a:p>
            <a:pPr indent="0" lvl="0" marL="0" rtl="0" algn="ctr">
              <a:lnSpc>
                <a:spcPct val="90000"/>
              </a:lnSpc>
              <a:spcBef>
                <a:spcPts val="0"/>
              </a:spcBef>
              <a:spcAft>
                <a:spcPts val="0"/>
              </a:spcAft>
              <a:buClr>
                <a:schemeClr val="dk1"/>
              </a:buClr>
              <a:buSzPts val="4500"/>
              <a:buFont typeface="Constantia"/>
              <a:buNone/>
            </a:pPr>
            <a:r>
              <a:rPr lang="en" sz="3300">
                <a:latin typeface="Times New Roman"/>
                <a:ea typeface="Times New Roman"/>
                <a:cs typeface="Times New Roman"/>
                <a:sym typeface="Times New Roman"/>
              </a:rPr>
              <a:t>Research Methods in Psychology: Asking Questions, Getting Answers</a:t>
            </a:r>
            <a:endParaRPr sz="3300">
              <a:latin typeface="Times New Roman"/>
              <a:ea typeface="Times New Roman"/>
              <a:cs typeface="Times New Roman"/>
              <a:sym typeface="Times New Roman"/>
            </a:endParaRPr>
          </a:p>
        </p:txBody>
      </p:sp>
      <p:sp>
        <p:nvSpPr>
          <p:cNvPr id="62" name="Google Shape;62;p14"/>
          <p:cNvSpPr txBox="1"/>
          <p:nvPr>
            <p:ph idx="1" type="subTitle"/>
          </p:nvPr>
        </p:nvSpPr>
        <p:spPr>
          <a:xfrm>
            <a:off x="233775" y="2125594"/>
            <a:ext cx="6390600" cy="594600"/>
          </a:xfrm>
          <a:prstGeom prst="rect">
            <a:avLst/>
          </a:prstGeom>
          <a:noFill/>
          <a:ln>
            <a:noFill/>
          </a:ln>
        </p:spPr>
        <p:txBody>
          <a:bodyPr anchorCtr="0" anchor="t" bIns="34275" lIns="68575" spcFirstLastPara="1" rIns="68575" wrap="square" tIns="34275">
            <a:normAutofit fontScale="70000" lnSpcReduction="20000"/>
          </a:bodyPr>
          <a:lstStyle/>
          <a:p>
            <a:pPr indent="0" lvl="0" marL="0" rtl="0" algn="ctr">
              <a:lnSpc>
                <a:spcPct val="90000"/>
              </a:lnSpc>
              <a:spcBef>
                <a:spcPts val="0"/>
              </a:spcBef>
              <a:spcAft>
                <a:spcPts val="0"/>
              </a:spcAft>
              <a:buClr>
                <a:schemeClr val="dk1"/>
              </a:buClr>
              <a:buSzPct val="64285"/>
              <a:buNone/>
            </a:pPr>
            <a:r>
              <a:t/>
            </a:r>
            <a:endParaRPr/>
          </a:p>
          <a:p>
            <a:pPr indent="0" lvl="0" marL="0" rtl="0" algn="ctr">
              <a:lnSpc>
                <a:spcPct val="90000"/>
              </a:lnSpc>
              <a:spcBef>
                <a:spcPts val="800"/>
              </a:spcBef>
              <a:spcAft>
                <a:spcPts val="0"/>
              </a:spcAft>
              <a:buClr>
                <a:schemeClr val="dk1"/>
              </a:buClr>
              <a:buSzPct val="64285"/>
              <a:buNone/>
            </a:pPr>
            <a:r>
              <a:t/>
            </a:r>
            <a:endParaRPr/>
          </a:p>
        </p:txBody>
      </p:sp>
      <p:pic>
        <p:nvPicPr>
          <p:cNvPr id="63" name="Google Shape;63;p14"/>
          <p:cNvPicPr preferRelativeResize="0"/>
          <p:nvPr/>
        </p:nvPicPr>
        <p:blipFill>
          <a:blip r:embed="rId3">
            <a:alphaModFix/>
          </a:blip>
          <a:stretch>
            <a:fillRect/>
          </a:stretch>
        </p:blipFill>
        <p:spPr>
          <a:xfrm>
            <a:off x="3069625" y="1751000"/>
            <a:ext cx="3241650" cy="32416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5"/>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Constantia"/>
              <a:buNone/>
            </a:pPr>
            <a:r>
              <a:rPr lang="en">
                <a:latin typeface="Times New Roman"/>
                <a:ea typeface="Times New Roman"/>
                <a:cs typeface="Times New Roman"/>
                <a:sym typeface="Times New Roman"/>
              </a:rPr>
              <a:t>The Lecture Topics</a:t>
            </a:r>
            <a:endParaRPr>
              <a:latin typeface="Times New Roman"/>
              <a:ea typeface="Times New Roman"/>
              <a:cs typeface="Times New Roman"/>
              <a:sym typeface="Times New Roman"/>
            </a:endParaRPr>
          </a:p>
        </p:txBody>
      </p:sp>
      <p:sp>
        <p:nvSpPr>
          <p:cNvPr id="70" name="Google Shape;70;p15"/>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p>
            <a:pPr indent="-311150" lvl="0" marL="342900" rtl="0" algn="l">
              <a:lnSpc>
                <a:spcPct val="200000"/>
              </a:lnSpc>
              <a:spcBef>
                <a:spcPts val="800"/>
              </a:spcBef>
              <a:spcAft>
                <a:spcPts val="0"/>
              </a:spcAft>
              <a:buSzPts val="2300"/>
              <a:buChar char="●"/>
            </a:pPr>
            <a:r>
              <a:rPr lang="en" sz="2000">
                <a:solidFill>
                  <a:schemeClr val="dk1"/>
                </a:solidFill>
              </a:rPr>
              <a:t>What is critical thinking?</a:t>
            </a:r>
            <a:endParaRPr sz="2000">
              <a:solidFill>
                <a:schemeClr val="dk1"/>
              </a:solidFill>
            </a:endParaRPr>
          </a:p>
          <a:p>
            <a:pPr indent="-311150" lvl="0" marL="342900" rtl="0" algn="l">
              <a:lnSpc>
                <a:spcPct val="200000"/>
              </a:lnSpc>
              <a:spcBef>
                <a:spcPts val="0"/>
              </a:spcBef>
              <a:spcAft>
                <a:spcPts val="0"/>
              </a:spcAft>
              <a:buSzPts val="2300"/>
              <a:buChar char="●"/>
            </a:pPr>
            <a:r>
              <a:rPr lang="en" sz="2000">
                <a:solidFill>
                  <a:schemeClr val="dk1"/>
                </a:solidFill>
              </a:rPr>
              <a:t>Experimental and Non- Experimental Methods </a:t>
            </a:r>
            <a:endParaRPr sz="2000">
              <a:solidFill>
                <a:schemeClr val="dk1"/>
              </a:solidFill>
            </a:endParaRPr>
          </a:p>
          <a:p>
            <a:pPr indent="-311150" lvl="0" marL="342900" rtl="0" algn="l">
              <a:lnSpc>
                <a:spcPct val="200000"/>
              </a:lnSpc>
              <a:spcBef>
                <a:spcPts val="0"/>
              </a:spcBef>
              <a:spcAft>
                <a:spcPts val="0"/>
              </a:spcAft>
              <a:buSzPts val="2300"/>
              <a:buChar char="●"/>
            </a:pPr>
            <a:r>
              <a:rPr lang="en" sz="2000">
                <a:solidFill>
                  <a:schemeClr val="dk1"/>
                </a:solidFill>
              </a:rPr>
              <a:t>Quantitative and Qualitative Research</a:t>
            </a:r>
            <a:endParaRPr sz="2000">
              <a:solidFill>
                <a:schemeClr val="dk1"/>
              </a:solidFill>
            </a:endParaRPr>
          </a:p>
          <a:p>
            <a:pPr indent="-311150" lvl="0" marL="342900" rtl="0" algn="l">
              <a:lnSpc>
                <a:spcPct val="200000"/>
              </a:lnSpc>
              <a:spcBef>
                <a:spcPts val="0"/>
              </a:spcBef>
              <a:spcAft>
                <a:spcPts val="0"/>
              </a:spcAft>
              <a:buSzPts val="2300"/>
              <a:buChar char="●"/>
            </a:pPr>
            <a:r>
              <a:rPr lang="en" sz="2000">
                <a:solidFill>
                  <a:schemeClr val="dk1"/>
                </a:solidFill>
              </a:rPr>
              <a:t>Folk Psychology</a:t>
            </a:r>
            <a:endParaRPr sz="20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ph idx="1" type="body"/>
          </p:nvPr>
        </p:nvSpPr>
        <p:spPr>
          <a:xfrm>
            <a:off x="628650" y="683975"/>
            <a:ext cx="7886700" cy="3948600"/>
          </a:xfrm>
          <a:prstGeom prst="rect">
            <a:avLst/>
          </a:prstGeom>
        </p:spPr>
        <p:txBody>
          <a:bodyPr anchorCtr="0" anchor="t" bIns="34275" lIns="68575" spcFirstLastPara="1" rIns="68575" wrap="square" tIns="34275">
            <a:normAutofit/>
          </a:bodyPr>
          <a:lstStyle/>
          <a:p>
            <a:pPr indent="-381000" lvl="0" marL="457200" rtl="0" algn="l">
              <a:lnSpc>
                <a:spcPct val="115000"/>
              </a:lnSpc>
              <a:spcBef>
                <a:spcPts val="1200"/>
              </a:spcBef>
              <a:spcAft>
                <a:spcPts val="0"/>
              </a:spcAft>
              <a:buSzPts val="2400"/>
              <a:buFont typeface="Times New Roman"/>
              <a:buChar char="●"/>
            </a:pPr>
            <a:r>
              <a:rPr lang="en" sz="2400">
                <a:solidFill>
                  <a:schemeClr val="dk1"/>
                </a:solidFill>
                <a:latin typeface="Times New Roman"/>
                <a:ea typeface="Times New Roman"/>
                <a:cs typeface="Times New Roman"/>
                <a:sym typeface="Times New Roman"/>
              </a:rPr>
              <a:t>What is research in psychology?</a:t>
            </a:r>
            <a:br>
              <a:rPr lang="en" sz="2400">
                <a:solidFill>
                  <a:schemeClr val="dk1"/>
                </a:solidFill>
                <a:latin typeface="Times New Roman"/>
                <a:ea typeface="Times New Roman"/>
                <a:cs typeface="Times New Roman"/>
                <a:sym typeface="Times New Roman"/>
              </a:rPr>
            </a:br>
            <a:endParaRPr sz="2400">
              <a:solidFill>
                <a:schemeClr val="dk1"/>
              </a:solidFill>
              <a:latin typeface="Times New Roman"/>
              <a:ea typeface="Times New Roman"/>
              <a:cs typeface="Times New Roman"/>
              <a:sym typeface="Times New Roman"/>
            </a:endParaRPr>
          </a:p>
          <a:p>
            <a:pPr indent="-381000" lvl="0" marL="457200" rtl="0" algn="l">
              <a:lnSpc>
                <a:spcPct val="115000"/>
              </a:lnSpc>
              <a:spcBef>
                <a:spcPts val="0"/>
              </a:spcBef>
              <a:spcAft>
                <a:spcPts val="0"/>
              </a:spcAft>
              <a:buSzPts val="2400"/>
              <a:buFont typeface="Times New Roman"/>
              <a:buChar char="●"/>
            </a:pPr>
            <a:r>
              <a:rPr lang="en" sz="2400">
                <a:solidFill>
                  <a:schemeClr val="dk1"/>
                </a:solidFill>
                <a:latin typeface="Times New Roman"/>
                <a:ea typeface="Times New Roman"/>
                <a:cs typeface="Times New Roman"/>
                <a:sym typeface="Times New Roman"/>
              </a:rPr>
              <a:t>Why is it important?</a:t>
            </a:r>
            <a:br>
              <a:rPr lang="en" sz="2400">
                <a:solidFill>
                  <a:schemeClr val="dk1"/>
                </a:solidFill>
                <a:latin typeface="Times New Roman"/>
                <a:ea typeface="Times New Roman"/>
                <a:cs typeface="Times New Roman"/>
                <a:sym typeface="Times New Roman"/>
              </a:rPr>
            </a:br>
            <a:endParaRPr sz="2400">
              <a:solidFill>
                <a:schemeClr val="dk1"/>
              </a:solidFill>
              <a:latin typeface="Times New Roman"/>
              <a:ea typeface="Times New Roman"/>
              <a:cs typeface="Times New Roman"/>
              <a:sym typeface="Times New Roman"/>
            </a:endParaRPr>
          </a:p>
          <a:p>
            <a:pPr indent="-381000" lvl="0" marL="457200" rtl="0" algn="l">
              <a:lnSpc>
                <a:spcPct val="115000"/>
              </a:lnSpc>
              <a:spcBef>
                <a:spcPts val="0"/>
              </a:spcBef>
              <a:spcAft>
                <a:spcPts val="0"/>
              </a:spcAft>
              <a:buSzPts val="2400"/>
              <a:buFont typeface="Times New Roman"/>
              <a:buChar char="●"/>
            </a:pPr>
            <a:r>
              <a:rPr lang="en" sz="2400">
                <a:solidFill>
                  <a:schemeClr val="dk1"/>
                </a:solidFill>
                <a:latin typeface="Times New Roman"/>
                <a:ea typeface="Times New Roman"/>
                <a:cs typeface="Times New Roman"/>
                <a:sym typeface="Times New Roman"/>
              </a:rPr>
              <a:t>How research shapes theories and practices.</a:t>
            </a:r>
            <a:endParaRPr sz="24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 sz="2400">
                <a:solidFill>
                  <a:schemeClr val="dk1"/>
                </a:solidFill>
                <a:latin typeface="Times New Roman"/>
                <a:ea typeface="Times New Roman"/>
                <a:cs typeface="Times New Roman"/>
                <a:sym typeface="Times New Roman"/>
              </a:rPr>
              <a:t>Activity</a:t>
            </a:r>
            <a:r>
              <a:rPr lang="en" sz="2400">
                <a:solidFill>
                  <a:schemeClr val="dk1"/>
                </a:solidFill>
                <a:latin typeface="Times New Roman"/>
                <a:ea typeface="Times New Roman"/>
                <a:cs typeface="Times New Roman"/>
                <a:sym typeface="Times New Roman"/>
              </a:rPr>
              <a:t>: </a:t>
            </a:r>
            <a:r>
              <a:rPr i="1" lang="en" sz="2400">
                <a:solidFill>
                  <a:schemeClr val="dk1"/>
                </a:solidFill>
                <a:latin typeface="Times New Roman"/>
                <a:ea typeface="Times New Roman"/>
                <a:cs typeface="Times New Roman"/>
                <a:sym typeface="Times New Roman"/>
              </a:rPr>
              <a:t>Think-Pair-Share</a:t>
            </a:r>
            <a:endParaRPr i="1" sz="2400">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type="title"/>
          </p:nvPr>
        </p:nvSpPr>
        <p:spPr>
          <a:xfrm>
            <a:off x="628650" y="1945481"/>
            <a:ext cx="7886700" cy="9942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en">
                <a:latin typeface="Georgia"/>
                <a:ea typeface="Georgia"/>
                <a:cs typeface="Georgia"/>
                <a:sym typeface="Georgia"/>
              </a:rPr>
              <a:t>What Is Critical Thinking?</a:t>
            </a:r>
            <a:endParaRPr>
              <a:latin typeface="Georgia"/>
              <a:ea typeface="Georgia"/>
              <a:cs typeface="Georgia"/>
              <a:sym typeface="Georgia"/>
            </a:endParaRPr>
          </a:p>
          <a:p>
            <a:pPr indent="0" lvl="0" marL="0" rtl="0" algn="ctr">
              <a:lnSpc>
                <a:spcPct val="100000"/>
              </a:lnSpc>
              <a:spcBef>
                <a:spcPts val="0"/>
              </a:spcBef>
              <a:spcAft>
                <a:spcPts val="0"/>
              </a:spcAft>
              <a:buSzPct val="111111"/>
              <a:buNone/>
            </a:pPr>
            <a:r>
              <a:rPr lang="en">
                <a:latin typeface="Georgia"/>
                <a:ea typeface="Georgia"/>
                <a:cs typeface="Georgia"/>
                <a:sym typeface="Georgia"/>
              </a:rPr>
              <a:t>(Brainstorming)</a:t>
            </a:r>
            <a:endParaRPr>
              <a:latin typeface="Georgia"/>
              <a:ea typeface="Georgia"/>
              <a:cs typeface="Georgia"/>
              <a:sym typeface="Georgi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8"/>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SzPts val="3300"/>
              <a:buNone/>
            </a:pPr>
            <a:r>
              <a:rPr lang="en" sz="2000">
                <a:solidFill>
                  <a:srgbClr val="333333"/>
                </a:solidFill>
                <a:highlight>
                  <a:srgbClr val="FFFFFF"/>
                </a:highlight>
              </a:rPr>
              <a:t>Components of critical thinking</a:t>
            </a:r>
            <a:endParaRPr sz="4500"/>
          </a:p>
        </p:txBody>
      </p:sp>
      <p:sp>
        <p:nvSpPr>
          <p:cNvPr id="88" name="Google Shape;88;p18"/>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Autofit/>
          </a:bodyPr>
          <a:lstStyle/>
          <a:p>
            <a:pPr indent="-285750" lvl="0" marL="342900" rtl="0" algn="l">
              <a:lnSpc>
                <a:spcPct val="115000"/>
              </a:lnSpc>
              <a:spcBef>
                <a:spcPts val="0"/>
              </a:spcBef>
              <a:spcAft>
                <a:spcPts val="0"/>
              </a:spcAft>
              <a:buClr>
                <a:srgbClr val="333333"/>
              </a:buClr>
              <a:buSzPts val="1900"/>
              <a:buFont typeface="Constantia"/>
              <a:buAutoNum type="arabicPeriod"/>
            </a:pPr>
            <a:r>
              <a:rPr lang="en" sz="2000">
                <a:solidFill>
                  <a:srgbClr val="333333"/>
                </a:solidFill>
                <a:highlight>
                  <a:srgbClr val="FFFFFF"/>
                </a:highlight>
              </a:rPr>
              <a:t>Identifying and challenging assumptions is central to critical thinking</a:t>
            </a:r>
            <a:endParaRPr sz="2000">
              <a:solidFill>
                <a:srgbClr val="333333"/>
              </a:solidFill>
              <a:highlight>
                <a:srgbClr val="FFFFFF"/>
              </a:highlight>
            </a:endParaRPr>
          </a:p>
          <a:p>
            <a:pPr indent="-285750" lvl="0" marL="342900" rtl="0" algn="l">
              <a:lnSpc>
                <a:spcPct val="115000"/>
              </a:lnSpc>
              <a:spcBef>
                <a:spcPts val="0"/>
              </a:spcBef>
              <a:spcAft>
                <a:spcPts val="0"/>
              </a:spcAft>
              <a:buClr>
                <a:srgbClr val="333333"/>
              </a:buClr>
              <a:buSzPts val="1900"/>
              <a:buFont typeface="Constantia"/>
              <a:buAutoNum type="arabicPeriod"/>
            </a:pPr>
            <a:r>
              <a:rPr lang="en" sz="2000">
                <a:solidFill>
                  <a:srgbClr val="333333"/>
                </a:solidFill>
                <a:highlight>
                  <a:srgbClr val="FFFFFF"/>
                </a:highlight>
              </a:rPr>
              <a:t>Challenging the importance of context is crucial to critical thinking</a:t>
            </a:r>
            <a:endParaRPr sz="2000">
              <a:solidFill>
                <a:srgbClr val="333333"/>
              </a:solidFill>
              <a:highlight>
                <a:srgbClr val="FFFFFF"/>
              </a:highlight>
            </a:endParaRPr>
          </a:p>
          <a:p>
            <a:pPr indent="-285750" lvl="0" marL="342900" rtl="0" algn="l">
              <a:lnSpc>
                <a:spcPct val="115000"/>
              </a:lnSpc>
              <a:spcBef>
                <a:spcPts val="0"/>
              </a:spcBef>
              <a:spcAft>
                <a:spcPts val="0"/>
              </a:spcAft>
              <a:buClr>
                <a:srgbClr val="333333"/>
              </a:buClr>
              <a:buSzPts val="1900"/>
              <a:buFont typeface="Constantia"/>
              <a:buAutoNum type="arabicPeriod"/>
            </a:pPr>
            <a:r>
              <a:rPr lang="en" sz="2000">
                <a:solidFill>
                  <a:srgbClr val="333333"/>
                </a:solidFill>
                <a:highlight>
                  <a:srgbClr val="FFFFFF"/>
                </a:highlight>
              </a:rPr>
              <a:t>Critical thinkers try to imagine and explore alternatives</a:t>
            </a:r>
            <a:endParaRPr sz="2000">
              <a:solidFill>
                <a:srgbClr val="333333"/>
              </a:solidFill>
              <a:highlight>
                <a:srgbClr val="FFFFFF"/>
              </a:highlight>
            </a:endParaRPr>
          </a:p>
          <a:p>
            <a:pPr indent="-285750" lvl="0" marL="342900" rtl="0" algn="l">
              <a:lnSpc>
                <a:spcPct val="115000"/>
              </a:lnSpc>
              <a:spcBef>
                <a:spcPts val="0"/>
              </a:spcBef>
              <a:spcAft>
                <a:spcPts val="0"/>
              </a:spcAft>
              <a:buClr>
                <a:srgbClr val="333333"/>
              </a:buClr>
              <a:buSzPts val="1900"/>
              <a:buFont typeface="Constantia"/>
              <a:buAutoNum type="arabicPeriod"/>
            </a:pPr>
            <a:r>
              <a:rPr lang="en" sz="2000">
                <a:solidFill>
                  <a:srgbClr val="333333"/>
                </a:solidFill>
                <a:highlight>
                  <a:srgbClr val="FFFFFF"/>
                </a:highlight>
              </a:rPr>
              <a:t>Imagining and exploring alternatives leads to reflective skepticism"</a:t>
            </a:r>
            <a:endParaRPr sz="2000">
              <a:solidFill>
                <a:srgbClr val="333333"/>
              </a:solidFill>
              <a:highlight>
                <a:srgbClr val="FFFFFF"/>
              </a:highlight>
            </a:endParaRPr>
          </a:p>
          <a:p>
            <a:pPr indent="0" lvl="0" marL="0" rtl="0" algn="l">
              <a:lnSpc>
                <a:spcPct val="115000"/>
              </a:lnSpc>
              <a:spcBef>
                <a:spcPts val="600"/>
              </a:spcBef>
              <a:spcAft>
                <a:spcPts val="0"/>
              </a:spcAft>
              <a:buClr>
                <a:schemeClr val="dk1"/>
              </a:buClr>
              <a:buSzPts val="800"/>
              <a:buFont typeface="Arial"/>
              <a:buNone/>
            </a:pPr>
            <a:r>
              <a:rPr lang="en" sz="2000">
                <a:solidFill>
                  <a:srgbClr val="333333"/>
                </a:solidFill>
                <a:highlight>
                  <a:srgbClr val="FFFFFF"/>
                </a:highlight>
              </a:rPr>
              <a:t>(from </a:t>
            </a:r>
            <a:r>
              <a:rPr i="1" lang="en" sz="2000">
                <a:solidFill>
                  <a:srgbClr val="333333"/>
                </a:solidFill>
                <a:highlight>
                  <a:srgbClr val="FFFFFF"/>
                </a:highlight>
              </a:rPr>
              <a:t>Developing critical thinkers</a:t>
            </a:r>
            <a:r>
              <a:rPr lang="en" sz="2000">
                <a:solidFill>
                  <a:srgbClr val="333333"/>
                </a:solidFill>
                <a:highlight>
                  <a:srgbClr val="FFFFFF"/>
                </a:highlight>
              </a:rPr>
              <a:t>, Stephen D. Brookfield, 1987)</a:t>
            </a:r>
            <a:endParaRPr sz="2000">
              <a:solidFill>
                <a:srgbClr val="333333"/>
              </a:solidFill>
              <a:highlight>
                <a:srgbClr val="FFFFFF"/>
              </a:highlight>
            </a:endParaRPr>
          </a:p>
          <a:p>
            <a:pPr indent="0" lvl="0" marL="0" rtl="0" algn="l">
              <a:lnSpc>
                <a:spcPct val="90000"/>
              </a:lnSpc>
              <a:spcBef>
                <a:spcPts val="800"/>
              </a:spcBef>
              <a:spcAft>
                <a:spcPts val="1200"/>
              </a:spcAft>
              <a:buSzPts val="2100"/>
              <a:buNone/>
            </a:pPr>
            <a:r>
              <a:t/>
            </a:r>
            <a:endParaRPr sz="33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9"/>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SzPts val="3300"/>
              <a:buNone/>
            </a:pPr>
            <a:r>
              <a:rPr lang="en"/>
              <a:t>Why Critical Thinking is important in Psychology?</a:t>
            </a:r>
            <a:endParaRPr/>
          </a:p>
        </p:txBody>
      </p:sp>
      <p:sp>
        <p:nvSpPr>
          <p:cNvPr id="95" name="Google Shape;95;p19"/>
          <p:cNvSpPr txBox="1"/>
          <p:nvPr>
            <p:ph idx="1" type="body"/>
          </p:nvPr>
        </p:nvSpPr>
        <p:spPr>
          <a:xfrm>
            <a:off x="532875" y="1656494"/>
            <a:ext cx="7886700" cy="3263400"/>
          </a:xfrm>
          <a:prstGeom prst="rect">
            <a:avLst/>
          </a:prstGeom>
          <a:noFill/>
          <a:ln>
            <a:noFill/>
          </a:ln>
        </p:spPr>
        <p:txBody>
          <a:bodyPr anchorCtr="0" anchor="t" bIns="34275" lIns="68575" spcFirstLastPara="1" rIns="68575" wrap="square" tIns="34275">
            <a:normAutofit/>
          </a:bodyPr>
          <a:lstStyle/>
          <a:p>
            <a:pPr indent="0" lvl="0" marL="0" rtl="0" algn="l">
              <a:lnSpc>
                <a:spcPct val="200000"/>
              </a:lnSpc>
              <a:spcBef>
                <a:spcPts val="800"/>
              </a:spcBef>
              <a:spcAft>
                <a:spcPts val="1200"/>
              </a:spcAft>
              <a:buSzPts val="2100"/>
              <a:buNone/>
            </a:pPr>
            <a:r>
              <a:rPr lang="en" sz="2100">
                <a:solidFill>
                  <a:srgbClr val="06020F"/>
                </a:solidFill>
              </a:rPr>
              <a:t>Critical thinking is objective and requires you to analyse and evaluate information to form a sound judgement. It is a cornerstone of evidence-based arguments and forming an evidence-based argument is essential in Psychology. </a:t>
            </a:r>
            <a:endParaRPr sz="32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0"/>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SzPts val="3300"/>
              <a:buNone/>
            </a:pPr>
            <a:r>
              <a:rPr lang="en"/>
              <a:t>What makes something scientific?</a:t>
            </a:r>
            <a:endParaRPr/>
          </a:p>
        </p:txBody>
      </p:sp>
      <p:graphicFrame>
        <p:nvGraphicFramePr>
          <p:cNvPr id="102" name="Google Shape;102;p20"/>
          <p:cNvGraphicFramePr/>
          <p:nvPr/>
        </p:nvGraphicFramePr>
        <p:xfrm>
          <a:off x="714375" y="1196888"/>
          <a:ext cx="3000000" cy="3000000"/>
        </p:xfrm>
        <a:graphic>
          <a:graphicData uri="http://schemas.openxmlformats.org/drawingml/2006/table">
            <a:tbl>
              <a:tblPr>
                <a:noFill/>
                <a:tableStyleId>{84BFE9E6-37BC-4EC4-A1F8-DBA932C378A3}</a:tableStyleId>
              </a:tblPr>
              <a:tblGrid>
                <a:gridCol w="4091425"/>
                <a:gridCol w="3623825"/>
              </a:tblGrid>
              <a:tr h="5355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Constantia"/>
                          <a:ea typeface="Constantia"/>
                          <a:cs typeface="Constantia"/>
                          <a:sym typeface="Constantia"/>
                        </a:rPr>
                        <a:t>Ask any question</a:t>
                      </a:r>
                      <a:endParaRPr sz="1400" u="none" cap="none" strike="noStrike">
                        <a:latin typeface="Constantia"/>
                        <a:ea typeface="Constantia"/>
                        <a:cs typeface="Constantia"/>
                        <a:sym typeface="Constantia"/>
                      </a:endParaRPr>
                    </a:p>
                  </a:txBody>
                  <a:tcPr marT="68575" marB="68575" marR="68575" marL="6857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Constantia"/>
                          <a:ea typeface="Constantia"/>
                          <a:cs typeface="Constantia"/>
                          <a:sym typeface="Constantia"/>
                        </a:rPr>
                        <a:t>Why crow is black?</a:t>
                      </a:r>
                      <a:endParaRPr sz="1400" u="none" cap="none" strike="noStrike">
                        <a:latin typeface="Constantia"/>
                        <a:ea typeface="Constantia"/>
                        <a:cs typeface="Constantia"/>
                        <a:sym typeface="Constantia"/>
                      </a:endParaRPr>
                    </a:p>
                  </a:txBody>
                  <a:tcPr marT="68575" marB="68575" marR="68575" marL="68575"/>
                </a:tc>
              </a:tr>
              <a:tr h="863725">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Constantia"/>
                          <a:ea typeface="Constantia"/>
                          <a:cs typeface="Constantia"/>
                          <a:sym typeface="Constantia"/>
                        </a:rPr>
                        <a:t>Form a Hypothesis</a:t>
                      </a:r>
                      <a:endParaRPr sz="1400" u="none" cap="none" strike="noStrike">
                        <a:latin typeface="Constantia"/>
                        <a:ea typeface="Constantia"/>
                        <a:cs typeface="Constantia"/>
                        <a:sym typeface="Constantia"/>
                      </a:endParaRPr>
                    </a:p>
                  </a:txBody>
                  <a:tcPr marT="68575" marB="68575" marR="68575" marL="6857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Constantia"/>
                          <a:ea typeface="Constantia"/>
                          <a:cs typeface="Constantia"/>
                          <a:sym typeface="Constantia"/>
                        </a:rPr>
                        <a:t>Crow is black because it lives outside and gets tanned</a:t>
                      </a:r>
                      <a:endParaRPr sz="1400" u="none" cap="none" strike="noStrike">
                        <a:latin typeface="Constantia"/>
                        <a:ea typeface="Constantia"/>
                        <a:cs typeface="Constantia"/>
                        <a:sym typeface="Constantia"/>
                      </a:endParaRPr>
                    </a:p>
                  </a:txBody>
                  <a:tcPr marT="68575" marB="68575" marR="68575" marL="68575"/>
                </a:tc>
              </a:tr>
              <a:tr h="5355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Constantia"/>
                          <a:ea typeface="Constantia"/>
                          <a:cs typeface="Constantia"/>
                          <a:sym typeface="Constantia"/>
                        </a:rPr>
                        <a:t>Try and test the Hypothesis (collection of data)</a:t>
                      </a:r>
                      <a:endParaRPr sz="1400" u="none" cap="none" strike="noStrike">
                        <a:latin typeface="Constantia"/>
                        <a:ea typeface="Constantia"/>
                        <a:cs typeface="Constantia"/>
                        <a:sym typeface="Constantia"/>
                      </a:endParaRPr>
                    </a:p>
                  </a:txBody>
                  <a:tcPr marT="68575" marB="68575" marR="68575" marL="6857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Constantia"/>
                          <a:ea typeface="Constantia"/>
                          <a:cs typeface="Constantia"/>
                          <a:sym typeface="Constantia"/>
                        </a:rPr>
                        <a:t>…………</a:t>
                      </a:r>
                      <a:endParaRPr sz="1400" u="none" cap="none" strike="noStrike">
                        <a:latin typeface="Constantia"/>
                        <a:ea typeface="Constantia"/>
                        <a:cs typeface="Constantia"/>
                        <a:sym typeface="Constantia"/>
                      </a:endParaRPr>
                    </a:p>
                  </a:txBody>
                  <a:tcPr marT="68575" marB="68575" marR="68575" marL="68575"/>
                </a:tc>
              </a:tr>
              <a:tr h="5355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Constantia"/>
                          <a:ea typeface="Constantia"/>
                          <a:cs typeface="Constantia"/>
                          <a:sym typeface="Constantia"/>
                        </a:rPr>
                        <a:t>Revise the Hypothesis (analyze of data)</a:t>
                      </a:r>
                      <a:endParaRPr sz="1400" u="none" cap="none" strike="noStrike">
                        <a:latin typeface="Constantia"/>
                        <a:ea typeface="Constantia"/>
                        <a:cs typeface="Constantia"/>
                        <a:sym typeface="Constantia"/>
                      </a:endParaRPr>
                    </a:p>
                  </a:txBody>
                  <a:tcPr marT="68575" marB="68575" marR="68575" marL="6857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latin typeface="Constantia"/>
                        <a:ea typeface="Constantia"/>
                        <a:cs typeface="Constantia"/>
                        <a:sym typeface="Constantia"/>
                      </a:endParaRPr>
                    </a:p>
                  </a:txBody>
                  <a:tcPr marT="68575" marB="68575" marR="68575" marL="68575"/>
                </a:tc>
              </a:tr>
              <a:tr h="119195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Constantia"/>
                          <a:ea typeface="Constantia"/>
                          <a:cs typeface="Constantia"/>
                          <a:sym typeface="Constantia"/>
                        </a:rPr>
                        <a:t>Confirm/disconfirm hypothesis</a:t>
                      </a:r>
                      <a:endParaRPr sz="1400" u="none" cap="none" strike="noStrike">
                        <a:latin typeface="Constantia"/>
                        <a:ea typeface="Constantia"/>
                        <a:cs typeface="Constantia"/>
                        <a:sym typeface="Constantia"/>
                      </a:endParaRPr>
                    </a:p>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Constantia"/>
                          <a:ea typeface="Constantia"/>
                          <a:cs typeface="Constantia"/>
                          <a:sym typeface="Constantia"/>
                        </a:rPr>
                        <a:t>Summarize data and findings</a:t>
                      </a:r>
                      <a:endParaRPr sz="1400" u="none" cap="none" strike="noStrike">
                        <a:latin typeface="Constantia"/>
                        <a:ea typeface="Constantia"/>
                        <a:cs typeface="Constantia"/>
                        <a:sym typeface="Constantia"/>
                      </a:endParaRPr>
                    </a:p>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Constantia"/>
                          <a:ea typeface="Constantia"/>
                          <a:cs typeface="Constantia"/>
                          <a:sym typeface="Constantia"/>
                        </a:rPr>
                        <a:t>Modify theory </a:t>
                      </a:r>
                      <a:endParaRPr sz="1400" u="none" cap="none" strike="noStrike">
                        <a:latin typeface="Constantia"/>
                        <a:ea typeface="Constantia"/>
                        <a:cs typeface="Constantia"/>
                        <a:sym typeface="Constantia"/>
                      </a:endParaRPr>
                    </a:p>
                  </a:txBody>
                  <a:tcPr marT="68575" marB="68575" marR="68575" marL="6857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latin typeface="Constantia"/>
                        <a:ea typeface="Constantia"/>
                        <a:cs typeface="Constantia"/>
                        <a:sym typeface="Constantia"/>
                      </a:endParaRPr>
                    </a:p>
                  </a:txBody>
                  <a:tcPr marT="68575" marB="68575" marR="68575" marL="68575"/>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1"/>
          <p:cNvSpPr txBox="1"/>
          <p:nvPr>
            <p:ph type="title"/>
          </p:nvPr>
        </p:nvSpPr>
        <p:spPr>
          <a:xfrm>
            <a:off x="423450" y="191800"/>
            <a:ext cx="4434900" cy="793200"/>
          </a:xfrm>
          <a:prstGeom prst="rect">
            <a:avLst/>
          </a:prstGeom>
        </p:spPr>
        <p:txBody>
          <a:bodyPr anchorCtr="0" anchor="ctr" bIns="34275" lIns="68575" spcFirstLastPara="1" rIns="68575" wrap="square" tIns="34275">
            <a:normAutofit/>
          </a:bodyPr>
          <a:lstStyle/>
          <a:p>
            <a:pPr indent="0" lvl="0" marL="0" rtl="0" algn="ctr">
              <a:lnSpc>
                <a:spcPct val="115000"/>
              </a:lnSpc>
              <a:spcBef>
                <a:spcPts val="1400"/>
              </a:spcBef>
              <a:spcAft>
                <a:spcPts val="400"/>
              </a:spcAft>
              <a:buClr>
                <a:schemeClr val="dk1"/>
              </a:buClr>
              <a:buSzPts val="1100"/>
              <a:buFont typeface="Arial"/>
              <a:buNone/>
            </a:pPr>
            <a:r>
              <a:rPr b="1" lang="en" sz="2400">
                <a:latin typeface="Times New Roman"/>
                <a:ea typeface="Times New Roman"/>
                <a:cs typeface="Times New Roman"/>
                <a:sym typeface="Times New Roman"/>
              </a:rPr>
              <a:t>Steps in the Research Process</a:t>
            </a:r>
            <a:endParaRPr sz="2400">
              <a:latin typeface="Times New Roman"/>
              <a:ea typeface="Times New Roman"/>
              <a:cs typeface="Times New Roman"/>
              <a:sym typeface="Times New Roman"/>
            </a:endParaRPr>
          </a:p>
        </p:txBody>
      </p:sp>
      <p:sp>
        <p:nvSpPr>
          <p:cNvPr id="108" name="Google Shape;108;p21"/>
          <p:cNvSpPr txBox="1"/>
          <p:nvPr>
            <p:ph idx="1" type="body"/>
          </p:nvPr>
        </p:nvSpPr>
        <p:spPr>
          <a:xfrm>
            <a:off x="628650" y="890425"/>
            <a:ext cx="4131900" cy="4143600"/>
          </a:xfrm>
          <a:prstGeom prst="rect">
            <a:avLst/>
          </a:prstGeom>
        </p:spPr>
        <p:txBody>
          <a:bodyPr anchorCtr="0" anchor="t" bIns="34275" lIns="68575" spcFirstLastPara="1" rIns="68575" wrap="square" tIns="34275">
            <a:normAutofit fontScale="70000" lnSpcReduction="20000"/>
          </a:bodyPr>
          <a:lstStyle/>
          <a:p>
            <a:pPr indent="0" lvl="0" marL="0" rtl="0" algn="l">
              <a:lnSpc>
                <a:spcPct val="115000"/>
              </a:lnSpc>
              <a:spcBef>
                <a:spcPts val="1400"/>
              </a:spcBef>
              <a:spcAft>
                <a:spcPts val="0"/>
              </a:spcAft>
              <a:buClr>
                <a:schemeClr val="dk1"/>
              </a:buClr>
              <a:buSzPct val="84615"/>
              <a:buFont typeface="Arial"/>
              <a:buNone/>
            </a:pPr>
            <a:r>
              <a:t/>
            </a:r>
            <a:endParaRPr b="1" sz="1300">
              <a:solidFill>
                <a:schemeClr val="dk1"/>
              </a:solidFill>
              <a:latin typeface="Arial"/>
              <a:ea typeface="Arial"/>
              <a:cs typeface="Arial"/>
              <a:sym typeface="Arial"/>
            </a:endParaRPr>
          </a:p>
          <a:p>
            <a:pPr indent="-341947" lvl="0" marL="457200" rtl="0" algn="l">
              <a:lnSpc>
                <a:spcPct val="115000"/>
              </a:lnSpc>
              <a:spcBef>
                <a:spcPts val="1200"/>
              </a:spcBef>
              <a:spcAft>
                <a:spcPts val="0"/>
              </a:spcAft>
              <a:buSzPct val="100000"/>
              <a:buFont typeface="Times New Roman"/>
              <a:buAutoNum type="arabicPeriod"/>
            </a:pPr>
            <a:r>
              <a:rPr lang="en" sz="2550">
                <a:solidFill>
                  <a:schemeClr val="dk1"/>
                </a:solidFill>
                <a:latin typeface="Times New Roman"/>
                <a:ea typeface="Times New Roman"/>
                <a:cs typeface="Times New Roman"/>
                <a:sym typeface="Times New Roman"/>
              </a:rPr>
              <a:t>Identify a problem</a:t>
            </a:r>
            <a:br>
              <a:rPr lang="en" sz="2550">
                <a:solidFill>
                  <a:schemeClr val="dk1"/>
                </a:solidFill>
                <a:latin typeface="Times New Roman"/>
                <a:ea typeface="Times New Roman"/>
                <a:cs typeface="Times New Roman"/>
                <a:sym typeface="Times New Roman"/>
              </a:rPr>
            </a:br>
            <a:endParaRPr sz="2550">
              <a:solidFill>
                <a:schemeClr val="dk1"/>
              </a:solidFill>
              <a:latin typeface="Times New Roman"/>
              <a:ea typeface="Times New Roman"/>
              <a:cs typeface="Times New Roman"/>
              <a:sym typeface="Times New Roman"/>
            </a:endParaRPr>
          </a:p>
          <a:p>
            <a:pPr indent="-341947" lvl="0" marL="457200" rtl="0" algn="l">
              <a:lnSpc>
                <a:spcPct val="115000"/>
              </a:lnSpc>
              <a:spcBef>
                <a:spcPts val="0"/>
              </a:spcBef>
              <a:spcAft>
                <a:spcPts val="0"/>
              </a:spcAft>
              <a:buSzPct val="100000"/>
              <a:buFont typeface="Times New Roman"/>
              <a:buAutoNum type="arabicPeriod"/>
            </a:pPr>
            <a:r>
              <a:rPr lang="en" sz="2550">
                <a:solidFill>
                  <a:schemeClr val="dk1"/>
                </a:solidFill>
                <a:latin typeface="Times New Roman"/>
                <a:ea typeface="Times New Roman"/>
                <a:cs typeface="Times New Roman"/>
                <a:sym typeface="Times New Roman"/>
              </a:rPr>
              <a:t>Review literature</a:t>
            </a:r>
            <a:br>
              <a:rPr lang="en" sz="2550">
                <a:solidFill>
                  <a:schemeClr val="dk1"/>
                </a:solidFill>
                <a:latin typeface="Times New Roman"/>
                <a:ea typeface="Times New Roman"/>
                <a:cs typeface="Times New Roman"/>
                <a:sym typeface="Times New Roman"/>
              </a:rPr>
            </a:br>
            <a:endParaRPr sz="2550">
              <a:solidFill>
                <a:schemeClr val="dk1"/>
              </a:solidFill>
              <a:latin typeface="Times New Roman"/>
              <a:ea typeface="Times New Roman"/>
              <a:cs typeface="Times New Roman"/>
              <a:sym typeface="Times New Roman"/>
            </a:endParaRPr>
          </a:p>
          <a:p>
            <a:pPr indent="-341947" lvl="0" marL="457200" rtl="0" algn="l">
              <a:lnSpc>
                <a:spcPct val="115000"/>
              </a:lnSpc>
              <a:spcBef>
                <a:spcPts val="0"/>
              </a:spcBef>
              <a:spcAft>
                <a:spcPts val="0"/>
              </a:spcAft>
              <a:buSzPct val="100000"/>
              <a:buFont typeface="Times New Roman"/>
              <a:buAutoNum type="arabicPeriod"/>
            </a:pPr>
            <a:r>
              <a:rPr lang="en" sz="2550">
                <a:solidFill>
                  <a:schemeClr val="dk1"/>
                </a:solidFill>
                <a:latin typeface="Times New Roman"/>
                <a:ea typeface="Times New Roman"/>
                <a:cs typeface="Times New Roman"/>
                <a:sym typeface="Times New Roman"/>
              </a:rPr>
              <a:t>Formulate hypothesis</a:t>
            </a:r>
            <a:br>
              <a:rPr lang="en" sz="2550">
                <a:solidFill>
                  <a:schemeClr val="dk1"/>
                </a:solidFill>
                <a:latin typeface="Times New Roman"/>
                <a:ea typeface="Times New Roman"/>
                <a:cs typeface="Times New Roman"/>
                <a:sym typeface="Times New Roman"/>
              </a:rPr>
            </a:br>
            <a:endParaRPr sz="2550">
              <a:solidFill>
                <a:schemeClr val="dk1"/>
              </a:solidFill>
              <a:latin typeface="Times New Roman"/>
              <a:ea typeface="Times New Roman"/>
              <a:cs typeface="Times New Roman"/>
              <a:sym typeface="Times New Roman"/>
            </a:endParaRPr>
          </a:p>
          <a:p>
            <a:pPr indent="-341947" lvl="0" marL="457200" rtl="0" algn="l">
              <a:lnSpc>
                <a:spcPct val="115000"/>
              </a:lnSpc>
              <a:spcBef>
                <a:spcPts val="0"/>
              </a:spcBef>
              <a:spcAft>
                <a:spcPts val="0"/>
              </a:spcAft>
              <a:buSzPct val="100000"/>
              <a:buFont typeface="Times New Roman"/>
              <a:buAutoNum type="arabicPeriod"/>
            </a:pPr>
            <a:r>
              <a:rPr lang="en" sz="2550">
                <a:solidFill>
                  <a:schemeClr val="dk1"/>
                </a:solidFill>
                <a:latin typeface="Times New Roman"/>
                <a:ea typeface="Times New Roman"/>
                <a:cs typeface="Times New Roman"/>
                <a:sym typeface="Times New Roman"/>
              </a:rPr>
              <a:t>Choose a method</a:t>
            </a:r>
            <a:br>
              <a:rPr lang="en" sz="2550">
                <a:solidFill>
                  <a:schemeClr val="dk1"/>
                </a:solidFill>
                <a:latin typeface="Times New Roman"/>
                <a:ea typeface="Times New Roman"/>
                <a:cs typeface="Times New Roman"/>
                <a:sym typeface="Times New Roman"/>
              </a:rPr>
            </a:br>
            <a:endParaRPr sz="2550">
              <a:solidFill>
                <a:schemeClr val="dk1"/>
              </a:solidFill>
              <a:latin typeface="Times New Roman"/>
              <a:ea typeface="Times New Roman"/>
              <a:cs typeface="Times New Roman"/>
              <a:sym typeface="Times New Roman"/>
            </a:endParaRPr>
          </a:p>
          <a:p>
            <a:pPr indent="-341947" lvl="0" marL="457200" rtl="0" algn="l">
              <a:lnSpc>
                <a:spcPct val="115000"/>
              </a:lnSpc>
              <a:spcBef>
                <a:spcPts val="0"/>
              </a:spcBef>
              <a:spcAft>
                <a:spcPts val="0"/>
              </a:spcAft>
              <a:buSzPct val="100000"/>
              <a:buFont typeface="Times New Roman"/>
              <a:buAutoNum type="arabicPeriod"/>
            </a:pPr>
            <a:r>
              <a:rPr lang="en" sz="2550">
                <a:solidFill>
                  <a:schemeClr val="dk1"/>
                </a:solidFill>
                <a:latin typeface="Times New Roman"/>
                <a:ea typeface="Times New Roman"/>
                <a:cs typeface="Times New Roman"/>
                <a:sym typeface="Times New Roman"/>
              </a:rPr>
              <a:t>Collect data</a:t>
            </a:r>
            <a:br>
              <a:rPr lang="en" sz="2550">
                <a:solidFill>
                  <a:schemeClr val="dk1"/>
                </a:solidFill>
                <a:latin typeface="Times New Roman"/>
                <a:ea typeface="Times New Roman"/>
                <a:cs typeface="Times New Roman"/>
                <a:sym typeface="Times New Roman"/>
              </a:rPr>
            </a:br>
            <a:endParaRPr sz="2550">
              <a:solidFill>
                <a:schemeClr val="dk1"/>
              </a:solidFill>
              <a:latin typeface="Times New Roman"/>
              <a:ea typeface="Times New Roman"/>
              <a:cs typeface="Times New Roman"/>
              <a:sym typeface="Times New Roman"/>
            </a:endParaRPr>
          </a:p>
          <a:p>
            <a:pPr indent="-341947" lvl="0" marL="457200" rtl="0" algn="l">
              <a:lnSpc>
                <a:spcPct val="115000"/>
              </a:lnSpc>
              <a:spcBef>
                <a:spcPts val="0"/>
              </a:spcBef>
              <a:spcAft>
                <a:spcPts val="0"/>
              </a:spcAft>
              <a:buSzPct val="100000"/>
              <a:buFont typeface="Times New Roman"/>
              <a:buAutoNum type="arabicPeriod"/>
            </a:pPr>
            <a:r>
              <a:rPr lang="en" sz="2550">
                <a:solidFill>
                  <a:schemeClr val="dk1"/>
                </a:solidFill>
                <a:latin typeface="Times New Roman"/>
                <a:ea typeface="Times New Roman"/>
                <a:cs typeface="Times New Roman"/>
                <a:sym typeface="Times New Roman"/>
              </a:rPr>
              <a:t>Analyze results</a:t>
            </a:r>
            <a:br>
              <a:rPr lang="en" sz="2550">
                <a:solidFill>
                  <a:schemeClr val="dk1"/>
                </a:solidFill>
                <a:latin typeface="Times New Roman"/>
                <a:ea typeface="Times New Roman"/>
                <a:cs typeface="Times New Roman"/>
                <a:sym typeface="Times New Roman"/>
              </a:rPr>
            </a:br>
            <a:endParaRPr sz="2550">
              <a:solidFill>
                <a:schemeClr val="dk1"/>
              </a:solidFill>
              <a:latin typeface="Times New Roman"/>
              <a:ea typeface="Times New Roman"/>
              <a:cs typeface="Times New Roman"/>
              <a:sym typeface="Times New Roman"/>
            </a:endParaRPr>
          </a:p>
          <a:p>
            <a:pPr indent="-341947" lvl="0" marL="457200" rtl="0" algn="l">
              <a:lnSpc>
                <a:spcPct val="115000"/>
              </a:lnSpc>
              <a:spcBef>
                <a:spcPts val="0"/>
              </a:spcBef>
              <a:spcAft>
                <a:spcPts val="0"/>
              </a:spcAft>
              <a:buSzPct val="100000"/>
              <a:buFont typeface="Times New Roman"/>
              <a:buAutoNum type="arabicPeriod"/>
            </a:pPr>
            <a:r>
              <a:rPr lang="en" sz="2550">
                <a:solidFill>
                  <a:schemeClr val="dk1"/>
                </a:solidFill>
                <a:latin typeface="Times New Roman"/>
                <a:ea typeface="Times New Roman"/>
                <a:cs typeface="Times New Roman"/>
                <a:sym typeface="Times New Roman"/>
              </a:rPr>
              <a:t>Report findings</a:t>
            </a:r>
            <a:endParaRPr sz="2550">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a:p>
        </p:txBody>
      </p:sp>
      <p:pic>
        <p:nvPicPr>
          <p:cNvPr id="109" name="Google Shape;109;p21"/>
          <p:cNvPicPr preferRelativeResize="0"/>
          <p:nvPr/>
        </p:nvPicPr>
        <p:blipFill>
          <a:blip r:embed="rId3">
            <a:alphaModFix/>
          </a:blip>
          <a:stretch>
            <a:fillRect/>
          </a:stretch>
        </p:blipFill>
        <p:spPr>
          <a:xfrm>
            <a:off x="5063550" y="0"/>
            <a:ext cx="3996250" cy="514349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2"/>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Constantia"/>
              <a:buNone/>
            </a:pPr>
            <a:r>
              <a:rPr lang="en"/>
              <a:t>What makes something scientific? 	</a:t>
            </a:r>
            <a:endParaRPr/>
          </a:p>
        </p:txBody>
      </p:sp>
      <p:sp>
        <p:nvSpPr>
          <p:cNvPr id="116" name="Google Shape;116;p22"/>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fontScale="85000" lnSpcReduction="20000"/>
          </a:bodyPr>
          <a:lstStyle/>
          <a:p>
            <a:pPr indent="-167640" lvl="0" marL="177800" rtl="0" algn="l">
              <a:lnSpc>
                <a:spcPct val="150000"/>
              </a:lnSpc>
              <a:spcBef>
                <a:spcPts val="0"/>
              </a:spcBef>
              <a:spcAft>
                <a:spcPts val="0"/>
              </a:spcAft>
              <a:buSzPct val="100000"/>
              <a:buFont typeface="Times New Roman"/>
              <a:buChar char="●"/>
            </a:pPr>
            <a:r>
              <a:rPr lang="en" sz="2400">
                <a:solidFill>
                  <a:schemeClr val="dk1"/>
                </a:solidFill>
                <a:latin typeface="Times New Roman"/>
                <a:ea typeface="Times New Roman"/>
                <a:cs typeface="Times New Roman"/>
                <a:sym typeface="Times New Roman"/>
              </a:rPr>
              <a:t>The scientific method!</a:t>
            </a:r>
            <a:endParaRPr sz="2400">
              <a:solidFill>
                <a:schemeClr val="dk1"/>
              </a:solidFill>
              <a:latin typeface="Times New Roman"/>
              <a:ea typeface="Times New Roman"/>
              <a:cs typeface="Times New Roman"/>
              <a:sym typeface="Times New Roman"/>
            </a:endParaRPr>
          </a:p>
          <a:p>
            <a:pPr indent="-193040" lvl="1" marL="520700" rtl="0" algn="l">
              <a:lnSpc>
                <a:spcPct val="150000"/>
              </a:lnSpc>
              <a:spcBef>
                <a:spcPts val="400"/>
              </a:spcBef>
              <a:spcAft>
                <a:spcPts val="0"/>
              </a:spcAft>
              <a:buSzPct val="100000"/>
              <a:buFont typeface="Times New Roman"/>
              <a:buChar char="○"/>
            </a:pPr>
            <a:r>
              <a:rPr lang="en" sz="2400">
                <a:solidFill>
                  <a:schemeClr val="dk1"/>
                </a:solidFill>
                <a:latin typeface="Times New Roman"/>
                <a:ea typeface="Times New Roman"/>
                <a:cs typeface="Times New Roman"/>
                <a:sym typeface="Times New Roman"/>
              </a:rPr>
              <a:t>Falsifiable</a:t>
            </a:r>
            <a:endParaRPr sz="2400">
              <a:solidFill>
                <a:schemeClr val="dk1"/>
              </a:solidFill>
              <a:latin typeface="Times New Roman"/>
              <a:ea typeface="Times New Roman"/>
              <a:cs typeface="Times New Roman"/>
              <a:sym typeface="Times New Roman"/>
            </a:endParaRPr>
          </a:p>
          <a:p>
            <a:pPr indent="-193040" lvl="1" marL="520700" rtl="0" algn="l">
              <a:lnSpc>
                <a:spcPct val="150000"/>
              </a:lnSpc>
              <a:spcBef>
                <a:spcPts val="400"/>
              </a:spcBef>
              <a:spcAft>
                <a:spcPts val="0"/>
              </a:spcAft>
              <a:buSzPct val="100000"/>
              <a:buFont typeface="Times New Roman"/>
              <a:buChar char="○"/>
            </a:pPr>
            <a:r>
              <a:rPr lang="en" sz="2400">
                <a:solidFill>
                  <a:schemeClr val="dk1"/>
                </a:solidFill>
                <a:latin typeface="Times New Roman"/>
                <a:ea typeface="Times New Roman"/>
                <a:cs typeface="Times New Roman"/>
                <a:sym typeface="Times New Roman"/>
              </a:rPr>
              <a:t>Probabilities</a:t>
            </a:r>
            <a:endParaRPr sz="2400">
              <a:solidFill>
                <a:schemeClr val="dk1"/>
              </a:solidFill>
              <a:latin typeface="Times New Roman"/>
              <a:ea typeface="Times New Roman"/>
              <a:cs typeface="Times New Roman"/>
              <a:sym typeface="Times New Roman"/>
            </a:endParaRPr>
          </a:p>
          <a:p>
            <a:pPr indent="-193040" lvl="1" marL="520700" rtl="0" algn="l">
              <a:lnSpc>
                <a:spcPct val="150000"/>
              </a:lnSpc>
              <a:spcBef>
                <a:spcPts val="400"/>
              </a:spcBef>
              <a:spcAft>
                <a:spcPts val="0"/>
              </a:spcAft>
              <a:buSzPct val="100000"/>
              <a:buFont typeface="Times New Roman"/>
              <a:buChar char="○"/>
            </a:pPr>
            <a:r>
              <a:rPr lang="en" sz="2400">
                <a:solidFill>
                  <a:schemeClr val="dk1"/>
                </a:solidFill>
                <a:latin typeface="Times New Roman"/>
                <a:ea typeface="Times New Roman"/>
                <a:cs typeface="Times New Roman"/>
                <a:sym typeface="Times New Roman"/>
              </a:rPr>
              <a:t>Explanatory</a:t>
            </a:r>
            <a:endParaRPr sz="2400">
              <a:solidFill>
                <a:schemeClr val="dk1"/>
              </a:solidFill>
              <a:latin typeface="Times New Roman"/>
              <a:ea typeface="Times New Roman"/>
              <a:cs typeface="Times New Roman"/>
              <a:sym typeface="Times New Roman"/>
            </a:endParaRPr>
          </a:p>
          <a:p>
            <a:pPr indent="-193040" lvl="1" marL="520700" rtl="0" algn="l">
              <a:lnSpc>
                <a:spcPct val="150000"/>
              </a:lnSpc>
              <a:spcBef>
                <a:spcPts val="400"/>
              </a:spcBef>
              <a:spcAft>
                <a:spcPts val="0"/>
              </a:spcAft>
              <a:buSzPct val="100000"/>
              <a:buFont typeface="Times New Roman"/>
              <a:buChar char="○"/>
            </a:pPr>
            <a:r>
              <a:rPr lang="en" sz="2400">
                <a:solidFill>
                  <a:schemeClr val="dk1"/>
                </a:solidFill>
                <a:latin typeface="Times New Roman"/>
                <a:ea typeface="Times New Roman"/>
                <a:cs typeface="Times New Roman"/>
                <a:sym typeface="Times New Roman"/>
              </a:rPr>
              <a:t>Description</a:t>
            </a:r>
            <a:endParaRPr sz="2400">
              <a:solidFill>
                <a:schemeClr val="dk1"/>
              </a:solidFill>
              <a:latin typeface="Times New Roman"/>
              <a:ea typeface="Times New Roman"/>
              <a:cs typeface="Times New Roman"/>
              <a:sym typeface="Times New Roman"/>
            </a:endParaRPr>
          </a:p>
          <a:p>
            <a:pPr indent="-193040" lvl="1" marL="520700" rtl="0" algn="l">
              <a:lnSpc>
                <a:spcPct val="150000"/>
              </a:lnSpc>
              <a:spcBef>
                <a:spcPts val="400"/>
              </a:spcBef>
              <a:spcAft>
                <a:spcPts val="0"/>
              </a:spcAft>
              <a:buSzPct val="100000"/>
              <a:buFont typeface="Times New Roman"/>
              <a:buChar char="○"/>
            </a:pPr>
            <a:r>
              <a:rPr lang="en" sz="2400">
                <a:solidFill>
                  <a:schemeClr val="dk1"/>
                </a:solidFill>
                <a:latin typeface="Times New Roman"/>
                <a:ea typeface="Times New Roman"/>
                <a:cs typeface="Times New Roman"/>
                <a:sym typeface="Times New Roman"/>
              </a:rPr>
              <a:t>Correlational </a:t>
            </a:r>
            <a:endParaRPr sz="2400">
              <a:solidFill>
                <a:schemeClr val="dk1"/>
              </a:solidFill>
              <a:latin typeface="Times New Roman"/>
              <a:ea typeface="Times New Roman"/>
              <a:cs typeface="Times New Roman"/>
              <a:sym typeface="Times New Roman"/>
            </a:endParaRPr>
          </a:p>
          <a:p>
            <a:pPr indent="-63500" lvl="1" marL="520700" rtl="0" algn="l">
              <a:lnSpc>
                <a:spcPct val="150000"/>
              </a:lnSpc>
              <a:spcBef>
                <a:spcPts val="400"/>
              </a:spcBef>
              <a:spcAft>
                <a:spcPts val="1200"/>
              </a:spcAft>
              <a:buClr>
                <a:schemeClr val="dk1"/>
              </a:buClr>
              <a:buSzPct val="75000"/>
              <a:buNone/>
            </a:pPr>
            <a:r>
              <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3"/>
          <p:cNvSpPr txBox="1"/>
          <p:nvPr>
            <p:ph type="title"/>
          </p:nvPr>
        </p:nvSpPr>
        <p:spPr>
          <a:xfrm>
            <a:off x="628650" y="150731"/>
            <a:ext cx="7886700" cy="492300"/>
          </a:xfrm>
          <a:prstGeom prst="rect">
            <a:avLst/>
          </a:prstGeom>
        </p:spPr>
        <p:txBody>
          <a:bodyPr anchorCtr="0" anchor="ctr" bIns="34275" lIns="68575" spcFirstLastPara="1" rIns="68575" wrap="square" tIns="34275">
            <a:normAutofit/>
          </a:bodyPr>
          <a:lstStyle/>
          <a:p>
            <a:pPr indent="0" lvl="0" marL="0" rtl="0" algn="ctr">
              <a:spcBef>
                <a:spcPts val="0"/>
              </a:spcBef>
              <a:spcAft>
                <a:spcPts val="0"/>
              </a:spcAft>
              <a:buNone/>
            </a:pPr>
            <a:r>
              <a:rPr b="1" lang="en">
                <a:latin typeface="Times New Roman"/>
                <a:ea typeface="Times New Roman"/>
                <a:cs typeface="Times New Roman"/>
                <a:sym typeface="Times New Roman"/>
              </a:rPr>
              <a:t>Types of Research</a:t>
            </a:r>
            <a:endParaRPr b="1">
              <a:latin typeface="Times New Roman"/>
              <a:ea typeface="Times New Roman"/>
              <a:cs typeface="Times New Roman"/>
              <a:sym typeface="Times New Roman"/>
            </a:endParaRPr>
          </a:p>
        </p:txBody>
      </p:sp>
      <p:sp>
        <p:nvSpPr>
          <p:cNvPr id="122" name="Google Shape;122;p23"/>
          <p:cNvSpPr txBox="1"/>
          <p:nvPr>
            <p:ph idx="1" type="body"/>
          </p:nvPr>
        </p:nvSpPr>
        <p:spPr>
          <a:xfrm>
            <a:off x="287275" y="766150"/>
            <a:ext cx="8659200" cy="4227000"/>
          </a:xfrm>
          <a:prstGeom prst="rect">
            <a:avLst/>
          </a:prstGeom>
        </p:spPr>
        <p:txBody>
          <a:bodyPr anchorCtr="0" anchor="t" bIns="34275" lIns="68575" spcFirstLastPara="1" rIns="68575" wrap="square" tIns="34275">
            <a:normAutofit fontScale="32500" lnSpcReduction="20000"/>
          </a:bodyPr>
          <a:lstStyle/>
          <a:p>
            <a:pPr indent="0" lvl="0" marL="0" rtl="0" algn="l">
              <a:lnSpc>
                <a:spcPct val="115000"/>
              </a:lnSpc>
              <a:spcBef>
                <a:spcPts val="1400"/>
              </a:spcBef>
              <a:spcAft>
                <a:spcPts val="0"/>
              </a:spcAft>
              <a:buNone/>
            </a:pPr>
            <a:r>
              <a:rPr b="1" lang="en" sz="6800">
                <a:solidFill>
                  <a:srgbClr val="1C4587"/>
                </a:solidFill>
                <a:highlight>
                  <a:srgbClr val="FFFFFF"/>
                </a:highlight>
                <a:latin typeface="Times New Roman"/>
                <a:ea typeface="Times New Roman"/>
                <a:cs typeface="Times New Roman"/>
                <a:sym typeface="Times New Roman"/>
              </a:rPr>
              <a:t>1. Causal or Experimental Research</a:t>
            </a:r>
            <a:endParaRPr b="1" sz="6800">
              <a:solidFill>
                <a:srgbClr val="1C4587"/>
              </a:solidFill>
              <a:highlight>
                <a:srgbClr val="FFFFFF"/>
              </a:highlight>
              <a:latin typeface="Times New Roman"/>
              <a:ea typeface="Times New Roman"/>
              <a:cs typeface="Times New Roman"/>
              <a:sym typeface="Times New Roman"/>
            </a:endParaRPr>
          </a:p>
          <a:p>
            <a:pPr indent="0" lvl="0" marL="0" rtl="0" algn="l">
              <a:lnSpc>
                <a:spcPct val="115000"/>
              </a:lnSpc>
              <a:spcBef>
                <a:spcPts val="1400"/>
              </a:spcBef>
              <a:spcAft>
                <a:spcPts val="0"/>
              </a:spcAft>
              <a:buNone/>
            </a:pPr>
            <a:r>
              <a:rPr b="1" lang="en" sz="6800">
                <a:solidFill>
                  <a:srgbClr val="1C4587"/>
                </a:solidFill>
                <a:highlight>
                  <a:srgbClr val="FFFFFF"/>
                </a:highlight>
                <a:latin typeface="Times New Roman"/>
                <a:ea typeface="Times New Roman"/>
                <a:cs typeface="Times New Roman"/>
                <a:sym typeface="Times New Roman"/>
              </a:rPr>
              <a:t>2. Descriptive Research and Correlational Research</a:t>
            </a:r>
            <a:endParaRPr b="1" sz="6800">
              <a:solidFill>
                <a:srgbClr val="1C4587"/>
              </a:solidFill>
              <a:highlight>
                <a:srgbClr val="FFFFFF"/>
              </a:highlight>
              <a:latin typeface="Times New Roman"/>
              <a:ea typeface="Times New Roman"/>
              <a:cs typeface="Times New Roman"/>
              <a:sym typeface="Times New Roman"/>
            </a:endParaRPr>
          </a:p>
          <a:p>
            <a:pPr indent="0" lvl="0" marL="0" rtl="0" algn="just">
              <a:lnSpc>
                <a:spcPct val="115000"/>
              </a:lnSpc>
              <a:spcBef>
                <a:spcPts val="1400"/>
              </a:spcBef>
              <a:spcAft>
                <a:spcPts val="0"/>
              </a:spcAft>
              <a:buNone/>
            </a:pPr>
            <a:r>
              <a:rPr lang="en" sz="6800">
                <a:solidFill>
                  <a:schemeClr val="accent2"/>
                </a:solidFill>
                <a:highlight>
                  <a:srgbClr val="FFFFFF"/>
                </a:highlight>
                <a:latin typeface="Times New Roman"/>
                <a:ea typeface="Times New Roman"/>
                <a:cs typeface="Times New Roman"/>
                <a:sym typeface="Times New Roman"/>
              </a:rPr>
              <a:t>-Descriptive research does exactly what the name implies—it describes. This type of research seeks to show what </a:t>
            </a:r>
            <a:r>
              <a:rPr i="1" lang="en" sz="6800">
                <a:solidFill>
                  <a:schemeClr val="accent2"/>
                </a:solidFill>
                <a:highlight>
                  <a:srgbClr val="FFFFFF"/>
                </a:highlight>
                <a:latin typeface="Times New Roman"/>
                <a:ea typeface="Times New Roman"/>
                <a:cs typeface="Times New Roman"/>
                <a:sym typeface="Times New Roman"/>
              </a:rPr>
              <a:t>already</a:t>
            </a:r>
            <a:r>
              <a:rPr lang="en" sz="6800">
                <a:solidFill>
                  <a:schemeClr val="accent2"/>
                </a:solidFill>
                <a:highlight>
                  <a:srgbClr val="FFFFFF"/>
                </a:highlight>
                <a:latin typeface="Times New Roman"/>
                <a:ea typeface="Times New Roman"/>
                <a:cs typeface="Times New Roman"/>
                <a:sym typeface="Times New Roman"/>
              </a:rPr>
              <a:t> exists in a group or population.</a:t>
            </a:r>
            <a:endParaRPr sz="6800">
              <a:solidFill>
                <a:schemeClr val="accent2"/>
              </a:solidFill>
              <a:highlight>
                <a:srgbClr val="FFFFFF"/>
              </a:highlight>
              <a:latin typeface="Times New Roman"/>
              <a:ea typeface="Times New Roman"/>
              <a:cs typeface="Times New Roman"/>
              <a:sym typeface="Times New Roman"/>
            </a:endParaRPr>
          </a:p>
          <a:p>
            <a:pPr indent="0" lvl="0" marL="0" rtl="0" algn="just">
              <a:lnSpc>
                <a:spcPct val="115000"/>
              </a:lnSpc>
              <a:spcBef>
                <a:spcPts val="1400"/>
              </a:spcBef>
              <a:spcAft>
                <a:spcPts val="0"/>
              </a:spcAft>
              <a:buNone/>
            </a:pPr>
            <a:r>
              <a:rPr lang="en" sz="6800">
                <a:solidFill>
                  <a:schemeClr val="accent2"/>
                </a:solidFill>
                <a:highlight>
                  <a:srgbClr val="FFFFFF"/>
                </a:highlight>
                <a:latin typeface="Times New Roman"/>
                <a:ea typeface="Times New Roman"/>
                <a:cs typeface="Times New Roman"/>
                <a:sym typeface="Times New Roman"/>
              </a:rPr>
              <a:t>- Correlational  research, also known as correlational research, is a type of study that investigates the connection between two or more variables.</a:t>
            </a:r>
            <a:r>
              <a:rPr b="1" lang="en" sz="6800">
                <a:solidFill>
                  <a:schemeClr val="accent2"/>
                </a:solidFill>
                <a:highlight>
                  <a:srgbClr val="FFFFFF"/>
                </a:highlight>
                <a:latin typeface="Times New Roman"/>
                <a:ea typeface="Times New Roman"/>
                <a:cs typeface="Times New Roman"/>
                <a:sym typeface="Times New Roman"/>
              </a:rPr>
              <a:t> </a:t>
            </a:r>
            <a:r>
              <a:rPr lang="en" sz="6800">
                <a:solidFill>
                  <a:schemeClr val="accent2"/>
                </a:solidFill>
                <a:highlight>
                  <a:srgbClr val="FFFFFF"/>
                </a:highlight>
                <a:latin typeface="Times New Roman"/>
                <a:ea typeface="Times New Roman"/>
                <a:cs typeface="Times New Roman"/>
                <a:sym typeface="Times New Roman"/>
              </a:rPr>
              <a:t>These variables usually already exist in a population; the researchers just want to determine how they are related and the strength of that connection</a:t>
            </a:r>
            <a:r>
              <a:rPr lang="en" sz="7200">
                <a:solidFill>
                  <a:schemeClr val="accent2"/>
                </a:solidFill>
                <a:highlight>
                  <a:srgbClr val="FFFFFF"/>
                </a:highlight>
                <a:latin typeface="Times New Roman"/>
                <a:ea typeface="Times New Roman"/>
                <a:cs typeface="Times New Roman"/>
                <a:sym typeface="Times New Roman"/>
              </a:rPr>
              <a:t>.</a:t>
            </a:r>
            <a:r>
              <a:rPr lang="en" sz="7200">
                <a:solidFill>
                  <a:schemeClr val="dk1"/>
                </a:solidFill>
                <a:latin typeface="Times New Roman"/>
                <a:ea typeface="Times New Roman"/>
                <a:cs typeface="Times New Roman"/>
                <a:sym typeface="Times New Roman"/>
              </a:rPr>
              <a:t> </a:t>
            </a:r>
            <a:endParaRPr sz="7200">
              <a:solidFill>
                <a:schemeClr val="dk1"/>
              </a:solidFill>
              <a:latin typeface="Times New Roman"/>
              <a:ea typeface="Times New Roman"/>
              <a:cs typeface="Times New Roman"/>
              <a:sym typeface="Times New Roman"/>
            </a:endParaRPr>
          </a:p>
          <a:p>
            <a:pPr indent="0" lvl="0" marL="0" rtl="0" algn="l">
              <a:lnSpc>
                <a:spcPct val="115000"/>
              </a:lnSpc>
              <a:spcBef>
                <a:spcPts val="1400"/>
              </a:spcBef>
              <a:spcAft>
                <a:spcPts val="0"/>
              </a:spcAft>
              <a:buClr>
                <a:schemeClr val="dk1"/>
              </a:buClr>
              <a:buSzPct val="84615"/>
              <a:buFont typeface="Arial"/>
              <a:buNone/>
            </a:pPr>
            <a:r>
              <a:t/>
            </a:r>
            <a:endParaRPr sz="1300">
              <a:solidFill>
                <a:schemeClr val="accent2"/>
              </a:solidFill>
              <a:highlight>
                <a:srgbClr val="FFFFFF"/>
              </a:highlight>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4"/>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Constantia"/>
              <a:buNone/>
            </a:pPr>
            <a:r>
              <a:rPr lang="en"/>
              <a:t>The first psychological experiment</a:t>
            </a:r>
            <a:endParaRPr/>
          </a:p>
        </p:txBody>
      </p:sp>
      <p:sp>
        <p:nvSpPr>
          <p:cNvPr id="129" name="Google Shape;129;p24"/>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p>
            <a:pPr indent="-171450" lvl="0" marL="177800" rtl="0" algn="l">
              <a:lnSpc>
                <a:spcPct val="90000"/>
              </a:lnSpc>
              <a:spcBef>
                <a:spcPts val="0"/>
              </a:spcBef>
              <a:spcAft>
                <a:spcPts val="0"/>
              </a:spcAft>
              <a:buClr>
                <a:schemeClr val="dk1"/>
              </a:buClr>
              <a:buSzPts val="2100"/>
              <a:buChar char="●"/>
            </a:pPr>
            <a:r>
              <a:rPr lang="en"/>
              <a:t>Wilhelm Wundt (1832-1920) </a:t>
            </a:r>
            <a:endParaRPr/>
          </a:p>
          <a:p>
            <a:pPr indent="-177800" lvl="1" marL="520700" rtl="0" algn="l">
              <a:lnSpc>
                <a:spcPct val="90000"/>
              </a:lnSpc>
              <a:spcBef>
                <a:spcPts val="400"/>
              </a:spcBef>
              <a:spcAft>
                <a:spcPts val="0"/>
              </a:spcAft>
              <a:buClr>
                <a:schemeClr val="dk1"/>
              </a:buClr>
              <a:buSzPts val="1800"/>
              <a:buChar char="○"/>
            </a:pPr>
            <a:r>
              <a:rPr lang="en"/>
              <a:t>Measuring how long it takes you to do things</a:t>
            </a:r>
            <a:endParaRPr/>
          </a:p>
          <a:p>
            <a:pPr indent="-177800" lvl="1" marL="520700" rtl="0" algn="l">
              <a:lnSpc>
                <a:spcPct val="90000"/>
              </a:lnSpc>
              <a:spcBef>
                <a:spcPts val="400"/>
              </a:spcBef>
              <a:spcAft>
                <a:spcPts val="0"/>
              </a:spcAft>
              <a:buClr>
                <a:schemeClr val="dk1"/>
              </a:buClr>
              <a:buSzPts val="1800"/>
              <a:buChar char="○"/>
            </a:pPr>
            <a:r>
              <a:rPr lang="en"/>
              <a:t>Showed you a light. You press a button.</a:t>
            </a:r>
            <a:endParaRPr/>
          </a:p>
          <a:p>
            <a:pPr indent="-171450" lvl="2" marL="863600" rtl="0" algn="l">
              <a:lnSpc>
                <a:spcPct val="90000"/>
              </a:lnSpc>
              <a:spcBef>
                <a:spcPts val="400"/>
              </a:spcBef>
              <a:spcAft>
                <a:spcPts val="0"/>
              </a:spcAft>
              <a:buClr>
                <a:schemeClr val="dk1"/>
              </a:buClr>
              <a:buSzPts val="1500"/>
              <a:buChar char="■"/>
            </a:pPr>
            <a:r>
              <a:rPr lang="en"/>
              <a:t>Takes about 1/5 of a second</a:t>
            </a:r>
            <a:endParaRPr/>
          </a:p>
          <a:p>
            <a:pPr indent="-177800" lvl="0" marL="177800" rtl="0" algn="l">
              <a:lnSpc>
                <a:spcPct val="90000"/>
              </a:lnSpc>
              <a:spcBef>
                <a:spcPts val="800"/>
              </a:spcBef>
              <a:spcAft>
                <a:spcPts val="0"/>
              </a:spcAft>
              <a:buClr>
                <a:schemeClr val="dk1"/>
              </a:buClr>
              <a:buSzPts val="1800"/>
              <a:buChar char="●"/>
            </a:pPr>
            <a:r>
              <a:rPr lang="en" sz="1800"/>
              <a:t>Now, if the light turns on and it's red, you push one button. And if it's green, you push another. </a:t>
            </a:r>
            <a:endParaRPr/>
          </a:p>
          <a:p>
            <a:pPr indent="-171450" lvl="1" marL="520700" rtl="0" algn="l">
              <a:lnSpc>
                <a:spcPct val="90000"/>
              </a:lnSpc>
              <a:spcBef>
                <a:spcPts val="400"/>
              </a:spcBef>
              <a:spcAft>
                <a:spcPts val="0"/>
              </a:spcAft>
              <a:buClr>
                <a:schemeClr val="dk1"/>
              </a:buClr>
              <a:buSzPts val="1500"/>
              <a:buChar char="○"/>
            </a:pPr>
            <a:r>
              <a:rPr lang="en" sz="1500"/>
              <a:t>So his idea was the motor system to push the button is about the same. The time to observe the light is about the same.</a:t>
            </a:r>
            <a:endParaRPr/>
          </a:p>
          <a:p>
            <a:pPr indent="-177800" lvl="1" marL="520700" rtl="0" algn="l">
              <a:lnSpc>
                <a:spcPct val="90000"/>
              </a:lnSpc>
              <a:spcBef>
                <a:spcPts val="400"/>
              </a:spcBef>
              <a:spcAft>
                <a:spcPts val="1200"/>
              </a:spcAft>
              <a:buClr>
                <a:schemeClr val="dk1"/>
              </a:buClr>
              <a:buSzPts val="1800"/>
              <a:buChar char="○"/>
            </a:pPr>
            <a:r>
              <a:rPr lang="en"/>
              <a:t>The choice is the difference. Turns out it’s about 1/10 of a second.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5"/>
          <p:cNvSpPr txBox="1"/>
          <p:nvPr>
            <p:ph type="title"/>
          </p:nvPr>
        </p:nvSpPr>
        <p:spPr>
          <a:xfrm>
            <a:off x="628650" y="561119"/>
            <a:ext cx="7886700" cy="994200"/>
          </a:xfrm>
          <a:prstGeom prst="rect">
            <a:avLst/>
          </a:prstGeom>
          <a:noFill/>
          <a:ln>
            <a:noFill/>
          </a:ln>
        </p:spPr>
        <p:txBody>
          <a:bodyPr anchorCtr="0" anchor="ctr" bIns="34275" lIns="68575" spcFirstLastPara="1" rIns="68575" wrap="square" tIns="34275">
            <a:normAutofit/>
          </a:bodyPr>
          <a:lstStyle/>
          <a:p>
            <a:pPr indent="0" lvl="0" marL="0" rtl="0" algn="ctr">
              <a:lnSpc>
                <a:spcPct val="115000"/>
              </a:lnSpc>
              <a:spcBef>
                <a:spcPts val="1400"/>
              </a:spcBef>
              <a:spcAft>
                <a:spcPts val="0"/>
              </a:spcAft>
              <a:buClr>
                <a:schemeClr val="dk1"/>
              </a:buClr>
              <a:buSzPts val="1100"/>
              <a:buFont typeface="Arial"/>
              <a:buNone/>
            </a:pPr>
            <a:r>
              <a:rPr b="1" lang="en" sz="2650">
                <a:solidFill>
                  <a:srgbClr val="1C4587"/>
                </a:solidFill>
                <a:highlight>
                  <a:srgbClr val="FFFFFF"/>
                </a:highlight>
                <a:latin typeface="Times New Roman"/>
                <a:ea typeface="Times New Roman"/>
                <a:cs typeface="Times New Roman"/>
                <a:sym typeface="Times New Roman"/>
              </a:rPr>
              <a:t>Causal or Experimental Research</a:t>
            </a:r>
            <a:endParaRPr b="1" sz="2650">
              <a:solidFill>
                <a:srgbClr val="1C4587"/>
              </a:solidFill>
              <a:highlight>
                <a:srgbClr val="FFFFFF"/>
              </a:highlight>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3300"/>
              <a:buFont typeface="Constantia"/>
              <a:buNone/>
            </a:pPr>
            <a:r>
              <a:rPr lang="en"/>
              <a:t>What makes an experiment? </a:t>
            </a:r>
            <a:endParaRPr/>
          </a:p>
        </p:txBody>
      </p:sp>
      <p:sp>
        <p:nvSpPr>
          <p:cNvPr id="135" name="Google Shape;135;p25"/>
          <p:cNvSpPr txBox="1"/>
          <p:nvPr>
            <p:ph idx="1" type="body"/>
          </p:nvPr>
        </p:nvSpPr>
        <p:spPr>
          <a:xfrm>
            <a:off x="683375" y="1432269"/>
            <a:ext cx="7886700" cy="3263400"/>
          </a:xfrm>
          <a:prstGeom prst="rect">
            <a:avLst/>
          </a:prstGeom>
          <a:noFill/>
          <a:ln>
            <a:noFill/>
          </a:ln>
        </p:spPr>
        <p:txBody>
          <a:bodyPr anchorCtr="0" anchor="t" bIns="34275" lIns="68575" spcFirstLastPara="1" rIns="68575" wrap="square" tIns="34275">
            <a:normAutofit/>
          </a:bodyPr>
          <a:lstStyle/>
          <a:p>
            <a:pPr indent="0" lvl="0" marL="177800" rtl="0" algn="l">
              <a:lnSpc>
                <a:spcPct val="90000"/>
              </a:lnSpc>
              <a:spcBef>
                <a:spcPts val="0"/>
              </a:spcBef>
              <a:spcAft>
                <a:spcPts val="0"/>
              </a:spcAft>
              <a:buSzPts val="2100"/>
              <a:buNone/>
            </a:pPr>
            <a:r>
              <a:t/>
            </a:r>
            <a:endParaRPr/>
          </a:p>
          <a:p>
            <a:pPr indent="-63500" lvl="1" marL="520700" rtl="0" algn="l">
              <a:lnSpc>
                <a:spcPct val="90000"/>
              </a:lnSpc>
              <a:spcBef>
                <a:spcPts val="400"/>
              </a:spcBef>
              <a:spcAft>
                <a:spcPts val="0"/>
              </a:spcAft>
              <a:buClr>
                <a:schemeClr val="dk1"/>
              </a:buClr>
              <a:buSzPts val="1800"/>
              <a:buNone/>
            </a:pPr>
            <a:r>
              <a:t/>
            </a:r>
            <a:endParaRPr/>
          </a:p>
          <a:p>
            <a:pPr indent="-63500" lvl="1" marL="520700" rtl="0" algn="l">
              <a:lnSpc>
                <a:spcPct val="90000"/>
              </a:lnSpc>
              <a:spcBef>
                <a:spcPts val="400"/>
              </a:spcBef>
              <a:spcAft>
                <a:spcPts val="1200"/>
              </a:spcAft>
              <a:buClr>
                <a:schemeClr val="dk1"/>
              </a:buClr>
              <a:buSzPts val="1800"/>
              <a:buNone/>
            </a:pPr>
            <a:r>
              <a:t/>
            </a:r>
            <a:endParaRPr/>
          </a:p>
        </p:txBody>
      </p:sp>
      <p:pic>
        <p:nvPicPr>
          <p:cNvPr id="136" name="Google Shape;136;p25"/>
          <p:cNvPicPr preferRelativeResize="0"/>
          <p:nvPr/>
        </p:nvPicPr>
        <p:blipFill rotWithShape="1">
          <a:blip r:embed="rId3">
            <a:alphaModFix/>
          </a:blip>
          <a:srcRect b="0" l="0" r="0" t="0"/>
          <a:stretch/>
        </p:blipFill>
        <p:spPr>
          <a:xfrm>
            <a:off x="180812" y="2181650"/>
            <a:ext cx="8782376" cy="14363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6"/>
          <p:cNvSpPr txBox="1"/>
          <p:nvPr>
            <p:ph idx="1" type="body"/>
          </p:nvPr>
        </p:nvSpPr>
        <p:spPr>
          <a:xfrm>
            <a:off x="273000" y="1268044"/>
            <a:ext cx="7886700" cy="3263400"/>
          </a:xfrm>
          <a:prstGeom prst="rect">
            <a:avLst/>
          </a:prstGeom>
          <a:noFill/>
          <a:ln>
            <a:noFill/>
          </a:ln>
        </p:spPr>
        <p:txBody>
          <a:bodyPr anchorCtr="0" anchor="t" bIns="34275" lIns="68575" spcFirstLastPara="1" rIns="68575" wrap="square" tIns="34275">
            <a:noAutofit/>
          </a:bodyPr>
          <a:lstStyle/>
          <a:p>
            <a:pPr indent="-190500" lvl="0" marL="177800" rtl="0" algn="l">
              <a:lnSpc>
                <a:spcPct val="90000"/>
              </a:lnSpc>
              <a:spcBef>
                <a:spcPts val="0"/>
              </a:spcBef>
              <a:spcAft>
                <a:spcPts val="0"/>
              </a:spcAft>
              <a:buSzPts val="2400"/>
              <a:buFont typeface="Times New Roman"/>
              <a:buChar char="●"/>
            </a:pPr>
            <a:r>
              <a:rPr lang="en" sz="2400">
                <a:solidFill>
                  <a:schemeClr val="dk1"/>
                </a:solidFill>
                <a:latin typeface="Times New Roman"/>
                <a:ea typeface="Times New Roman"/>
                <a:cs typeface="Times New Roman"/>
                <a:sym typeface="Times New Roman"/>
              </a:rPr>
              <a:t>Dependent variable </a:t>
            </a:r>
            <a:endParaRPr sz="2400">
              <a:solidFill>
                <a:schemeClr val="dk1"/>
              </a:solidFill>
              <a:latin typeface="Times New Roman"/>
              <a:ea typeface="Times New Roman"/>
              <a:cs typeface="Times New Roman"/>
              <a:sym typeface="Times New Roman"/>
            </a:endParaRPr>
          </a:p>
          <a:p>
            <a:pPr indent="-215900" lvl="1" marL="520700" rtl="0" algn="l">
              <a:lnSpc>
                <a:spcPct val="90000"/>
              </a:lnSpc>
              <a:spcBef>
                <a:spcPts val="1200"/>
              </a:spcBef>
              <a:spcAft>
                <a:spcPts val="0"/>
              </a:spcAft>
              <a:buSzPts val="2400"/>
              <a:buFont typeface="Times New Roman"/>
              <a:buChar char="○"/>
            </a:pPr>
            <a:r>
              <a:rPr lang="en" sz="2400">
                <a:solidFill>
                  <a:schemeClr val="dk1"/>
                </a:solidFill>
                <a:latin typeface="Times New Roman"/>
                <a:ea typeface="Times New Roman"/>
                <a:cs typeface="Times New Roman"/>
                <a:sym typeface="Times New Roman"/>
              </a:rPr>
              <a:t>What you measure: the outcome</a:t>
            </a:r>
            <a:endParaRPr sz="2400">
              <a:solidFill>
                <a:schemeClr val="dk1"/>
              </a:solidFill>
              <a:latin typeface="Times New Roman"/>
              <a:ea typeface="Times New Roman"/>
              <a:cs typeface="Times New Roman"/>
              <a:sym typeface="Times New Roman"/>
            </a:endParaRPr>
          </a:p>
          <a:p>
            <a:pPr indent="-63500" lvl="1" marL="520700" rtl="0" algn="l">
              <a:lnSpc>
                <a:spcPct val="90000"/>
              </a:lnSpc>
              <a:spcBef>
                <a:spcPts val="1200"/>
              </a:spcBef>
              <a:spcAft>
                <a:spcPts val="0"/>
              </a:spcAft>
              <a:buClr>
                <a:schemeClr val="dk1"/>
              </a:buClr>
              <a:buSzPts val="1800"/>
              <a:buFont typeface="Arial"/>
              <a:buNone/>
            </a:pPr>
            <a:r>
              <a:t/>
            </a:r>
            <a:endParaRPr sz="2400">
              <a:solidFill>
                <a:schemeClr val="dk1"/>
              </a:solidFill>
              <a:latin typeface="Times New Roman"/>
              <a:ea typeface="Times New Roman"/>
              <a:cs typeface="Times New Roman"/>
              <a:sym typeface="Times New Roman"/>
            </a:endParaRPr>
          </a:p>
          <a:p>
            <a:pPr indent="-190500" lvl="0" marL="177800" rtl="0" algn="l">
              <a:lnSpc>
                <a:spcPct val="90000"/>
              </a:lnSpc>
              <a:spcBef>
                <a:spcPts val="1200"/>
              </a:spcBef>
              <a:spcAft>
                <a:spcPts val="0"/>
              </a:spcAft>
              <a:buSzPts val="2400"/>
              <a:buFont typeface="Times New Roman"/>
              <a:buChar char="●"/>
            </a:pPr>
            <a:r>
              <a:rPr lang="en" sz="2400">
                <a:solidFill>
                  <a:schemeClr val="dk1"/>
                </a:solidFill>
                <a:latin typeface="Times New Roman"/>
                <a:ea typeface="Times New Roman"/>
                <a:cs typeface="Times New Roman"/>
                <a:sym typeface="Times New Roman"/>
              </a:rPr>
              <a:t>Independent variable</a:t>
            </a:r>
            <a:endParaRPr sz="2400">
              <a:solidFill>
                <a:schemeClr val="dk1"/>
              </a:solidFill>
              <a:latin typeface="Times New Roman"/>
              <a:ea typeface="Times New Roman"/>
              <a:cs typeface="Times New Roman"/>
              <a:sym typeface="Times New Roman"/>
            </a:endParaRPr>
          </a:p>
          <a:p>
            <a:pPr indent="-215900" lvl="1" marL="520700" rtl="0" algn="l">
              <a:lnSpc>
                <a:spcPct val="90000"/>
              </a:lnSpc>
              <a:spcBef>
                <a:spcPts val="1200"/>
              </a:spcBef>
              <a:spcAft>
                <a:spcPts val="0"/>
              </a:spcAft>
              <a:buSzPts val="2400"/>
              <a:buFont typeface="Times New Roman"/>
              <a:buChar char="○"/>
            </a:pPr>
            <a:r>
              <a:rPr lang="en" sz="2400">
                <a:solidFill>
                  <a:schemeClr val="dk1"/>
                </a:solidFill>
                <a:latin typeface="Times New Roman"/>
                <a:ea typeface="Times New Roman"/>
                <a:cs typeface="Times New Roman"/>
                <a:sym typeface="Times New Roman"/>
              </a:rPr>
              <a:t>What you vary </a:t>
            </a:r>
            <a:endParaRPr sz="2400">
              <a:solidFill>
                <a:schemeClr val="dk1"/>
              </a:solidFill>
              <a:latin typeface="Times New Roman"/>
              <a:ea typeface="Times New Roman"/>
              <a:cs typeface="Times New Roman"/>
              <a:sym typeface="Times New Roman"/>
            </a:endParaRPr>
          </a:p>
          <a:p>
            <a:pPr indent="0" lvl="0" marL="0" rtl="0" algn="l">
              <a:lnSpc>
                <a:spcPct val="90000"/>
              </a:lnSpc>
              <a:spcBef>
                <a:spcPts val="120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lnSpc>
                <a:spcPct val="90000"/>
              </a:lnSpc>
              <a:spcBef>
                <a:spcPts val="1200"/>
              </a:spcBef>
              <a:spcAft>
                <a:spcPts val="0"/>
              </a:spcAft>
              <a:buNone/>
            </a:pPr>
            <a:r>
              <a:rPr lang="en" sz="2400">
                <a:solidFill>
                  <a:schemeClr val="dk1"/>
                </a:solidFill>
                <a:highlight>
                  <a:srgbClr val="FF9900"/>
                </a:highlight>
                <a:latin typeface="Times New Roman"/>
                <a:ea typeface="Times New Roman"/>
                <a:cs typeface="Times New Roman"/>
                <a:sym typeface="Times New Roman"/>
              </a:rPr>
              <a:t>Example?</a:t>
            </a:r>
            <a:endParaRPr sz="2400">
              <a:solidFill>
                <a:schemeClr val="dk1"/>
              </a:solidFill>
              <a:highlight>
                <a:srgbClr val="FF9900"/>
              </a:highlight>
              <a:latin typeface="Times New Roman"/>
              <a:ea typeface="Times New Roman"/>
              <a:cs typeface="Times New Roman"/>
              <a:sym typeface="Times New Roman"/>
            </a:endParaRPr>
          </a:p>
          <a:p>
            <a:pPr indent="-63500" lvl="1" marL="520700" rtl="0" algn="l">
              <a:lnSpc>
                <a:spcPct val="90000"/>
              </a:lnSpc>
              <a:spcBef>
                <a:spcPts val="1200"/>
              </a:spcBef>
              <a:spcAft>
                <a:spcPts val="0"/>
              </a:spcAft>
              <a:buClr>
                <a:schemeClr val="dk1"/>
              </a:buClr>
              <a:buSzPts val="1800"/>
              <a:buFont typeface="Arial"/>
              <a:buNone/>
            </a:pPr>
            <a:r>
              <a:t/>
            </a:r>
            <a:endParaRPr sz="2400">
              <a:latin typeface="Times New Roman"/>
              <a:ea typeface="Times New Roman"/>
              <a:cs typeface="Times New Roman"/>
              <a:sym typeface="Times New Roman"/>
            </a:endParaRPr>
          </a:p>
          <a:p>
            <a:pPr indent="-63500" lvl="1" marL="520700" rtl="0" algn="l">
              <a:lnSpc>
                <a:spcPct val="90000"/>
              </a:lnSpc>
              <a:spcBef>
                <a:spcPts val="1200"/>
              </a:spcBef>
              <a:spcAft>
                <a:spcPts val="0"/>
              </a:spcAft>
              <a:buClr>
                <a:schemeClr val="dk1"/>
              </a:buClr>
              <a:buSzPts val="1800"/>
              <a:buFont typeface="Arial"/>
              <a:buNone/>
            </a:pPr>
            <a:r>
              <a:t/>
            </a:r>
            <a:endParaRPr sz="2400">
              <a:latin typeface="Times New Roman"/>
              <a:ea typeface="Times New Roman"/>
              <a:cs typeface="Times New Roman"/>
              <a:sym typeface="Times New Roman"/>
            </a:endParaRPr>
          </a:p>
          <a:p>
            <a:pPr indent="0" lvl="0" marL="0" rtl="0" algn="l">
              <a:lnSpc>
                <a:spcPct val="90000"/>
              </a:lnSpc>
              <a:spcBef>
                <a:spcPts val="1200"/>
              </a:spcBef>
              <a:spcAft>
                <a:spcPts val="1200"/>
              </a:spcAft>
              <a:buSzPts val="2100"/>
              <a:buNone/>
            </a:pPr>
            <a:r>
              <a:t/>
            </a:r>
            <a:endParaRPr/>
          </a:p>
        </p:txBody>
      </p:sp>
      <p:sp>
        <p:nvSpPr>
          <p:cNvPr id="143" name="Google Shape;143;p26"/>
          <p:cNvSpPr txBox="1"/>
          <p:nvPr>
            <p:ph type="title"/>
          </p:nvPr>
        </p:nvSpPr>
        <p:spPr>
          <a:xfrm>
            <a:off x="628650" y="273844"/>
            <a:ext cx="7886700" cy="994200"/>
          </a:xfrm>
          <a:prstGeom prst="rect">
            <a:avLst/>
          </a:prstGeom>
        </p:spPr>
        <p:txBody>
          <a:bodyPr anchorCtr="0" anchor="ctr" bIns="34275" lIns="68575" spcFirstLastPara="1" rIns="68575" wrap="square" tIns="34275">
            <a:normAutofit/>
          </a:bodyPr>
          <a:lstStyle/>
          <a:p>
            <a:pPr indent="0" lvl="0" marL="0" rtl="0" algn="ctr">
              <a:lnSpc>
                <a:spcPct val="115000"/>
              </a:lnSpc>
              <a:spcBef>
                <a:spcPts val="1400"/>
              </a:spcBef>
              <a:spcAft>
                <a:spcPts val="0"/>
              </a:spcAft>
              <a:buClr>
                <a:schemeClr val="dk1"/>
              </a:buClr>
              <a:buSzPts val="1100"/>
              <a:buFont typeface="Arial"/>
              <a:buNone/>
            </a:pPr>
            <a:r>
              <a:rPr b="1" lang="en" sz="2650">
                <a:solidFill>
                  <a:srgbClr val="1C4587"/>
                </a:solidFill>
                <a:highlight>
                  <a:srgbClr val="FFFFFF"/>
                </a:highlight>
                <a:latin typeface="Times New Roman"/>
                <a:ea typeface="Times New Roman"/>
                <a:cs typeface="Times New Roman"/>
                <a:sym typeface="Times New Roman"/>
              </a:rPr>
              <a:t>Causal or Experimental Research</a:t>
            </a:r>
            <a:endParaRPr b="1" sz="2650">
              <a:solidFill>
                <a:srgbClr val="1C4587"/>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None/>
            </a:pPr>
            <a:r>
              <a:t/>
            </a:r>
            <a:endParaRPr/>
          </a:p>
        </p:txBody>
      </p:sp>
      <p:pic>
        <p:nvPicPr>
          <p:cNvPr id="144" name="Google Shape;144;p26"/>
          <p:cNvPicPr preferRelativeResize="0"/>
          <p:nvPr/>
        </p:nvPicPr>
        <p:blipFill>
          <a:blip r:embed="rId3">
            <a:alphaModFix/>
          </a:blip>
          <a:stretch>
            <a:fillRect/>
          </a:stretch>
        </p:blipFill>
        <p:spPr>
          <a:xfrm>
            <a:off x="3570350" y="3055720"/>
            <a:ext cx="5425099" cy="18931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7"/>
          <p:cNvSpPr txBox="1"/>
          <p:nvPr>
            <p:ph type="title"/>
          </p:nvPr>
        </p:nvSpPr>
        <p:spPr>
          <a:xfrm>
            <a:off x="368750" y="342000"/>
            <a:ext cx="4665300" cy="789300"/>
          </a:xfrm>
          <a:prstGeom prst="rect">
            <a:avLst/>
          </a:prstGeom>
        </p:spPr>
        <p:txBody>
          <a:bodyPr anchorCtr="0" anchor="ctr" bIns="34275" lIns="68575" spcFirstLastPara="1" rIns="68575" wrap="square" tIns="34275">
            <a:normAutofit fontScale="90000"/>
          </a:bodyPr>
          <a:lstStyle/>
          <a:p>
            <a:pPr indent="0" lvl="0" marL="0" rtl="0" algn="ctr">
              <a:lnSpc>
                <a:spcPct val="115000"/>
              </a:lnSpc>
              <a:spcBef>
                <a:spcPts val="1400"/>
              </a:spcBef>
              <a:spcAft>
                <a:spcPts val="0"/>
              </a:spcAft>
              <a:buClr>
                <a:schemeClr val="dk1"/>
              </a:buClr>
              <a:buSzPct val="41509"/>
              <a:buFont typeface="Arial"/>
              <a:buNone/>
            </a:pPr>
            <a:r>
              <a:rPr b="1" lang="en" sz="2650">
                <a:solidFill>
                  <a:srgbClr val="1C4587"/>
                </a:solidFill>
                <a:highlight>
                  <a:srgbClr val="FFFFFF"/>
                </a:highlight>
                <a:latin typeface="Times New Roman"/>
                <a:ea typeface="Times New Roman"/>
                <a:cs typeface="Times New Roman"/>
                <a:sym typeface="Times New Roman"/>
              </a:rPr>
              <a:t>Causal or Experimental Research</a:t>
            </a:r>
            <a:endParaRPr b="1" sz="2650">
              <a:solidFill>
                <a:srgbClr val="1C4587"/>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None/>
            </a:pPr>
            <a:r>
              <a:t/>
            </a:r>
            <a:endParaRPr/>
          </a:p>
        </p:txBody>
      </p:sp>
      <p:sp>
        <p:nvSpPr>
          <p:cNvPr id="150" name="Google Shape;150;p27"/>
          <p:cNvSpPr txBox="1"/>
          <p:nvPr>
            <p:ph idx="1" type="body"/>
          </p:nvPr>
        </p:nvSpPr>
        <p:spPr>
          <a:xfrm>
            <a:off x="286675" y="1187900"/>
            <a:ext cx="3943200" cy="3613500"/>
          </a:xfrm>
          <a:prstGeom prst="rect">
            <a:avLst/>
          </a:prstGeom>
        </p:spPr>
        <p:txBody>
          <a:bodyPr anchorCtr="0" anchor="t" bIns="34275" lIns="68575" spcFirstLastPara="1" rIns="68575" wrap="square" tIns="34275">
            <a:normAutofit/>
          </a:bodyPr>
          <a:lstStyle/>
          <a:p>
            <a:pPr indent="-381000" lvl="0" marL="457200" rtl="0" algn="l">
              <a:lnSpc>
                <a:spcPct val="150000"/>
              </a:lnSpc>
              <a:spcBef>
                <a:spcPts val="800"/>
              </a:spcBef>
              <a:spcAft>
                <a:spcPts val="0"/>
              </a:spcAft>
              <a:buClr>
                <a:schemeClr val="dk1"/>
              </a:buClr>
              <a:buSzPts val="2400"/>
              <a:buFont typeface="Times New Roman"/>
              <a:buChar char="●"/>
            </a:pPr>
            <a:r>
              <a:rPr lang="en" sz="2400">
                <a:solidFill>
                  <a:schemeClr val="dk1"/>
                </a:solidFill>
                <a:latin typeface="Times New Roman"/>
                <a:ea typeface="Times New Roman"/>
                <a:cs typeface="Times New Roman"/>
                <a:sym typeface="Times New Roman"/>
              </a:rPr>
              <a:t>Experimental Group receives the treatment or intervention being tested.</a:t>
            </a:r>
            <a:endParaRPr sz="2400">
              <a:solidFill>
                <a:schemeClr val="dk1"/>
              </a:solidFill>
              <a:latin typeface="Times New Roman"/>
              <a:ea typeface="Times New Roman"/>
              <a:cs typeface="Times New Roman"/>
              <a:sym typeface="Times New Roman"/>
            </a:endParaRPr>
          </a:p>
          <a:p>
            <a:pPr indent="-381000" lvl="0" marL="457200" rtl="0" algn="l">
              <a:lnSpc>
                <a:spcPct val="150000"/>
              </a:lnSpc>
              <a:spcBef>
                <a:spcPts val="0"/>
              </a:spcBef>
              <a:spcAft>
                <a:spcPts val="0"/>
              </a:spcAft>
              <a:buSzPts val="2400"/>
              <a:buFont typeface="Times New Roman"/>
              <a:buChar char="●"/>
            </a:pPr>
            <a:r>
              <a:rPr lang="en" sz="2400">
                <a:solidFill>
                  <a:schemeClr val="dk1"/>
                </a:solidFill>
                <a:latin typeface="Times New Roman"/>
                <a:ea typeface="Times New Roman"/>
                <a:cs typeface="Times New Roman"/>
                <a:sym typeface="Times New Roman"/>
              </a:rPr>
              <a:t>Control Group does not</a:t>
            </a:r>
            <a:r>
              <a:rPr lang="en" sz="2400">
                <a:solidFill>
                  <a:srgbClr val="001D35"/>
                </a:solidFill>
                <a:highlight>
                  <a:srgbClr val="FFFFFF"/>
                </a:highlight>
                <a:latin typeface="Times New Roman"/>
                <a:ea typeface="Times New Roman"/>
                <a:cs typeface="Times New Roman"/>
                <a:sym typeface="Times New Roman"/>
              </a:rPr>
              <a:t>, serving as a baseline for comparison.</a:t>
            </a:r>
            <a:endParaRPr sz="2400">
              <a:latin typeface="Times New Roman"/>
              <a:ea typeface="Times New Roman"/>
              <a:cs typeface="Times New Roman"/>
              <a:sym typeface="Times New Roman"/>
            </a:endParaRPr>
          </a:p>
        </p:txBody>
      </p:sp>
      <p:pic>
        <p:nvPicPr>
          <p:cNvPr id="151" name="Google Shape;151;p27"/>
          <p:cNvPicPr preferRelativeResize="0"/>
          <p:nvPr/>
        </p:nvPicPr>
        <p:blipFill>
          <a:blip r:embed="rId3">
            <a:alphaModFix/>
          </a:blip>
          <a:stretch>
            <a:fillRect/>
          </a:stretch>
        </p:blipFill>
        <p:spPr>
          <a:xfrm>
            <a:off x="4614814" y="1187900"/>
            <a:ext cx="4419750" cy="248609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8"/>
          <p:cNvSpPr txBox="1"/>
          <p:nvPr>
            <p:ph type="title"/>
          </p:nvPr>
        </p:nvSpPr>
        <p:spPr>
          <a:xfrm>
            <a:off x="628650" y="273844"/>
            <a:ext cx="7886700" cy="4367100"/>
          </a:xfrm>
          <a:prstGeom prst="rect">
            <a:avLst/>
          </a:prstGeom>
          <a:noFill/>
          <a:ln>
            <a:noFill/>
          </a:ln>
        </p:spPr>
        <p:txBody>
          <a:bodyPr anchorCtr="0" anchor="t" bIns="91425" lIns="91425" spcFirstLastPara="1" rIns="91425" wrap="square" tIns="91425">
            <a:noAutofit/>
          </a:bodyPr>
          <a:lstStyle/>
          <a:p>
            <a:pPr indent="-254000" lvl="0" marL="342900" rtl="0" algn="l">
              <a:lnSpc>
                <a:spcPct val="200000"/>
              </a:lnSpc>
              <a:spcBef>
                <a:spcPts val="0"/>
              </a:spcBef>
              <a:spcAft>
                <a:spcPts val="0"/>
              </a:spcAft>
              <a:buClr>
                <a:srgbClr val="231F20"/>
              </a:buClr>
              <a:buSzPts val="1400"/>
              <a:buFont typeface="Arial"/>
              <a:buChar char="●"/>
            </a:pPr>
            <a:r>
              <a:rPr lang="en" sz="1400">
                <a:solidFill>
                  <a:srgbClr val="231F20"/>
                </a:solidFill>
                <a:latin typeface="Constantia"/>
                <a:ea typeface="Constantia"/>
                <a:cs typeface="Constantia"/>
                <a:sym typeface="Constantia"/>
              </a:rPr>
              <a:t>Non-experimental research</a:t>
            </a:r>
            <a:r>
              <a:rPr b="1" lang="en" sz="1400">
                <a:solidFill>
                  <a:srgbClr val="231F20"/>
                </a:solidFill>
                <a:latin typeface="Constantia"/>
                <a:ea typeface="Constantia"/>
                <a:cs typeface="Constantia"/>
                <a:sym typeface="Constantia"/>
              </a:rPr>
              <a:t> does not involve the manipulation of variables</a:t>
            </a:r>
            <a:r>
              <a:rPr lang="en" sz="1400">
                <a:solidFill>
                  <a:srgbClr val="231F20"/>
                </a:solidFill>
                <a:latin typeface="Constantia"/>
                <a:ea typeface="Constantia"/>
                <a:cs typeface="Constantia"/>
                <a:sym typeface="Constantia"/>
              </a:rPr>
              <a:t>.</a:t>
            </a:r>
            <a:endParaRPr sz="1400">
              <a:solidFill>
                <a:srgbClr val="231F20"/>
              </a:solidFill>
              <a:latin typeface="Constantia"/>
              <a:ea typeface="Constantia"/>
              <a:cs typeface="Constantia"/>
              <a:sym typeface="Constantia"/>
            </a:endParaRPr>
          </a:p>
          <a:p>
            <a:pPr indent="-254000" lvl="0" marL="342900" rtl="0" algn="l">
              <a:lnSpc>
                <a:spcPct val="200000"/>
              </a:lnSpc>
              <a:spcBef>
                <a:spcPts val="0"/>
              </a:spcBef>
              <a:spcAft>
                <a:spcPts val="0"/>
              </a:spcAft>
              <a:buClr>
                <a:srgbClr val="231F20"/>
              </a:buClr>
              <a:buSzPts val="1400"/>
              <a:buFont typeface="Arial"/>
              <a:buChar char="●"/>
            </a:pPr>
            <a:r>
              <a:rPr lang="en" sz="1400">
                <a:solidFill>
                  <a:srgbClr val="231F20"/>
                </a:solidFill>
                <a:latin typeface="Constantia"/>
                <a:ea typeface="Constantia"/>
                <a:cs typeface="Constantia"/>
                <a:sym typeface="Constantia"/>
              </a:rPr>
              <a:t>The aim of this research type is to explore the factors </a:t>
            </a:r>
            <a:r>
              <a:rPr b="1" lang="en" sz="1400">
                <a:solidFill>
                  <a:srgbClr val="231F20"/>
                </a:solidFill>
                <a:latin typeface="Constantia"/>
                <a:ea typeface="Constantia"/>
                <a:cs typeface="Constantia"/>
                <a:sym typeface="Constantia"/>
              </a:rPr>
              <a:t>as they naturally occur</a:t>
            </a:r>
            <a:r>
              <a:rPr lang="en" sz="1400">
                <a:solidFill>
                  <a:srgbClr val="231F20"/>
                </a:solidFill>
                <a:latin typeface="Constantia"/>
                <a:ea typeface="Constantia"/>
                <a:cs typeface="Constantia"/>
                <a:sym typeface="Constantia"/>
              </a:rPr>
              <a:t>.</a:t>
            </a:r>
            <a:endParaRPr sz="1400">
              <a:solidFill>
                <a:srgbClr val="231F20"/>
              </a:solidFill>
              <a:latin typeface="Constantia"/>
              <a:ea typeface="Constantia"/>
              <a:cs typeface="Constantia"/>
              <a:sym typeface="Constantia"/>
            </a:endParaRPr>
          </a:p>
          <a:p>
            <a:pPr indent="-254000" lvl="0" marL="342900" rtl="0" algn="l">
              <a:lnSpc>
                <a:spcPct val="200000"/>
              </a:lnSpc>
              <a:spcBef>
                <a:spcPts val="0"/>
              </a:spcBef>
              <a:spcAft>
                <a:spcPts val="0"/>
              </a:spcAft>
              <a:buClr>
                <a:srgbClr val="231F20"/>
              </a:buClr>
              <a:buSzPts val="1400"/>
              <a:buFont typeface="Arial"/>
              <a:buChar char="●"/>
            </a:pPr>
            <a:r>
              <a:rPr lang="en" sz="1400">
                <a:solidFill>
                  <a:srgbClr val="231F20"/>
                </a:solidFill>
                <a:latin typeface="Constantia"/>
                <a:ea typeface="Constantia"/>
                <a:cs typeface="Constantia"/>
                <a:sym typeface="Constantia"/>
              </a:rPr>
              <a:t>This method is used when experimentation is not possible because of </a:t>
            </a:r>
            <a:r>
              <a:rPr b="1" lang="en" sz="1400">
                <a:solidFill>
                  <a:srgbClr val="231F20"/>
                </a:solidFill>
                <a:latin typeface="Constantia"/>
                <a:ea typeface="Constantia"/>
                <a:cs typeface="Constantia"/>
                <a:sym typeface="Constantia"/>
              </a:rPr>
              <a:t>ethical or practical reasons</a:t>
            </a:r>
            <a:r>
              <a:rPr lang="en" sz="1400">
                <a:solidFill>
                  <a:srgbClr val="231F20"/>
                </a:solidFill>
                <a:latin typeface="Constantia"/>
                <a:ea typeface="Constantia"/>
                <a:cs typeface="Constantia"/>
                <a:sym typeface="Constantia"/>
              </a:rPr>
              <a:t>.</a:t>
            </a:r>
            <a:endParaRPr sz="1400">
              <a:solidFill>
                <a:srgbClr val="231F20"/>
              </a:solidFill>
              <a:latin typeface="Constantia"/>
              <a:ea typeface="Constantia"/>
              <a:cs typeface="Constantia"/>
              <a:sym typeface="Constantia"/>
            </a:endParaRPr>
          </a:p>
          <a:p>
            <a:pPr indent="-254000" lvl="0" marL="342900" rtl="0" algn="l">
              <a:lnSpc>
                <a:spcPct val="200000"/>
              </a:lnSpc>
              <a:spcBef>
                <a:spcPts val="0"/>
              </a:spcBef>
              <a:spcAft>
                <a:spcPts val="0"/>
              </a:spcAft>
              <a:buClr>
                <a:srgbClr val="231F20"/>
              </a:buClr>
              <a:buSzPts val="1400"/>
              <a:buFont typeface="Arial"/>
              <a:buChar char="●"/>
            </a:pPr>
            <a:r>
              <a:rPr lang="en" sz="1400">
                <a:solidFill>
                  <a:srgbClr val="231F20"/>
                </a:solidFill>
                <a:latin typeface="Constantia"/>
                <a:ea typeface="Constantia"/>
                <a:cs typeface="Constantia"/>
                <a:sym typeface="Constantia"/>
              </a:rPr>
              <a:t>Instead of creating a sample or participant group, </a:t>
            </a:r>
            <a:r>
              <a:rPr b="1" lang="en" sz="1400">
                <a:solidFill>
                  <a:srgbClr val="231F20"/>
                </a:solidFill>
                <a:latin typeface="Constantia"/>
                <a:ea typeface="Constantia"/>
                <a:cs typeface="Constantia"/>
                <a:sym typeface="Constantia"/>
              </a:rPr>
              <a:t>the existing groups or natural thresholds are used</a:t>
            </a:r>
            <a:r>
              <a:rPr lang="en" sz="1400">
                <a:solidFill>
                  <a:srgbClr val="231F20"/>
                </a:solidFill>
                <a:latin typeface="Constantia"/>
                <a:ea typeface="Constantia"/>
                <a:cs typeface="Constantia"/>
                <a:sym typeface="Constantia"/>
              </a:rPr>
              <a:t> during the research.</a:t>
            </a:r>
            <a:endParaRPr sz="1400">
              <a:solidFill>
                <a:srgbClr val="231F20"/>
              </a:solidFill>
              <a:latin typeface="Constantia"/>
              <a:ea typeface="Constantia"/>
              <a:cs typeface="Constantia"/>
              <a:sym typeface="Constantia"/>
            </a:endParaRPr>
          </a:p>
          <a:p>
            <a:pPr indent="-254000" lvl="0" marL="342900" rtl="0" algn="l">
              <a:lnSpc>
                <a:spcPct val="200000"/>
              </a:lnSpc>
              <a:spcBef>
                <a:spcPts val="0"/>
              </a:spcBef>
              <a:spcAft>
                <a:spcPts val="0"/>
              </a:spcAft>
              <a:buClr>
                <a:srgbClr val="231F20"/>
              </a:buClr>
              <a:buSzPts val="1400"/>
              <a:buFont typeface="Arial"/>
              <a:buChar char="●"/>
            </a:pPr>
            <a:r>
              <a:rPr lang="en" sz="1400">
                <a:solidFill>
                  <a:srgbClr val="231F20"/>
                </a:solidFill>
                <a:latin typeface="Constantia"/>
                <a:ea typeface="Constantia"/>
                <a:cs typeface="Constantia"/>
                <a:sym typeface="Constantia"/>
              </a:rPr>
              <a:t>This research method is</a:t>
            </a:r>
            <a:r>
              <a:rPr b="1" lang="en" sz="1400">
                <a:solidFill>
                  <a:srgbClr val="231F20"/>
                </a:solidFill>
                <a:latin typeface="Constantia"/>
                <a:ea typeface="Constantia"/>
                <a:cs typeface="Constantia"/>
                <a:sym typeface="Constantia"/>
              </a:rPr>
              <a:t> not about finding causality</a:t>
            </a:r>
            <a:r>
              <a:rPr lang="en" sz="1400">
                <a:solidFill>
                  <a:srgbClr val="231F20"/>
                </a:solidFill>
                <a:latin typeface="Constantia"/>
                <a:ea typeface="Constantia"/>
                <a:cs typeface="Constantia"/>
                <a:sym typeface="Constantia"/>
              </a:rPr>
              <a:t> between two variables.</a:t>
            </a:r>
            <a:endParaRPr sz="1400">
              <a:solidFill>
                <a:srgbClr val="231F20"/>
              </a:solidFill>
              <a:latin typeface="Constantia"/>
              <a:ea typeface="Constantia"/>
              <a:cs typeface="Constantia"/>
              <a:sym typeface="Constantia"/>
            </a:endParaRPr>
          </a:p>
          <a:p>
            <a:pPr indent="-254000" lvl="0" marL="342900" rtl="0" algn="l">
              <a:lnSpc>
                <a:spcPct val="200000"/>
              </a:lnSpc>
              <a:spcBef>
                <a:spcPts val="0"/>
              </a:spcBef>
              <a:spcAft>
                <a:spcPts val="0"/>
              </a:spcAft>
              <a:buClr>
                <a:srgbClr val="231F20"/>
              </a:buClr>
              <a:buSzPts val="1400"/>
              <a:buFont typeface="Arial"/>
              <a:buChar char="●"/>
            </a:pPr>
            <a:r>
              <a:rPr lang="en" sz="1400">
                <a:solidFill>
                  <a:srgbClr val="231F20"/>
                </a:solidFill>
                <a:latin typeface="Constantia"/>
                <a:ea typeface="Constantia"/>
                <a:cs typeface="Constantia"/>
                <a:sym typeface="Constantia"/>
              </a:rPr>
              <a:t>Most studies are done </a:t>
            </a:r>
            <a:r>
              <a:rPr b="1" lang="en" sz="1400">
                <a:solidFill>
                  <a:srgbClr val="231F20"/>
                </a:solidFill>
                <a:latin typeface="Constantia"/>
                <a:ea typeface="Constantia"/>
                <a:cs typeface="Constantia"/>
                <a:sym typeface="Constantia"/>
              </a:rPr>
              <a:t>on past events or historical occurrences</a:t>
            </a:r>
            <a:r>
              <a:rPr lang="en" sz="1400">
                <a:solidFill>
                  <a:srgbClr val="231F20"/>
                </a:solidFill>
                <a:latin typeface="Constantia"/>
                <a:ea typeface="Constantia"/>
                <a:cs typeface="Constantia"/>
                <a:sym typeface="Constantia"/>
              </a:rPr>
              <a:t> to make sense of specific research questions.</a:t>
            </a:r>
            <a:endParaRPr sz="1400">
              <a:solidFill>
                <a:srgbClr val="231F20"/>
              </a:solidFill>
              <a:latin typeface="Constantia"/>
              <a:ea typeface="Constantia"/>
              <a:cs typeface="Constantia"/>
              <a:sym typeface="Constantia"/>
            </a:endParaRPr>
          </a:p>
          <a:p>
            <a:pPr indent="0" lvl="0" marL="0" rtl="0" algn="l">
              <a:lnSpc>
                <a:spcPct val="100000"/>
              </a:lnSpc>
              <a:spcBef>
                <a:spcPts val="300"/>
              </a:spcBef>
              <a:spcAft>
                <a:spcPts val="0"/>
              </a:spcAft>
              <a:buSzPts val="2800"/>
              <a:buNone/>
            </a:pPr>
            <a:r>
              <a:t/>
            </a:r>
            <a:endParaRPr sz="3700">
              <a:latin typeface="Constantia"/>
              <a:ea typeface="Constantia"/>
              <a:cs typeface="Constantia"/>
              <a:sym typeface="Constantia"/>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pic>
        <p:nvPicPr>
          <p:cNvPr id="163" name="Google Shape;163;p29"/>
          <p:cNvPicPr preferRelativeResize="0"/>
          <p:nvPr/>
        </p:nvPicPr>
        <p:blipFill rotWithShape="1">
          <a:blip r:embed="rId3">
            <a:alphaModFix/>
          </a:blip>
          <a:srcRect b="0" l="0" r="0" t="0"/>
          <a:stretch/>
        </p:blipFill>
        <p:spPr>
          <a:xfrm>
            <a:off x="114300" y="114300"/>
            <a:ext cx="8956969" cy="491229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pic>
        <p:nvPicPr>
          <p:cNvPr id="169" name="Google Shape;169;p30"/>
          <p:cNvPicPr preferRelativeResize="0"/>
          <p:nvPr/>
        </p:nvPicPr>
        <p:blipFill rotWithShape="1">
          <a:blip r:embed="rId3">
            <a:alphaModFix/>
          </a:blip>
          <a:srcRect b="0" l="0" r="0" t="0"/>
          <a:stretch/>
        </p:blipFill>
        <p:spPr>
          <a:xfrm>
            <a:off x="114300" y="114300"/>
            <a:ext cx="8933587" cy="4970757"/>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31"/>
          <p:cNvSpPr txBox="1"/>
          <p:nvPr>
            <p:ph type="title"/>
          </p:nvPr>
        </p:nvSpPr>
        <p:spPr>
          <a:xfrm>
            <a:off x="478775" y="424200"/>
            <a:ext cx="8604300" cy="834300"/>
          </a:xfrm>
          <a:prstGeom prst="rect">
            <a:avLst/>
          </a:prstGeom>
        </p:spPr>
        <p:txBody>
          <a:bodyPr anchorCtr="0" anchor="ctr" bIns="34275" lIns="68575" spcFirstLastPara="1" rIns="68575" wrap="square" tIns="34275">
            <a:normAutofit fontScale="90000"/>
          </a:bodyPr>
          <a:lstStyle/>
          <a:p>
            <a:pPr indent="0" lvl="0" marL="0" rtl="0" algn="ctr">
              <a:lnSpc>
                <a:spcPct val="115000"/>
              </a:lnSpc>
              <a:spcBef>
                <a:spcPts val="1400"/>
              </a:spcBef>
              <a:spcAft>
                <a:spcPts val="0"/>
              </a:spcAft>
              <a:buClr>
                <a:schemeClr val="dk1"/>
              </a:buClr>
              <a:buSzPct val="41509"/>
              <a:buFont typeface="Arial"/>
              <a:buNone/>
            </a:pPr>
            <a:r>
              <a:rPr b="1" lang="en" sz="2650">
                <a:solidFill>
                  <a:schemeClr val="accent2"/>
                </a:solidFill>
                <a:highlight>
                  <a:srgbClr val="FFFFFF"/>
                </a:highlight>
                <a:latin typeface="Times New Roman"/>
                <a:ea typeface="Times New Roman"/>
                <a:cs typeface="Times New Roman"/>
                <a:sym typeface="Times New Roman"/>
              </a:rPr>
              <a:t>Descriptive Research and Correlational Research</a:t>
            </a:r>
            <a:endParaRPr b="1" sz="2650">
              <a:solidFill>
                <a:schemeClr val="accent2"/>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None/>
            </a:pPr>
            <a:r>
              <a:t/>
            </a:r>
            <a:endParaRPr/>
          </a:p>
        </p:txBody>
      </p:sp>
      <p:sp>
        <p:nvSpPr>
          <p:cNvPr id="175" name="Google Shape;175;p31"/>
          <p:cNvSpPr txBox="1"/>
          <p:nvPr>
            <p:ph idx="1" type="body"/>
          </p:nvPr>
        </p:nvSpPr>
        <p:spPr>
          <a:xfrm>
            <a:off x="628650" y="1258500"/>
            <a:ext cx="7886700" cy="3645600"/>
          </a:xfrm>
          <a:prstGeom prst="rect">
            <a:avLst/>
          </a:prstGeom>
        </p:spPr>
        <p:txBody>
          <a:bodyPr anchorCtr="0" anchor="t" bIns="34275" lIns="68575" spcFirstLastPara="1" rIns="68575" wrap="square" tIns="34275">
            <a:normAutofit lnSpcReduction="10000"/>
          </a:bodyPr>
          <a:lstStyle/>
          <a:p>
            <a:pPr indent="-381000" lvl="0" marL="457200" rtl="0" algn="l">
              <a:lnSpc>
                <a:spcPct val="115000"/>
              </a:lnSpc>
              <a:spcBef>
                <a:spcPts val="0"/>
              </a:spcBef>
              <a:spcAft>
                <a:spcPts val="0"/>
              </a:spcAft>
              <a:buSzPts val="2400"/>
              <a:buFont typeface="Times New Roman"/>
              <a:buChar char="●"/>
            </a:pPr>
            <a:r>
              <a:rPr lang="en" sz="2400">
                <a:solidFill>
                  <a:schemeClr val="dk1"/>
                </a:solidFill>
                <a:highlight>
                  <a:srgbClr val="FFFFFF"/>
                </a:highlight>
                <a:latin typeface="Times New Roman"/>
                <a:ea typeface="Times New Roman"/>
                <a:cs typeface="Times New Roman"/>
                <a:sym typeface="Times New Roman"/>
              </a:rPr>
              <a:t>Case studies</a:t>
            </a:r>
            <a:endParaRPr sz="2400">
              <a:solidFill>
                <a:schemeClr val="dk1"/>
              </a:solidFill>
              <a:highlight>
                <a:srgbClr val="FFFFFF"/>
              </a:highlight>
              <a:latin typeface="Times New Roman"/>
              <a:ea typeface="Times New Roman"/>
              <a:cs typeface="Times New Roman"/>
              <a:sym typeface="Times New Roman"/>
            </a:endParaRPr>
          </a:p>
          <a:p>
            <a:pPr indent="-381000" lvl="0" marL="457200" rtl="0" algn="l">
              <a:lnSpc>
                <a:spcPct val="115000"/>
              </a:lnSpc>
              <a:spcBef>
                <a:spcPts val="0"/>
              </a:spcBef>
              <a:spcAft>
                <a:spcPts val="0"/>
              </a:spcAft>
              <a:buSzPts val="2400"/>
              <a:buFont typeface="Times New Roman"/>
              <a:buChar char="●"/>
            </a:pPr>
            <a:r>
              <a:rPr lang="en" sz="2400">
                <a:solidFill>
                  <a:schemeClr val="dk1"/>
                </a:solidFill>
                <a:highlight>
                  <a:srgbClr val="FFFFFF"/>
                </a:highlight>
                <a:latin typeface="Times New Roman"/>
                <a:ea typeface="Times New Roman"/>
                <a:cs typeface="Times New Roman"/>
                <a:sym typeface="Times New Roman"/>
              </a:rPr>
              <a:t>Observational studies</a:t>
            </a:r>
            <a:endParaRPr sz="2400">
              <a:solidFill>
                <a:schemeClr val="dk1"/>
              </a:solidFill>
              <a:highlight>
                <a:srgbClr val="FFFFFF"/>
              </a:highlight>
              <a:latin typeface="Times New Roman"/>
              <a:ea typeface="Times New Roman"/>
              <a:cs typeface="Times New Roman"/>
              <a:sym typeface="Times New Roman"/>
            </a:endParaRPr>
          </a:p>
          <a:p>
            <a:pPr indent="-381000" lvl="0" marL="457200" rtl="0" algn="l">
              <a:spcBef>
                <a:spcPts val="800"/>
              </a:spcBef>
              <a:spcAft>
                <a:spcPts val="0"/>
              </a:spcAft>
              <a:buSzPts val="2400"/>
              <a:buFont typeface="Times New Roman"/>
              <a:buChar char="●"/>
            </a:pPr>
            <a:r>
              <a:rPr lang="en" sz="2400">
                <a:solidFill>
                  <a:schemeClr val="dk1"/>
                </a:solidFill>
                <a:latin typeface="Times New Roman"/>
                <a:ea typeface="Times New Roman"/>
                <a:cs typeface="Times New Roman"/>
                <a:sym typeface="Times New Roman"/>
              </a:rPr>
              <a:t>Correlational</a:t>
            </a:r>
            <a:endParaRPr sz="2400">
              <a:solidFill>
                <a:schemeClr val="dk1"/>
              </a:solidFill>
              <a:latin typeface="Times New Roman"/>
              <a:ea typeface="Times New Roman"/>
              <a:cs typeface="Times New Roman"/>
              <a:sym typeface="Times New Roman"/>
            </a:endParaRPr>
          </a:p>
          <a:p>
            <a:pPr indent="-381000" lvl="0" marL="457200" rtl="0" algn="l">
              <a:spcBef>
                <a:spcPts val="1200"/>
              </a:spcBef>
              <a:spcAft>
                <a:spcPts val="0"/>
              </a:spcAft>
              <a:buSzPts val="2400"/>
              <a:buFont typeface="Times New Roman"/>
              <a:buChar char="●"/>
            </a:pPr>
            <a:r>
              <a:rPr lang="en" sz="2400">
                <a:solidFill>
                  <a:schemeClr val="dk1"/>
                </a:solidFill>
                <a:latin typeface="Times New Roman"/>
                <a:ea typeface="Times New Roman"/>
                <a:cs typeface="Times New Roman"/>
                <a:sym typeface="Times New Roman"/>
              </a:rPr>
              <a:t>Longitudinal</a:t>
            </a:r>
            <a:endParaRPr sz="2400">
              <a:solidFill>
                <a:schemeClr val="dk1"/>
              </a:solidFill>
              <a:latin typeface="Times New Roman"/>
              <a:ea typeface="Times New Roman"/>
              <a:cs typeface="Times New Roman"/>
              <a:sym typeface="Times New Roman"/>
            </a:endParaRPr>
          </a:p>
          <a:p>
            <a:pPr indent="-381000" lvl="0" marL="457200" rtl="0" algn="l">
              <a:spcBef>
                <a:spcPts val="1200"/>
              </a:spcBef>
              <a:spcAft>
                <a:spcPts val="0"/>
              </a:spcAft>
              <a:buSzPts val="2400"/>
              <a:buFont typeface="Times New Roman"/>
              <a:buChar char="●"/>
            </a:pPr>
            <a:r>
              <a:rPr lang="en" sz="2400">
                <a:solidFill>
                  <a:schemeClr val="dk1"/>
                </a:solidFill>
                <a:latin typeface="Times New Roman"/>
                <a:ea typeface="Times New Roman"/>
                <a:cs typeface="Times New Roman"/>
                <a:sym typeface="Times New Roman"/>
              </a:rPr>
              <a:t>Quasi experimental </a:t>
            </a:r>
            <a:endParaRPr sz="2400">
              <a:solidFill>
                <a:schemeClr val="dk1"/>
              </a:solidFill>
              <a:latin typeface="Times New Roman"/>
              <a:ea typeface="Times New Roman"/>
              <a:cs typeface="Times New Roman"/>
              <a:sym typeface="Times New Roman"/>
            </a:endParaRPr>
          </a:p>
          <a:p>
            <a:pPr indent="-381000" lvl="0" marL="457200" rtl="0" algn="l">
              <a:spcBef>
                <a:spcPts val="1200"/>
              </a:spcBef>
              <a:spcAft>
                <a:spcPts val="0"/>
              </a:spcAft>
              <a:buSzPts val="2400"/>
              <a:buFont typeface="Times New Roman"/>
              <a:buChar char="●"/>
            </a:pPr>
            <a:r>
              <a:rPr lang="en" sz="2400">
                <a:solidFill>
                  <a:schemeClr val="dk1"/>
                </a:solidFill>
                <a:latin typeface="Times New Roman"/>
                <a:ea typeface="Times New Roman"/>
                <a:cs typeface="Times New Roman"/>
                <a:sym typeface="Times New Roman"/>
              </a:rPr>
              <a:t>Cross sectional Observational</a:t>
            </a:r>
            <a:endParaRPr sz="2400">
              <a:solidFill>
                <a:schemeClr val="dk1"/>
              </a:solidFill>
              <a:latin typeface="Times New Roman"/>
              <a:ea typeface="Times New Roman"/>
              <a:cs typeface="Times New Roman"/>
              <a:sym typeface="Times New Roman"/>
            </a:endParaRPr>
          </a:p>
          <a:p>
            <a:pPr indent="0" lvl="0" marL="457200" rtl="0" algn="l">
              <a:spcBef>
                <a:spcPts val="1200"/>
              </a:spcBef>
              <a:spcAft>
                <a:spcPts val="0"/>
              </a:spcAft>
              <a:buNone/>
            </a:pPr>
            <a:r>
              <a:rPr lang="en" sz="2400">
                <a:solidFill>
                  <a:schemeClr val="dk1"/>
                </a:solidFill>
                <a:highlight>
                  <a:srgbClr val="FF9900"/>
                </a:highlight>
                <a:latin typeface="Times New Roman"/>
                <a:ea typeface="Times New Roman"/>
                <a:cs typeface="Times New Roman"/>
                <a:sym typeface="Times New Roman"/>
              </a:rPr>
              <a:t>(Group activity) </a:t>
            </a:r>
            <a:endParaRPr sz="2400">
              <a:solidFill>
                <a:schemeClr val="dk1"/>
              </a:solidFill>
              <a:highlight>
                <a:srgbClr val="FF9900"/>
              </a:highlight>
              <a:latin typeface="Times New Roman"/>
              <a:ea typeface="Times New Roman"/>
              <a:cs typeface="Times New Roman"/>
              <a:sym typeface="Times New Roman"/>
            </a:endParaRPr>
          </a:p>
          <a:p>
            <a:pPr indent="0" lvl="0" marL="0" rtl="0" algn="l">
              <a:spcBef>
                <a:spcPts val="1200"/>
              </a:spcBef>
              <a:spcAft>
                <a:spcPts val="120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32"/>
          <p:cNvSpPr txBox="1"/>
          <p:nvPr/>
        </p:nvSpPr>
        <p:spPr>
          <a:xfrm>
            <a:off x="2436779" y="1721796"/>
            <a:ext cx="6216000" cy="992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3000"/>
              <a:buFont typeface="Arial"/>
              <a:buNone/>
            </a:pPr>
            <a:r>
              <a:rPr b="0" i="0" lang="en" sz="3000" u="none" cap="none" strike="noStrike">
                <a:solidFill>
                  <a:schemeClr val="dk1"/>
                </a:solidFill>
                <a:latin typeface="Constantia"/>
                <a:ea typeface="Constantia"/>
                <a:cs typeface="Constantia"/>
                <a:sym typeface="Constantia"/>
              </a:rPr>
              <a:t>What are some issues with psychological experiments?</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33"/>
          <p:cNvSpPr txBox="1"/>
          <p:nvPr/>
        </p:nvSpPr>
        <p:spPr>
          <a:xfrm>
            <a:off x="580050" y="431050"/>
            <a:ext cx="7631400" cy="45483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3000"/>
              <a:buFont typeface="Arial"/>
              <a:buNone/>
            </a:pPr>
            <a:r>
              <a:rPr b="1" i="0" lang="en" sz="2400" u="none" cap="none" strike="noStrike">
                <a:solidFill>
                  <a:schemeClr val="dk1"/>
                </a:solidFill>
                <a:latin typeface="Times New Roman"/>
                <a:ea typeface="Times New Roman"/>
                <a:cs typeface="Times New Roman"/>
                <a:sym typeface="Times New Roman"/>
              </a:rPr>
              <a:t>What are some issues with psychological experiments?</a:t>
            </a:r>
            <a:endParaRPr b="1" i="0" sz="2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000"/>
              <a:buFont typeface="Arial"/>
              <a:buNone/>
            </a:pPr>
            <a:r>
              <a:t/>
            </a:r>
            <a:endParaRPr b="0" i="0" sz="3000" u="none" cap="none" strike="noStrike">
              <a:solidFill>
                <a:schemeClr val="dk1"/>
              </a:solidFill>
              <a:latin typeface="Constantia"/>
              <a:ea typeface="Constantia"/>
              <a:cs typeface="Constantia"/>
              <a:sym typeface="Constantia"/>
            </a:endParaRPr>
          </a:p>
          <a:p>
            <a:pPr indent="-425450" lvl="0" marL="431800" marR="0" rtl="0" algn="l">
              <a:lnSpc>
                <a:spcPct val="150000"/>
              </a:lnSpc>
              <a:spcBef>
                <a:spcPts val="0"/>
              </a:spcBef>
              <a:spcAft>
                <a:spcPts val="0"/>
              </a:spcAft>
              <a:buClr>
                <a:schemeClr val="dk1"/>
              </a:buClr>
              <a:buSzPts val="2300"/>
              <a:buFont typeface="Times New Roman"/>
              <a:buChar char="•"/>
            </a:pPr>
            <a:r>
              <a:rPr i="0" lang="en" sz="2300" u="none" cap="none" strike="noStrike">
                <a:solidFill>
                  <a:schemeClr val="dk1"/>
                </a:solidFill>
                <a:latin typeface="Times New Roman"/>
                <a:ea typeface="Times New Roman"/>
                <a:cs typeface="Times New Roman"/>
                <a:sym typeface="Times New Roman"/>
              </a:rPr>
              <a:t>Experimental population (who is in your experiment)</a:t>
            </a:r>
            <a:endParaRPr i="0" sz="2300" u="none" cap="none" strike="noStrike">
              <a:solidFill>
                <a:srgbClr val="000000"/>
              </a:solidFill>
              <a:latin typeface="Times New Roman"/>
              <a:ea typeface="Times New Roman"/>
              <a:cs typeface="Times New Roman"/>
              <a:sym typeface="Times New Roman"/>
            </a:endParaRPr>
          </a:p>
          <a:p>
            <a:pPr indent="-425450" lvl="0" marL="431800" marR="0" rtl="0" algn="l">
              <a:lnSpc>
                <a:spcPct val="150000"/>
              </a:lnSpc>
              <a:spcBef>
                <a:spcPts val="0"/>
              </a:spcBef>
              <a:spcAft>
                <a:spcPts val="0"/>
              </a:spcAft>
              <a:buClr>
                <a:schemeClr val="dk1"/>
              </a:buClr>
              <a:buSzPts val="2300"/>
              <a:buFont typeface="Times New Roman"/>
              <a:buChar char="•"/>
            </a:pPr>
            <a:r>
              <a:rPr i="0" lang="en" sz="2300" u="none" cap="none" strike="noStrike">
                <a:solidFill>
                  <a:schemeClr val="dk1"/>
                </a:solidFill>
                <a:latin typeface="Times New Roman"/>
                <a:ea typeface="Times New Roman"/>
                <a:cs typeface="Times New Roman"/>
                <a:sym typeface="Times New Roman"/>
              </a:rPr>
              <a:t>Experimenter bias/demand characteristics</a:t>
            </a:r>
            <a:endParaRPr i="0" sz="2300" u="none" cap="none" strike="noStrike">
              <a:solidFill>
                <a:srgbClr val="000000"/>
              </a:solidFill>
              <a:latin typeface="Times New Roman"/>
              <a:ea typeface="Times New Roman"/>
              <a:cs typeface="Times New Roman"/>
              <a:sym typeface="Times New Roman"/>
            </a:endParaRPr>
          </a:p>
          <a:p>
            <a:pPr indent="-425450" lvl="0" marL="431800" marR="0" rtl="0" algn="l">
              <a:lnSpc>
                <a:spcPct val="150000"/>
              </a:lnSpc>
              <a:spcBef>
                <a:spcPts val="0"/>
              </a:spcBef>
              <a:spcAft>
                <a:spcPts val="0"/>
              </a:spcAft>
              <a:buClr>
                <a:schemeClr val="dk1"/>
              </a:buClr>
              <a:buSzPts val="2300"/>
              <a:buFont typeface="Times New Roman"/>
              <a:buChar char="•"/>
            </a:pPr>
            <a:r>
              <a:rPr i="0" lang="en" sz="2300" u="none" cap="none" strike="noStrike">
                <a:solidFill>
                  <a:schemeClr val="dk1"/>
                </a:solidFill>
                <a:latin typeface="Times New Roman"/>
                <a:ea typeface="Times New Roman"/>
                <a:cs typeface="Times New Roman"/>
                <a:sym typeface="Times New Roman"/>
              </a:rPr>
              <a:t>Experimenter effects/confirmation bias</a:t>
            </a:r>
            <a:endParaRPr i="0" sz="2300" u="none" cap="none" strike="noStrike">
              <a:solidFill>
                <a:srgbClr val="000000"/>
              </a:solidFill>
              <a:latin typeface="Times New Roman"/>
              <a:ea typeface="Times New Roman"/>
              <a:cs typeface="Times New Roman"/>
              <a:sym typeface="Times New Roman"/>
            </a:endParaRPr>
          </a:p>
          <a:p>
            <a:pPr indent="-425450" lvl="0" marL="431800" marR="0" rtl="0" algn="l">
              <a:lnSpc>
                <a:spcPct val="150000"/>
              </a:lnSpc>
              <a:spcBef>
                <a:spcPts val="0"/>
              </a:spcBef>
              <a:spcAft>
                <a:spcPts val="0"/>
              </a:spcAft>
              <a:buClr>
                <a:schemeClr val="dk1"/>
              </a:buClr>
              <a:buSzPts val="2300"/>
              <a:buFont typeface="Times New Roman"/>
              <a:buChar char="•"/>
            </a:pPr>
            <a:r>
              <a:rPr i="0" lang="en" sz="2300" u="none" cap="none" strike="noStrike">
                <a:solidFill>
                  <a:schemeClr val="dk1"/>
                </a:solidFill>
                <a:latin typeface="Times New Roman"/>
                <a:ea typeface="Times New Roman"/>
                <a:cs typeface="Times New Roman"/>
                <a:sym typeface="Times New Roman"/>
              </a:rPr>
              <a:t>Little things can affect behavior! </a:t>
            </a:r>
            <a:endParaRPr i="0" sz="2300" u="none" cap="none" strike="noStrike">
              <a:solidFill>
                <a:srgbClr val="000000"/>
              </a:solidFill>
              <a:latin typeface="Times New Roman"/>
              <a:ea typeface="Times New Roman"/>
              <a:cs typeface="Times New Roman"/>
              <a:sym typeface="Times New Roman"/>
            </a:endParaRPr>
          </a:p>
          <a:p>
            <a:pPr indent="-241300" lvl="0" marL="431800" marR="0" rtl="0" algn="l">
              <a:lnSpc>
                <a:spcPct val="150000"/>
              </a:lnSpc>
              <a:spcBef>
                <a:spcPts val="0"/>
              </a:spcBef>
              <a:spcAft>
                <a:spcPts val="0"/>
              </a:spcAft>
              <a:buClr>
                <a:schemeClr val="dk1"/>
              </a:buClr>
              <a:buSzPts val="3000"/>
              <a:buFont typeface="Arial"/>
              <a:buNone/>
            </a:pPr>
            <a:r>
              <a:t/>
            </a:r>
            <a:endParaRPr i="0" sz="2300" u="none" cap="none" strike="noStrike">
              <a:solidFill>
                <a:schemeClr val="dk1"/>
              </a:solidFill>
              <a:latin typeface="Times New Roman"/>
              <a:ea typeface="Times New Roman"/>
              <a:cs typeface="Times New Roman"/>
              <a:sym typeface="Times New Roman"/>
            </a:endParaRPr>
          </a:p>
          <a:p>
            <a:pPr indent="-241300" lvl="0" marL="431800" marR="0" rtl="0" algn="l">
              <a:lnSpc>
                <a:spcPct val="150000"/>
              </a:lnSpc>
              <a:spcBef>
                <a:spcPts val="0"/>
              </a:spcBef>
              <a:spcAft>
                <a:spcPts val="0"/>
              </a:spcAft>
              <a:buClr>
                <a:schemeClr val="dk1"/>
              </a:buClr>
              <a:buSzPts val="3000"/>
              <a:buFont typeface="Arial"/>
              <a:buNone/>
            </a:pPr>
            <a:r>
              <a:t/>
            </a:r>
            <a:endParaRPr i="0" sz="2300" u="none" cap="none" strike="noStrike">
              <a:solidFill>
                <a:schemeClr val="dk1"/>
              </a:solidFill>
              <a:latin typeface="Times New Roman"/>
              <a:ea typeface="Times New Roman"/>
              <a:cs typeface="Times New Roman"/>
              <a:sym typeface="Times New Roman"/>
            </a:endParaRPr>
          </a:p>
          <a:p>
            <a:pPr indent="-241300" lvl="0" marL="431800" marR="0" rtl="0" algn="l">
              <a:lnSpc>
                <a:spcPct val="100000"/>
              </a:lnSpc>
              <a:spcBef>
                <a:spcPts val="0"/>
              </a:spcBef>
              <a:spcAft>
                <a:spcPts val="0"/>
              </a:spcAft>
              <a:buClr>
                <a:schemeClr val="dk1"/>
              </a:buClr>
              <a:buSzPts val="3000"/>
              <a:buFont typeface="Arial"/>
              <a:buNone/>
            </a:pPr>
            <a:r>
              <a:t/>
            </a:r>
            <a:endParaRPr b="0" i="0" sz="3000" u="none" cap="none" strike="noStrike">
              <a:solidFill>
                <a:schemeClr val="dk1"/>
              </a:solidFill>
              <a:latin typeface="Constantia"/>
              <a:ea typeface="Constantia"/>
              <a:cs typeface="Constantia"/>
              <a:sym typeface="Constantia"/>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34"/>
          <p:cNvSpPr txBox="1"/>
          <p:nvPr>
            <p:ph type="title"/>
          </p:nvPr>
        </p:nvSpPr>
        <p:spPr>
          <a:xfrm>
            <a:off x="628650" y="1957163"/>
            <a:ext cx="7886700" cy="9942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800"/>
              <a:buNone/>
            </a:pPr>
            <a:r>
              <a:rPr lang="en">
                <a:latin typeface="Constantia"/>
                <a:ea typeface="Constantia"/>
                <a:cs typeface="Constantia"/>
                <a:sym typeface="Constantia"/>
              </a:rPr>
              <a:t>Quantitative and Qualitative Research</a:t>
            </a:r>
            <a:endParaRPr>
              <a:latin typeface="Constantia"/>
              <a:ea typeface="Constantia"/>
              <a:cs typeface="Constantia"/>
              <a:sym typeface="Constantia"/>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pic>
        <p:nvPicPr>
          <p:cNvPr id="197" name="Google Shape;197;p35"/>
          <p:cNvPicPr preferRelativeResize="0"/>
          <p:nvPr/>
        </p:nvPicPr>
        <p:blipFill rotWithShape="1">
          <a:blip r:embed="rId3">
            <a:alphaModFix/>
          </a:blip>
          <a:srcRect b="0" l="0" r="0" t="0"/>
          <a:stretch/>
        </p:blipFill>
        <p:spPr>
          <a:xfrm>
            <a:off x="114300" y="114300"/>
            <a:ext cx="8921887" cy="4914899"/>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6"/>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SzPts val="3300"/>
              <a:buNone/>
            </a:pPr>
            <a:r>
              <a:rPr lang="en"/>
              <a:t>Quantitative Research </a:t>
            </a:r>
            <a:endParaRPr/>
          </a:p>
        </p:txBody>
      </p:sp>
      <p:sp>
        <p:nvSpPr>
          <p:cNvPr id="204" name="Google Shape;204;p36"/>
          <p:cNvSpPr txBox="1"/>
          <p:nvPr>
            <p:ph idx="1" type="body"/>
          </p:nvPr>
        </p:nvSpPr>
        <p:spPr>
          <a:xfrm>
            <a:off x="628650" y="1353206"/>
            <a:ext cx="7886700" cy="3498900"/>
          </a:xfrm>
          <a:prstGeom prst="rect">
            <a:avLst/>
          </a:prstGeom>
          <a:noFill/>
          <a:ln>
            <a:noFill/>
          </a:ln>
        </p:spPr>
        <p:txBody>
          <a:bodyPr anchorCtr="0" anchor="t" bIns="34275" lIns="68575" spcFirstLastPara="1" rIns="68575" wrap="square" tIns="34275">
            <a:normAutofit lnSpcReduction="10000"/>
          </a:bodyPr>
          <a:lstStyle/>
          <a:p>
            <a:pPr indent="-254000" lvl="0" marL="342900" rtl="0" algn="l">
              <a:lnSpc>
                <a:spcPct val="200000"/>
              </a:lnSpc>
              <a:spcBef>
                <a:spcPts val="0"/>
              </a:spcBef>
              <a:spcAft>
                <a:spcPts val="0"/>
              </a:spcAft>
              <a:buSzPts val="1400"/>
              <a:buFont typeface="Georgia"/>
              <a:buChar char="●"/>
            </a:pPr>
            <a:r>
              <a:rPr lang="en" sz="1400">
                <a:highlight>
                  <a:srgbClr val="FFFFFF"/>
                </a:highlight>
                <a:latin typeface="Georgia"/>
                <a:ea typeface="Georgia"/>
                <a:cs typeface="Georgia"/>
                <a:sym typeface="Georgia"/>
              </a:rPr>
              <a:t>Quantitative research involves the process of objectively collecting and analyzing numerical data to describe, predict, or control variables of interest.</a:t>
            </a:r>
            <a:endParaRPr sz="1400">
              <a:highlight>
                <a:srgbClr val="FFFFFF"/>
              </a:highlight>
              <a:latin typeface="Georgia"/>
              <a:ea typeface="Georgia"/>
              <a:cs typeface="Georgia"/>
              <a:sym typeface="Georgia"/>
            </a:endParaRPr>
          </a:p>
          <a:p>
            <a:pPr indent="-254000" lvl="0" marL="342900" rtl="0" algn="l">
              <a:lnSpc>
                <a:spcPct val="200000"/>
              </a:lnSpc>
              <a:spcBef>
                <a:spcPts val="0"/>
              </a:spcBef>
              <a:spcAft>
                <a:spcPts val="0"/>
              </a:spcAft>
              <a:buSzPts val="1400"/>
              <a:buFont typeface="Georgia"/>
              <a:buChar char="●"/>
            </a:pPr>
            <a:r>
              <a:rPr lang="en" sz="1400">
                <a:highlight>
                  <a:srgbClr val="FFFFFF"/>
                </a:highlight>
                <a:latin typeface="Georgia"/>
                <a:ea typeface="Georgia"/>
                <a:cs typeface="Georgia"/>
                <a:sym typeface="Georgia"/>
              </a:rPr>
              <a:t>The goals of quantitative research are to test causal relationships between variables, make predictions, and generalize results to wider populations.</a:t>
            </a:r>
            <a:endParaRPr sz="1400">
              <a:highlight>
                <a:srgbClr val="FFFFFF"/>
              </a:highlight>
              <a:latin typeface="Georgia"/>
              <a:ea typeface="Georgia"/>
              <a:cs typeface="Georgia"/>
              <a:sym typeface="Georgia"/>
            </a:endParaRPr>
          </a:p>
          <a:p>
            <a:pPr indent="-254000" lvl="0" marL="342900" rtl="0" algn="l">
              <a:lnSpc>
                <a:spcPct val="200000"/>
              </a:lnSpc>
              <a:spcBef>
                <a:spcPts val="0"/>
              </a:spcBef>
              <a:spcAft>
                <a:spcPts val="0"/>
              </a:spcAft>
              <a:buSzPts val="1400"/>
              <a:buFont typeface="Georgia"/>
              <a:buChar char="●"/>
            </a:pPr>
            <a:r>
              <a:rPr lang="en" sz="1400">
                <a:highlight>
                  <a:srgbClr val="FFFFFF"/>
                </a:highlight>
                <a:latin typeface="Georgia"/>
                <a:ea typeface="Georgia"/>
                <a:cs typeface="Georgia"/>
                <a:sym typeface="Georgia"/>
              </a:rPr>
              <a:t>Quantitative researchers aim to establish general laws of behavior and phenomenon across different settings/contexts. Research is used to test a theory and ultimately support or reject it.</a:t>
            </a:r>
            <a:endParaRPr sz="1400">
              <a:highlight>
                <a:srgbClr val="FFFFFF"/>
              </a:highlight>
              <a:latin typeface="Georgia"/>
              <a:ea typeface="Georgia"/>
              <a:cs typeface="Georgia"/>
              <a:sym typeface="Georgia"/>
            </a:endParaRPr>
          </a:p>
          <a:p>
            <a:pPr indent="0" lvl="0" marL="342900" rtl="0" algn="l">
              <a:lnSpc>
                <a:spcPct val="200000"/>
              </a:lnSpc>
              <a:spcBef>
                <a:spcPts val="1100"/>
              </a:spcBef>
              <a:spcAft>
                <a:spcPts val="1200"/>
              </a:spcAft>
              <a:buSzPts val="2100"/>
              <a:buNone/>
            </a:pPr>
            <a:r>
              <a:t/>
            </a:r>
            <a:endParaRPr sz="25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7"/>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SzPts val="3300"/>
              <a:buNone/>
            </a:pPr>
            <a:r>
              <a:rPr lang="en"/>
              <a:t>Data Collection Method</a:t>
            </a:r>
            <a:endParaRPr/>
          </a:p>
        </p:txBody>
      </p:sp>
      <p:sp>
        <p:nvSpPr>
          <p:cNvPr id="211" name="Google Shape;211;p37"/>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Autofit/>
          </a:bodyPr>
          <a:lstStyle/>
          <a:p>
            <a:pPr indent="0" lvl="0" marL="0" rtl="0" algn="l">
              <a:lnSpc>
                <a:spcPct val="115000"/>
              </a:lnSpc>
              <a:spcBef>
                <a:spcPts val="0"/>
              </a:spcBef>
              <a:spcAft>
                <a:spcPts val="0"/>
              </a:spcAft>
              <a:buClr>
                <a:schemeClr val="dk1"/>
              </a:buClr>
              <a:buSzPts val="800"/>
              <a:buFont typeface="Arial"/>
              <a:buNone/>
            </a:pPr>
            <a:r>
              <a:rPr lang="en" sz="1400">
                <a:highlight>
                  <a:srgbClr val="FFFFFF"/>
                </a:highlight>
              </a:rPr>
              <a:t>Quantitative studies, in contrast, require different data collection methods. These methods include compiling numerical data to test causal relationships among variables. Some forms of data collection for this type of study include</a:t>
            </a:r>
            <a:endParaRPr sz="1400">
              <a:highlight>
                <a:srgbClr val="FFFFFF"/>
              </a:highlight>
            </a:endParaRPr>
          </a:p>
          <a:p>
            <a:pPr indent="-254000" lvl="0" marL="342900" rtl="0" algn="l">
              <a:lnSpc>
                <a:spcPct val="115000"/>
              </a:lnSpc>
              <a:spcBef>
                <a:spcPts val="900"/>
              </a:spcBef>
              <a:spcAft>
                <a:spcPts val="0"/>
              </a:spcAft>
              <a:buClr>
                <a:schemeClr val="dk1"/>
              </a:buClr>
              <a:buSzPts val="1400"/>
              <a:buFont typeface="Constantia"/>
              <a:buChar char="●"/>
            </a:pPr>
            <a:r>
              <a:rPr lang="en" sz="1400">
                <a:highlight>
                  <a:srgbClr val="FFFFFF"/>
                </a:highlight>
              </a:rPr>
              <a:t>Experiments</a:t>
            </a:r>
            <a:endParaRPr sz="1400">
              <a:highlight>
                <a:srgbClr val="FFFFFF"/>
              </a:highlight>
            </a:endParaRPr>
          </a:p>
          <a:p>
            <a:pPr indent="-254000" lvl="0" marL="342900" rtl="0" algn="l">
              <a:lnSpc>
                <a:spcPct val="115000"/>
              </a:lnSpc>
              <a:spcBef>
                <a:spcPts val="0"/>
              </a:spcBef>
              <a:spcAft>
                <a:spcPts val="0"/>
              </a:spcAft>
              <a:buClr>
                <a:schemeClr val="dk1"/>
              </a:buClr>
              <a:buSzPts val="1400"/>
              <a:buFont typeface="Constantia"/>
              <a:buChar char="●"/>
            </a:pPr>
            <a:r>
              <a:rPr lang="en" sz="1400">
                <a:highlight>
                  <a:srgbClr val="FFFFFF"/>
                </a:highlight>
              </a:rPr>
              <a:t>Questionnaires</a:t>
            </a:r>
            <a:endParaRPr sz="1400">
              <a:highlight>
                <a:srgbClr val="FFFFFF"/>
              </a:highlight>
            </a:endParaRPr>
          </a:p>
          <a:p>
            <a:pPr indent="-254000" lvl="0" marL="342900" rtl="0" algn="l">
              <a:lnSpc>
                <a:spcPct val="115000"/>
              </a:lnSpc>
              <a:spcBef>
                <a:spcPts val="0"/>
              </a:spcBef>
              <a:spcAft>
                <a:spcPts val="0"/>
              </a:spcAft>
              <a:buClr>
                <a:schemeClr val="dk1"/>
              </a:buClr>
              <a:buSzPts val="1400"/>
              <a:buFont typeface="Constantia"/>
              <a:buChar char="●"/>
            </a:pPr>
            <a:r>
              <a:rPr lang="en" sz="1400">
                <a:highlight>
                  <a:srgbClr val="FFFFFF"/>
                </a:highlight>
              </a:rPr>
              <a:t>Surveys</a:t>
            </a:r>
            <a:endParaRPr sz="1400">
              <a:highlight>
                <a:srgbClr val="FFFFFF"/>
              </a:highlight>
            </a:endParaRPr>
          </a:p>
          <a:p>
            <a:pPr indent="-254000" lvl="0" marL="342900" rtl="0" algn="l">
              <a:lnSpc>
                <a:spcPct val="115000"/>
              </a:lnSpc>
              <a:spcBef>
                <a:spcPts val="0"/>
              </a:spcBef>
              <a:spcAft>
                <a:spcPts val="0"/>
              </a:spcAft>
              <a:buClr>
                <a:schemeClr val="dk1"/>
              </a:buClr>
              <a:buSzPts val="1400"/>
              <a:buFont typeface="Constantia"/>
              <a:buChar char="●"/>
            </a:pPr>
            <a:r>
              <a:rPr lang="en" sz="1400">
                <a:highlight>
                  <a:srgbClr val="FFFFFF"/>
                </a:highlight>
              </a:rPr>
              <a:t>Database reports</a:t>
            </a:r>
            <a:endParaRPr sz="1400">
              <a:highlight>
                <a:srgbClr val="FFFFFF"/>
              </a:highlight>
            </a:endParaRPr>
          </a:p>
          <a:p>
            <a:pPr indent="-254000" lvl="0" marL="342900" rtl="0" algn="l">
              <a:lnSpc>
                <a:spcPct val="115000"/>
              </a:lnSpc>
              <a:spcBef>
                <a:spcPts val="0"/>
              </a:spcBef>
              <a:spcAft>
                <a:spcPts val="0"/>
              </a:spcAft>
              <a:buClr>
                <a:schemeClr val="dk1"/>
              </a:buClr>
              <a:buSzPts val="1400"/>
              <a:buFont typeface="Constantia"/>
              <a:buChar char="●"/>
            </a:pPr>
            <a:r>
              <a:rPr lang="en" sz="1400">
                <a:highlight>
                  <a:srgbClr val="FFFFFF"/>
                </a:highlight>
              </a:rPr>
              <a:t>Interview</a:t>
            </a:r>
            <a:endParaRPr sz="1400">
              <a:highlight>
                <a:srgbClr val="FFFFFF"/>
              </a:highlight>
            </a:endParaRPr>
          </a:p>
          <a:p>
            <a:pPr indent="0" lvl="0" marL="0" rtl="0" algn="l">
              <a:lnSpc>
                <a:spcPct val="115000"/>
              </a:lnSpc>
              <a:spcBef>
                <a:spcPts val="600"/>
              </a:spcBef>
              <a:spcAft>
                <a:spcPts val="0"/>
              </a:spcAft>
              <a:buClr>
                <a:schemeClr val="dk1"/>
              </a:buClr>
              <a:buSzPts val="800"/>
              <a:buFont typeface="Arial"/>
              <a:buNone/>
            </a:pPr>
            <a:r>
              <a:rPr lang="en" sz="1400">
                <a:highlight>
                  <a:srgbClr val="FFFFFF"/>
                </a:highlight>
              </a:rPr>
              <a:t>The above collection methods yield data that lends itself to numerical analysis. Questionnaires in this case have a multiple-choice format to generate countable answers, such as “yes” or “no,” which can be turned into quantifiable data.</a:t>
            </a:r>
            <a:endParaRPr sz="1400">
              <a:highlight>
                <a:srgbClr val="FFFFFF"/>
              </a:highlight>
            </a:endParaRPr>
          </a:p>
          <a:p>
            <a:pPr indent="0" lvl="0" marL="0" rtl="0" algn="l">
              <a:lnSpc>
                <a:spcPct val="90000"/>
              </a:lnSpc>
              <a:spcBef>
                <a:spcPts val="900"/>
              </a:spcBef>
              <a:spcAft>
                <a:spcPts val="1200"/>
              </a:spcAft>
              <a:buSzPts val="2100"/>
              <a:buNone/>
            </a:pPr>
            <a:r>
              <a:t/>
            </a:r>
            <a:endParaRPr sz="26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8"/>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SzPts val="3300"/>
              <a:buNone/>
            </a:pPr>
            <a:r>
              <a:rPr lang="en"/>
              <a:t>Types of Quantitative Research</a:t>
            </a:r>
            <a:endParaRPr/>
          </a:p>
        </p:txBody>
      </p:sp>
      <p:sp>
        <p:nvSpPr>
          <p:cNvPr id="218" name="Google Shape;218;p38"/>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fontScale="92500" lnSpcReduction="20000"/>
          </a:bodyPr>
          <a:lstStyle/>
          <a:p>
            <a:pPr indent="0" lvl="0" marL="0" rtl="0" algn="l">
              <a:lnSpc>
                <a:spcPct val="200000"/>
              </a:lnSpc>
              <a:spcBef>
                <a:spcPts val="800"/>
              </a:spcBef>
              <a:spcAft>
                <a:spcPts val="0"/>
              </a:spcAft>
              <a:buSzPct val="133545"/>
              <a:buNone/>
            </a:pPr>
            <a:r>
              <a:rPr lang="en" sz="1700"/>
              <a:t>Descriptive</a:t>
            </a:r>
            <a:endParaRPr sz="1700"/>
          </a:p>
          <a:p>
            <a:pPr indent="0" lvl="0" marL="0" rtl="0" algn="l">
              <a:lnSpc>
                <a:spcPct val="200000"/>
              </a:lnSpc>
              <a:spcBef>
                <a:spcPts val="1200"/>
              </a:spcBef>
              <a:spcAft>
                <a:spcPts val="0"/>
              </a:spcAft>
              <a:buSzPct val="133545"/>
              <a:buNone/>
            </a:pPr>
            <a:r>
              <a:rPr lang="en" sz="1700"/>
              <a:t>Correlation</a:t>
            </a:r>
            <a:endParaRPr sz="1700"/>
          </a:p>
          <a:p>
            <a:pPr indent="0" lvl="0" marL="0" rtl="0" algn="l">
              <a:lnSpc>
                <a:spcPct val="200000"/>
              </a:lnSpc>
              <a:spcBef>
                <a:spcPts val="1200"/>
              </a:spcBef>
              <a:spcAft>
                <a:spcPts val="0"/>
              </a:spcAft>
              <a:buSzPct val="133545"/>
              <a:buNone/>
            </a:pPr>
            <a:r>
              <a:rPr lang="en" sz="1700">
                <a:solidFill>
                  <a:srgbClr val="1E2124"/>
                </a:solidFill>
              </a:rPr>
              <a:t>Causal-comparative/ quasi-experimental research</a:t>
            </a:r>
            <a:endParaRPr sz="1700">
              <a:solidFill>
                <a:srgbClr val="1E2124"/>
              </a:solidFill>
            </a:endParaRPr>
          </a:p>
          <a:p>
            <a:pPr indent="0" lvl="0" marL="0" rtl="0" algn="l">
              <a:lnSpc>
                <a:spcPct val="200000"/>
              </a:lnSpc>
              <a:spcBef>
                <a:spcPts val="1200"/>
              </a:spcBef>
              <a:spcAft>
                <a:spcPts val="0"/>
              </a:spcAft>
              <a:buSzPct val="133545"/>
              <a:buNone/>
            </a:pPr>
            <a:r>
              <a:rPr lang="en" sz="1700">
                <a:solidFill>
                  <a:srgbClr val="1E2124"/>
                </a:solidFill>
              </a:rPr>
              <a:t>Laboratory Research</a:t>
            </a:r>
            <a:endParaRPr sz="1700">
              <a:solidFill>
                <a:srgbClr val="1E2124"/>
              </a:solidFill>
            </a:endParaRPr>
          </a:p>
          <a:p>
            <a:pPr indent="0" lvl="0" marL="0" rtl="0" algn="l">
              <a:lnSpc>
                <a:spcPct val="200000"/>
              </a:lnSpc>
              <a:spcBef>
                <a:spcPts val="1200"/>
              </a:spcBef>
              <a:spcAft>
                <a:spcPts val="0"/>
              </a:spcAft>
              <a:buClr>
                <a:schemeClr val="dk1"/>
              </a:buClr>
              <a:buSzPct val="47058"/>
              <a:buFont typeface="Arial"/>
              <a:buNone/>
            </a:pPr>
            <a:r>
              <a:t/>
            </a:r>
            <a:endParaRPr sz="1700">
              <a:solidFill>
                <a:srgbClr val="1E2124"/>
              </a:solidFill>
            </a:endParaRPr>
          </a:p>
          <a:p>
            <a:pPr indent="0" lvl="0" marL="0" rtl="0" algn="l">
              <a:lnSpc>
                <a:spcPct val="200000"/>
              </a:lnSpc>
              <a:spcBef>
                <a:spcPts val="1200"/>
              </a:spcBef>
              <a:spcAft>
                <a:spcPts val="1200"/>
              </a:spcAft>
              <a:buSzPct val="133545"/>
              <a:buNone/>
            </a:pPr>
            <a:r>
              <a:t/>
            </a:r>
            <a:endParaRPr sz="17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9"/>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ctr">
              <a:lnSpc>
                <a:spcPct val="90000"/>
              </a:lnSpc>
              <a:spcBef>
                <a:spcPts val="0"/>
              </a:spcBef>
              <a:spcAft>
                <a:spcPts val="0"/>
              </a:spcAft>
              <a:buSzPts val="3300"/>
              <a:buNone/>
            </a:pPr>
            <a:r>
              <a:rPr b="1" lang="en">
                <a:latin typeface="Times New Roman"/>
                <a:ea typeface="Times New Roman"/>
                <a:cs typeface="Times New Roman"/>
                <a:sym typeface="Times New Roman"/>
              </a:rPr>
              <a:t>Qualitative Research</a:t>
            </a:r>
            <a:endParaRPr b="1">
              <a:latin typeface="Times New Roman"/>
              <a:ea typeface="Times New Roman"/>
              <a:cs typeface="Times New Roman"/>
              <a:sym typeface="Times New Roman"/>
            </a:endParaRPr>
          </a:p>
        </p:txBody>
      </p:sp>
      <p:sp>
        <p:nvSpPr>
          <p:cNvPr id="225" name="Google Shape;225;p39"/>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p>
            <a:pPr indent="0" lvl="0" marL="0" rtl="0" algn="just">
              <a:lnSpc>
                <a:spcPct val="150000"/>
              </a:lnSpc>
              <a:spcBef>
                <a:spcPts val="800"/>
              </a:spcBef>
              <a:spcAft>
                <a:spcPts val="1200"/>
              </a:spcAft>
              <a:buSzPts val="2100"/>
              <a:buNone/>
            </a:pPr>
            <a:r>
              <a:rPr lang="en" sz="2400">
                <a:solidFill>
                  <a:schemeClr val="dk1"/>
                </a:solidFill>
                <a:latin typeface="Times New Roman"/>
                <a:ea typeface="Times New Roman"/>
                <a:cs typeface="Times New Roman"/>
                <a:sym typeface="Times New Roman"/>
              </a:rPr>
              <a:t>Qualitative research is a field of enquiry that is employed to explore and understand people’s belief, attitude, experience, behavior and interaction. It helps to gain the in-depth understanding of human behavior.</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40"/>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ctr">
              <a:lnSpc>
                <a:spcPct val="90000"/>
              </a:lnSpc>
              <a:spcBef>
                <a:spcPts val="0"/>
              </a:spcBef>
              <a:spcAft>
                <a:spcPts val="0"/>
              </a:spcAft>
              <a:buSzPts val="3300"/>
              <a:buNone/>
            </a:pPr>
            <a:r>
              <a:rPr b="1" lang="en">
                <a:latin typeface="Times New Roman"/>
                <a:ea typeface="Times New Roman"/>
                <a:cs typeface="Times New Roman"/>
                <a:sym typeface="Times New Roman"/>
              </a:rPr>
              <a:t>Data collection methods</a:t>
            </a:r>
            <a:endParaRPr b="1">
              <a:latin typeface="Times New Roman"/>
              <a:ea typeface="Times New Roman"/>
              <a:cs typeface="Times New Roman"/>
              <a:sym typeface="Times New Roman"/>
            </a:endParaRPr>
          </a:p>
        </p:txBody>
      </p:sp>
      <p:sp>
        <p:nvSpPr>
          <p:cNvPr id="232" name="Google Shape;232;p40"/>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Autofit/>
          </a:bodyPr>
          <a:lstStyle/>
          <a:p>
            <a:pPr indent="0" lvl="0" marL="0" rtl="0" algn="l">
              <a:lnSpc>
                <a:spcPct val="150000"/>
              </a:lnSpc>
              <a:spcBef>
                <a:spcPts val="800"/>
              </a:spcBef>
              <a:spcAft>
                <a:spcPts val="0"/>
              </a:spcAft>
              <a:buSzPts val="2100"/>
              <a:buNone/>
            </a:pPr>
            <a:r>
              <a:rPr lang="en" sz="2000">
                <a:solidFill>
                  <a:schemeClr val="dk1"/>
                </a:solidFill>
                <a:latin typeface="Times New Roman"/>
                <a:ea typeface="Times New Roman"/>
                <a:cs typeface="Times New Roman"/>
                <a:sym typeface="Times New Roman"/>
              </a:rPr>
              <a:t>Focus group discussion</a:t>
            </a:r>
            <a:endParaRPr sz="2000">
              <a:solidFill>
                <a:schemeClr val="dk1"/>
              </a:solidFill>
              <a:latin typeface="Times New Roman"/>
              <a:ea typeface="Times New Roman"/>
              <a:cs typeface="Times New Roman"/>
              <a:sym typeface="Times New Roman"/>
            </a:endParaRPr>
          </a:p>
          <a:p>
            <a:pPr indent="0" lvl="0" marL="0" rtl="0" algn="l">
              <a:lnSpc>
                <a:spcPct val="150000"/>
              </a:lnSpc>
              <a:spcBef>
                <a:spcPts val="1200"/>
              </a:spcBef>
              <a:spcAft>
                <a:spcPts val="0"/>
              </a:spcAft>
              <a:buSzPts val="2100"/>
              <a:buNone/>
            </a:pPr>
            <a:r>
              <a:rPr lang="en" sz="2000">
                <a:solidFill>
                  <a:schemeClr val="dk1"/>
                </a:solidFill>
                <a:latin typeface="Times New Roman"/>
                <a:ea typeface="Times New Roman"/>
                <a:cs typeface="Times New Roman"/>
                <a:sym typeface="Times New Roman"/>
              </a:rPr>
              <a:t>Participant observation </a:t>
            </a:r>
            <a:endParaRPr sz="2000">
              <a:solidFill>
                <a:schemeClr val="dk1"/>
              </a:solidFill>
              <a:latin typeface="Times New Roman"/>
              <a:ea typeface="Times New Roman"/>
              <a:cs typeface="Times New Roman"/>
              <a:sym typeface="Times New Roman"/>
            </a:endParaRPr>
          </a:p>
          <a:p>
            <a:pPr indent="0" lvl="0" marL="0" rtl="0" algn="l">
              <a:lnSpc>
                <a:spcPct val="150000"/>
              </a:lnSpc>
              <a:spcBef>
                <a:spcPts val="1200"/>
              </a:spcBef>
              <a:spcAft>
                <a:spcPts val="0"/>
              </a:spcAft>
              <a:buSzPts val="2100"/>
              <a:buNone/>
            </a:pPr>
            <a:r>
              <a:rPr lang="en" sz="2000">
                <a:solidFill>
                  <a:schemeClr val="dk1"/>
                </a:solidFill>
                <a:latin typeface="Times New Roman"/>
                <a:ea typeface="Times New Roman"/>
                <a:cs typeface="Times New Roman"/>
                <a:sym typeface="Times New Roman"/>
              </a:rPr>
              <a:t>In-depth interview</a:t>
            </a:r>
            <a:endParaRPr sz="2000">
              <a:solidFill>
                <a:schemeClr val="dk1"/>
              </a:solidFill>
              <a:latin typeface="Times New Roman"/>
              <a:ea typeface="Times New Roman"/>
              <a:cs typeface="Times New Roman"/>
              <a:sym typeface="Times New Roman"/>
            </a:endParaRPr>
          </a:p>
          <a:p>
            <a:pPr indent="0" lvl="0" marL="0" rtl="0" algn="l">
              <a:lnSpc>
                <a:spcPct val="150000"/>
              </a:lnSpc>
              <a:spcBef>
                <a:spcPts val="1200"/>
              </a:spcBef>
              <a:spcAft>
                <a:spcPts val="0"/>
              </a:spcAft>
              <a:buSzPts val="2100"/>
              <a:buNone/>
            </a:pPr>
            <a:r>
              <a:rPr lang="en" sz="2000">
                <a:solidFill>
                  <a:schemeClr val="dk1"/>
                </a:solidFill>
                <a:latin typeface="Times New Roman"/>
                <a:ea typeface="Times New Roman"/>
                <a:cs typeface="Times New Roman"/>
                <a:sym typeface="Times New Roman"/>
              </a:rPr>
              <a:t>Document and material analysis</a:t>
            </a:r>
            <a:endParaRPr sz="2000">
              <a:solidFill>
                <a:schemeClr val="dk1"/>
              </a:solidFill>
              <a:latin typeface="Times New Roman"/>
              <a:ea typeface="Times New Roman"/>
              <a:cs typeface="Times New Roman"/>
              <a:sym typeface="Times New Roman"/>
            </a:endParaRPr>
          </a:p>
          <a:p>
            <a:pPr indent="0" lvl="0" marL="0" rtl="0" algn="l">
              <a:lnSpc>
                <a:spcPct val="150000"/>
              </a:lnSpc>
              <a:spcBef>
                <a:spcPts val="1200"/>
              </a:spcBef>
              <a:spcAft>
                <a:spcPts val="0"/>
              </a:spcAft>
              <a:buSzPts val="2100"/>
              <a:buNone/>
            </a:pPr>
            <a:r>
              <a:rPr lang="en" sz="2000">
                <a:solidFill>
                  <a:schemeClr val="dk1"/>
                </a:solidFill>
                <a:latin typeface="Times New Roman"/>
                <a:ea typeface="Times New Roman"/>
                <a:cs typeface="Times New Roman"/>
                <a:sym typeface="Times New Roman"/>
              </a:rPr>
              <a:t>Direct observation</a:t>
            </a:r>
            <a:endParaRPr sz="2000">
              <a:solidFill>
                <a:schemeClr val="dk1"/>
              </a:solidFill>
              <a:latin typeface="Times New Roman"/>
              <a:ea typeface="Times New Roman"/>
              <a:cs typeface="Times New Roman"/>
              <a:sym typeface="Times New Roman"/>
            </a:endParaRPr>
          </a:p>
          <a:p>
            <a:pPr indent="0" lvl="0" marL="0" rtl="0" algn="l">
              <a:lnSpc>
                <a:spcPct val="150000"/>
              </a:lnSpc>
              <a:spcBef>
                <a:spcPts val="1200"/>
              </a:spcBef>
              <a:spcAft>
                <a:spcPts val="0"/>
              </a:spcAft>
              <a:buSzPts val="2100"/>
              <a:buNone/>
            </a:pPr>
            <a:r>
              <a:t/>
            </a:r>
            <a:endParaRPr sz="2000">
              <a:solidFill>
                <a:schemeClr val="dk1"/>
              </a:solidFill>
              <a:latin typeface="Times New Roman"/>
              <a:ea typeface="Times New Roman"/>
              <a:cs typeface="Times New Roman"/>
              <a:sym typeface="Times New Roman"/>
            </a:endParaRPr>
          </a:p>
          <a:p>
            <a:pPr indent="0" lvl="0" marL="0" rtl="0" algn="l">
              <a:lnSpc>
                <a:spcPct val="90000"/>
              </a:lnSpc>
              <a:spcBef>
                <a:spcPts val="1200"/>
              </a:spcBef>
              <a:spcAft>
                <a:spcPts val="1200"/>
              </a:spcAft>
              <a:buSzPts val="2100"/>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41"/>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ctr">
              <a:lnSpc>
                <a:spcPct val="90000"/>
              </a:lnSpc>
              <a:spcBef>
                <a:spcPts val="0"/>
              </a:spcBef>
              <a:spcAft>
                <a:spcPts val="0"/>
              </a:spcAft>
              <a:buSzPts val="3300"/>
              <a:buNone/>
            </a:pPr>
            <a:r>
              <a:rPr b="1" lang="en">
                <a:latin typeface="Times New Roman"/>
                <a:ea typeface="Times New Roman"/>
                <a:cs typeface="Times New Roman"/>
                <a:sym typeface="Times New Roman"/>
              </a:rPr>
              <a:t>Types of Qualitative Research</a:t>
            </a:r>
            <a:endParaRPr b="1">
              <a:latin typeface="Times New Roman"/>
              <a:ea typeface="Times New Roman"/>
              <a:cs typeface="Times New Roman"/>
              <a:sym typeface="Times New Roman"/>
            </a:endParaRPr>
          </a:p>
        </p:txBody>
      </p:sp>
      <p:sp>
        <p:nvSpPr>
          <p:cNvPr id="239" name="Google Shape;239;p41"/>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800"/>
              </a:spcBef>
              <a:spcAft>
                <a:spcPts val="0"/>
              </a:spcAft>
              <a:buSzPts val="2100"/>
              <a:buNone/>
            </a:pPr>
            <a:r>
              <a:rPr lang="en" sz="2400">
                <a:solidFill>
                  <a:schemeClr val="dk1"/>
                </a:solidFill>
                <a:latin typeface="Times New Roman"/>
                <a:ea typeface="Times New Roman"/>
                <a:cs typeface="Times New Roman"/>
                <a:sym typeface="Times New Roman"/>
              </a:rPr>
              <a:t>Ethnographic </a:t>
            </a:r>
            <a:endParaRPr sz="2400">
              <a:solidFill>
                <a:schemeClr val="dk1"/>
              </a:solidFill>
              <a:latin typeface="Times New Roman"/>
              <a:ea typeface="Times New Roman"/>
              <a:cs typeface="Times New Roman"/>
              <a:sym typeface="Times New Roman"/>
            </a:endParaRPr>
          </a:p>
          <a:p>
            <a:pPr indent="0" lvl="0" marL="0" rtl="0" algn="l">
              <a:lnSpc>
                <a:spcPct val="90000"/>
              </a:lnSpc>
              <a:spcBef>
                <a:spcPts val="1200"/>
              </a:spcBef>
              <a:spcAft>
                <a:spcPts val="0"/>
              </a:spcAft>
              <a:buSzPts val="2100"/>
              <a:buNone/>
            </a:pPr>
            <a:r>
              <a:rPr lang="en" sz="2400">
                <a:solidFill>
                  <a:schemeClr val="dk1"/>
                </a:solidFill>
                <a:latin typeface="Times New Roman"/>
                <a:ea typeface="Times New Roman"/>
                <a:cs typeface="Times New Roman"/>
                <a:sym typeface="Times New Roman"/>
              </a:rPr>
              <a:t>Ethical Inquiry</a:t>
            </a:r>
            <a:endParaRPr sz="2400">
              <a:solidFill>
                <a:schemeClr val="dk1"/>
              </a:solidFill>
              <a:latin typeface="Times New Roman"/>
              <a:ea typeface="Times New Roman"/>
              <a:cs typeface="Times New Roman"/>
              <a:sym typeface="Times New Roman"/>
            </a:endParaRPr>
          </a:p>
          <a:p>
            <a:pPr indent="0" lvl="0" marL="0" rtl="0" algn="l">
              <a:lnSpc>
                <a:spcPct val="90000"/>
              </a:lnSpc>
              <a:spcBef>
                <a:spcPts val="1200"/>
              </a:spcBef>
              <a:spcAft>
                <a:spcPts val="0"/>
              </a:spcAft>
              <a:buSzPts val="2100"/>
              <a:buNone/>
            </a:pPr>
            <a:r>
              <a:rPr lang="en" sz="2400">
                <a:solidFill>
                  <a:schemeClr val="dk1"/>
                </a:solidFill>
                <a:latin typeface="Times New Roman"/>
                <a:ea typeface="Times New Roman"/>
                <a:cs typeface="Times New Roman"/>
                <a:sym typeface="Times New Roman"/>
              </a:rPr>
              <a:t>Historical Research</a:t>
            </a:r>
            <a:endParaRPr sz="2400">
              <a:solidFill>
                <a:schemeClr val="dk1"/>
              </a:solidFill>
              <a:latin typeface="Times New Roman"/>
              <a:ea typeface="Times New Roman"/>
              <a:cs typeface="Times New Roman"/>
              <a:sym typeface="Times New Roman"/>
            </a:endParaRPr>
          </a:p>
          <a:p>
            <a:pPr indent="0" lvl="0" marL="0" rtl="0" algn="l">
              <a:lnSpc>
                <a:spcPct val="90000"/>
              </a:lnSpc>
              <a:spcBef>
                <a:spcPts val="1200"/>
              </a:spcBef>
              <a:spcAft>
                <a:spcPts val="0"/>
              </a:spcAft>
              <a:buSzPts val="2100"/>
              <a:buNone/>
            </a:pPr>
            <a:r>
              <a:rPr lang="en" sz="2400">
                <a:solidFill>
                  <a:schemeClr val="dk1"/>
                </a:solidFill>
                <a:latin typeface="Times New Roman"/>
                <a:ea typeface="Times New Roman"/>
                <a:cs typeface="Times New Roman"/>
                <a:sym typeface="Times New Roman"/>
              </a:rPr>
              <a:t>Phenomenology</a:t>
            </a:r>
            <a:endParaRPr sz="2400">
              <a:solidFill>
                <a:schemeClr val="dk1"/>
              </a:solidFill>
              <a:latin typeface="Times New Roman"/>
              <a:ea typeface="Times New Roman"/>
              <a:cs typeface="Times New Roman"/>
              <a:sym typeface="Times New Roman"/>
            </a:endParaRPr>
          </a:p>
          <a:p>
            <a:pPr indent="0" lvl="0" marL="0" rtl="0" algn="l">
              <a:lnSpc>
                <a:spcPct val="90000"/>
              </a:lnSpc>
              <a:spcBef>
                <a:spcPts val="1200"/>
              </a:spcBef>
              <a:spcAft>
                <a:spcPts val="0"/>
              </a:spcAft>
              <a:buSzPts val="2100"/>
              <a:buNone/>
            </a:pPr>
            <a:r>
              <a:rPr lang="en" sz="2400">
                <a:solidFill>
                  <a:schemeClr val="dk1"/>
                </a:solidFill>
                <a:latin typeface="Times New Roman"/>
                <a:ea typeface="Times New Roman"/>
                <a:cs typeface="Times New Roman"/>
                <a:sym typeface="Times New Roman"/>
              </a:rPr>
              <a:t>Philosophical </a:t>
            </a:r>
            <a:endParaRPr sz="2400">
              <a:solidFill>
                <a:schemeClr val="dk1"/>
              </a:solidFill>
              <a:latin typeface="Times New Roman"/>
              <a:ea typeface="Times New Roman"/>
              <a:cs typeface="Times New Roman"/>
              <a:sym typeface="Times New Roman"/>
            </a:endParaRPr>
          </a:p>
          <a:p>
            <a:pPr indent="0" lvl="0" marL="0" rtl="0" algn="l">
              <a:lnSpc>
                <a:spcPct val="90000"/>
              </a:lnSpc>
              <a:spcBef>
                <a:spcPts val="1200"/>
              </a:spcBef>
              <a:spcAft>
                <a:spcPts val="1200"/>
              </a:spcAft>
              <a:buSzPts val="2100"/>
              <a:buNone/>
            </a:pPr>
            <a:r>
              <a:rPr lang="en" sz="2400">
                <a:solidFill>
                  <a:schemeClr val="dk1"/>
                </a:solidFill>
                <a:latin typeface="Times New Roman"/>
                <a:ea typeface="Times New Roman"/>
                <a:cs typeface="Times New Roman"/>
                <a:sym typeface="Times New Roman"/>
              </a:rPr>
              <a:t>Case study </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42"/>
          <p:cNvSpPr txBox="1"/>
          <p:nvPr>
            <p:ph type="title"/>
          </p:nvPr>
        </p:nvSpPr>
        <p:spPr>
          <a:xfrm>
            <a:off x="2985" y="781370"/>
            <a:ext cx="8915400" cy="476700"/>
          </a:xfrm>
          <a:prstGeom prst="rect">
            <a:avLst/>
          </a:prstGeom>
          <a:noFill/>
          <a:ln>
            <a:noFill/>
          </a:ln>
        </p:spPr>
        <p:txBody>
          <a:bodyPr anchorCtr="0" anchor="ctr" bIns="0" lIns="0" spcFirstLastPara="1" rIns="0" wrap="square" tIns="45200">
            <a:spAutoFit/>
          </a:bodyPr>
          <a:lstStyle/>
          <a:p>
            <a:pPr indent="292100" lvl="0" marL="901700" marR="0" rtl="0" algn="l">
              <a:lnSpc>
                <a:spcPct val="100000"/>
              </a:lnSpc>
              <a:spcBef>
                <a:spcPts val="0"/>
              </a:spcBef>
              <a:spcAft>
                <a:spcPts val="0"/>
              </a:spcAft>
              <a:buClr>
                <a:schemeClr val="dk1"/>
              </a:buClr>
              <a:buSzPts val="3300"/>
              <a:buFont typeface="Constantia"/>
              <a:buNone/>
            </a:pPr>
            <a:r>
              <a:rPr lang="en"/>
              <a:t>Folk Psychology &amp;  Scientific Psychology</a:t>
            </a:r>
            <a:endParaRPr/>
          </a:p>
        </p:txBody>
      </p:sp>
      <p:sp>
        <p:nvSpPr>
          <p:cNvPr id="246" name="Google Shape;246;p42"/>
          <p:cNvSpPr txBox="1"/>
          <p:nvPr/>
        </p:nvSpPr>
        <p:spPr>
          <a:xfrm>
            <a:off x="1402727" y="1868889"/>
            <a:ext cx="6338400" cy="1933200"/>
          </a:xfrm>
          <a:prstGeom prst="rect">
            <a:avLst/>
          </a:prstGeom>
          <a:noFill/>
          <a:ln>
            <a:noFill/>
          </a:ln>
        </p:spPr>
        <p:txBody>
          <a:bodyPr anchorCtr="0" anchor="t" bIns="0" lIns="0" spcFirstLastPara="1" rIns="0" wrap="square" tIns="9075">
            <a:spAutoFit/>
          </a:bodyPr>
          <a:lstStyle/>
          <a:p>
            <a:pPr indent="-203200" lvl="0" marL="203200" marR="88900" rtl="0" algn="l">
              <a:lnSpc>
                <a:spcPct val="100000"/>
              </a:lnSpc>
              <a:spcBef>
                <a:spcPts val="0"/>
              </a:spcBef>
              <a:spcAft>
                <a:spcPts val="0"/>
              </a:spcAft>
              <a:buClr>
                <a:schemeClr val="dk1"/>
              </a:buClr>
              <a:buSzPts val="2400"/>
              <a:buFont typeface="Arial"/>
              <a:buChar char="•"/>
            </a:pPr>
            <a:r>
              <a:rPr b="0" i="1" lang="en" sz="2400" u="none" cap="none" strike="noStrike">
                <a:solidFill>
                  <a:schemeClr val="dk1"/>
                </a:solidFill>
                <a:latin typeface="Constantia"/>
                <a:ea typeface="Constantia"/>
                <a:cs typeface="Constantia"/>
                <a:sym typeface="Constantia"/>
              </a:rPr>
              <a:t>everybody </a:t>
            </a:r>
            <a:r>
              <a:rPr b="0" i="0" lang="en" sz="2400" u="none" cap="none" strike="noStrike">
                <a:solidFill>
                  <a:schemeClr val="dk1"/>
                </a:solidFill>
                <a:latin typeface="Constantia"/>
                <a:ea typeface="Constantia"/>
                <a:cs typeface="Constantia"/>
                <a:sym typeface="Constantia"/>
              </a:rPr>
              <a:t>has ideas about how they  think and behave and how other  people think and behave</a:t>
            </a:r>
            <a:endParaRPr b="0" i="0" sz="2400" u="none" cap="none" strike="noStrike">
              <a:solidFill>
                <a:schemeClr val="dk1"/>
              </a:solidFill>
              <a:latin typeface="Constantia"/>
              <a:ea typeface="Constantia"/>
              <a:cs typeface="Constantia"/>
              <a:sym typeface="Constantia"/>
            </a:endParaRPr>
          </a:p>
          <a:p>
            <a:pPr indent="-203200" lvl="0" marL="203200" marR="0" rtl="0" algn="l">
              <a:lnSpc>
                <a:spcPct val="100000"/>
              </a:lnSpc>
              <a:spcBef>
                <a:spcPts val="600"/>
              </a:spcBef>
              <a:spcAft>
                <a:spcPts val="0"/>
              </a:spcAft>
              <a:buClr>
                <a:schemeClr val="dk1"/>
              </a:buClr>
              <a:buSzPts val="2400"/>
              <a:buFont typeface="Arial"/>
              <a:buChar char="•"/>
            </a:pPr>
            <a:r>
              <a:rPr b="0" i="1" lang="en" sz="2400" u="none" cap="none" strike="noStrike">
                <a:solidFill>
                  <a:schemeClr val="dk1"/>
                </a:solidFill>
                <a:latin typeface="Constantia"/>
                <a:ea typeface="Constantia"/>
                <a:cs typeface="Constantia"/>
                <a:sym typeface="Constantia"/>
              </a:rPr>
              <a:t>scientific psychology </a:t>
            </a:r>
            <a:r>
              <a:rPr b="0" i="0" lang="en" sz="2400" u="none" cap="none" strike="noStrike">
                <a:solidFill>
                  <a:schemeClr val="dk1"/>
                </a:solidFill>
                <a:latin typeface="Constantia"/>
                <a:ea typeface="Constantia"/>
                <a:cs typeface="Constantia"/>
                <a:sym typeface="Constantia"/>
              </a:rPr>
              <a:t>sometimes  supports and sometimes contradicts  these ideas</a:t>
            </a:r>
            <a:endParaRPr b="0" i="0" sz="2400" u="none" cap="none" strike="noStrike">
              <a:solidFill>
                <a:schemeClr val="dk1"/>
              </a:solidFill>
              <a:latin typeface="Constantia"/>
              <a:ea typeface="Constantia"/>
              <a:cs typeface="Constantia"/>
              <a:sym typeface="Constantia"/>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43"/>
          <p:cNvSpPr txBox="1"/>
          <p:nvPr>
            <p:ph type="title"/>
          </p:nvPr>
        </p:nvSpPr>
        <p:spPr>
          <a:xfrm>
            <a:off x="1780360" y="298667"/>
            <a:ext cx="5583300" cy="425100"/>
          </a:xfrm>
          <a:prstGeom prst="rect">
            <a:avLst/>
          </a:prstGeom>
          <a:noFill/>
          <a:ln>
            <a:noFill/>
          </a:ln>
        </p:spPr>
        <p:txBody>
          <a:bodyPr anchorCtr="0" anchor="ctr" bIns="0" lIns="0" spcFirstLastPara="1" rIns="0" wrap="square" tIns="9550">
            <a:spAutoFit/>
          </a:bodyPr>
          <a:lstStyle/>
          <a:p>
            <a:pPr indent="0" lvl="0" marL="12700" rtl="0" algn="l">
              <a:lnSpc>
                <a:spcPct val="100000"/>
              </a:lnSpc>
              <a:spcBef>
                <a:spcPts val="0"/>
              </a:spcBef>
              <a:spcAft>
                <a:spcPts val="0"/>
              </a:spcAft>
              <a:buClr>
                <a:schemeClr val="dk1"/>
              </a:buClr>
              <a:buSzPts val="2700"/>
              <a:buFont typeface="Constantia"/>
              <a:buNone/>
            </a:pPr>
            <a:r>
              <a:rPr lang="en" sz="2700"/>
              <a:t>Ideas About People &amp; Psychology</a:t>
            </a:r>
            <a:endParaRPr sz="2700"/>
          </a:p>
        </p:txBody>
      </p:sp>
      <p:sp>
        <p:nvSpPr>
          <p:cNvPr id="252" name="Google Shape;252;p43"/>
          <p:cNvSpPr txBox="1"/>
          <p:nvPr/>
        </p:nvSpPr>
        <p:spPr>
          <a:xfrm>
            <a:off x="5836460" y="3290120"/>
            <a:ext cx="222900" cy="148200"/>
          </a:xfrm>
          <a:prstGeom prst="rect">
            <a:avLst/>
          </a:prstGeom>
          <a:noFill/>
          <a:ln>
            <a:noFill/>
          </a:ln>
        </p:spPr>
        <p:txBody>
          <a:bodyPr anchorCtr="0" anchor="t" bIns="0" lIns="0" spcFirstLastPara="1" rIns="0" wrap="square" tIns="9550">
            <a:spAutoFit/>
          </a:bodyPr>
          <a:lstStyle/>
          <a:p>
            <a:pPr indent="0" lvl="0" marL="12700" marR="0" rtl="0" algn="l">
              <a:lnSpc>
                <a:spcPct val="100000"/>
              </a:lnSpc>
              <a:spcBef>
                <a:spcPts val="0"/>
              </a:spcBef>
              <a:spcAft>
                <a:spcPts val="0"/>
              </a:spcAft>
              <a:buClr>
                <a:srgbClr val="000000"/>
              </a:buClr>
              <a:buSzPts val="900"/>
              <a:buFont typeface="Arial"/>
              <a:buNone/>
            </a:pPr>
            <a:r>
              <a:rPr b="1" i="0" lang="en" sz="900" u="none" cap="none" strike="noStrike">
                <a:solidFill>
                  <a:srgbClr val="FFFFFF"/>
                </a:solidFill>
                <a:latin typeface="Arial"/>
                <a:ea typeface="Arial"/>
                <a:cs typeface="Arial"/>
                <a:sym typeface="Arial"/>
              </a:rPr>
              <a:t>Yes</a:t>
            </a:r>
            <a:endParaRPr b="0" i="0" sz="900" u="none" cap="none" strike="noStrike">
              <a:solidFill>
                <a:schemeClr val="dk1"/>
              </a:solidFill>
              <a:latin typeface="Arial"/>
              <a:ea typeface="Arial"/>
              <a:cs typeface="Arial"/>
              <a:sym typeface="Arial"/>
            </a:endParaRPr>
          </a:p>
        </p:txBody>
      </p:sp>
      <p:sp>
        <p:nvSpPr>
          <p:cNvPr id="253" name="Google Shape;253;p43"/>
          <p:cNvSpPr txBox="1"/>
          <p:nvPr/>
        </p:nvSpPr>
        <p:spPr>
          <a:xfrm>
            <a:off x="7213159" y="3290120"/>
            <a:ext cx="172200" cy="148200"/>
          </a:xfrm>
          <a:prstGeom prst="rect">
            <a:avLst/>
          </a:prstGeom>
          <a:noFill/>
          <a:ln>
            <a:noFill/>
          </a:ln>
        </p:spPr>
        <p:txBody>
          <a:bodyPr anchorCtr="0" anchor="t" bIns="0" lIns="0" spcFirstLastPara="1" rIns="0" wrap="square" tIns="9550">
            <a:spAutoFit/>
          </a:bodyPr>
          <a:lstStyle/>
          <a:p>
            <a:pPr indent="0" lvl="0" marL="12700" marR="0" rtl="0" algn="l">
              <a:lnSpc>
                <a:spcPct val="100000"/>
              </a:lnSpc>
              <a:spcBef>
                <a:spcPts val="0"/>
              </a:spcBef>
              <a:spcAft>
                <a:spcPts val="0"/>
              </a:spcAft>
              <a:buClr>
                <a:srgbClr val="000000"/>
              </a:buClr>
              <a:buSzPts val="900"/>
              <a:buFont typeface="Arial"/>
              <a:buNone/>
            </a:pPr>
            <a:r>
              <a:rPr b="1" i="0" lang="en" sz="900" u="none" cap="none" strike="noStrike">
                <a:solidFill>
                  <a:srgbClr val="FFFFFF"/>
                </a:solidFill>
                <a:latin typeface="Arial"/>
                <a:ea typeface="Arial"/>
                <a:cs typeface="Arial"/>
                <a:sym typeface="Arial"/>
              </a:rPr>
              <a:t>No</a:t>
            </a:r>
            <a:endParaRPr b="0" i="0" sz="900" u="none" cap="none" strike="noStrike">
              <a:solidFill>
                <a:schemeClr val="dk1"/>
              </a:solidFill>
              <a:latin typeface="Arial"/>
              <a:ea typeface="Arial"/>
              <a:cs typeface="Arial"/>
              <a:sym typeface="Arial"/>
            </a:endParaRPr>
          </a:p>
        </p:txBody>
      </p:sp>
      <p:sp>
        <p:nvSpPr>
          <p:cNvPr id="254" name="Google Shape;254;p43"/>
          <p:cNvSpPr txBox="1"/>
          <p:nvPr/>
        </p:nvSpPr>
        <p:spPr>
          <a:xfrm>
            <a:off x="5836460" y="3619954"/>
            <a:ext cx="222900" cy="148200"/>
          </a:xfrm>
          <a:prstGeom prst="rect">
            <a:avLst/>
          </a:prstGeom>
          <a:noFill/>
          <a:ln>
            <a:noFill/>
          </a:ln>
        </p:spPr>
        <p:txBody>
          <a:bodyPr anchorCtr="0" anchor="t" bIns="0" lIns="0" spcFirstLastPara="1" rIns="0" wrap="square" tIns="9550">
            <a:spAutoFit/>
          </a:bodyPr>
          <a:lstStyle/>
          <a:p>
            <a:pPr indent="0" lvl="0" marL="12700" marR="0" rtl="0" algn="l">
              <a:lnSpc>
                <a:spcPct val="100000"/>
              </a:lnSpc>
              <a:spcBef>
                <a:spcPts val="0"/>
              </a:spcBef>
              <a:spcAft>
                <a:spcPts val="0"/>
              </a:spcAft>
              <a:buClr>
                <a:srgbClr val="000000"/>
              </a:buClr>
              <a:buSzPts val="900"/>
              <a:buFont typeface="Arial"/>
              <a:buNone/>
            </a:pPr>
            <a:r>
              <a:rPr b="1" i="0" lang="en" sz="900" u="none" cap="none" strike="noStrike">
                <a:solidFill>
                  <a:srgbClr val="FFFFFF"/>
                </a:solidFill>
                <a:latin typeface="Arial"/>
                <a:ea typeface="Arial"/>
                <a:cs typeface="Arial"/>
                <a:sym typeface="Arial"/>
              </a:rPr>
              <a:t>Yes</a:t>
            </a:r>
            <a:endParaRPr b="0" i="0" sz="900" u="none" cap="none" strike="noStrike">
              <a:solidFill>
                <a:schemeClr val="dk1"/>
              </a:solidFill>
              <a:latin typeface="Arial"/>
              <a:ea typeface="Arial"/>
              <a:cs typeface="Arial"/>
              <a:sym typeface="Arial"/>
            </a:endParaRPr>
          </a:p>
        </p:txBody>
      </p:sp>
      <p:sp>
        <p:nvSpPr>
          <p:cNvPr id="255" name="Google Shape;255;p43"/>
          <p:cNvSpPr txBox="1"/>
          <p:nvPr/>
        </p:nvSpPr>
        <p:spPr>
          <a:xfrm>
            <a:off x="7213159" y="3619954"/>
            <a:ext cx="172200" cy="148200"/>
          </a:xfrm>
          <a:prstGeom prst="rect">
            <a:avLst/>
          </a:prstGeom>
          <a:noFill/>
          <a:ln>
            <a:noFill/>
          </a:ln>
        </p:spPr>
        <p:txBody>
          <a:bodyPr anchorCtr="0" anchor="t" bIns="0" lIns="0" spcFirstLastPara="1" rIns="0" wrap="square" tIns="9550">
            <a:spAutoFit/>
          </a:bodyPr>
          <a:lstStyle/>
          <a:p>
            <a:pPr indent="0" lvl="0" marL="12700" marR="0" rtl="0" algn="l">
              <a:lnSpc>
                <a:spcPct val="100000"/>
              </a:lnSpc>
              <a:spcBef>
                <a:spcPts val="0"/>
              </a:spcBef>
              <a:spcAft>
                <a:spcPts val="0"/>
              </a:spcAft>
              <a:buClr>
                <a:srgbClr val="000000"/>
              </a:buClr>
              <a:buSzPts val="900"/>
              <a:buFont typeface="Arial"/>
              <a:buNone/>
            </a:pPr>
            <a:r>
              <a:rPr b="1" i="0" lang="en" sz="900" u="none" cap="none" strike="noStrike">
                <a:solidFill>
                  <a:srgbClr val="FFFFFF"/>
                </a:solidFill>
                <a:latin typeface="Arial"/>
                <a:ea typeface="Arial"/>
                <a:cs typeface="Arial"/>
                <a:sym typeface="Arial"/>
              </a:rPr>
              <a:t>No</a:t>
            </a:r>
            <a:endParaRPr b="0" i="0" sz="900" u="none" cap="none" strike="noStrike">
              <a:solidFill>
                <a:schemeClr val="dk1"/>
              </a:solidFill>
              <a:latin typeface="Arial"/>
              <a:ea typeface="Arial"/>
              <a:cs typeface="Arial"/>
              <a:sym typeface="Arial"/>
            </a:endParaRPr>
          </a:p>
        </p:txBody>
      </p:sp>
      <p:sp>
        <p:nvSpPr>
          <p:cNvPr id="256" name="Google Shape;256;p43"/>
          <p:cNvSpPr txBox="1"/>
          <p:nvPr/>
        </p:nvSpPr>
        <p:spPr>
          <a:xfrm>
            <a:off x="5836460" y="3949787"/>
            <a:ext cx="222900" cy="148200"/>
          </a:xfrm>
          <a:prstGeom prst="rect">
            <a:avLst/>
          </a:prstGeom>
          <a:noFill/>
          <a:ln>
            <a:noFill/>
          </a:ln>
        </p:spPr>
        <p:txBody>
          <a:bodyPr anchorCtr="0" anchor="t" bIns="0" lIns="0" spcFirstLastPara="1" rIns="0" wrap="square" tIns="9550">
            <a:spAutoFit/>
          </a:bodyPr>
          <a:lstStyle/>
          <a:p>
            <a:pPr indent="0" lvl="0" marL="12700" marR="0" rtl="0" algn="l">
              <a:lnSpc>
                <a:spcPct val="100000"/>
              </a:lnSpc>
              <a:spcBef>
                <a:spcPts val="0"/>
              </a:spcBef>
              <a:spcAft>
                <a:spcPts val="0"/>
              </a:spcAft>
              <a:buClr>
                <a:srgbClr val="000000"/>
              </a:buClr>
              <a:buSzPts val="900"/>
              <a:buFont typeface="Arial"/>
              <a:buNone/>
            </a:pPr>
            <a:r>
              <a:rPr b="1" i="0" lang="en" sz="900" u="none" cap="none" strike="noStrike">
                <a:solidFill>
                  <a:srgbClr val="FFFFFF"/>
                </a:solidFill>
                <a:latin typeface="Arial"/>
                <a:ea typeface="Arial"/>
                <a:cs typeface="Arial"/>
                <a:sym typeface="Arial"/>
              </a:rPr>
              <a:t>Yes</a:t>
            </a:r>
            <a:endParaRPr b="0" i="0" sz="900" u="none" cap="none" strike="noStrike">
              <a:solidFill>
                <a:schemeClr val="dk1"/>
              </a:solidFill>
              <a:latin typeface="Arial"/>
              <a:ea typeface="Arial"/>
              <a:cs typeface="Arial"/>
              <a:sym typeface="Arial"/>
            </a:endParaRPr>
          </a:p>
        </p:txBody>
      </p:sp>
      <p:sp>
        <p:nvSpPr>
          <p:cNvPr id="257" name="Google Shape;257;p43"/>
          <p:cNvSpPr txBox="1"/>
          <p:nvPr/>
        </p:nvSpPr>
        <p:spPr>
          <a:xfrm>
            <a:off x="7213159" y="3949787"/>
            <a:ext cx="172200" cy="148200"/>
          </a:xfrm>
          <a:prstGeom prst="rect">
            <a:avLst/>
          </a:prstGeom>
          <a:noFill/>
          <a:ln>
            <a:noFill/>
          </a:ln>
        </p:spPr>
        <p:txBody>
          <a:bodyPr anchorCtr="0" anchor="t" bIns="0" lIns="0" spcFirstLastPara="1" rIns="0" wrap="square" tIns="9550">
            <a:spAutoFit/>
          </a:bodyPr>
          <a:lstStyle/>
          <a:p>
            <a:pPr indent="0" lvl="0" marL="12700" marR="0" rtl="0" algn="l">
              <a:lnSpc>
                <a:spcPct val="100000"/>
              </a:lnSpc>
              <a:spcBef>
                <a:spcPts val="0"/>
              </a:spcBef>
              <a:spcAft>
                <a:spcPts val="0"/>
              </a:spcAft>
              <a:buClr>
                <a:srgbClr val="000000"/>
              </a:buClr>
              <a:buSzPts val="900"/>
              <a:buFont typeface="Arial"/>
              <a:buNone/>
            </a:pPr>
            <a:r>
              <a:rPr b="1" i="0" lang="en" sz="900" u="none" cap="none" strike="noStrike">
                <a:solidFill>
                  <a:srgbClr val="FFFFFF"/>
                </a:solidFill>
                <a:latin typeface="Arial"/>
                <a:ea typeface="Arial"/>
                <a:cs typeface="Arial"/>
                <a:sym typeface="Arial"/>
              </a:rPr>
              <a:t>No</a:t>
            </a:r>
            <a:endParaRPr b="0" i="0" sz="900" u="none" cap="none" strike="noStrike">
              <a:solidFill>
                <a:schemeClr val="dk1"/>
              </a:solidFill>
              <a:latin typeface="Arial"/>
              <a:ea typeface="Arial"/>
              <a:cs typeface="Arial"/>
              <a:sym typeface="Arial"/>
            </a:endParaRPr>
          </a:p>
        </p:txBody>
      </p:sp>
      <p:sp>
        <p:nvSpPr>
          <p:cNvPr id="258" name="Google Shape;258;p43"/>
          <p:cNvSpPr txBox="1"/>
          <p:nvPr/>
        </p:nvSpPr>
        <p:spPr>
          <a:xfrm>
            <a:off x="481519" y="1269459"/>
            <a:ext cx="8419200" cy="3301500"/>
          </a:xfrm>
          <a:prstGeom prst="rect">
            <a:avLst/>
          </a:prstGeom>
          <a:noFill/>
          <a:ln>
            <a:noFill/>
          </a:ln>
        </p:spPr>
        <p:txBody>
          <a:bodyPr anchorCtr="0" anchor="t" bIns="34275" lIns="68575" spcFirstLastPara="1" rIns="68575" wrap="square" tIns="34275">
            <a:spAutoFit/>
          </a:bodyPr>
          <a:lstStyle/>
          <a:p>
            <a:pPr indent="-254000" lvl="0" marL="254000" marR="0" rtl="0" algn="l">
              <a:lnSpc>
                <a:spcPct val="100000"/>
              </a:lnSpc>
              <a:spcBef>
                <a:spcPts val="0"/>
              </a:spcBef>
              <a:spcAft>
                <a:spcPts val="0"/>
              </a:spcAft>
              <a:buClr>
                <a:schemeClr val="dk1"/>
              </a:buClr>
              <a:buSzPts val="1400"/>
              <a:buFont typeface="Times New Roman"/>
              <a:buAutoNum type="arabicPeriod"/>
            </a:pPr>
            <a:r>
              <a:rPr i="0" lang="en" sz="1400" u="none" cap="none" strike="noStrike">
                <a:solidFill>
                  <a:schemeClr val="dk1"/>
                </a:solidFill>
                <a:latin typeface="Times New Roman"/>
                <a:ea typeface="Times New Roman"/>
                <a:cs typeface="Times New Roman"/>
                <a:sym typeface="Times New Roman"/>
              </a:rPr>
              <a:t>Opposites attract, on average </a:t>
            </a:r>
            <a:endParaRPr i="0" sz="1100" u="none" cap="none" strike="noStrike">
              <a:solidFill>
                <a:srgbClr val="000000"/>
              </a:solidFill>
              <a:latin typeface="Times New Roman"/>
              <a:ea typeface="Times New Roman"/>
              <a:cs typeface="Times New Roman"/>
              <a:sym typeface="Times New Roman"/>
            </a:endParaRPr>
          </a:p>
          <a:p>
            <a:pPr indent="-254000" lvl="0" marL="254000" marR="0" rtl="0" algn="l">
              <a:lnSpc>
                <a:spcPct val="100000"/>
              </a:lnSpc>
              <a:spcBef>
                <a:spcPts val="0"/>
              </a:spcBef>
              <a:spcAft>
                <a:spcPts val="0"/>
              </a:spcAft>
              <a:buClr>
                <a:schemeClr val="dk1"/>
              </a:buClr>
              <a:buSzPts val="1400"/>
              <a:buFont typeface="Times New Roman"/>
              <a:buAutoNum type="arabicPeriod"/>
            </a:pPr>
            <a:r>
              <a:rPr i="0" lang="en" sz="1400" u="none" cap="none" strike="noStrike">
                <a:solidFill>
                  <a:schemeClr val="dk1"/>
                </a:solidFill>
                <a:latin typeface="Times New Roman"/>
                <a:ea typeface="Times New Roman"/>
                <a:cs typeface="Times New Roman"/>
                <a:sym typeface="Times New Roman"/>
              </a:rPr>
              <a:t>Familiarity breeds contempt, on average</a:t>
            </a:r>
            <a:endParaRPr i="0" sz="1100" u="none" cap="none" strike="noStrike">
              <a:solidFill>
                <a:srgbClr val="000000"/>
              </a:solidFill>
              <a:latin typeface="Times New Roman"/>
              <a:ea typeface="Times New Roman"/>
              <a:cs typeface="Times New Roman"/>
              <a:sym typeface="Times New Roman"/>
            </a:endParaRPr>
          </a:p>
          <a:p>
            <a:pPr indent="-254000" lvl="0" marL="254000" marR="0" rtl="0" algn="l">
              <a:lnSpc>
                <a:spcPct val="100000"/>
              </a:lnSpc>
              <a:spcBef>
                <a:spcPts val="0"/>
              </a:spcBef>
              <a:spcAft>
                <a:spcPts val="0"/>
              </a:spcAft>
              <a:buClr>
                <a:schemeClr val="dk1"/>
              </a:buClr>
              <a:buSzPts val="1400"/>
              <a:buFont typeface="Times New Roman"/>
              <a:buAutoNum type="arabicPeriod"/>
            </a:pPr>
            <a:r>
              <a:rPr i="0" lang="en" sz="1400" u="none" cap="none" strike="noStrike">
                <a:solidFill>
                  <a:schemeClr val="dk1"/>
                </a:solidFill>
                <a:latin typeface="Times New Roman"/>
                <a:ea typeface="Times New Roman"/>
                <a:cs typeface="Times New Roman"/>
                <a:sym typeface="Times New Roman"/>
              </a:rPr>
              <a:t>The more people present at an emergency, the more likely that someone will intervene</a:t>
            </a:r>
            <a:endParaRPr i="0" sz="1100" u="none" cap="none" strike="noStrike">
              <a:solidFill>
                <a:srgbClr val="000000"/>
              </a:solidFill>
              <a:latin typeface="Times New Roman"/>
              <a:ea typeface="Times New Roman"/>
              <a:cs typeface="Times New Roman"/>
              <a:sym typeface="Times New Roman"/>
            </a:endParaRPr>
          </a:p>
          <a:p>
            <a:pPr indent="-254000" lvl="0" marL="254000" marR="0" rtl="0" algn="l">
              <a:lnSpc>
                <a:spcPct val="100000"/>
              </a:lnSpc>
              <a:spcBef>
                <a:spcPts val="0"/>
              </a:spcBef>
              <a:spcAft>
                <a:spcPts val="0"/>
              </a:spcAft>
              <a:buClr>
                <a:schemeClr val="dk1"/>
              </a:buClr>
              <a:buSzPts val="1400"/>
              <a:buFont typeface="Times New Roman"/>
              <a:buAutoNum type="arabicPeriod"/>
            </a:pPr>
            <a:r>
              <a:rPr i="0" lang="en" sz="1400" u="none" cap="none" strike="noStrike">
                <a:solidFill>
                  <a:schemeClr val="dk1"/>
                </a:solidFill>
                <a:latin typeface="Times New Roman"/>
                <a:ea typeface="Times New Roman"/>
                <a:cs typeface="Times New Roman"/>
                <a:sym typeface="Times New Roman"/>
              </a:rPr>
              <a:t>There are visual learners and there are verbal learners</a:t>
            </a:r>
            <a:endParaRPr i="0" sz="1100" u="none" cap="none" strike="noStrike">
              <a:solidFill>
                <a:srgbClr val="000000"/>
              </a:solidFill>
              <a:latin typeface="Times New Roman"/>
              <a:ea typeface="Times New Roman"/>
              <a:cs typeface="Times New Roman"/>
              <a:sym typeface="Times New Roman"/>
            </a:endParaRPr>
          </a:p>
          <a:p>
            <a:pPr indent="-254000" lvl="0" marL="254000" marR="0" rtl="0" algn="l">
              <a:lnSpc>
                <a:spcPct val="100000"/>
              </a:lnSpc>
              <a:spcBef>
                <a:spcPts val="0"/>
              </a:spcBef>
              <a:spcAft>
                <a:spcPts val="0"/>
              </a:spcAft>
              <a:buClr>
                <a:schemeClr val="dk1"/>
              </a:buClr>
              <a:buSzPts val="1400"/>
              <a:buFont typeface="Times New Roman"/>
              <a:buAutoNum type="arabicPeriod"/>
            </a:pPr>
            <a:r>
              <a:rPr i="0" lang="en" sz="1400" u="none" cap="none" strike="noStrike">
                <a:solidFill>
                  <a:schemeClr val="dk1"/>
                </a:solidFill>
                <a:latin typeface="Times New Roman"/>
                <a:ea typeface="Times New Roman"/>
                <a:cs typeface="Times New Roman"/>
                <a:sym typeface="Times New Roman"/>
              </a:rPr>
              <a:t>Hypnosis is nonsense</a:t>
            </a:r>
            <a:endParaRPr i="0" sz="1100" u="none" cap="none" strike="noStrike">
              <a:solidFill>
                <a:srgbClr val="000000"/>
              </a:solidFill>
              <a:latin typeface="Times New Roman"/>
              <a:ea typeface="Times New Roman"/>
              <a:cs typeface="Times New Roman"/>
              <a:sym typeface="Times New Roman"/>
            </a:endParaRPr>
          </a:p>
          <a:p>
            <a:pPr indent="-254000" lvl="0" marL="254000" marR="0" rtl="0" algn="l">
              <a:lnSpc>
                <a:spcPct val="100000"/>
              </a:lnSpc>
              <a:spcBef>
                <a:spcPts val="0"/>
              </a:spcBef>
              <a:spcAft>
                <a:spcPts val="0"/>
              </a:spcAft>
              <a:buClr>
                <a:schemeClr val="dk1"/>
              </a:buClr>
              <a:buSzPts val="1400"/>
              <a:buFont typeface="Times New Roman"/>
              <a:buAutoNum type="arabicPeriod"/>
            </a:pPr>
            <a:r>
              <a:rPr i="0" lang="en" sz="1400" u="none" cap="none" strike="noStrike">
                <a:solidFill>
                  <a:schemeClr val="dk1"/>
                </a:solidFill>
                <a:latin typeface="Times New Roman"/>
                <a:ea typeface="Times New Roman"/>
                <a:cs typeface="Times New Roman"/>
                <a:sym typeface="Times New Roman"/>
              </a:rPr>
              <a:t>Subliminal advertising works</a:t>
            </a:r>
            <a:endParaRPr i="0" sz="1100" u="none" cap="none" strike="noStrike">
              <a:solidFill>
                <a:srgbClr val="000000"/>
              </a:solidFill>
              <a:latin typeface="Times New Roman"/>
              <a:ea typeface="Times New Roman"/>
              <a:cs typeface="Times New Roman"/>
              <a:sym typeface="Times New Roman"/>
            </a:endParaRPr>
          </a:p>
          <a:p>
            <a:pPr indent="-254000" lvl="0" marL="254000" marR="0" rtl="0" algn="l">
              <a:lnSpc>
                <a:spcPct val="100000"/>
              </a:lnSpc>
              <a:spcBef>
                <a:spcPts val="0"/>
              </a:spcBef>
              <a:spcAft>
                <a:spcPts val="0"/>
              </a:spcAft>
              <a:buClr>
                <a:schemeClr val="dk1"/>
              </a:buClr>
              <a:buSzPts val="1400"/>
              <a:buFont typeface="Times New Roman"/>
              <a:buAutoNum type="arabicPeriod"/>
            </a:pPr>
            <a:r>
              <a:rPr i="0" lang="en" sz="1400" u="none" cap="none" strike="noStrike">
                <a:solidFill>
                  <a:schemeClr val="dk1"/>
                </a:solidFill>
                <a:latin typeface="Times New Roman"/>
                <a:ea typeface="Times New Roman"/>
                <a:cs typeface="Times New Roman"/>
                <a:sym typeface="Times New Roman"/>
              </a:rPr>
              <a:t>Playing Mozart’s music to infants boosts their intelligence </a:t>
            </a:r>
            <a:endParaRPr i="0" sz="1100" u="none" cap="none" strike="noStrike">
              <a:solidFill>
                <a:srgbClr val="000000"/>
              </a:solidFill>
              <a:latin typeface="Times New Roman"/>
              <a:ea typeface="Times New Roman"/>
              <a:cs typeface="Times New Roman"/>
              <a:sym typeface="Times New Roman"/>
            </a:endParaRPr>
          </a:p>
          <a:p>
            <a:pPr indent="-254000" lvl="0" marL="254000" marR="0" rtl="0" algn="l">
              <a:lnSpc>
                <a:spcPct val="100000"/>
              </a:lnSpc>
              <a:spcBef>
                <a:spcPts val="0"/>
              </a:spcBef>
              <a:spcAft>
                <a:spcPts val="0"/>
              </a:spcAft>
              <a:buClr>
                <a:schemeClr val="dk1"/>
              </a:buClr>
              <a:buSzPts val="1400"/>
              <a:buFont typeface="Times New Roman"/>
              <a:buAutoNum type="arabicPeriod"/>
            </a:pPr>
            <a:r>
              <a:rPr i="0" lang="en" sz="1400" u="none" cap="none" strike="noStrike">
                <a:solidFill>
                  <a:schemeClr val="dk1"/>
                </a:solidFill>
                <a:latin typeface="Times New Roman"/>
                <a:ea typeface="Times New Roman"/>
                <a:cs typeface="Times New Roman"/>
                <a:sym typeface="Times New Roman"/>
              </a:rPr>
              <a:t>Old age, on average, is associated with dissatisfaction</a:t>
            </a:r>
            <a:endParaRPr i="0" sz="1100" u="none" cap="none" strike="noStrike">
              <a:solidFill>
                <a:srgbClr val="000000"/>
              </a:solidFill>
              <a:latin typeface="Times New Roman"/>
              <a:ea typeface="Times New Roman"/>
              <a:cs typeface="Times New Roman"/>
              <a:sym typeface="Times New Roman"/>
            </a:endParaRPr>
          </a:p>
          <a:p>
            <a:pPr indent="-254000" lvl="0" marL="254000" marR="0" rtl="0" algn="l">
              <a:lnSpc>
                <a:spcPct val="100000"/>
              </a:lnSpc>
              <a:spcBef>
                <a:spcPts val="0"/>
              </a:spcBef>
              <a:spcAft>
                <a:spcPts val="0"/>
              </a:spcAft>
              <a:buClr>
                <a:schemeClr val="dk1"/>
              </a:buClr>
              <a:buSzPts val="1400"/>
              <a:buFont typeface="Times New Roman"/>
              <a:buAutoNum type="arabicPeriod"/>
            </a:pPr>
            <a:r>
              <a:rPr i="0" lang="en" sz="1400" u="none" cap="none" strike="noStrike">
                <a:solidFill>
                  <a:schemeClr val="dk1"/>
                </a:solidFill>
                <a:latin typeface="Times New Roman"/>
                <a:ea typeface="Times New Roman"/>
                <a:cs typeface="Times New Roman"/>
                <a:sym typeface="Times New Roman"/>
              </a:rPr>
              <a:t>If you are unsure of your answer when taking a test, it’s best to stick with your initial hunch </a:t>
            </a:r>
            <a:endParaRPr i="0" sz="1100" u="none" cap="none" strike="noStrike">
              <a:solidFill>
                <a:srgbClr val="000000"/>
              </a:solidFill>
              <a:latin typeface="Times New Roman"/>
              <a:ea typeface="Times New Roman"/>
              <a:cs typeface="Times New Roman"/>
              <a:sym typeface="Times New Roman"/>
            </a:endParaRPr>
          </a:p>
          <a:p>
            <a:pPr indent="-254000" lvl="0" marL="254000" marR="0" rtl="0" algn="l">
              <a:lnSpc>
                <a:spcPct val="100000"/>
              </a:lnSpc>
              <a:spcBef>
                <a:spcPts val="0"/>
              </a:spcBef>
              <a:spcAft>
                <a:spcPts val="0"/>
              </a:spcAft>
              <a:buClr>
                <a:schemeClr val="dk1"/>
              </a:buClr>
              <a:buSzPts val="1400"/>
              <a:buFont typeface="Times New Roman"/>
              <a:buAutoNum type="arabicPeriod"/>
            </a:pPr>
            <a:r>
              <a:rPr i="0" lang="en" sz="1400" u="none" cap="none" strike="noStrike">
                <a:solidFill>
                  <a:schemeClr val="dk1"/>
                </a:solidFill>
                <a:latin typeface="Times New Roman"/>
                <a:ea typeface="Times New Roman"/>
                <a:cs typeface="Times New Roman"/>
                <a:sym typeface="Times New Roman"/>
              </a:rPr>
              <a:t>Ulcers are caused primarily by stress</a:t>
            </a:r>
            <a:endParaRPr i="0" sz="1100" u="none" cap="none" strike="noStrike">
              <a:solidFill>
                <a:srgbClr val="000000"/>
              </a:solidFill>
              <a:latin typeface="Times New Roman"/>
              <a:ea typeface="Times New Roman"/>
              <a:cs typeface="Times New Roman"/>
              <a:sym typeface="Times New Roman"/>
            </a:endParaRPr>
          </a:p>
          <a:p>
            <a:pPr indent="-254000" lvl="0" marL="254000" marR="0" rtl="0" algn="l">
              <a:lnSpc>
                <a:spcPct val="100000"/>
              </a:lnSpc>
              <a:spcBef>
                <a:spcPts val="0"/>
              </a:spcBef>
              <a:spcAft>
                <a:spcPts val="0"/>
              </a:spcAft>
              <a:buClr>
                <a:schemeClr val="dk1"/>
              </a:buClr>
              <a:buSzPts val="1400"/>
              <a:buFont typeface="Times New Roman"/>
              <a:buAutoNum type="arabicPeriod"/>
            </a:pPr>
            <a:r>
              <a:rPr i="0" lang="en" sz="1400" u="none" cap="none" strike="noStrike">
                <a:solidFill>
                  <a:schemeClr val="dk1"/>
                </a:solidFill>
                <a:latin typeface="Times New Roman"/>
                <a:ea typeface="Times New Roman"/>
                <a:cs typeface="Times New Roman"/>
                <a:sym typeface="Times New Roman"/>
              </a:rPr>
              <a:t>A positive attitude can stave off cancer</a:t>
            </a:r>
            <a:endParaRPr i="0" sz="1100" u="none" cap="none" strike="noStrike">
              <a:solidFill>
                <a:srgbClr val="000000"/>
              </a:solidFill>
              <a:latin typeface="Times New Roman"/>
              <a:ea typeface="Times New Roman"/>
              <a:cs typeface="Times New Roman"/>
              <a:sym typeface="Times New Roman"/>
            </a:endParaRPr>
          </a:p>
          <a:p>
            <a:pPr indent="-254000" lvl="0" marL="254000" marR="0" rtl="0" algn="l">
              <a:lnSpc>
                <a:spcPct val="100000"/>
              </a:lnSpc>
              <a:spcBef>
                <a:spcPts val="0"/>
              </a:spcBef>
              <a:spcAft>
                <a:spcPts val="0"/>
              </a:spcAft>
              <a:buClr>
                <a:schemeClr val="dk1"/>
              </a:buClr>
              <a:buSzPts val="1400"/>
              <a:buFont typeface="Times New Roman"/>
              <a:buAutoNum type="arabicPeriod"/>
            </a:pPr>
            <a:r>
              <a:rPr i="0" lang="en" sz="1400" u="none" cap="none" strike="noStrike">
                <a:solidFill>
                  <a:schemeClr val="dk1"/>
                </a:solidFill>
                <a:latin typeface="Times New Roman"/>
                <a:ea typeface="Times New Roman"/>
                <a:cs typeface="Times New Roman"/>
                <a:sym typeface="Times New Roman"/>
              </a:rPr>
              <a:t>Raising children similarly leads to similarities in their adult personalities</a:t>
            </a:r>
            <a:endParaRPr i="0" sz="1100" u="none" cap="none" strike="noStrike">
              <a:solidFill>
                <a:srgbClr val="000000"/>
              </a:solidFill>
              <a:latin typeface="Times New Roman"/>
              <a:ea typeface="Times New Roman"/>
              <a:cs typeface="Times New Roman"/>
              <a:sym typeface="Times New Roman"/>
            </a:endParaRPr>
          </a:p>
          <a:p>
            <a:pPr indent="-254000" lvl="0" marL="254000" marR="0" rtl="0" algn="l">
              <a:lnSpc>
                <a:spcPct val="100000"/>
              </a:lnSpc>
              <a:spcBef>
                <a:spcPts val="0"/>
              </a:spcBef>
              <a:spcAft>
                <a:spcPts val="0"/>
              </a:spcAft>
              <a:buClr>
                <a:schemeClr val="dk1"/>
              </a:buClr>
              <a:buSzPts val="1400"/>
              <a:buFont typeface="Times New Roman"/>
              <a:buAutoNum type="arabicPeriod"/>
            </a:pPr>
            <a:r>
              <a:rPr i="0" lang="en" sz="1400" u="none" cap="none" strike="noStrike">
                <a:solidFill>
                  <a:schemeClr val="dk1"/>
                </a:solidFill>
                <a:latin typeface="Times New Roman"/>
                <a:ea typeface="Times New Roman"/>
                <a:cs typeface="Times New Roman"/>
                <a:sym typeface="Times New Roman"/>
              </a:rPr>
              <a:t>Low self esteem is a major cause of psychological problems </a:t>
            </a:r>
            <a:endParaRPr i="0" sz="1100" u="none" cap="none" strike="noStrike">
              <a:solidFill>
                <a:srgbClr val="000000"/>
              </a:solidFill>
              <a:latin typeface="Times New Roman"/>
              <a:ea typeface="Times New Roman"/>
              <a:cs typeface="Times New Roman"/>
              <a:sym typeface="Times New Roman"/>
            </a:endParaRPr>
          </a:p>
          <a:p>
            <a:pPr indent="-254000" lvl="0" marL="254000" marR="0" rtl="0" algn="l">
              <a:lnSpc>
                <a:spcPct val="100000"/>
              </a:lnSpc>
              <a:spcBef>
                <a:spcPts val="0"/>
              </a:spcBef>
              <a:spcAft>
                <a:spcPts val="0"/>
              </a:spcAft>
              <a:buClr>
                <a:schemeClr val="dk1"/>
              </a:buClr>
              <a:buSzPts val="1400"/>
              <a:buFont typeface="Times New Roman"/>
              <a:buAutoNum type="arabicPeriod"/>
            </a:pPr>
            <a:r>
              <a:rPr i="0" lang="en" sz="1400" u="none" cap="none" strike="noStrike">
                <a:solidFill>
                  <a:schemeClr val="dk1"/>
                </a:solidFill>
                <a:latin typeface="Times New Roman"/>
                <a:ea typeface="Times New Roman"/>
                <a:cs typeface="Times New Roman"/>
                <a:sym typeface="Times New Roman"/>
              </a:rPr>
              <a:t>People’s responses to Inkblot tests tells us a great deal about their personalities </a:t>
            </a:r>
            <a:endParaRPr i="0" sz="1100" u="none" cap="none" strike="noStrike">
              <a:solidFill>
                <a:srgbClr val="000000"/>
              </a:solidFill>
              <a:latin typeface="Times New Roman"/>
              <a:ea typeface="Times New Roman"/>
              <a:cs typeface="Times New Roman"/>
              <a:sym typeface="Times New Roman"/>
            </a:endParaRPr>
          </a:p>
          <a:p>
            <a:pPr indent="-254000" lvl="0" marL="254000" marR="0" rtl="0" algn="l">
              <a:lnSpc>
                <a:spcPct val="100000"/>
              </a:lnSpc>
              <a:spcBef>
                <a:spcPts val="0"/>
              </a:spcBef>
              <a:spcAft>
                <a:spcPts val="0"/>
              </a:spcAft>
              <a:buClr>
                <a:schemeClr val="dk1"/>
              </a:buClr>
              <a:buSzPts val="1400"/>
              <a:buFont typeface="Times New Roman"/>
              <a:buAutoNum type="arabicPeriod"/>
            </a:pPr>
            <a:r>
              <a:rPr i="0" lang="en" sz="1400" u="none" cap="none" strike="noStrike">
                <a:solidFill>
                  <a:schemeClr val="dk1"/>
                </a:solidFill>
                <a:latin typeface="Times New Roman"/>
                <a:ea typeface="Times New Roman"/>
                <a:cs typeface="Times New Roman"/>
                <a:sym typeface="Times New Roman"/>
              </a:rPr>
              <a:t>Interviews help identify those most likely to </a:t>
            </a:r>
            <a:r>
              <a:rPr lang="en">
                <a:solidFill>
                  <a:schemeClr val="dk1"/>
                </a:solidFill>
                <a:latin typeface="Times New Roman"/>
                <a:ea typeface="Times New Roman"/>
                <a:cs typeface="Times New Roman"/>
                <a:sym typeface="Times New Roman"/>
              </a:rPr>
              <a:t>succeed</a:t>
            </a:r>
            <a:r>
              <a:rPr i="0" lang="en" sz="1400" u="none" cap="none" strike="noStrike">
                <a:solidFill>
                  <a:schemeClr val="dk1"/>
                </a:solidFill>
                <a:latin typeface="Times New Roman"/>
                <a:ea typeface="Times New Roman"/>
                <a:cs typeface="Times New Roman"/>
                <a:sym typeface="Times New Roman"/>
              </a:rPr>
              <a:t> in medical school. </a:t>
            </a:r>
            <a:endParaRPr i="0" sz="11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44"/>
          <p:cNvSpPr txBox="1"/>
          <p:nvPr>
            <p:ph type="title"/>
          </p:nvPr>
        </p:nvSpPr>
        <p:spPr>
          <a:xfrm>
            <a:off x="1780360" y="298667"/>
            <a:ext cx="5583300" cy="425100"/>
          </a:xfrm>
          <a:prstGeom prst="rect">
            <a:avLst/>
          </a:prstGeom>
          <a:noFill/>
          <a:ln>
            <a:noFill/>
          </a:ln>
        </p:spPr>
        <p:txBody>
          <a:bodyPr anchorCtr="0" anchor="ctr" bIns="0" lIns="0" spcFirstLastPara="1" rIns="0" wrap="square" tIns="9550">
            <a:spAutoFit/>
          </a:bodyPr>
          <a:lstStyle/>
          <a:p>
            <a:pPr indent="0" lvl="0" marL="12700" rtl="0" algn="l">
              <a:lnSpc>
                <a:spcPct val="100000"/>
              </a:lnSpc>
              <a:spcBef>
                <a:spcPts val="0"/>
              </a:spcBef>
              <a:spcAft>
                <a:spcPts val="0"/>
              </a:spcAft>
              <a:buClr>
                <a:schemeClr val="dk1"/>
              </a:buClr>
              <a:buSzPts val="2700"/>
              <a:buFont typeface="Constantia"/>
              <a:buNone/>
            </a:pPr>
            <a:r>
              <a:rPr lang="en" sz="2700"/>
              <a:t>Ideas About People &amp; Psychology</a:t>
            </a:r>
            <a:endParaRPr sz="2700"/>
          </a:p>
        </p:txBody>
      </p:sp>
      <p:sp>
        <p:nvSpPr>
          <p:cNvPr id="265" name="Google Shape;265;p44"/>
          <p:cNvSpPr txBox="1"/>
          <p:nvPr/>
        </p:nvSpPr>
        <p:spPr>
          <a:xfrm>
            <a:off x="5836460" y="3290120"/>
            <a:ext cx="222900" cy="148200"/>
          </a:xfrm>
          <a:prstGeom prst="rect">
            <a:avLst/>
          </a:prstGeom>
          <a:noFill/>
          <a:ln>
            <a:noFill/>
          </a:ln>
        </p:spPr>
        <p:txBody>
          <a:bodyPr anchorCtr="0" anchor="t" bIns="0" lIns="0" spcFirstLastPara="1" rIns="0" wrap="square" tIns="9550">
            <a:spAutoFit/>
          </a:bodyPr>
          <a:lstStyle/>
          <a:p>
            <a:pPr indent="0" lvl="0" marL="12700" marR="0" rtl="0" algn="l">
              <a:lnSpc>
                <a:spcPct val="100000"/>
              </a:lnSpc>
              <a:spcBef>
                <a:spcPts val="0"/>
              </a:spcBef>
              <a:spcAft>
                <a:spcPts val="0"/>
              </a:spcAft>
              <a:buClr>
                <a:srgbClr val="000000"/>
              </a:buClr>
              <a:buSzPts val="900"/>
              <a:buFont typeface="Arial"/>
              <a:buNone/>
            </a:pPr>
            <a:r>
              <a:rPr b="1" i="0" lang="en" sz="900" u="none" cap="none" strike="noStrike">
                <a:solidFill>
                  <a:srgbClr val="FFFFFF"/>
                </a:solidFill>
                <a:latin typeface="Arial"/>
                <a:ea typeface="Arial"/>
                <a:cs typeface="Arial"/>
                <a:sym typeface="Arial"/>
              </a:rPr>
              <a:t>Yes</a:t>
            </a:r>
            <a:endParaRPr b="0" i="0" sz="900" u="none" cap="none" strike="noStrike">
              <a:solidFill>
                <a:schemeClr val="dk1"/>
              </a:solidFill>
              <a:latin typeface="Arial"/>
              <a:ea typeface="Arial"/>
              <a:cs typeface="Arial"/>
              <a:sym typeface="Arial"/>
            </a:endParaRPr>
          </a:p>
        </p:txBody>
      </p:sp>
      <p:sp>
        <p:nvSpPr>
          <p:cNvPr id="266" name="Google Shape;266;p44"/>
          <p:cNvSpPr txBox="1"/>
          <p:nvPr/>
        </p:nvSpPr>
        <p:spPr>
          <a:xfrm>
            <a:off x="7213159" y="3290120"/>
            <a:ext cx="172200" cy="148200"/>
          </a:xfrm>
          <a:prstGeom prst="rect">
            <a:avLst/>
          </a:prstGeom>
          <a:noFill/>
          <a:ln>
            <a:noFill/>
          </a:ln>
        </p:spPr>
        <p:txBody>
          <a:bodyPr anchorCtr="0" anchor="t" bIns="0" lIns="0" spcFirstLastPara="1" rIns="0" wrap="square" tIns="9550">
            <a:spAutoFit/>
          </a:bodyPr>
          <a:lstStyle/>
          <a:p>
            <a:pPr indent="0" lvl="0" marL="12700" marR="0" rtl="0" algn="l">
              <a:lnSpc>
                <a:spcPct val="100000"/>
              </a:lnSpc>
              <a:spcBef>
                <a:spcPts val="0"/>
              </a:spcBef>
              <a:spcAft>
                <a:spcPts val="0"/>
              </a:spcAft>
              <a:buClr>
                <a:srgbClr val="000000"/>
              </a:buClr>
              <a:buSzPts val="900"/>
              <a:buFont typeface="Arial"/>
              <a:buNone/>
            </a:pPr>
            <a:r>
              <a:rPr b="1" i="0" lang="en" sz="900" u="none" cap="none" strike="noStrike">
                <a:solidFill>
                  <a:srgbClr val="FFFFFF"/>
                </a:solidFill>
                <a:latin typeface="Arial"/>
                <a:ea typeface="Arial"/>
                <a:cs typeface="Arial"/>
                <a:sym typeface="Arial"/>
              </a:rPr>
              <a:t>No</a:t>
            </a:r>
            <a:endParaRPr b="0" i="0" sz="900" u="none" cap="none" strike="noStrike">
              <a:solidFill>
                <a:schemeClr val="dk1"/>
              </a:solidFill>
              <a:latin typeface="Arial"/>
              <a:ea typeface="Arial"/>
              <a:cs typeface="Arial"/>
              <a:sym typeface="Arial"/>
            </a:endParaRPr>
          </a:p>
        </p:txBody>
      </p:sp>
      <p:sp>
        <p:nvSpPr>
          <p:cNvPr id="267" name="Google Shape;267;p44"/>
          <p:cNvSpPr txBox="1"/>
          <p:nvPr/>
        </p:nvSpPr>
        <p:spPr>
          <a:xfrm>
            <a:off x="5836460" y="3619954"/>
            <a:ext cx="222900" cy="148200"/>
          </a:xfrm>
          <a:prstGeom prst="rect">
            <a:avLst/>
          </a:prstGeom>
          <a:noFill/>
          <a:ln>
            <a:noFill/>
          </a:ln>
        </p:spPr>
        <p:txBody>
          <a:bodyPr anchorCtr="0" anchor="t" bIns="0" lIns="0" spcFirstLastPara="1" rIns="0" wrap="square" tIns="9550">
            <a:spAutoFit/>
          </a:bodyPr>
          <a:lstStyle/>
          <a:p>
            <a:pPr indent="0" lvl="0" marL="12700" marR="0" rtl="0" algn="l">
              <a:lnSpc>
                <a:spcPct val="100000"/>
              </a:lnSpc>
              <a:spcBef>
                <a:spcPts val="0"/>
              </a:spcBef>
              <a:spcAft>
                <a:spcPts val="0"/>
              </a:spcAft>
              <a:buClr>
                <a:srgbClr val="000000"/>
              </a:buClr>
              <a:buSzPts val="900"/>
              <a:buFont typeface="Arial"/>
              <a:buNone/>
            </a:pPr>
            <a:r>
              <a:rPr b="1" i="0" lang="en" sz="900" u="none" cap="none" strike="noStrike">
                <a:solidFill>
                  <a:srgbClr val="FFFFFF"/>
                </a:solidFill>
                <a:latin typeface="Arial"/>
                <a:ea typeface="Arial"/>
                <a:cs typeface="Arial"/>
                <a:sym typeface="Arial"/>
              </a:rPr>
              <a:t>Yes</a:t>
            </a:r>
            <a:endParaRPr b="0" i="0" sz="900" u="none" cap="none" strike="noStrike">
              <a:solidFill>
                <a:schemeClr val="dk1"/>
              </a:solidFill>
              <a:latin typeface="Arial"/>
              <a:ea typeface="Arial"/>
              <a:cs typeface="Arial"/>
              <a:sym typeface="Arial"/>
            </a:endParaRPr>
          </a:p>
        </p:txBody>
      </p:sp>
      <p:sp>
        <p:nvSpPr>
          <p:cNvPr id="268" name="Google Shape;268;p44"/>
          <p:cNvSpPr txBox="1"/>
          <p:nvPr/>
        </p:nvSpPr>
        <p:spPr>
          <a:xfrm>
            <a:off x="7213159" y="3619954"/>
            <a:ext cx="172200" cy="148200"/>
          </a:xfrm>
          <a:prstGeom prst="rect">
            <a:avLst/>
          </a:prstGeom>
          <a:noFill/>
          <a:ln>
            <a:noFill/>
          </a:ln>
        </p:spPr>
        <p:txBody>
          <a:bodyPr anchorCtr="0" anchor="t" bIns="0" lIns="0" spcFirstLastPara="1" rIns="0" wrap="square" tIns="9550">
            <a:spAutoFit/>
          </a:bodyPr>
          <a:lstStyle/>
          <a:p>
            <a:pPr indent="0" lvl="0" marL="12700" marR="0" rtl="0" algn="l">
              <a:lnSpc>
                <a:spcPct val="100000"/>
              </a:lnSpc>
              <a:spcBef>
                <a:spcPts val="0"/>
              </a:spcBef>
              <a:spcAft>
                <a:spcPts val="0"/>
              </a:spcAft>
              <a:buClr>
                <a:srgbClr val="000000"/>
              </a:buClr>
              <a:buSzPts val="900"/>
              <a:buFont typeface="Arial"/>
              <a:buNone/>
            </a:pPr>
            <a:r>
              <a:rPr b="1" i="0" lang="en" sz="900" u="none" cap="none" strike="noStrike">
                <a:solidFill>
                  <a:srgbClr val="FFFFFF"/>
                </a:solidFill>
                <a:latin typeface="Arial"/>
                <a:ea typeface="Arial"/>
                <a:cs typeface="Arial"/>
                <a:sym typeface="Arial"/>
              </a:rPr>
              <a:t>No</a:t>
            </a:r>
            <a:endParaRPr b="0" i="0" sz="900" u="none" cap="none" strike="noStrike">
              <a:solidFill>
                <a:schemeClr val="dk1"/>
              </a:solidFill>
              <a:latin typeface="Arial"/>
              <a:ea typeface="Arial"/>
              <a:cs typeface="Arial"/>
              <a:sym typeface="Arial"/>
            </a:endParaRPr>
          </a:p>
        </p:txBody>
      </p:sp>
      <p:sp>
        <p:nvSpPr>
          <p:cNvPr id="269" name="Google Shape;269;p44"/>
          <p:cNvSpPr txBox="1"/>
          <p:nvPr/>
        </p:nvSpPr>
        <p:spPr>
          <a:xfrm>
            <a:off x="5836460" y="3949787"/>
            <a:ext cx="222900" cy="148200"/>
          </a:xfrm>
          <a:prstGeom prst="rect">
            <a:avLst/>
          </a:prstGeom>
          <a:noFill/>
          <a:ln>
            <a:noFill/>
          </a:ln>
        </p:spPr>
        <p:txBody>
          <a:bodyPr anchorCtr="0" anchor="t" bIns="0" lIns="0" spcFirstLastPara="1" rIns="0" wrap="square" tIns="9550">
            <a:spAutoFit/>
          </a:bodyPr>
          <a:lstStyle/>
          <a:p>
            <a:pPr indent="0" lvl="0" marL="12700" marR="0" rtl="0" algn="l">
              <a:lnSpc>
                <a:spcPct val="100000"/>
              </a:lnSpc>
              <a:spcBef>
                <a:spcPts val="0"/>
              </a:spcBef>
              <a:spcAft>
                <a:spcPts val="0"/>
              </a:spcAft>
              <a:buClr>
                <a:srgbClr val="000000"/>
              </a:buClr>
              <a:buSzPts val="900"/>
              <a:buFont typeface="Arial"/>
              <a:buNone/>
            </a:pPr>
            <a:r>
              <a:rPr b="1" i="0" lang="en" sz="900" u="none" cap="none" strike="noStrike">
                <a:solidFill>
                  <a:srgbClr val="FFFFFF"/>
                </a:solidFill>
                <a:latin typeface="Arial"/>
                <a:ea typeface="Arial"/>
                <a:cs typeface="Arial"/>
                <a:sym typeface="Arial"/>
              </a:rPr>
              <a:t>Yes</a:t>
            </a:r>
            <a:endParaRPr b="0" i="0" sz="900" u="none" cap="none" strike="noStrike">
              <a:solidFill>
                <a:schemeClr val="dk1"/>
              </a:solidFill>
              <a:latin typeface="Arial"/>
              <a:ea typeface="Arial"/>
              <a:cs typeface="Arial"/>
              <a:sym typeface="Arial"/>
            </a:endParaRPr>
          </a:p>
        </p:txBody>
      </p:sp>
      <p:sp>
        <p:nvSpPr>
          <p:cNvPr id="270" name="Google Shape;270;p44"/>
          <p:cNvSpPr txBox="1"/>
          <p:nvPr/>
        </p:nvSpPr>
        <p:spPr>
          <a:xfrm>
            <a:off x="7213159" y="3949787"/>
            <a:ext cx="172200" cy="148200"/>
          </a:xfrm>
          <a:prstGeom prst="rect">
            <a:avLst/>
          </a:prstGeom>
          <a:noFill/>
          <a:ln>
            <a:noFill/>
          </a:ln>
        </p:spPr>
        <p:txBody>
          <a:bodyPr anchorCtr="0" anchor="t" bIns="0" lIns="0" spcFirstLastPara="1" rIns="0" wrap="square" tIns="9550">
            <a:spAutoFit/>
          </a:bodyPr>
          <a:lstStyle/>
          <a:p>
            <a:pPr indent="0" lvl="0" marL="12700" marR="0" rtl="0" algn="l">
              <a:lnSpc>
                <a:spcPct val="100000"/>
              </a:lnSpc>
              <a:spcBef>
                <a:spcPts val="0"/>
              </a:spcBef>
              <a:spcAft>
                <a:spcPts val="0"/>
              </a:spcAft>
              <a:buClr>
                <a:srgbClr val="000000"/>
              </a:buClr>
              <a:buSzPts val="900"/>
              <a:buFont typeface="Arial"/>
              <a:buNone/>
            </a:pPr>
            <a:r>
              <a:rPr b="1" i="0" lang="en" sz="900" u="none" cap="none" strike="noStrike">
                <a:solidFill>
                  <a:srgbClr val="FFFFFF"/>
                </a:solidFill>
                <a:latin typeface="Arial"/>
                <a:ea typeface="Arial"/>
                <a:cs typeface="Arial"/>
                <a:sym typeface="Arial"/>
              </a:rPr>
              <a:t>No</a:t>
            </a:r>
            <a:endParaRPr b="0" i="0" sz="900" u="none" cap="none" strike="noStrike">
              <a:solidFill>
                <a:schemeClr val="dk1"/>
              </a:solidFill>
              <a:latin typeface="Arial"/>
              <a:ea typeface="Arial"/>
              <a:cs typeface="Arial"/>
              <a:sym typeface="Arial"/>
            </a:endParaRPr>
          </a:p>
        </p:txBody>
      </p:sp>
      <p:sp>
        <p:nvSpPr>
          <p:cNvPr id="271" name="Google Shape;271;p44"/>
          <p:cNvSpPr txBox="1"/>
          <p:nvPr/>
        </p:nvSpPr>
        <p:spPr>
          <a:xfrm>
            <a:off x="481519" y="1269459"/>
            <a:ext cx="8419200" cy="3301500"/>
          </a:xfrm>
          <a:prstGeom prst="rect">
            <a:avLst/>
          </a:prstGeom>
          <a:noFill/>
          <a:ln>
            <a:noFill/>
          </a:ln>
        </p:spPr>
        <p:txBody>
          <a:bodyPr anchorCtr="0" anchor="t" bIns="34275" lIns="68575" spcFirstLastPara="1" rIns="68575" wrap="square" tIns="34275">
            <a:spAutoFit/>
          </a:bodyPr>
          <a:lstStyle/>
          <a:p>
            <a:pPr indent="-254000" lvl="0" marL="254000" marR="0" rtl="0" algn="l">
              <a:lnSpc>
                <a:spcPct val="100000"/>
              </a:lnSpc>
              <a:spcBef>
                <a:spcPts val="0"/>
              </a:spcBef>
              <a:spcAft>
                <a:spcPts val="0"/>
              </a:spcAft>
              <a:buClr>
                <a:schemeClr val="dk1"/>
              </a:buClr>
              <a:buSzPts val="1400"/>
              <a:buFont typeface="Calibri"/>
              <a:buAutoNum type="arabicPeriod"/>
            </a:pPr>
            <a:r>
              <a:rPr i="0" lang="en" sz="1400" u="none" cap="none" strike="noStrike">
                <a:solidFill>
                  <a:schemeClr val="dk1"/>
                </a:solidFill>
                <a:latin typeface="Times New Roman"/>
                <a:ea typeface="Times New Roman"/>
                <a:cs typeface="Times New Roman"/>
                <a:sym typeface="Times New Roman"/>
              </a:rPr>
              <a:t>Opposites attract, on average								</a:t>
            </a:r>
            <a:r>
              <a:rPr b="1" i="0" lang="en" sz="1400" u="none" cap="none" strike="noStrike">
                <a:solidFill>
                  <a:schemeClr val="dk1"/>
                </a:solidFill>
                <a:latin typeface="Times New Roman"/>
                <a:ea typeface="Times New Roman"/>
                <a:cs typeface="Times New Roman"/>
                <a:sym typeface="Times New Roman"/>
              </a:rPr>
              <a:t>NO</a:t>
            </a:r>
            <a:r>
              <a:rPr i="0" lang="en" sz="1400" u="none" cap="none" strike="noStrike">
                <a:solidFill>
                  <a:schemeClr val="dk1"/>
                </a:solidFill>
                <a:latin typeface="Times New Roman"/>
                <a:ea typeface="Times New Roman"/>
                <a:cs typeface="Times New Roman"/>
                <a:sym typeface="Times New Roman"/>
              </a:rPr>
              <a:t> </a:t>
            </a:r>
            <a:endParaRPr i="0" sz="1100" u="none" cap="none" strike="noStrike">
              <a:solidFill>
                <a:srgbClr val="000000"/>
              </a:solidFill>
              <a:latin typeface="Times New Roman"/>
              <a:ea typeface="Times New Roman"/>
              <a:cs typeface="Times New Roman"/>
              <a:sym typeface="Times New Roman"/>
            </a:endParaRPr>
          </a:p>
          <a:p>
            <a:pPr indent="-254000" lvl="0" marL="254000" marR="0" rtl="0" algn="l">
              <a:lnSpc>
                <a:spcPct val="100000"/>
              </a:lnSpc>
              <a:spcBef>
                <a:spcPts val="0"/>
              </a:spcBef>
              <a:spcAft>
                <a:spcPts val="0"/>
              </a:spcAft>
              <a:buClr>
                <a:schemeClr val="dk1"/>
              </a:buClr>
              <a:buSzPts val="1400"/>
              <a:buFont typeface="Calibri"/>
              <a:buAutoNum type="arabicPeriod"/>
            </a:pPr>
            <a:r>
              <a:rPr i="0" lang="en" sz="1400" u="none" cap="none" strike="noStrike">
                <a:solidFill>
                  <a:schemeClr val="dk1"/>
                </a:solidFill>
                <a:latin typeface="Times New Roman"/>
                <a:ea typeface="Times New Roman"/>
                <a:cs typeface="Times New Roman"/>
                <a:sym typeface="Times New Roman"/>
              </a:rPr>
              <a:t>Familiarity breeds contempt, on average							</a:t>
            </a:r>
            <a:r>
              <a:rPr b="1" i="0" lang="en" sz="1400" u="none" cap="none" strike="noStrike">
                <a:solidFill>
                  <a:schemeClr val="dk1"/>
                </a:solidFill>
                <a:latin typeface="Times New Roman"/>
                <a:ea typeface="Times New Roman"/>
                <a:cs typeface="Times New Roman"/>
                <a:sym typeface="Times New Roman"/>
              </a:rPr>
              <a:t>NO</a:t>
            </a:r>
            <a:endParaRPr i="0" sz="1100" u="none" cap="none" strike="noStrike">
              <a:solidFill>
                <a:srgbClr val="000000"/>
              </a:solidFill>
              <a:latin typeface="Times New Roman"/>
              <a:ea typeface="Times New Roman"/>
              <a:cs typeface="Times New Roman"/>
              <a:sym typeface="Times New Roman"/>
            </a:endParaRPr>
          </a:p>
          <a:p>
            <a:pPr indent="-254000" lvl="0" marL="254000" marR="0" rtl="0" algn="l">
              <a:lnSpc>
                <a:spcPct val="100000"/>
              </a:lnSpc>
              <a:spcBef>
                <a:spcPts val="0"/>
              </a:spcBef>
              <a:spcAft>
                <a:spcPts val="0"/>
              </a:spcAft>
              <a:buClr>
                <a:schemeClr val="dk1"/>
              </a:buClr>
              <a:buSzPts val="1400"/>
              <a:buFont typeface="Calibri"/>
              <a:buAutoNum type="arabicPeriod"/>
            </a:pPr>
            <a:r>
              <a:rPr i="0" lang="en" sz="1400" u="none" cap="none" strike="noStrike">
                <a:solidFill>
                  <a:schemeClr val="dk1"/>
                </a:solidFill>
                <a:latin typeface="Times New Roman"/>
                <a:ea typeface="Times New Roman"/>
                <a:cs typeface="Times New Roman"/>
                <a:sym typeface="Times New Roman"/>
              </a:rPr>
              <a:t>The more people present at an emergency, the more likely that someone will intervene		</a:t>
            </a:r>
            <a:r>
              <a:rPr b="1" i="0" lang="en" sz="1400" u="none" cap="none" strike="noStrike">
                <a:solidFill>
                  <a:schemeClr val="dk1"/>
                </a:solidFill>
                <a:latin typeface="Times New Roman"/>
                <a:ea typeface="Times New Roman"/>
                <a:cs typeface="Times New Roman"/>
                <a:sym typeface="Times New Roman"/>
              </a:rPr>
              <a:t>NO</a:t>
            </a:r>
            <a:endParaRPr i="0" sz="1100" u="none" cap="none" strike="noStrike">
              <a:solidFill>
                <a:srgbClr val="000000"/>
              </a:solidFill>
              <a:latin typeface="Times New Roman"/>
              <a:ea typeface="Times New Roman"/>
              <a:cs typeface="Times New Roman"/>
              <a:sym typeface="Times New Roman"/>
            </a:endParaRPr>
          </a:p>
          <a:p>
            <a:pPr indent="-254000" lvl="0" marL="254000" marR="0" rtl="0" algn="l">
              <a:lnSpc>
                <a:spcPct val="100000"/>
              </a:lnSpc>
              <a:spcBef>
                <a:spcPts val="0"/>
              </a:spcBef>
              <a:spcAft>
                <a:spcPts val="0"/>
              </a:spcAft>
              <a:buClr>
                <a:schemeClr val="dk1"/>
              </a:buClr>
              <a:buSzPts val="1400"/>
              <a:buFont typeface="Calibri"/>
              <a:buAutoNum type="arabicPeriod"/>
            </a:pPr>
            <a:r>
              <a:rPr i="0" lang="en" sz="1400" u="none" cap="none" strike="noStrike">
                <a:solidFill>
                  <a:schemeClr val="dk1"/>
                </a:solidFill>
                <a:latin typeface="Times New Roman"/>
                <a:ea typeface="Times New Roman"/>
                <a:cs typeface="Times New Roman"/>
                <a:sym typeface="Times New Roman"/>
              </a:rPr>
              <a:t>There are visual learners and there are verbal learners						</a:t>
            </a:r>
            <a:r>
              <a:rPr b="1" i="0" lang="en" sz="1400" u="none" cap="none" strike="noStrike">
                <a:solidFill>
                  <a:schemeClr val="dk1"/>
                </a:solidFill>
                <a:latin typeface="Times New Roman"/>
                <a:ea typeface="Times New Roman"/>
                <a:cs typeface="Times New Roman"/>
                <a:sym typeface="Times New Roman"/>
              </a:rPr>
              <a:t>NO</a:t>
            </a:r>
            <a:endParaRPr i="0" sz="1100" u="none" cap="none" strike="noStrike">
              <a:solidFill>
                <a:srgbClr val="000000"/>
              </a:solidFill>
              <a:latin typeface="Times New Roman"/>
              <a:ea typeface="Times New Roman"/>
              <a:cs typeface="Times New Roman"/>
              <a:sym typeface="Times New Roman"/>
            </a:endParaRPr>
          </a:p>
          <a:p>
            <a:pPr indent="-254000" lvl="0" marL="254000" marR="0" rtl="0" algn="l">
              <a:lnSpc>
                <a:spcPct val="100000"/>
              </a:lnSpc>
              <a:spcBef>
                <a:spcPts val="0"/>
              </a:spcBef>
              <a:spcAft>
                <a:spcPts val="0"/>
              </a:spcAft>
              <a:buClr>
                <a:schemeClr val="dk1"/>
              </a:buClr>
              <a:buSzPts val="1400"/>
              <a:buFont typeface="Calibri"/>
              <a:buAutoNum type="arabicPeriod"/>
            </a:pPr>
            <a:r>
              <a:rPr i="0" lang="en" sz="1400" u="none" cap="none" strike="noStrike">
                <a:solidFill>
                  <a:schemeClr val="dk1"/>
                </a:solidFill>
                <a:latin typeface="Times New Roman"/>
                <a:ea typeface="Times New Roman"/>
                <a:cs typeface="Times New Roman"/>
                <a:sym typeface="Times New Roman"/>
              </a:rPr>
              <a:t>Hypnosis is nonsense									</a:t>
            </a:r>
            <a:r>
              <a:rPr b="1" i="0" lang="en" sz="1400" u="none" cap="none" strike="noStrike">
                <a:solidFill>
                  <a:schemeClr val="dk1"/>
                </a:solidFill>
                <a:latin typeface="Times New Roman"/>
                <a:ea typeface="Times New Roman"/>
                <a:cs typeface="Times New Roman"/>
                <a:sym typeface="Times New Roman"/>
              </a:rPr>
              <a:t>NO</a:t>
            </a:r>
            <a:endParaRPr i="0" sz="1100" u="none" cap="none" strike="noStrike">
              <a:solidFill>
                <a:srgbClr val="000000"/>
              </a:solidFill>
              <a:latin typeface="Times New Roman"/>
              <a:ea typeface="Times New Roman"/>
              <a:cs typeface="Times New Roman"/>
              <a:sym typeface="Times New Roman"/>
            </a:endParaRPr>
          </a:p>
          <a:p>
            <a:pPr indent="-254000" lvl="0" marL="254000" marR="0" rtl="0" algn="l">
              <a:lnSpc>
                <a:spcPct val="100000"/>
              </a:lnSpc>
              <a:spcBef>
                <a:spcPts val="0"/>
              </a:spcBef>
              <a:spcAft>
                <a:spcPts val="0"/>
              </a:spcAft>
              <a:buClr>
                <a:schemeClr val="dk1"/>
              </a:buClr>
              <a:buSzPts val="1400"/>
              <a:buFont typeface="Calibri"/>
              <a:buAutoNum type="arabicPeriod"/>
            </a:pPr>
            <a:r>
              <a:rPr i="0" lang="en" sz="1400" u="none" cap="none" strike="noStrike">
                <a:solidFill>
                  <a:schemeClr val="dk1"/>
                </a:solidFill>
                <a:latin typeface="Times New Roman"/>
                <a:ea typeface="Times New Roman"/>
                <a:cs typeface="Times New Roman"/>
                <a:sym typeface="Times New Roman"/>
              </a:rPr>
              <a:t>Subliminal advertising works								</a:t>
            </a:r>
            <a:r>
              <a:rPr b="1" i="0" lang="en" sz="1400" u="none" cap="none" strike="noStrike">
                <a:solidFill>
                  <a:schemeClr val="dk1"/>
                </a:solidFill>
                <a:latin typeface="Times New Roman"/>
                <a:ea typeface="Times New Roman"/>
                <a:cs typeface="Times New Roman"/>
                <a:sym typeface="Times New Roman"/>
              </a:rPr>
              <a:t>NO</a:t>
            </a:r>
            <a:endParaRPr i="0" sz="1100" u="none" cap="none" strike="noStrike">
              <a:solidFill>
                <a:srgbClr val="000000"/>
              </a:solidFill>
              <a:latin typeface="Times New Roman"/>
              <a:ea typeface="Times New Roman"/>
              <a:cs typeface="Times New Roman"/>
              <a:sym typeface="Times New Roman"/>
            </a:endParaRPr>
          </a:p>
          <a:p>
            <a:pPr indent="-254000" lvl="0" marL="254000" marR="0" rtl="0" algn="l">
              <a:lnSpc>
                <a:spcPct val="100000"/>
              </a:lnSpc>
              <a:spcBef>
                <a:spcPts val="0"/>
              </a:spcBef>
              <a:spcAft>
                <a:spcPts val="0"/>
              </a:spcAft>
              <a:buClr>
                <a:schemeClr val="dk1"/>
              </a:buClr>
              <a:buSzPts val="1400"/>
              <a:buFont typeface="Calibri"/>
              <a:buAutoNum type="arabicPeriod"/>
            </a:pPr>
            <a:r>
              <a:rPr i="0" lang="en" sz="1400" u="none" cap="none" strike="noStrike">
                <a:solidFill>
                  <a:schemeClr val="dk1"/>
                </a:solidFill>
                <a:latin typeface="Times New Roman"/>
                <a:ea typeface="Times New Roman"/>
                <a:cs typeface="Times New Roman"/>
                <a:sym typeface="Times New Roman"/>
              </a:rPr>
              <a:t>Playing Mozart’s music to infants boosts their intelligence 					</a:t>
            </a:r>
            <a:r>
              <a:rPr b="1" i="0" lang="en" sz="1400" u="none" cap="none" strike="noStrike">
                <a:solidFill>
                  <a:schemeClr val="dk1"/>
                </a:solidFill>
                <a:latin typeface="Times New Roman"/>
                <a:ea typeface="Times New Roman"/>
                <a:cs typeface="Times New Roman"/>
                <a:sym typeface="Times New Roman"/>
              </a:rPr>
              <a:t>NO</a:t>
            </a:r>
            <a:endParaRPr i="0" sz="1100" u="none" cap="none" strike="noStrike">
              <a:solidFill>
                <a:srgbClr val="000000"/>
              </a:solidFill>
              <a:latin typeface="Times New Roman"/>
              <a:ea typeface="Times New Roman"/>
              <a:cs typeface="Times New Roman"/>
              <a:sym typeface="Times New Roman"/>
            </a:endParaRPr>
          </a:p>
          <a:p>
            <a:pPr indent="-254000" lvl="0" marL="254000" marR="0" rtl="0" algn="l">
              <a:lnSpc>
                <a:spcPct val="100000"/>
              </a:lnSpc>
              <a:spcBef>
                <a:spcPts val="0"/>
              </a:spcBef>
              <a:spcAft>
                <a:spcPts val="0"/>
              </a:spcAft>
              <a:buClr>
                <a:schemeClr val="dk1"/>
              </a:buClr>
              <a:buSzPts val="1400"/>
              <a:buFont typeface="Calibri"/>
              <a:buAutoNum type="arabicPeriod"/>
            </a:pPr>
            <a:r>
              <a:rPr i="0" lang="en" sz="1400" u="none" cap="none" strike="noStrike">
                <a:solidFill>
                  <a:schemeClr val="dk1"/>
                </a:solidFill>
                <a:latin typeface="Times New Roman"/>
                <a:ea typeface="Times New Roman"/>
                <a:cs typeface="Times New Roman"/>
                <a:sym typeface="Times New Roman"/>
              </a:rPr>
              <a:t>Old age, on average, is associated with dissatisfaction						</a:t>
            </a:r>
            <a:r>
              <a:rPr b="1" i="0" lang="en" sz="1400" u="none" cap="none" strike="noStrike">
                <a:solidFill>
                  <a:schemeClr val="dk1"/>
                </a:solidFill>
                <a:latin typeface="Times New Roman"/>
                <a:ea typeface="Times New Roman"/>
                <a:cs typeface="Times New Roman"/>
                <a:sym typeface="Times New Roman"/>
              </a:rPr>
              <a:t>NO</a:t>
            </a:r>
            <a:endParaRPr i="0" sz="1100" u="none" cap="none" strike="noStrike">
              <a:solidFill>
                <a:srgbClr val="000000"/>
              </a:solidFill>
              <a:latin typeface="Times New Roman"/>
              <a:ea typeface="Times New Roman"/>
              <a:cs typeface="Times New Roman"/>
              <a:sym typeface="Times New Roman"/>
            </a:endParaRPr>
          </a:p>
          <a:p>
            <a:pPr indent="-254000" lvl="0" marL="254000" marR="0" rtl="0" algn="l">
              <a:lnSpc>
                <a:spcPct val="100000"/>
              </a:lnSpc>
              <a:spcBef>
                <a:spcPts val="0"/>
              </a:spcBef>
              <a:spcAft>
                <a:spcPts val="0"/>
              </a:spcAft>
              <a:buClr>
                <a:schemeClr val="dk1"/>
              </a:buClr>
              <a:buSzPts val="1400"/>
              <a:buFont typeface="Calibri"/>
              <a:buAutoNum type="arabicPeriod"/>
            </a:pPr>
            <a:r>
              <a:rPr i="0" lang="en" sz="1400" u="none" cap="none" strike="noStrike">
                <a:solidFill>
                  <a:schemeClr val="dk1"/>
                </a:solidFill>
                <a:latin typeface="Times New Roman"/>
                <a:ea typeface="Times New Roman"/>
                <a:cs typeface="Times New Roman"/>
                <a:sym typeface="Times New Roman"/>
              </a:rPr>
              <a:t>If you are unsure of your answer when taking a test, it’s best to stick with your initial hunch 		</a:t>
            </a:r>
            <a:r>
              <a:rPr b="1" i="0" lang="en" sz="1400" u="none" cap="none" strike="noStrike">
                <a:solidFill>
                  <a:schemeClr val="dk1"/>
                </a:solidFill>
                <a:latin typeface="Times New Roman"/>
                <a:ea typeface="Times New Roman"/>
                <a:cs typeface="Times New Roman"/>
                <a:sym typeface="Times New Roman"/>
              </a:rPr>
              <a:t>NO</a:t>
            </a:r>
            <a:endParaRPr i="0" sz="1100" u="none" cap="none" strike="noStrike">
              <a:solidFill>
                <a:srgbClr val="000000"/>
              </a:solidFill>
              <a:latin typeface="Times New Roman"/>
              <a:ea typeface="Times New Roman"/>
              <a:cs typeface="Times New Roman"/>
              <a:sym typeface="Times New Roman"/>
            </a:endParaRPr>
          </a:p>
          <a:p>
            <a:pPr indent="-254000" lvl="0" marL="254000" marR="0" rtl="0" algn="l">
              <a:lnSpc>
                <a:spcPct val="100000"/>
              </a:lnSpc>
              <a:spcBef>
                <a:spcPts val="0"/>
              </a:spcBef>
              <a:spcAft>
                <a:spcPts val="0"/>
              </a:spcAft>
              <a:buClr>
                <a:schemeClr val="dk1"/>
              </a:buClr>
              <a:buSzPts val="1400"/>
              <a:buFont typeface="Calibri"/>
              <a:buAutoNum type="arabicPeriod"/>
            </a:pPr>
            <a:r>
              <a:rPr i="0" lang="en" sz="1400" u="none" cap="none" strike="noStrike">
                <a:solidFill>
                  <a:schemeClr val="dk1"/>
                </a:solidFill>
                <a:latin typeface="Times New Roman"/>
                <a:ea typeface="Times New Roman"/>
                <a:cs typeface="Times New Roman"/>
                <a:sym typeface="Times New Roman"/>
              </a:rPr>
              <a:t>Ulcers are caused primarily by stress							</a:t>
            </a:r>
            <a:r>
              <a:rPr b="1" i="0" lang="en" sz="1400" u="none" cap="none" strike="noStrike">
                <a:solidFill>
                  <a:schemeClr val="dk1"/>
                </a:solidFill>
                <a:latin typeface="Times New Roman"/>
                <a:ea typeface="Times New Roman"/>
                <a:cs typeface="Times New Roman"/>
                <a:sym typeface="Times New Roman"/>
              </a:rPr>
              <a:t>NO</a:t>
            </a:r>
            <a:endParaRPr i="0" sz="1100" u="none" cap="none" strike="noStrike">
              <a:solidFill>
                <a:srgbClr val="000000"/>
              </a:solidFill>
              <a:latin typeface="Times New Roman"/>
              <a:ea typeface="Times New Roman"/>
              <a:cs typeface="Times New Roman"/>
              <a:sym typeface="Times New Roman"/>
            </a:endParaRPr>
          </a:p>
          <a:p>
            <a:pPr indent="-254000" lvl="0" marL="254000" marR="0" rtl="0" algn="l">
              <a:lnSpc>
                <a:spcPct val="100000"/>
              </a:lnSpc>
              <a:spcBef>
                <a:spcPts val="0"/>
              </a:spcBef>
              <a:spcAft>
                <a:spcPts val="0"/>
              </a:spcAft>
              <a:buClr>
                <a:schemeClr val="dk1"/>
              </a:buClr>
              <a:buSzPts val="1400"/>
              <a:buFont typeface="Calibri"/>
              <a:buAutoNum type="arabicPeriod"/>
            </a:pPr>
            <a:r>
              <a:rPr i="0" lang="en" sz="1400" u="none" cap="none" strike="noStrike">
                <a:solidFill>
                  <a:schemeClr val="dk1"/>
                </a:solidFill>
                <a:latin typeface="Times New Roman"/>
                <a:ea typeface="Times New Roman"/>
                <a:cs typeface="Times New Roman"/>
                <a:sym typeface="Times New Roman"/>
              </a:rPr>
              <a:t>A positive attitude can stave off cancer							</a:t>
            </a:r>
            <a:r>
              <a:rPr b="1" i="0" lang="en" sz="1400" u="none" cap="none" strike="noStrike">
                <a:solidFill>
                  <a:schemeClr val="dk1"/>
                </a:solidFill>
                <a:latin typeface="Times New Roman"/>
                <a:ea typeface="Times New Roman"/>
                <a:cs typeface="Times New Roman"/>
                <a:sym typeface="Times New Roman"/>
              </a:rPr>
              <a:t>NO</a:t>
            </a:r>
            <a:endParaRPr i="0" sz="1100" u="none" cap="none" strike="noStrike">
              <a:solidFill>
                <a:srgbClr val="000000"/>
              </a:solidFill>
              <a:latin typeface="Times New Roman"/>
              <a:ea typeface="Times New Roman"/>
              <a:cs typeface="Times New Roman"/>
              <a:sym typeface="Times New Roman"/>
            </a:endParaRPr>
          </a:p>
          <a:p>
            <a:pPr indent="-254000" lvl="0" marL="254000" marR="0" rtl="0" algn="l">
              <a:lnSpc>
                <a:spcPct val="100000"/>
              </a:lnSpc>
              <a:spcBef>
                <a:spcPts val="0"/>
              </a:spcBef>
              <a:spcAft>
                <a:spcPts val="0"/>
              </a:spcAft>
              <a:buClr>
                <a:schemeClr val="dk1"/>
              </a:buClr>
              <a:buSzPts val="1400"/>
              <a:buFont typeface="Calibri"/>
              <a:buAutoNum type="arabicPeriod"/>
            </a:pPr>
            <a:r>
              <a:rPr i="0" lang="en" sz="1400" u="none" cap="none" strike="noStrike">
                <a:solidFill>
                  <a:schemeClr val="dk1"/>
                </a:solidFill>
                <a:latin typeface="Times New Roman"/>
                <a:ea typeface="Times New Roman"/>
                <a:cs typeface="Times New Roman"/>
                <a:sym typeface="Times New Roman"/>
              </a:rPr>
              <a:t>Raising children similarly leads to similarities in their adult personalities				</a:t>
            </a:r>
            <a:r>
              <a:rPr b="1" i="0" lang="en" sz="1400" u="none" cap="none" strike="noStrike">
                <a:solidFill>
                  <a:schemeClr val="dk1"/>
                </a:solidFill>
                <a:latin typeface="Times New Roman"/>
                <a:ea typeface="Times New Roman"/>
                <a:cs typeface="Times New Roman"/>
                <a:sym typeface="Times New Roman"/>
              </a:rPr>
              <a:t>NO</a:t>
            </a:r>
            <a:endParaRPr i="0" sz="1100" u="none" cap="none" strike="noStrike">
              <a:solidFill>
                <a:srgbClr val="000000"/>
              </a:solidFill>
              <a:latin typeface="Times New Roman"/>
              <a:ea typeface="Times New Roman"/>
              <a:cs typeface="Times New Roman"/>
              <a:sym typeface="Times New Roman"/>
            </a:endParaRPr>
          </a:p>
          <a:p>
            <a:pPr indent="-254000" lvl="0" marL="254000" marR="0" rtl="0" algn="l">
              <a:lnSpc>
                <a:spcPct val="100000"/>
              </a:lnSpc>
              <a:spcBef>
                <a:spcPts val="0"/>
              </a:spcBef>
              <a:spcAft>
                <a:spcPts val="0"/>
              </a:spcAft>
              <a:buClr>
                <a:schemeClr val="dk1"/>
              </a:buClr>
              <a:buSzPts val="1400"/>
              <a:buFont typeface="Calibri"/>
              <a:buAutoNum type="arabicPeriod"/>
            </a:pPr>
            <a:r>
              <a:rPr i="0" lang="en" sz="1400" u="none" cap="none" strike="noStrike">
                <a:solidFill>
                  <a:schemeClr val="dk1"/>
                </a:solidFill>
                <a:latin typeface="Times New Roman"/>
                <a:ea typeface="Times New Roman"/>
                <a:cs typeface="Times New Roman"/>
                <a:sym typeface="Times New Roman"/>
              </a:rPr>
              <a:t>Low self esteem is a major cause of psychological problems 					</a:t>
            </a:r>
            <a:r>
              <a:rPr b="1" i="0" lang="en" sz="1400" u="none" cap="none" strike="noStrike">
                <a:solidFill>
                  <a:schemeClr val="dk1"/>
                </a:solidFill>
                <a:latin typeface="Times New Roman"/>
                <a:ea typeface="Times New Roman"/>
                <a:cs typeface="Times New Roman"/>
                <a:sym typeface="Times New Roman"/>
              </a:rPr>
              <a:t>NO</a:t>
            </a:r>
            <a:endParaRPr i="0" sz="1100" u="none" cap="none" strike="noStrike">
              <a:solidFill>
                <a:srgbClr val="000000"/>
              </a:solidFill>
              <a:latin typeface="Times New Roman"/>
              <a:ea typeface="Times New Roman"/>
              <a:cs typeface="Times New Roman"/>
              <a:sym typeface="Times New Roman"/>
            </a:endParaRPr>
          </a:p>
          <a:p>
            <a:pPr indent="-254000" lvl="0" marL="254000" marR="0" rtl="0" algn="l">
              <a:lnSpc>
                <a:spcPct val="100000"/>
              </a:lnSpc>
              <a:spcBef>
                <a:spcPts val="0"/>
              </a:spcBef>
              <a:spcAft>
                <a:spcPts val="0"/>
              </a:spcAft>
              <a:buClr>
                <a:schemeClr val="dk1"/>
              </a:buClr>
              <a:buSzPts val="1400"/>
              <a:buFont typeface="Calibri"/>
              <a:buAutoNum type="arabicPeriod"/>
            </a:pPr>
            <a:r>
              <a:rPr i="0" lang="en" sz="1400" u="none" cap="none" strike="noStrike">
                <a:solidFill>
                  <a:schemeClr val="dk1"/>
                </a:solidFill>
                <a:latin typeface="Times New Roman"/>
                <a:ea typeface="Times New Roman"/>
                <a:cs typeface="Times New Roman"/>
                <a:sym typeface="Times New Roman"/>
              </a:rPr>
              <a:t>People’s responses to Inkblot tests tells us a great deal about their personalities 			</a:t>
            </a:r>
            <a:r>
              <a:rPr b="1" i="0" lang="en" sz="1400" u="none" cap="none" strike="noStrike">
                <a:solidFill>
                  <a:schemeClr val="dk1"/>
                </a:solidFill>
                <a:latin typeface="Times New Roman"/>
                <a:ea typeface="Times New Roman"/>
                <a:cs typeface="Times New Roman"/>
                <a:sym typeface="Times New Roman"/>
              </a:rPr>
              <a:t>NO</a:t>
            </a:r>
            <a:endParaRPr i="0" sz="1100" u="none" cap="none" strike="noStrike">
              <a:solidFill>
                <a:srgbClr val="000000"/>
              </a:solidFill>
              <a:latin typeface="Times New Roman"/>
              <a:ea typeface="Times New Roman"/>
              <a:cs typeface="Times New Roman"/>
              <a:sym typeface="Times New Roman"/>
            </a:endParaRPr>
          </a:p>
          <a:p>
            <a:pPr indent="-254000" lvl="0" marL="254000" marR="0" rtl="0" algn="l">
              <a:lnSpc>
                <a:spcPct val="100000"/>
              </a:lnSpc>
              <a:spcBef>
                <a:spcPts val="0"/>
              </a:spcBef>
              <a:spcAft>
                <a:spcPts val="0"/>
              </a:spcAft>
              <a:buClr>
                <a:schemeClr val="dk1"/>
              </a:buClr>
              <a:buSzPts val="1400"/>
              <a:buFont typeface="Calibri"/>
              <a:buAutoNum type="arabicPeriod"/>
            </a:pPr>
            <a:r>
              <a:rPr i="0" lang="en" sz="1400" u="none" cap="none" strike="noStrike">
                <a:solidFill>
                  <a:schemeClr val="dk1"/>
                </a:solidFill>
                <a:latin typeface="Times New Roman"/>
                <a:ea typeface="Times New Roman"/>
                <a:cs typeface="Times New Roman"/>
                <a:sym typeface="Times New Roman"/>
              </a:rPr>
              <a:t>Interviews help identify those most likely to succed in medical school. 	</a:t>
            </a:r>
            <a:r>
              <a:rPr b="0" i="0" lang="en" sz="1400" u="none" cap="none" strike="noStrike">
                <a:solidFill>
                  <a:schemeClr val="dk1"/>
                </a:solidFill>
                <a:latin typeface="Calibri"/>
                <a:ea typeface="Calibri"/>
                <a:cs typeface="Calibri"/>
                <a:sym typeface="Calibri"/>
              </a:rPr>
              <a:t>			</a:t>
            </a:r>
            <a:r>
              <a:rPr b="1" i="0" lang="en" sz="1400" u="none" cap="none" strike="noStrike">
                <a:solidFill>
                  <a:schemeClr val="dk1"/>
                </a:solidFill>
                <a:latin typeface="Calibri"/>
                <a:ea typeface="Calibri"/>
                <a:cs typeface="Calibri"/>
                <a:sym typeface="Calibri"/>
              </a:rPr>
              <a:t>NO</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45"/>
          <p:cNvSpPr txBox="1"/>
          <p:nvPr>
            <p:ph type="title"/>
          </p:nvPr>
        </p:nvSpPr>
        <p:spPr>
          <a:xfrm>
            <a:off x="1780360" y="298667"/>
            <a:ext cx="5583300" cy="425100"/>
          </a:xfrm>
          <a:prstGeom prst="rect">
            <a:avLst/>
          </a:prstGeom>
          <a:noFill/>
          <a:ln>
            <a:noFill/>
          </a:ln>
        </p:spPr>
        <p:txBody>
          <a:bodyPr anchorCtr="0" anchor="ctr" bIns="0" lIns="0" spcFirstLastPara="1" rIns="0" wrap="square" tIns="9550">
            <a:spAutoFit/>
          </a:bodyPr>
          <a:lstStyle/>
          <a:p>
            <a:pPr indent="0" lvl="0" marL="12700" rtl="0" algn="l">
              <a:lnSpc>
                <a:spcPct val="100000"/>
              </a:lnSpc>
              <a:spcBef>
                <a:spcPts val="0"/>
              </a:spcBef>
              <a:spcAft>
                <a:spcPts val="0"/>
              </a:spcAft>
              <a:buClr>
                <a:schemeClr val="dk1"/>
              </a:buClr>
              <a:buSzPts val="2700"/>
              <a:buFont typeface="Constantia"/>
              <a:buNone/>
            </a:pPr>
            <a:r>
              <a:rPr lang="en" sz="2700"/>
              <a:t>Ideas About People &amp; Psychology</a:t>
            </a:r>
            <a:endParaRPr sz="2700"/>
          </a:p>
        </p:txBody>
      </p:sp>
      <p:sp>
        <p:nvSpPr>
          <p:cNvPr id="277" name="Google Shape;277;p45"/>
          <p:cNvSpPr txBox="1"/>
          <p:nvPr/>
        </p:nvSpPr>
        <p:spPr>
          <a:xfrm>
            <a:off x="7213159" y="788542"/>
            <a:ext cx="171600" cy="314400"/>
          </a:xfrm>
          <a:prstGeom prst="rect">
            <a:avLst/>
          </a:prstGeom>
          <a:noFill/>
          <a:ln>
            <a:noFill/>
          </a:ln>
        </p:spPr>
        <p:txBody>
          <a:bodyPr anchorCtr="0" anchor="t" bIns="0" lIns="0" spcFirstLastPara="1" rIns="0" wrap="square" tIns="9550">
            <a:spAutoFit/>
          </a:bodyPr>
          <a:lstStyle/>
          <a:p>
            <a:pPr indent="0" lvl="0" marL="12700" marR="0" rtl="0" algn="l">
              <a:lnSpc>
                <a:spcPct val="120000"/>
              </a:lnSpc>
              <a:spcBef>
                <a:spcPts val="0"/>
              </a:spcBef>
              <a:spcAft>
                <a:spcPts val="0"/>
              </a:spcAft>
              <a:buClr>
                <a:srgbClr val="000000"/>
              </a:buClr>
              <a:buSzPts val="900"/>
              <a:buFont typeface="Arial"/>
              <a:buNone/>
            </a:pPr>
            <a:r>
              <a:rPr b="1" i="0" lang="en" sz="900" u="none" cap="none" strike="noStrike">
                <a:solidFill>
                  <a:srgbClr val="FFFFFF"/>
                </a:solidFill>
                <a:latin typeface="Arial"/>
                <a:ea typeface="Arial"/>
                <a:cs typeface="Arial"/>
                <a:sym typeface="Arial"/>
              </a:rPr>
              <a:t>No  No</a:t>
            </a:r>
            <a:endParaRPr b="0" i="0" sz="900" u="none" cap="none" strike="noStrike">
              <a:solidFill>
                <a:schemeClr val="dk1"/>
              </a:solidFill>
              <a:latin typeface="Arial"/>
              <a:ea typeface="Arial"/>
              <a:cs typeface="Arial"/>
              <a:sym typeface="Arial"/>
            </a:endParaRPr>
          </a:p>
        </p:txBody>
      </p:sp>
      <p:sp>
        <p:nvSpPr>
          <p:cNvPr id="278" name="Google Shape;278;p45"/>
          <p:cNvSpPr txBox="1"/>
          <p:nvPr/>
        </p:nvSpPr>
        <p:spPr>
          <a:xfrm>
            <a:off x="7213159" y="1284154"/>
            <a:ext cx="171600" cy="976800"/>
          </a:xfrm>
          <a:prstGeom prst="rect">
            <a:avLst/>
          </a:prstGeom>
          <a:noFill/>
          <a:ln>
            <a:noFill/>
          </a:ln>
        </p:spPr>
        <p:txBody>
          <a:bodyPr anchorCtr="0" anchor="t" bIns="0" lIns="0" spcFirstLastPara="1" rIns="0" wrap="square" tIns="9075">
            <a:spAutoFit/>
          </a:bodyPr>
          <a:lstStyle/>
          <a:p>
            <a:pPr indent="0" lvl="0" marL="12700" marR="0" rtl="0" algn="just">
              <a:lnSpc>
                <a:spcPct val="119700"/>
              </a:lnSpc>
              <a:spcBef>
                <a:spcPts val="0"/>
              </a:spcBef>
              <a:spcAft>
                <a:spcPts val="0"/>
              </a:spcAft>
              <a:buClr>
                <a:srgbClr val="000000"/>
              </a:buClr>
              <a:buSzPts val="900"/>
              <a:buFont typeface="Arial"/>
              <a:buNone/>
            </a:pPr>
            <a:r>
              <a:rPr b="1" i="0" lang="en" sz="900" u="none" cap="none" strike="noStrike">
                <a:solidFill>
                  <a:srgbClr val="FFFFFF"/>
                </a:solidFill>
                <a:latin typeface="Arial"/>
                <a:ea typeface="Arial"/>
                <a:cs typeface="Arial"/>
                <a:sym typeface="Arial"/>
              </a:rPr>
              <a:t>No  No  No  No  No  No</a:t>
            </a:r>
            <a:endParaRPr b="0" i="0" sz="900" u="none" cap="none" strike="noStrike">
              <a:solidFill>
                <a:schemeClr val="dk1"/>
              </a:solidFill>
              <a:latin typeface="Arial"/>
              <a:ea typeface="Arial"/>
              <a:cs typeface="Arial"/>
              <a:sym typeface="Arial"/>
            </a:endParaRPr>
          </a:p>
        </p:txBody>
      </p:sp>
      <p:sp>
        <p:nvSpPr>
          <p:cNvPr id="279" name="Google Shape;279;p45"/>
          <p:cNvSpPr txBox="1"/>
          <p:nvPr/>
        </p:nvSpPr>
        <p:spPr>
          <a:xfrm>
            <a:off x="7213159" y="2437712"/>
            <a:ext cx="204000" cy="480000"/>
          </a:xfrm>
          <a:prstGeom prst="rect">
            <a:avLst/>
          </a:prstGeom>
          <a:noFill/>
          <a:ln>
            <a:noFill/>
          </a:ln>
        </p:spPr>
        <p:txBody>
          <a:bodyPr anchorCtr="0" anchor="t" bIns="0" lIns="0" spcFirstLastPara="1" rIns="0" wrap="square" tIns="9550">
            <a:spAutoFit/>
          </a:bodyPr>
          <a:lstStyle/>
          <a:p>
            <a:pPr indent="25400" lvl="0" marL="12700" marR="0" rtl="0" algn="just">
              <a:lnSpc>
                <a:spcPct val="119800"/>
              </a:lnSpc>
              <a:spcBef>
                <a:spcPts val="0"/>
              </a:spcBef>
              <a:spcAft>
                <a:spcPts val="0"/>
              </a:spcAft>
              <a:buClr>
                <a:srgbClr val="000000"/>
              </a:buClr>
              <a:buSzPts val="900"/>
              <a:buFont typeface="Arial"/>
              <a:buNone/>
            </a:pPr>
            <a:r>
              <a:rPr b="1" i="0" lang="en" sz="900" u="none" cap="none" strike="noStrike">
                <a:solidFill>
                  <a:srgbClr val="FFFFFF"/>
                </a:solidFill>
                <a:latin typeface="Arial"/>
                <a:ea typeface="Arial"/>
                <a:cs typeface="Arial"/>
                <a:sym typeface="Arial"/>
              </a:rPr>
              <a:t>No  No  No</a:t>
            </a:r>
            <a:endParaRPr b="0" i="0" sz="900" u="none" cap="none" strike="noStrike">
              <a:solidFill>
                <a:schemeClr val="dk1"/>
              </a:solidFill>
              <a:latin typeface="Arial"/>
              <a:ea typeface="Arial"/>
              <a:cs typeface="Arial"/>
              <a:sym typeface="Arial"/>
            </a:endParaRPr>
          </a:p>
        </p:txBody>
      </p:sp>
      <p:sp>
        <p:nvSpPr>
          <p:cNvPr id="280" name="Google Shape;280;p45"/>
          <p:cNvSpPr txBox="1"/>
          <p:nvPr/>
        </p:nvSpPr>
        <p:spPr>
          <a:xfrm>
            <a:off x="7213159" y="3290120"/>
            <a:ext cx="171600" cy="148200"/>
          </a:xfrm>
          <a:prstGeom prst="rect">
            <a:avLst/>
          </a:prstGeom>
          <a:noFill/>
          <a:ln>
            <a:noFill/>
          </a:ln>
        </p:spPr>
        <p:txBody>
          <a:bodyPr anchorCtr="0" anchor="t" bIns="0" lIns="0" spcFirstLastPara="1" rIns="0" wrap="square" tIns="9550">
            <a:spAutoFit/>
          </a:bodyPr>
          <a:lstStyle/>
          <a:p>
            <a:pPr indent="0" lvl="0" marL="12700" marR="0" rtl="0" algn="l">
              <a:lnSpc>
                <a:spcPct val="100000"/>
              </a:lnSpc>
              <a:spcBef>
                <a:spcPts val="0"/>
              </a:spcBef>
              <a:spcAft>
                <a:spcPts val="0"/>
              </a:spcAft>
              <a:buClr>
                <a:srgbClr val="000000"/>
              </a:buClr>
              <a:buSzPts val="900"/>
              <a:buFont typeface="Arial"/>
              <a:buNone/>
            </a:pPr>
            <a:r>
              <a:rPr b="1" i="0" lang="en" sz="900" u="none" cap="none" strike="noStrike">
                <a:solidFill>
                  <a:srgbClr val="FFFFFF"/>
                </a:solidFill>
                <a:latin typeface="Arial"/>
                <a:ea typeface="Arial"/>
                <a:cs typeface="Arial"/>
                <a:sym typeface="Arial"/>
              </a:rPr>
              <a:t>No</a:t>
            </a:r>
            <a:endParaRPr b="0" i="0" sz="900" u="none" cap="none" strike="noStrike">
              <a:solidFill>
                <a:schemeClr val="dk1"/>
              </a:solidFill>
              <a:latin typeface="Arial"/>
              <a:ea typeface="Arial"/>
              <a:cs typeface="Arial"/>
              <a:sym typeface="Arial"/>
            </a:endParaRPr>
          </a:p>
        </p:txBody>
      </p:sp>
      <p:sp>
        <p:nvSpPr>
          <p:cNvPr id="281" name="Google Shape;281;p45"/>
          <p:cNvSpPr txBox="1"/>
          <p:nvPr/>
        </p:nvSpPr>
        <p:spPr>
          <a:xfrm>
            <a:off x="7213159" y="3619954"/>
            <a:ext cx="171600" cy="148200"/>
          </a:xfrm>
          <a:prstGeom prst="rect">
            <a:avLst/>
          </a:prstGeom>
          <a:noFill/>
          <a:ln>
            <a:noFill/>
          </a:ln>
        </p:spPr>
        <p:txBody>
          <a:bodyPr anchorCtr="0" anchor="t" bIns="0" lIns="0" spcFirstLastPara="1" rIns="0" wrap="square" tIns="9550">
            <a:spAutoFit/>
          </a:bodyPr>
          <a:lstStyle/>
          <a:p>
            <a:pPr indent="0" lvl="0" marL="12700" marR="0" rtl="0" algn="l">
              <a:lnSpc>
                <a:spcPct val="100000"/>
              </a:lnSpc>
              <a:spcBef>
                <a:spcPts val="0"/>
              </a:spcBef>
              <a:spcAft>
                <a:spcPts val="0"/>
              </a:spcAft>
              <a:buClr>
                <a:srgbClr val="000000"/>
              </a:buClr>
              <a:buSzPts val="900"/>
              <a:buFont typeface="Arial"/>
              <a:buNone/>
            </a:pPr>
            <a:r>
              <a:rPr b="1" i="0" lang="en" sz="900" u="none" cap="none" strike="noStrike">
                <a:solidFill>
                  <a:srgbClr val="FFFFFF"/>
                </a:solidFill>
                <a:latin typeface="Arial"/>
                <a:ea typeface="Arial"/>
                <a:cs typeface="Arial"/>
                <a:sym typeface="Arial"/>
              </a:rPr>
              <a:t>No</a:t>
            </a:r>
            <a:endParaRPr b="0" i="0" sz="900" u="none" cap="none" strike="noStrike">
              <a:solidFill>
                <a:schemeClr val="dk1"/>
              </a:solidFill>
              <a:latin typeface="Arial"/>
              <a:ea typeface="Arial"/>
              <a:cs typeface="Arial"/>
              <a:sym typeface="Arial"/>
            </a:endParaRPr>
          </a:p>
        </p:txBody>
      </p:sp>
      <p:sp>
        <p:nvSpPr>
          <p:cNvPr id="282" name="Google Shape;282;p45"/>
          <p:cNvSpPr txBox="1"/>
          <p:nvPr/>
        </p:nvSpPr>
        <p:spPr>
          <a:xfrm>
            <a:off x="7213159" y="3949787"/>
            <a:ext cx="171600" cy="148200"/>
          </a:xfrm>
          <a:prstGeom prst="rect">
            <a:avLst/>
          </a:prstGeom>
          <a:noFill/>
          <a:ln>
            <a:noFill/>
          </a:ln>
        </p:spPr>
        <p:txBody>
          <a:bodyPr anchorCtr="0" anchor="t" bIns="0" lIns="0" spcFirstLastPara="1" rIns="0" wrap="square" tIns="9550">
            <a:spAutoFit/>
          </a:bodyPr>
          <a:lstStyle/>
          <a:p>
            <a:pPr indent="0" lvl="0" marL="12700" marR="0" rtl="0" algn="l">
              <a:lnSpc>
                <a:spcPct val="100000"/>
              </a:lnSpc>
              <a:spcBef>
                <a:spcPts val="0"/>
              </a:spcBef>
              <a:spcAft>
                <a:spcPts val="0"/>
              </a:spcAft>
              <a:buClr>
                <a:srgbClr val="000000"/>
              </a:buClr>
              <a:buSzPts val="900"/>
              <a:buFont typeface="Arial"/>
              <a:buNone/>
            </a:pPr>
            <a:r>
              <a:rPr b="1" i="0" lang="en" sz="900" u="none" cap="none" strike="noStrike">
                <a:solidFill>
                  <a:srgbClr val="FFFFFF"/>
                </a:solidFill>
                <a:latin typeface="Arial"/>
                <a:ea typeface="Arial"/>
                <a:cs typeface="Arial"/>
                <a:sym typeface="Arial"/>
              </a:rPr>
              <a:t>No</a:t>
            </a:r>
            <a:endParaRPr b="0" i="0" sz="900" u="none" cap="none" strike="noStrike">
              <a:solidFill>
                <a:schemeClr val="dk1"/>
              </a:solidFill>
              <a:latin typeface="Arial"/>
              <a:ea typeface="Arial"/>
              <a:cs typeface="Arial"/>
              <a:sym typeface="Arial"/>
            </a:endParaRPr>
          </a:p>
        </p:txBody>
      </p:sp>
      <p:sp>
        <p:nvSpPr>
          <p:cNvPr id="283" name="Google Shape;283;p45"/>
          <p:cNvSpPr txBox="1"/>
          <p:nvPr/>
        </p:nvSpPr>
        <p:spPr>
          <a:xfrm>
            <a:off x="1347380" y="1839050"/>
            <a:ext cx="6449100" cy="10389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2100"/>
              <a:buFont typeface="Arial"/>
              <a:buNone/>
            </a:pPr>
            <a:r>
              <a:rPr b="0" i="0" lang="en" sz="2100" u="none" cap="none" strike="noStrike">
                <a:solidFill>
                  <a:schemeClr val="dk1"/>
                </a:solidFill>
                <a:latin typeface="Constantia"/>
                <a:ea typeface="Constantia"/>
                <a:cs typeface="Constantia"/>
                <a:sym typeface="Constantia"/>
              </a:rPr>
              <a:t>These were all statements that come from the Western World. Can we think of a few that are from our part of the world? </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46"/>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p>
            <a:pPr indent="0" lvl="0" marL="0" rtl="0" algn="ctr">
              <a:lnSpc>
                <a:spcPct val="90000"/>
              </a:lnSpc>
              <a:spcBef>
                <a:spcPts val="0"/>
              </a:spcBef>
              <a:spcAft>
                <a:spcPts val="0"/>
              </a:spcAft>
              <a:buClr>
                <a:schemeClr val="dk1"/>
              </a:buClr>
              <a:buSzPts val="2100"/>
              <a:buNone/>
            </a:pPr>
            <a:r>
              <a:t/>
            </a:r>
            <a:endParaRPr/>
          </a:p>
          <a:p>
            <a:pPr indent="0" lvl="0" marL="0" rtl="0" algn="ctr">
              <a:lnSpc>
                <a:spcPct val="90000"/>
              </a:lnSpc>
              <a:spcBef>
                <a:spcPts val="800"/>
              </a:spcBef>
              <a:spcAft>
                <a:spcPts val="0"/>
              </a:spcAft>
              <a:buClr>
                <a:schemeClr val="dk1"/>
              </a:buClr>
              <a:buSzPts val="2100"/>
              <a:buNone/>
            </a:pPr>
            <a:r>
              <a:t/>
            </a:r>
            <a:endParaRPr/>
          </a:p>
          <a:p>
            <a:pPr indent="0" lvl="0" marL="0" rtl="0" algn="ctr">
              <a:lnSpc>
                <a:spcPct val="90000"/>
              </a:lnSpc>
              <a:spcBef>
                <a:spcPts val="800"/>
              </a:spcBef>
              <a:spcAft>
                <a:spcPts val="0"/>
              </a:spcAft>
              <a:buClr>
                <a:schemeClr val="dk1"/>
              </a:buClr>
              <a:buSzPts val="2100"/>
              <a:buNone/>
            </a:pPr>
            <a:r>
              <a:t/>
            </a:r>
            <a:endParaRPr/>
          </a:p>
          <a:p>
            <a:pPr indent="0" lvl="0" marL="0" rtl="0" algn="ctr">
              <a:lnSpc>
                <a:spcPct val="90000"/>
              </a:lnSpc>
              <a:spcBef>
                <a:spcPts val="800"/>
              </a:spcBef>
              <a:spcAft>
                <a:spcPts val="1200"/>
              </a:spcAft>
              <a:buClr>
                <a:schemeClr val="dk1"/>
              </a:buClr>
              <a:buSzPts val="2100"/>
              <a:buNone/>
            </a:pPr>
            <a:r>
              <a:rPr lang="en"/>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