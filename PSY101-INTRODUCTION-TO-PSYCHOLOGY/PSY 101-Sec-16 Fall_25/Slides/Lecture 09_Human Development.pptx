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Constantia"/>
      <p:regular r:id="rId26"/>
      <p:bold r:id="rId27"/>
      <p:italic r:id="rId28"/>
      <p:boldItalic r:id="rId29"/>
    </p:embeddedFont>
    <p:embeddedFont>
      <p:font typeface="Book Antiqua"/>
      <p:regular r:id="rId30"/>
      <p:bold r:id="rId31"/>
      <p:italic r:id="rId32"/>
      <p:boldItalic r:id="rId33"/>
    </p:embeddedFont>
    <p:embeddedFont>
      <p:font typeface="Gill Sans"/>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vTOXUF5cQgVYGRIc205yt/zm2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6750D7-DD35-49AC-9D66-47656B1D127F}">
  <a:tblStyle styleId="{3F6750D7-DD35-49AC-9D66-47656B1D127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onstantia-regular.fntdata"/><Relationship Id="rId25" Type="http://schemas.openxmlformats.org/officeDocument/2006/relationships/slide" Target="slides/slide20.xml"/><Relationship Id="rId28" Type="http://schemas.openxmlformats.org/officeDocument/2006/relationships/font" Target="fonts/Constantia-italic.fntdata"/><Relationship Id="rId27" Type="http://schemas.openxmlformats.org/officeDocument/2006/relationships/font" Target="fonts/Constantia-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nstantia-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ookAntiqua-bold.fntdata"/><Relationship Id="rId30" Type="http://schemas.openxmlformats.org/officeDocument/2006/relationships/font" Target="fonts/BookAntiqua-regular.fntdata"/><Relationship Id="rId11" Type="http://schemas.openxmlformats.org/officeDocument/2006/relationships/slide" Target="slides/slide6.xml"/><Relationship Id="rId33" Type="http://schemas.openxmlformats.org/officeDocument/2006/relationships/font" Target="fonts/BookAntiqua-boldItalic.fntdata"/><Relationship Id="rId10" Type="http://schemas.openxmlformats.org/officeDocument/2006/relationships/slide" Target="slides/slide5.xml"/><Relationship Id="rId32" Type="http://schemas.openxmlformats.org/officeDocument/2006/relationships/font" Target="fonts/BookAntiqua-italic.fntdata"/><Relationship Id="rId13" Type="http://schemas.openxmlformats.org/officeDocument/2006/relationships/slide" Target="slides/slide8.xml"/><Relationship Id="rId35" Type="http://schemas.openxmlformats.org/officeDocument/2006/relationships/font" Target="fonts/GillSans-bold.fntdata"/><Relationship Id="rId12" Type="http://schemas.openxmlformats.org/officeDocument/2006/relationships/slide" Target="slides/slide7.xml"/><Relationship Id="rId34" Type="http://schemas.openxmlformats.org/officeDocument/2006/relationships/font" Target="fonts/GillSans-regular.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3344033f81_0_177: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3344033f81_0_177:notes"/>
          <p:cNvSpPr txBox="1"/>
          <p:nvPr>
            <p:ph idx="1" type="body"/>
          </p:nvPr>
        </p:nvSpPr>
        <p:spPr>
          <a:xfrm>
            <a:off x="685785"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US"/>
              <a:t>Click to reveal bullets.</a:t>
            </a:r>
            <a:endParaRPr/>
          </a:p>
          <a:p>
            <a:pPr indent="-298450" lvl="0" marL="457200" rtl="0" algn="l">
              <a:lnSpc>
                <a:spcPct val="100000"/>
              </a:lnSpc>
              <a:spcBef>
                <a:spcPts val="0"/>
              </a:spcBef>
              <a:spcAft>
                <a:spcPts val="0"/>
              </a:spcAft>
              <a:buSzPts val="1100"/>
              <a:buChar char="●"/>
            </a:pPr>
            <a:r>
              <a:rPr lang="en-US"/>
              <a:t>Instructor: You can ask students if they think that teratogens qualify as a “nurture” factor influencing development. If we recall that “nurture” really means “environmental influences” and not “cuddling,” it should be clear that this is an example of how nature and nurture both operate before birth.</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US"/>
              <a:t>Sometimes, the zygote first fully splits into two; this is the start of identical twins.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US"/>
              <a:t>The outer layer of cells becomes the placenta, the mechanism for providing nutrients and oxygen to the child and filtering out toxins; it will be more visible on the next slide.</a:t>
            </a:r>
            <a:endParaRPr/>
          </a:p>
          <a:p>
            <a:pPr indent="-228600" lvl="0" marL="457200" rtl="0" algn="l">
              <a:lnSpc>
                <a:spcPct val="100000"/>
              </a:lnSpc>
              <a:spcBef>
                <a:spcPts val="0"/>
              </a:spcBef>
              <a:spcAft>
                <a:spcPts val="0"/>
              </a:spcAft>
              <a:buSzPts val="1100"/>
              <a:buNone/>
            </a:pPr>
            <a:r>
              <a:t/>
            </a:r>
            <a:endParaRPr/>
          </a:p>
          <a:p>
            <a:pPr indent="-298450" lvl="0" marL="457200" rtl="0" algn="l">
              <a:lnSpc>
                <a:spcPct val="218181"/>
              </a:lnSpc>
              <a:spcBef>
                <a:spcPts val="220"/>
              </a:spcBef>
              <a:spcAft>
                <a:spcPts val="0"/>
              </a:spcAft>
              <a:buSzPts val="1100"/>
              <a:buChar char="●"/>
            </a:pPr>
            <a:r>
              <a:rPr lang="en-US"/>
              <a:t>At nine weeks, hands and face have developed; the embryo is now called a</a:t>
            </a:r>
            <a:r>
              <a:rPr b="1" lang="en-US">
                <a:solidFill>
                  <a:srgbClr val="31859C"/>
                </a:solidFill>
              </a:rPr>
              <a:t> fetus</a:t>
            </a:r>
            <a:r>
              <a:rPr lang="en-US"/>
              <a:t> (“offspring”). At 4 months, many more features develop.</a:t>
            </a:r>
            <a:endParaRPr/>
          </a:p>
          <a:p>
            <a:pPr indent="-298450" lvl="0" marL="457200" rtl="0" algn="l">
              <a:lnSpc>
                <a:spcPct val="218181"/>
              </a:lnSpc>
              <a:spcBef>
                <a:spcPts val="820"/>
              </a:spcBef>
              <a:spcAft>
                <a:spcPts val="0"/>
              </a:spcAft>
              <a:buSzPts val="1100"/>
              <a:buChar char="●"/>
            </a:pPr>
            <a:r>
              <a:rPr lang="en-US"/>
              <a:t>Milestone of the fetal stage: by six months, the fetus might be able to survive outside the womb</a:t>
            </a:r>
            <a:endParaRPr/>
          </a:p>
          <a:p>
            <a:pPr indent="-228600" lvl="0" marL="457200" rtl="0" algn="l">
              <a:lnSpc>
                <a:spcPct val="100000"/>
              </a:lnSpc>
              <a:spcBef>
                <a:spcPts val="60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p:txBody>
      </p:sp>
      <p:sp>
        <p:nvSpPr>
          <p:cNvPr id="87" name="Google Shape;87;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chemeClr val="dk1"/>
                </a:solidFill>
                <a:latin typeface="Calibri"/>
                <a:ea typeface="Calibri"/>
                <a:cs typeface="Calibri"/>
                <a:sym typeface="Calibri"/>
              </a:rPr>
              <a:t>‹#›</a:t>
            </a:fld>
            <a:endParaRPr b="0" i="0" sz="14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9" name="Google Shape;9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US"/>
              <a:t>Click to reveal bullets.</a:t>
            </a:r>
            <a:endParaRPr/>
          </a:p>
          <a:p>
            <a:pPr indent="-298450" lvl="0" marL="457200" rtl="0" algn="l">
              <a:lnSpc>
                <a:spcPct val="100000"/>
              </a:lnSpc>
              <a:spcBef>
                <a:spcPts val="0"/>
              </a:spcBef>
              <a:spcAft>
                <a:spcPts val="0"/>
              </a:spcAft>
              <a:buSzPts val="1100"/>
              <a:buChar char="●"/>
            </a:pPr>
            <a:r>
              <a:rPr lang="en-US"/>
              <a:t>Examples of noticeable problems in FAS: hyperactivity, learning problems, emotion control problems, and unusual facial size, shape, and features. The underlying problem of FAS may be that alcohol switches genes on and off, diverting the normal course of development.</a:t>
            </a:r>
            <a:endParaRPr/>
          </a:p>
        </p:txBody>
      </p:sp>
      <p:sp>
        <p:nvSpPr>
          <p:cNvPr id="100" name="Google Shape;100;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chemeClr val="dk1"/>
                </a:solidFill>
                <a:latin typeface="Calibri"/>
                <a:ea typeface="Calibri"/>
                <a:cs typeface="Calibri"/>
                <a:sym typeface="Calibri"/>
              </a:rPr>
              <a:t>‹#›</a:t>
            </a:fld>
            <a:endParaRPr b="0" i="0" sz="14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9" name="Google Shape;10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US"/>
              <a:t>Click to reveal bullets.</a:t>
            </a:r>
            <a:endParaRPr/>
          </a:p>
          <a:p>
            <a:pPr indent="-298450" lvl="0" marL="457200" rtl="0" algn="l">
              <a:lnSpc>
                <a:spcPct val="100000"/>
              </a:lnSpc>
              <a:spcBef>
                <a:spcPts val="0"/>
              </a:spcBef>
              <a:spcAft>
                <a:spcPts val="0"/>
              </a:spcAft>
              <a:buSzPts val="1100"/>
              <a:buChar char="●"/>
            </a:pPr>
            <a:r>
              <a:rPr lang="en-US"/>
              <a:t>Evidence of learning to recognize sounds from inside the womb: immediately after birth, newborns prefer mother’s voice, and even coo and cry in the tones of her language.</a:t>
            </a:r>
            <a:endParaRPr/>
          </a:p>
          <a:p>
            <a:pPr indent="-298450" lvl="0" marL="457200" rtl="0" algn="l">
              <a:lnSpc>
                <a:spcPct val="100000"/>
              </a:lnSpc>
              <a:spcBef>
                <a:spcPts val="0"/>
              </a:spcBef>
              <a:spcAft>
                <a:spcPts val="0"/>
              </a:spcAft>
              <a:buSzPts val="1100"/>
              <a:buChar char="●"/>
            </a:pPr>
            <a:r>
              <a:rPr lang="en-US"/>
              <a:t>Evidence of habituating to annoying sounds: after birth, newborns can ignore sounds that would agitate other newborns.</a:t>
            </a:r>
            <a:endParaRPr/>
          </a:p>
          <a:p>
            <a:pPr indent="-228600" lvl="0" marL="457200" rtl="0" algn="l">
              <a:lnSpc>
                <a:spcPct val="100000"/>
              </a:lnSpc>
              <a:spcBef>
                <a:spcPts val="0"/>
              </a:spcBef>
              <a:spcAft>
                <a:spcPts val="0"/>
              </a:spcAft>
              <a:buSzPts val="1100"/>
              <a:buNone/>
            </a:pPr>
            <a:r>
              <a:t/>
            </a:r>
            <a:endParaRPr/>
          </a:p>
        </p:txBody>
      </p:sp>
      <p:sp>
        <p:nvSpPr>
          <p:cNvPr id="110" name="Google Shape;110;p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chemeClr val="dk1"/>
                </a:solidFill>
                <a:latin typeface="Calibri"/>
                <a:ea typeface="Calibri"/>
                <a:cs typeface="Calibri"/>
                <a:sym typeface="Calibri"/>
              </a:rPr>
              <a:t>‹#›</a:t>
            </a:fld>
            <a:endParaRPr b="0" i="0" sz="14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 name="Google Shape;11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US"/>
              <a:t>Click to reveal bullets.</a:t>
            </a:r>
            <a:endParaRPr/>
          </a:p>
          <a:p>
            <a:pPr indent="-298450" lvl="0" marL="457200" rtl="0" algn="l">
              <a:lnSpc>
                <a:spcPct val="100000"/>
              </a:lnSpc>
              <a:spcBef>
                <a:spcPts val="0"/>
              </a:spcBef>
              <a:spcAft>
                <a:spcPts val="0"/>
              </a:spcAft>
              <a:buSzPts val="1100"/>
              <a:buChar char="●"/>
            </a:pPr>
            <a:r>
              <a:rPr lang="en-US"/>
              <a:t>Evidence of learning to recognize sounds from inside the womb: immediately after birth, newborns prefer mother’s voice, and even coo and cry in the tones of her language.</a:t>
            </a:r>
            <a:endParaRPr/>
          </a:p>
          <a:p>
            <a:pPr indent="-298450" lvl="0" marL="457200" rtl="0" algn="l">
              <a:lnSpc>
                <a:spcPct val="100000"/>
              </a:lnSpc>
              <a:spcBef>
                <a:spcPts val="0"/>
              </a:spcBef>
              <a:spcAft>
                <a:spcPts val="0"/>
              </a:spcAft>
              <a:buSzPts val="1100"/>
              <a:buChar char="●"/>
            </a:pPr>
            <a:r>
              <a:rPr lang="en-US"/>
              <a:t>Evidence of habituating to annoying sounds: after birth, newborns can ignore sounds that would agitate other newborns.</a:t>
            </a:r>
            <a:endParaRPr/>
          </a:p>
          <a:p>
            <a:pPr indent="-228600" lvl="0" marL="457200" rtl="0" algn="l">
              <a:lnSpc>
                <a:spcPct val="100000"/>
              </a:lnSpc>
              <a:spcBef>
                <a:spcPts val="0"/>
              </a:spcBef>
              <a:spcAft>
                <a:spcPts val="0"/>
              </a:spcAft>
              <a:buSzPts val="1100"/>
              <a:buNone/>
            </a:pPr>
            <a:r>
              <a:t/>
            </a:r>
            <a:endParaRPr/>
          </a:p>
        </p:txBody>
      </p:sp>
      <p:sp>
        <p:nvSpPr>
          <p:cNvPr id="119" name="Google Shape;119;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chemeClr val="dk1"/>
                </a:solidFill>
                <a:latin typeface="Calibri"/>
                <a:ea typeface="Calibri"/>
                <a:cs typeface="Calibri"/>
                <a:sym typeface="Calibri"/>
              </a:rPr>
              <a:t>‹#›</a:t>
            </a:fld>
            <a:endParaRPr b="0" i="0" sz="14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7" name="Google Shape;12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US"/>
              <a:t>Click to reveal bullets.</a:t>
            </a:r>
            <a:endParaRPr/>
          </a:p>
          <a:p>
            <a:pPr indent="-298450" lvl="0" marL="457200" rtl="0" algn="l">
              <a:lnSpc>
                <a:spcPct val="100000"/>
              </a:lnSpc>
              <a:spcBef>
                <a:spcPts val="0"/>
              </a:spcBef>
              <a:spcAft>
                <a:spcPts val="0"/>
              </a:spcAft>
              <a:buSzPts val="1100"/>
              <a:buChar char="●"/>
            </a:pPr>
            <a:r>
              <a:rPr lang="en-US"/>
              <a:t>How do we conclude that these abilities are inborn?...because they are evident within hours of birth.</a:t>
            </a:r>
            <a:endParaRPr/>
          </a:p>
          <a:p>
            <a:pPr indent="-298450" lvl="0" marL="457200" rtl="0" algn="l">
              <a:lnSpc>
                <a:spcPct val="100000"/>
              </a:lnSpc>
              <a:spcBef>
                <a:spcPts val="0"/>
              </a:spcBef>
              <a:spcAft>
                <a:spcPts val="0"/>
              </a:spcAft>
              <a:buSzPts val="1100"/>
              <a:buChar char="●"/>
            </a:pPr>
            <a:r>
              <a:rPr lang="en-US"/>
              <a:t>The rooting reflex triggers the baby to get in position for breastfeeding.</a:t>
            </a:r>
            <a:endParaRPr/>
          </a:p>
        </p:txBody>
      </p:sp>
      <p:sp>
        <p:nvSpPr>
          <p:cNvPr id="128" name="Google Shape;128;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chemeClr val="dk1"/>
                </a:solidFill>
                <a:latin typeface="Calibri"/>
                <a:ea typeface="Calibri"/>
                <a:cs typeface="Calibri"/>
                <a:sym typeface="Calibri"/>
              </a:rPr>
              <a:t>‹#›</a:t>
            </a:fld>
            <a:endParaRPr b="0" i="0" sz="14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5fb6ca2a5_0_10: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40" name="Google Shape;140;g375fb6ca2a5_0_10: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75fb6ca2a5_0_18: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49" name="Google Shape;149;g375fb6ca2a5_0_18: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5fb6ca2a5_0_23: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55" name="Google Shape;155;g375fb6ca2a5_0_23: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75fb6ca2a5_0_28: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61" name="Google Shape;161;g375fb6ca2a5_0_28: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5fb6ca2a5_0_35: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69" name="Google Shape;169;g375fb6ca2a5_0_35: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5fb6ca2a5_0_42: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77" name="Google Shape;177;g375fb6ca2a5_0_42: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5fb6ca2a5_0_48: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84" name="Google Shape;184;g375fb6ca2a5_0_48: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75fb6ca2a5_0_55: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192" name="Google Shape;192;g375fb6ca2a5_0_55: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5fb6ca2a5_0_65: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203" name="Google Shape;203;g375fb6ca2a5_0_65: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5fb6ca2a5_0_72: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211" name="Google Shape;211;g375fb6ca2a5_0_72: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5fb6ca2a5_0_80: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220" name="Google Shape;220;g375fb6ca2a5_0_80: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5fb6ca2a5_0_88: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229" name="Google Shape;229;g375fb6ca2a5_0_88: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5fb6ca2a5_0_96: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rtl="0" algn="l">
              <a:lnSpc>
                <a:spcPct val="100000"/>
              </a:lnSpc>
              <a:spcBef>
                <a:spcPts val="0"/>
              </a:spcBef>
              <a:spcAft>
                <a:spcPts val="0"/>
              </a:spcAft>
              <a:buSzPts val="1100"/>
              <a:buNone/>
            </a:pPr>
            <a:r>
              <a:t/>
            </a:r>
            <a:endParaRPr/>
          </a:p>
        </p:txBody>
      </p:sp>
      <p:sp>
        <p:nvSpPr>
          <p:cNvPr id="238" name="Google Shape;238;g375fb6ca2a5_0_96:notes"/>
          <p:cNvSpPr/>
          <p:nvPr>
            <p:ph idx="2" type="sldImg"/>
          </p:nvPr>
        </p:nvSpPr>
        <p:spPr>
          <a:xfrm>
            <a:off x="381204" y="685795"/>
            <a:ext cx="6096000" cy="3429000"/>
          </a:xfrm>
          <a:custGeom>
            <a:rect b="b" l="l" r="r" t="t"/>
            <a:pathLst>
              <a:path extrusionOk="0" h="120000" w="120000">
                <a:moveTo>
                  <a:pt x="0" y="0"/>
                </a:moveTo>
                <a:lnTo>
                  <a:pt x="120000" y="0"/>
                </a:lnTo>
                <a:lnTo>
                  <a:pt x="120000" y="120000"/>
                </a:lnTo>
                <a:lnTo>
                  <a:pt x="0" y="120000"/>
                </a:lnTo>
                <a:close/>
              </a:path>
            </a:pathLst>
          </a:custGeom>
          <a:noFill/>
          <a:ln cap="flat" cmpd="sng" w="93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5" name="Shape 45"/>
        <p:cNvGrpSpPr/>
        <p:nvPr/>
      </p:nvGrpSpPr>
      <p:grpSpPr>
        <a:xfrm>
          <a:off x="0" y="0"/>
          <a:ext cx="0" cy="0"/>
          <a:chOff x="0" y="0"/>
          <a:chExt cx="0" cy="0"/>
        </a:xfrm>
      </p:grpSpPr>
      <p:sp>
        <p:nvSpPr>
          <p:cNvPr id="46" name="Google Shape;46;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8" name="Google Shape;48;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9" name="Google Shape;49;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2" name="Shape 52"/>
        <p:cNvGrpSpPr/>
        <p:nvPr/>
      </p:nvGrpSpPr>
      <p:grpSpPr>
        <a:xfrm>
          <a:off x="0" y="0"/>
          <a:ext cx="0" cy="0"/>
          <a:chOff x="0" y="0"/>
          <a:chExt cx="0" cy="0"/>
        </a:xfrm>
      </p:grpSpPr>
      <p:sp>
        <p:nvSpPr>
          <p:cNvPr id="53" name="Google Shape;53;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6"/>
          <p:cNvSpPr/>
          <p:nvPr>
            <p:ph idx="2" type="pic"/>
          </p:nvPr>
        </p:nvSpPr>
        <p:spPr>
          <a:xfrm>
            <a:off x="5183188" y="987425"/>
            <a:ext cx="6172200" cy="4873625"/>
          </a:xfrm>
          <a:prstGeom prst="rect">
            <a:avLst/>
          </a:prstGeom>
          <a:noFill/>
          <a:ln>
            <a:noFill/>
          </a:ln>
        </p:spPr>
      </p:sp>
      <p:sp>
        <p:nvSpPr>
          <p:cNvPr id="55" name="Google Shape;55;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9" name="Shape 59"/>
        <p:cNvGrpSpPr/>
        <p:nvPr/>
      </p:nvGrpSpPr>
      <p:grpSpPr>
        <a:xfrm>
          <a:off x="0" y="0"/>
          <a:ext cx="0" cy="0"/>
          <a:chOff x="0" y="0"/>
          <a:chExt cx="0" cy="0"/>
        </a:xfrm>
      </p:grpSpPr>
      <p:sp>
        <p:nvSpPr>
          <p:cNvPr id="60" name="Google Shape;6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5" name="Shape 65"/>
        <p:cNvGrpSpPr/>
        <p:nvPr/>
      </p:nvGrpSpPr>
      <p:grpSpPr>
        <a:xfrm>
          <a:off x="0" y="0"/>
          <a:ext cx="0" cy="0"/>
          <a:chOff x="0" y="0"/>
          <a:chExt cx="0" cy="0"/>
        </a:xfrm>
      </p:grpSpPr>
      <p:sp>
        <p:nvSpPr>
          <p:cNvPr id="66" name="Google Shape;66;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jpg"/><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jp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jpg"/><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descr="Stages of Human Development: What It Is &amp; Why It's Important | Maryville  Online" id="75" name="Google Shape;75;p1"/>
          <p:cNvPicPr preferRelativeResize="0"/>
          <p:nvPr/>
        </p:nvPicPr>
        <p:blipFill rotWithShape="1">
          <a:blip r:embed="rId3">
            <a:alphaModFix/>
          </a:blip>
          <a:srcRect b="0" l="0" r="0" t="0"/>
          <a:stretch/>
        </p:blipFill>
        <p:spPr>
          <a:xfrm>
            <a:off x="-75271" y="0"/>
            <a:ext cx="13112811" cy="6858000"/>
          </a:xfrm>
          <a:prstGeom prst="rect">
            <a:avLst/>
          </a:prstGeom>
          <a:noFill/>
          <a:ln>
            <a:noFill/>
          </a:ln>
        </p:spPr>
      </p:pic>
      <p:sp>
        <p:nvSpPr>
          <p:cNvPr id="76" name="Google Shape;76;p1"/>
          <p:cNvSpPr txBox="1"/>
          <p:nvPr/>
        </p:nvSpPr>
        <p:spPr>
          <a:xfrm>
            <a:off x="1524000" y="254000"/>
            <a:ext cx="9144000" cy="905727"/>
          </a:xfrm>
          <a:prstGeom prst="rect">
            <a:avLst/>
          </a:prstGeom>
          <a:noFill/>
          <a:ln>
            <a:noFill/>
          </a:ln>
        </p:spPr>
        <p:txBody>
          <a:bodyPr anchorCtr="0" anchor="b" bIns="45700" lIns="91425" spcFirstLastPara="1" rIns="91425" wrap="square" tIns="45700">
            <a:normAutofit lnSpcReduction="10000"/>
          </a:bodyPr>
          <a:lstStyle/>
          <a:p>
            <a:pPr indent="0" lvl="0" marL="0" marR="0" rtl="0" algn="ctr">
              <a:lnSpc>
                <a:spcPct val="90000"/>
              </a:lnSpc>
              <a:spcBef>
                <a:spcPts val="0"/>
              </a:spcBef>
              <a:spcAft>
                <a:spcPts val="0"/>
              </a:spcAft>
              <a:buClr>
                <a:schemeClr val="dk1"/>
              </a:buClr>
              <a:buSzPts val="6000"/>
              <a:buFont typeface="Constantia"/>
              <a:buNone/>
            </a:pPr>
            <a:r>
              <a:rPr b="0" i="0" lang="en-US" sz="6000" u="none" cap="none" strike="noStrike">
                <a:solidFill>
                  <a:schemeClr val="lt1"/>
                </a:solidFill>
                <a:latin typeface="Constantia"/>
                <a:ea typeface="Constantia"/>
                <a:cs typeface="Constantia"/>
                <a:sym typeface="Constantia"/>
              </a:rPr>
              <a:t>Human Development</a:t>
            </a:r>
            <a:endParaRPr b="0" i="0" sz="6000" u="none" cap="none" strike="noStrike">
              <a:solidFill>
                <a:schemeClr val="lt1"/>
              </a:solidFill>
              <a:latin typeface="Calibri"/>
              <a:ea typeface="Calibri"/>
              <a:cs typeface="Calibri"/>
              <a:sym typeface="Calibri"/>
            </a:endParaRPr>
          </a:p>
        </p:txBody>
      </p:sp>
      <p:sp>
        <p:nvSpPr>
          <p:cNvPr id="77" name="Google Shape;77;p1"/>
          <p:cNvSpPr txBox="1"/>
          <p:nvPr/>
        </p:nvSpPr>
        <p:spPr>
          <a:xfrm>
            <a:off x="-486937" y="1773238"/>
            <a:ext cx="4746702" cy="1655762"/>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000" u="none" cap="none" strike="noStrike">
                <a:solidFill>
                  <a:schemeClr val="lt1"/>
                </a:solidFill>
                <a:latin typeface="Constantia"/>
                <a:ea typeface="Constantia"/>
                <a:cs typeface="Constantia"/>
                <a:sym typeface="Constantia"/>
              </a:rPr>
              <a:t>PSY 101, BRAC University</a:t>
            </a:r>
            <a:endParaRPr/>
          </a:p>
          <a:p>
            <a:pPr indent="0" lvl="0" marL="0" marR="0" rtl="0" algn="ctr">
              <a:lnSpc>
                <a:spcPct val="90000"/>
              </a:lnSpc>
              <a:spcBef>
                <a:spcPts val="0"/>
              </a:spcBef>
              <a:spcAft>
                <a:spcPts val="0"/>
              </a:spcAft>
              <a:buClr>
                <a:schemeClr val="dk1"/>
              </a:buClr>
              <a:buSzPts val="2400"/>
              <a:buFont typeface="Arial"/>
              <a:buNone/>
            </a:pPr>
            <a:r>
              <a:rPr lang="en-US" sz="2000">
                <a:solidFill>
                  <a:schemeClr val="lt1"/>
                </a:solidFill>
                <a:latin typeface="Constantia"/>
                <a:ea typeface="Constantia"/>
                <a:cs typeface="Constantia"/>
                <a:sym typeface="Constantia"/>
              </a:rPr>
              <a:t>Monzia Mushtaq</a:t>
            </a:r>
            <a:endParaRPr/>
          </a:p>
          <a:p>
            <a:pPr indent="0" lvl="0" marL="0" marR="0" rtl="0" algn="ctr">
              <a:lnSpc>
                <a:spcPct val="90000"/>
              </a:lnSpc>
              <a:spcBef>
                <a:spcPts val="1000"/>
              </a:spcBef>
              <a:spcAft>
                <a:spcPts val="0"/>
              </a:spcAft>
              <a:buClr>
                <a:schemeClr val="dk1"/>
              </a:buClr>
              <a:buSzPts val="2400"/>
              <a:buFont typeface="Arial"/>
              <a:buNone/>
            </a:pPr>
            <a:r>
              <a:t/>
            </a:r>
            <a:endParaRPr b="0" i="0" sz="20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3344033f81_0_177"/>
          <p:cNvSpPr txBox="1"/>
          <p:nvPr>
            <p:ph type="ctrTitle"/>
          </p:nvPr>
        </p:nvSpPr>
        <p:spPr>
          <a:xfrm>
            <a:off x="1910067" y="359899"/>
            <a:ext cx="9875700" cy="843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SzPts val="990"/>
              <a:buNone/>
            </a:pPr>
            <a:r>
              <a:rPr b="1" lang="en-US" sz="2900">
                <a:solidFill>
                  <a:schemeClr val="dk1"/>
                </a:solidFill>
                <a:latin typeface="Times New Roman"/>
                <a:ea typeface="Times New Roman"/>
                <a:cs typeface="Times New Roman"/>
                <a:sym typeface="Times New Roman"/>
              </a:rPr>
              <a:t>As we journey through life—from womb to tomb—when and how do we develop?</a:t>
            </a:r>
            <a:endParaRPr b="1" sz="2900">
              <a:latin typeface="Times New Roman"/>
              <a:ea typeface="Times New Roman"/>
              <a:cs typeface="Times New Roman"/>
              <a:sym typeface="Times New Roman"/>
            </a:endParaRPr>
          </a:p>
        </p:txBody>
      </p:sp>
      <p:sp>
        <p:nvSpPr>
          <p:cNvPr id="83" name="Google Shape;83;g33344033f81_0_177"/>
          <p:cNvSpPr txBox="1"/>
          <p:nvPr>
            <p:ph idx="1" type="subTitle"/>
          </p:nvPr>
        </p:nvSpPr>
        <p:spPr>
          <a:xfrm>
            <a:off x="1602200" y="1624225"/>
            <a:ext cx="10183500" cy="4956600"/>
          </a:xfrm>
          <a:prstGeom prst="rect">
            <a:avLst/>
          </a:prstGeom>
        </p:spPr>
        <p:txBody>
          <a:bodyPr anchorCtr="0" anchor="t" bIns="45700" lIns="91425" spcFirstLastPara="1" rIns="91425" wrap="square" tIns="45700">
            <a:normAutofit/>
          </a:bodyPr>
          <a:lstStyle/>
          <a:p>
            <a:pPr indent="0" lvl="0" marL="12700" rtl="0" algn="just">
              <a:lnSpc>
                <a:spcPct val="90000"/>
              </a:lnSpc>
              <a:spcBef>
                <a:spcPts val="1000"/>
              </a:spcBef>
              <a:spcAft>
                <a:spcPts val="0"/>
              </a:spcAft>
              <a:buNone/>
            </a:pPr>
            <a:r>
              <a:rPr lang="en-US" sz="2800">
                <a:solidFill>
                  <a:schemeClr val="dk1"/>
                </a:solidFill>
                <a:latin typeface="Times New Roman"/>
                <a:ea typeface="Times New Roman"/>
                <a:cs typeface="Times New Roman"/>
                <a:sym typeface="Times New Roman"/>
              </a:rPr>
              <a:t>Virtually all of us began walking around age 1 and talking by age 2. </a:t>
            </a:r>
            <a:endParaRPr sz="2800">
              <a:solidFill>
                <a:schemeClr val="dk1"/>
              </a:solidFill>
              <a:latin typeface="Times New Roman"/>
              <a:ea typeface="Times New Roman"/>
              <a:cs typeface="Times New Roman"/>
              <a:sym typeface="Times New Roman"/>
            </a:endParaRPr>
          </a:p>
          <a:p>
            <a:pPr indent="0" lvl="0" marL="12700" rtl="0" algn="just">
              <a:lnSpc>
                <a:spcPct val="90000"/>
              </a:lnSpc>
              <a:spcBef>
                <a:spcPts val="1000"/>
              </a:spcBef>
              <a:spcAft>
                <a:spcPts val="0"/>
              </a:spcAft>
              <a:buClr>
                <a:schemeClr val="dk1"/>
              </a:buClr>
              <a:buSzPts val="1100"/>
              <a:buFont typeface="Arial"/>
              <a:buNone/>
            </a:pPr>
            <a:r>
              <a:rPr lang="en-US" sz="2800">
                <a:solidFill>
                  <a:schemeClr val="dk1"/>
                </a:solidFill>
                <a:latin typeface="Times New Roman"/>
                <a:ea typeface="Times New Roman"/>
                <a:cs typeface="Times New Roman"/>
                <a:sym typeface="Times New Roman"/>
              </a:rPr>
              <a:t>As children, we engaged in social play in preparation for life’s work. As adults, we all smile and cry, love and loathe, and occasionally ponder the fact that someday we will die.</a:t>
            </a:r>
            <a:endParaRPr sz="2800">
              <a:solidFill>
                <a:schemeClr val="dk1"/>
              </a:solidFill>
              <a:latin typeface="Times New Roman"/>
              <a:ea typeface="Times New Roman"/>
              <a:cs typeface="Times New Roman"/>
              <a:sym typeface="Times New Roman"/>
            </a:endParaRPr>
          </a:p>
          <a:p>
            <a:pPr indent="0" lvl="0" marL="12700" rtl="0" algn="just">
              <a:lnSpc>
                <a:spcPct val="90000"/>
              </a:lnSpc>
              <a:spcBef>
                <a:spcPts val="1000"/>
              </a:spcBef>
              <a:spcAft>
                <a:spcPts val="0"/>
              </a:spcAft>
              <a:buClr>
                <a:schemeClr val="dk1"/>
              </a:buClr>
              <a:buSzPts val="1100"/>
              <a:buFont typeface="Arial"/>
              <a:buNone/>
            </a:pPr>
            <a:r>
              <a:rPr lang="en-US" sz="2800">
                <a:solidFill>
                  <a:schemeClr val="dk1"/>
                </a:solidFill>
                <a:latin typeface="Times New Roman"/>
                <a:ea typeface="Times New Roman"/>
                <a:cs typeface="Times New Roman"/>
                <a:sym typeface="Times New Roman"/>
              </a:rPr>
              <a:t>Developmental psychology examines how people are continually developing— physically, cognitively, and socially—from infancy through old age.</a:t>
            </a:r>
            <a:endParaRPr sz="2800">
              <a:solidFill>
                <a:schemeClr val="dk1"/>
              </a:solidFill>
              <a:latin typeface="Times New Roman"/>
              <a:ea typeface="Times New Roman"/>
              <a:cs typeface="Times New Roman"/>
              <a:sym typeface="Times New Roman"/>
            </a:endParaRPr>
          </a:p>
          <a:p>
            <a:pPr indent="0" lvl="0" marL="0" rtl="0" algn="just">
              <a:spcBef>
                <a:spcPts val="10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0"/>
          <p:cNvSpPr txBox="1"/>
          <p:nvPr>
            <p:ph idx="1" type="body"/>
          </p:nvPr>
        </p:nvSpPr>
        <p:spPr>
          <a:xfrm>
            <a:off x="5002214" y="520701"/>
            <a:ext cx="5665787" cy="373062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800"/>
              <a:buNone/>
            </a:pPr>
            <a:r>
              <a:rPr b="1" lang="en-US" u="sng"/>
              <a:t>The Zygote Stage: First 10 to 14 Days</a:t>
            </a:r>
            <a:endParaRPr/>
          </a:p>
          <a:p>
            <a:pPr indent="-114300" lvl="0" marL="0" rtl="0" algn="l">
              <a:lnSpc>
                <a:spcPct val="100000"/>
              </a:lnSpc>
              <a:spcBef>
                <a:spcPts val="1000"/>
              </a:spcBef>
              <a:spcAft>
                <a:spcPts val="0"/>
              </a:spcAft>
              <a:buSzPts val="1800"/>
              <a:buFont typeface="Noto Sans Symbols"/>
              <a:buChar char="▪"/>
            </a:pPr>
            <a:r>
              <a:rPr lang="en-US"/>
              <a:t>After the nuclei of the egg and sperm fuse, the cell divides in 2, 4, 8, 16, 100, 1000…</a:t>
            </a:r>
            <a:endParaRPr/>
          </a:p>
          <a:p>
            <a:pPr indent="-114300" lvl="0" marL="0" rtl="0" algn="l">
              <a:lnSpc>
                <a:spcPct val="100000"/>
              </a:lnSpc>
              <a:spcBef>
                <a:spcPts val="0"/>
              </a:spcBef>
              <a:spcAft>
                <a:spcPts val="0"/>
              </a:spcAft>
              <a:buSzPts val="1800"/>
              <a:buFont typeface="Noto Sans Symbols"/>
              <a:buChar char="▪"/>
            </a:pPr>
            <a:r>
              <a:rPr lang="en-US"/>
              <a:t>Milestone of the zygote stage: cells begin to </a:t>
            </a:r>
            <a:r>
              <a:rPr b="1" lang="en-US">
                <a:solidFill>
                  <a:srgbClr val="444EA2"/>
                </a:solidFill>
              </a:rPr>
              <a:t>differentiate</a:t>
            </a:r>
            <a:r>
              <a:rPr lang="en-US"/>
              <a:t> into specialized locations and structures</a:t>
            </a:r>
            <a:endParaRPr i="1"/>
          </a:p>
          <a:p>
            <a:pPr indent="0" lvl="0" marL="0" rtl="0" algn="l">
              <a:lnSpc>
                <a:spcPct val="85714"/>
              </a:lnSpc>
              <a:spcBef>
                <a:spcPts val="1000"/>
              </a:spcBef>
              <a:spcAft>
                <a:spcPts val="0"/>
              </a:spcAft>
              <a:buSzPts val="1800"/>
              <a:buNone/>
            </a:pPr>
            <a:r>
              <a:t/>
            </a:r>
            <a:endParaRPr i="1"/>
          </a:p>
          <a:p>
            <a:pPr indent="0" lvl="0" marL="0" rtl="0" algn="l">
              <a:lnSpc>
                <a:spcPct val="85714"/>
              </a:lnSpc>
              <a:spcBef>
                <a:spcPts val="1000"/>
              </a:spcBef>
              <a:spcAft>
                <a:spcPts val="0"/>
              </a:spcAft>
              <a:buSzPts val="1800"/>
              <a:buNone/>
            </a:pPr>
            <a:r>
              <a:t/>
            </a:r>
            <a:endParaRPr i="1"/>
          </a:p>
        </p:txBody>
      </p:sp>
      <p:grpSp>
        <p:nvGrpSpPr>
          <p:cNvPr id="90" name="Google Shape;90;p40"/>
          <p:cNvGrpSpPr/>
          <p:nvPr/>
        </p:nvGrpSpPr>
        <p:grpSpPr>
          <a:xfrm>
            <a:off x="1681163" y="342900"/>
            <a:ext cx="3054350" cy="2490788"/>
            <a:chOff x="2987998" y="1219199"/>
            <a:chExt cx="3055306" cy="2491660"/>
          </a:xfrm>
        </p:grpSpPr>
        <p:sp>
          <p:nvSpPr>
            <p:cNvPr id="91" name="Google Shape;91;p40"/>
            <p:cNvSpPr/>
            <p:nvPr/>
          </p:nvSpPr>
          <p:spPr>
            <a:xfrm>
              <a:off x="2987998" y="1219199"/>
              <a:ext cx="3055306" cy="2491660"/>
            </a:xfrm>
            <a:prstGeom prst="roundRect">
              <a:avLst>
                <a:gd fmla="val 16667" name="adj"/>
              </a:avLst>
            </a:prstGeom>
            <a:solidFill>
              <a:srgbClr val="F36F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0"/>
            <p:cNvSpPr/>
            <p:nvPr/>
          </p:nvSpPr>
          <p:spPr>
            <a:xfrm>
              <a:off x="3067398" y="1298602"/>
              <a:ext cx="2975906" cy="2104174"/>
            </a:xfrm>
            <a:prstGeom prst="rect">
              <a:avLst/>
            </a:prstGeom>
            <a:noFill/>
            <a:ln>
              <a:noFill/>
            </a:ln>
          </p:spPr>
          <p:txBody>
            <a:bodyPr anchorCtr="0" anchor="ctr" bIns="110475" lIns="110475" spcFirstLastPara="1" rIns="110475" wrap="square" tIns="110475">
              <a:noAutofit/>
            </a:bodyPr>
            <a:lstStyle/>
            <a:p>
              <a:pPr indent="0" lvl="0" marL="0" marR="0" rtl="0" algn="ctr">
                <a:lnSpc>
                  <a:spcPct val="90000"/>
                </a:lnSpc>
                <a:spcBef>
                  <a:spcPts val="0"/>
                </a:spcBef>
                <a:spcAft>
                  <a:spcPts val="0"/>
                </a:spcAft>
                <a:buNone/>
              </a:pPr>
              <a:r>
                <a:rPr b="0" i="0" lang="en-US" sz="3600" u="none" cap="none" strike="noStrike">
                  <a:solidFill>
                    <a:srgbClr val="F8F6E3"/>
                  </a:solidFill>
                  <a:latin typeface="Arial"/>
                  <a:ea typeface="Arial"/>
                  <a:cs typeface="Arial"/>
                  <a:sym typeface="Arial"/>
                </a:rPr>
                <a:t>Prenatal Development</a:t>
              </a:r>
              <a:endParaRPr/>
            </a:p>
          </p:txBody>
        </p:sp>
      </p:grpSp>
      <p:sp>
        <p:nvSpPr>
          <p:cNvPr id="93" name="Google Shape;93;p40"/>
          <p:cNvSpPr/>
          <p:nvPr/>
        </p:nvSpPr>
        <p:spPr>
          <a:xfrm>
            <a:off x="1524000" y="3787775"/>
            <a:ext cx="6096000" cy="2328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Calibri"/>
                <a:ea typeface="Calibri"/>
                <a:cs typeface="Calibri"/>
                <a:sym typeface="Calibri"/>
              </a:rPr>
              <a:t>Implantation: The </a:t>
            </a:r>
            <a:r>
              <a:rPr b="1" lang="en-US" sz="2800" u="sng">
                <a:latin typeface="Calibri"/>
                <a:ea typeface="Calibri"/>
                <a:cs typeface="Calibri"/>
                <a:sym typeface="Calibri"/>
              </a:rPr>
              <a:t>Embryo</a:t>
            </a:r>
            <a:r>
              <a:rPr b="1" i="0" lang="en-US" sz="2800" u="sng" cap="none" strike="noStrike">
                <a:solidFill>
                  <a:srgbClr val="000000"/>
                </a:solidFill>
                <a:latin typeface="Calibri"/>
                <a:ea typeface="Calibri"/>
                <a:cs typeface="Calibri"/>
                <a:sym typeface="Calibri"/>
              </a:rPr>
              <a:t>, 2 to 8 weeks</a:t>
            </a:r>
            <a:endParaRPr/>
          </a:p>
          <a:p>
            <a:pPr indent="-177800" lvl="0" marL="0" marR="0" rtl="0" algn="l">
              <a:lnSpc>
                <a:spcPct val="100000"/>
              </a:lnSpc>
              <a:spcBef>
                <a:spcPts val="600"/>
              </a:spcBef>
              <a:spcAft>
                <a:spcPts val="0"/>
              </a:spcAft>
              <a:buClr>
                <a:srgbClr val="000000"/>
              </a:buClr>
              <a:buSzPts val="2800"/>
              <a:buFont typeface="Noto Sans Symbols"/>
              <a:buChar char="▪"/>
            </a:pPr>
            <a:r>
              <a:rPr b="0" i="0" lang="en-US" sz="2800" u="none" cap="none" strike="noStrike">
                <a:solidFill>
                  <a:srgbClr val="000000"/>
                </a:solidFill>
                <a:latin typeface="Calibri"/>
                <a:ea typeface="Calibri"/>
                <a:cs typeface="Calibri"/>
                <a:sym typeface="Calibri"/>
              </a:rPr>
              <a:t>This stage begins with the multicellular cluster that </a:t>
            </a:r>
            <a:r>
              <a:rPr b="1" i="0" lang="en-US" sz="2800" u="none" cap="none" strike="noStrike">
                <a:solidFill>
                  <a:srgbClr val="444EA2"/>
                </a:solidFill>
                <a:latin typeface="Calibri"/>
                <a:ea typeface="Calibri"/>
                <a:cs typeface="Calibri"/>
                <a:sym typeface="Calibri"/>
              </a:rPr>
              <a:t>implants</a:t>
            </a:r>
            <a:r>
              <a:rPr b="0" i="0" lang="en-US" sz="2800" u="none" cap="none" strike="noStrike">
                <a:solidFill>
                  <a:srgbClr val="000000"/>
                </a:solidFill>
                <a:latin typeface="Calibri"/>
                <a:ea typeface="Calibri"/>
                <a:cs typeface="Calibri"/>
                <a:sym typeface="Calibri"/>
              </a:rPr>
              <a:t> in the uterine wall.</a:t>
            </a:r>
            <a:endParaRPr/>
          </a:p>
          <a:p>
            <a:pPr indent="-177800" lvl="0" marL="0"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Calibri"/>
                <a:ea typeface="Calibri"/>
                <a:cs typeface="Calibri"/>
                <a:sym typeface="Calibri"/>
              </a:rPr>
              <a:t>Milestone of the implantation stage: differentiated cells develop into organs and bones</a:t>
            </a:r>
            <a:endParaRPr/>
          </a:p>
        </p:txBody>
      </p:sp>
      <p:pic>
        <p:nvPicPr>
          <p:cNvPr descr="MyPEL2e_fig_3_03.jpg" id="94" name="Google Shape;94;p40"/>
          <p:cNvPicPr preferRelativeResize="0"/>
          <p:nvPr/>
        </p:nvPicPr>
        <p:blipFill rotWithShape="1">
          <a:blip r:embed="rId3">
            <a:alphaModFix/>
          </a:blip>
          <a:srcRect b="8876" l="0" r="8201" t="0"/>
          <a:stretch/>
        </p:blipFill>
        <p:spPr>
          <a:xfrm>
            <a:off x="8098575" y="3942375"/>
            <a:ext cx="2204300" cy="2583850"/>
          </a:xfrm>
          <a:prstGeom prst="rect">
            <a:avLst/>
          </a:prstGeom>
          <a:noFill/>
          <a:ln>
            <a:noFill/>
          </a:ln>
          <a:effectLst>
            <a:outerShdw blurRad="292100" rotWithShape="0" algn="tl" dir="2700000" dist="139700">
              <a:srgbClr val="333333">
                <a:alpha val="64705"/>
              </a:srgbClr>
            </a:outerShdw>
          </a:effectLst>
        </p:spPr>
      </p:pic>
      <p:sp>
        <p:nvSpPr>
          <p:cNvPr id="95" name="Google Shape;95;p40"/>
          <p:cNvSpPr txBox="1"/>
          <p:nvPr/>
        </p:nvSpPr>
        <p:spPr>
          <a:xfrm>
            <a:off x="7867650" y="6022976"/>
            <a:ext cx="1828800"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chemeClr val="lt1"/>
                </a:solidFill>
                <a:latin typeface="Calibri"/>
                <a:ea typeface="Calibri"/>
                <a:cs typeface="Calibri"/>
                <a:sym typeface="Calibri"/>
              </a:rPr>
              <a:t>Embryo</a:t>
            </a:r>
            <a:endParaRPr/>
          </a:p>
        </p:txBody>
      </p:sp>
      <p:sp>
        <p:nvSpPr>
          <p:cNvPr id="96" name="Google Shape;9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Effect filter="fade" transition="in">
                                      <p:cBhvr>
                                        <p:cTn dur="500"/>
                                        <p:tgtEl>
                                          <p:spTgt spid="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Effect filter="fade" transition="in">
                                      <p:cBhvr>
                                        <p:cTn dur="500"/>
                                        <p:tgtEl>
                                          <p:spTgt spid="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Effect filter="fade" transition="in">
                                      <p:cBhvr>
                                        <p:cTn dur="500"/>
                                        <p:tgtEl>
                                          <p:spTgt spid="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animEffect filter="fade" transition="in">
                                      <p:cBhvr>
                                        <p:cTn dur="500"/>
                                        <p:tgtEl>
                                          <p:spTgt spid="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animEffect filter="fade" transition="in">
                                      <p:cBhvr>
                                        <p:cTn dur="500"/>
                                        <p:tgtEl>
                                          <p:spTgt spid="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animEffect filter="fade" transition="in">
                                      <p:cBhvr>
                                        <p:cTn dur="500"/>
                                        <p:tgtEl>
                                          <p:spTgt spid="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animEffect filter="fade" transition="in">
                                      <p:cBhvr>
                                        <p:cTn dur="500"/>
                                        <p:tgtEl>
                                          <p:spTgt spid="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animEffect filter="fade" transition="in">
                                      <p:cBhvr>
                                        <p:cTn dur="500"/>
                                        <p:tgtEl>
                                          <p:spTgt spid="9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1"/>
          <p:cNvSpPr txBox="1"/>
          <p:nvPr>
            <p:ph type="title"/>
          </p:nvPr>
        </p:nvSpPr>
        <p:spPr>
          <a:xfrm>
            <a:off x="1524000" y="0"/>
            <a:ext cx="9144000" cy="952500"/>
          </a:xfrm>
          <a:prstGeom prst="rect">
            <a:avLst/>
          </a:prstGeom>
          <a:solidFill>
            <a:srgbClr val="F36F21"/>
          </a:solidFill>
          <a:ln>
            <a:noFill/>
          </a:ln>
        </p:spPr>
        <p:txBody>
          <a:bodyPr anchorCtr="0" anchor="ctr" bIns="45700" lIns="274300" spcFirstLastPara="1" rIns="91425" wrap="square" tIns="45700">
            <a:normAutofit/>
          </a:bodyPr>
          <a:lstStyle/>
          <a:p>
            <a:pPr indent="0" lvl="0" marL="0" rtl="0" algn="l">
              <a:lnSpc>
                <a:spcPct val="95454"/>
              </a:lnSpc>
              <a:spcBef>
                <a:spcPts val="0"/>
              </a:spcBef>
              <a:spcAft>
                <a:spcPts val="0"/>
              </a:spcAft>
              <a:buSzPts val="1800"/>
              <a:buNone/>
            </a:pPr>
            <a:r>
              <a:rPr b="1" lang="en-US">
                <a:solidFill>
                  <a:srgbClr val="F8F6E3"/>
                </a:solidFill>
              </a:rPr>
              <a:t>Fetal Life: The Dangers</a:t>
            </a:r>
            <a:endParaRPr/>
          </a:p>
        </p:txBody>
      </p:sp>
      <p:sp>
        <p:nvSpPr>
          <p:cNvPr id="103" name="Google Shape;103;p41"/>
          <p:cNvSpPr txBox="1"/>
          <p:nvPr>
            <p:ph idx="1" type="body"/>
          </p:nvPr>
        </p:nvSpPr>
        <p:spPr>
          <a:xfrm>
            <a:off x="1901826" y="1544639"/>
            <a:ext cx="3908425" cy="4352925"/>
          </a:xfrm>
          <a:prstGeom prst="rect">
            <a:avLst/>
          </a:prstGeom>
          <a:noFill/>
          <a:ln>
            <a:noFill/>
          </a:ln>
        </p:spPr>
        <p:txBody>
          <a:bodyPr anchorCtr="0" anchor="ctr" bIns="45700" lIns="91425" spcFirstLastPara="1" rIns="91425" wrap="square" tIns="45700">
            <a:normAutofit fontScale="70000" lnSpcReduction="20000"/>
          </a:bodyPr>
          <a:lstStyle/>
          <a:p>
            <a:pPr indent="-342900" lvl="0" marL="457200" rtl="0" algn="l">
              <a:lnSpc>
                <a:spcPct val="85714"/>
              </a:lnSpc>
              <a:spcBef>
                <a:spcPts val="0"/>
              </a:spcBef>
              <a:spcAft>
                <a:spcPts val="0"/>
              </a:spcAft>
              <a:buSzPct val="91836"/>
              <a:buNone/>
            </a:pPr>
            <a:r>
              <a:rPr b="1" lang="en-US"/>
              <a:t>Dangers</a:t>
            </a:r>
            <a:endParaRPr/>
          </a:p>
          <a:p>
            <a:pPr indent="-342900" lvl="0" marL="457200" rtl="0" algn="l">
              <a:lnSpc>
                <a:spcPct val="85714"/>
              </a:lnSpc>
              <a:spcBef>
                <a:spcPts val="1200"/>
              </a:spcBef>
              <a:spcAft>
                <a:spcPts val="0"/>
              </a:spcAft>
              <a:buSzPct val="91836"/>
              <a:buChar char="•"/>
            </a:pPr>
            <a:r>
              <a:rPr b="1" lang="en-US">
                <a:solidFill>
                  <a:srgbClr val="444EA2"/>
                </a:solidFill>
              </a:rPr>
              <a:t>Teratogens </a:t>
            </a:r>
            <a:r>
              <a:rPr lang="en-US"/>
              <a:t>(“monster makers”) are substances such as viruses and chemicals that can damage the developing embryo or fetus.</a:t>
            </a:r>
            <a:endParaRPr/>
          </a:p>
          <a:p>
            <a:pPr indent="-342900" lvl="0" marL="457200" rtl="0" algn="l">
              <a:lnSpc>
                <a:spcPct val="85714"/>
              </a:lnSpc>
              <a:spcBef>
                <a:spcPts val="1200"/>
              </a:spcBef>
              <a:spcAft>
                <a:spcPts val="1200"/>
              </a:spcAft>
              <a:buSzPct val="91836"/>
              <a:buChar char="•"/>
            </a:pPr>
            <a:r>
              <a:rPr b="1" lang="en-US">
                <a:solidFill>
                  <a:srgbClr val="444EA2"/>
                </a:solidFill>
              </a:rPr>
              <a:t>Fetal Alcohol Syndrome (FAS) </a:t>
            </a:r>
            <a:r>
              <a:rPr lang="en-US"/>
              <a:t>refers to cognitive, behavioral, and body/brain structure abnormalities caused by exposure to alcohol in the fetal stage. </a:t>
            </a:r>
            <a:endParaRPr/>
          </a:p>
        </p:txBody>
      </p:sp>
      <p:pic>
        <p:nvPicPr>
          <p:cNvPr id="104" name="Google Shape;104;p41"/>
          <p:cNvPicPr preferRelativeResize="0"/>
          <p:nvPr/>
        </p:nvPicPr>
        <p:blipFill rotWithShape="1">
          <a:blip r:embed="rId3">
            <a:alphaModFix/>
          </a:blip>
          <a:srcRect b="9124" l="17796" r="17376" t="9125"/>
          <a:stretch/>
        </p:blipFill>
        <p:spPr>
          <a:xfrm>
            <a:off x="6446838" y="3711575"/>
            <a:ext cx="1547812" cy="2781300"/>
          </a:xfrm>
          <a:prstGeom prst="rect">
            <a:avLst/>
          </a:prstGeom>
          <a:noFill/>
          <a:ln>
            <a:noFill/>
          </a:ln>
          <a:effectLst>
            <a:outerShdw blurRad="292100" rotWithShape="0" algn="tl" dir="2700000" dist="139700">
              <a:srgbClr val="333333">
                <a:alpha val="64705"/>
              </a:srgbClr>
            </a:outerShdw>
          </a:effectLst>
        </p:spPr>
      </p:pic>
      <p:pic>
        <p:nvPicPr>
          <p:cNvPr id="105" name="Google Shape;105;p41"/>
          <p:cNvPicPr preferRelativeResize="0"/>
          <p:nvPr/>
        </p:nvPicPr>
        <p:blipFill rotWithShape="1">
          <a:blip r:embed="rId4">
            <a:alphaModFix/>
          </a:blip>
          <a:srcRect b="0" l="0" r="0" t="0"/>
          <a:stretch/>
        </p:blipFill>
        <p:spPr>
          <a:xfrm>
            <a:off x="6367464" y="1177926"/>
            <a:ext cx="3254375" cy="2354263"/>
          </a:xfrm>
          <a:prstGeom prst="rect">
            <a:avLst/>
          </a:prstGeom>
          <a:noFill/>
          <a:ln>
            <a:noFill/>
          </a:ln>
          <a:effectLst>
            <a:outerShdw blurRad="292100" rotWithShape="0" algn="tl" dir="2700000" dist="139700">
              <a:srgbClr val="333333">
                <a:alpha val="64705"/>
              </a:srgbClr>
            </a:outerShdw>
          </a:effectLst>
        </p:spPr>
      </p:pic>
      <p:sp>
        <p:nvSpPr>
          <p:cNvPr id="106" name="Google Shape;10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500"/>
                                        <p:tgtEl>
                                          <p:spTgt spid="10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Effect filter="fade" transition="in">
                                      <p:cBhvr>
                                        <p:cTn dur="500"/>
                                        <p:tgtEl>
                                          <p:spTgt spid="103">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42"/>
          <p:cNvPicPr preferRelativeResize="0"/>
          <p:nvPr/>
        </p:nvPicPr>
        <p:blipFill rotWithShape="1">
          <a:blip r:embed="rId3">
            <a:alphaModFix/>
          </a:blip>
          <a:srcRect b="0" l="0" r="0" t="0"/>
          <a:stretch/>
        </p:blipFill>
        <p:spPr>
          <a:xfrm>
            <a:off x="9060801" y="1142988"/>
            <a:ext cx="2055813" cy="5776911"/>
          </a:xfrm>
          <a:prstGeom prst="rect">
            <a:avLst/>
          </a:prstGeom>
          <a:noFill/>
          <a:ln>
            <a:noFill/>
          </a:ln>
        </p:spPr>
      </p:pic>
      <p:sp>
        <p:nvSpPr>
          <p:cNvPr id="113" name="Google Shape;113;p42"/>
          <p:cNvSpPr txBox="1"/>
          <p:nvPr>
            <p:ph type="title"/>
          </p:nvPr>
        </p:nvSpPr>
        <p:spPr>
          <a:xfrm>
            <a:off x="1524000" y="0"/>
            <a:ext cx="9144000" cy="1143000"/>
          </a:xfrm>
          <a:prstGeom prst="rect">
            <a:avLst/>
          </a:prstGeom>
          <a:solidFill>
            <a:srgbClr val="F36F21"/>
          </a:solidFill>
          <a:ln>
            <a:noFill/>
          </a:ln>
        </p:spPr>
        <p:txBody>
          <a:bodyPr anchorCtr="0" anchor="ctr" bIns="45700" lIns="274300" spcFirstLastPara="1" rIns="91425" wrap="square" tIns="45700">
            <a:normAutofit/>
          </a:bodyPr>
          <a:lstStyle/>
          <a:p>
            <a:pPr indent="0" lvl="0" marL="0" rtl="0" algn="l">
              <a:lnSpc>
                <a:spcPct val="95454"/>
              </a:lnSpc>
              <a:spcBef>
                <a:spcPts val="0"/>
              </a:spcBef>
              <a:spcAft>
                <a:spcPts val="0"/>
              </a:spcAft>
              <a:buSzPts val="1800"/>
              <a:buNone/>
            </a:pPr>
            <a:r>
              <a:rPr b="1" lang="en-US">
                <a:solidFill>
                  <a:srgbClr val="F8F6E3"/>
                </a:solidFill>
              </a:rPr>
              <a:t>Fetal life: Responding to Sounds</a:t>
            </a:r>
            <a:endParaRPr/>
          </a:p>
        </p:txBody>
      </p:sp>
      <p:sp>
        <p:nvSpPr>
          <p:cNvPr id="114" name="Google Shape;114;p42"/>
          <p:cNvSpPr txBox="1"/>
          <p:nvPr>
            <p:ph idx="1" type="body"/>
          </p:nvPr>
        </p:nvSpPr>
        <p:spPr>
          <a:xfrm>
            <a:off x="926450" y="1737500"/>
            <a:ext cx="7244400" cy="4587900"/>
          </a:xfrm>
          <a:prstGeom prst="rect">
            <a:avLst/>
          </a:prstGeom>
          <a:noFill/>
          <a:ln>
            <a:noFill/>
          </a:ln>
        </p:spPr>
        <p:txBody>
          <a:bodyPr anchorCtr="0" anchor="ctr" bIns="45700" lIns="91425" spcFirstLastPara="1" rIns="91425" wrap="square" tIns="45700">
            <a:normAutofit fontScale="92500" lnSpcReduction="10000"/>
          </a:bodyPr>
          <a:lstStyle/>
          <a:p>
            <a:pPr indent="-412253" lvl="0" marL="457200" rtl="0" algn="l">
              <a:lnSpc>
                <a:spcPct val="150000"/>
              </a:lnSpc>
              <a:spcBef>
                <a:spcPts val="0"/>
              </a:spcBef>
              <a:spcAft>
                <a:spcPts val="0"/>
              </a:spcAft>
              <a:buSzPct val="102625"/>
              <a:buFont typeface="Noto Sans Symbols"/>
              <a:buChar char="▪"/>
            </a:pPr>
            <a:r>
              <a:rPr lang="en-US" sz="3046"/>
              <a:t>Fetuses in the womb can respond to sounds.</a:t>
            </a:r>
            <a:endParaRPr sz="3046"/>
          </a:p>
          <a:p>
            <a:pPr indent="-412253" lvl="0" marL="457200" rtl="0" algn="l">
              <a:lnSpc>
                <a:spcPct val="150000"/>
              </a:lnSpc>
              <a:spcBef>
                <a:spcPts val="1200"/>
              </a:spcBef>
              <a:spcAft>
                <a:spcPts val="0"/>
              </a:spcAft>
              <a:buSzPct val="102625"/>
              <a:buFont typeface="Noto Sans Symbols"/>
              <a:buChar char="▪"/>
            </a:pPr>
            <a:r>
              <a:rPr lang="en-US" sz="3046"/>
              <a:t>Fetuses can learn to recognize and adapt to sounds that they previously heard only in the womb.</a:t>
            </a:r>
            <a:endParaRPr sz="3046"/>
          </a:p>
          <a:p>
            <a:pPr indent="-397764" lvl="0" marL="457200" rtl="0" algn="l">
              <a:lnSpc>
                <a:spcPct val="150000"/>
              </a:lnSpc>
              <a:spcBef>
                <a:spcPts val="1200"/>
              </a:spcBef>
              <a:spcAft>
                <a:spcPts val="1200"/>
              </a:spcAft>
              <a:buSzPct val="94529"/>
              <a:buFont typeface="Noto Sans Symbols"/>
              <a:buChar char="▪"/>
            </a:pPr>
            <a:r>
              <a:rPr lang="en-US" sz="3046"/>
              <a:t>Fetuses can habituate to annoying sounds, becoming less agitated with repeated exposure</a:t>
            </a:r>
            <a:r>
              <a:rPr lang="en-US"/>
              <a:t>.</a:t>
            </a:r>
            <a:endParaRPr/>
          </a:p>
        </p:txBody>
      </p:sp>
      <p:sp>
        <p:nvSpPr>
          <p:cNvPr id="115" name="Google Shape;11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5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5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500"/>
                                        <p:tgtEl>
                                          <p:spTgt spid="1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3"/>
          <p:cNvSpPr txBox="1"/>
          <p:nvPr>
            <p:ph type="title"/>
          </p:nvPr>
        </p:nvSpPr>
        <p:spPr>
          <a:xfrm>
            <a:off x="1524000" y="0"/>
            <a:ext cx="9144000" cy="1143000"/>
          </a:xfrm>
          <a:prstGeom prst="rect">
            <a:avLst/>
          </a:prstGeom>
          <a:solidFill>
            <a:srgbClr val="F36F21"/>
          </a:solidFill>
          <a:ln>
            <a:noFill/>
          </a:ln>
        </p:spPr>
        <p:txBody>
          <a:bodyPr anchorCtr="0" anchor="ctr" bIns="45700" lIns="274300" spcFirstLastPara="1" rIns="91425" wrap="square" tIns="45700">
            <a:normAutofit/>
          </a:bodyPr>
          <a:lstStyle/>
          <a:p>
            <a:pPr indent="0" lvl="0" marL="0" rtl="0" algn="l">
              <a:lnSpc>
                <a:spcPct val="95454"/>
              </a:lnSpc>
              <a:spcBef>
                <a:spcPts val="0"/>
              </a:spcBef>
              <a:spcAft>
                <a:spcPts val="0"/>
              </a:spcAft>
              <a:buSzPts val="1800"/>
              <a:buNone/>
            </a:pPr>
            <a:r>
              <a:rPr b="1" lang="en-US">
                <a:solidFill>
                  <a:srgbClr val="F8F6E3"/>
                </a:solidFill>
              </a:rPr>
              <a:t>The APGAR Test</a:t>
            </a:r>
            <a:endParaRPr/>
          </a:p>
        </p:txBody>
      </p:sp>
      <p:sp>
        <p:nvSpPr>
          <p:cNvPr id="122" name="Google Shape;122;p43"/>
          <p:cNvSpPr txBox="1"/>
          <p:nvPr>
            <p:ph idx="1" type="body"/>
          </p:nvPr>
        </p:nvSpPr>
        <p:spPr>
          <a:xfrm>
            <a:off x="4740275" y="1284288"/>
            <a:ext cx="5945188" cy="5072062"/>
          </a:xfrm>
          <a:prstGeom prst="rect">
            <a:avLst/>
          </a:prstGeom>
          <a:noFill/>
          <a:ln>
            <a:noFill/>
          </a:ln>
        </p:spPr>
        <p:txBody>
          <a:bodyPr anchorCtr="0" anchor="ctr" bIns="45700" lIns="91425" spcFirstLastPara="1" rIns="91425" wrap="square" tIns="45700">
            <a:normAutofit fontScale="70000" lnSpcReduction="20000"/>
          </a:bodyPr>
          <a:lstStyle/>
          <a:p>
            <a:pPr indent="-342900" lvl="0" marL="457200" rtl="0" algn="l">
              <a:lnSpc>
                <a:spcPct val="85714"/>
              </a:lnSpc>
              <a:spcBef>
                <a:spcPts val="0"/>
              </a:spcBef>
              <a:spcAft>
                <a:spcPts val="0"/>
              </a:spcAft>
              <a:buSzPct val="91836"/>
              <a:buFont typeface="Noto Sans Symbols"/>
              <a:buChar char="▪"/>
            </a:pPr>
            <a:r>
              <a:rPr lang="en-US"/>
              <a:t>A quick, physical test Given to every newborn at birth</a:t>
            </a:r>
            <a:endParaRPr/>
          </a:p>
          <a:p>
            <a:pPr indent="-342900" lvl="1" marL="914400" rtl="0" algn="l">
              <a:lnSpc>
                <a:spcPct val="100000"/>
              </a:lnSpc>
              <a:spcBef>
                <a:spcPts val="1200"/>
              </a:spcBef>
              <a:spcAft>
                <a:spcPts val="0"/>
              </a:spcAft>
              <a:buSzPct val="107142"/>
              <a:buFont typeface="Noto Sans Symbols"/>
              <a:buChar char="▪"/>
            </a:pPr>
            <a:r>
              <a:rPr lang="en-US"/>
              <a:t>At 1 minute, 5 minutes after birth</a:t>
            </a:r>
            <a:endParaRPr/>
          </a:p>
          <a:p>
            <a:pPr indent="-342900" lvl="0" marL="457200" rtl="0" algn="l">
              <a:lnSpc>
                <a:spcPct val="85714"/>
              </a:lnSpc>
              <a:spcBef>
                <a:spcPts val="1200"/>
              </a:spcBef>
              <a:spcAft>
                <a:spcPts val="0"/>
              </a:spcAft>
              <a:buSzPct val="91836"/>
              <a:buFont typeface="Noto Sans Symbols"/>
              <a:buChar char="▪"/>
            </a:pPr>
            <a:r>
              <a:rPr lang="en-US"/>
              <a:t>A score of 7-10 is considered normal,</a:t>
            </a:r>
            <a:endParaRPr/>
          </a:p>
          <a:p>
            <a:pPr indent="-342900" lvl="0" marL="457200" rtl="0" algn="l">
              <a:lnSpc>
                <a:spcPct val="85714"/>
              </a:lnSpc>
              <a:spcBef>
                <a:spcPts val="1200"/>
              </a:spcBef>
              <a:spcAft>
                <a:spcPts val="0"/>
              </a:spcAft>
              <a:buSzPct val="91836"/>
              <a:buFont typeface="Noto Sans Symbols"/>
              <a:buChar char="▪"/>
            </a:pPr>
            <a:r>
              <a:rPr lang="en-US"/>
              <a:t>4-6 might need resuscitation</a:t>
            </a:r>
            <a:endParaRPr/>
          </a:p>
          <a:p>
            <a:pPr indent="-342900" lvl="0" marL="457200" rtl="0" algn="l">
              <a:lnSpc>
                <a:spcPct val="85714"/>
              </a:lnSpc>
              <a:spcBef>
                <a:spcPts val="1200"/>
              </a:spcBef>
              <a:spcAft>
                <a:spcPts val="0"/>
              </a:spcAft>
              <a:buSzPct val="91836"/>
              <a:buFont typeface="Noto Sans Symbols"/>
              <a:buChar char="▪"/>
            </a:pPr>
            <a:r>
              <a:rPr lang="en-US"/>
              <a:t>Lower than 3 requires immediate resuscitation</a:t>
            </a:r>
            <a:endParaRPr/>
          </a:p>
          <a:p>
            <a:pPr indent="-342900" lvl="1" marL="914400" rtl="0" algn="l">
              <a:lnSpc>
                <a:spcPct val="100000"/>
              </a:lnSpc>
              <a:spcBef>
                <a:spcPts val="1200"/>
              </a:spcBef>
              <a:spcAft>
                <a:spcPts val="0"/>
              </a:spcAft>
              <a:buSzPct val="107142"/>
              <a:buFont typeface="Noto Sans Symbols"/>
              <a:buChar char="▪"/>
            </a:pPr>
            <a:r>
              <a:rPr lang="en-US"/>
              <a:t>A=Activity or muscle tone</a:t>
            </a:r>
            <a:endParaRPr/>
          </a:p>
          <a:p>
            <a:pPr indent="-342900" lvl="1" marL="914400" rtl="0" algn="l">
              <a:lnSpc>
                <a:spcPct val="100000"/>
              </a:lnSpc>
              <a:spcBef>
                <a:spcPts val="1200"/>
              </a:spcBef>
              <a:spcAft>
                <a:spcPts val="0"/>
              </a:spcAft>
              <a:buSzPct val="107142"/>
              <a:buFont typeface="Noto Sans Symbols"/>
              <a:buChar char="▪"/>
            </a:pPr>
            <a:r>
              <a:rPr lang="en-US"/>
              <a:t>P=Pulse</a:t>
            </a:r>
            <a:endParaRPr/>
          </a:p>
          <a:p>
            <a:pPr indent="-342900" lvl="1" marL="914400" rtl="0" algn="l">
              <a:lnSpc>
                <a:spcPct val="100000"/>
              </a:lnSpc>
              <a:spcBef>
                <a:spcPts val="1200"/>
              </a:spcBef>
              <a:spcAft>
                <a:spcPts val="0"/>
              </a:spcAft>
              <a:buSzPct val="107142"/>
              <a:buFont typeface="Noto Sans Symbols"/>
              <a:buChar char="▪"/>
            </a:pPr>
            <a:r>
              <a:rPr lang="en-US"/>
              <a:t>G=Grimace or reflex irritability</a:t>
            </a:r>
            <a:endParaRPr/>
          </a:p>
          <a:p>
            <a:pPr indent="-342900" lvl="1" marL="914400" rtl="0" algn="l">
              <a:lnSpc>
                <a:spcPct val="100000"/>
              </a:lnSpc>
              <a:spcBef>
                <a:spcPts val="1200"/>
              </a:spcBef>
              <a:spcAft>
                <a:spcPts val="0"/>
              </a:spcAft>
              <a:buSzPct val="107142"/>
              <a:buFont typeface="Noto Sans Symbols"/>
              <a:buChar char="▪"/>
            </a:pPr>
            <a:r>
              <a:rPr lang="en-US"/>
              <a:t>A=Appearance (skin tone)</a:t>
            </a:r>
            <a:endParaRPr/>
          </a:p>
          <a:p>
            <a:pPr indent="-342900" lvl="1" marL="914400" rtl="0" algn="l">
              <a:lnSpc>
                <a:spcPct val="100000"/>
              </a:lnSpc>
              <a:spcBef>
                <a:spcPts val="1200"/>
              </a:spcBef>
              <a:spcAft>
                <a:spcPts val="1200"/>
              </a:spcAft>
              <a:buSzPct val="107142"/>
              <a:buFont typeface="Noto Sans Symbols"/>
              <a:buChar char="▪"/>
            </a:pPr>
            <a:r>
              <a:rPr lang="en-US"/>
              <a:t>R=Respiration</a:t>
            </a:r>
            <a:endParaRPr/>
          </a:p>
        </p:txBody>
      </p:sp>
      <p:sp>
        <p:nvSpPr>
          <p:cNvPr id="123" name="Google Shape;12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pic>
        <p:nvPicPr>
          <p:cNvPr descr="http://img.docstoccdn.com/thumb/orig/98421761.png" id="124" name="Google Shape;124;p43"/>
          <p:cNvPicPr preferRelativeResize="0"/>
          <p:nvPr/>
        </p:nvPicPr>
        <p:blipFill rotWithShape="1">
          <a:blip r:embed="rId3">
            <a:alphaModFix/>
          </a:blip>
          <a:srcRect b="0" l="18178" r="21439" t="22527"/>
          <a:stretch/>
        </p:blipFill>
        <p:spPr>
          <a:xfrm>
            <a:off x="1524001" y="1790700"/>
            <a:ext cx="3292475" cy="44592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Effect filter="fade" transition="in">
                                      <p:cBhvr>
                                        <p:cTn dur="500"/>
                                        <p:tgtEl>
                                          <p:spTgt spid="1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Effect filter="fade" transition="in">
                                      <p:cBhvr>
                                        <p:cTn dur="500"/>
                                        <p:tgtEl>
                                          <p:spTgt spid="1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Effect filter="fade" transition="in">
                                      <p:cBhvr>
                                        <p:cTn dur="500"/>
                                        <p:tgtEl>
                                          <p:spTgt spid="1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Effect filter="fade" transition="in">
                                      <p:cBhvr>
                                        <p:cTn dur="500"/>
                                        <p:tgtEl>
                                          <p:spTgt spid="1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animEffect filter="fade" transition="in">
                                      <p:cBhvr>
                                        <p:cTn dur="500"/>
                                        <p:tgtEl>
                                          <p:spTgt spid="1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animEffect filter="fade" transition="in">
                                      <p:cBhvr>
                                        <p:cTn dur="500"/>
                                        <p:tgtEl>
                                          <p:spTgt spid="1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animEffect filter="fade" transition="in">
                                      <p:cBhvr>
                                        <p:cTn dur="500"/>
                                        <p:tgtEl>
                                          <p:spTgt spid="1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animEffect filter="fade" transition="in">
                                      <p:cBhvr>
                                        <p:cTn dur="500"/>
                                        <p:tgtEl>
                                          <p:spTgt spid="1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8" st="8"/>
                                            </p:txEl>
                                          </p:spTgt>
                                        </p:tgtEl>
                                        <p:attrNameLst>
                                          <p:attrName>style.visibility</p:attrName>
                                        </p:attrNameLst>
                                      </p:cBhvr>
                                      <p:to>
                                        <p:strVal val="visible"/>
                                      </p:to>
                                    </p:set>
                                    <p:animEffect filter="fade" transition="in">
                                      <p:cBhvr>
                                        <p:cTn dur="500"/>
                                        <p:tgtEl>
                                          <p:spTgt spid="1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9" st="9"/>
                                            </p:txEl>
                                          </p:spTgt>
                                        </p:tgtEl>
                                        <p:attrNameLst>
                                          <p:attrName>style.visibility</p:attrName>
                                        </p:attrNameLst>
                                      </p:cBhvr>
                                      <p:to>
                                        <p:strVal val="visible"/>
                                      </p:to>
                                    </p:set>
                                    <p:animEffect filter="fade" transition="in">
                                      <p:cBhvr>
                                        <p:cTn dur="500"/>
                                        <p:tgtEl>
                                          <p:spTgt spid="12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4"/>
          <p:cNvSpPr txBox="1"/>
          <p:nvPr>
            <p:ph type="title"/>
          </p:nvPr>
        </p:nvSpPr>
        <p:spPr>
          <a:xfrm>
            <a:off x="5707463" y="79363"/>
            <a:ext cx="51102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solidFill>
                  <a:srgbClr val="444EA2"/>
                </a:solidFill>
              </a:rPr>
              <a:t>Inborn Skills</a:t>
            </a:r>
            <a:endParaRPr/>
          </a:p>
        </p:txBody>
      </p:sp>
      <p:sp>
        <p:nvSpPr>
          <p:cNvPr id="131" name="Google Shape;131;p44"/>
          <p:cNvSpPr txBox="1"/>
          <p:nvPr>
            <p:ph idx="1" type="body"/>
          </p:nvPr>
        </p:nvSpPr>
        <p:spPr>
          <a:xfrm>
            <a:off x="5238000" y="2039150"/>
            <a:ext cx="6388800" cy="46824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85714"/>
              </a:lnSpc>
              <a:spcBef>
                <a:spcPts val="1000"/>
              </a:spcBef>
              <a:spcAft>
                <a:spcPts val="0"/>
              </a:spcAft>
              <a:buSzPts val="1800"/>
              <a:buNone/>
            </a:pPr>
            <a:r>
              <a:rPr b="1" lang="en-US" sz="2600">
                <a:solidFill>
                  <a:srgbClr val="3AA082"/>
                </a:solidFill>
                <a:latin typeface="Times New Roman"/>
                <a:ea typeface="Times New Roman"/>
                <a:cs typeface="Times New Roman"/>
                <a:sym typeface="Times New Roman"/>
              </a:rPr>
              <a:t>N</a:t>
            </a:r>
            <a:r>
              <a:rPr b="1" lang="en-US">
                <a:solidFill>
                  <a:srgbClr val="3AA082"/>
                </a:solidFill>
                <a:latin typeface="Times New Roman"/>
                <a:ea typeface="Times New Roman"/>
                <a:cs typeface="Times New Roman"/>
                <a:sym typeface="Times New Roman"/>
              </a:rPr>
              <a:t>ewborns have reflexes to ensure that they will be fed.</a:t>
            </a:r>
            <a:endParaRPr>
              <a:latin typeface="Times New Roman"/>
              <a:ea typeface="Times New Roman"/>
              <a:cs typeface="Times New Roman"/>
              <a:sym typeface="Times New Roman"/>
            </a:endParaRPr>
          </a:p>
          <a:p>
            <a:pPr indent="-114300" lvl="0" marL="0" rtl="0" algn="just">
              <a:lnSpc>
                <a:spcPct val="85714"/>
              </a:lnSpc>
              <a:spcBef>
                <a:spcPts val="1600"/>
              </a:spcBef>
              <a:spcAft>
                <a:spcPts val="0"/>
              </a:spcAft>
              <a:buSzPts val="1800"/>
              <a:buFont typeface="Noto Sans Symbols"/>
              <a:buChar char="▪"/>
            </a:pPr>
            <a:r>
              <a:rPr b="1" lang="en-US">
                <a:solidFill>
                  <a:srgbClr val="444EA2"/>
                </a:solidFill>
                <a:latin typeface="Times New Roman"/>
                <a:ea typeface="Times New Roman"/>
                <a:cs typeface="Times New Roman"/>
                <a:sym typeface="Times New Roman"/>
              </a:rPr>
              <a:t>The rooting reflex--</a:t>
            </a:r>
            <a:r>
              <a:rPr lang="en-US">
                <a:latin typeface="Times New Roman"/>
                <a:ea typeface="Times New Roman"/>
                <a:cs typeface="Times New Roman"/>
                <a:sym typeface="Times New Roman"/>
              </a:rPr>
              <a:t>when something touches a newborn’s cheek, the infant turns toward that side with an open mouth.</a:t>
            </a:r>
            <a:endParaRPr>
              <a:latin typeface="Times New Roman"/>
              <a:ea typeface="Times New Roman"/>
              <a:cs typeface="Times New Roman"/>
              <a:sym typeface="Times New Roman"/>
            </a:endParaRPr>
          </a:p>
          <a:p>
            <a:pPr indent="-114300" lvl="0" marL="0" rtl="0" algn="just">
              <a:lnSpc>
                <a:spcPct val="85714"/>
              </a:lnSpc>
              <a:spcBef>
                <a:spcPts val="1600"/>
              </a:spcBef>
              <a:spcAft>
                <a:spcPts val="0"/>
              </a:spcAft>
              <a:buSzPts val="1800"/>
              <a:buFont typeface="Noto Sans Symbols"/>
              <a:buChar char="▪"/>
            </a:pPr>
            <a:r>
              <a:rPr b="1" lang="en-US">
                <a:solidFill>
                  <a:srgbClr val="444EA2"/>
                </a:solidFill>
                <a:latin typeface="Times New Roman"/>
                <a:ea typeface="Times New Roman"/>
                <a:cs typeface="Times New Roman"/>
                <a:sym typeface="Times New Roman"/>
              </a:rPr>
              <a:t>The sucking reflex</a:t>
            </a:r>
            <a:r>
              <a:rPr lang="en-US">
                <a:latin typeface="Times New Roman"/>
                <a:ea typeface="Times New Roman"/>
                <a:cs typeface="Times New Roman"/>
                <a:sym typeface="Times New Roman"/>
              </a:rPr>
              <a:t> can be triggered by a fingertip.</a:t>
            </a:r>
            <a:endParaRPr>
              <a:latin typeface="Times New Roman"/>
              <a:ea typeface="Times New Roman"/>
              <a:cs typeface="Times New Roman"/>
              <a:sym typeface="Times New Roman"/>
            </a:endParaRPr>
          </a:p>
          <a:p>
            <a:pPr indent="-114300" lvl="0" marL="0" rtl="0" algn="just">
              <a:lnSpc>
                <a:spcPct val="85714"/>
              </a:lnSpc>
              <a:spcBef>
                <a:spcPts val="1600"/>
              </a:spcBef>
              <a:spcAft>
                <a:spcPts val="600"/>
              </a:spcAft>
              <a:buSzPts val="1800"/>
              <a:buFont typeface="Noto Sans Symbols"/>
              <a:buChar char="▪"/>
            </a:pPr>
            <a:r>
              <a:rPr b="1" lang="en-US">
                <a:solidFill>
                  <a:srgbClr val="444EA2"/>
                </a:solidFill>
                <a:latin typeface="Times New Roman"/>
                <a:ea typeface="Times New Roman"/>
                <a:cs typeface="Times New Roman"/>
                <a:sym typeface="Times New Roman"/>
              </a:rPr>
              <a:t>Crying when hungry</a:t>
            </a:r>
            <a:r>
              <a:rPr lang="en-US">
                <a:latin typeface="Times New Roman"/>
                <a:ea typeface="Times New Roman"/>
                <a:cs typeface="Times New Roman"/>
                <a:sym typeface="Times New Roman"/>
              </a:rPr>
              <a:t> is the newborn talent of using just the right sounds to motivate parents to end the noise and feed the baby. </a:t>
            </a:r>
            <a:endParaRPr>
              <a:latin typeface="Times New Roman"/>
              <a:ea typeface="Times New Roman"/>
              <a:cs typeface="Times New Roman"/>
              <a:sym typeface="Times New Roman"/>
            </a:endParaRPr>
          </a:p>
        </p:txBody>
      </p:sp>
      <p:sp>
        <p:nvSpPr>
          <p:cNvPr id="132" name="Google Shape;132;p44"/>
          <p:cNvSpPr/>
          <p:nvPr/>
        </p:nvSpPr>
        <p:spPr>
          <a:xfrm>
            <a:off x="5724601" y="1073876"/>
            <a:ext cx="5629200" cy="725700"/>
          </a:xfrm>
          <a:prstGeom prst="rect">
            <a:avLst/>
          </a:prstGeom>
          <a:noFill/>
          <a:ln>
            <a:noFill/>
          </a:ln>
        </p:spPr>
        <p:txBody>
          <a:bodyPr anchorCtr="0" anchor="t" bIns="45700" lIns="91425" spcFirstLastPara="1" rIns="91425" wrap="square" tIns="45700">
            <a:spAutoFit/>
          </a:bodyPr>
          <a:lstStyle/>
          <a:p>
            <a:pPr indent="0" lvl="0" marL="0" marR="0" rtl="0" algn="l">
              <a:lnSpc>
                <a:spcPct val="85714"/>
              </a:lnSpc>
              <a:spcBef>
                <a:spcPts val="0"/>
              </a:spcBef>
              <a:spcAft>
                <a:spcPts val="0"/>
              </a:spcAft>
              <a:buNone/>
            </a:pPr>
            <a:r>
              <a:rPr b="1" lang="en-US" sz="2600" u="none" cap="none" strike="noStrike">
                <a:solidFill>
                  <a:srgbClr val="A0366C"/>
                </a:solidFill>
                <a:latin typeface="Times New Roman"/>
                <a:ea typeface="Times New Roman"/>
                <a:cs typeface="Times New Roman"/>
                <a:sym typeface="Times New Roman"/>
              </a:rPr>
              <a:t>Reflexes </a:t>
            </a:r>
            <a:r>
              <a:rPr lang="en-US" sz="2600" u="none" cap="none" strike="noStrike">
                <a:solidFill>
                  <a:srgbClr val="000000"/>
                </a:solidFill>
                <a:latin typeface="Times New Roman"/>
                <a:ea typeface="Times New Roman"/>
                <a:cs typeface="Times New Roman"/>
                <a:sym typeface="Times New Roman"/>
              </a:rPr>
              <a:t>are responses that are inborn and do not have to be learned.</a:t>
            </a:r>
            <a:endParaRPr sz="2600">
              <a:latin typeface="Times New Roman"/>
              <a:ea typeface="Times New Roman"/>
              <a:cs typeface="Times New Roman"/>
              <a:sym typeface="Times New Roman"/>
            </a:endParaRPr>
          </a:p>
        </p:txBody>
      </p:sp>
      <p:grpSp>
        <p:nvGrpSpPr>
          <p:cNvPr id="133" name="Google Shape;133;p44"/>
          <p:cNvGrpSpPr/>
          <p:nvPr/>
        </p:nvGrpSpPr>
        <p:grpSpPr>
          <a:xfrm>
            <a:off x="1004483" y="323850"/>
            <a:ext cx="3413497" cy="1625700"/>
            <a:chOff x="5129610" y="1219199"/>
            <a:chExt cx="3413100" cy="1625700"/>
          </a:xfrm>
        </p:grpSpPr>
        <p:sp>
          <p:nvSpPr>
            <p:cNvPr id="134" name="Google Shape;134;p44"/>
            <p:cNvSpPr/>
            <p:nvPr/>
          </p:nvSpPr>
          <p:spPr>
            <a:xfrm>
              <a:off x="5129610" y="1219199"/>
              <a:ext cx="3413100" cy="1625700"/>
            </a:xfrm>
            <a:prstGeom prst="roundRect">
              <a:avLst>
                <a:gd fmla="val 16667" name="adj"/>
              </a:avLst>
            </a:prstGeom>
            <a:solidFill>
              <a:srgbClr val="444EA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4"/>
            <p:cNvSpPr/>
            <p:nvPr/>
          </p:nvSpPr>
          <p:spPr>
            <a:xfrm>
              <a:off x="5208977" y="1298574"/>
              <a:ext cx="3233400" cy="1467000"/>
            </a:xfrm>
            <a:prstGeom prst="rect">
              <a:avLst/>
            </a:prstGeom>
            <a:noFill/>
            <a:ln>
              <a:noFill/>
            </a:ln>
          </p:spPr>
          <p:txBody>
            <a:bodyPr anchorCtr="0" anchor="ctr" bIns="110475" lIns="110475" spcFirstLastPara="1" rIns="110475" wrap="square" tIns="110475">
              <a:noAutofit/>
            </a:bodyPr>
            <a:lstStyle/>
            <a:p>
              <a:pPr indent="0" lvl="0" marL="0" marR="0" rtl="0" algn="ctr">
                <a:lnSpc>
                  <a:spcPct val="90000"/>
                </a:lnSpc>
                <a:spcBef>
                  <a:spcPts val="0"/>
                </a:spcBef>
                <a:spcAft>
                  <a:spcPts val="0"/>
                </a:spcAft>
                <a:buNone/>
              </a:pPr>
              <a:r>
                <a:rPr b="0" i="0" lang="en-US" sz="3600" u="none" cap="none" strike="noStrike">
                  <a:solidFill>
                    <a:srgbClr val="F8F6E3"/>
                  </a:solidFill>
                  <a:latin typeface="Arial"/>
                  <a:ea typeface="Arial"/>
                  <a:cs typeface="Arial"/>
                  <a:sym typeface="Arial"/>
                </a:rPr>
                <a:t>The Competent Newborn</a:t>
              </a:r>
              <a:endParaRPr/>
            </a:p>
          </p:txBody>
        </p:sp>
      </p:grpSp>
      <p:sp>
        <p:nvSpPr>
          <p:cNvPr id="136" name="Google Shape;13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200" u="none" cap="none" strike="noStrike">
              <a:solidFill>
                <a:srgbClr val="898989"/>
              </a:solidFill>
              <a:latin typeface="Calibri"/>
              <a:ea typeface="Calibri"/>
              <a:cs typeface="Calibri"/>
              <a:sym typeface="Calibri"/>
            </a:endParaRPr>
          </a:p>
        </p:txBody>
      </p:sp>
      <p:pic>
        <p:nvPicPr>
          <p:cNvPr descr="http://1.bp.blogspot.com/-Vf0zZ83kxXA/TphtmGdwFsI/AAAAAAAAAZo/4De3xkv6R8w/s1600/Blog+10-19-11.jpg" id="137" name="Google Shape;137;p44"/>
          <p:cNvPicPr preferRelativeResize="0"/>
          <p:nvPr/>
        </p:nvPicPr>
        <p:blipFill rotWithShape="1">
          <a:blip r:embed="rId3">
            <a:alphaModFix/>
          </a:blip>
          <a:srcRect b="0" l="0" r="0" t="0"/>
          <a:stretch/>
        </p:blipFill>
        <p:spPr>
          <a:xfrm>
            <a:off x="1184064" y="2341575"/>
            <a:ext cx="3233737" cy="3786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75fb6ca2a5_0_10"/>
          <p:cNvSpPr txBox="1"/>
          <p:nvPr>
            <p:ph type="ctrTitle"/>
          </p:nvPr>
        </p:nvSpPr>
        <p:spPr>
          <a:xfrm>
            <a:off x="1727200" y="415650"/>
            <a:ext cx="9876300" cy="14895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rgbClr val="AD5BFF"/>
              </a:buClr>
              <a:buSzPct val="100000"/>
              <a:buFont typeface="Gill Sans"/>
              <a:buNone/>
            </a:pPr>
            <a:r>
              <a:rPr b="1" i="0" lang="en-US" sz="2500" u="none">
                <a:latin typeface="Times New Roman"/>
                <a:ea typeface="Times New Roman"/>
                <a:cs typeface="Times New Roman"/>
                <a:sym typeface="Times New Roman"/>
              </a:rPr>
              <a:t>ERIKSON’S THEORY OF PSYCHOSOCIAL</a:t>
            </a:r>
            <a:br>
              <a:rPr b="1" i="0" lang="en-US" sz="2500" u="none">
                <a:latin typeface="Times New Roman"/>
                <a:ea typeface="Times New Roman"/>
                <a:cs typeface="Times New Roman"/>
                <a:sym typeface="Times New Roman"/>
              </a:rPr>
            </a:br>
            <a:r>
              <a:rPr b="1" i="0" lang="en-US" sz="2500" u="none">
                <a:latin typeface="Times New Roman"/>
                <a:ea typeface="Times New Roman"/>
                <a:cs typeface="Times New Roman"/>
                <a:sym typeface="Times New Roman"/>
              </a:rPr>
              <a:t>DEVELOPMENT</a:t>
            </a:r>
            <a:br>
              <a:rPr b="1" i="0" lang="en-US" sz="2500" u="none">
                <a:solidFill>
                  <a:srgbClr val="AD5BFF"/>
                </a:solidFill>
                <a:latin typeface="Gill Sans"/>
                <a:ea typeface="Gill Sans"/>
                <a:cs typeface="Gill Sans"/>
                <a:sym typeface="Gill Sans"/>
              </a:rPr>
            </a:br>
            <a:endParaRPr/>
          </a:p>
        </p:txBody>
      </p:sp>
      <p:sp>
        <p:nvSpPr>
          <p:cNvPr id="143" name="Google Shape;143;g375fb6ca2a5_0_10"/>
          <p:cNvSpPr txBox="1"/>
          <p:nvPr/>
        </p:nvSpPr>
        <p:spPr>
          <a:xfrm>
            <a:off x="207433" y="-1508125"/>
            <a:ext cx="3149700" cy="314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44" name="Google Shape;144;g375fb6ca2a5_0_10"/>
          <p:cNvPicPr preferRelativeResize="0"/>
          <p:nvPr/>
        </p:nvPicPr>
        <p:blipFill rotWithShape="1">
          <a:blip r:embed="rId3">
            <a:alphaModFix/>
          </a:blip>
          <a:srcRect b="0" l="0" r="0" t="0"/>
          <a:stretch/>
        </p:blipFill>
        <p:spPr>
          <a:xfrm>
            <a:off x="7204949" y="1909763"/>
            <a:ext cx="2805112" cy="3733800"/>
          </a:xfrm>
          <a:prstGeom prst="rect">
            <a:avLst/>
          </a:prstGeom>
          <a:noFill/>
          <a:ln>
            <a:noFill/>
          </a:ln>
        </p:spPr>
      </p:pic>
      <p:sp>
        <p:nvSpPr>
          <p:cNvPr descr="Image result for erikson" id="145" name="Google Shape;145;g375fb6ca2a5_0_10"/>
          <p:cNvSpPr txBox="1"/>
          <p:nvPr/>
        </p:nvSpPr>
        <p:spPr>
          <a:xfrm>
            <a:off x="207433" y="-144462"/>
            <a:ext cx="4065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46" name="Google Shape;146;g375fb6ca2a5_0_10"/>
          <p:cNvPicPr preferRelativeResize="0"/>
          <p:nvPr/>
        </p:nvPicPr>
        <p:blipFill rotWithShape="1">
          <a:blip r:embed="rId4">
            <a:alphaModFix/>
          </a:blip>
          <a:srcRect b="0" l="0" r="0" t="0"/>
          <a:stretch/>
        </p:blipFill>
        <p:spPr>
          <a:xfrm>
            <a:off x="2932533" y="1905000"/>
            <a:ext cx="2790825" cy="3743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75fb6ca2a5_0_18"/>
          <p:cNvSpPr txBox="1"/>
          <p:nvPr>
            <p:ph type="title"/>
          </p:nvPr>
        </p:nvSpPr>
        <p:spPr>
          <a:xfrm>
            <a:off x="2848667" y="664275"/>
            <a:ext cx="8146800" cy="63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AD5BFF"/>
              </a:buClr>
              <a:buSzPct val="100000"/>
              <a:buFont typeface="Gill Sans"/>
              <a:buNone/>
            </a:pPr>
            <a:br>
              <a:rPr b="1" i="0" lang="en-US" sz="2900" u="none">
                <a:solidFill>
                  <a:srgbClr val="AD5BFF"/>
                </a:solidFill>
                <a:latin typeface="Gill Sans"/>
                <a:ea typeface="Gill Sans"/>
                <a:cs typeface="Gill Sans"/>
                <a:sym typeface="Gill Sans"/>
              </a:rPr>
            </a:br>
            <a:r>
              <a:rPr b="1" i="0" lang="en-US" sz="2900" u="none">
                <a:solidFill>
                  <a:srgbClr val="294349"/>
                </a:solidFill>
                <a:latin typeface="Times New Roman"/>
                <a:ea typeface="Times New Roman"/>
                <a:cs typeface="Times New Roman"/>
                <a:sym typeface="Times New Roman"/>
              </a:rPr>
              <a:t>INTRODUCTION</a:t>
            </a:r>
            <a:br>
              <a:rPr b="0" i="0" lang="en-US" sz="2900" u="none">
                <a:solidFill>
                  <a:srgbClr val="AD5BFF"/>
                </a:solidFill>
                <a:latin typeface="Gill Sans"/>
                <a:ea typeface="Gill Sans"/>
                <a:cs typeface="Gill Sans"/>
                <a:sym typeface="Gill Sans"/>
              </a:rPr>
            </a:br>
            <a:endParaRPr/>
          </a:p>
        </p:txBody>
      </p:sp>
      <p:sp>
        <p:nvSpPr>
          <p:cNvPr id="152" name="Google Shape;152;g375fb6ca2a5_0_18"/>
          <p:cNvSpPr txBox="1"/>
          <p:nvPr>
            <p:ph idx="1" type="body"/>
          </p:nvPr>
        </p:nvSpPr>
        <p:spPr>
          <a:xfrm>
            <a:off x="1727200" y="1622875"/>
            <a:ext cx="10185600" cy="46254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just">
              <a:lnSpc>
                <a:spcPct val="100000"/>
              </a:lnSpc>
              <a:spcBef>
                <a:spcPts val="0"/>
              </a:spcBef>
              <a:spcAft>
                <a:spcPts val="0"/>
              </a:spcAft>
              <a:buNone/>
            </a:pPr>
            <a:r>
              <a:rPr lang="en-US" sz="3066">
                <a:latin typeface="Times New Roman"/>
                <a:ea typeface="Times New Roman"/>
                <a:cs typeface="Times New Roman"/>
                <a:sym typeface="Times New Roman"/>
              </a:rPr>
              <a:t>-</a:t>
            </a:r>
            <a:r>
              <a:rPr i="0" lang="en-US" sz="3066" u="none" cap="none" strike="noStrike">
                <a:solidFill>
                  <a:schemeClr val="dk1"/>
                </a:solidFill>
                <a:latin typeface="Times New Roman"/>
                <a:ea typeface="Times New Roman"/>
                <a:cs typeface="Times New Roman"/>
                <a:sym typeface="Times New Roman"/>
              </a:rPr>
              <a:t>Erikson's stages of psychosocial development, as articulated by Erik Erikson, in collaboration with Joan Erikson, is a comprehensive psychoanalytic theory that identifies a series of eight stages, in which a healthy developing individual should pass through from infancy to late adulthood.</a:t>
            </a:r>
            <a:endParaRPr i="0" sz="3066"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sz="3066">
              <a:latin typeface="Times New Roman"/>
              <a:ea typeface="Times New Roman"/>
              <a:cs typeface="Times New Roman"/>
              <a:sym typeface="Times New Roman"/>
            </a:endParaRPr>
          </a:p>
          <a:p>
            <a:pPr indent="0" lvl="0" marL="0" marR="0" rtl="0" algn="just">
              <a:lnSpc>
                <a:spcPct val="100000"/>
              </a:lnSpc>
              <a:spcBef>
                <a:spcPts val="600"/>
              </a:spcBef>
              <a:spcAft>
                <a:spcPts val="0"/>
              </a:spcAft>
              <a:buNone/>
            </a:pPr>
            <a:r>
              <a:rPr lang="en-US" sz="3066">
                <a:latin typeface="Times New Roman"/>
                <a:ea typeface="Times New Roman"/>
                <a:cs typeface="Times New Roman"/>
                <a:sym typeface="Times New Roman"/>
              </a:rPr>
              <a:t>-</a:t>
            </a:r>
            <a:r>
              <a:rPr i="0" lang="en-US" sz="3066" u="none" cap="none" strike="noStrike">
                <a:solidFill>
                  <a:schemeClr val="dk1"/>
                </a:solidFill>
                <a:latin typeface="Times New Roman"/>
                <a:ea typeface="Times New Roman"/>
                <a:cs typeface="Times New Roman"/>
                <a:sym typeface="Times New Roman"/>
              </a:rPr>
              <a:t>Erikson believed that the achievements and failures of earlier stages influence later stages, whereas later stages modify and transform earlier ones.</a:t>
            </a:r>
            <a:endParaRPr sz="3066">
              <a:latin typeface="Times New Roman"/>
              <a:ea typeface="Times New Roman"/>
              <a:cs typeface="Times New Roman"/>
              <a:sym typeface="Times New Roman"/>
            </a:endParaRPr>
          </a:p>
          <a:p>
            <a:pPr indent="-282575" lvl="0" marL="365125" marR="0" rtl="0" algn="l">
              <a:lnSpc>
                <a:spcPct val="100000"/>
              </a:lnSpc>
              <a:spcBef>
                <a:spcPts val="600"/>
              </a:spcBef>
              <a:spcAft>
                <a:spcPts val="0"/>
              </a:spcAft>
              <a:buClr>
                <a:schemeClr val="accent1"/>
              </a:buClr>
              <a:buSzPct val="80000"/>
              <a:buFont typeface="Noto Sans Symbols"/>
              <a:buNone/>
            </a:pPr>
            <a:r>
              <a:t/>
            </a:r>
            <a:endParaRPr b="1" i="0" sz="3000" u="none" cap="none" strike="noStrike">
              <a:solidFill>
                <a:schemeClr val="dk1"/>
              </a:solidFill>
              <a:latin typeface="Gill Sans"/>
              <a:ea typeface="Gill Sans"/>
              <a:cs typeface="Gill Sans"/>
              <a:sym typeface="Gill Sans"/>
            </a:endParaRPr>
          </a:p>
          <a:p>
            <a:pPr indent="-130175" lvl="0" marL="365125" marR="0" rtl="0" algn="l">
              <a:lnSpc>
                <a:spcPct val="100000"/>
              </a:lnSpc>
              <a:spcBef>
                <a:spcPts val="600"/>
              </a:spcBef>
              <a:spcAft>
                <a:spcPts val="0"/>
              </a:spcAft>
              <a:buClr>
                <a:schemeClr val="accent1"/>
              </a:buClr>
              <a:buSzPct val="80000"/>
              <a:buFont typeface="Noto Sans Symbols"/>
              <a:buNone/>
            </a:pPr>
            <a:r>
              <a:t/>
            </a:r>
            <a:endParaRPr b="0" i="0" sz="3000" u="none" cap="none" strike="noStrike">
              <a:solidFill>
                <a:schemeClr val="dk1"/>
              </a:solidFill>
              <a:latin typeface="Gill Sans"/>
              <a:ea typeface="Gill Sans"/>
              <a:cs typeface="Gill Sans"/>
              <a:sym typeface="Gill Sans"/>
            </a:endParaRPr>
          </a:p>
          <a:p>
            <a:pPr indent="-130175" lvl="0" marL="365125" marR="0" rtl="0" algn="l">
              <a:lnSpc>
                <a:spcPct val="100000"/>
              </a:lnSpc>
              <a:spcBef>
                <a:spcPts val="600"/>
              </a:spcBef>
              <a:spcAft>
                <a:spcPts val="0"/>
              </a:spcAft>
              <a:buClr>
                <a:schemeClr val="accent1"/>
              </a:buClr>
              <a:buSzPct val="80000"/>
              <a:buFont typeface="Noto Sans Symbols"/>
              <a:buNone/>
            </a:pPr>
            <a:r>
              <a:t/>
            </a:r>
            <a:endParaRPr b="0" i="0" sz="3000" u="none">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75fb6ca2a5_0_23"/>
          <p:cNvSpPr txBox="1"/>
          <p:nvPr>
            <p:ph type="title"/>
          </p:nvPr>
        </p:nvSpPr>
        <p:spPr>
          <a:xfrm>
            <a:off x="1913467" y="539612"/>
            <a:ext cx="99993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44455"/>
              </a:buClr>
              <a:buSzPts val="4300"/>
              <a:buFont typeface="Gill Sans"/>
              <a:buNone/>
            </a:pPr>
            <a:r>
              <a:rPr i="0" lang="en-US" sz="4300" u="none">
                <a:solidFill>
                  <a:srgbClr val="444455"/>
                </a:solidFill>
                <a:latin typeface="Times New Roman"/>
                <a:ea typeface="Times New Roman"/>
                <a:cs typeface="Times New Roman"/>
                <a:sym typeface="Times New Roman"/>
              </a:rPr>
              <a:t>Cont…</a:t>
            </a:r>
            <a:endParaRPr>
              <a:latin typeface="Times New Roman"/>
              <a:ea typeface="Times New Roman"/>
              <a:cs typeface="Times New Roman"/>
              <a:sym typeface="Times New Roman"/>
            </a:endParaRPr>
          </a:p>
        </p:txBody>
      </p:sp>
      <p:sp>
        <p:nvSpPr>
          <p:cNvPr id="158" name="Google Shape;158;g375fb6ca2a5_0_23"/>
          <p:cNvSpPr txBox="1"/>
          <p:nvPr>
            <p:ph idx="1" type="body"/>
          </p:nvPr>
        </p:nvSpPr>
        <p:spPr>
          <a:xfrm>
            <a:off x="1913433" y="1889200"/>
            <a:ext cx="9999300" cy="21198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i="0" lang="en-US" sz="3200" u="none">
                <a:solidFill>
                  <a:schemeClr val="dk1"/>
                </a:solidFill>
                <a:latin typeface="Times New Roman"/>
                <a:ea typeface="Times New Roman"/>
                <a:cs typeface="Times New Roman"/>
                <a:sym typeface="Times New Roman"/>
              </a:rPr>
              <a:t>Psychosocial</a:t>
            </a:r>
            <a:r>
              <a:rPr i="0" lang="en-US" sz="3200" u="none">
                <a:solidFill>
                  <a:schemeClr val="dk1"/>
                </a:solidFill>
                <a:latin typeface="Times New Roman"/>
                <a:ea typeface="Times New Roman"/>
                <a:cs typeface="Times New Roman"/>
                <a:sym typeface="Times New Roman"/>
              </a:rPr>
              <a:t> means it relates to one's psychological development and interaction with a social environment.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75fb6ca2a5_0_28"/>
          <p:cNvSpPr txBox="1"/>
          <p:nvPr>
            <p:ph type="title"/>
          </p:nvPr>
        </p:nvSpPr>
        <p:spPr>
          <a:xfrm>
            <a:off x="8940800" y="1066800"/>
            <a:ext cx="2565600" cy="4038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444455"/>
              </a:buClr>
              <a:buSzPts val="2100"/>
              <a:buFont typeface="Gill Sans"/>
              <a:buNone/>
            </a:pPr>
            <a:r>
              <a:t/>
            </a:r>
            <a:endParaRPr b="1" sz="2100"/>
          </a:p>
        </p:txBody>
      </p:sp>
      <p:sp>
        <p:nvSpPr>
          <p:cNvPr id="164" name="Google Shape;164;g375fb6ca2a5_0_28"/>
          <p:cNvSpPr/>
          <p:nvPr>
            <p:ph idx="1" type="body"/>
          </p:nvPr>
        </p:nvSpPr>
        <p:spPr>
          <a:xfrm>
            <a:off x="1117600" y="1143000"/>
            <a:ext cx="5892900" cy="3514800"/>
          </a:xfrm>
          <a:prstGeom prst="roundRect">
            <a:avLst>
              <a:gd fmla="val 169" name="adj"/>
            </a:avLst>
          </a:prstGeom>
          <a:solidFill>
            <a:schemeClr val="lt2"/>
          </a:solidFill>
          <a:ln>
            <a:noFill/>
          </a:ln>
        </p:spPr>
        <p:txBody>
          <a:bodyPr anchorCtr="0" anchor="t" bIns="45700" lIns="91425" spcFirstLastPara="1" rIns="91425" wrap="square" tIns="45700">
            <a:normAutofit/>
          </a:bodyPr>
          <a:lstStyle/>
          <a:p>
            <a:pPr indent="-120015" lvl="0" marL="365125" marR="0" rtl="0" algn="l">
              <a:lnSpc>
                <a:spcPct val="114285"/>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165" name="Google Shape;165;g375fb6ca2a5_0_28"/>
          <p:cNvSpPr txBox="1"/>
          <p:nvPr>
            <p:ph idx="1" type="body"/>
          </p:nvPr>
        </p:nvSpPr>
        <p:spPr>
          <a:xfrm>
            <a:off x="1117600" y="4800600"/>
            <a:ext cx="5892900" cy="762000"/>
          </a:xfrm>
          <a:prstGeom prst="rect">
            <a:avLst/>
          </a:prstGeom>
          <a:noFill/>
          <a:ln>
            <a:noFill/>
          </a:ln>
        </p:spPr>
        <p:txBody>
          <a:bodyPr anchorCtr="0" anchor="ctr" bIns="45700" lIns="91425" spcFirstLastPara="1" rIns="91425" wrap="square" tIns="45700">
            <a:noAutofit/>
          </a:bodyPr>
          <a:lstStyle/>
          <a:p>
            <a:pPr indent="0" lvl="0" marL="0" rtl="0" algn="l">
              <a:lnSpc>
                <a:spcPct val="114285"/>
              </a:lnSpc>
              <a:spcBef>
                <a:spcPts val="0"/>
              </a:spcBef>
              <a:spcAft>
                <a:spcPts val="0"/>
              </a:spcAft>
              <a:buSzPts val="1120"/>
              <a:buNone/>
            </a:pPr>
            <a:r>
              <a:t/>
            </a:r>
            <a:endParaRPr sz="1400">
              <a:solidFill>
                <a:srgbClr val="777777"/>
              </a:solidFill>
            </a:endParaRPr>
          </a:p>
        </p:txBody>
      </p:sp>
      <p:pic>
        <p:nvPicPr>
          <p:cNvPr id="166" name="Google Shape;166;g375fb6ca2a5_0_28"/>
          <p:cNvPicPr preferRelativeResize="0"/>
          <p:nvPr/>
        </p:nvPicPr>
        <p:blipFill rotWithShape="1">
          <a:blip r:embed="rId3">
            <a:alphaModFix/>
          </a:blip>
          <a:srcRect b="0" l="0" r="0" t="0"/>
          <a:stretch/>
        </p:blipFill>
        <p:spPr>
          <a:xfrm>
            <a:off x="0" y="15875"/>
            <a:ext cx="12192000" cy="6842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5fb6ca2a5_0_35"/>
          <p:cNvSpPr txBox="1"/>
          <p:nvPr>
            <p:ph idx="4294967295" type="title"/>
          </p:nvPr>
        </p:nvSpPr>
        <p:spPr>
          <a:xfrm>
            <a:off x="1773400" y="533400"/>
            <a:ext cx="4588500" cy="762000"/>
          </a:xfrm>
          <a:prstGeom prst="rect">
            <a:avLst/>
          </a:prstGeom>
          <a:gradFill>
            <a:gsLst>
              <a:gs pos="0">
                <a:srgbClr val="7583BB"/>
              </a:gs>
              <a:gs pos="15000">
                <a:srgbClr val="7482BA"/>
              </a:gs>
              <a:gs pos="62000">
                <a:srgbClr val="626EA4"/>
              </a:gs>
              <a:gs pos="97000">
                <a:srgbClr val="535E91"/>
              </a:gs>
              <a:gs pos="100000">
                <a:srgbClr val="4C5A91"/>
              </a:gs>
            </a:gsLst>
            <a:path path="circle">
              <a:fillToRect b="50%" l="50%" r="50%" t="50%"/>
            </a:path>
            <a:tileRect/>
          </a:gradFill>
          <a:ln>
            <a:noFill/>
          </a:ln>
          <a:effectLst>
            <a:outerShdw blurRad="63500" rotWithShape="0" dir="5400000" dist="25400">
              <a:srgbClr val="000000">
                <a:alpha val="42350"/>
              </a:srgbClr>
            </a:outerShdw>
          </a:effectLst>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lt1"/>
              </a:buClr>
              <a:buSzPts val="3200"/>
              <a:buFont typeface="Gill Sans"/>
              <a:buNone/>
            </a:pPr>
            <a:r>
              <a:rPr b="0" i="0" lang="en-US" sz="3200" u="none" cap="none" strike="noStrike">
                <a:solidFill>
                  <a:schemeClr val="lt1"/>
                </a:solidFill>
                <a:latin typeface="Gill Sans"/>
                <a:ea typeface="Gill Sans"/>
                <a:cs typeface="Gill Sans"/>
                <a:sym typeface="Gill Sans"/>
              </a:rPr>
              <a:t>Trust vs. Mistrust</a:t>
            </a:r>
            <a:endParaRPr/>
          </a:p>
        </p:txBody>
      </p:sp>
      <p:graphicFrame>
        <p:nvGraphicFramePr>
          <p:cNvPr id="172" name="Google Shape;172;g375fb6ca2a5_0_35"/>
          <p:cNvGraphicFramePr/>
          <p:nvPr/>
        </p:nvGraphicFramePr>
        <p:xfrm>
          <a:off x="1627900" y="2209800"/>
          <a:ext cx="3000000" cy="3000000"/>
        </p:xfrm>
        <a:graphic>
          <a:graphicData uri="http://schemas.openxmlformats.org/drawingml/2006/table">
            <a:tbl>
              <a:tblPr>
                <a:noFill/>
                <a:tableStyleId>{3F6750D7-DD35-49AC-9D66-47656B1D127F}</a:tableStyleId>
              </a:tblPr>
              <a:tblGrid>
                <a:gridCol w="5083425"/>
                <a:gridCol w="5175825"/>
              </a:tblGrid>
              <a:tr h="6874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Infancy (Birth </a:t>
                      </a:r>
                      <a:r>
                        <a:rPr b="1" lang="en-US" sz="1800">
                          <a:solidFill>
                            <a:srgbClr val="002060"/>
                          </a:solidFill>
                          <a:latin typeface="Book Antiqua"/>
                          <a:ea typeface="Book Antiqua"/>
                          <a:cs typeface="Book Antiqua"/>
                          <a:sym typeface="Book Antiqua"/>
                        </a:rPr>
                        <a:t>to 18</a:t>
                      </a:r>
                      <a:r>
                        <a:rPr b="1" i="0" lang="en-US" sz="1800" u="none" cap="none" strike="noStrike">
                          <a:solidFill>
                            <a:srgbClr val="002060"/>
                          </a:solidFill>
                          <a:latin typeface="Book Antiqua"/>
                          <a:ea typeface="Book Antiqua"/>
                          <a:cs typeface="Book Antiqua"/>
                          <a:sym typeface="Book Antiqua"/>
                        </a:rPr>
                        <a:t> month)</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6874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Feeding</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6888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Trust vs. Mistrust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Book Antiqua"/>
                        <a:ea typeface="Book Antiqua"/>
                        <a:cs typeface="Book Antiqua"/>
                        <a:sym typeface="Book Antiqua"/>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874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Hope</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6874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Sense of trust from environmental support</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9821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Mistrust, Fear, Concern regarding others</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Book Antiqua"/>
                        <a:ea typeface="Book Antiqua"/>
                        <a:cs typeface="Book Antiqua"/>
                        <a:sym typeface="Book Antiqua"/>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173" name="Google Shape;173;g375fb6ca2a5_0_35"/>
          <p:cNvSpPr txBox="1"/>
          <p:nvPr/>
        </p:nvSpPr>
        <p:spPr>
          <a:xfrm>
            <a:off x="207433" y="-1012825"/>
            <a:ext cx="4267200" cy="212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4" name="Google Shape;174;g375fb6ca2a5_0_35"/>
          <p:cNvPicPr preferRelativeResize="0"/>
          <p:nvPr/>
        </p:nvPicPr>
        <p:blipFill rotWithShape="1">
          <a:blip r:embed="rId3">
            <a:alphaModFix/>
          </a:blip>
          <a:srcRect b="0" l="0" r="0" t="0"/>
          <a:stretch/>
        </p:blipFill>
        <p:spPr>
          <a:xfrm>
            <a:off x="6705600" y="228600"/>
            <a:ext cx="3962401" cy="1981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75fb6ca2a5_0_42"/>
          <p:cNvSpPr txBox="1"/>
          <p:nvPr/>
        </p:nvSpPr>
        <p:spPr>
          <a:xfrm>
            <a:off x="2516600" y="685800"/>
            <a:ext cx="6567300" cy="838200"/>
          </a:xfrm>
          <a:prstGeom prst="rect">
            <a:avLst/>
          </a:prstGeom>
          <a:gradFill>
            <a:gsLst>
              <a:gs pos="0">
                <a:srgbClr val="D3886F"/>
              </a:gs>
              <a:gs pos="15000">
                <a:srgbClr val="D2876E"/>
              </a:gs>
              <a:gs pos="62000">
                <a:srgbClr val="BB745C"/>
              </a:gs>
              <a:gs pos="97000">
                <a:srgbClr val="A8644D"/>
              </a:gs>
              <a:gs pos="100000">
                <a:srgbClr val="A76047"/>
              </a:gs>
            </a:gsLst>
            <a:path path="circle">
              <a:fillToRect b="50%" l="50%" r="50%" t="50%"/>
            </a:path>
            <a:tileRect/>
          </a:gradFill>
          <a:ln cap="flat" cmpd="sng" w="9525">
            <a:solidFill>
              <a:schemeClr val="accent5"/>
            </a:solidFill>
            <a:prstDash val="solid"/>
            <a:round/>
            <a:headEnd len="sm" w="sm" type="none"/>
            <a:tailEnd len="sm" w="sm" type="none"/>
          </a:ln>
          <a:effectLst>
            <a:outerShdw blurRad="63500" rotWithShape="0" dir="5400000" dist="25400">
              <a:srgbClr val="000000">
                <a:alpha val="4235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Gill Sans"/>
              <a:buNone/>
            </a:pPr>
            <a:r>
              <a:rPr b="0" i="0" lang="en-US" sz="2800" u="none" cap="none" strike="noStrike">
                <a:solidFill>
                  <a:schemeClr val="lt1"/>
                </a:solidFill>
                <a:latin typeface="Gill Sans"/>
                <a:ea typeface="Gill Sans"/>
                <a:cs typeface="Gill Sans"/>
                <a:sym typeface="Gill Sans"/>
              </a:rPr>
              <a:t>Autonomy vs. Shame and Doubt</a:t>
            </a:r>
            <a:endParaRPr b="0" i="0" sz="2800" u="none" cap="none" strike="noStrike">
              <a:solidFill>
                <a:schemeClr val="lt1"/>
              </a:solidFill>
              <a:latin typeface="Gill Sans"/>
              <a:ea typeface="Gill Sans"/>
              <a:cs typeface="Gill Sans"/>
              <a:sym typeface="Gill Sans"/>
            </a:endParaRPr>
          </a:p>
        </p:txBody>
      </p:sp>
      <p:pic>
        <p:nvPicPr>
          <p:cNvPr id="180" name="Google Shape;180;g375fb6ca2a5_0_42"/>
          <p:cNvPicPr preferRelativeResize="0"/>
          <p:nvPr/>
        </p:nvPicPr>
        <p:blipFill rotWithShape="1">
          <a:blip r:embed="rId3">
            <a:alphaModFix/>
          </a:blip>
          <a:srcRect b="0" l="52008" r="0" t="8138"/>
          <a:stretch/>
        </p:blipFill>
        <p:spPr>
          <a:xfrm>
            <a:off x="9574300" y="141125"/>
            <a:ext cx="1649900" cy="1542049"/>
          </a:xfrm>
          <a:prstGeom prst="rect">
            <a:avLst/>
          </a:prstGeom>
          <a:noFill/>
          <a:ln>
            <a:noFill/>
          </a:ln>
        </p:spPr>
      </p:pic>
      <p:graphicFrame>
        <p:nvGraphicFramePr>
          <p:cNvPr id="181" name="Google Shape;181;g375fb6ca2a5_0_42"/>
          <p:cNvGraphicFramePr/>
          <p:nvPr/>
        </p:nvGraphicFramePr>
        <p:xfrm>
          <a:off x="1468567" y="1811275"/>
          <a:ext cx="3000000" cy="3000000"/>
        </p:xfrm>
        <a:graphic>
          <a:graphicData uri="http://schemas.openxmlformats.org/drawingml/2006/table">
            <a:tbl>
              <a:tblPr>
                <a:noFill/>
                <a:tableStyleId>{3F6750D7-DD35-49AC-9D66-47656B1D127F}</a:tableStyleId>
              </a:tblPr>
              <a:tblGrid>
                <a:gridCol w="5063075"/>
                <a:gridCol w="5198525"/>
              </a:tblGrid>
              <a:tr h="7850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Early Childhood (2 to 3 years)</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7850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Toilet Training</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5879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Autonomy vs. Shame and Doubt</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850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Will</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11215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Sense of independence &amp; personal control over physical     skill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Book Antiqua"/>
                        <a:ea typeface="Book Antiqua"/>
                        <a:cs typeface="Book Antiqua"/>
                        <a:sym typeface="Book Antiqua"/>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850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Shame &amp; Doubt about self</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Lack of Independence</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aphicFrame>
        <p:nvGraphicFramePr>
          <p:cNvPr id="186" name="Google Shape;186;g375fb6ca2a5_0_48"/>
          <p:cNvGraphicFramePr/>
          <p:nvPr/>
        </p:nvGraphicFramePr>
        <p:xfrm>
          <a:off x="1625600" y="2150875"/>
          <a:ext cx="3000000" cy="3000000"/>
        </p:xfrm>
        <a:graphic>
          <a:graphicData uri="http://schemas.openxmlformats.org/drawingml/2006/table">
            <a:tbl>
              <a:tblPr>
                <a:noFill/>
                <a:tableStyleId>{3F6750D7-DD35-49AC-9D66-47656B1D127F}</a:tableStyleId>
              </a:tblPr>
              <a:tblGrid>
                <a:gridCol w="5063075"/>
                <a:gridCol w="5198525"/>
              </a:tblGrid>
              <a:tr h="7379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Preschool (3 to 5 years)</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7379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Exploration</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4576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Initiative vs. Guilt</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379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Purpose</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10543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Sense of Purpose</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Discovery of ways to initiate actions</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379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Feeling of disapproval</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Sense of Guilt</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187" name="Google Shape;187;g375fb6ca2a5_0_48"/>
          <p:cNvSpPr txBox="1"/>
          <p:nvPr/>
        </p:nvSpPr>
        <p:spPr>
          <a:xfrm>
            <a:off x="1539866" y="554600"/>
            <a:ext cx="4267500" cy="685800"/>
          </a:xfrm>
          <a:prstGeom prst="rect">
            <a:avLst/>
          </a:prstGeom>
          <a:gradFill>
            <a:gsLst>
              <a:gs pos="0">
                <a:srgbClr val="FDFFCA"/>
              </a:gs>
              <a:gs pos="50000">
                <a:srgbClr val="FEFFBE"/>
              </a:gs>
              <a:gs pos="97000">
                <a:srgbClr val="FFFFA7"/>
              </a:gs>
              <a:gs pos="100000">
                <a:srgbClr val="FFFF9E"/>
              </a:gs>
            </a:gsLst>
            <a:path path="circle">
              <a:fillToRect b="50%" l="50%" r="50%" t="50%"/>
            </a:path>
            <a:tileRect/>
          </a:gradFill>
          <a:ln cap="flat" cmpd="sng" w="9525">
            <a:solidFill>
              <a:schemeClr val="accent3"/>
            </a:solidFill>
            <a:prstDash val="solid"/>
            <a:round/>
            <a:headEnd len="sm" w="sm" type="none"/>
            <a:tailEnd len="sm" w="sm" type="none"/>
          </a:ln>
          <a:effectLst>
            <a:outerShdw blurRad="63500" rotWithShape="0" dir="5400000" dist="25400">
              <a:srgbClr val="000000">
                <a:alpha val="42350"/>
              </a:srgbClr>
            </a:outerShdw>
          </a:effectLst>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dk1"/>
              </a:buClr>
              <a:buSzPts val="3200"/>
              <a:buFont typeface="Gill Sans"/>
              <a:buNone/>
            </a:pPr>
            <a:r>
              <a:rPr b="0" i="0" lang="en-US" sz="3200" u="none" cap="none" strike="noStrike">
                <a:solidFill>
                  <a:schemeClr val="dk1"/>
                </a:solidFill>
                <a:latin typeface="Gill Sans"/>
                <a:ea typeface="Gill Sans"/>
                <a:cs typeface="Gill Sans"/>
                <a:sym typeface="Gill Sans"/>
              </a:rPr>
              <a:t>Initiative vs. Guilt</a:t>
            </a:r>
            <a:endParaRPr b="0" i="0" sz="3200" u="none" cap="none" strike="noStrike">
              <a:solidFill>
                <a:schemeClr val="lt1"/>
              </a:solidFill>
              <a:latin typeface="Gill Sans"/>
              <a:ea typeface="Gill Sans"/>
              <a:cs typeface="Gill Sans"/>
              <a:sym typeface="Gill Sans"/>
            </a:endParaRPr>
          </a:p>
        </p:txBody>
      </p:sp>
      <p:pic>
        <p:nvPicPr>
          <p:cNvPr id="188" name="Google Shape;188;g375fb6ca2a5_0_48"/>
          <p:cNvPicPr preferRelativeResize="0"/>
          <p:nvPr>
            <p:ph idx="1" type="body"/>
          </p:nvPr>
        </p:nvPicPr>
        <p:blipFill rotWithShape="1">
          <a:blip r:embed="rId3">
            <a:alphaModFix/>
          </a:blip>
          <a:srcRect b="0" l="21192" r="9931" t="0"/>
          <a:stretch/>
        </p:blipFill>
        <p:spPr>
          <a:xfrm>
            <a:off x="9191200" y="102200"/>
            <a:ext cx="2641500" cy="1590600"/>
          </a:xfrm>
          <a:prstGeom prst="rect">
            <a:avLst/>
          </a:prstGeom>
          <a:noFill/>
          <a:ln>
            <a:noFill/>
          </a:ln>
        </p:spPr>
      </p:pic>
      <p:pic>
        <p:nvPicPr>
          <p:cNvPr id="189" name="Google Shape;189;g375fb6ca2a5_0_48"/>
          <p:cNvPicPr preferRelativeResize="0"/>
          <p:nvPr/>
        </p:nvPicPr>
        <p:blipFill rotWithShape="1">
          <a:blip r:embed="rId4">
            <a:alphaModFix/>
          </a:blip>
          <a:srcRect b="0" l="0" r="0" t="0"/>
          <a:stretch/>
        </p:blipFill>
        <p:spPr>
          <a:xfrm>
            <a:off x="6047316" y="381000"/>
            <a:ext cx="2178050" cy="1447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aphicFrame>
        <p:nvGraphicFramePr>
          <p:cNvPr id="194" name="Google Shape;194;g375fb6ca2a5_0_55"/>
          <p:cNvGraphicFramePr/>
          <p:nvPr/>
        </p:nvGraphicFramePr>
        <p:xfrm>
          <a:off x="1743367" y="2138825"/>
          <a:ext cx="3000000" cy="3000000"/>
        </p:xfrm>
        <a:graphic>
          <a:graphicData uri="http://schemas.openxmlformats.org/drawingml/2006/table">
            <a:tbl>
              <a:tblPr>
                <a:noFill/>
                <a:tableStyleId>{3F6750D7-DD35-49AC-9D66-47656B1D127F}</a:tableStyleId>
              </a:tblPr>
              <a:tblGrid>
                <a:gridCol w="5005075"/>
                <a:gridCol w="5138725"/>
              </a:tblGrid>
              <a:tr h="7568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School Age (6 to 11 years)</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7568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School</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7584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Industry vs.  Inferiority</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Book Antiqua"/>
                        <a:ea typeface="Book Antiqua"/>
                        <a:cs typeface="Book Antiqua"/>
                        <a:sym typeface="Book Antiqua"/>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568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Competence</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7568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Sense of Competence</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568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Feeling of Inferiority</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No Sense of Mastery</a:t>
                      </a:r>
                      <a:endParaRPr sz="1400" u="none" cap="none" strike="noStrike"/>
                    </a:p>
                  </a:txBody>
                  <a:tcPr marT="45700" marB="45700"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195" name="Google Shape;195;g375fb6ca2a5_0_55"/>
          <p:cNvSpPr txBox="1"/>
          <p:nvPr/>
        </p:nvSpPr>
        <p:spPr>
          <a:xfrm>
            <a:off x="1743367" y="585350"/>
            <a:ext cx="5079900" cy="871800"/>
          </a:xfrm>
          <a:prstGeom prst="rect">
            <a:avLst/>
          </a:prstGeom>
          <a:solidFill>
            <a:srgbClr val="3E5D77"/>
          </a:solidFill>
          <a:ln cap="flat" cmpd="sng" w="9525">
            <a:solidFill>
              <a:srgbClr val="3E5D77"/>
            </a:solidFill>
            <a:prstDash val="solid"/>
            <a:round/>
            <a:headEnd len="sm" w="sm" type="none"/>
            <a:tailEnd len="sm" w="sm" type="none"/>
          </a:ln>
          <a:effectLst>
            <a:outerShdw blurRad="63500" rotWithShape="0" dir="5400000" dist="25400">
              <a:srgbClr val="000000">
                <a:alpha val="4235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Gill Sans"/>
              <a:buNone/>
            </a:pPr>
            <a:r>
              <a:rPr b="0" i="0" lang="en-US" sz="3100" u="none" cap="none" strike="noStrike">
                <a:solidFill>
                  <a:schemeClr val="lt1"/>
                </a:solidFill>
                <a:latin typeface="Gill Sans"/>
                <a:ea typeface="Gill Sans"/>
                <a:cs typeface="Gill Sans"/>
                <a:sym typeface="Gill Sans"/>
              </a:rPr>
              <a:t>Industry vs. Inferiority</a:t>
            </a:r>
            <a:endParaRPr b="0" i="0" sz="3100" u="none" cap="none" strike="noStrike">
              <a:solidFill>
                <a:schemeClr val="lt1"/>
              </a:solidFill>
              <a:latin typeface="Gill Sans"/>
              <a:ea typeface="Gill Sans"/>
              <a:cs typeface="Gill Sans"/>
              <a:sym typeface="Gill Sans"/>
            </a:endParaRPr>
          </a:p>
        </p:txBody>
      </p:sp>
      <p:sp>
        <p:nvSpPr>
          <p:cNvPr descr="data:image/jpeg;base64,/9j/4AAQSkZJRgABAQAAAQABAAD/2wCEAAkGBxQSEhQUExQWFBQVFRUYFBgXFBcVFBQUFBUWFhcVFxcYHCggGBolHRUUITEhJSkrLi4uFx8zODMsNygtLisBCgoKDg0OGxAQGy0kHyUsLCwsLCwsLCwsLCwsLCwsLCwsLCwsLCwsLCwsLCwsLCwsLCwsLCwsLCwsLCwsLCwsLP/AABEIAIQAyAMBEQACEQEDEQH/xAAcAAABBQEBAQAAAAAAAAAAAAAFAAIDBAYBBwj/xAA6EAABAwIEBAMFBwMEAwAAAAABAAIRAyEEBRIxBkFRYRMicTKBkaGxFCNCUsHR8GKS4Qdy0vEVJEP/xAAbAQABBQEBAAAAAAAAAAAAAAADAAECBAUGB//EADIRAAICAQMDAgUCBQUBAAAAAAABAgMRBBIhBTFBE1EiMmFxkRSBBhWxwfAzQqHR4SP/2gAMAwEAAhEDEQA/APaoUyIkhCSEJMI6EhHUhxJCEkI6mEJIR2UhDHJDlepXDdyouSRJRbGf+QZ1HxCjvQ7rZmuIc4pMdcySLDZW9PUrecmdqpzqfCMzic7fvSw4quglwDjEdhz9FHW0+nhwDdPt9TKs7oI8KcZUa7vCfT8F+wGqx7X5qjG5xfJoypT7GyqZeHCxsrTsUlkrxi4vALezSYQg4Qwex9EO7sJfMjE5szzFVImqnwQ5Iz7xWqu5XufBp60hpIEwjSsjF4bKiRTo4jUJ2T5yInZWUhGwUimIJhHYSEIBIR1IcSbIhJCOpCOJhzqQiOtUDQSdhumbwOlkC4zNoO9un7oMph41oH6/FM6j6KDeQqWC1h8LF5v6XTJjNFDNcoZiBpeySNncwesqcZtPK4IyimsPlGZy3LRha/meSCQGONgOzu881YeqlNbZFWOkjB7ohDjfhxtRn2mkNNan5nRbVGzvUIV1eFuLFVnhhvhfNy+mJ3LQR8FXplztC2w43HMXUl0q5KLiAjJMIZa/yOVe58Eo/MZLNDuq8TT8DOHqRdUPTqjKxQK9vY2nhwqN2ZS5IRwCsxwZZ5mXHNXaJtfDIHJAZ+JurhE9GCkVByQhJDCSHOpCFCYQoTCEkOJIRx7gBJMBM2kJJvsZfiTPAAGt7kn0VeyzPBZqr8sw1XN5Nzcifnb6Ia7BmPy/PIfZQk8EksmwwmYEhRUx3WSjH3Ut42wEZ7gtbdTb9QpN5GxgiyHNfEo1qNQ+em0iT+JhmD/Oyk5twwD2YlkHcL44iqGdIHxlV08NMO1mOD0HH0GCmTaVdnfl4KMI4ZQyt3kch3MLFfEZHNn7oMDRfYvcNYlrhpFjaU3oOcssqWSwaRzvMBKHL4ZYY2U1kummGi+y0K6YSWUAcmYLMajfFdp2/VFhnyPk9PCmVTqQjqQhJCOphCSEJMOJIQikIyHGGaEPZQYfM8x6SQJ+aqWTzLBaphxkx3EeNEVCNgCG+g/gQ2HSMpi6hLjGzQ0KLeCSjkq0cQWu6QVGTySSPTuHMaKjBtMKCHYVfhbnupYGyRPYW9wlloWEwQcmu6ux+h7muaGkSy+xd0vzTOzgTg/AEyOW4tzSfMHtDuxAuFFsljg9Q1BwAN1dVafJT3YYnMa2m6LWKU4LI2/MjEY3CB/4keGmh7h5XT9h+S4Dw5gyU9mli+0gLul5RoaFZwAkXCg9Gn5A+rInq4guaQRdFqp9NYTIubZkzlNWSY3PRWPSXuJWM9PCCDOpCEkI6mEJIQkhCTDiSEccYEpmJHlmcYr/ANwOPI299/2Wdu+LJpKOI4MZn+MmW9S4fIJ8j4H5BT8RtUHc7fBCnLkNFcEOJwRIke0N/co7yW0K8LY7Q4NNun7FQb5Hwep4QS0HdWo8oqy4ZNUoAp2iKYFxj3NqaLaSAC2LkE8iqtkXyi3XhxyAMRg9GNLr3gknmYj9FCTxLAy5ibumLD0WzBfCjMl3O4ofdO9EG4ermRh67ENNmi0Xshb5ij1Nle5cGia1HKw8NSyxsHdPZSTY2AzTeDsZTtYAD1EQkhC1JCFqSwIWpLAjhqJ9o2RvipbR8ja9Xyn0P0UXDgku55DxnW01iRvZw9xBWXPiWDTj8pk87onUXDbVPuP/AEobwiRd4ba5tRwiQYKHJ5CpGgq4CCSNjuokhmCw1OnLnFoG+8AepUoxbGbRp+H82FYSy1OfKT+LuOyOuOAEoruaZjpRUwD4K+IpCdUXiFFwcnwSU8LDK9XLg8tdF5E+gCnPTJ4aBxvxlMJ+GRyKuJYWCtkjxxikVWvCUcyMbiUJGi0XuHhcqzUVrzRBHKp0JDDlIQqea0hzhHdcmVdxap5hTP4goOuS8CySjEt/MPim2P2HyPbUB2IKi+B1kdKQu3c6kIa9OhmMUhCIURzzf/UvJTpZVZIcPZPcDY+sLP1UNr3Ghp55WCnkGTjEUWPLA6WkETEHkVWjVuWQ8rNrwyCu00JLy1gbvygDqUFQbeEH3rGSXJMybiWFzbtkgGDeOYU/TcXhkVLdyipmfC1KtU1OLot5dR0GP6dkRWbVhDbc9zU5XSbTAAsBAHaFBPkng0FCqjRZXlEncJBRaniSAzXBJg5YZcRCvd+Eio0WxmVOY1D4hP6cvYhx7lLPHjwzCoanjuW9KvjMRiygRZpNF7hx1yrdJT1BowVYKpXq4xo3KbKH2shbmrNpT70LawEMUXEHrutiaUI5CuKSKTq7i43i6yXZJvOSg8NkoxD+qb1ZCwixQzeowQCgWp2PLDV27FjB2rndV3NSqk6/qNbP1PA0Z5VH4ijfqPoB2ItMz6pAJcVFapZxgL6PGckL+KqgU/1EPYh6bFQ4ycTH6JPU0ruEhROXYdjuJBUZFQDTMm20c0OdlVvwoLGmyr4mQZVm9HDscWvBBGqPXkgaeiddmH2JXWxnHjuVcViMPmpLXAF7PNAkSO8bwiayjZicfItJPOYsdhKNPD+RgAaAbDkQsxyNFRyKpXa82adrGSPko5yE24Iq2O8HTqMybD8R9AmcWuwk0w/gsZqAU4yISQWZigIlEVmMFeUBmLa15uSQOQMA/BSn1WyvMY4++Cv+li+WNwWGYwkBoM7ne3SSqs+pai1re+3twS9CEVwEDQZUbpiB1B2UlqZW9+fqQjmp7kZPiDLH0SPxNOxH6qfyl6q6Ni+pHwzqLiCIKt0zTAXm5oYECCrKWCpKzjBSzbJ2vHlF/VNZDcsD12bXyZnMcB4cahBWe6rIPkuKcZElXC6aeuBcWhb19ra2lG2bSA4ZdU8FNMm0qOCWSNzExIjLUw4x4URyasyGBBj8xYl8hSrMlEBorYej5igXF3S92XKtCWOHYqOm/wBRFm5fAwZgcrqV3eHTEmL8g0dSeS2bbI1/FIwYpyeEa7KOHKWCptLmh9YzqqAmwPIXWNrepSm+PlNHT0Y58g7MaRDjzG4PqqcZp8o0lygNmFWubUg1p5uNz7gjRazli/fA/JsrDCX1HOq1XbvcZPoBsB2Cm57uwzwuEH8K3TcfBCfBFF/Bk1CJnSNu5/ZVJ3eENLgI0rF09QEAH4G069ieZNh1/wAKCeUKUfAQwgdFzP093ZWK013Azx4QQfTD2w4AhXovK5K2XF5QHbXoMqOZZr2m4U64yzwGcm1kJsx7OTgrG6xAnHI4YgTOoJKyxMW3goZpgm1iCXbFNO2bJw4AeOe0UqbW8he/Radrbm8lTUy5wDEMrIeGpieRjgotDkRCYkiTCtbrbr9mRKSi3yEhHLDnEeFa1jSBCFtwwrfGDLPUsAgnlXD9Wp5iAxp2LufoOiHZXuLOns2ZyFG8NuFi5sHmJkIUa3CSkWpXqUcYL9KjTw9MhjdPXq7uTzVPU6qc8ymAqqw+Afi6+th+SzZSzEuRWGZ/MnEikRzdB9JUFNxxgNHyF8XkYqAGlAIFwSfN7+q2ZQzFOADfj5igcvrN/wDk8+jZQ91i/wBrJqcPce3DVz7VJ7R3Buqt/rPja0LfDww1gqWgX3/llXitoOTyPa/zfEpNj44KmVV9QHMwFGtjzQeoDvdWolaZcpzyVmKfgA8GW46yl9sTRkuaIqNFy5o2cB1F1bjNxXDHqkvlZiKHEL+qIrpeQ/poIDiAge180T1RtiHs4lPX5qPrj+kF8SIhv5QArreW2ZNrzIG4nMKNMxVcQTsA2Z9/JCnbGHco36qNTw1ks0MbQdOmq33kAD4wT7gVFXRYOHUIvuv8/wCC39mnZzT0FwT7lLcmWY6qt+SE4R3SfQg/RLgNG2D8gzMM3phoa0zF/erSaUMF+ETdZVXbisOxzhNtiqc+BNHW5XRa4OLQSPZEWCg3jkdRyWziRcC5G6i5k1ArvxJLNQ36e+ChtthFFZwUMzxOw06wZmNxHRV7YRkviWSxVH34B+HqUXEAawSduqqx09M1xn8knuRcdklN2keZoaZAJEkzKJ+hqfuD9aSC1Gk1uwA+quwiorCAttj31QN1PI2MjW4wdUt4vTHucx3tAH5KEoQn8yQyUo9mQHAMMwSPmqstFU+zaJq2aKODyE0nEtqBwPIiI/koC6c4fLJBJand3QSZSc0bSeymtNZHwCc1LyVMThqtSzn6B0aSPid0b9O/LJwlCPZZM/neFqYfSWvfDjbzEkOWVrNPKmalFvBepshYsNclR/DzKv3gAGq5HLVz+a09NZvrTZVmtssFerwp0Vghkp1eF3cilwPk0RoufViCQSAYGw59lo5MKLVkvh5MNxgCzF1GAuLWkBuq9oBss+yTcsmNro4uaB+GqTylMmVVwEKb+hInof0ScicUyd+LcAAajyG3ALjAj3pt6wEjTZJ4X+fY2mV8L4d2G1hoLnNBN5LZ5XWh6zmsnV171Fb1hlvg6rpoFv5SQo38MK1llnHYw/BZ1lmXhB0lGLbK1HNvEDXtNniRHxgom55wRplC2uM49msnTizDyTtNvmlkLt9ipiM7pMqNFTS0GSwkDcR19VHfh8ok1FJJvlltme0bDUCTsLA9hbdL1Y+BnVz3LbMSeY0DvGr4KWX5G2LwRV87pNEFwDuhN/gE+9Ap7YfM0im/N6bwdLw6NwNwk+xD16lzuX5KFDNTqggwOcWVZWItLD8hejjZ5ou9CcCcYzulvG2E1PGKSsIOBOMUpKZFwJG4iU6kRcCDNMOKtMttuCPVC1Nfq1uJOqThLJHSw4aAByEKNcFCKivA0pZeWdNJEyNkWhOmLJ5twrxKW1x4z2CmQbxoDTy8rYbf0TqbXdnJaCxQuTm8dzX53nGGOGquFSk/QwmNTSdrd1apolZJJJ8nRuVco7lhnlGB4qpEu8Wg0AQQWjzX5TI7Lel0avGPJm2V1T5cEHaWY4WpZstcRIAdIB5Al4bfsJWbqul+nCU14TGp0FVtkY8rLwdpMOsOBiBHz3XNTtysYOv6b0ivRSk927P0NZwLWeKj2QSx7SXOPIjYT7yi6W+EZ7W+/uF6tCMoKXlMu5NTczxgWuALpEgwR26rS1M4tJpmPAsZlg9eGqu0kujyAc/cN1SjXmO78ANfJuqUI+xi8Nj30AWua7qAQWwffyUMNGZouoPTRcZxeP6BejjBUAOoBtQczsR/PknOjpshbWpxfDMTn9Z9eoRVIc2mSGxtFvnZGivJzPVdXKVjgmsR7YBraOl+oWcIgzcR0TSWFhGTHUTjjDxjn9wjXzfEPF6zx6GEJLHcuz6zqpLG78LBVpUTrL5dJETP6lTysYMy22dkdsufPPJbo1XhukVHQDJBmCZm4ScvqV3z4DuX16ji1znS0yIFgZPayVyzU2n4LPT75VauEsN8pd/fgPtaWAGd+XP1WXG9pfEejLDeCZmKRVZnsS2lhldSUyLiWG10WMyLiTUsQixmQcSfE43RTc/8olEdiUcirq3zUfcnynMGV2y0weY5gpVuM1mLIanTzoliS49y4aSdoAmMLEhzxzBPwTXFr6dQxYkkG+1gCIQ1bHyi3D+Eaow3N7s/sCc8yqlUa52GpVHPa65JBlvYclvdI6r8Xoy4jgFrOhR0mn3VvL9jJ1ZafOwtP9QI+q6tPd2eTn39gtlTS933bHPdYw0Fxt2Cq6iMXFxn2aDUykpKUFyuT0bIckqVGE1gabpECxMETcTZeedVpVFi/TLdHHP3On0+uuxmyJsME3w2NYD7IAlcta7IWNvh9wFjU5OTXcs/aXdf56qKus7Z/wA/qD9OJZp45jWy5wbG82XSdO1dTqjW5fF7Fa2O3Mn2MjxtnDQ5hpua86SSQQYhaTZl6rWKtLbhmYHFLnMZrpUnueYGqm3ygfMlNjkF/ME8qUU8FY4yk8vApAW0g7Q/fYckWy+Oz5Un7k9FTpdRqYQlHh/sDKuHMzPaOXrCoSubR1tP8P8ATo5+DOfd5KWCzGmHkVXWG1jv7laWk1FkU6o/9GPq+jdOhlJ4f0f9g0fDkAPAJEwd46wqkqNVFNyg8LgzZdEpfyWY+5fyvJH4gnwix0CTLo/dKMJyltlFp/UpW9GshzCUX/wbjgzIn0Gu+0NYTqBp31aRF+0yr9KaWHgLoenqvMrI/Fnjzgg47xjKFRjiJ1MMRFtJ/wArP11MXYn9PB2HStK74yz4Zn8LmjSAQCTIkeqpKuK5WTSl09J9zQsw4IsY+YS3NcGS208M4aLx39ESM0NlDTWLRLgWjqbBFTJKLk8Llg3Ns41N0N2PtH05BDut42mpo9E4S3z7g7BY11Jwc0wUKux1vKLl1MbY7ZHo+S5oMQzVs4WcFrwsU1lHKavTOieH2L5U+CufOD8aQ7fY8/8AKrKCwdz6kS7lvETG1mOc6QHiRMHflNluaT+HZ3wjZvSWM9smD1DrdMFKqCbfY3Bz3AVrPAubyGva2erhZWpdE1cMuE/t3TOajq6nhSQPzJ2FpEfZW6XOF3taWCBy5deSyOprU1Yqvln98m90WuuzdbBLHYbhMXUc0s8VxEXuVkSm154NyUIbt21Gq4Zl7XMFtEXPOfpss+/SK57ovkyeoYhJS9ws/CvHIH0VV6CxFBTiBc9xfhth7NQdIIJ5b8lY0mmdct0127FqjSw1ScZdgF9spvbei3VvHf3LVd79ixPoOjcknFY+wJzdgaQdIaDsOhHzCPVJtcnF9c0C0t//AM44g+31fkHBzeg6or54MinUTqmpwfK7HIfUqBjHNb5STq2srFOn0yplZdnhpcHXdI6lrdW3HKbXuiGrwY1+2JGrVfy+WeY3lXaOuVVQ9NR4Xbk0r+iztk7Jy5f0AudZQcMQW1dXiSCQC2NJuN77rZ6f1CGt3SUcY/cy+odPlo9rznId4fxVTD0GhpaHOBkzcg3F1y3Vrt+ocYPhLD+503SNDBaeLtjz3/JpcDnFZ4jxD5SPxcuay1KfuXbNNTF52lHi7MX1cQXNBghovsJHewWvpOhavVVK5tPPbnwZ1Ou0+jXo2PGPOP7lPJMedT581uXUGIVDqvT7dC4xlw2X6dXTq4bqn2fJ6ZlJb4TLH2RPaVydustjPCfkxNQpOxl9tMcgiabXSnZtl2Kzyu4I4rpuNBsCweS74QPqt1R+Hgv9MlFXP3aMc9Dl2N+PAxjkIk0GeGceaVUX8ps70VrTTxLBn6+hW1P3PR4WmcqeNNz9lR75jRfTLATPR14hRexyZxnr6ivHxP8AJm+J8U19I6aVNmx8rQCb9VtdG1NiuUctrD4LGntsstW9mR1dl16vRpYC+W5poHmLj63+CwOr9PnrLFODXHv9zb6Z1OGlrcJxfLzwen5VklYOY7yltib7jcrzi/V1Ycec8o6KeurlHHJvMJU8OdDWgHkBCyKtRZW8p5MWxb/mZY+3noEf+YW4w+4P0VnOTD8X19VedvKFoae52Ryzd6ettWAThXy8NmNRA3i5KNKTjFyRdk8RcsdjX5fkTGhweQ4ntYR6rPXVJJ8R4MDW2rUY44R2twxh3fhb/b+yNHrGHymZk9FVLvFfgzue5HSw5a6nEuBE8wLd1ar6k763BdvJrdG0lVTk4xwwNThpB7yVLLbR0Lm5FPPHsrUXsBAG+qNjPUrq+h6HURuU2sRx+TF6xZX+nkm1u+4JrOYNLNZMENte+mQei2p/w3TZN2Nvnkzaf4glVVGCjnCx3CPC2KbJcfKCxpve8myweqdEsqtUNOnJf3+5p6frMb6N1rUWn7+B2eYbxahdqIZpAjnIMz0XVdIUtNpY1T+ZZOZ6jKOo1G+D4wU6RFN7NNvvG895eCQq3V6420Tk4ptRePwF0jlD4E+Get0nrw2UTXaCGGuAE9EJStil7r+oGfBbfgmOEOGod77rso5QBWyi8plSpw3h3b04/wBpIUvTi/BYXUdTH/d+Sq/gqgdi9vvB+qX6SDDLrN/lJkD+CAPYq/3Mn6FJaVReUwi60380PwzR0MO5rGg3IABI7K4jJnOLk2j5twNAEuF4k8+yjLlnJXTaSYZyvLGYl7aVQuDXb6SAfjCJprpVWKUe5PQRUrufYO4v/TbCN2dW/vb/AMFs/wA1vXt+P/TbVUWsmUbw1Sj2n3Lhu3kSPyrRWrm+cL/P3KNsnGTSPXcHZjB/SPovJ9ZBRtlj3Z01UnKJcY8qkwg8uURkiN7QdwD7lJNrsTTa7EbMFTmdDZG1k7un7j+tPHcuAoIIcFEQE4hwoqBszadle0dji2kXdLY45wYLNPI5zRsJ33XT6SmNkFJ9zQ9WRj8G3U9wOxa4FeoaL4aIpeMHA6yW66Tfuw9hMGzeL+W/oESyySIQgmX2ADYKpKTfcOopCrGQUyeCJpOEeH6NRoqvBc6RAJ8o9BC5Hq+uuszW3xz2NLTxSWTaty5g6/FclPR1exc9WRfw+Ga3ZTo01dfMVyBnY2WwFoJAx4CIhhwKIiA6VLAhSnSEf//Z" id="196" name="Google Shape;196;g375fb6ca2a5_0_55"/>
          <p:cNvSpPr txBox="1"/>
          <p:nvPr/>
        </p:nvSpPr>
        <p:spPr>
          <a:xfrm>
            <a:off x="207433" y="-754062"/>
            <a:ext cx="3175200" cy="158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data:image/jpeg;base64,/9j/4AAQSkZJRgABAQAAAQABAAD/2wCEAAkGBxQSEhQUExQWFBQVFRUYFBgXFBcVFBQUFBUWFhcVFxcYHCggGBolHRUUITEhJSkrLi4uFx8zODMsNygtLisBCgoKDg0OGxAQGy0kHyUsLCwsLCwsLCwsLCwsLCwsLCwsLCwsLCwsLCwsLCwsLCwsLCwsLCwsLCwsLCwsLCwsLP/AABEIAIQAyAMBEQACEQEDEQH/xAAcAAABBQEBAQAAAAAAAAAAAAAFAAIDBAYBBwj/xAA6EAABAwIEBAMFBwMEAwAAAAABAAIRAyEEBRIxBkFRYRMicTKBkaGxFCNCUsHR8GKS4Qdy0vEVJEP/xAAbAQABBQEBAAAAAAAAAAAAAAADAAECBAUGB//EADIRAAICAQMDAgUCBQUBAAAAAAABAgMRBBIhBTFBE1EiMmFxkRSBBhWxwfAzQqHR4SP/2gAMAwEAAhEDEQA/APaoUyIkhCSEJMI6EhHUhxJCEkI6mEJIR2UhDHJDlepXDdyouSRJRbGf+QZ1HxCjvQ7rZmuIc4pMdcySLDZW9PUrecmdqpzqfCMzic7fvSw4quglwDjEdhz9FHW0+nhwDdPt9TKs7oI8KcZUa7vCfT8F+wGqx7X5qjG5xfJoypT7GyqZeHCxsrTsUlkrxi4vALezSYQg4Qwex9EO7sJfMjE5szzFVImqnwQ5Iz7xWqu5XufBp60hpIEwjSsjF4bKiRTo4jUJ2T5yInZWUhGwUimIJhHYSEIBIR1IcSbIhJCOpCOJhzqQiOtUDQSdhumbwOlkC4zNoO9un7oMph41oH6/FM6j6KDeQqWC1h8LF5v6XTJjNFDNcoZiBpeySNncwesqcZtPK4IyimsPlGZy3LRha/meSCQGONgOzu881YeqlNbZFWOkjB7ohDjfhxtRn2mkNNan5nRbVGzvUIV1eFuLFVnhhvhfNy+mJ3LQR8FXplztC2w43HMXUl0q5KLiAjJMIZa/yOVe58Eo/MZLNDuq8TT8DOHqRdUPTqjKxQK9vY2nhwqN2ZS5IRwCsxwZZ5mXHNXaJtfDIHJAZ+JurhE9GCkVByQhJDCSHOpCFCYQoTCEkOJIRx7gBJMBM2kJJvsZfiTPAAGt7kn0VeyzPBZqr8sw1XN5Nzcifnb6Ia7BmPy/PIfZQk8EksmwwmYEhRUx3WSjH3Ut42wEZ7gtbdTb9QpN5GxgiyHNfEo1qNQ+em0iT+JhmD/Oyk5twwD2YlkHcL44iqGdIHxlV08NMO1mOD0HH0GCmTaVdnfl4KMI4ZQyt3kch3MLFfEZHNn7oMDRfYvcNYlrhpFjaU3oOcssqWSwaRzvMBKHL4ZYY2U1kummGi+y0K6YSWUAcmYLMajfFdp2/VFhnyPk9PCmVTqQjqQhJCOphCSEJMOJIQikIyHGGaEPZQYfM8x6SQJ+aqWTzLBaphxkx3EeNEVCNgCG+g/gQ2HSMpi6hLjGzQ0KLeCSjkq0cQWu6QVGTySSPTuHMaKjBtMKCHYVfhbnupYGyRPYW9wlloWEwQcmu6ux+h7muaGkSy+xd0vzTOzgTg/AEyOW4tzSfMHtDuxAuFFsljg9Q1BwAN1dVafJT3YYnMa2m6LWKU4LI2/MjEY3CB/4keGmh7h5XT9h+S4Dw5gyU9mli+0gLul5RoaFZwAkXCg9Gn5A+rInq4guaQRdFqp9NYTIubZkzlNWSY3PRWPSXuJWM9PCCDOpCEkI6mEJIQkhCTDiSEccYEpmJHlmcYr/ANwOPI299/2Wdu+LJpKOI4MZn+MmW9S4fIJ8j4H5BT8RtUHc7fBCnLkNFcEOJwRIke0N/co7yW0K8LY7Q4NNun7FQb5Hwep4QS0HdWo8oqy4ZNUoAp2iKYFxj3NqaLaSAC2LkE8iqtkXyi3XhxyAMRg9GNLr3gknmYj9FCTxLAy5ibumLD0WzBfCjMl3O4ofdO9EG4ermRh67ENNmi0Xshb5ij1Nle5cGia1HKw8NSyxsHdPZSTY2AzTeDsZTtYAD1EQkhC1JCFqSwIWpLAjhqJ9o2RvipbR8ja9Xyn0P0UXDgku55DxnW01iRvZw9xBWXPiWDTj8pk87onUXDbVPuP/AEobwiRd4ba5tRwiQYKHJ5CpGgq4CCSNjuokhmCw1OnLnFoG+8AepUoxbGbRp+H82FYSy1OfKT+LuOyOuOAEoruaZjpRUwD4K+IpCdUXiFFwcnwSU8LDK9XLg8tdF5E+gCnPTJ4aBxvxlMJ+GRyKuJYWCtkjxxikVWvCUcyMbiUJGi0XuHhcqzUVrzRBHKp0JDDlIQqea0hzhHdcmVdxap5hTP4goOuS8CySjEt/MPim2P2HyPbUB2IKi+B1kdKQu3c6kIa9OhmMUhCIURzzf/UvJTpZVZIcPZPcDY+sLP1UNr3Ghp55WCnkGTjEUWPLA6WkETEHkVWjVuWQ8rNrwyCu00JLy1gbvygDqUFQbeEH3rGSXJMybiWFzbtkgGDeOYU/TcXhkVLdyipmfC1KtU1OLot5dR0GP6dkRWbVhDbc9zU5XSbTAAsBAHaFBPkng0FCqjRZXlEncJBRaniSAzXBJg5YZcRCvd+Eio0WxmVOY1D4hP6cvYhx7lLPHjwzCoanjuW9KvjMRiygRZpNF7hx1yrdJT1BowVYKpXq4xo3KbKH2shbmrNpT70LawEMUXEHrutiaUI5CuKSKTq7i43i6yXZJvOSg8NkoxD+qb1ZCwixQzeowQCgWp2PLDV27FjB2rndV3NSqk6/qNbP1PA0Z5VH4ijfqPoB2ItMz6pAJcVFapZxgL6PGckL+KqgU/1EPYh6bFQ4ycTH6JPU0ruEhROXYdjuJBUZFQDTMm20c0OdlVvwoLGmyr4mQZVm9HDscWvBBGqPXkgaeiddmH2JXWxnHjuVcViMPmpLXAF7PNAkSO8bwiayjZicfItJPOYsdhKNPD+RgAaAbDkQsxyNFRyKpXa82adrGSPko5yE24Iq2O8HTqMybD8R9AmcWuwk0w/gsZqAU4yISQWZigIlEVmMFeUBmLa15uSQOQMA/BSn1WyvMY4++Cv+li+WNwWGYwkBoM7ne3SSqs+pai1re+3twS9CEVwEDQZUbpiB1B2UlqZW9+fqQjmp7kZPiDLH0SPxNOxH6qfyl6q6Ni+pHwzqLiCIKt0zTAXm5oYECCrKWCpKzjBSzbJ2vHlF/VNZDcsD12bXyZnMcB4cahBWe6rIPkuKcZElXC6aeuBcWhb19ra2lG2bSA4ZdU8FNMm0qOCWSNzExIjLUw4x4URyasyGBBj8xYl8hSrMlEBorYej5igXF3S92XKtCWOHYqOm/wBRFm5fAwZgcrqV3eHTEmL8g0dSeS2bbI1/FIwYpyeEa7KOHKWCptLmh9YzqqAmwPIXWNrepSm+PlNHT0Y58g7MaRDjzG4PqqcZp8o0lygNmFWubUg1p5uNz7gjRazli/fA/JsrDCX1HOq1XbvcZPoBsB2Cm57uwzwuEH8K3TcfBCfBFF/Bk1CJnSNu5/ZVJ3eENLgI0rF09QEAH4G069ieZNh1/wAKCeUKUfAQwgdFzP093ZWK013Azx4QQfTD2w4AhXovK5K2XF5QHbXoMqOZZr2m4U64yzwGcm1kJsx7OTgrG6xAnHI4YgTOoJKyxMW3goZpgm1iCXbFNO2bJw4AeOe0UqbW8he/Radrbm8lTUy5wDEMrIeGpieRjgotDkRCYkiTCtbrbr9mRKSi3yEhHLDnEeFa1jSBCFtwwrfGDLPUsAgnlXD9Wp5iAxp2LufoOiHZXuLOns2ZyFG8NuFi5sHmJkIUa3CSkWpXqUcYL9KjTw9MhjdPXq7uTzVPU6qc8ymAqqw+Afi6+th+SzZSzEuRWGZ/MnEikRzdB9JUFNxxgNHyF8XkYqAGlAIFwSfN7+q2ZQzFOADfj5igcvrN/wDk8+jZQ91i/wBrJqcPce3DVz7VJ7R3Buqt/rPja0LfDww1gqWgX3/llXitoOTyPa/zfEpNj44KmVV9QHMwFGtjzQeoDvdWolaZcpzyVmKfgA8GW46yl9sTRkuaIqNFy5o2cB1F1bjNxXDHqkvlZiKHEL+qIrpeQ/poIDiAge180T1RtiHs4lPX5qPrj+kF8SIhv5QArreW2ZNrzIG4nMKNMxVcQTsA2Z9/JCnbGHco36qNTw1ks0MbQdOmq33kAD4wT7gVFXRYOHUIvuv8/wCC39mnZzT0FwT7lLcmWY6qt+SE4R3SfQg/RLgNG2D8gzMM3phoa0zF/erSaUMF+ETdZVXbisOxzhNtiqc+BNHW5XRa4OLQSPZEWCg3jkdRyWziRcC5G6i5k1ArvxJLNQ36e+ChtthFFZwUMzxOw06wZmNxHRV7YRkviWSxVH34B+HqUXEAawSduqqx09M1xn8knuRcdklN2keZoaZAJEkzKJ+hqfuD9aSC1Gk1uwA+quwiorCAttj31QN1PI2MjW4wdUt4vTHucx3tAH5KEoQn8yQyUo9mQHAMMwSPmqstFU+zaJq2aKODyE0nEtqBwPIiI/koC6c4fLJBJand3QSZSc0bSeymtNZHwCc1LyVMThqtSzn6B0aSPid0b9O/LJwlCPZZM/neFqYfSWvfDjbzEkOWVrNPKmalFvBepshYsNclR/DzKv3gAGq5HLVz+a09NZvrTZVmtssFerwp0Vghkp1eF3cilwPk0RoufViCQSAYGw59lo5MKLVkvh5MNxgCzF1GAuLWkBuq9oBss+yTcsmNro4uaB+GqTylMmVVwEKb+hInof0ScicUyd+LcAAajyG3ALjAj3pt6wEjTZJ4X+fY2mV8L4d2G1hoLnNBN5LZ5XWh6zmsnV171Fb1hlvg6rpoFv5SQo38MK1llnHYw/BZ1lmXhB0lGLbK1HNvEDXtNniRHxgom55wRplC2uM49msnTizDyTtNvmlkLt9ipiM7pMqNFTS0GSwkDcR19VHfh8ok1FJJvlltme0bDUCTsLA9hbdL1Y+BnVz3LbMSeY0DvGr4KWX5G2LwRV87pNEFwDuhN/gE+9Ap7YfM0im/N6bwdLw6NwNwk+xD16lzuX5KFDNTqggwOcWVZWItLD8hejjZ5ou9CcCcYzulvG2E1PGKSsIOBOMUpKZFwJG4iU6kRcCDNMOKtMttuCPVC1Nfq1uJOqThLJHSw4aAByEKNcFCKivA0pZeWdNJEyNkWhOmLJ5twrxKW1x4z2CmQbxoDTy8rYbf0TqbXdnJaCxQuTm8dzX53nGGOGquFSk/QwmNTSdrd1apolZJJJ8nRuVco7lhnlGB4qpEu8Wg0AQQWjzX5TI7Lel0avGPJm2V1T5cEHaWY4WpZstcRIAdIB5Al4bfsJWbqul+nCU14TGp0FVtkY8rLwdpMOsOBiBHz3XNTtysYOv6b0ivRSk927P0NZwLWeKj2QSx7SXOPIjYT7yi6W+EZ7W+/uF6tCMoKXlMu5NTczxgWuALpEgwR26rS1M4tJpmPAsZlg9eGqu0kujyAc/cN1SjXmO78ANfJuqUI+xi8Nj30AWua7qAQWwffyUMNGZouoPTRcZxeP6BejjBUAOoBtQczsR/PknOjpshbWpxfDMTn9Z9eoRVIc2mSGxtFvnZGivJzPVdXKVjgmsR7YBraOl+oWcIgzcR0TSWFhGTHUTjjDxjn9wjXzfEPF6zx6GEJLHcuz6zqpLG78LBVpUTrL5dJETP6lTysYMy22dkdsufPPJbo1XhukVHQDJBmCZm4ScvqV3z4DuX16ji1znS0yIFgZPayVyzU2n4LPT75VauEsN8pd/fgPtaWAGd+XP1WXG9pfEejLDeCZmKRVZnsS2lhldSUyLiWG10WMyLiTUsQixmQcSfE43RTc/8olEdiUcirq3zUfcnynMGV2y0weY5gpVuM1mLIanTzoliS49y4aSdoAmMLEhzxzBPwTXFr6dQxYkkG+1gCIQ1bHyi3D+Eaow3N7s/sCc8yqlUa52GpVHPa65JBlvYclvdI6r8Xoy4jgFrOhR0mn3VvL9jJ1ZafOwtP9QI+q6tPd2eTn39gtlTS933bHPdYw0Fxt2Cq6iMXFxn2aDUykpKUFyuT0bIckqVGE1gabpECxMETcTZeedVpVFi/TLdHHP3On0+uuxmyJsME3w2NYD7IAlcta7IWNvh9wFjU5OTXcs/aXdf56qKus7Z/wA/qD9OJZp45jWy5wbG82XSdO1dTqjW5fF7Fa2O3Mn2MjxtnDQ5hpua86SSQQYhaTZl6rWKtLbhmYHFLnMZrpUnueYGqm3ygfMlNjkF/ME8qUU8FY4yk8vApAW0g7Q/fYckWy+Oz5Un7k9FTpdRqYQlHh/sDKuHMzPaOXrCoSubR1tP8P8ATo5+DOfd5KWCzGmHkVXWG1jv7laWk1FkU6o/9GPq+jdOhlJ4f0f9g0fDkAPAJEwd46wqkqNVFNyg8LgzZdEpfyWY+5fyvJH4gnwix0CTLo/dKMJyltlFp/UpW9GshzCUX/wbjgzIn0Gu+0NYTqBp31aRF+0yr9KaWHgLoenqvMrI/Fnjzgg47xjKFRjiJ1MMRFtJ/wArP11MXYn9PB2HStK74yz4Zn8LmjSAQCTIkeqpKuK5WTSl09J9zQsw4IsY+YS3NcGS208M4aLx39ESM0NlDTWLRLgWjqbBFTJKLk8Llg3Ns41N0N2PtH05BDut42mpo9E4S3z7g7BY11Jwc0wUKux1vKLl1MbY7ZHo+S5oMQzVs4WcFrwsU1lHKavTOieH2L5U+CufOD8aQ7fY8/8AKrKCwdz6kS7lvETG1mOc6QHiRMHflNluaT+HZ3wjZvSWM9smD1DrdMFKqCbfY3Bz3AVrPAubyGva2erhZWpdE1cMuE/t3TOajq6nhSQPzJ2FpEfZW6XOF3taWCBy5deSyOprU1Yqvln98m90WuuzdbBLHYbhMXUc0s8VxEXuVkSm154NyUIbt21Gq4Zl7XMFtEXPOfpss+/SK57ovkyeoYhJS9ws/CvHIH0VV6CxFBTiBc9xfhth7NQdIIJ5b8lY0mmdct0127FqjSw1ScZdgF9spvbei3VvHf3LVd79ixPoOjcknFY+wJzdgaQdIaDsOhHzCPVJtcnF9c0C0t//AM44g+31fkHBzeg6or54MinUTqmpwfK7HIfUqBjHNb5STq2srFOn0yplZdnhpcHXdI6lrdW3HKbXuiGrwY1+2JGrVfy+WeY3lXaOuVVQ9NR4Xbk0r+iztk7Jy5f0AudZQcMQW1dXiSCQC2NJuN77rZ6f1CGt3SUcY/cy+odPlo9rznId4fxVTD0GhpaHOBkzcg3F1y3Vrt+ocYPhLD+503SNDBaeLtjz3/JpcDnFZ4jxD5SPxcuay1KfuXbNNTF52lHi7MX1cQXNBghovsJHewWvpOhavVVK5tPPbnwZ1Ou0+jXo2PGPOP7lPJMedT581uXUGIVDqvT7dC4xlw2X6dXTq4bqn2fJ6ZlJb4TLH2RPaVydustjPCfkxNQpOxl9tMcgiabXSnZtl2Kzyu4I4rpuNBsCweS74QPqt1R+Hgv9MlFXP3aMc9Dl2N+PAxjkIk0GeGceaVUX8ps70VrTTxLBn6+hW1P3PR4WmcqeNNz9lR75jRfTLATPR14hRexyZxnr6ivHxP8AJm+J8U19I6aVNmx8rQCb9VtdG1NiuUctrD4LGntsstW9mR1dl16vRpYC+W5poHmLj63+CwOr9PnrLFODXHv9zb6Z1OGlrcJxfLzwen5VklYOY7yltib7jcrzi/V1Ycec8o6KeurlHHJvMJU8OdDWgHkBCyKtRZW8p5MWxb/mZY+3noEf+YW4w+4P0VnOTD8X19VedvKFoae52Ryzd6ettWAThXy8NmNRA3i5KNKTjFyRdk8RcsdjX5fkTGhweQ4ntYR6rPXVJJ8R4MDW2rUY44R2twxh3fhb/b+yNHrGHymZk9FVLvFfgzue5HSw5a6nEuBE8wLd1ar6k763BdvJrdG0lVTk4xwwNThpB7yVLLbR0Lm5FPPHsrUXsBAG+qNjPUrq+h6HURuU2sRx+TF6xZX+nkm1u+4JrOYNLNZMENte+mQei2p/w3TZN2Nvnkzaf4glVVGCjnCx3CPC2KbJcfKCxpve8myweqdEsqtUNOnJf3+5p6frMb6N1rUWn7+B2eYbxahdqIZpAjnIMz0XVdIUtNpY1T+ZZOZ6jKOo1G+D4wU6RFN7NNvvG895eCQq3V6420Tk4ptRePwF0jlD4E+Get0nrw2UTXaCGGuAE9EJStil7r+oGfBbfgmOEOGod77rso5QBWyi8plSpw3h3b04/wBpIUvTi/BYXUdTH/d+Sq/gqgdi9vvB+qX6SDDLrN/lJkD+CAPYq/3Mn6FJaVReUwi60380PwzR0MO5rGg3IABI7K4jJnOLk2j5twNAEuF4k8+yjLlnJXTaSYZyvLGYl7aVQuDXb6SAfjCJprpVWKUe5PQRUrufYO4v/TbCN2dW/vb/AMFs/wA1vXt+P/TbVUWsmUbw1Sj2n3Lhu3kSPyrRWrm+cL/P3KNsnGTSPXcHZjB/SPovJ9ZBRtlj3Z01UnKJcY8qkwg8uURkiN7QdwD7lJNrsTTa7EbMFTmdDZG1k7un7j+tPHcuAoIIcFEQE4hwoqBszadle0dji2kXdLY45wYLNPI5zRsJ33XT6SmNkFJ9zQ9WRj8G3U9wOxa4FeoaL4aIpeMHA6yW66Tfuw9hMGzeL+W/oESyySIQgmX2ADYKpKTfcOopCrGQUyeCJpOEeH6NRoqvBc6RAJ8o9BC5Hq+uuszW3xz2NLTxSWTaty5g6/FclPR1exc9WRfw+Ga3ZTo01dfMVyBnY2WwFoJAx4CIhhwKIiA6VLAhSnSEf//Z" id="197" name="Google Shape;197;g375fb6ca2a5_0_55"/>
          <p:cNvSpPr txBox="1"/>
          <p:nvPr/>
        </p:nvSpPr>
        <p:spPr>
          <a:xfrm>
            <a:off x="207433" y="-754062"/>
            <a:ext cx="3175200" cy="158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data:image/jpeg;base64,/9j/4AAQSkZJRgABAQAAAQABAAD/2wCEAAkGBxISERUSEhAVEBIXFRAQEBUVFRAPEA8WFRUWFhUVFRUYHSggGBolHRUVITEhJSkrLi4uFx8zODMsNygtLisBCgoKDg0OFxAQFysdHR0tKy0tLSstLS0tKysrLS0tKy0tLS0tKy0tLSstLS0tNSstLS0tLS0rLS0tLS0tLSs3K//AABEIALgBEgMBIgACEQEDEQH/xAAcAAABBQEBAQAAAAAAAAAAAAABAAIDBAUGBwj/xAA1EAABAwIEBAMIAQQDAQAAAAABAAIRAyEEEjFBBVFhcSKBkQYTMqGxwdHw4RRicvFCUoIj/8QAGgEAAgMBAQAAAAAAAAAAAAAAAAECAwQFBv/EACURAQEAAwACAgIBBQEAAAAAAAABAgMREiEEMQVBURMiMkKBI//aAAwDAQACEQMRAD8A8QaVMCoGqVIicoVMSoUAkkkkBocLxBBLdlNxRkieSzaD4cCtmoJb5JVJhJIuCCaKXDm6fiGKFhgq6xuZBwcGyGzzVSq7xE6rRqeELLKBV1oJa0t0uHb3k6+RHorFOiCQDcG46a+qr4B5kCdRaZI9FvcPwBd/xLDoR8Q8vmoZ5cWYYeSHDUIs1odsZ08hvqtnD8On4vS5/f26t4bBCmIbcix6TsPytHD4UkaXNpO6zZbGzDVxk1KAFmtnsFQrUTMeRGq64YHwuI/xk8+Q/KqswAkCOSjNid0yuPxHBnAggZgbjpdVX8DqEktLfnfpp916A3DZSRFuSceGsNx/IU5vsV348rzd+Bcyz2nKZBsTlncdOiy8ThywwR06eq9VxnDW5bw5u/RctxLhgy20Byjp/wBRPqPRW4bpVOemxx7KhGhU7Ma4bpuMw5Y4hV4VzM0GcTIU7OKDdZeQpqB1vM4g07qenimndcynNeRul4n11AqjmnFwhcy3EOG6lGPcjxHS4kfGhgdVBUfJkqzw8XT/AEEr9T3KSLxc9ykkbOClBUQTy5NACUxGUEAkkkkAltYN8t8lirQ4Y/ZFOK2MZDioFocTZoVnoBK/gHqgr2Bp7ooh+Pq27rParePahhKQ1PYa6oOTrQ4bg5LZAuGxpfyXoHCMDDROsX/H0WDwDBCziPEYPWOX19F1eHcTbQTcjYDQDr/Kw7tnbx0dGvmPT6+FaALwLzrcb+qsNoeMNFgC2T/baVL7kuawut8ZA5iWgfWSjj/DJ3Ib5eEfws3WmQnACnH9x8jdQinBA3nxDlOn2SxD/CORe15/9CfSQR5KxgaV8xNyZ7TZLG9PgCgDO5+az8RRiY2+YOi0qtnTyPyn+Vn4mvldH7zUgy6mPLW5X+U9j5lYnEq4yHqRGx5ytfirQ6+40NlUZhm1BkLRJEtOzvLmp4eqrznY5n2iw4yNf6/T8rDpMXScZwzgMr75ZP8AkTp+Vz9NhXQwvY5ezHmR/u7Ku8KV7ioS5SQNawlTe5sn0nBTPcExxFSoA7KT+kCkoQrLWpBk4mhlU3Dk/iRTuGssgFUFz3KSfUFz3KSDZKSSSaBJJJIBJJJIBKfBvhygRaYIKDa+LZLFjlbVJ0tWViGw4hKA2kySBzW5Tp5Qs/hFGXzyWhxJ+VhRQysZUkq5wenmcG7T3CzqTZK6LhFHk0DqZsVHO8i3Vj5ZddRwxnIdOsC1vIALo8I2XQ0SAI6CZv8AX1WXwymBBPIuP/kEj5hdFgRYQA0bm/yXLy++urP4WKLJF75TUjzYPu0rPxjszZ3aXUz1BMt+4/8AK3W0okRqC3ucrifmY81jVGQZ/wCD5E7C+/Ig3I7qvqUVKJBYQB8IJA5EGY9C/wBFJhsRdg5EFw/xv9vmgwim4ZrCQHcwDY+l1ncTDqBeTvAB76x5gXREq0a+Ikft4ufss7EmZHQx5TCr0sXIHQSdtdflCkJg33srZ6R4xatU6ciWu6KBlfKdYvIP/Uq5jaPjzC8iHA7xuh/SsLfjjWxbJ7dVKUsol4gW12XGV8dPODvzXFVsPkOU6iW3/brq/dEDw3iZBvPYLL45QBDXjf17FadGXvjD8nD15RiOYEw0ApJT8q1siuMMm1aBV6mEarEiZ1NpCH9YQtHL4VjV/iKISQuLytfC0oCocMYFrgIpyM+pqe5SRqC57lJBsdJJJNAkkkUAEkkkAkkUkBo8PqWhQ8QZeU3Au8UK5jKctSNNwilDJ3N1W4zVuG+aWHxcBUsTUzOJQYUtZW7wuoS8SbC/b9lYdJanD33A529YUc/cT1XmUeicNfYOduCYP9wIb9Quo4GM0E7jN5HQfRcRQqSGCfieN9mfvyXbcIxLYlovoZ2BBgW01K5ufp1I1nNmoOQzAHref3smYvhxALmiQfiaRLXK9gmA69/L9hX8GRGV3a+hCjjj37HlxwnEKLTe7dnA7GPmLD+Fn8aLiJczOxxl4tIzXBa7QEG/IyBsu39oeEtc0x3ga/7XHl1SkSJzNgCCC5pjmi42LsbMp2MPBYBzQSDnbMteJ9HDVrraH5qzUZEHY6/2lXsNi4cXtAbzaLNiRtuNEMTi6ZNmBo3gw09hCj5X6p2KrcNmtadiYv0I/SqWLY5tiZEEmBGl1fbUYBIBjmf4urb6FNjfeVZeSC1rASIBEGY3hWYyqs85HJYbENz7tI0zXnYKLFBrs1Lezh33H7yV/iuEplpqUQWkHM5hJcWHSQeWltlztWocwPIwe0H8rRMffYot8pZWVUMOhSh0qfjVHM1tdu4h8bHc+qq0DK1y9jnZTl4npp1QpNCFRNEXfCsSv8RWu93hWPVNyiHWjwoLUKy+GaLSLglTijV+I9ykhUeJPcpJhnClKPuVYboiUdLiv7tL3anToR0cVvdoe6VrKjkR0cVRSRNJWsiRYkfFak2CtWJCo+7VhjrIRUqlIApopq49spuRPpoGsVrBuh7e4UeVSMEJUS+3R/1UEXuGz2uSfnC632XxgveZ+LqV5vXc41A5u7Q4eQg/ddf7L1CYA1gSR1+mixbcOOnqz8npnC8UCAZ6eYt9IW5SZImey5HAUnNM6tME9Nl0mHrWA1GsqOEPO8PxFMnf5iFk8QwAO3dbjXhJ2GzCVZcJUcdtjz/HcNnQR6ffVZ44cRtPqvQ6vDWkklQVeFCLBRuuLP6zz48Ngg7Ag35Dkji6hDwZLiQA1oBjrddbiuFOOyzcXwIw057zLm6W2j5ok4rzylrCbRzO8TMhjxRo5pt6iQuXxXCne+NMa5svqV6jguG08oeTrOuwBt6xPon0eDtL/eQJ16pxDvHlfFuB18NRfnbmpkOIPKZ15XXL4Wovo3FYJtRhY9oIIi9wZ2K8T9pfZ8UKjhTEhrszeZYdjzjnyV+Gcn2z3XlnbcYzGvQqPTBomOBVrOVep4VlEqfEv2VdSgqajXLVI/GFVUkBKa5SUSSB1pMFgiWp9MWCMJGjDUQE8tQyo9GUIwnAJEJDoIwiAigdNATkgimiCBCBqBMNUIB5agSEw1lGTKDamAqTAtIu3vy811/sq1hfJOUTfofsuDpAhdBwfFGc7bH4TOj4VG3DsaNOzj12hUaBAeHcxBB9EXY3KuRwWNkAzG0cv3krTsU4+EX5dVTjOL7euow2PzEALeoG13LhsLiCy0w46k7KfGe1GHwzZqVxmjd0k22H4VsiPqOyfUaNSpKVRp6rz7A8Zq4twLGubT1DneGRtY3XY4Ck5oEmUskudaNSmFlcUw0tzBoc4AwDv0Wm10qQ0gRdQnsXHjj2UqryAWZGEyZjwjkAN1sUmqbiDw0LDxPGWUml73Q0CSfsnyYly53i5xziVPD0XVHmOQ3ceQXlD8Ya9R1V9pJgbAbAfJM49xurjq0mQwWps1DRzP8AcVPQw4aAPwqre16D4Pwprw7l91k8W4fmBc2zvk7v+VzQxMEg2IsRyK780ZELl/afhJH/ANWj/P7OWjTs/wBa5f5L4Xj/AOmH/XO13SVGiUFpcMkkgE7KgGpIwggNemLDsE+EaYsOwUgaopIoRDFKWpNCAYGIhikSQRmRLKpIRyoPiu5qgewq9kRyoDM9wSl/SFacIwgM1uEU9LDwruVINR01ao3ZNwr3sPMTMHRWnMTSxIfTb4fi31D4SGv1v8LvPUFabMbWY0vqU30mg5C+Jpz/AJfdcowwZBLTsQtrh/GiR7usczHeFwN2OHbmq8sWjXs76q/iKVbENllWRyFp6yqNHg/uyBWo+8uC17mAu6guOt5W/wAJ4dTouNXDucaBIzsJzBupzN3Ebjeei7PEcMLqYLIMiRyO6h5c+mjx/lj8Bqm1o+3RddSqGN1zPCsW0OyPble0w4ffstw4wFQtW4860qNUKZ2KAXPVuIRoqGM4vA1RjPY2cQe2nH20WEk9o36LzDG8XqYg3s2ZDfuUvaviRxFfKD4GH1cdfRV8M2B+26o2cka/x+jyy8r9RfwrI8IOU6kxJV6gxo0JJtJKzqdRrefXme6c7FjUAj0VD0UskbLHJV3Ajntz9VksxdrHunNrpd9su/GXFz3FuFhjvD8J06dFmOwy63GDMCPNZDqC36s7li8h8vT/AE9lkZLMOpPcLRFFOFFW9ZeMk0uiSuVG3PcoILixR0HYJ6FEWHYJ8JHQRASRCBBhIJwRSMITkJRBQAShGUQUAzKnAIooAQkihKDJJKUpQQOEqGnTg8wpkEHK6z2dx9RhaWkObaQYB/lX+PcTxDKRyEmidQ1zmVKQPxZY2F4XPcDB7Lcx1J/uySZbBm8WWe+q2YZdjUbh6TaIqNcZtLi4uNupNx+VnH2hYNKzSNNVwGKxLyMrnlzGSGMdo0bCE3AcQaxxNRufQC05ekJ3Hv0tsuH27ut7RsGjw4rnuLe0BdZpufks3EcbzDwUgOWwVOjSLjmJS54+6t143ZlJE2FpbnzP1U9V02H+ggbD5KZjABJueX5VNy/bu69Xjj4T0axu5sNhuU57p6DYJwZu7yUTyotMnjCbYqxTqSVEwJo1+iSvZ6i+bhUazYKtYc/NRV278ldoy5eOB+R1dnl/CuglKErW4qhUFz3KSFQ3PcpKQWaWg7BOKjpGw7BPKRCAnhRyiCgQ+Uk2UQEHTkAUUoQRFIIhJIxlKU0pt0BLKbKaZQTLp5TUEkEMoygAnFqEpG/7OVYMFdx7xvu4jZeccCxQDoOxPzXe4GuC1Zs57asI899rsMGVM+WAbW2KwqAmd9vquw9uKjbNmXEzG8c1x9IjNaylP8WzGXs6tspABTNG6jLO6eTZUZe3a0yYz64dGnqrVNn/ACd3A5pmHG/8wpan+1CtuGPPZtUzqo6dNP1UjjZBW+0ZCjrG46fdSNO6gDpkpyKdmX6XKRsoata5Cp1sSW2am4aZJPJWa8ffa5Hztn9tkSkoEokIgLY4DPqanuUkague5STCSk2w7BSwm0vhHYJ4SIoSSlDMgHIgoSkAgz0kgiEgSUJIhACEYRhEBANhCFMGppagI8qJYnQjCD4aAkQikUBlVnljzBIOxBVyjxbERArOA6RP0VfiLbg8/soKahk26Mu8WzJMuJJOpJknzUB1nsVIwptSFXPtvz54yr+YRZRVFHg3Eiys06Jc4CCBudgqrOVvwzueMsWcM8RpomudKdUAFhoExzVCtst5ynsQe5MlRl6IWeXIdXqeGOdlXrVYEC5QxD7jmoC0zJ1VuOLBt222zEGzqVPhnSVAVYwrbqzH7c75HZrqdAokIQrnIUKmp7lJKpqe5SUiS0nWHYJ8oUW2HYKWEgblRDUUggCAihKSQJEJsJwagCiEIRQY5kZTgEwoB2ZLMoynBAElCUcieGIJGiGqSEUBUxdDM3qLj8LImCuiVTF4Fr7/AAu5jfuN0J453FmsqrTp4Zos67rE8h06qpT4U4Gc4IBB0N4Mqz7y57qrZOfTqfD3TLLmTQotaNrctj3U1eqIEDT0WYKyLqxPZZ7K7mO3GRYzbphKiNRML0uC7UrioK9YNEm52CTqqzpzvJ20Csww/dYvk/J5yY/dW6ZzGTqVYcEyiyAptrpZVZpw9KzypcILE9lHUsp6TfD6qzX9uf8AkLzHhxQhEIFXuMo1Bc9ykm1NT3KSkS1THhHYJ0opKIJCEkkAQ1GEkkGUJQkkgCgSkkgj2uT8ySSDCycIRSQRIygkgFmQL0kkGEpAopIB0rPxYyunY/I7oJJVPVlccpxGHp4qIpKmx2cNmXBFRNdVSSSmMSy2XiCrVtY3+iWFZukkp5esVGv+/Z7aNKwTXvSSWd1u8kNqM3U40CSS0a3F/I32bKGZJJXOWz6hue5SSSTD/9k=" id="198" name="Google Shape;198;g375fb6ca2a5_0_55"/>
          <p:cNvSpPr txBox="1"/>
          <p:nvPr/>
        </p:nvSpPr>
        <p:spPr>
          <a:xfrm>
            <a:off x="-1039467" y="2504043"/>
            <a:ext cx="6350100" cy="136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99" name="Google Shape;199;g375fb6ca2a5_0_55"/>
          <p:cNvPicPr preferRelativeResize="0"/>
          <p:nvPr/>
        </p:nvPicPr>
        <p:blipFill rotWithShape="1">
          <a:blip r:embed="rId3">
            <a:alphaModFix/>
          </a:blip>
          <a:srcRect b="12118" l="0" r="0" t="0"/>
          <a:stretch/>
        </p:blipFill>
        <p:spPr>
          <a:xfrm>
            <a:off x="9901922" y="304801"/>
            <a:ext cx="1790145" cy="1581150"/>
          </a:xfrm>
          <a:prstGeom prst="rect">
            <a:avLst/>
          </a:prstGeom>
          <a:noFill/>
          <a:ln>
            <a:noFill/>
          </a:ln>
        </p:spPr>
      </p:pic>
      <p:pic>
        <p:nvPicPr>
          <p:cNvPr id="200" name="Google Shape;200;g375fb6ca2a5_0_55"/>
          <p:cNvPicPr preferRelativeResize="0"/>
          <p:nvPr/>
        </p:nvPicPr>
        <p:blipFill rotWithShape="1">
          <a:blip r:embed="rId4">
            <a:alphaModFix/>
          </a:blip>
          <a:srcRect b="0" l="0" r="0" t="0"/>
          <a:stretch/>
        </p:blipFill>
        <p:spPr>
          <a:xfrm>
            <a:off x="7391400" y="478763"/>
            <a:ext cx="1644300" cy="1233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g375fb6ca2a5_0_65"/>
          <p:cNvGraphicFramePr/>
          <p:nvPr/>
        </p:nvGraphicFramePr>
        <p:xfrm>
          <a:off x="1625600" y="1963775"/>
          <a:ext cx="3000000" cy="3000000"/>
        </p:xfrm>
        <a:graphic>
          <a:graphicData uri="http://schemas.openxmlformats.org/drawingml/2006/table">
            <a:tbl>
              <a:tblPr>
                <a:noFill/>
                <a:tableStyleId>{3F6750D7-DD35-49AC-9D66-47656B1D127F}</a:tableStyleId>
              </a:tblPr>
              <a:tblGrid>
                <a:gridCol w="4326475"/>
                <a:gridCol w="5935125"/>
              </a:tblGrid>
              <a:tr h="8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Adolescence (12 to 18 years)</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8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Social Relationship</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6317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Identity vs.  Role Confusion</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8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Fidelity</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8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Awareness of Uniqueness of Self</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Knowledge of role to be followed</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8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Role Confusion</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Weak sense of Self</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206" name="Google Shape;206;g375fb6ca2a5_0_65"/>
          <p:cNvSpPr txBox="1"/>
          <p:nvPr>
            <p:ph idx="4294967295" type="title"/>
          </p:nvPr>
        </p:nvSpPr>
        <p:spPr>
          <a:xfrm>
            <a:off x="1625600" y="410425"/>
            <a:ext cx="4470300" cy="1195200"/>
          </a:xfrm>
          <a:prstGeom prst="rect">
            <a:avLst/>
          </a:prstGeom>
          <a:gradFill>
            <a:gsLst>
              <a:gs pos="0">
                <a:srgbClr val="7583BB"/>
              </a:gs>
              <a:gs pos="15000">
                <a:srgbClr val="7482BA"/>
              </a:gs>
              <a:gs pos="62000">
                <a:srgbClr val="626EA4"/>
              </a:gs>
              <a:gs pos="97000">
                <a:srgbClr val="535E91"/>
              </a:gs>
              <a:gs pos="100000">
                <a:srgbClr val="4C5A91"/>
              </a:gs>
            </a:gsLst>
            <a:path path="circle">
              <a:fillToRect b="50%" l="50%" r="50%" t="50%"/>
            </a:path>
            <a:tileRect/>
          </a:gradFill>
          <a:ln>
            <a:noFill/>
          </a:ln>
          <a:effectLst>
            <a:outerShdw blurRad="63500" rotWithShape="0" dir="5400000" dist="25400">
              <a:srgbClr val="000000">
                <a:alpha val="4235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Gill Sans"/>
              <a:buNone/>
            </a:pPr>
            <a:r>
              <a:rPr b="0" i="0" lang="en-US" sz="3100" u="none" cap="none" strike="noStrike">
                <a:solidFill>
                  <a:schemeClr val="lt1"/>
                </a:solidFill>
                <a:latin typeface="Gill Sans"/>
                <a:ea typeface="Gill Sans"/>
                <a:cs typeface="Gill Sans"/>
                <a:sym typeface="Gill Sans"/>
              </a:rPr>
              <a:t>Identity vs.  </a:t>
            </a:r>
            <a:br>
              <a:rPr b="0" i="0" lang="en-US" sz="3100" u="none" cap="none" strike="noStrike">
                <a:solidFill>
                  <a:schemeClr val="lt1"/>
                </a:solidFill>
                <a:latin typeface="Gill Sans"/>
                <a:ea typeface="Gill Sans"/>
                <a:cs typeface="Gill Sans"/>
                <a:sym typeface="Gill Sans"/>
              </a:rPr>
            </a:br>
            <a:r>
              <a:rPr b="0" i="0" lang="en-US" sz="3100" u="none" cap="none" strike="noStrike">
                <a:solidFill>
                  <a:schemeClr val="lt1"/>
                </a:solidFill>
                <a:latin typeface="Gill Sans"/>
                <a:ea typeface="Gill Sans"/>
                <a:cs typeface="Gill Sans"/>
                <a:sym typeface="Gill Sans"/>
              </a:rPr>
              <a:t>Role Confusion</a:t>
            </a:r>
            <a:endParaRPr sz="4200"/>
          </a:p>
        </p:txBody>
      </p:sp>
      <p:pic>
        <p:nvPicPr>
          <p:cNvPr id="207" name="Google Shape;207;g375fb6ca2a5_0_65"/>
          <p:cNvPicPr preferRelativeResize="0"/>
          <p:nvPr/>
        </p:nvPicPr>
        <p:blipFill rotWithShape="1">
          <a:blip r:embed="rId3">
            <a:alphaModFix/>
          </a:blip>
          <a:srcRect b="0" l="0" r="0" t="0"/>
          <a:stretch/>
        </p:blipFill>
        <p:spPr>
          <a:xfrm>
            <a:off x="9374600" y="146649"/>
            <a:ext cx="2512599" cy="1722325"/>
          </a:xfrm>
          <a:prstGeom prst="rect">
            <a:avLst/>
          </a:prstGeom>
          <a:noFill/>
          <a:ln cap="flat" cmpd="sng" w="9525">
            <a:solidFill>
              <a:srgbClr val="AD5BFF"/>
            </a:solidFill>
            <a:prstDash val="solid"/>
            <a:miter lim="800000"/>
            <a:headEnd len="sm" w="sm" type="none"/>
            <a:tailEnd len="sm" w="sm" type="none"/>
          </a:ln>
        </p:spPr>
      </p:pic>
      <p:pic>
        <p:nvPicPr>
          <p:cNvPr id="208" name="Google Shape;208;g375fb6ca2a5_0_65"/>
          <p:cNvPicPr preferRelativeResize="0"/>
          <p:nvPr/>
        </p:nvPicPr>
        <p:blipFill rotWithShape="1">
          <a:blip r:embed="rId4">
            <a:alphaModFix/>
          </a:blip>
          <a:srcRect b="0" l="0" r="0" t="0"/>
          <a:stretch/>
        </p:blipFill>
        <p:spPr>
          <a:xfrm>
            <a:off x="6407400" y="208987"/>
            <a:ext cx="2076675" cy="1396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75fb6ca2a5_0_72"/>
          <p:cNvSpPr txBox="1"/>
          <p:nvPr>
            <p:ph idx="1" type="body"/>
          </p:nvPr>
        </p:nvSpPr>
        <p:spPr>
          <a:xfrm>
            <a:off x="1117600" y="1825625"/>
            <a:ext cx="14020800" cy="4351200"/>
          </a:xfrm>
          <a:prstGeom prst="rect">
            <a:avLst/>
          </a:prstGeom>
          <a:noFill/>
          <a:ln>
            <a:noFill/>
          </a:ln>
        </p:spPr>
        <p:txBody>
          <a:bodyPr anchorCtr="0" anchor="t" bIns="45700" lIns="91425" spcFirstLastPara="1" rIns="91425" wrap="square" tIns="45700">
            <a:noAutofit/>
          </a:bodyPr>
          <a:lstStyle/>
          <a:p>
            <a:pPr indent="-282575" lvl="0" marL="365125" marR="0" rtl="0" algn="l">
              <a:lnSpc>
                <a:spcPct val="100000"/>
              </a:lnSpc>
              <a:spcBef>
                <a:spcPts val="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120015" lvl="0" marL="365125" marR="0" rtl="0" algn="l">
              <a:lnSpc>
                <a:spcPct val="100000"/>
              </a:lnSpc>
              <a:spcBef>
                <a:spcPts val="600"/>
              </a:spcBef>
              <a:spcAft>
                <a:spcPts val="0"/>
              </a:spcAft>
              <a:buClr>
                <a:schemeClr val="accent1"/>
              </a:buClr>
              <a:buSzPts val="2560"/>
              <a:buFont typeface="Noto Sans Symbols"/>
              <a:buNone/>
            </a:pPr>
            <a:r>
              <a:t/>
            </a:r>
            <a:endParaRPr b="1" i="0" sz="3200" u="none">
              <a:solidFill>
                <a:schemeClr val="dk1"/>
              </a:solidFill>
              <a:latin typeface="Gill Sans"/>
              <a:ea typeface="Gill Sans"/>
              <a:cs typeface="Gill Sans"/>
              <a:sym typeface="Gill Sans"/>
            </a:endParaRPr>
          </a:p>
          <a:p>
            <a:pPr indent="-120015" lvl="0" marL="365125" marR="0" rtl="0" algn="l">
              <a:lnSpc>
                <a:spcPct val="100000"/>
              </a:lnSpc>
              <a:spcBef>
                <a:spcPts val="600"/>
              </a:spcBef>
              <a:spcAft>
                <a:spcPts val="0"/>
              </a:spcAft>
              <a:buClr>
                <a:schemeClr val="accent1"/>
              </a:buClr>
              <a:buSzPts val="2560"/>
              <a:buFont typeface="Noto Sans Symbols"/>
              <a:buNone/>
            </a:pPr>
            <a:r>
              <a:t/>
            </a:r>
            <a:endParaRPr b="1" i="0" sz="3200" u="none">
              <a:solidFill>
                <a:schemeClr val="dk1"/>
              </a:solidFill>
              <a:latin typeface="Gill Sans"/>
              <a:ea typeface="Gill Sans"/>
              <a:cs typeface="Gill Sans"/>
              <a:sym typeface="Gill Sans"/>
            </a:endParaRPr>
          </a:p>
        </p:txBody>
      </p:sp>
      <p:graphicFrame>
        <p:nvGraphicFramePr>
          <p:cNvPr id="214" name="Google Shape;214;g375fb6ca2a5_0_72"/>
          <p:cNvGraphicFramePr/>
          <p:nvPr/>
        </p:nvGraphicFramePr>
        <p:xfrm>
          <a:off x="1625600" y="1828775"/>
          <a:ext cx="3000000" cy="3000000"/>
        </p:xfrm>
        <a:graphic>
          <a:graphicData uri="http://schemas.openxmlformats.org/drawingml/2006/table">
            <a:tbl>
              <a:tblPr>
                <a:noFill/>
                <a:tableStyleId>{3F6750D7-DD35-49AC-9D66-47656B1D127F}</a:tableStyleId>
              </a:tblPr>
              <a:tblGrid>
                <a:gridCol w="4398425"/>
                <a:gridCol w="5863175"/>
              </a:tblGrid>
              <a:tr h="7733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Young Adulthood (19 to 40 years)</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7751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Relationships</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5982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Gill Sans"/>
                        <a:buNone/>
                      </a:pPr>
                      <a:r>
                        <a:rPr b="0" i="0" lang="en-US" sz="1800" u="none" cap="none" strike="noStrike">
                          <a:solidFill>
                            <a:srgbClr val="002060"/>
                          </a:solidFill>
                          <a:latin typeface="Gill Sans"/>
                          <a:ea typeface="Gill Sans"/>
                          <a:cs typeface="Gill Sans"/>
                          <a:sym typeface="Gill Sans"/>
                        </a:rPr>
                        <a:t> </a:t>
                      </a:r>
                      <a:r>
                        <a:rPr b="1" i="0" lang="en-US" sz="1800" u="none" cap="none" strike="noStrike">
                          <a:solidFill>
                            <a:srgbClr val="002060"/>
                          </a:solidFill>
                          <a:latin typeface="Book Antiqua"/>
                          <a:ea typeface="Book Antiqua"/>
                          <a:cs typeface="Book Antiqua"/>
                          <a:sym typeface="Book Antiqua"/>
                        </a:rPr>
                        <a:t>Intimacy vs.  Isolation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751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Love</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11055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Development of Loving, Sexual   Relationship </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Close Friendship</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733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Fear of Relationship with others</a:t>
                      </a:r>
                      <a:endParaRPr sz="1400" u="none" cap="none" strike="noStrike"/>
                    </a:p>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Feeling of Loneliness &amp; Isolation</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215" name="Google Shape;215;g375fb6ca2a5_0_72"/>
          <p:cNvSpPr txBox="1"/>
          <p:nvPr>
            <p:ph type="title"/>
          </p:nvPr>
        </p:nvSpPr>
        <p:spPr>
          <a:xfrm>
            <a:off x="1443200" y="914400"/>
            <a:ext cx="5181600" cy="685800"/>
          </a:xfrm>
          <a:prstGeom prst="rect">
            <a:avLst/>
          </a:prstGeom>
          <a:solidFill>
            <a:srgbClr val="955E4B"/>
          </a:solidFill>
          <a:ln cap="flat" cmpd="sng" w="25400">
            <a:solidFill>
              <a:srgbClr val="865F5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FF"/>
              </a:buClr>
              <a:buSzPts val="3200"/>
              <a:buFont typeface="Gill Sans"/>
              <a:buNone/>
            </a:pPr>
            <a:r>
              <a:rPr b="0" i="0" lang="en-US" sz="3200" u="none">
                <a:solidFill>
                  <a:srgbClr val="FFFFFF"/>
                </a:solidFill>
                <a:latin typeface="Gill Sans"/>
                <a:ea typeface="Gill Sans"/>
                <a:cs typeface="Gill Sans"/>
                <a:sym typeface="Gill Sans"/>
              </a:rPr>
              <a:t> Intimacy vs.  Isolation </a:t>
            </a:r>
            <a:endParaRPr/>
          </a:p>
        </p:txBody>
      </p:sp>
      <p:pic>
        <p:nvPicPr>
          <p:cNvPr id="216" name="Google Shape;216;g375fb6ca2a5_0_72"/>
          <p:cNvPicPr preferRelativeResize="0"/>
          <p:nvPr/>
        </p:nvPicPr>
        <p:blipFill rotWithShape="1">
          <a:blip r:embed="rId3">
            <a:alphaModFix/>
          </a:blip>
          <a:srcRect b="0" l="0" r="0" t="0"/>
          <a:stretch/>
        </p:blipFill>
        <p:spPr>
          <a:xfrm>
            <a:off x="9423400" y="381000"/>
            <a:ext cx="1954306" cy="1219200"/>
          </a:xfrm>
          <a:prstGeom prst="rect">
            <a:avLst/>
          </a:prstGeom>
          <a:noFill/>
          <a:ln>
            <a:noFill/>
          </a:ln>
        </p:spPr>
      </p:pic>
      <p:pic>
        <p:nvPicPr>
          <p:cNvPr id="217" name="Google Shape;217;g375fb6ca2a5_0_72"/>
          <p:cNvPicPr preferRelativeResize="0"/>
          <p:nvPr/>
        </p:nvPicPr>
        <p:blipFill rotWithShape="1">
          <a:blip r:embed="rId4">
            <a:alphaModFix/>
          </a:blip>
          <a:srcRect b="0" l="0" r="0" t="0"/>
          <a:stretch/>
        </p:blipFill>
        <p:spPr>
          <a:xfrm>
            <a:off x="6807200" y="381000"/>
            <a:ext cx="1841500" cy="1295400"/>
          </a:xfrm>
          <a:prstGeom prst="rect">
            <a:avLst/>
          </a:prstGeom>
          <a:noFill/>
          <a:ln>
            <a:noFill/>
          </a:ln>
        </p:spPr>
      </p:pic>
    </p:spTree>
  </p:cSld>
  <p:clrMapOvr>
    <a:masterClrMapping/>
  </p:clrMapOvr>
  <p:transition>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graphicFrame>
        <p:nvGraphicFramePr>
          <p:cNvPr id="222" name="Google Shape;222;g375fb6ca2a5_0_80"/>
          <p:cNvGraphicFramePr/>
          <p:nvPr/>
        </p:nvGraphicFramePr>
        <p:xfrm>
          <a:off x="1727200" y="2199425"/>
          <a:ext cx="3000000" cy="3000000"/>
        </p:xfrm>
        <a:graphic>
          <a:graphicData uri="http://schemas.openxmlformats.org/drawingml/2006/table">
            <a:tbl>
              <a:tblPr>
                <a:noFill/>
                <a:tableStyleId>{3F6750D7-DD35-49AC-9D66-47656B1D127F}</a:tableStyleId>
              </a:tblPr>
              <a:tblGrid>
                <a:gridCol w="4353975"/>
                <a:gridCol w="5806000"/>
              </a:tblGrid>
              <a:tr h="11076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Middle Adulthood ( 40 to 65 years)</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6413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Work and Parenthood</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4270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Generativity vs. Stagnation</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397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Care</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11890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Sense of Contribution to continuity of life</a:t>
                      </a:r>
                      <a:endParaRPr sz="1400" u="none" cap="none" strike="noStrike"/>
                    </a:p>
                    <a:p>
                      <a:pPr indent="0" lvl="0" marL="0" marR="0" rtl="0" algn="l">
                        <a:lnSpc>
                          <a:spcPct val="100000"/>
                        </a:lnSpc>
                        <a:spcBef>
                          <a:spcPts val="0"/>
                        </a:spcBef>
                        <a:spcAft>
                          <a:spcPts val="0"/>
                        </a:spcAft>
                        <a:buClr>
                          <a:srgbClr val="002060"/>
                        </a:buClr>
                        <a:buSzPts val="1800"/>
                        <a:buFont typeface="Noto Sans Symbols"/>
                        <a:buChar char="❖"/>
                      </a:pPr>
                      <a:r>
                        <a:rPr b="1" i="0" lang="en-US" sz="1800" u="none" cap="none" strike="noStrike">
                          <a:solidFill>
                            <a:srgbClr val="002060"/>
                          </a:solidFill>
                          <a:latin typeface="Book Antiqua"/>
                          <a:ea typeface="Book Antiqua"/>
                          <a:cs typeface="Book Antiqua"/>
                          <a:sym typeface="Book Antiqua"/>
                        </a:rPr>
                        <a:t> Feeling of Usefulness &amp; Accomplishment</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4270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Shallow involvement in the world</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223" name="Google Shape;223;g375fb6ca2a5_0_80"/>
          <p:cNvSpPr txBox="1"/>
          <p:nvPr>
            <p:ph type="title"/>
          </p:nvPr>
        </p:nvSpPr>
        <p:spPr>
          <a:xfrm>
            <a:off x="1727200" y="533400"/>
            <a:ext cx="3454500" cy="990600"/>
          </a:xfrm>
          <a:prstGeom prst="rect">
            <a:avLst/>
          </a:prstGeom>
          <a:solidFill>
            <a:srgbClr val="B38807"/>
          </a:solidFill>
          <a:ln cap="flat" cmpd="sng" w="25400">
            <a:solidFill>
              <a:srgbClr val="9AA058"/>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FF"/>
              </a:buClr>
              <a:buSzPts val="2900"/>
              <a:buFont typeface="Gill Sans"/>
              <a:buNone/>
            </a:pPr>
            <a:r>
              <a:rPr b="0" i="0" lang="en-US" sz="2900" u="none">
                <a:solidFill>
                  <a:srgbClr val="FFFFFF"/>
                </a:solidFill>
                <a:latin typeface="Gill Sans"/>
                <a:ea typeface="Gill Sans"/>
                <a:cs typeface="Gill Sans"/>
                <a:sym typeface="Gill Sans"/>
              </a:rPr>
              <a:t>Generativity vs. Stagnation</a:t>
            </a:r>
            <a:endParaRPr/>
          </a:p>
        </p:txBody>
      </p:sp>
      <p:sp>
        <p:nvSpPr>
          <p:cNvPr descr="Image result for generativity vs stagnation examples" id="224" name="Google Shape;224;g375fb6ca2a5_0_80"/>
          <p:cNvSpPr txBox="1"/>
          <p:nvPr/>
        </p:nvSpPr>
        <p:spPr>
          <a:xfrm>
            <a:off x="207433" y="-144462"/>
            <a:ext cx="4065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25" name="Google Shape;225;g375fb6ca2a5_0_80"/>
          <p:cNvPicPr preferRelativeResize="0"/>
          <p:nvPr/>
        </p:nvPicPr>
        <p:blipFill rotWithShape="1">
          <a:blip r:embed="rId3">
            <a:alphaModFix/>
          </a:blip>
          <a:srcRect b="0" l="0" r="0" t="0"/>
          <a:stretch/>
        </p:blipFill>
        <p:spPr>
          <a:xfrm>
            <a:off x="8148800" y="160350"/>
            <a:ext cx="2867026" cy="1905000"/>
          </a:xfrm>
          <a:prstGeom prst="rect">
            <a:avLst/>
          </a:prstGeom>
          <a:noFill/>
          <a:ln>
            <a:noFill/>
          </a:ln>
        </p:spPr>
      </p:pic>
      <p:pic>
        <p:nvPicPr>
          <p:cNvPr id="226" name="Google Shape;226;g375fb6ca2a5_0_80"/>
          <p:cNvPicPr preferRelativeResize="0"/>
          <p:nvPr/>
        </p:nvPicPr>
        <p:blipFill rotWithShape="1">
          <a:blip r:embed="rId4">
            <a:alphaModFix/>
          </a:blip>
          <a:srcRect b="0" l="0" r="0" t="0"/>
          <a:stretch/>
        </p:blipFill>
        <p:spPr>
          <a:xfrm>
            <a:off x="5520250" y="388950"/>
            <a:ext cx="1930400" cy="1447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75fb6ca2a5_0_88"/>
          <p:cNvSpPr txBox="1"/>
          <p:nvPr>
            <p:ph idx="1" type="body"/>
          </p:nvPr>
        </p:nvSpPr>
        <p:spPr>
          <a:xfrm>
            <a:off x="1511300" y="2050475"/>
            <a:ext cx="10388700" cy="4502700"/>
          </a:xfrm>
          <a:prstGeom prst="rect">
            <a:avLst/>
          </a:prstGeom>
          <a:noFill/>
          <a:ln>
            <a:noFill/>
          </a:ln>
        </p:spPr>
        <p:txBody>
          <a:bodyPr anchorCtr="0" anchor="t" bIns="45700" lIns="91425" spcFirstLastPara="1" rIns="91425" wrap="square" tIns="45700">
            <a:noAutofit/>
          </a:bodyPr>
          <a:lstStyle/>
          <a:p>
            <a:pPr indent="-282575" lvl="0" marL="365125" marR="0" rtl="0" algn="l">
              <a:lnSpc>
                <a:spcPct val="100000"/>
              </a:lnSpc>
              <a:spcBef>
                <a:spcPts val="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120015" lvl="0" marL="365125" marR="0" rtl="0" algn="l">
              <a:lnSpc>
                <a:spcPct val="100000"/>
              </a:lnSpc>
              <a:spcBef>
                <a:spcPts val="600"/>
              </a:spcBef>
              <a:spcAft>
                <a:spcPts val="0"/>
              </a:spcAft>
              <a:buClr>
                <a:schemeClr val="accent1"/>
              </a:buClr>
              <a:buSzPts val="2560"/>
              <a:buFont typeface="Noto Sans Symbols"/>
              <a:buNone/>
            </a:pPr>
            <a:r>
              <a:t/>
            </a:r>
            <a:endParaRPr b="1" i="0" sz="3200" u="none">
              <a:solidFill>
                <a:schemeClr val="dk1"/>
              </a:solidFill>
              <a:latin typeface="Gill Sans"/>
              <a:ea typeface="Gill Sans"/>
              <a:cs typeface="Gill Sans"/>
              <a:sym typeface="Gill Sans"/>
            </a:endParaRPr>
          </a:p>
          <a:p>
            <a:pPr indent="-120015" lvl="0" marL="365125" marR="0" rtl="0" algn="l">
              <a:lnSpc>
                <a:spcPct val="100000"/>
              </a:lnSpc>
              <a:spcBef>
                <a:spcPts val="600"/>
              </a:spcBef>
              <a:spcAft>
                <a:spcPts val="0"/>
              </a:spcAft>
              <a:buClr>
                <a:schemeClr val="accent1"/>
              </a:buClr>
              <a:buSzPts val="2560"/>
              <a:buFont typeface="Noto Sans Symbols"/>
              <a:buNone/>
            </a:pPr>
            <a:r>
              <a:t/>
            </a:r>
            <a:endParaRPr b="1" i="0" sz="3200" u="none">
              <a:solidFill>
                <a:schemeClr val="dk1"/>
              </a:solidFill>
              <a:latin typeface="Gill Sans"/>
              <a:ea typeface="Gill Sans"/>
              <a:cs typeface="Gill Sans"/>
              <a:sym typeface="Gill Sans"/>
            </a:endParaRPr>
          </a:p>
        </p:txBody>
      </p:sp>
      <p:graphicFrame>
        <p:nvGraphicFramePr>
          <p:cNvPr id="232" name="Google Shape;232;g375fb6ca2a5_0_88"/>
          <p:cNvGraphicFramePr/>
          <p:nvPr/>
        </p:nvGraphicFramePr>
        <p:xfrm>
          <a:off x="1727200" y="2137000"/>
          <a:ext cx="3000000" cy="3000000"/>
        </p:xfrm>
        <a:graphic>
          <a:graphicData uri="http://schemas.openxmlformats.org/drawingml/2006/table">
            <a:tbl>
              <a:tblPr>
                <a:noFill/>
                <a:tableStyleId>{3F6750D7-DD35-49AC-9D66-47656B1D127F}</a:tableStyleId>
              </a:tblPr>
              <a:tblGrid>
                <a:gridCol w="3962400"/>
                <a:gridCol w="5994400"/>
              </a:tblGrid>
              <a:tr h="7649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Stage </a:t>
                      </a:r>
                      <a:endParaRPr b="1"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Maturity ( 65 to Death)</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25400">
                      <a:solidFill>
                        <a:schemeClr val="accent2"/>
                      </a:solidFill>
                      <a:prstDash val="solid"/>
                      <a:round/>
                      <a:headEnd len="sm" w="sm" type="none"/>
                      <a:tailEnd len="sm" w="sm" type="none"/>
                    </a:lnB>
                  </a:tcPr>
                </a:tc>
              </a:tr>
              <a:tr h="7649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Important Event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Reflection on life</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254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5917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Basic Conflict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Integrity vs. Despair</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649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Virtue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Wisdom</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r h="7649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Positive Outcome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Feeling of Wisdom</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7649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Negative Outcome </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c>
                  <a:txBody>
                    <a:bodyPr/>
                    <a:lstStyle/>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Regret over lost opportunities of life</a:t>
                      </a:r>
                      <a:endParaRPr sz="1400" u="none" cap="none" strike="noStrike"/>
                    </a:p>
                    <a:p>
                      <a:pPr indent="0" lvl="0" marL="0" marR="0" rtl="0" algn="l">
                        <a:lnSpc>
                          <a:spcPct val="100000"/>
                        </a:lnSpc>
                        <a:spcBef>
                          <a:spcPts val="0"/>
                        </a:spcBef>
                        <a:spcAft>
                          <a:spcPts val="0"/>
                        </a:spcAft>
                        <a:buClr>
                          <a:srgbClr val="002060"/>
                        </a:buClr>
                        <a:buSzPts val="1800"/>
                        <a:buFont typeface="Book Antiqua"/>
                        <a:buNone/>
                      </a:pPr>
                      <a:r>
                        <a:rPr b="1" i="0" lang="en-US" sz="1800" u="none" cap="none" strike="noStrike">
                          <a:solidFill>
                            <a:srgbClr val="002060"/>
                          </a:solidFill>
                          <a:latin typeface="Book Antiqua"/>
                          <a:ea typeface="Book Antiqua"/>
                          <a:cs typeface="Book Antiqua"/>
                          <a:sym typeface="Book Antiqua"/>
                        </a:rPr>
                        <a:t>Feeling of Bitterness &amp; Despair</a:t>
                      </a:r>
                      <a:endParaRPr sz="1400" u="none" cap="none" strike="noStrike"/>
                    </a:p>
                  </a:txBody>
                  <a:tcPr marT="45725" marB="45725" marR="91450" marL="91450">
                    <a:lnL cap="flat" cmpd="sng" w="12700">
                      <a:solidFill>
                        <a:schemeClr val="accent2"/>
                      </a:solidFill>
                      <a:prstDash val="solid"/>
                      <a:round/>
                      <a:headEnd len="sm" w="sm" type="none"/>
                      <a:tailEnd len="sm" w="sm" type="none"/>
                    </a:lnL>
                    <a:lnR cap="flat" cmpd="sng" w="12700">
                      <a:solidFill>
                        <a:schemeClr val="accent2"/>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solidFill>
                      <a:schemeClr val="accent2">
                        <a:alpha val="19220"/>
                      </a:schemeClr>
                    </a:solidFill>
                  </a:tcPr>
                </a:tc>
              </a:tr>
            </a:tbl>
          </a:graphicData>
        </a:graphic>
      </p:graphicFrame>
      <p:sp>
        <p:nvSpPr>
          <p:cNvPr id="233" name="Google Shape;233;g375fb6ca2a5_0_88"/>
          <p:cNvSpPr txBox="1"/>
          <p:nvPr>
            <p:ph idx="4294967295" type="title"/>
          </p:nvPr>
        </p:nvSpPr>
        <p:spPr>
          <a:xfrm>
            <a:off x="1727200" y="480575"/>
            <a:ext cx="3962400" cy="1066800"/>
          </a:xfrm>
          <a:prstGeom prst="rect">
            <a:avLst/>
          </a:prstGeom>
          <a:gradFill>
            <a:gsLst>
              <a:gs pos="0">
                <a:srgbClr val="9AC0E0"/>
              </a:gs>
              <a:gs pos="15000">
                <a:srgbClr val="99BFDF"/>
              </a:gs>
              <a:gs pos="62000">
                <a:srgbClr val="86A8C8"/>
              </a:gs>
              <a:gs pos="97000">
                <a:srgbClr val="7697B2"/>
              </a:gs>
              <a:gs pos="100000">
                <a:srgbClr val="7295B0"/>
              </a:gs>
            </a:gsLst>
            <a:path path="circle">
              <a:fillToRect b="50%" l="50%" r="50%" t="50%"/>
            </a:path>
            <a:tileRect/>
          </a:gradFill>
          <a:ln>
            <a:noFill/>
          </a:ln>
          <a:effectLst>
            <a:outerShdw blurRad="63500" rotWithShape="0" dir="5400000" dist="25400">
              <a:srgbClr val="000000">
                <a:alpha val="42350"/>
              </a:srgbClr>
            </a:outerShdw>
          </a:effectLst>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lt1"/>
              </a:buClr>
              <a:buSzPts val="3200"/>
              <a:buFont typeface="Gill Sans"/>
              <a:buNone/>
            </a:pPr>
            <a:r>
              <a:rPr b="0" i="0" lang="en-US" sz="3200" u="none" cap="none" strike="noStrike">
                <a:solidFill>
                  <a:schemeClr val="lt1"/>
                </a:solidFill>
                <a:latin typeface="Gill Sans"/>
                <a:ea typeface="Gill Sans"/>
                <a:cs typeface="Gill Sans"/>
                <a:sym typeface="Gill Sans"/>
              </a:rPr>
              <a:t>Integrity vs. Despair</a:t>
            </a:r>
            <a:endParaRPr/>
          </a:p>
        </p:txBody>
      </p:sp>
      <p:pic>
        <p:nvPicPr>
          <p:cNvPr id="234" name="Google Shape;234;g375fb6ca2a5_0_88"/>
          <p:cNvPicPr preferRelativeResize="0"/>
          <p:nvPr/>
        </p:nvPicPr>
        <p:blipFill rotWithShape="1">
          <a:blip r:embed="rId3">
            <a:alphaModFix/>
          </a:blip>
          <a:srcRect b="0" l="0" r="0" t="0"/>
          <a:stretch/>
        </p:blipFill>
        <p:spPr>
          <a:xfrm>
            <a:off x="8839200" y="258730"/>
            <a:ext cx="2305050" cy="1510483"/>
          </a:xfrm>
          <a:prstGeom prst="rect">
            <a:avLst/>
          </a:prstGeom>
          <a:noFill/>
          <a:ln cap="flat" cmpd="sng" w="9525">
            <a:solidFill>
              <a:srgbClr val="00FFCC"/>
            </a:solidFill>
            <a:prstDash val="solid"/>
            <a:miter lim="800000"/>
            <a:headEnd len="sm" w="sm" type="none"/>
            <a:tailEnd len="sm" w="sm" type="none"/>
          </a:ln>
        </p:spPr>
      </p:pic>
      <p:pic>
        <p:nvPicPr>
          <p:cNvPr id="235" name="Google Shape;235;g375fb6ca2a5_0_88"/>
          <p:cNvPicPr preferRelativeResize="0"/>
          <p:nvPr/>
        </p:nvPicPr>
        <p:blipFill rotWithShape="1">
          <a:blip r:embed="rId4">
            <a:alphaModFix/>
          </a:blip>
          <a:srcRect b="0" l="0" r="0" t="0"/>
          <a:stretch/>
        </p:blipFill>
        <p:spPr>
          <a:xfrm>
            <a:off x="5960533" y="204350"/>
            <a:ext cx="2159000" cy="1619250"/>
          </a:xfrm>
          <a:prstGeom prst="rect">
            <a:avLst/>
          </a:prstGeom>
          <a:noFill/>
          <a:ln>
            <a:noFill/>
          </a:ln>
        </p:spPr>
      </p:pic>
    </p:spTree>
  </p:cSld>
  <p:clrMapOvr>
    <a:masterClrMapping/>
  </p:clrMapOvr>
  <p:transition>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75fb6ca2a5_0_96"/>
          <p:cNvSpPr txBox="1"/>
          <p:nvPr>
            <p:ph idx="1" type="body"/>
          </p:nvPr>
        </p:nvSpPr>
        <p:spPr>
          <a:xfrm>
            <a:off x="1119717" y="2057400"/>
            <a:ext cx="5242800" cy="3811500"/>
          </a:xfrm>
          <a:prstGeom prst="rect">
            <a:avLst/>
          </a:prstGeom>
          <a:noFill/>
          <a:ln>
            <a:noFill/>
          </a:ln>
        </p:spPr>
        <p:txBody>
          <a:bodyPr anchorCtr="0" anchor="ctr" bIns="45700" lIns="91425" spcFirstLastPara="1" rIns="91425" wrap="square" tIns="45700">
            <a:noAutofit/>
          </a:bodyPr>
          <a:lstStyle/>
          <a:p>
            <a:pPr indent="0" lvl="0" marL="0" rtl="0" algn="l">
              <a:lnSpc>
                <a:spcPct val="114285"/>
              </a:lnSpc>
              <a:spcBef>
                <a:spcPts val="0"/>
              </a:spcBef>
              <a:spcAft>
                <a:spcPts val="0"/>
              </a:spcAft>
              <a:buSzPts val="1120"/>
              <a:buNone/>
            </a:pPr>
            <a:r>
              <a:t/>
            </a:r>
            <a:endParaRPr sz="1400">
              <a:solidFill>
                <a:srgbClr val="777777"/>
              </a:solidFill>
            </a:endParaRPr>
          </a:p>
        </p:txBody>
      </p:sp>
      <p:pic>
        <p:nvPicPr>
          <p:cNvPr descr="C:\Users\safina.enayet\Desktop\ques 4.PNG" id="241" name="Google Shape;241;g375fb6ca2a5_0_96"/>
          <p:cNvPicPr preferRelativeResize="0"/>
          <p:nvPr/>
        </p:nvPicPr>
        <p:blipFill rotWithShape="1">
          <a:blip r:embed="rId3">
            <a:alphaModFix/>
          </a:blip>
          <a:srcRect b="0" l="0" r="0" t="0"/>
          <a:stretch/>
        </p:blipFill>
        <p:spPr>
          <a:xfrm>
            <a:off x="1117600" y="502225"/>
            <a:ext cx="9732534" cy="5751150"/>
          </a:xfrm>
          <a:prstGeom prst="rect">
            <a:avLst/>
          </a:prstGeom>
          <a:noFill/>
          <a:ln cap="sq" cmpd="sng" w="190500">
            <a:solidFill>
              <a:srgbClr val="CC99FF"/>
            </a:solidFill>
            <a:prstDash val="solid"/>
            <a:miter lim="800000"/>
            <a:headEnd len="sm" w="sm" type="none"/>
            <a:tailEnd len="sm" w="sm" type="none"/>
          </a:ln>
          <a:effectLst>
            <a:outerShdw blurRad="254000" rotWithShape="0" algn="bl">
              <a:srgbClr val="000000">
                <a:alpha val="4235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2022-04-27T10:07:39Z</dcterms:created>
  <dc:creator>Yeshim Iqbal</dc:creator>
</cp:coreProperties>
</file>