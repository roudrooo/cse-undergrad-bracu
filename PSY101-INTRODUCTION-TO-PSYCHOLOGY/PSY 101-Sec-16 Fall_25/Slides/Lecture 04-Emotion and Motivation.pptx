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embeddedFontLst>
    <p:embeddedFont>
      <p:font typeface="Merriweather Sans"/>
      <p:regular r:id="rId37"/>
      <p:bold r:id="rId38"/>
      <p:italic r:id="rId39"/>
      <p:boldItalic r:id="rId40"/>
    </p:embeddedFont>
    <p:embeddedFont>
      <p:font typeface="Constantia"/>
      <p:regular r:id="rId41"/>
      <p:bold r:id="rId42"/>
      <p:italic r:id="rId43"/>
      <p:boldItalic r:id="rId44"/>
    </p:embeddedFont>
    <p:embeddedFont>
      <p:font typeface="Arimo"/>
      <p:regular r:id="rId45"/>
      <p:bold r:id="rId46"/>
      <p:italic r:id="rId47"/>
      <p:boldItalic r:id="rId48"/>
    </p:embeddedFont>
    <p:embeddedFont>
      <p:font typeface="Arial Black"/>
      <p:regular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erriweatherSans-boldItalic.fntdata"/><Relationship Id="rId42" Type="http://schemas.openxmlformats.org/officeDocument/2006/relationships/font" Target="fonts/Constantia-bold.fntdata"/><Relationship Id="rId41" Type="http://schemas.openxmlformats.org/officeDocument/2006/relationships/font" Target="fonts/Constantia-regular.fntdata"/><Relationship Id="rId44" Type="http://schemas.openxmlformats.org/officeDocument/2006/relationships/font" Target="fonts/Constantia-boldItalic.fntdata"/><Relationship Id="rId43" Type="http://schemas.openxmlformats.org/officeDocument/2006/relationships/font" Target="fonts/Constantia-italic.fntdata"/><Relationship Id="rId46" Type="http://schemas.openxmlformats.org/officeDocument/2006/relationships/font" Target="fonts/Arimo-bold.fntdata"/><Relationship Id="rId45" Type="http://schemas.openxmlformats.org/officeDocument/2006/relationships/font" Target="fonts/Arim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Arimo-boldItalic.fntdata"/><Relationship Id="rId47" Type="http://schemas.openxmlformats.org/officeDocument/2006/relationships/font" Target="fonts/Arimo-italic.fntdata"/><Relationship Id="rId49" Type="http://schemas.openxmlformats.org/officeDocument/2006/relationships/font" Target="fonts/ArialBlack-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font" Target="fonts/MerriweatherSans-regular.fntdata"/><Relationship Id="rId36" Type="http://schemas.openxmlformats.org/officeDocument/2006/relationships/slide" Target="slides/slide31.xml"/><Relationship Id="rId39" Type="http://schemas.openxmlformats.org/officeDocument/2006/relationships/font" Target="fonts/MerriweatherSans-italic.fntdata"/><Relationship Id="rId38" Type="http://schemas.openxmlformats.org/officeDocument/2006/relationships/font" Target="fonts/MerriweatherSans-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3a634544b7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g33a634544b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3a634544b7_0_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g33a634544b7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3a634544b7_0_1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g33a634544b7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3a634544b7_0_2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g33a634544b7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3a634544b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3a634544b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3a634544b7_0_2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g33a634544b7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3a634544b7_0_4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g33a634544b7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3a634544b7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3a634544b7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3a634544b7_0_4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g33a634544b7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3a634544b7_0_5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3a634544b7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3a634544b7_0_6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g33a634544b7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3a634544b7_0_6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g33a634544b7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3a634544b7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3a634544b7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3a634544b7_0_75:notes"/>
          <p:cNvSpPr txBox="1"/>
          <p:nvPr>
            <p:ph idx="1" type="body"/>
          </p:nvPr>
        </p:nvSpPr>
        <p:spPr>
          <a:xfrm>
            <a:off x="701025" y="4415775"/>
            <a:ext cx="5608200" cy="418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52" name="Google Shape;152;g33a634544b7_0_75:notes"/>
          <p:cNvSpPr/>
          <p:nvPr>
            <p:ph idx="2" type="sldImg"/>
          </p:nvPr>
        </p:nvSpPr>
        <p:spPr>
          <a:xfrm>
            <a:off x="406400" y="696913"/>
            <a:ext cx="61977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3a634544b7_0_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g33a634544b7_0_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g33a634544b7_0_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3a634544b7_0_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4" name="Google Shape;164;g33a634544b7_0_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3a634544b7_0_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 name="Google Shape;170;g33a634544b7_0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3a634544b7_0_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3a634544b7_0_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3a634544b7_0_1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g33a634544b7_0_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3a634544b7_0_1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7" name="Google Shape;187;g33a634544b7_0_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3a634544b7_0_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g33a634544b7_0_1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g33a634544b7_0_1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3a634544b7_0_1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 name="Google Shape;200;g33a634544b7_0_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3a634544b7_0_1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g33a634544b7_0_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3a634544b7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3a634544b7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3a634544b7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3a634544b7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3a634544b7_0_1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4" name="Google Shape;224;g33a634544b7_0_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3a634544b7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3a634544b7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3a634544b7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3a634544b7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3a634544b7_0_1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g33a634544b7_0_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3a634544b7_0_1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g33a634544b7_0_1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3a634544b7_0_1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g33a634544b7_0_1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3300"/>
              <a:buFont typeface="Constantia"/>
              <a:buNone/>
              <a:defRPr>
                <a:latin typeface="Constantia"/>
                <a:ea typeface="Constantia"/>
                <a:cs typeface="Constantia"/>
                <a:sym typeface="Constantia"/>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algn="l">
              <a:lnSpc>
                <a:spcPct val="90000"/>
              </a:lnSpc>
              <a:spcBef>
                <a:spcPts val="800"/>
              </a:spcBef>
              <a:spcAft>
                <a:spcPts val="0"/>
              </a:spcAft>
              <a:buClr>
                <a:schemeClr val="dk1"/>
              </a:buClr>
              <a:buSzPts val="2100"/>
              <a:buChar char="●"/>
              <a:defRPr>
                <a:latin typeface="Constantia"/>
                <a:ea typeface="Constantia"/>
                <a:cs typeface="Constantia"/>
                <a:sym typeface="Constantia"/>
              </a:defRPr>
            </a:lvl1pPr>
            <a:lvl2pPr indent="-342900" lvl="1" marL="914400" algn="l">
              <a:lnSpc>
                <a:spcPct val="90000"/>
              </a:lnSpc>
              <a:spcBef>
                <a:spcPts val="1200"/>
              </a:spcBef>
              <a:spcAft>
                <a:spcPts val="0"/>
              </a:spcAft>
              <a:buClr>
                <a:schemeClr val="dk1"/>
              </a:buClr>
              <a:buSzPts val="1800"/>
              <a:buChar char="○"/>
              <a:defRPr>
                <a:latin typeface="Constantia"/>
                <a:ea typeface="Constantia"/>
                <a:cs typeface="Constantia"/>
                <a:sym typeface="Constantia"/>
              </a:defRPr>
            </a:lvl2pPr>
            <a:lvl3pPr indent="-323850" lvl="2" marL="1371600" algn="l">
              <a:lnSpc>
                <a:spcPct val="90000"/>
              </a:lnSpc>
              <a:spcBef>
                <a:spcPts val="1200"/>
              </a:spcBef>
              <a:spcAft>
                <a:spcPts val="0"/>
              </a:spcAft>
              <a:buClr>
                <a:schemeClr val="dk1"/>
              </a:buClr>
              <a:buSzPts val="1500"/>
              <a:buChar char="■"/>
              <a:defRPr>
                <a:latin typeface="Constantia"/>
                <a:ea typeface="Constantia"/>
                <a:cs typeface="Constantia"/>
                <a:sym typeface="Constantia"/>
              </a:defRPr>
            </a:lvl3pPr>
            <a:lvl4pPr indent="-317500" lvl="3" marL="1828800" algn="l">
              <a:lnSpc>
                <a:spcPct val="90000"/>
              </a:lnSpc>
              <a:spcBef>
                <a:spcPts val="1200"/>
              </a:spcBef>
              <a:spcAft>
                <a:spcPts val="0"/>
              </a:spcAft>
              <a:buClr>
                <a:schemeClr val="dk1"/>
              </a:buClr>
              <a:buSzPts val="1400"/>
              <a:buChar char="●"/>
              <a:defRPr>
                <a:latin typeface="Constantia"/>
                <a:ea typeface="Constantia"/>
                <a:cs typeface="Constantia"/>
                <a:sym typeface="Constantia"/>
              </a:defRPr>
            </a:lvl4pPr>
            <a:lvl5pPr indent="-317500" lvl="4" marL="2286000" algn="l">
              <a:lnSpc>
                <a:spcPct val="90000"/>
              </a:lnSpc>
              <a:spcBef>
                <a:spcPts val="1200"/>
              </a:spcBef>
              <a:spcAft>
                <a:spcPts val="0"/>
              </a:spcAft>
              <a:buClr>
                <a:schemeClr val="dk1"/>
              </a:buClr>
              <a:buSzPts val="1400"/>
              <a:buChar char="○"/>
              <a:defRPr>
                <a:latin typeface="Constantia"/>
                <a:ea typeface="Constantia"/>
                <a:cs typeface="Constantia"/>
                <a:sym typeface="Constantia"/>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56" name="Shape 56"/>
        <p:cNvGrpSpPr/>
        <p:nvPr/>
      </p:nvGrpSpPr>
      <p:grpSpPr>
        <a:xfrm>
          <a:off x="0" y="0"/>
          <a:ext cx="0" cy="0"/>
          <a:chOff x="0" y="0"/>
          <a:chExt cx="0" cy="0"/>
        </a:xfrm>
      </p:grpSpPr>
      <p:sp>
        <p:nvSpPr>
          <p:cNvPr id="57" name="Google Shape;57;p14"/>
          <p:cNvSpPr txBox="1"/>
          <p:nvPr>
            <p:ph type="ctrTitle"/>
          </p:nvPr>
        </p:nvSpPr>
        <p:spPr>
          <a:xfrm>
            <a:off x="296225" y="340139"/>
            <a:ext cx="8551500" cy="456900"/>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Clr>
                <a:schemeClr val="dk1"/>
              </a:buClr>
              <a:buSzPts val="3300"/>
              <a:buFont typeface="Calibri"/>
              <a:buNone/>
              <a:defRPr b="0" i="0">
                <a:solidFill>
                  <a:schemeClr val="dk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8" name="Google Shape;58;p14"/>
          <p:cNvSpPr txBox="1"/>
          <p:nvPr>
            <p:ph idx="1" type="subTitle"/>
          </p:nvPr>
        </p:nvSpPr>
        <p:spPr>
          <a:xfrm>
            <a:off x="1371600" y="2880360"/>
            <a:ext cx="6400800" cy="291000"/>
          </a:xfrm>
          <a:prstGeom prst="rect">
            <a:avLst/>
          </a:prstGeom>
          <a:noFill/>
          <a:ln>
            <a:noFill/>
          </a:ln>
        </p:spPr>
        <p:txBody>
          <a:bodyPr anchorCtr="0" anchor="t" bIns="0" lIns="0" spcFirstLastPara="1" rIns="0" wrap="square" tIns="0">
            <a:spAutoFit/>
          </a:bodyPr>
          <a:lstStyle>
            <a:lvl1pPr lvl="0" algn="l">
              <a:lnSpc>
                <a:spcPct val="90000"/>
              </a:lnSpc>
              <a:spcBef>
                <a:spcPts val="800"/>
              </a:spcBef>
              <a:spcAft>
                <a:spcPts val="0"/>
              </a:spcAft>
              <a:buClr>
                <a:schemeClr val="dk1"/>
              </a:buClr>
              <a:buSzPts val="2100"/>
              <a:buChar char="●"/>
              <a:defRPr/>
            </a:lvl1pPr>
            <a:lvl2pPr lvl="1" algn="l">
              <a:lnSpc>
                <a:spcPct val="90000"/>
              </a:lnSpc>
              <a:spcBef>
                <a:spcPts val="1200"/>
              </a:spcBef>
              <a:spcAft>
                <a:spcPts val="0"/>
              </a:spcAft>
              <a:buClr>
                <a:schemeClr val="dk1"/>
              </a:buClr>
              <a:buSzPts val="1400"/>
              <a:buChar char="○"/>
              <a:defRPr/>
            </a:lvl2pPr>
            <a:lvl3pPr lvl="2" algn="l">
              <a:lnSpc>
                <a:spcPct val="90000"/>
              </a:lnSpc>
              <a:spcBef>
                <a:spcPts val="1200"/>
              </a:spcBef>
              <a:spcAft>
                <a:spcPts val="0"/>
              </a:spcAft>
              <a:buClr>
                <a:schemeClr val="dk1"/>
              </a:buClr>
              <a:buSzPts val="1400"/>
              <a:buChar char="■"/>
              <a:defRPr/>
            </a:lvl3pPr>
            <a:lvl4pPr lvl="3" algn="l">
              <a:lnSpc>
                <a:spcPct val="90000"/>
              </a:lnSpc>
              <a:spcBef>
                <a:spcPts val="1200"/>
              </a:spcBef>
              <a:spcAft>
                <a:spcPts val="0"/>
              </a:spcAft>
              <a:buClr>
                <a:schemeClr val="dk1"/>
              </a:buClr>
              <a:buSzPts val="1400"/>
              <a:buChar char="●"/>
              <a:defRPr/>
            </a:lvl4pPr>
            <a:lvl5pPr lvl="4" algn="l">
              <a:lnSpc>
                <a:spcPct val="90000"/>
              </a:lnSpc>
              <a:spcBef>
                <a:spcPts val="1200"/>
              </a:spcBef>
              <a:spcAft>
                <a:spcPts val="0"/>
              </a:spcAft>
              <a:buClr>
                <a:schemeClr val="dk1"/>
              </a:buClr>
              <a:buSzPts val="1400"/>
              <a:buChar char="○"/>
              <a:defRPr/>
            </a:lvl5pPr>
            <a:lvl6pPr lvl="5" algn="l">
              <a:lnSpc>
                <a:spcPct val="90000"/>
              </a:lnSpc>
              <a:spcBef>
                <a:spcPts val="1200"/>
              </a:spcBef>
              <a:spcAft>
                <a:spcPts val="0"/>
              </a:spcAft>
              <a:buClr>
                <a:schemeClr val="dk1"/>
              </a:buClr>
              <a:buSzPts val="1400"/>
              <a:buChar char="■"/>
              <a:defRPr/>
            </a:lvl6pPr>
            <a:lvl7pPr lvl="6" algn="l">
              <a:lnSpc>
                <a:spcPct val="90000"/>
              </a:lnSpc>
              <a:spcBef>
                <a:spcPts val="1200"/>
              </a:spcBef>
              <a:spcAft>
                <a:spcPts val="0"/>
              </a:spcAft>
              <a:buClr>
                <a:schemeClr val="dk1"/>
              </a:buClr>
              <a:buSzPts val="1400"/>
              <a:buChar char="●"/>
              <a:defRPr/>
            </a:lvl7pPr>
            <a:lvl8pPr lvl="7" algn="l">
              <a:lnSpc>
                <a:spcPct val="90000"/>
              </a:lnSpc>
              <a:spcBef>
                <a:spcPts val="1200"/>
              </a:spcBef>
              <a:spcAft>
                <a:spcPts val="0"/>
              </a:spcAft>
              <a:buClr>
                <a:schemeClr val="dk1"/>
              </a:buClr>
              <a:buSzPts val="1400"/>
              <a:buChar char="○"/>
              <a:defRPr/>
            </a:lvl8pPr>
            <a:lvl9pPr lvl="8" algn="l">
              <a:lnSpc>
                <a:spcPct val="90000"/>
              </a:lnSpc>
              <a:spcBef>
                <a:spcPts val="1200"/>
              </a:spcBef>
              <a:spcAft>
                <a:spcPts val="1200"/>
              </a:spcAft>
              <a:buClr>
                <a:schemeClr val="dk1"/>
              </a:buClr>
              <a:buSzPts val="1400"/>
              <a:buChar char="■"/>
              <a:defRPr/>
            </a:lvl9pPr>
          </a:lstStyle>
          <a:p/>
        </p:txBody>
      </p:sp>
      <p:sp>
        <p:nvSpPr>
          <p:cNvPr id="59" name="Google Shape;59;p14"/>
          <p:cNvSpPr txBox="1"/>
          <p:nvPr>
            <p:ph idx="11" type="ftr"/>
          </p:nvPr>
        </p:nvSpPr>
        <p:spPr>
          <a:xfrm>
            <a:off x="3028950" y="4767263"/>
            <a:ext cx="3086100" cy="273900"/>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100"/>
              <a:buNone/>
              <a:defRPr sz="1100">
                <a:solidFill>
                  <a:srgbClr val="888888"/>
                </a:solidFill>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60" name="Google Shape;60;p14"/>
          <p:cNvSpPr txBox="1"/>
          <p:nvPr>
            <p:ph idx="10" type="dt"/>
          </p:nvPr>
        </p:nvSpPr>
        <p:spPr>
          <a:xfrm>
            <a:off x="628650" y="4767263"/>
            <a:ext cx="2057400" cy="2739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100"/>
              <a:buNone/>
              <a:defRPr sz="1100">
                <a:solidFill>
                  <a:srgbClr val="888888"/>
                </a:solidFill>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61" name="Google Shape;61;p14"/>
          <p:cNvSpPr txBox="1"/>
          <p:nvPr>
            <p:ph idx="12" type="sldNum"/>
          </p:nvPr>
        </p:nvSpPr>
        <p:spPr>
          <a:xfrm>
            <a:off x="6457950" y="4767263"/>
            <a:ext cx="2057400" cy="273900"/>
          </a:xfrm>
          <a:prstGeom prst="rect">
            <a:avLst/>
          </a:prstGeom>
          <a:noFill/>
          <a:ln>
            <a:noFill/>
          </a:ln>
        </p:spPr>
        <p:txBody>
          <a:bodyPr anchorCtr="0" anchor="ctr" bIns="0" lIns="0" spcFirstLastPara="1" rIns="0" wrap="square" tIns="0">
            <a:norm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sz="9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hyperlink" Target="http://ocw.mit.edu/fairuse"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hyperlink" Target="http://ocw.mit.edu/fairus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hyperlink" Target="http://ocw.mit.edu/fairus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6.jpg"/><Relationship Id="rId4" Type="http://schemas.openxmlformats.org/officeDocument/2006/relationships/image" Target="../media/image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3.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1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ctrTitle"/>
          </p:nvPr>
        </p:nvSpPr>
        <p:spPr>
          <a:xfrm>
            <a:off x="1143000" y="923168"/>
            <a:ext cx="6858000" cy="1627800"/>
          </a:xfrm>
          <a:prstGeom prst="rect">
            <a:avLst/>
          </a:prstGeom>
          <a:noFill/>
          <a:ln>
            <a:noFill/>
          </a:ln>
        </p:spPr>
        <p:txBody>
          <a:bodyPr anchorCtr="0" anchor="b" bIns="34275" lIns="68575" spcFirstLastPara="1" rIns="68575" wrap="square" tIns="34275">
            <a:normAutofit/>
          </a:bodyPr>
          <a:lstStyle/>
          <a:p>
            <a:pPr indent="0" lvl="0" marL="0" rtl="0" algn="ctr">
              <a:lnSpc>
                <a:spcPct val="90000"/>
              </a:lnSpc>
              <a:spcBef>
                <a:spcPts val="0"/>
              </a:spcBef>
              <a:spcAft>
                <a:spcPts val="0"/>
              </a:spcAft>
              <a:buClr>
                <a:schemeClr val="dk1"/>
              </a:buClr>
              <a:buSzPts val="4500"/>
              <a:buFont typeface="Constantia"/>
              <a:buNone/>
            </a:pPr>
            <a:r>
              <a:rPr lang="en"/>
              <a:t>Emotion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1848049" y="2540"/>
            <a:ext cx="5160300" cy="794100"/>
          </a:xfrm>
          <a:prstGeom prst="rect">
            <a:avLst/>
          </a:prstGeom>
          <a:noFill/>
          <a:ln>
            <a:noFill/>
          </a:ln>
        </p:spPr>
        <p:txBody>
          <a:bodyPr anchorCtr="0" anchor="ctr" bIns="0" lIns="0" spcFirstLastPara="1" rIns="0" wrap="square" tIns="9075">
            <a:spAutoFit/>
          </a:bodyPr>
          <a:lstStyle/>
          <a:p>
            <a:pPr indent="0" lvl="0" marL="12700" rtl="0" algn="l">
              <a:lnSpc>
                <a:spcPct val="100000"/>
              </a:lnSpc>
              <a:spcBef>
                <a:spcPts val="0"/>
              </a:spcBef>
              <a:spcAft>
                <a:spcPts val="0"/>
              </a:spcAft>
              <a:buClr>
                <a:schemeClr val="dk1"/>
              </a:buClr>
              <a:buSzPts val="3300"/>
              <a:buFont typeface="Arial"/>
              <a:buNone/>
            </a:pPr>
            <a:r>
              <a:rPr lang="en" sz="3300">
                <a:latin typeface="Arial"/>
                <a:ea typeface="Arial"/>
                <a:cs typeface="Arial"/>
                <a:sym typeface="Arial"/>
              </a:rPr>
              <a:t>happy</a:t>
            </a:r>
            <a:r>
              <a:rPr lang="en" sz="1200">
                <a:latin typeface="Arial"/>
                <a:ea typeface="Arial"/>
                <a:cs typeface="Arial"/>
                <a:sym typeface="Arial"/>
              </a:rPr>
              <a:t>,	</a:t>
            </a:r>
            <a:r>
              <a:rPr lang="en" sz="2100">
                <a:latin typeface="Arial Black"/>
                <a:ea typeface="Arial Black"/>
                <a:cs typeface="Arial Black"/>
                <a:sym typeface="Arial Black"/>
              </a:rPr>
              <a:t>sad</a:t>
            </a:r>
            <a:r>
              <a:rPr lang="en" sz="1200">
                <a:latin typeface="Arial"/>
                <a:ea typeface="Arial"/>
                <a:cs typeface="Arial"/>
                <a:sym typeface="Arial"/>
              </a:rPr>
              <a:t>,	</a:t>
            </a:r>
            <a:r>
              <a:rPr lang="en" sz="3300">
                <a:solidFill>
                  <a:srgbClr val="FF0000"/>
                </a:solidFill>
                <a:latin typeface="Arial"/>
                <a:ea typeface="Arial"/>
                <a:cs typeface="Arial"/>
                <a:sym typeface="Arial"/>
              </a:rPr>
              <a:t>angry</a:t>
            </a:r>
            <a:r>
              <a:rPr lang="en" sz="1200">
                <a:latin typeface="Arial"/>
                <a:ea typeface="Arial"/>
                <a:cs typeface="Arial"/>
                <a:sym typeface="Arial"/>
              </a:rPr>
              <a:t>,	</a:t>
            </a:r>
            <a:r>
              <a:rPr lang="en" sz="1800">
                <a:latin typeface="Impact"/>
                <a:ea typeface="Impact"/>
                <a:cs typeface="Impact"/>
                <a:sym typeface="Impact"/>
              </a:rPr>
              <a:t>joyful</a:t>
            </a:r>
            <a:r>
              <a:rPr lang="en" sz="1200">
                <a:latin typeface="Arial"/>
                <a:ea typeface="Arial"/>
                <a:cs typeface="Arial"/>
                <a:sym typeface="Arial"/>
              </a:rPr>
              <a:t>,	</a:t>
            </a:r>
            <a:r>
              <a:rPr lang="en" sz="1800">
                <a:latin typeface="Arial"/>
                <a:ea typeface="Arial"/>
                <a:cs typeface="Arial"/>
                <a:sym typeface="Arial"/>
              </a:rPr>
              <a:t>moping,</a:t>
            </a:r>
            <a:endParaRPr sz="1800">
              <a:latin typeface="Arial"/>
              <a:ea typeface="Arial"/>
              <a:cs typeface="Arial"/>
              <a:sym typeface="Arial"/>
            </a:endParaRPr>
          </a:p>
        </p:txBody>
      </p:sp>
      <p:sp>
        <p:nvSpPr>
          <p:cNvPr id="72" name="Google Shape;72;p16"/>
          <p:cNvSpPr txBox="1"/>
          <p:nvPr/>
        </p:nvSpPr>
        <p:spPr>
          <a:xfrm>
            <a:off x="2444044" y="509187"/>
            <a:ext cx="3969600" cy="471300"/>
          </a:xfrm>
          <a:prstGeom prst="rect">
            <a:avLst/>
          </a:prstGeom>
          <a:noFill/>
          <a:ln>
            <a:noFill/>
          </a:ln>
        </p:spPr>
        <p:txBody>
          <a:bodyPr anchorCtr="0" anchor="t" bIns="0" lIns="0" spcFirstLastPara="1" rIns="0" wrap="square" tIns="9550">
            <a:spAutoFit/>
          </a:bodyPr>
          <a:lstStyle/>
          <a:p>
            <a:pPr indent="0" lvl="0" marL="12700" marR="0" rtl="0" algn="l">
              <a:spcBef>
                <a:spcPts val="0"/>
              </a:spcBef>
              <a:spcAft>
                <a:spcPts val="0"/>
              </a:spcAft>
              <a:buNone/>
            </a:pPr>
            <a:r>
              <a:rPr b="0" i="0" lang="en" sz="2100" u="none" cap="none" strike="noStrike">
                <a:solidFill>
                  <a:schemeClr val="dk1"/>
                </a:solidFill>
                <a:latin typeface="Arial"/>
                <a:ea typeface="Arial"/>
                <a:cs typeface="Arial"/>
                <a:sym typeface="Arial"/>
              </a:rPr>
              <a:t>nervous</a:t>
            </a:r>
            <a:r>
              <a:rPr b="0" i="0" lang="en" sz="1400" u="none" cap="none" strike="noStrike">
                <a:solidFill>
                  <a:schemeClr val="dk1"/>
                </a:solidFill>
                <a:latin typeface="Arial"/>
                <a:ea typeface="Arial"/>
                <a:cs typeface="Arial"/>
                <a:sym typeface="Arial"/>
              </a:rPr>
              <a:t>,	</a:t>
            </a:r>
            <a:r>
              <a:rPr b="1" i="0" lang="en" sz="2100" u="none" cap="none" strike="noStrike">
                <a:solidFill>
                  <a:srgbClr val="FF0000"/>
                </a:solidFill>
                <a:latin typeface="Arial"/>
                <a:ea typeface="Arial"/>
                <a:cs typeface="Arial"/>
                <a:sym typeface="Arial"/>
              </a:rPr>
              <a:t>mad</a:t>
            </a:r>
            <a:r>
              <a:rPr b="0" i="0" lang="en" sz="1200" u="none" cap="none" strike="noStrike">
                <a:solidFill>
                  <a:schemeClr val="dk1"/>
                </a:solidFill>
                <a:latin typeface="Arial"/>
                <a:ea typeface="Arial"/>
                <a:cs typeface="Arial"/>
                <a:sym typeface="Arial"/>
              </a:rPr>
              <a:t>,	</a:t>
            </a:r>
            <a:r>
              <a:rPr b="0" i="0" lang="en" sz="2400" u="none" cap="none" strike="noStrike">
                <a:solidFill>
                  <a:schemeClr val="dk1"/>
                </a:solidFill>
                <a:latin typeface="Merriweather Sans"/>
                <a:ea typeface="Merriweather Sans"/>
                <a:cs typeface="Merriweather Sans"/>
                <a:sym typeface="Merriweather Sans"/>
              </a:rPr>
              <a:t>bo red</a:t>
            </a:r>
            <a:r>
              <a:rPr b="0" i="0" lang="en" sz="1200" u="none" cap="none" strike="noStrike">
                <a:solidFill>
                  <a:schemeClr val="dk1"/>
                </a:solidFill>
                <a:latin typeface="Arial"/>
                <a:ea typeface="Arial"/>
                <a:cs typeface="Arial"/>
                <a:sym typeface="Arial"/>
              </a:rPr>
              <a:t>,	</a:t>
            </a:r>
            <a:r>
              <a:rPr b="0" i="0" lang="en" sz="3000" u="none" cap="none" strike="noStrike">
                <a:solidFill>
                  <a:srgbClr val="FF0000"/>
                </a:solidFill>
                <a:latin typeface="Arial"/>
                <a:ea typeface="Arial"/>
                <a:cs typeface="Arial"/>
                <a:sym typeface="Arial"/>
              </a:rPr>
              <a:t>irate</a:t>
            </a:r>
            <a:endParaRPr b="0" i="0" sz="3000" u="none" cap="none" strike="noStrike">
              <a:solidFill>
                <a:schemeClr val="dk1"/>
              </a:solidFill>
              <a:latin typeface="Arial"/>
              <a:ea typeface="Arial"/>
              <a:cs typeface="Arial"/>
              <a:sym typeface="Arial"/>
            </a:endParaRPr>
          </a:p>
        </p:txBody>
      </p:sp>
      <p:sp>
        <p:nvSpPr>
          <p:cNvPr id="73" name="Google Shape;73;p16"/>
          <p:cNvSpPr txBox="1"/>
          <p:nvPr/>
        </p:nvSpPr>
        <p:spPr>
          <a:xfrm>
            <a:off x="1485517" y="954893"/>
            <a:ext cx="1805400" cy="517200"/>
          </a:xfrm>
          <a:prstGeom prst="rect">
            <a:avLst/>
          </a:prstGeom>
          <a:noFill/>
          <a:ln>
            <a:noFill/>
          </a:ln>
        </p:spPr>
        <p:txBody>
          <a:bodyPr anchorCtr="0" anchor="t" bIns="0" lIns="0" spcFirstLastPara="1" rIns="0" wrap="square" tIns="9075">
            <a:spAutoFit/>
          </a:bodyPr>
          <a:lstStyle/>
          <a:p>
            <a:pPr indent="0" lvl="0" marL="12700" marR="0" rtl="0" algn="l">
              <a:spcBef>
                <a:spcPts val="0"/>
              </a:spcBef>
              <a:spcAft>
                <a:spcPts val="0"/>
              </a:spcAft>
              <a:buNone/>
            </a:pPr>
            <a:r>
              <a:rPr b="0" i="0" lang="en" sz="3300" u="none" cap="none" strike="noStrike">
                <a:solidFill>
                  <a:schemeClr val="dk1"/>
                </a:solidFill>
                <a:latin typeface="Arial"/>
                <a:ea typeface="Arial"/>
                <a:cs typeface="Arial"/>
                <a:sym typeface="Arial"/>
              </a:rPr>
              <a:t>content</a:t>
            </a:r>
            <a:r>
              <a:rPr b="0" i="0" lang="en" sz="1400" u="none" cap="none" strike="noStrike">
                <a:solidFill>
                  <a:schemeClr val="dk1"/>
                </a:solidFill>
                <a:latin typeface="Arial"/>
                <a:ea typeface="Arial"/>
                <a:cs typeface="Arial"/>
                <a:sym typeface="Arial"/>
              </a:rPr>
              <a:t>,</a:t>
            </a:r>
            <a:endParaRPr b="0" i="0" sz="1400" u="none" cap="none" strike="noStrike">
              <a:solidFill>
                <a:schemeClr val="dk1"/>
              </a:solidFill>
              <a:latin typeface="Arial"/>
              <a:ea typeface="Arial"/>
              <a:cs typeface="Arial"/>
              <a:sym typeface="Arial"/>
            </a:endParaRPr>
          </a:p>
        </p:txBody>
      </p:sp>
      <p:sp>
        <p:nvSpPr>
          <p:cNvPr id="74" name="Google Shape;74;p16"/>
          <p:cNvSpPr txBox="1"/>
          <p:nvPr/>
        </p:nvSpPr>
        <p:spPr>
          <a:xfrm>
            <a:off x="1587049" y="1656436"/>
            <a:ext cx="3069600" cy="378600"/>
          </a:xfrm>
          <a:prstGeom prst="rect">
            <a:avLst/>
          </a:prstGeom>
          <a:noFill/>
          <a:ln>
            <a:noFill/>
          </a:ln>
        </p:spPr>
        <p:txBody>
          <a:bodyPr anchorCtr="0" anchor="t" bIns="0" lIns="0" spcFirstLastPara="1" rIns="0" wrap="square" tIns="9075">
            <a:spAutoFit/>
          </a:bodyPr>
          <a:lstStyle/>
          <a:p>
            <a:pPr indent="0" lvl="0" marL="12700" marR="0" rtl="0" algn="l">
              <a:spcBef>
                <a:spcPts val="0"/>
              </a:spcBef>
              <a:spcAft>
                <a:spcPts val="0"/>
              </a:spcAft>
              <a:buNone/>
            </a:pPr>
            <a:r>
              <a:rPr b="1" i="0" lang="en" sz="2400" u="none" cap="none" strike="noStrike">
                <a:solidFill>
                  <a:srgbClr val="FF0000"/>
                </a:solidFill>
                <a:latin typeface="Times New Roman"/>
                <a:ea typeface="Times New Roman"/>
                <a:cs typeface="Times New Roman"/>
                <a:sym typeface="Times New Roman"/>
              </a:rPr>
              <a:t>Seething</a:t>
            </a:r>
            <a:r>
              <a:rPr b="1" i="0" lang="en" sz="2400" u="none" cap="none" strike="noStrike">
                <a:solidFill>
                  <a:schemeClr val="dk1"/>
                </a:solidFill>
                <a:latin typeface="Times New Roman"/>
                <a:ea typeface="Times New Roman"/>
                <a:cs typeface="Times New Roman"/>
                <a:sym typeface="Times New Roman"/>
              </a:rPr>
              <a:t>,	brave</a:t>
            </a:r>
            <a:r>
              <a:rPr b="0" i="0" lang="en" sz="1200" u="none" cap="none" strike="noStrike">
                <a:solidFill>
                  <a:schemeClr val="dk1"/>
                </a:solidFill>
                <a:latin typeface="Arial"/>
                <a:ea typeface="Arial"/>
                <a:cs typeface="Arial"/>
                <a:sym typeface="Arial"/>
              </a:rPr>
              <a:t>,	</a:t>
            </a:r>
            <a:r>
              <a:rPr b="0" i="0" lang="en" sz="2100" u="none" cap="none" strike="noStrike">
                <a:solidFill>
                  <a:schemeClr val="dk1"/>
                </a:solidFill>
                <a:latin typeface="Arial"/>
                <a:ea typeface="Arial"/>
                <a:cs typeface="Arial"/>
                <a:sym typeface="Arial"/>
              </a:rPr>
              <a:t>timid</a:t>
            </a:r>
            <a:r>
              <a:rPr b="0" i="0" lang="en" sz="1200" u="none" cap="none" strike="noStrike">
                <a:solidFill>
                  <a:schemeClr val="dk1"/>
                </a:solidFill>
                <a:latin typeface="Arial"/>
                <a:ea typeface="Arial"/>
                <a:cs typeface="Arial"/>
                <a:sym typeface="Arial"/>
              </a:rPr>
              <a:t>,</a:t>
            </a:r>
            <a:endParaRPr b="0" i="0" sz="1200" u="none" cap="none" strike="noStrike">
              <a:solidFill>
                <a:schemeClr val="dk1"/>
              </a:solidFill>
              <a:latin typeface="Arial"/>
              <a:ea typeface="Arial"/>
              <a:cs typeface="Arial"/>
              <a:sym typeface="Arial"/>
            </a:endParaRPr>
          </a:p>
        </p:txBody>
      </p:sp>
      <p:sp>
        <p:nvSpPr>
          <p:cNvPr id="75" name="Google Shape;75;p16"/>
          <p:cNvSpPr txBox="1"/>
          <p:nvPr/>
        </p:nvSpPr>
        <p:spPr>
          <a:xfrm>
            <a:off x="3443672" y="1069618"/>
            <a:ext cx="3927300" cy="1273800"/>
          </a:xfrm>
          <a:prstGeom prst="rect">
            <a:avLst/>
          </a:prstGeom>
          <a:noFill/>
          <a:ln>
            <a:noFill/>
          </a:ln>
        </p:spPr>
        <p:txBody>
          <a:bodyPr anchorCtr="0" anchor="t" bIns="0" lIns="0" spcFirstLastPara="1" rIns="0" wrap="square" tIns="9075">
            <a:spAutoFit/>
          </a:bodyPr>
          <a:lstStyle/>
          <a:p>
            <a:pPr indent="0" lvl="0" marL="12700" marR="0" rtl="0" algn="l">
              <a:spcBef>
                <a:spcPts val="0"/>
              </a:spcBef>
              <a:spcAft>
                <a:spcPts val="0"/>
              </a:spcAft>
              <a:buNone/>
            </a:pPr>
            <a:r>
              <a:rPr b="0" i="0" lang="en" sz="2400" u="none" cap="none" strike="noStrike">
                <a:solidFill>
                  <a:srgbClr val="FF0000"/>
                </a:solidFill>
                <a:latin typeface="Merriweather Sans"/>
                <a:ea typeface="Merriweather Sans"/>
                <a:cs typeface="Merriweather Sans"/>
                <a:sym typeface="Merriweather Sans"/>
              </a:rPr>
              <a:t>rag i ng</a:t>
            </a:r>
            <a:r>
              <a:rPr b="0" i="0" lang="en" sz="1200" u="none" cap="none" strike="noStrike">
                <a:solidFill>
                  <a:schemeClr val="dk1"/>
                </a:solidFill>
                <a:latin typeface="Arial"/>
                <a:ea typeface="Arial"/>
                <a:cs typeface="Arial"/>
                <a:sym typeface="Arial"/>
              </a:rPr>
              <a:t>,	</a:t>
            </a:r>
            <a:r>
              <a:rPr b="0" i="0" lang="en" sz="2400" u="none" cap="none" strike="noStrike">
                <a:solidFill>
                  <a:schemeClr val="dk1"/>
                </a:solidFill>
                <a:latin typeface="Arial"/>
                <a:ea typeface="Arial"/>
                <a:cs typeface="Arial"/>
                <a:sym typeface="Arial"/>
              </a:rPr>
              <a:t>awestruck</a:t>
            </a:r>
            <a:r>
              <a:rPr b="0" i="0" lang="en" sz="1200" u="none" cap="none" strike="noStrike">
                <a:solidFill>
                  <a:schemeClr val="dk1"/>
                </a:solidFill>
                <a:latin typeface="Arial"/>
                <a:ea typeface="Arial"/>
                <a:cs typeface="Arial"/>
                <a:sym typeface="Arial"/>
              </a:rPr>
              <a:t>, </a:t>
            </a:r>
            <a:r>
              <a:rPr b="0" i="1" lang="en" sz="2100" u="none" cap="none" strike="noStrike">
                <a:solidFill>
                  <a:schemeClr val="dk1"/>
                </a:solidFill>
                <a:latin typeface="Arial"/>
                <a:ea typeface="Arial"/>
                <a:cs typeface="Arial"/>
                <a:sym typeface="Arial"/>
              </a:rPr>
              <a:t>infatuated</a:t>
            </a:r>
            <a:endParaRPr b="0" i="0" sz="2100" u="none" cap="none" strike="noStrike">
              <a:solidFill>
                <a:schemeClr val="dk1"/>
              </a:solidFill>
              <a:latin typeface="Arial"/>
              <a:ea typeface="Arial"/>
              <a:cs typeface="Arial"/>
              <a:sym typeface="Arial"/>
            </a:endParaRPr>
          </a:p>
          <a:p>
            <a:pPr indent="0" lvl="0" marL="1422400" marR="0" rtl="0" algn="l">
              <a:spcBef>
                <a:spcPts val="2300"/>
              </a:spcBef>
              <a:spcAft>
                <a:spcPts val="0"/>
              </a:spcAft>
              <a:buNone/>
            </a:pPr>
            <a:r>
              <a:rPr b="0" i="0" lang="en" sz="1800" u="none" cap="none" strike="noStrike">
                <a:solidFill>
                  <a:schemeClr val="dk1"/>
                </a:solidFill>
                <a:latin typeface="Arial"/>
                <a:ea typeface="Arial"/>
                <a:cs typeface="Arial"/>
                <a:sym typeface="Arial"/>
              </a:rPr>
              <a:t>doubtful</a:t>
            </a:r>
            <a:r>
              <a:rPr b="0" i="0" lang="en" sz="1200" u="none" cap="none" strike="noStrike">
                <a:solidFill>
                  <a:schemeClr val="dk1"/>
                </a:solidFill>
                <a:latin typeface="Arial"/>
                <a:ea typeface="Arial"/>
                <a:cs typeface="Arial"/>
                <a:sym typeface="Arial"/>
              </a:rPr>
              <a:t>,	</a:t>
            </a:r>
            <a:r>
              <a:rPr b="1" i="0" lang="en" sz="1800" u="none" cap="none" strike="noStrike">
                <a:solidFill>
                  <a:schemeClr val="dk1"/>
                </a:solidFill>
                <a:latin typeface="Impact"/>
                <a:ea typeface="Impact"/>
                <a:cs typeface="Impact"/>
                <a:sym typeface="Impact"/>
              </a:rPr>
              <a:t>sorrowful</a:t>
            </a:r>
            <a:r>
              <a:rPr b="0" i="0" lang="en" sz="1200" u="none" cap="none" strike="noStrike">
                <a:solidFill>
                  <a:schemeClr val="dk1"/>
                </a:solidFill>
                <a:latin typeface="Arial"/>
                <a:ea typeface="Arial"/>
                <a:cs typeface="Arial"/>
                <a:sym typeface="Arial"/>
              </a:rPr>
              <a:t>,</a:t>
            </a:r>
            <a:endParaRPr b="0" i="0" sz="1200" u="none" cap="none" strike="noStrike">
              <a:solidFill>
                <a:schemeClr val="dk1"/>
              </a:solidFill>
              <a:latin typeface="Arial"/>
              <a:ea typeface="Arial"/>
              <a:cs typeface="Arial"/>
              <a:sym typeface="Arial"/>
            </a:endParaRPr>
          </a:p>
        </p:txBody>
      </p:sp>
      <p:sp>
        <p:nvSpPr>
          <p:cNvPr id="76" name="Google Shape;76;p16"/>
          <p:cNvSpPr txBox="1"/>
          <p:nvPr/>
        </p:nvSpPr>
        <p:spPr>
          <a:xfrm>
            <a:off x="1485531" y="1803406"/>
            <a:ext cx="5629800" cy="3379500"/>
          </a:xfrm>
          <a:prstGeom prst="rect">
            <a:avLst/>
          </a:prstGeom>
          <a:noFill/>
          <a:ln>
            <a:noFill/>
          </a:ln>
        </p:spPr>
        <p:txBody>
          <a:bodyPr anchorCtr="0" anchor="t" bIns="0" lIns="0" spcFirstLastPara="1" rIns="0" wrap="square" tIns="118075">
            <a:spAutoFit/>
          </a:bodyPr>
          <a:lstStyle/>
          <a:p>
            <a:pPr indent="0" lvl="0" marL="0" marR="0" rtl="0" algn="ctr">
              <a:spcBef>
                <a:spcPts val="0"/>
              </a:spcBef>
              <a:spcAft>
                <a:spcPts val="0"/>
              </a:spcAft>
              <a:buNone/>
            </a:pPr>
            <a:r>
              <a:rPr b="0" i="0" lang="en" sz="2400" u="none" cap="none" strike="noStrike">
                <a:solidFill>
                  <a:schemeClr val="dk1"/>
                </a:solidFill>
                <a:latin typeface="Verdana"/>
                <a:ea typeface="Verdana"/>
                <a:cs typeface="Verdana"/>
                <a:sym typeface="Verdana"/>
              </a:rPr>
              <a:t>terrified</a:t>
            </a:r>
            <a:r>
              <a:rPr b="0" i="0" lang="en" sz="1200" u="none" cap="none" strike="noStrike">
                <a:solidFill>
                  <a:schemeClr val="dk1"/>
                </a:solidFill>
                <a:latin typeface="Arial"/>
                <a:ea typeface="Arial"/>
                <a:cs typeface="Arial"/>
                <a:sym typeface="Arial"/>
              </a:rPr>
              <a:t>,	</a:t>
            </a:r>
            <a:r>
              <a:rPr b="0" i="0" lang="en" sz="2400" u="none" cap="none" strike="noStrike">
                <a:solidFill>
                  <a:srgbClr val="FF0000"/>
                </a:solidFill>
                <a:latin typeface="Arial"/>
                <a:ea typeface="Arial"/>
                <a:cs typeface="Arial"/>
                <a:sym typeface="Arial"/>
              </a:rPr>
              <a:t>resentful</a:t>
            </a:r>
            <a:r>
              <a:rPr b="0" i="0" lang="en" sz="1200" u="none" cap="none" strike="noStrike">
                <a:solidFill>
                  <a:schemeClr val="dk1"/>
                </a:solidFill>
                <a:latin typeface="Arial"/>
                <a:ea typeface="Arial"/>
                <a:cs typeface="Arial"/>
                <a:sym typeface="Arial"/>
              </a:rPr>
              <a:t>,	</a:t>
            </a:r>
            <a:r>
              <a:rPr b="0" i="0" lang="en" sz="2100" u="none" cap="none" strike="noStrike">
                <a:solidFill>
                  <a:schemeClr val="dk1"/>
                </a:solidFill>
                <a:latin typeface="Arial"/>
                <a:ea typeface="Arial"/>
                <a:cs typeface="Arial"/>
                <a:sym typeface="Arial"/>
              </a:rPr>
              <a:t>heart-broken</a:t>
            </a:r>
            <a:r>
              <a:rPr b="0" i="0" lang="en" sz="1200" u="none" cap="none" strike="noStrike">
                <a:solidFill>
                  <a:schemeClr val="dk1"/>
                </a:solidFill>
                <a:latin typeface="Arial"/>
                <a:ea typeface="Arial"/>
                <a:cs typeface="Arial"/>
                <a:sym typeface="Arial"/>
              </a:rPr>
              <a:t>,</a:t>
            </a:r>
            <a:endParaRPr sz="1100"/>
          </a:p>
          <a:p>
            <a:pPr indent="0" lvl="0" marL="0" marR="0" rtl="0" algn="ctr">
              <a:spcBef>
                <a:spcPts val="1000"/>
              </a:spcBef>
              <a:spcAft>
                <a:spcPts val="0"/>
              </a:spcAft>
              <a:buNone/>
            </a:pPr>
            <a:r>
              <a:rPr b="0" i="0" lang="en" sz="2400" u="none" cap="none" strike="noStrike">
                <a:solidFill>
                  <a:schemeClr val="dk1"/>
                </a:solidFill>
                <a:latin typeface="Arial"/>
                <a:ea typeface="Arial"/>
                <a:cs typeface="Arial"/>
                <a:sym typeface="Arial"/>
              </a:rPr>
              <a:t>elated, agreeable</a:t>
            </a:r>
            <a:r>
              <a:rPr b="0" i="0" lang="en" sz="1400" u="none" cap="none" strike="noStrike">
                <a:solidFill>
                  <a:schemeClr val="dk1"/>
                </a:solidFill>
                <a:latin typeface="Arial"/>
                <a:ea typeface="Arial"/>
                <a:cs typeface="Arial"/>
                <a:sym typeface="Arial"/>
              </a:rPr>
              <a:t>,	</a:t>
            </a:r>
            <a:r>
              <a:rPr b="0" i="0" lang="en" sz="2400" u="none" cap="none" strike="noStrike">
                <a:solidFill>
                  <a:schemeClr val="dk1"/>
                </a:solidFill>
                <a:latin typeface="Arial"/>
                <a:ea typeface="Arial"/>
                <a:cs typeface="Arial"/>
                <a:sym typeface="Arial"/>
              </a:rPr>
              <a:t>scared</a:t>
            </a:r>
            <a:r>
              <a:rPr b="0" i="0" lang="en" sz="1200" u="none" cap="none" strike="noStrike">
                <a:solidFill>
                  <a:schemeClr val="dk1"/>
                </a:solidFill>
                <a:latin typeface="Arial"/>
                <a:ea typeface="Arial"/>
                <a:cs typeface="Arial"/>
                <a:sym typeface="Arial"/>
              </a:rPr>
              <a:t>,	</a:t>
            </a:r>
            <a:r>
              <a:rPr b="0" i="0" lang="en" sz="2700" u="none" cap="none" strike="noStrike">
                <a:solidFill>
                  <a:srgbClr val="FF0000"/>
                </a:solidFill>
                <a:latin typeface="Arial"/>
                <a:ea typeface="Arial"/>
                <a:cs typeface="Arial"/>
                <a:sym typeface="Arial"/>
              </a:rPr>
              <a:t>jealous</a:t>
            </a:r>
            <a:r>
              <a:rPr b="0" i="0" lang="en" sz="1200" u="none" cap="none" strike="noStrike">
                <a:solidFill>
                  <a:schemeClr val="dk1"/>
                </a:solidFill>
                <a:latin typeface="Arial"/>
                <a:ea typeface="Arial"/>
                <a:cs typeface="Arial"/>
                <a:sym typeface="Arial"/>
              </a:rPr>
              <a:t>,</a:t>
            </a:r>
            <a:endParaRPr sz="1100"/>
          </a:p>
          <a:p>
            <a:pPr indent="0" lvl="0" marL="0" marR="0" rtl="0" algn="ctr">
              <a:lnSpc>
                <a:spcPct val="112017"/>
              </a:lnSpc>
              <a:spcBef>
                <a:spcPts val="2100"/>
              </a:spcBef>
              <a:spcAft>
                <a:spcPts val="0"/>
              </a:spcAft>
              <a:buNone/>
            </a:pPr>
            <a:r>
              <a:rPr b="0" i="0" lang="en" sz="2400" u="none" cap="none" strike="noStrike">
                <a:solidFill>
                  <a:schemeClr val="dk1"/>
                </a:solidFill>
                <a:latin typeface="Arial"/>
                <a:ea typeface="Arial"/>
                <a:cs typeface="Arial"/>
                <a:sym typeface="Arial"/>
              </a:rPr>
              <a:t>exhausted</a:t>
            </a:r>
            <a:r>
              <a:rPr b="0" i="0" lang="en" sz="1200" u="none" cap="none" strike="noStrike">
                <a:solidFill>
                  <a:schemeClr val="dk1"/>
                </a:solidFill>
                <a:latin typeface="Arial"/>
                <a:ea typeface="Arial"/>
                <a:cs typeface="Arial"/>
                <a:sym typeface="Arial"/>
              </a:rPr>
              <a:t>, </a:t>
            </a:r>
            <a:r>
              <a:rPr b="0" i="0" lang="en" sz="2100" u="none" cap="none" strike="noStrike">
                <a:solidFill>
                  <a:srgbClr val="FF0000"/>
                </a:solidFill>
                <a:latin typeface="Arial"/>
                <a:ea typeface="Arial"/>
                <a:cs typeface="Arial"/>
                <a:sym typeface="Arial"/>
              </a:rPr>
              <a:t>furious</a:t>
            </a:r>
            <a:r>
              <a:rPr b="0" i="0" lang="en" sz="1400" u="none" cap="none" strike="noStrike">
                <a:solidFill>
                  <a:schemeClr val="dk1"/>
                </a:solidFill>
                <a:latin typeface="Times New Roman"/>
                <a:ea typeface="Times New Roman"/>
                <a:cs typeface="Times New Roman"/>
                <a:sym typeface="Times New Roman"/>
              </a:rPr>
              <a:t>, </a:t>
            </a:r>
            <a:r>
              <a:rPr b="0" i="0" lang="en" sz="2100" u="none" cap="none" strike="noStrike">
                <a:solidFill>
                  <a:schemeClr val="dk1"/>
                </a:solidFill>
                <a:latin typeface="Arial"/>
                <a:ea typeface="Arial"/>
                <a:cs typeface="Arial"/>
                <a:sym typeface="Arial"/>
              </a:rPr>
              <a:t>grief-stricken</a:t>
            </a:r>
            <a:r>
              <a:rPr b="0" i="0" lang="en" sz="1200" u="none" cap="none" strike="noStrike">
                <a:solidFill>
                  <a:schemeClr val="dk1"/>
                </a:solidFill>
                <a:latin typeface="Arial"/>
                <a:ea typeface="Arial"/>
                <a:cs typeface="Arial"/>
                <a:sym typeface="Arial"/>
              </a:rPr>
              <a:t>, </a:t>
            </a:r>
            <a:r>
              <a:rPr b="0" i="0" lang="en" sz="1400" u="none" cap="none" strike="noStrike">
                <a:solidFill>
                  <a:schemeClr val="dk1"/>
                </a:solidFill>
                <a:latin typeface="Times New Roman"/>
                <a:ea typeface="Times New Roman"/>
                <a:cs typeface="Times New Roman"/>
                <a:sym typeface="Times New Roman"/>
              </a:rPr>
              <a:t>sorrowful,</a:t>
            </a:r>
            <a:endParaRPr sz="1100"/>
          </a:p>
          <a:p>
            <a:pPr indent="0" lvl="0" marL="0" marR="0" rtl="0" algn="ctr">
              <a:lnSpc>
                <a:spcPct val="112925"/>
              </a:lnSpc>
              <a:spcBef>
                <a:spcPts val="0"/>
              </a:spcBef>
              <a:spcAft>
                <a:spcPts val="0"/>
              </a:spcAft>
              <a:buNone/>
            </a:pPr>
            <a:r>
              <a:rPr b="0" i="1" lang="en" sz="2700" u="none" cap="none" strike="noStrike">
                <a:solidFill>
                  <a:schemeClr val="dk1"/>
                </a:solidFill>
                <a:latin typeface="Arial"/>
                <a:ea typeface="Arial"/>
                <a:cs typeface="Arial"/>
                <a:sym typeface="Arial"/>
              </a:rPr>
              <a:t>captivated</a:t>
            </a:r>
            <a:r>
              <a:rPr b="0" i="0" lang="en" sz="1200" u="none" cap="none" strike="noStrike">
                <a:solidFill>
                  <a:schemeClr val="dk1"/>
                </a:solidFill>
                <a:latin typeface="Arial"/>
                <a:ea typeface="Arial"/>
                <a:cs typeface="Arial"/>
                <a:sym typeface="Arial"/>
              </a:rPr>
              <a:t>,	</a:t>
            </a:r>
            <a:r>
              <a:rPr b="0" i="0" lang="en" sz="2400" u="none" cap="none" strike="noStrike">
                <a:solidFill>
                  <a:schemeClr val="dk1"/>
                </a:solidFill>
                <a:latin typeface="Arial"/>
                <a:ea typeface="Arial"/>
                <a:cs typeface="Arial"/>
                <a:sym typeface="Arial"/>
              </a:rPr>
              <a:t>disappointed</a:t>
            </a:r>
            <a:r>
              <a:rPr b="0" i="0" lang="en" sz="1200" u="none" cap="none" strike="noStrike">
                <a:solidFill>
                  <a:schemeClr val="dk1"/>
                </a:solidFill>
                <a:latin typeface="Arial"/>
                <a:ea typeface="Arial"/>
                <a:cs typeface="Arial"/>
                <a:sym typeface="Arial"/>
              </a:rPr>
              <a:t>,	</a:t>
            </a:r>
            <a:r>
              <a:rPr b="1" i="0" lang="en" sz="1800" u="none" cap="none" strike="noStrike">
                <a:solidFill>
                  <a:schemeClr val="dk1"/>
                </a:solidFill>
                <a:latin typeface="Impact"/>
                <a:ea typeface="Impact"/>
                <a:cs typeface="Impact"/>
                <a:sym typeface="Impact"/>
              </a:rPr>
              <a:t>anxious</a:t>
            </a:r>
            <a:r>
              <a:rPr b="0" i="0" lang="en" sz="1800" u="none" cap="none" strike="noStrike">
                <a:solidFill>
                  <a:schemeClr val="dk1"/>
                </a:solidFill>
                <a:latin typeface="Arial"/>
                <a:ea typeface="Arial"/>
                <a:cs typeface="Arial"/>
                <a:sym typeface="Arial"/>
              </a:rPr>
              <a:t>, </a:t>
            </a:r>
            <a:r>
              <a:rPr b="0" i="0" lang="en" sz="2400" u="none" cap="none" strike="noStrike">
                <a:solidFill>
                  <a:srgbClr val="FF0000"/>
                </a:solidFill>
                <a:latin typeface="Arial"/>
                <a:ea typeface="Arial"/>
                <a:cs typeface="Arial"/>
                <a:sym typeface="Arial"/>
              </a:rPr>
              <a:t>disgusted</a:t>
            </a:r>
            <a:r>
              <a:rPr b="0" i="0" lang="en" sz="1400" u="none" cap="none" strike="noStrike">
                <a:solidFill>
                  <a:schemeClr val="dk1"/>
                </a:solidFill>
                <a:latin typeface="Arial"/>
                <a:ea typeface="Arial"/>
                <a:cs typeface="Arial"/>
                <a:sym typeface="Arial"/>
              </a:rPr>
              <a:t>,</a:t>
            </a:r>
            <a:endParaRPr sz="1100"/>
          </a:p>
          <a:p>
            <a:pPr indent="0" lvl="0" marL="0" marR="0" rtl="0" algn="ctr">
              <a:spcBef>
                <a:spcPts val="200"/>
              </a:spcBef>
              <a:spcAft>
                <a:spcPts val="0"/>
              </a:spcAft>
              <a:buNone/>
            </a:pPr>
            <a:r>
              <a:rPr b="0" i="0" lang="en" sz="2400" u="none" cap="none" strike="noStrike">
                <a:solidFill>
                  <a:srgbClr val="FF0000"/>
                </a:solidFill>
                <a:latin typeface="Arial"/>
                <a:ea typeface="Arial"/>
                <a:cs typeface="Arial"/>
                <a:sym typeface="Arial"/>
              </a:rPr>
              <a:t>frustrated</a:t>
            </a:r>
            <a:r>
              <a:rPr b="0" i="0" lang="en" sz="1400" u="none" cap="none" strike="noStrike">
                <a:solidFill>
                  <a:schemeClr val="dk1"/>
                </a:solidFill>
                <a:latin typeface="Arial"/>
                <a:ea typeface="Arial"/>
                <a:cs typeface="Arial"/>
                <a:sym typeface="Arial"/>
              </a:rPr>
              <a:t>,	</a:t>
            </a:r>
            <a:r>
              <a:rPr b="0" i="0" lang="en" sz="1800" u="none" cap="none" strike="noStrike">
                <a:solidFill>
                  <a:schemeClr val="dk1"/>
                </a:solidFill>
                <a:latin typeface="Arial"/>
                <a:ea typeface="Arial"/>
                <a:cs typeface="Arial"/>
                <a:sym typeface="Arial"/>
              </a:rPr>
              <a:t>surprised</a:t>
            </a:r>
            <a:r>
              <a:rPr b="0" i="0" lang="en" sz="1400" u="none" cap="none" strike="noStrike">
                <a:solidFill>
                  <a:schemeClr val="dk1"/>
                </a:solidFill>
                <a:latin typeface="Arial"/>
                <a:ea typeface="Arial"/>
                <a:cs typeface="Arial"/>
                <a:sym typeface="Arial"/>
              </a:rPr>
              <a:t>,	</a:t>
            </a:r>
            <a:r>
              <a:rPr b="0" i="0" lang="en" sz="2400" u="none" cap="none" strike="noStrike">
                <a:solidFill>
                  <a:schemeClr val="dk1"/>
                </a:solidFill>
                <a:latin typeface="Arial"/>
                <a:ea typeface="Arial"/>
                <a:cs typeface="Arial"/>
                <a:sym typeface="Arial"/>
              </a:rPr>
              <a:t>enthralled, </a:t>
            </a:r>
            <a:r>
              <a:rPr b="0" i="0" lang="en" sz="2400" u="none" cap="none" strike="noStrike">
                <a:solidFill>
                  <a:schemeClr val="dk1"/>
                </a:solidFill>
                <a:latin typeface="Georgia"/>
                <a:ea typeface="Georgia"/>
                <a:cs typeface="Georgia"/>
                <a:sym typeface="Georgia"/>
              </a:rPr>
              <a:t>depressed</a:t>
            </a:r>
            <a:endParaRPr b="0" i="0" sz="2400" u="none" cap="none" strike="noStrike">
              <a:solidFill>
                <a:schemeClr val="dk1"/>
              </a:solidFill>
              <a:latin typeface="Georgia"/>
              <a:ea typeface="Georgia"/>
              <a:cs typeface="Georgia"/>
              <a:sym typeface="Georgia"/>
            </a:endParaRPr>
          </a:p>
          <a:p>
            <a:pPr indent="0" lvl="0" marL="0" marR="0" rtl="0" algn="ctr">
              <a:spcBef>
                <a:spcPts val="100"/>
              </a:spcBef>
              <a:spcAft>
                <a:spcPts val="0"/>
              </a:spcAft>
              <a:buNone/>
            </a:pPr>
            <a:r>
              <a:rPr b="1" i="0" lang="en" sz="2400" u="none" cap="none" strike="noStrike">
                <a:solidFill>
                  <a:schemeClr val="dk1"/>
                </a:solidFill>
                <a:latin typeface="Georgia"/>
                <a:ea typeface="Georgia"/>
                <a:cs typeface="Georgia"/>
                <a:sym typeface="Georgia"/>
              </a:rPr>
              <a:t>(550 words)</a:t>
            </a:r>
            <a:endParaRPr b="0" i="0" sz="2400" u="none" cap="none" strike="noStrike">
              <a:solidFill>
                <a:schemeClr val="dk1"/>
              </a:solidFill>
              <a:latin typeface="Georgia"/>
              <a:ea typeface="Georgia"/>
              <a:cs typeface="Georgia"/>
              <a:sym typeface="Georg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1543454" y="1386260"/>
            <a:ext cx="2094300" cy="701700"/>
          </a:xfrm>
          <a:prstGeom prst="rect">
            <a:avLst/>
          </a:prstGeom>
          <a:noFill/>
          <a:ln>
            <a:noFill/>
          </a:ln>
        </p:spPr>
        <p:txBody>
          <a:bodyPr anchorCtr="0" anchor="ctr" bIns="0" lIns="0" spcFirstLastPara="1" rIns="0" wrap="square" tIns="9075">
            <a:spAutoFit/>
          </a:bodyPr>
          <a:lstStyle/>
          <a:p>
            <a:pPr indent="0" lvl="0" marL="0" rtl="0" algn="ctr">
              <a:lnSpc>
                <a:spcPct val="100000"/>
              </a:lnSpc>
              <a:spcBef>
                <a:spcPts val="0"/>
              </a:spcBef>
              <a:spcAft>
                <a:spcPts val="0"/>
              </a:spcAft>
              <a:buClr>
                <a:schemeClr val="dk1"/>
              </a:buClr>
              <a:buSzPts val="2400"/>
              <a:buFont typeface="Arial"/>
              <a:buNone/>
            </a:pPr>
            <a:r>
              <a:rPr lang="en" sz="2400">
                <a:latin typeface="Arial"/>
                <a:ea typeface="Arial"/>
                <a:cs typeface="Arial"/>
                <a:sym typeface="Arial"/>
              </a:rPr>
              <a:t>William James</a:t>
            </a:r>
            <a:endParaRPr sz="2400">
              <a:latin typeface="Arial"/>
              <a:ea typeface="Arial"/>
              <a:cs typeface="Arial"/>
              <a:sym typeface="Arial"/>
            </a:endParaRPr>
          </a:p>
          <a:p>
            <a:pPr indent="0" lvl="0" marL="0" rtl="0" algn="ctr">
              <a:lnSpc>
                <a:spcPct val="100000"/>
              </a:lnSpc>
              <a:spcBef>
                <a:spcPts val="0"/>
              </a:spcBef>
              <a:spcAft>
                <a:spcPts val="0"/>
              </a:spcAft>
              <a:buClr>
                <a:schemeClr val="dk1"/>
              </a:buClr>
              <a:buSzPts val="2100"/>
              <a:buFont typeface="Arial"/>
              <a:buNone/>
            </a:pPr>
            <a:r>
              <a:rPr lang="en" sz="2100">
                <a:latin typeface="Arial"/>
                <a:ea typeface="Arial"/>
                <a:cs typeface="Arial"/>
                <a:sym typeface="Arial"/>
              </a:rPr>
              <a:t>1842 - 1910</a:t>
            </a:r>
            <a:endParaRPr sz="2100">
              <a:latin typeface="Arial"/>
              <a:ea typeface="Arial"/>
              <a:cs typeface="Arial"/>
              <a:sym typeface="Arial"/>
            </a:endParaRPr>
          </a:p>
        </p:txBody>
      </p:sp>
      <p:pic>
        <p:nvPicPr>
          <p:cNvPr id="82" name="Google Shape;82;p17"/>
          <p:cNvPicPr preferRelativeResize="0"/>
          <p:nvPr/>
        </p:nvPicPr>
        <p:blipFill rotWithShape="1">
          <a:blip r:embed="rId3">
            <a:alphaModFix/>
          </a:blip>
          <a:srcRect b="0" l="0" r="0" t="0"/>
          <a:stretch/>
        </p:blipFill>
        <p:spPr>
          <a:xfrm>
            <a:off x="1359703" y="2571750"/>
            <a:ext cx="2523948" cy="1063500"/>
          </a:xfrm>
          <a:prstGeom prst="rect">
            <a:avLst/>
          </a:prstGeom>
          <a:noFill/>
          <a:ln>
            <a:noFill/>
          </a:ln>
        </p:spPr>
      </p:pic>
      <p:pic>
        <p:nvPicPr>
          <p:cNvPr id="83" name="Google Shape;83;p17"/>
          <p:cNvPicPr preferRelativeResize="0"/>
          <p:nvPr/>
        </p:nvPicPr>
        <p:blipFill rotWithShape="1">
          <a:blip r:embed="rId4">
            <a:alphaModFix/>
          </a:blip>
          <a:srcRect b="0" l="0" r="0" t="0"/>
          <a:stretch/>
        </p:blipFill>
        <p:spPr>
          <a:xfrm>
            <a:off x="4399913" y="0"/>
            <a:ext cx="3604274" cy="5143501"/>
          </a:xfrm>
          <a:prstGeom prst="rect">
            <a:avLst/>
          </a:prstGeom>
          <a:noFill/>
          <a:ln>
            <a:noFill/>
          </a:ln>
        </p:spPr>
      </p:pic>
      <p:sp>
        <p:nvSpPr>
          <p:cNvPr id="84" name="Google Shape;84;p17"/>
          <p:cNvSpPr txBox="1"/>
          <p:nvPr/>
        </p:nvSpPr>
        <p:spPr>
          <a:xfrm>
            <a:off x="2636019" y="4885425"/>
            <a:ext cx="1697400" cy="255900"/>
          </a:xfrm>
          <a:prstGeom prst="rect">
            <a:avLst/>
          </a:prstGeom>
          <a:noFill/>
          <a:ln>
            <a:noFill/>
          </a:ln>
        </p:spPr>
        <p:txBody>
          <a:bodyPr anchorCtr="0" anchor="t" bIns="0" lIns="0" spcFirstLastPara="1" rIns="0" wrap="square" tIns="9550">
            <a:spAutoFit/>
          </a:bodyPr>
          <a:lstStyle/>
          <a:p>
            <a:pPr indent="0" lvl="0" marL="12700" marR="0" rtl="0" algn="l">
              <a:spcBef>
                <a:spcPts val="0"/>
              </a:spcBef>
              <a:spcAft>
                <a:spcPts val="0"/>
              </a:spcAft>
              <a:buNone/>
            </a:pPr>
            <a:r>
              <a:rPr b="0" i="0" lang="en" sz="800" u="none" cap="none" strike="noStrike">
                <a:solidFill>
                  <a:schemeClr val="dk1"/>
                </a:solidFill>
                <a:latin typeface="Verdana"/>
                <a:ea typeface="Verdana"/>
                <a:cs typeface="Verdana"/>
                <a:sym typeface="Verdana"/>
              </a:rPr>
              <a:t>This image is in the public domain.</a:t>
            </a:r>
            <a:endParaRPr b="0" i="0" sz="800" u="none" cap="none" strike="noStrike">
              <a:solidFill>
                <a:schemeClr val="dk1"/>
              </a:solidFill>
              <a:latin typeface="Verdana"/>
              <a:ea typeface="Verdana"/>
              <a:cs typeface="Verdana"/>
              <a:sym typeface="Verdan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2678657" y="361406"/>
            <a:ext cx="4573500" cy="440700"/>
          </a:xfrm>
          <a:prstGeom prst="rect">
            <a:avLst/>
          </a:prstGeom>
          <a:noFill/>
          <a:ln>
            <a:noFill/>
          </a:ln>
        </p:spPr>
        <p:txBody>
          <a:bodyPr anchorCtr="0" anchor="ctr" bIns="0" lIns="0" spcFirstLastPara="1" rIns="0" wrap="square" tIns="9550">
            <a:spAutoFit/>
          </a:bodyPr>
          <a:lstStyle/>
          <a:p>
            <a:pPr indent="0" lvl="0" marL="12700" rtl="0" algn="l">
              <a:lnSpc>
                <a:spcPct val="100000"/>
              </a:lnSpc>
              <a:spcBef>
                <a:spcPts val="0"/>
              </a:spcBef>
              <a:spcAft>
                <a:spcPts val="0"/>
              </a:spcAft>
              <a:buClr>
                <a:schemeClr val="dk1"/>
              </a:buClr>
              <a:buSzPts val="3300"/>
              <a:buFont typeface="Constantia"/>
              <a:buNone/>
            </a:pPr>
            <a:r>
              <a:rPr lang="en"/>
              <a:t>Definition of Emotion</a:t>
            </a:r>
            <a:endParaRPr/>
          </a:p>
        </p:txBody>
      </p:sp>
      <p:sp>
        <p:nvSpPr>
          <p:cNvPr id="90" name="Google Shape;90;p18"/>
          <p:cNvSpPr txBox="1"/>
          <p:nvPr>
            <p:ph idx="1" type="body"/>
          </p:nvPr>
        </p:nvSpPr>
        <p:spPr>
          <a:xfrm>
            <a:off x="722400" y="1468899"/>
            <a:ext cx="7916100" cy="1364100"/>
          </a:xfrm>
          <a:prstGeom prst="rect">
            <a:avLst/>
          </a:prstGeom>
          <a:noFill/>
          <a:ln>
            <a:noFill/>
          </a:ln>
        </p:spPr>
        <p:txBody>
          <a:bodyPr anchorCtr="0" anchor="t" bIns="0" lIns="0" spcFirstLastPara="1" rIns="0" wrap="square" tIns="9550">
            <a:spAutoFit/>
          </a:bodyPr>
          <a:lstStyle/>
          <a:p>
            <a:pPr indent="0" lvl="0" marL="0" marR="228600" rtl="0" algn="just">
              <a:lnSpc>
                <a:spcPct val="100000"/>
              </a:lnSpc>
              <a:spcBef>
                <a:spcPts val="0"/>
              </a:spcBef>
              <a:spcAft>
                <a:spcPts val="1200"/>
              </a:spcAft>
              <a:buClr>
                <a:schemeClr val="dk1"/>
              </a:buClr>
              <a:buSzPts val="2100"/>
              <a:buNone/>
            </a:pPr>
            <a:r>
              <a:rPr lang="en" sz="2200">
                <a:solidFill>
                  <a:schemeClr val="dk1"/>
                </a:solidFill>
              </a:rPr>
              <a:t>Emotions are biologically-based  responses to situations that are seen  as personally relevant. They are shaped by learning, and usually  involve changes in peripheral  physiology, expressive behavior, and  subjective experience.</a:t>
            </a:r>
            <a:endParaRPr sz="22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p19"/>
          <p:cNvPicPr preferRelativeResize="0"/>
          <p:nvPr/>
        </p:nvPicPr>
        <p:blipFill>
          <a:blip r:embed="rId3">
            <a:alphaModFix/>
          </a:blip>
          <a:stretch>
            <a:fillRect/>
          </a:stretch>
        </p:blipFill>
        <p:spPr>
          <a:xfrm>
            <a:off x="234250" y="142375"/>
            <a:ext cx="8668276" cy="4875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p:nvPr/>
        </p:nvSpPr>
        <p:spPr>
          <a:xfrm>
            <a:off x="1139813" y="0"/>
            <a:ext cx="6861747" cy="5141531"/>
          </a:xfrm>
          <a:custGeom>
            <a:rect b="b" l="l" r="r" t="t"/>
            <a:pathLst>
              <a:path extrusionOk="0" h="6832600" w="9118600">
                <a:moveTo>
                  <a:pt x="9118600" y="6832600"/>
                </a:moveTo>
                <a:lnTo>
                  <a:pt x="9118600" y="0"/>
                </a:lnTo>
                <a:lnTo>
                  <a:pt x="0" y="0"/>
                </a:lnTo>
                <a:lnTo>
                  <a:pt x="0" y="6832600"/>
                </a:lnTo>
                <a:lnTo>
                  <a:pt x="9118600" y="6832600"/>
                </a:lnTo>
                <a:close/>
              </a:path>
            </a:pathLst>
          </a:custGeom>
          <a:solidFill>
            <a:srgbClr val="00008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nvGrpSpPr>
          <p:cNvPr id="101" name="Google Shape;101;p20"/>
          <p:cNvGrpSpPr/>
          <p:nvPr/>
        </p:nvGrpSpPr>
        <p:grpSpPr>
          <a:xfrm>
            <a:off x="2367007" y="788937"/>
            <a:ext cx="4054155" cy="4158843"/>
            <a:chOff x="1630172" y="1048003"/>
            <a:chExt cx="5385434" cy="5524499"/>
          </a:xfrm>
        </p:grpSpPr>
        <p:sp>
          <p:nvSpPr>
            <p:cNvPr id="102" name="Google Shape;102;p20"/>
            <p:cNvSpPr/>
            <p:nvPr/>
          </p:nvSpPr>
          <p:spPr>
            <a:xfrm>
              <a:off x="1630172" y="1048003"/>
              <a:ext cx="5385434" cy="5505450"/>
            </a:xfrm>
            <a:custGeom>
              <a:rect b="b" l="l" r="r" t="t"/>
              <a:pathLst>
                <a:path extrusionOk="0" h="5505450" w="5385434">
                  <a:moveTo>
                    <a:pt x="5385054" y="5505450"/>
                  </a:moveTo>
                  <a:lnTo>
                    <a:pt x="5385054" y="0"/>
                  </a:lnTo>
                  <a:lnTo>
                    <a:pt x="0" y="0"/>
                  </a:lnTo>
                  <a:lnTo>
                    <a:pt x="0" y="5505450"/>
                  </a:lnTo>
                  <a:lnTo>
                    <a:pt x="5385054" y="550545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3" name="Google Shape;103;p20"/>
            <p:cNvSpPr/>
            <p:nvPr/>
          </p:nvSpPr>
          <p:spPr>
            <a:xfrm>
              <a:off x="1742187" y="1182117"/>
              <a:ext cx="5118734" cy="5232400"/>
            </a:xfrm>
            <a:custGeom>
              <a:rect b="b" l="l" r="r" t="t"/>
              <a:pathLst>
                <a:path extrusionOk="0" h="5232400" w="5118734">
                  <a:moveTo>
                    <a:pt x="5118342" y="0"/>
                  </a:moveTo>
                  <a:lnTo>
                    <a:pt x="0" y="0"/>
                  </a:lnTo>
                  <a:lnTo>
                    <a:pt x="0" y="5231891"/>
                  </a:lnTo>
                  <a:lnTo>
                    <a:pt x="5118342" y="5231891"/>
                  </a:lnTo>
                  <a:lnTo>
                    <a:pt x="5118342" y="0"/>
                  </a:lnTo>
                  <a:close/>
                </a:path>
              </a:pathLst>
            </a:custGeom>
            <a:noFill/>
            <a:ln cap="flat" cmpd="sng" w="37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4" name="Google Shape;104;p20"/>
            <p:cNvSpPr/>
            <p:nvPr/>
          </p:nvSpPr>
          <p:spPr>
            <a:xfrm>
              <a:off x="3233417" y="2701550"/>
              <a:ext cx="2159635" cy="2208529"/>
            </a:xfrm>
            <a:custGeom>
              <a:rect b="b" l="l" r="r" t="t"/>
              <a:pathLst>
                <a:path extrusionOk="0" h="2208529" w="2159635">
                  <a:moveTo>
                    <a:pt x="0" y="0"/>
                  </a:moveTo>
                  <a:lnTo>
                    <a:pt x="2159509" y="2208279"/>
                  </a:lnTo>
                </a:path>
                <a:path extrusionOk="0" h="2208529" w="2159635">
                  <a:moveTo>
                    <a:pt x="2132077" y="0"/>
                  </a:moveTo>
                  <a:lnTo>
                    <a:pt x="0" y="2179323"/>
                  </a:lnTo>
                </a:path>
              </a:pathLst>
            </a:custGeom>
            <a:noFill/>
            <a:ln cap="flat" cmpd="sng" w="311875">
              <a:solidFill>
                <a:srgbClr val="FF0033"/>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id="105" name="Google Shape;105;p20"/>
            <p:cNvPicPr preferRelativeResize="0"/>
            <p:nvPr/>
          </p:nvPicPr>
          <p:blipFill rotWithShape="1">
            <a:blip r:embed="rId3">
              <a:alphaModFix/>
            </a:blip>
            <a:srcRect b="0" l="0" r="0" t="0"/>
            <a:stretch/>
          </p:blipFill>
          <p:spPr>
            <a:xfrm>
              <a:off x="1644650" y="1128775"/>
              <a:ext cx="5333999" cy="5443727"/>
            </a:xfrm>
            <a:prstGeom prst="rect">
              <a:avLst/>
            </a:prstGeom>
            <a:noFill/>
            <a:ln>
              <a:noFill/>
            </a:ln>
          </p:spPr>
        </p:pic>
      </p:grpSp>
      <p:sp>
        <p:nvSpPr>
          <p:cNvPr id="106" name="Google Shape;106;p20"/>
          <p:cNvSpPr txBox="1"/>
          <p:nvPr>
            <p:ph type="title"/>
          </p:nvPr>
        </p:nvSpPr>
        <p:spPr>
          <a:xfrm>
            <a:off x="2399110" y="120283"/>
            <a:ext cx="4034100" cy="554100"/>
          </a:xfrm>
          <a:prstGeom prst="rect">
            <a:avLst/>
          </a:prstGeom>
          <a:solidFill>
            <a:srgbClr val="4618C6"/>
          </a:solidFill>
          <a:ln cap="flat" cmpd="sng" w="28575">
            <a:solidFill>
              <a:srgbClr val="EF1F1D"/>
            </a:solidFill>
            <a:prstDash val="solid"/>
            <a:round/>
            <a:headEnd len="sm" w="sm" type="none"/>
            <a:tailEnd len="sm" w="sm" type="none"/>
          </a:ln>
        </p:spPr>
        <p:txBody>
          <a:bodyPr anchorCtr="0" anchor="ctr" bIns="0" lIns="0" spcFirstLastPara="1" rIns="0" wrap="square" tIns="0">
            <a:spAutoFit/>
          </a:bodyPr>
          <a:lstStyle/>
          <a:p>
            <a:pPr indent="0" lvl="0" marL="228600" rtl="0" algn="l">
              <a:lnSpc>
                <a:spcPct val="112598"/>
              </a:lnSpc>
              <a:spcBef>
                <a:spcPts val="0"/>
              </a:spcBef>
              <a:spcAft>
                <a:spcPts val="0"/>
              </a:spcAft>
              <a:buClr>
                <a:srgbClr val="FFCC00"/>
              </a:buClr>
              <a:buSzPts val="3600"/>
              <a:buFont typeface="Times New Roman"/>
              <a:buNone/>
            </a:pPr>
            <a:r>
              <a:rPr lang="en" sz="3600">
                <a:solidFill>
                  <a:srgbClr val="FFCC00"/>
                </a:solidFill>
                <a:latin typeface="Times New Roman"/>
                <a:ea typeface="Times New Roman"/>
                <a:cs typeface="Times New Roman"/>
                <a:sym typeface="Times New Roman"/>
              </a:rPr>
              <a:t>Six Basic Emotions</a:t>
            </a:r>
            <a:endParaRPr sz="3600">
              <a:latin typeface="Times New Roman"/>
              <a:ea typeface="Times New Roman"/>
              <a:cs typeface="Times New Roman"/>
              <a:sym typeface="Times New Roman"/>
            </a:endParaRPr>
          </a:p>
        </p:txBody>
      </p:sp>
      <p:sp>
        <p:nvSpPr>
          <p:cNvPr id="107" name="Google Shape;107;p20"/>
          <p:cNvSpPr txBox="1"/>
          <p:nvPr/>
        </p:nvSpPr>
        <p:spPr>
          <a:xfrm>
            <a:off x="6464980" y="4120580"/>
            <a:ext cx="1376400" cy="1053600"/>
          </a:xfrm>
          <a:prstGeom prst="rect">
            <a:avLst/>
          </a:prstGeom>
          <a:noFill/>
          <a:ln>
            <a:noFill/>
          </a:ln>
        </p:spPr>
        <p:txBody>
          <a:bodyPr anchorCtr="0" anchor="t" bIns="0" lIns="0" spcFirstLastPara="1" rIns="0" wrap="square" tIns="11450">
            <a:spAutoFit/>
          </a:bodyPr>
          <a:lstStyle/>
          <a:p>
            <a:pPr indent="-12700" lvl="0" marL="25400" marR="0" rtl="0" algn="l">
              <a:lnSpc>
                <a:spcPct val="106600"/>
              </a:lnSpc>
              <a:spcBef>
                <a:spcPts val="0"/>
              </a:spcBef>
              <a:spcAft>
                <a:spcPts val="0"/>
              </a:spcAft>
              <a:buNone/>
            </a:pPr>
            <a:r>
              <a:rPr lang="en" sz="800">
                <a:solidFill>
                  <a:srgbClr val="AABF00"/>
                </a:solidFill>
                <a:latin typeface="Verdana"/>
                <a:ea typeface="Verdana"/>
                <a:cs typeface="Verdana"/>
                <a:sym typeface="Verdana"/>
              </a:rPr>
              <a:t>© Paul Ekman. All rights  reserved. This content is  excluded from our Creative  Commons license. For more  information, see  </a:t>
            </a:r>
            <a:r>
              <a:rPr lang="en" sz="800" u="sng">
                <a:solidFill>
                  <a:srgbClr val="FFAABF"/>
                </a:solidFill>
                <a:latin typeface="Verdana"/>
                <a:ea typeface="Verdana"/>
                <a:cs typeface="Verdana"/>
                <a:sym typeface="Verdana"/>
                <a:hlinkClick r:id="rId4">
                  <a:extLst>
                    <a:ext uri="{A12FA001-AC4F-418D-AE19-62706E023703}">
                      <ahyp:hlinkClr val="tx"/>
                    </a:ext>
                  </a:extLst>
                </a:hlinkClick>
              </a:rPr>
              <a:t>http://ocw.mit.edu/fairuse</a:t>
            </a:r>
            <a:r>
              <a:rPr lang="en" sz="800">
                <a:solidFill>
                  <a:srgbClr val="AABF00"/>
                </a:solidFill>
                <a:latin typeface="Verdana"/>
                <a:ea typeface="Verdana"/>
                <a:cs typeface="Verdana"/>
                <a:sym typeface="Verdana"/>
              </a:rPr>
              <a:t>.</a:t>
            </a:r>
            <a:endParaRPr sz="800">
              <a:solidFill>
                <a:schemeClr val="dk1"/>
              </a:solidFill>
              <a:latin typeface="Verdana"/>
              <a:ea typeface="Verdana"/>
              <a:cs typeface="Verdana"/>
              <a:sym typeface="Verdan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2149095" y="461200"/>
            <a:ext cx="5762100" cy="517200"/>
          </a:xfrm>
          <a:prstGeom prst="rect">
            <a:avLst/>
          </a:prstGeom>
          <a:noFill/>
          <a:ln>
            <a:noFill/>
          </a:ln>
        </p:spPr>
        <p:txBody>
          <a:bodyPr anchorCtr="0" anchor="ctr" bIns="0" lIns="0" spcFirstLastPara="1" rIns="0" wrap="square" tIns="9075">
            <a:spAutoFit/>
          </a:bodyPr>
          <a:lstStyle/>
          <a:p>
            <a:pPr indent="0" lvl="0" marL="12700" rtl="0" algn="l">
              <a:lnSpc>
                <a:spcPct val="100000"/>
              </a:lnSpc>
              <a:spcBef>
                <a:spcPts val="0"/>
              </a:spcBef>
              <a:spcAft>
                <a:spcPts val="0"/>
              </a:spcAft>
              <a:buClr>
                <a:schemeClr val="dk1"/>
              </a:buClr>
              <a:buSzPts val="3300"/>
              <a:buFont typeface="Constantia"/>
              <a:buNone/>
            </a:pPr>
            <a:r>
              <a:rPr lang="en" sz="3300"/>
              <a:t>EMOTION vs. MOOD</a:t>
            </a:r>
            <a:endParaRPr sz="3300"/>
          </a:p>
        </p:txBody>
      </p:sp>
      <p:sp>
        <p:nvSpPr>
          <p:cNvPr id="113" name="Google Shape;113;p21"/>
          <p:cNvSpPr txBox="1"/>
          <p:nvPr/>
        </p:nvSpPr>
        <p:spPr>
          <a:xfrm>
            <a:off x="1976900" y="1628001"/>
            <a:ext cx="6208800" cy="2025600"/>
          </a:xfrm>
          <a:prstGeom prst="rect">
            <a:avLst/>
          </a:prstGeom>
          <a:noFill/>
          <a:ln>
            <a:noFill/>
          </a:ln>
        </p:spPr>
        <p:txBody>
          <a:bodyPr anchorCtr="0" anchor="t" bIns="0" lIns="0" spcFirstLastPara="1" rIns="0" wrap="square" tIns="9075">
            <a:spAutoFit/>
          </a:bodyPr>
          <a:lstStyle/>
          <a:p>
            <a:pPr indent="-25400" lvl="0" marL="50800" marR="1270000" rtl="0" algn="l">
              <a:spcBef>
                <a:spcPts val="0"/>
              </a:spcBef>
              <a:spcAft>
                <a:spcPts val="0"/>
              </a:spcAft>
              <a:buClr>
                <a:schemeClr val="dk1"/>
              </a:buClr>
              <a:buSzPts val="2400"/>
              <a:buFont typeface="Arial"/>
              <a:buChar char="•"/>
            </a:pPr>
            <a:r>
              <a:rPr b="1" i="1" lang="en" sz="2400">
                <a:solidFill>
                  <a:schemeClr val="dk1"/>
                </a:solidFill>
                <a:latin typeface="Constantia"/>
                <a:ea typeface="Constantia"/>
                <a:cs typeface="Constantia"/>
                <a:sym typeface="Constantia"/>
              </a:rPr>
              <a:t>Mood </a:t>
            </a:r>
            <a:r>
              <a:rPr b="1" lang="en" sz="2400">
                <a:solidFill>
                  <a:schemeClr val="dk1"/>
                </a:solidFill>
                <a:latin typeface="Constantia"/>
                <a:ea typeface="Constantia"/>
                <a:cs typeface="Constantia"/>
                <a:sym typeface="Constantia"/>
              </a:rPr>
              <a:t>- diffuse, long-lasting  emotional states</a:t>
            </a:r>
            <a:endParaRPr sz="2400">
              <a:solidFill>
                <a:schemeClr val="dk1"/>
              </a:solidFill>
              <a:latin typeface="Constantia"/>
              <a:ea typeface="Constantia"/>
              <a:cs typeface="Constantia"/>
              <a:sym typeface="Constantia"/>
            </a:endParaRPr>
          </a:p>
          <a:p>
            <a:pPr indent="0" lvl="0" marL="0" marR="0" rtl="0" algn="l">
              <a:spcBef>
                <a:spcPts val="0"/>
              </a:spcBef>
              <a:spcAft>
                <a:spcPts val="0"/>
              </a:spcAft>
              <a:buClr>
                <a:schemeClr val="dk1"/>
              </a:buClr>
              <a:buSzPts val="3500"/>
              <a:buFont typeface="Arial"/>
              <a:buNone/>
            </a:pPr>
            <a:r>
              <a:t/>
            </a:r>
            <a:endParaRPr sz="3500">
              <a:solidFill>
                <a:schemeClr val="dk1"/>
              </a:solidFill>
              <a:latin typeface="Constantia"/>
              <a:ea typeface="Constantia"/>
              <a:cs typeface="Constantia"/>
              <a:sym typeface="Constantia"/>
            </a:endParaRPr>
          </a:p>
          <a:p>
            <a:pPr indent="-38100" lvl="0" marL="50800" marR="0" rtl="0" algn="l">
              <a:spcBef>
                <a:spcPts val="0"/>
              </a:spcBef>
              <a:spcAft>
                <a:spcPts val="0"/>
              </a:spcAft>
              <a:buClr>
                <a:schemeClr val="dk1"/>
              </a:buClr>
              <a:buSzPts val="2400"/>
              <a:buFont typeface="Arial"/>
              <a:buChar char="•"/>
            </a:pPr>
            <a:r>
              <a:rPr b="1" i="1" lang="en" sz="2400">
                <a:solidFill>
                  <a:schemeClr val="dk1"/>
                </a:solidFill>
                <a:latin typeface="Constantia"/>
                <a:ea typeface="Constantia"/>
                <a:cs typeface="Constantia"/>
                <a:sym typeface="Constantia"/>
              </a:rPr>
              <a:t>Emotion </a:t>
            </a:r>
            <a:r>
              <a:rPr b="1" lang="en" sz="2400">
                <a:solidFill>
                  <a:schemeClr val="dk1"/>
                </a:solidFill>
                <a:latin typeface="Constantia"/>
                <a:ea typeface="Constantia"/>
                <a:cs typeface="Constantia"/>
                <a:sym typeface="Constantia"/>
              </a:rPr>
              <a:t>- immediate responses to a  specific object or situation</a:t>
            </a:r>
            <a:endParaRPr sz="2400">
              <a:solidFill>
                <a:schemeClr val="dk1"/>
              </a:solidFill>
              <a:latin typeface="Constantia"/>
              <a:ea typeface="Constantia"/>
              <a:cs typeface="Constantia"/>
              <a:sym typeface="Constanti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p22"/>
          <p:cNvPicPr preferRelativeResize="0"/>
          <p:nvPr/>
        </p:nvPicPr>
        <p:blipFill>
          <a:blip r:embed="rId3">
            <a:alphaModFix/>
          </a:blip>
          <a:stretch>
            <a:fillRect/>
          </a:stretch>
        </p:blipFill>
        <p:spPr>
          <a:xfrm>
            <a:off x="0" y="0"/>
            <a:ext cx="9088350" cy="511219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23"/>
          <p:cNvPicPr preferRelativeResize="0"/>
          <p:nvPr/>
        </p:nvPicPr>
        <p:blipFill rotWithShape="1">
          <a:blip r:embed="rId3">
            <a:alphaModFix/>
          </a:blip>
          <a:srcRect b="0" l="0" r="0" t="0"/>
          <a:stretch/>
        </p:blipFill>
        <p:spPr>
          <a:xfrm>
            <a:off x="211150" y="1449950"/>
            <a:ext cx="8829400" cy="1597500"/>
          </a:xfrm>
          <a:prstGeom prst="rect">
            <a:avLst/>
          </a:prstGeom>
          <a:noFill/>
          <a:ln>
            <a:noFill/>
          </a:ln>
        </p:spPr>
      </p:pic>
      <p:sp>
        <p:nvSpPr>
          <p:cNvPr id="124" name="Google Shape;124;p23"/>
          <p:cNvSpPr txBox="1"/>
          <p:nvPr/>
        </p:nvSpPr>
        <p:spPr>
          <a:xfrm>
            <a:off x="2761949" y="4010708"/>
            <a:ext cx="3993000" cy="497100"/>
          </a:xfrm>
          <a:prstGeom prst="rect">
            <a:avLst/>
          </a:prstGeom>
          <a:noFill/>
          <a:ln>
            <a:noFill/>
          </a:ln>
        </p:spPr>
        <p:txBody>
          <a:bodyPr anchorCtr="0" anchor="t" bIns="0" lIns="0" spcFirstLastPara="1" rIns="0" wrap="square" tIns="9550">
            <a:spAutoFit/>
          </a:bodyPr>
          <a:lstStyle/>
          <a:p>
            <a:pPr indent="0" lvl="0" marL="12700" marR="0" rtl="0" algn="just">
              <a:lnSpc>
                <a:spcPct val="108300"/>
              </a:lnSpc>
              <a:spcBef>
                <a:spcPts val="0"/>
              </a:spcBef>
              <a:spcAft>
                <a:spcPts val="0"/>
              </a:spcAft>
              <a:buNone/>
            </a:pPr>
            <a:r>
              <a:rPr lang="en" sz="1000">
                <a:solidFill>
                  <a:schemeClr val="dk1"/>
                </a:solidFill>
                <a:latin typeface="Verdana"/>
                <a:ea typeface="Verdana"/>
                <a:cs typeface="Verdana"/>
                <a:sym typeface="Verdana"/>
              </a:rPr>
              <a:t>© source unknown. All rights reserved. This content is excluded from our Creative  Commons license. For more information, see </a:t>
            </a:r>
            <a:r>
              <a:rPr lang="en" sz="1000" u="sng">
                <a:solidFill>
                  <a:srgbClr val="0000FF"/>
                </a:solidFill>
                <a:latin typeface="Verdana"/>
                <a:ea typeface="Verdana"/>
                <a:cs typeface="Verdana"/>
                <a:sym typeface="Verdana"/>
                <a:hlinkClick r:id="rId4">
                  <a:extLst>
                    <a:ext uri="{A12FA001-AC4F-418D-AE19-62706E023703}">
                      <ahyp:hlinkClr val="tx"/>
                    </a:ext>
                  </a:extLst>
                </a:hlinkClick>
              </a:rPr>
              <a:t>http://ocw.mit.edu/fairuse</a:t>
            </a:r>
            <a:r>
              <a:rPr lang="en" sz="1000">
                <a:solidFill>
                  <a:schemeClr val="dk1"/>
                </a:solidFill>
                <a:latin typeface="Verdana"/>
                <a:ea typeface="Verdana"/>
                <a:cs typeface="Verdana"/>
                <a:sym typeface="Verdana"/>
              </a:rPr>
              <a:t>.</a:t>
            </a:r>
            <a:endParaRPr sz="1000">
              <a:solidFill>
                <a:schemeClr val="dk1"/>
              </a:solidFill>
              <a:latin typeface="Verdana"/>
              <a:ea typeface="Verdana"/>
              <a:cs typeface="Verdana"/>
              <a:sym typeface="Verdan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24"/>
          <p:cNvPicPr preferRelativeResize="0"/>
          <p:nvPr/>
        </p:nvPicPr>
        <p:blipFill rotWithShape="1">
          <a:blip r:embed="rId3">
            <a:alphaModFix/>
          </a:blip>
          <a:srcRect b="146" l="-2532" r="0" t="-4595"/>
          <a:stretch/>
        </p:blipFill>
        <p:spPr>
          <a:xfrm>
            <a:off x="524300" y="0"/>
            <a:ext cx="7912251" cy="4848426"/>
          </a:xfrm>
          <a:prstGeom prst="rect">
            <a:avLst/>
          </a:prstGeom>
          <a:noFill/>
          <a:ln>
            <a:noFill/>
          </a:ln>
        </p:spPr>
      </p:pic>
      <p:sp>
        <p:nvSpPr>
          <p:cNvPr id="130" name="Google Shape;130;p24"/>
          <p:cNvSpPr txBox="1"/>
          <p:nvPr/>
        </p:nvSpPr>
        <p:spPr>
          <a:xfrm>
            <a:off x="7729421" y="0"/>
            <a:ext cx="242400" cy="378600"/>
          </a:xfrm>
          <a:prstGeom prst="rect">
            <a:avLst/>
          </a:prstGeom>
          <a:noFill/>
          <a:ln>
            <a:noFill/>
          </a:ln>
        </p:spPr>
        <p:txBody>
          <a:bodyPr anchorCtr="0" anchor="t" bIns="0" lIns="0" spcFirstLastPara="1" rIns="0" wrap="square" tIns="9075">
            <a:spAutoFit/>
          </a:bodyPr>
          <a:lstStyle/>
          <a:p>
            <a:pPr indent="0" lvl="0" marL="12700" marR="0" rtl="0" algn="l">
              <a:spcBef>
                <a:spcPts val="0"/>
              </a:spcBef>
              <a:spcAft>
                <a:spcPts val="0"/>
              </a:spcAft>
              <a:buNone/>
            </a:pPr>
            <a:r>
              <a:rPr lang="en" sz="2400">
                <a:solidFill>
                  <a:srgbClr val="A50021"/>
                </a:solidFill>
                <a:latin typeface="Arimo"/>
                <a:ea typeface="Arimo"/>
                <a:cs typeface="Arimo"/>
                <a:sym typeface="Arimo"/>
              </a:rPr>
              <a:t>ψ</a:t>
            </a:r>
            <a:endParaRPr sz="2400">
              <a:solidFill>
                <a:schemeClr val="dk1"/>
              </a:solidFill>
              <a:latin typeface="Arimo"/>
              <a:ea typeface="Arimo"/>
              <a:cs typeface="Arimo"/>
              <a:sym typeface="Arimo"/>
            </a:endParaRPr>
          </a:p>
        </p:txBody>
      </p:sp>
      <p:sp>
        <p:nvSpPr>
          <p:cNvPr id="131" name="Google Shape;131;p24"/>
          <p:cNvSpPr txBox="1"/>
          <p:nvPr/>
        </p:nvSpPr>
        <p:spPr>
          <a:xfrm>
            <a:off x="1389550" y="4839200"/>
            <a:ext cx="5422800" cy="266100"/>
          </a:xfrm>
          <a:prstGeom prst="rect">
            <a:avLst/>
          </a:prstGeom>
          <a:noFill/>
          <a:ln>
            <a:noFill/>
          </a:ln>
        </p:spPr>
        <p:txBody>
          <a:bodyPr anchorCtr="0" anchor="t" bIns="0" lIns="0" spcFirstLastPara="1" rIns="0" wrap="square" tIns="9550">
            <a:spAutoFit/>
          </a:bodyPr>
          <a:lstStyle/>
          <a:p>
            <a:pPr indent="0" lvl="0" marL="12700" marR="0" rtl="0" algn="l">
              <a:lnSpc>
                <a:spcPct val="108300"/>
              </a:lnSpc>
              <a:spcBef>
                <a:spcPts val="0"/>
              </a:spcBef>
              <a:spcAft>
                <a:spcPts val="0"/>
              </a:spcAft>
              <a:buNone/>
            </a:pPr>
            <a:r>
              <a:rPr lang="en" sz="800">
                <a:solidFill>
                  <a:srgbClr val="FFFFFF"/>
                </a:solidFill>
                <a:latin typeface="Verdana"/>
                <a:ea typeface="Verdana"/>
                <a:cs typeface="Verdana"/>
                <a:sym typeface="Verdana"/>
              </a:rPr>
              <a:t>© source unknown. All rights reserved. This content is excluded from our Creative  Commons license. For more information, see </a:t>
            </a:r>
            <a:r>
              <a:rPr lang="en" sz="800" u="sng">
                <a:solidFill>
                  <a:srgbClr val="FFAABF"/>
                </a:solidFill>
                <a:latin typeface="Verdana"/>
                <a:ea typeface="Verdana"/>
                <a:cs typeface="Verdana"/>
                <a:sym typeface="Verdana"/>
                <a:hlinkClick r:id="rId4">
                  <a:extLst>
                    <a:ext uri="{A12FA001-AC4F-418D-AE19-62706E023703}">
                      <ahyp:hlinkClr val="tx"/>
                    </a:ext>
                  </a:extLst>
                </a:hlinkClick>
              </a:rPr>
              <a:t>http://ocw.mit.edu/fairuse</a:t>
            </a:r>
            <a:r>
              <a:rPr lang="en" sz="800">
                <a:solidFill>
                  <a:srgbClr val="FFFFFF"/>
                </a:solidFill>
                <a:latin typeface="Verdana"/>
                <a:ea typeface="Verdana"/>
                <a:cs typeface="Verdana"/>
                <a:sym typeface="Verdana"/>
              </a:rPr>
              <a:t>.</a:t>
            </a:r>
            <a:endParaRPr sz="800">
              <a:solidFill>
                <a:schemeClr val="dk1"/>
              </a:solidFill>
              <a:latin typeface="Verdana"/>
              <a:ea typeface="Verdana"/>
              <a:cs typeface="Verdana"/>
              <a:sym typeface="Verdan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nvSpPr>
        <p:spPr>
          <a:xfrm>
            <a:off x="613540" y="1286780"/>
            <a:ext cx="4584000" cy="1625700"/>
          </a:xfrm>
          <a:prstGeom prst="rect">
            <a:avLst/>
          </a:prstGeom>
          <a:noFill/>
          <a:ln>
            <a:noFill/>
          </a:ln>
        </p:spPr>
        <p:txBody>
          <a:bodyPr anchorCtr="0" anchor="t" bIns="0" lIns="0" spcFirstLastPara="1" rIns="0" wrap="square" tIns="9550">
            <a:spAutoFit/>
          </a:bodyPr>
          <a:lstStyle/>
          <a:p>
            <a:pPr indent="0" lvl="0" marL="1651000" marR="0" rtl="0" algn="l">
              <a:spcBef>
                <a:spcPts val="0"/>
              </a:spcBef>
              <a:spcAft>
                <a:spcPts val="0"/>
              </a:spcAft>
              <a:buNone/>
            </a:pPr>
            <a:r>
              <a:t/>
            </a:r>
            <a:endParaRPr sz="1500">
              <a:solidFill>
                <a:schemeClr val="dk1"/>
              </a:solidFill>
              <a:latin typeface="Constantia"/>
              <a:ea typeface="Constantia"/>
              <a:cs typeface="Constantia"/>
              <a:sym typeface="Constantia"/>
            </a:endParaRPr>
          </a:p>
          <a:p>
            <a:pPr indent="0" lvl="0" marL="12700" marR="0" rtl="0" algn="l">
              <a:spcBef>
                <a:spcPts val="0"/>
              </a:spcBef>
              <a:spcAft>
                <a:spcPts val="0"/>
              </a:spcAft>
              <a:buNone/>
            </a:pPr>
            <a:r>
              <a:rPr b="1" lang="en" sz="1500">
                <a:solidFill>
                  <a:schemeClr val="dk1"/>
                </a:solidFill>
                <a:latin typeface="Constantia"/>
                <a:ea typeface="Constantia"/>
                <a:cs typeface="Constantia"/>
                <a:sym typeface="Constantia"/>
              </a:rPr>
              <a:t>Early Displays of Emotion: </a:t>
            </a:r>
            <a:endParaRPr sz="1100"/>
          </a:p>
          <a:p>
            <a:pPr indent="0" lvl="0" marL="12700" marR="0" rtl="0" algn="l">
              <a:spcBef>
                <a:spcPts val="0"/>
              </a:spcBef>
              <a:spcAft>
                <a:spcPts val="0"/>
              </a:spcAft>
              <a:buNone/>
            </a:pPr>
            <a:r>
              <a:t/>
            </a:r>
            <a:endParaRPr b="1" sz="1500">
              <a:solidFill>
                <a:schemeClr val="dk1"/>
              </a:solidFill>
              <a:latin typeface="Constantia"/>
              <a:ea typeface="Constantia"/>
              <a:cs typeface="Constantia"/>
              <a:sym typeface="Constantia"/>
            </a:endParaRPr>
          </a:p>
          <a:p>
            <a:pPr indent="0" lvl="0" marL="12700" marR="0" rtl="0" algn="l">
              <a:spcBef>
                <a:spcPts val="0"/>
              </a:spcBef>
              <a:spcAft>
                <a:spcPts val="0"/>
              </a:spcAft>
              <a:buNone/>
            </a:pPr>
            <a:r>
              <a:t/>
            </a:r>
            <a:endParaRPr b="1" sz="1500">
              <a:solidFill>
                <a:schemeClr val="dk1"/>
              </a:solidFill>
              <a:latin typeface="Constantia"/>
              <a:ea typeface="Constantia"/>
              <a:cs typeface="Constantia"/>
              <a:sym typeface="Constantia"/>
            </a:endParaRPr>
          </a:p>
          <a:p>
            <a:pPr indent="0" lvl="0" marL="12700" marR="0" rtl="0" algn="l">
              <a:spcBef>
                <a:spcPts val="0"/>
              </a:spcBef>
              <a:spcAft>
                <a:spcPts val="0"/>
              </a:spcAft>
              <a:buNone/>
            </a:pPr>
            <a:r>
              <a:rPr b="1" lang="en" sz="1500">
                <a:solidFill>
                  <a:schemeClr val="dk1"/>
                </a:solidFill>
                <a:latin typeface="Constantia"/>
                <a:ea typeface="Constantia"/>
                <a:cs typeface="Constantia"/>
                <a:sym typeface="Constantia"/>
              </a:rPr>
              <a:t>Infants display emotions that are distinguishable and similar to facial  displays among adults such as joy, disgust, surprise, sadness, anger,  and fear.</a:t>
            </a:r>
            <a:endParaRPr sz="1500">
              <a:solidFill>
                <a:schemeClr val="dk1"/>
              </a:solidFill>
              <a:latin typeface="Constantia"/>
              <a:ea typeface="Constantia"/>
              <a:cs typeface="Constantia"/>
              <a:sym typeface="Constantia"/>
            </a:endParaRPr>
          </a:p>
        </p:txBody>
      </p:sp>
      <p:sp>
        <p:nvSpPr>
          <p:cNvPr id="137" name="Google Shape;137;p25"/>
          <p:cNvSpPr txBox="1"/>
          <p:nvPr>
            <p:ph type="title"/>
          </p:nvPr>
        </p:nvSpPr>
        <p:spPr>
          <a:xfrm>
            <a:off x="2966043" y="182794"/>
            <a:ext cx="3078000" cy="425100"/>
          </a:xfrm>
          <a:prstGeom prst="rect">
            <a:avLst/>
          </a:prstGeom>
          <a:noFill/>
          <a:ln>
            <a:noFill/>
          </a:ln>
        </p:spPr>
        <p:txBody>
          <a:bodyPr anchorCtr="0" anchor="ctr" bIns="0" lIns="0" spcFirstLastPara="1" rIns="0" wrap="square" tIns="9550">
            <a:spAutoFit/>
          </a:bodyPr>
          <a:lstStyle/>
          <a:p>
            <a:pPr indent="0" lvl="0" marL="12700" rtl="0" algn="l">
              <a:lnSpc>
                <a:spcPct val="100000"/>
              </a:lnSpc>
              <a:spcBef>
                <a:spcPts val="0"/>
              </a:spcBef>
              <a:spcAft>
                <a:spcPts val="0"/>
              </a:spcAft>
              <a:buClr>
                <a:schemeClr val="dk1"/>
              </a:buClr>
              <a:buSzPts val="2700"/>
              <a:buFont typeface="Constantia"/>
              <a:buNone/>
            </a:pPr>
            <a:r>
              <a:rPr lang="en" sz="2700"/>
              <a:t>Emotions in Infants</a:t>
            </a:r>
            <a:endParaRPr sz="2700"/>
          </a:p>
        </p:txBody>
      </p:sp>
      <p:pic>
        <p:nvPicPr>
          <p:cNvPr id="138" name="Google Shape;138;p25"/>
          <p:cNvPicPr preferRelativeResize="0"/>
          <p:nvPr/>
        </p:nvPicPr>
        <p:blipFill rotWithShape="1">
          <a:blip r:embed="rId3">
            <a:alphaModFix/>
          </a:blip>
          <a:srcRect b="0" l="0" r="0" t="0"/>
          <a:stretch/>
        </p:blipFill>
        <p:spPr>
          <a:xfrm>
            <a:off x="5901489" y="686802"/>
            <a:ext cx="3242509" cy="432334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6"/>
          <p:cNvSpPr txBox="1"/>
          <p:nvPr/>
        </p:nvSpPr>
        <p:spPr>
          <a:xfrm>
            <a:off x="1585327" y="2247844"/>
            <a:ext cx="6036900" cy="378600"/>
          </a:xfrm>
          <a:prstGeom prst="rect">
            <a:avLst/>
          </a:prstGeom>
          <a:noFill/>
          <a:ln>
            <a:noFill/>
          </a:ln>
        </p:spPr>
        <p:txBody>
          <a:bodyPr anchorCtr="0" anchor="t" bIns="0" lIns="0" spcFirstLastPara="1" rIns="0" wrap="square" tIns="9075">
            <a:spAutoFit/>
          </a:bodyPr>
          <a:lstStyle/>
          <a:p>
            <a:pPr indent="0" lvl="0" marL="12700" marR="0" rtl="0" algn="l">
              <a:spcBef>
                <a:spcPts val="0"/>
              </a:spcBef>
              <a:spcAft>
                <a:spcPts val="0"/>
              </a:spcAft>
              <a:buNone/>
            </a:pPr>
            <a:r>
              <a:rPr b="1" lang="en" sz="2400">
                <a:solidFill>
                  <a:schemeClr val="dk1"/>
                </a:solidFill>
                <a:latin typeface="Constantia"/>
                <a:ea typeface="Constantia"/>
                <a:cs typeface="Constantia"/>
                <a:sym typeface="Constantia"/>
              </a:rPr>
              <a:t>“A smile means friendship to everyone?”</a:t>
            </a:r>
            <a:endParaRPr sz="2400">
              <a:solidFill>
                <a:schemeClr val="dk1"/>
              </a:solidFill>
              <a:latin typeface="Constantia"/>
              <a:ea typeface="Constantia"/>
              <a:cs typeface="Constantia"/>
              <a:sym typeface="Constantia"/>
            </a:endParaRPr>
          </a:p>
        </p:txBody>
      </p:sp>
      <p:sp>
        <p:nvSpPr>
          <p:cNvPr id="144" name="Google Shape;144;p26"/>
          <p:cNvSpPr txBox="1"/>
          <p:nvPr/>
        </p:nvSpPr>
        <p:spPr>
          <a:xfrm>
            <a:off x="2527266" y="653056"/>
            <a:ext cx="4153200" cy="840900"/>
          </a:xfrm>
          <a:prstGeom prst="rect">
            <a:avLst/>
          </a:prstGeom>
          <a:noFill/>
          <a:ln>
            <a:noFill/>
          </a:ln>
        </p:spPr>
        <p:txBody>
          <a:bodyPr anchorCtr="0" anchor="t" bIns="0" lIns="0" spcFirstLastPara="1" rIns="0" wrap="square" tIns="9550">
            <a:spAutoFit/>
          </a:bodyPr>
          <a:lstStyle/>
          <a:p>
            <a:pPr indent="0" lvl="0" marL="12700" marR="0" rtl="0" algn="l">
              <a:spcBef>
                <a:spcPts val="0"/>
              </a:spcBef>
              <a:spcAft>
                <a:spcPts val="0"/>
              </a:spcAft>
              <a:buNone/>
            </a:pPr>
            <a:r>
              <a:rPr b="1" lang="en" sz="2700">
                <a:solidFill>
                  <a:schemeClr val="dk1"/>
                </a:solidFill>
                <a:latin typeface="Constantia"/>
                <a:ea typeface="Constantia"/>
                <a:cs typeface="Constantia"/>
                <a:sym typeface="Constantia"/>
              </a:rPr>
              <a:t>Emotions Across Cultures</a:t>
            </a:r>
            <a:endParaRPr sz="2700">
              <a:solidFill>
                <a:schemeClr val="dk1"/>
              </a:solidFill>
              <a:latin typeface="Constantia"/>
              <a:ea typeface="Constantia"/>
              <a:cs typeface="Constantia"/>
              <a:sym typeface="Constanti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id="149" name="Google Shape;149;p27"/>
          <p:cNvPicPr preferRelativeResize="0"/>
          <p:nvPr/>
        </p:nvPicPr>
        <p:blipFill>
          <a:blip r:embed="rId3">
            <a:alphaModFix/>
          </a:blip>
          <a:stretch>
            <a:fillRect/>
          </a:stretch>
        </p:blipFill>
        <p:spPr>
          <a:xfrm>
            <a:off x="181375" y="171327"/>
            <a:ext cx="8745950" cy="49195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8"/>
          <p:cNvSpPr txBox="1"/>
          <p:nvPr>
            <p:ph type="title"/>
          </p:nvPr>
        </p:nvSpPr>
        <p:spPr>
          <a:xfrm>
            <a:off x="1514475" y="400050"/>
            <a:ext cx="6115200" cy="7431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2"/>
              </a:buClr>
              <a:buSzPts val="3300"/>
              <a:buFont typeface="Constantia"/>
              <a:buNone/>
            </a:pPr>
            <a:r>
              <a:rPr lang="en"/>
              <a:t>Functions of Emotions</a:t>
            </a:r>
            <a:endParaRPr/>
          </a:p>
        </p:txBody>
      </p:sp>
      <p:sp>
        <p:nvSpPr>
          <p:cNvPr id="155" name="Google Shape;155;p28"/>
          <p:cNvSpPr txBox="1"/>
          <p:nvPr>
            <p:ph idx="1" type="body"/>
          </p:nvPr>
        </p:nvSpPr>
        <p:spPr>
          <a:xfrm>
            <a:off x="1602486" y="1485900"/>
            <a:ext cx="6115200" cy="3257700"/>
          </a:xfrm>
          <a:prstGeom prst="rect">
            <a:avLst/>
          </a:prstGeom>
          <a:noFill/>
          <a:ln>
            <a:noFill/>
          </a:ln>
        </p:spPr>
        <p:txBody>
          <a:bodyPr anchorCtr="0" anchor="t" bIns="34275" lIns="68575" spcFirstLastPara="1" rIns="68575" wrap="square" tIns="34275">
            <a:noAutofit/>
          </a:bodyPr>
          <a:lstStyle/>
          <a:p>
            <a:pPr indent="-177800" lvl="0" marL="177800" rtl="0" algn="l">
              <a:lnSpc>
                <a:spcPct val="90000"/>
              </a:lnSpc>
              <a:spcBef>
                <a:spcPts val="0"/>
              </a:spcBef>
              <a:spcAft>
                <a:spcPts val="0"/>
              </a:spcAft>
              <a:buClr>
                <a:schemeClr val="accent2"/>
              </a:buClr>
              <a:buSzPts val="1600"/>
              <a:buChar char="●"/>
            </a:pPr>
            <a:r>
              <a:rPr lang="en" sz="2700"/>
              <a:t>Preparing us for action</a:t>
            </a:r>
            <a:endParaRPr/>
          </a:p>
          <a:p>
            <a:pPr indent="-177800" lvl="0" marL="177800" rtl="0" algn="l">
              <a:lnSpc>
                <a:spcPct val="90000"/>
              </a:lnSpc>
              <a:spcBef>
                <a:spcPts val="500"/>
              </a:spcBef>
              <a:spcAft>
                <a:spcPts val="0"/>
              </a:spcAft>
              <a:buClr>
                <a:schemeClr val="accent2"/>
              </a:buClr>
              <a:buSzPts val="1600"/>
              <a:buChar char="●"/>
            </a:pPr>
            <a:r>
              <a:rPr lang="en" sz="2700"/>
              <a:t>Shaping our future behavior</a:t>
            </a:r>
            <a:endParaRPr/>
          </a:p>
          <a:p>
            <a:pPr indent="-177800" lvl="0" marL="177800" rtl="0" algn="l">
              <a:lnSpc>
                <a:spcPct val="90000"/>
              </a:lnSpc>
              <a:spcBef>
                <a:spcPts val="500"/>
              </a:spcBef>
              <a:spcAft>
                <a:spcPts val="1200"/>
              </a:spcAft>
              <a:buClr>
                <a:schemeClr val="accent2"/>
              </a:buClr>
              <a:buSzPts val="1600"/>
              <a:buChar char="●"/>
            </a:pPr>
            <a:r>
              <a:rPr lang="en" sz="2700"/>
              <a:t>Helping us interact more effectively with others</a:t>
            </a:r>
            <a:endParaRPr sz="27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9"/>
          <p:cNvSpPr txBox="1"/>
          <p:nvPr>
            <p:ph type="ctrTitle"/>
          </p:nvPr>
        </p:nvSpPr>
        <p:spPr>
          <a:xfrm>
            <a:off x="1576906" y="833156"/>
            <a:ext cx="6390600" cy="1539600"/>
          </a:xfrm>
          <a:prstGeom prst="rect">
            <a:avLst/>
          </a:prstGeom>
          <a:noFill/>
          <a:ln>
            <a:noFill/>
          </a:ln>
        </p:spPr>
        <p:txBody>
          <a:bodyPr anchorCtr="0" anchor="b" bIns="34275" lIns="68575" spcFirstLastPara="1" rIns="68575" wrap="square" tIns="34275">
            <a:normAutofit/>
          </a:bodyPr>
          <a:lstStyle/>
          <a:p>
            <a:pPr indent="0" lvl="0" marL="0" rtl="0" algn="ctr">
              <a:lnSpc>
                <a:spcPct val="90000"/>
              </a:lnSpc>
              <a:spcBef>
                <a:spcPts val="0"/>
              </a:spcBef>
              <a:spcAft>
                <a:spcPts val="0"/>
              </a:spcAft>
              <a:buClr>
                <a:schemeClr val="dk1"/>
              </a:buClr>
              <a:buSzPts val="4500"/>
              <a:buFont typeface="Constantia"/>
              <a:buNone/>
            </a:pPr>
            <a:r>
              <a:rPr lang="en">
                <a:latin typeface="Constantia"/>
                <a:ea typeface="Constantia"/>
                <a:cs typeface="Constantia"/>
                <a:sym typeface="Constantia"/>
              </a:rPr>
              <a:t>Motivation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0"/>
          <p:cNvSpPr txBox="1"/>
          <p:nvPr>
            <p:ph type="title"/>
          </p:nvPr>
        </p:nvSpPr>
        <p:spPr>
          <a:xfrm>
            <a:off x="471488" y="205383"/>
            <a:ext cx="5915100" cy="7458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onstantia"/>
              <a:buNone/>
            </a:pPr>
            <a:r>
              <a:rPr lang="en">
                <a:latin typeface="Constantia"/>
                <a:ea typeface="Constantia"/>
                <a:cs typeface="Constantia"/>
                <a:sym typeface="Constantia"/>
              </a:rPr>
              <a:t>What is motivation? </a:t>
            </a:r>
            <a:endParaRPr/>
          </a:p>
        </p:txBody>
      </p:sp>
      <p:sp>
        <p:nvSpPr>
          <p:cNvPr id="167" name="Google Shape;167;p30"/>
          <p:cNvSpPr txBox="1"/>
          <p:nvPr>
            <p:ph idx="1" type="body"/>
          </p:nvPr>
        </p:nvSpPr>
        <p:spPr>
          <a:xfrm>
            <a:off x="554906" y="1268025"/>
            <a:ext cx="7886700" cy="3263400"/>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2100"/>
              <a:buChar char="•"/>
            </a:pPr>
            <a:r>
              <a:rPr lang="en">
                <a:latin typeface="Constantia"/>
                <a:ea typeface="Constantia"/>
                <a:cs typeface="Constantia"/>
                <a:sym typeface="Constantia"/>
              </a:rPr>
              <a:t>A need or desire that energizes and directs behavior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1"/>
          <p:cNvSpPr txBox="1"/>
          <p:nvPr>
            <p:ph type="title"/>
          </p:nvPr>
        </p:nvSpPr>
        <p:spPr>
          <a:xfrm>
            <a:off x="471488" y="205383"/>
            <a:ext cx="5915100" cy="7458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onstantia"/>
              <a:buNone/>
            </a:pPr>
            <a:r>
              <a:rPr lang="en">
                <a:latin typeface="Constantia"/>
                <a:ea typeface="Constantia"/>
                <a:cs typeface="Constantia"/>
                <a:sym typeface="Constantia"/>
              </a:rPr>
              <a:t>Perspectives on motivation</a:t>
            </a:r>
            <a:endParaRPr/>
          </a:p>
        </p:txBody>
      </p:sp>
      <p:sp>
        <p:nvSpPr>
          <p:cNvPr id="173" name="Google Shape;173;p31"/>
          <p:cNvSpPr txBox="1"/>
          <p:nvPr>
            <p:ph idx="1" type="body"/>
          </p:nvPr>
        </p:nvSpPr>
        <p:spPr>
          <a:xfrm>
            <a:off x="471488" y="1026914"/>
            <a:ext cx="5915100" cy="2447700"/>
          </a:xfrm>
          <a:prstGeom prst="rect">
            <a:avLst/>
          </a:prstGeom>
          <a:noFill/>
          <a:ln>
            <a:noFill/>
          </a:ln>
        </p:spPr>
        <p:txBody>
          <a:bodyPr anchorCtr="0" anchor="t" bIns="34275" lIns="68575" spcFirstLastPara="1" rIns="68575" wrap="square" tIns="34275">
            <a:normAutofit/>
          </a:bodyPr>
          <a:lstStyle/>
          <a:p>
            <a:pPr indent="-254000" lvl="0" marL="342900" rtl="0" algn="l">
              <a:lnSpc>
                <a:spcPct val="200000"/>
              </a:lnSpc>
              <a:spcBef>
                <a:spcPts val="0"/>
              </a:spcBef>
              <a:spcAft>
                <a:spcPts val="0"/>
              </a:spcAft>
              <a:buSzPts val="1400"/>
              <a:buFont typeface="Constantia"/>
              <a:buChar char="•"/>
            </a:pPr>
            <a:r>
              <a:rPr lang="en">
                <a:latin typeface="Constantia"/>
                <a:ea typeface="Constantia"/>
                <a:cs typeface="Constantia"/>
                <a:sym typeface="Constantia"/>
              </a:rPr>
              <a:t>Evolutionary perspective (formerly ‘instinct theory’)</a:t>
            </a:r>
            <a:endParaRPr/>
          </a:p>
          <a:p>
            <a:pPr indent="-254000" lvl="0" marL="342900" rtl="0" algn="l">
              <a:lnSpc>
                <a:spcPct val="200000"/>
              </a:lnSpc>
              <a:spcBef>
                <a:spcPts val="0"/>
              </a:spcBef>
              <a:spcAft>
                <a:spcPts val="0"/>
              </a:spcAft>
              <a:buSzPts val="1400"/>
              <a:buFont typeface="Constantia"/>
              <a:buChar char="•"/>
            </a:pPr>
            <a:r>
              <a:rPr lang="en">
                <a:latin typeface="Constantia"/>
                <a:ea typeface="Constantia"/>
                <a:cs typeface="Constantia"/>
                <a:sym typeface="Constantia"/>
              </a:rPr>
              <a:t>Drive reduction theory</a:t>
            </a:r>
            <a:endParaRPr/>
          </a:p>
          <a:p>
            <a:pPr indent="-254000" lvl="0" marL="342900" rtl="0" algn="l">
              <a:lnSpc>
                <a:spcPct val="200000"/>
              </a:lnSpc>
              <a:spcBef>
                <a:spcPts val="0"/>
              </a:spcBef>
              <a:spcAft>
                <a:spcPts val="0"/>
              </a:spcAft>
              <a:buSzPts val="1400"/>
              <a:buFont typeface="Constantia"/>
              <a:buChar char="•"/>
            </a:pPr>
            <a:r>
              <a:rPr lang="en">
                <a:latin typeface="Constantia"/>
                <a:ea typeface="Constantia"/>
                <a:cs typeface="Constantia"/>
                <a:sym typeface="Constantia"/>
              </a:rPr>
              <a:t>Arousal theory </a:t>
            </a:r>
            <a:endParaRPr>
              <a:latin typeface="Constantia"/>
              <a:ea typeface="Constantia"/>
              <a:cs typeface="Constantia"/>
              <a:sym typeface="Constantia"/>
            </a:endParaRPr>
          </a:p>
          <a:p>
            <a:pPr indent="-254000" lvl="0" marL="342900" rtl="0" algn="l">
              <a:lnSpc>
                <a:spcPct val="200000"/>
              </a:lnSpc>
              <a:spcBef>
                <a:spcPts val="0"/>
              </a:spcBef>
              <a:spcAft>
                <a:spcPts val="0"/>
              </a:spcAft>
              <a:buSzPts val="1400"/>
              <a:buFont typeface="Constantia"/>
              <a:buChar char="•"/>
            </a:pPr>
            <a:r>
              <a:rPr lang="en">
                <a:latin typeface="Constantia"/>
                <a:ea typeface="Constantia"/>
                <a:cs typeface="Constantia"/>
                <a:sym typeface="Constantia"/>
              </a:rPr>
              <a:t>Hierarchy of needs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2"/>
          <p:cNvSpPr txBox="1"/>
          <p:nvPr>
            <p:ph type="title"/>
          </p:nvPr>
        </p:nvSpPr>
        <p:spPr>
          <a:xfrm>
            <a:off x="471488" y="205383"/>
            <a:ext cx="5915100" cy="7458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onstantia"/>
              <a:buNone/>
            </a:pPr>
            <a:r>
              <a:rPr lang="en">
                <a:latin typeface="Constantia"/>
                <a:ea typeface="Constantia"/>
                <a:cs typeface="Constantia"/>
                <a:sym typeface="Constantia"/>
              </a:rPr>
              <a:t>Instincts </a:t>
            </a:r>
            <a:endParaRPr/>
          </a:p>
        </p:txBody>
      </p:sp>
      <p:sp>
        <p:nvSpPr>
          <p:cNvPr id="179" name="Google Shape;179;p32"/>
          <p:cNvSpPr txBox="1"/>
          <p:nvPr/>
        </p:nvSpPr>
        <p:spPr>
          <a:xfrm>
            <a:off x="760175" y="1048025"/>
            <a:ext cx="8204100" cy="3922500"/>
          </a:xfrm>
          <a:prstGeom prst="rect">
            <a:avLst/>
          </a:prstGeom>
          <a:noFill/>
          <a:ln>
            <a:noFill/>
          </a:ln>
        </p:spPr>
        <p:txBody>
          <a:bodyPr anchorCtr="0" anchor="t" bIns="34275" lIns="68575" spcFirstLastPara="1" rIns="68575" wrap="square" tIns="34275">
            <a:normAutofit fontScale="62500" lnSpcReduction="10000"/>
          </a:bodyPr>
          <a:lstStyle/>
          <a:p>
            <a:pPr indent="-203200" lvl="0" marL="203200" marR="0" rtl="0" algn="l">
              <a:lnSpc>
                <a:spcPct val="90000"/>
              </a:lnSpc>
              <a:spcBef>
                <a:spcPts val="0"/>
              </a:spcBef>
              <a:spcAft>
                <a:spcPts val="0"/>
              </a:spcAft>
              <a:buClr>
                <a:schemeClr val="dk1"/>
              </a:buClr>
              <a:buSzPct val="37356"/>
              <a:buFont typeface="Noto Sans"/>
              <a:buNone/>
            </a:pPr>
            <a:r>
              <a:t/>
            </a:r>
            <a:endParaRPr b="1" i="0" sz="4015" u="none" cap="none" strike="noStrike">
              <a:solidFill>
                <a:schemeClr val="dk1"/>
              </a:solidFill>
              <a:latin typeface="Constantia"/>
              <a:ea typeface="Constantia"/>
              <a:cs typeface="Constantia"/>
              <a:sym typeface="Constantia"/>
            </a:endParaRPr>
          </a:p>
          <a:p>
            <a:pPr indent="-387960" lvl="0" marL="457200" marR="0" rtl="0" algn="l">
              <a:lnSpc>
                <a:spcPct val="90000"/>
              </a:lnSpc>
              <a:spcBef>
                <a:spcPts val="800"/>
              </a:spcBef>
              <a:spcAft>
                <a:spcPts val="0"/>
              </a:spcAft>
              <a:buClr>
                <a:schemeClr val="dk1"/>
              </a:buClr>
              <a:buSzPct val="100000"/>
              <a:buFont typeface="Constantia"/>
              <a:buChar char="●"/>
            </a:pPr>
            <a:r>
              <a:rPr b="0" i="0" lang="en" sz="4015" u="none" cap="none" strike="noStrike">
                <a:solidFill>
                  <a:schemeClr val="dk1"/>
                </a:solidFill>
                <a:latin typeface="Constantia"/>
                <a:ea typeface="Constantia"/>
                <a:cs typeface="Constantia"/>
                <a:sym typeface="Constantia"/>
              </a:rPr>
              <a:t>Inborn patterns of behavior that are biologically determined rather than learned.</a:t>
            </a:r>
            <a:endParaRPr b="0" i="0" sz="4015" u="none" cap="none" strike="noStrike">
              <a:solidFill>
                <a:srgbClr val="000000"/>
              </a:solidFill>
              <a:latin typeface="Arial"/>
              <a:ea typeface="Arial"/>
              <a:cs typeface="Arial"/>
              <a:sym typeface="Arial"/>
            </a:endParaRPr>
          </a:p>
          <a:p>
            <a:pPr indent="0" lvl="0" marL="457200" marR="0" rtl="0" algn="l">
              <a:lnSpc>
                <a:spcPct val="90000"/>
              </a:lnSpc>
              <a:spcBef>
                <a:spcPts val="800"/>
              </a:spcBef>
              <a:spcAft>
                <a:spcPts val="0"/>
              </a:spcAft>
              <a:buNone/>
            </a:pPr>
            <a:r>
              <a:t/>
            </a:r>
            <a:endParaRPr b="0" i="0" sz="4015" u="none" cap="none" strike="noStrike">
              <a:solidFill>
                <a:schemeClr val="dk1"/>
              </a:solidFill>
              <a:latin typeface="Constantia"/>
              <a:ea typeface="Constantia"/>
              <a:cs typeface="Constantia"/>
              <a:sym typeface="Constantia"/>
            </a:endParaRPr>
          </a:p>
          <a:p>
            <a:pPr indent="-387960" lvl="0" marL="457200" marR="0" rtl="0" algn="l">
              <a:lnSpc>
                <a:spcPct val="90000"/>
              </a:lnSpc>
              <a:spcBef>
                <a:spcPts val="800"/>
              </a:spcBef>
              <a:spcAft>
                <a:spcPts val="0"/>
              </a:spcAft>
              <a:buClr>
                <a:schemeClr val="dk1"/>
              </a:buClr>
              <a:buSzPct val="100000"/>
              <a:buFont typeface="Constantia"/>
              <a:buChar char="●"/>
            </a:pPr>
            <a:r>
              <a:rPr b="0" i="0" lang="en" sz="4015" u="none" cap="none" strike="noStrike">
                <a:solidFill>
                  <a:schemeClr val="dk1"/>
                </a:solidFill>
                <a:latin typeface="Constantia"/>
                <a:ea typeface="Constantia"/>
                <a:cs typeface="Constantia"/>
                <a:sym typeface="Constantia"/>
              </a:rPr>
              <a:t>People and animals are born with preprogrammed </a:t>
            </a:r>
            <a:endParaRPr b="0" i="0" sz="4015" u="none" cap="none" strike="noStrike">
              <a:solidFill>
                <a:srgbClr val="000000"/>
              </a:solidFill>
              <a:latin typeface="Arial"/>
              <a:ea typeface="Arial"/>
              <a:cs typeface="Arial"/>
              <a:sym typeface="Arial"/>
            </a:endParaRPr>
          </a:p>
          <a:p>
            <a:pPr indent="0" lvl="0" marL="457200" marR="0" rtl="0" algn="l">
              <a:lnSpc>
                <a:spcPct val="90000"/>
              </a:lnSpc>
              <a:spcBef>
                <a:spcPts val="800"/>
              </a:spcBef>
              <a:spcAft>
                <a:spcPts val="0"/>
              </a:spcAft>
              <a:buNone/>
            </a:pPr>
            <a:r>
              <a:rPr b="0" i="0" lang="en" sz="4015" u="none" cap="none" strike="noStrike">
                <a:solidFill>
                  <a:schemeClr val="dk1"/>
                </a:solidFill>
                <a:latin typeface="Constantia"/>
                <a:ea typeface="Constantia"/>
                <a:cs typeface="Constantia"/>
                <a:sym typeface="Constantia"/>
              </a:rPr>
              <a:t>sets of behaviors essential to their survival.</a:t>
            </a:r>
            <a:endParaRPr b="0" i="0" sz="4015" u="none" cap="none" strike="noStrike">
              <a:solidFill>
                <a:srgbClr val="000000"/>
              </a:solidFill>
              <a:latin typeface="Arial"/>
              <a:ea typeface="Arial"/>
              <a:cs typeface="Arial"/>
              <a:sym typeface="Arial"/>
            </a:endParaRPr>
          </a:p>
          <a:p>
            <a:pPr indent="0" lvl="0" marL="457200" marR="0" rtl="0" algn="l">
              <a:lnSpc>
                <a:spcPct val="90000"/>
              </a:lnSpc>
              <a:spcBef>
                <a:spcPts val="800"/>
              </a:spcBef>
              <a:spcAft>
                <a:spcPts val="0"/>
              </a:spcAft>
              <a:buNone/>
            </a:pPr>
            <a:r>
              <a:t/>
            </a:r>
            <a:endParaRPr b="0" i="0" sz="4015" u="none" cap="none" strike="noStrike">
              <a:solidFill>
                <a:schemeClr val="dk1"/>
              </a:solidFill>
              <a:latin typeface="Constantia"/>
              <a:ea typeface="Constantia"/>
              <a:cs typeface="Constantia"/>
              <a:sym typeface="Constantia"/>
            </a:endParaRPr>
          </a:p>
          <a:p>
            <a:pPr indent="-387960" lvl="0" marL="457200" marR="0" rtl="0" algn="l">
              <a:lnSpc>
                <a:spcPct val="90000"/>
              </a:lnSpc>
              <a:spcBef>
                <a:spcPts val="800"/>
              </a:spcBef>
              <a:spcAft>
                <a:spcPts val="0"/>
              </a:spcAft>
              <a:buClr>
                <a:schemeClr val="dk1"/>
              </a:buClr>
              <a:buSzPct val="100000"/>
              <a:buFont typeface="Constantia"/>
              <a:buChar char="●"/>
            </a:pPr>
            <a:r>
              <a:rPr b="0" i="0" lang="en" sz="4015" u="none" cap="none" strike="noStrike">
                <a:solidFill>
                  <a:schemeClr val="dk1"/>
                </a:solidFill>
                <a:latin typeface="Constantia"/>
                <a:ea typeface="Constantia"/>
                <a:cs typeface="Constantia"/>
                <a:sym typeface="Constantia"/>
              </a:rPr>
              <a:t>Instincts play important role in directing our </a:t>
            </a:r>
            <a:endParaRPr b="0" i="0" sz="4015" u="none" cap="none" strike="noStrike">
              <a:solidFill>
                <a:srgbClr val="000000"/>
              </a:solidFill>
              <a:latin typeface="Arial"/>
              <a:ea typeface="Arial"/>
              <a:cs typeface="Arial"/>
              <a:sym typeface="Arial"/>
            </a:endParaRPr>
          </a:p>
          <a:p>
            <a:pPr indent="0" lvl="0" marL="457200" marR="0" rtl="0" algn="l">
              <a:lnSpc>
                <a:spcPct val="90000"/>
              </a:lnSpc>
              <a:spcBef>
                <a:spcPts val="800"/>
              </a:spcBef>
              <a:spcAft>
                <a:spcPts val="0"/>
              </a:spcAft>
              <a:buNone/>
            </a:pPr>
            <a:r>
              <a:rPr b="0" i="0" lang="en" sz="4015" u="none" cap="none" strike="noStrike">
                <a:solidFill>
                  <a:schemeClr val="dk1"/>
                </a:solidFill>
                <a:latin typeface="Constantia"/>
                <a:ea typeface="Constantia"/>
                <a:cs typeface="Constantia"/>
                <a:sym typeface="Constantia"/>
              </a:rPr>
              <a:t>behavior.</a:t>
            </a:r>
            <a:endParaRPr b="0" i="0" sz="4015" u="none" cap="none" strike="noStrike">
              <a:solidFill>
                <a:srgbClr val="000000"/>
              </a:solidFill>
              <a:latin typeface="Arial"/>
              <a:ea typeface="Arial"/>
              <a:cs typeface="Arial"/>
              <a:sym typeface="Arial"/>
            </a:endParaRPr>
          </a:p>
          <a:p>
            <a:pPr indent="-101600" lvl="0" marL="203200" marR="0" rtl="0" algn="l">
              <a:lnSpc>
                <a:spcPct val="90000"/>
              </a:lnSpc>
              <a:spcBef>
                <a:spcPts val="800"/>
              </a:spcBef>
              <a:spcAft>
                <a:spcPts val="0"/>
              </a:spcAft>
              <a:buClr>
                <a:schemeClr val="dk1"/>
              </a:buClr>
              <a:buSzPct val="100000"/>
              <a:buFont typeface="Noto Sans"/>
              <a:buNone/>
            </a:pPr>
            <a:r>
              <a:t/>
            </a:r>
            <a:endParaRPr b="0" i="0" sz="1500" u="none" cap="none" strike="noStrike">
              <a:solidFill>
                <a:schemeClr val="dk1"/>
              </a:solidFill>
              <a:latin typeface="Constantia"/>
              <a:ea typeface="Constantia"/>
              <a:cs typeface="Constantia"/>
              <a:sym typeface="Constanti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descr="http://image.slidesharecdn.com/motivationemotion-110217092840-phpapp02/95/motivation-emotion-6-728.jpg?cb=1297934984" id="184" name="Google Shape;184;p33"/>
          <p:cNvPicPr preferRelativeResize="0"/>
          <p:nvPr/>
        </p:nvPicPr>
        <p:blipFill rotWithShape="1">
          <a:blip r:embed="rId3">
            <a:alphaModFix/>
          </a:blip>
          <a:srcRect b="32276" l="0" r="0" t="0"/>
          <a:stretch/>
        </p:blipFill>
        <p:spPr>
          <a:xfrm>
            <a:off x="1558815" y="841485"/>
            <a:ext cx="6347590" cy="322390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4"/>
          <p:cNvSpPr txBox="1"/>
          <p:nvPr>
            <p:ph type="title"/>
          </p:nvPr>
        </p:nvSpPr>
        <p:spPr>
          <a:xfrm>
            <a:off x="471488" y="205383"/>
            <a:ext cx="5915100" cy="7458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onstantia"/>
              <a:buNone/>
            </a:pPr>
            <a:r>
              <a:rPr lang="en">
                <a:latin typeface="Constantia"/>
                <a:ea typeface="Constantia"/>
                <a:cs typeface="Constantia"/>
                <a:sym typeface="Constantia"/>
              </a:rPr>
              <a:t>Drive-Reduction Theory</a:t>
            </a:r>
            <a:endParaRPr/>
          </a:p>
        </p:txBody>
      </p:sp>
      <p:sp>
        <p:nvSpPr>
          <p:cNvPr id="190" name="Google Shape;190;p34"/>
          <p:cNvSpPr txBox="1"/>
          <p:nvPr>
            <p:ph idx="1" type="body"/>
          </p:nvPr>
        </p:nvSpPr>
        <p:spPr>
          <a:xfrm>
            <a:off x="1369219" y="1143001"/>
            <a:ext cx="6378000" cy="3431400"/>
          </a:xfrm>
          <a:prstGeom prst="rect">
            <a:avLst/>
          </a:prstGeom>
          <a:noFill/>
          <a:ln>
            <a:noFill/>
          </a:ln>
        </p:spPr>
        <p:txBody>
          <a:bodyPr anchorCtr="0" anchor="t" bIns="34275" lIns="68575" spcFirstLastPara="1" rIns="68575" wrap="square" tIns="34275">
            <a:normAutofit lnSpcReduction="10000"/>
          </a:bodyPr>
          <a:lstStyle/>
          <a:p>
            <a:pPr indent="-177800" lvl="0" marL="177800" rtl="0" algn="l">
              <a:lnSpc>
                <a:spcPct val="90000"/>
              </a:lnSpc>
              <a:spcBef>
                <a:spcPts val="0"/>
              </a:spcBef>
              <a:spcAft>
                <a:spcPts val="0"/>
              </a:spcAft>
              <a:buClr>
                <a:schemeClr val="dk1"/>
              </a:buClr>
              <a:buSzPts val="1500"/>
              <a:buFont typeface="Noto Sans"/>
              <a:buNone/>
            </a:pPr>
            <a:r>
              <a:rPr lang="en" sz="1500">
                <a:latin typeface="Constantia"/>
                <a:ea typeface="Constantia"/>
                <a:cs typeface="Constantia"/>
                <a:sym typeface="Constantia"/>
              </a:rPr>
              <a:t>Theories suggesting that a lack of some basic biological requirements</a:t>
            </a:r>
            <a:endParaRPr/>
          </a:p>
          <a:p>
            <a:pPr indent="-177800" lvl="0" marL="177800" rtl="0" algn="l">
              <a:lnSpc>
                <a:spcPct val="90000"/>
              </a:lnSpc>
              <a:spcBef>
                <a:spcPts val="800"/>
              </a:spcBef>
              <a:spcAft>
                <a:spcPts val="0"/>
              </a:spcAft>
              <a:buClr>
                <a:schemeClr val="dk1"/>
              </a:buClr>
              <a:buSzPts val="1500"/>
              <a:buFont typeface="Noto Sans"/>
              <a:buNone/>
            </a:pPr>
            <a:r>
              <a:rPr lang="en" sz="1500">
                <a:latin typeface="Constantia"/>
                <a:ea typeface="Constantia"/>
                <a:cs typeface="Constantia"/>
                <a:sym typeface="Constantia"/>
              </a:rPr>
              <a:t>such as water, produces a drive to obtain that requirement (in this</a:t>
            </a:r>
            <a:endParaRPr/>
          </a:p>
          <a:p>
            <a:pPr indent="-177800" lvl="0" marL="177800" rtl="0" algn="l">
              <a:lnSpc>
                <a:spcPct val="90000"/>
              </a:lnSpc>
              <a:spcBef>
                <a:spcPts val="800"/>
              </a:spcBef>
              <a:spcAft>
                <a:spcPts val="0"/>
              </a:spcAft>
              <a:buClr>
                <a:schemeClr val="dk1"/>
              </a:buClr>
              <a:buSzPts val="1500"/>
              <a:buFont typeface="Noto Sans"/>
              <a:buNone/>
            </a:pPr>
            <a:r>
              <a:rPr lang="en" sz="1500">
                <a:latin typeface="Constantia"/>
                <a:ea typeface="Constantia"/>
                <a:cs typeface="Constantia"/>
                <a:sym typeface="Constantia"/>
              </a:rPr>
              <a:t>case, the thirst drive).</a:t>
            </a:r>
            <a:endParaRPr/>
          </a:p>
          <a:p>
            <a:pPr indent="-177800" lvl="0" marL="177800" rtl="0" algn="l">
              <a:lnSpc>
                <a:spcPct val="90000"/>
              </a:lnSpc>
              <a:spcBef>
                <a:spcPts val="800"/>
              </a:spcBef>
              <a:spcAft>
                <a:spcPts val="0"/>
              </a:spcAft>
              <a:buClr>
                <a:schemeClr val="dk1"/>
              </a:buClr>
              <a:buSzPts val="1500"/>
              <a:buFont typeface="Noto Sans"/>
              <a:buNone/>
            </a:pPr>
            <a:r>
              <a:t/>
            </a:r>
            <a:endParaRPr b="1" sz="1500">
              <a:latin typeface="Constantia"/>
              <a:ea typeface="Constantia"/>
              <a:cs typeface="Constantia"/>
              <a:sym typeface="Constantia"/>
            </a:endParaRPr>
          </a:p>
          <a:p>
            <a:pPr indent="-177800" lvl="0" marL="177800" rtl="0" algn="l">
              <a:lnSpc>
                <a:spcPct val="90000"/>
              </a:lnSpc>
              <a:spcBef>
                <a:spcPts val="800"/>
              </a:spcBef>
              <a:spcAft>
                <a:spcPts val="0"/>
              </a:spcAft>
              <a:buClr>
                <a:schemeClr val="dk1"/>
              </a:buClr>
              <a:buSzPts val="1500"/>
              <a:buFont typeface="Noto Sans"/>
              <a:buNone/>
            </a:pPr>
            <a:r>
              <a:rPr b="1" lang="en" sz="1500">
                <a:latin typeface="Constantia"/>
                <a:ea typeface="Constantia"/>
                <a:cs typeface="Constantia"/>
                <a:sym typeface="Constantia"/>
              </a:rPr>
              <a:t>Drive</a:t>
            </a:r>
            <a:endParaRPr/>
          </a:p>
          <a:p>
            <a:pPr indent="-177800" lvl="0" marL="177800" rtl="0" algn="l">
              <a:lnSpc>
                <a:spcPct val="90000"/>
              </a:lnSpc>
              <a:spcBef>
                <a:spcPts val="800"/>
              </a:spcBef>
              <a:spcAft>
                <a:spcPts val="0"/>
              </a:spcAft>
              <a:buClr>
                <a:schemeClr val="dk1"/>
              </a:buClr>
              <a:buSzPts val="1500"/>
              <a:buFont typeface="Noto Sans"/>
              <a:buNone/>
            </a:pPr>
            <a:r>
              <a:t/>
            </a:r>
            <a:endParaRPr sz="1500">
              <a:latin typeface="Constantia"/>
              <a:ea typeface="Constantia"/>
              <a:cs typeface="Constantia"/>
              <a:sym typeface="Constantia"/>
            </a:endParaRPr>
          </a:p>
          <a:p>
            <a:pPr indent="-177800" lvl="0" marL="177800" rtl="0" algn="l">
              <a:lnSpc>
                <a:spcPct val="90000"/>
              </a:lnSpc>
              <a:spcBef>
                <a:spcPts val="800"/>
              </a:spcBef>
              <a:spcAft>
                <a:spcPts val="0"/>
              </a:spcAft>
              <a:buClr>
                <a:schemeClr val="dk1"/>
              </a:buClr>
              <a:buSzPts val="1500"/>
              <a:buFont typeface="Noto Sans"/>
              <a:buNone/>
            </a:pPr>
            <a:r>
              <a:rPr lang="en" sz="1500">
                <a:latin typeface="Constantia"/>
                <a:ea typeface="Constantia"/>
                <a:cs typeface="Constantia"/>
                <a:sym typeface="Constantia"/>
              </a:rPr>
              <a:t>Motivational tension, </a:t>
            </a:r>
            <a:endParaRPr/>
          </a:p>
          <a:p>
            <a:pPr indent="-177800" lvl="0" marL="177800" rtl="0" algn="l">
              <a:lnSpc>
                <a:spcPct val="90000"/>
              </a:lnSpc>
              <a:spcBef>
                <a:spcPts val="800"/>
              </a:spcBef>
              <a:spcAft>
                <a:spcPts val="0"/>
              </a:spcAft>
              <a:buClr>
                <a:schemeClr val="dk1"/>
              </a:buClr>
              <a:buSzPts val="1500"/>
              <a:buFont typeface="Noto Sans"/>
              <a:buNone/>
            </a:pPr>
            <a:r>
              <a:rPr lang="en" sz="1500">
                <a:latin typeface="Constantia"/>
                <a:ea typeface="Constantia"/>
                <a:cs typeface="Constantia"/>
                <a:sym typeface="Constantia"/>
              </a:rPr>
              <a:t>or arousal, that energizes </a:t>
            </a:r>
            <a:endParaRPr/>
          </a:p>
          <a:p>
            <a:pPr indent="-177800" lvl="0" marL="177800" rtl="0" algn="l">
              <a:lnSpc>
                <a:spcPct val="90000"/>
              </a:lnSpc>
              <a:spcBef>
                <a:spcPts val="800"/>
              </a:spcBef>
              <a:spcAft>
                <a:spcPts val="0"/>
              </a:spcAft>
              <a:buClr>
                <a:schemeClr val="dk1"/>
              </a:buClr>
              <a:buSzPts val="1500"/>
              <a:buFont typeface="Noto Sans"/>
              <a:buNone/>
            </a:pPr>
            <a:r>
              <a:rPr lang="en" sz="1500">
                <a:latin typeface="Constantia"/>
                <a:ea typeface="Constantia"/>
                <a:cs typeface="Constantia"/>
                <a:sym typeface="Constantia"/>
              </a:rPr>
              <a:t>behavior to fulfill a need.</a:t>
            </a:r>
            <a:endParaRPr/>
          </a:p>
          <a:p>
            <a:pPr indent="-177800" lvl="0" marL="177800" rtl="0" algn="l">
              <a:lnSpc>
                <a:spcPct val="90000"/>
              </a:lnSpc>
              <a:spcBef>
                <a:spcPts val="800"/>
              </a:spcBef>
              <a:spcAft>
                <a:spcPts val="0"/>
              </a:spcAft>
              <a:buClr>
                <a:schemeClr val="dk1"/>
              </a:buClr>
              <a:buSzPts val="1500"/>
              <a:buFont typeface="Noto Sans"/>
              <a:buNone/>
            </a:pPr>
            <a:r>
              <a:rPr lang="en" sz="1500">
                <a:latin typeface="Constantia"/>
                <a:ea typeface="Constantia"/>
                <a:cs typeface="Constantia"/>
                <a:sym typeface="Constantia"/>
              </a:rPr>
              <a:t>Example: hunger, </a:t>
            </a:r>
            <a:endParaRPr/>
          </a:p>
          <a:p>
            <a:pPr indent="-177800" lvl="0" marL="177800" rtl="0" algn="l">
              <a:lnSpc>
                <a:spcPct val="90000"/>
              </a:lnSpc>
              <a:spcBef>
                <a:spcPts val="800"/>
              </a:spcBef>
              <a:spcAft>
                <a:spcPts val="0"/>
              </a:spcAft>
              <a:buClr>
                <a:schemeClr val="dk1"/>
              </a:buClr>
              <a:buSzPts val="1500"/>
              <a:buFont typeface="Noto Sans"/>
              <a:buNone/>
            </a:pPr>
            <a:r>
              <a:rPr lang="en" sz="1500">
                <a:latin typeface="Constantia"/>
                <a:ea typeface="Constantia"/>
                <a:cs typeface="Constantia"/>
                <a:sym typeface="Constantia"/>
              </a:rPr>
              <a:t>thirst, sleepiness, sex.</a:t>
            </a:r>
            <a:endParaRPr/>
          </a:p>
          <a:p>
            <a:pPr indent="-177800" lvl="0" marL="177800" rtl="0" algn="l">
              <a:lnSpc>
                <a:spcPct val="90000"/>
              </a:lnSpc>
              <a:spcBef>
                <a:spcPts val="800"/>
              </a:spcBef>
              <a:spcAft>
                <a:spcPts val="0"/>
              </a:spcAft>
              <a:buClr>
                <a:schemeClr val="dk1"/>
              </a:buClr>
              <a:buSzPts val="1500"/>
              <a:buFont typeface="Noto Sans"/>
              <a:buNone/>
            </a:pPr>
            <a:r>
              <a:t/>
            </a:r>
            <a:endParaRPr sz="1500">
              <a:latin typeface="Constantia"/>
              <a:ea typeface="Constantia"/>
              <a:cs typeface="Constantia"/>
              <a:sym typeface="Constantia"/>
            </a:endParaRPr>
          </a:p>
        </p:txBody>
      </p:sp>
      <p:pic>
        <p:nvPicPr>
          <p:cNvPr descr="C:\Users\sumaiya.BRACU\Desktop\thinking\images water.jpg" id="191" name="Google Shape;191;p34"/>
          <p:cNvPicPr preferRelativeResize="0"/>
          <p:nvPr/>
        </p:nvPicPr>
        <p:blipFill rotWithShape="1">
          <a:blip r:embed="rId3">
            <a:alphaModFix/>
          </a:blip>
          <a:srcRect b="0" l="0" r="0" t="0"/>
          <a:stretch/>
        </p:blipFill>
        <p:spPr>
          <a:xfrm>
            <a:off x="4572000" y="2218135"/>
            <a:ext cx="2686050" cy="218241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id="197" name="Google Shape;197;p35"/>
          <p:cNvPicPr preferRelativeResize="0"/>
          <p:nvPr/>
        </p:nvPicPr>
        <p:blipFill rotWithShape="1">
          <a:blip r:embed="rId3">
            <a:alphaModFix/>
          </a:blip>
          <a:srcRect b="0" l="0" r="0" t="0"/>
          <a:stretch/>
        </p:blipFill>
        <p:spPr>
          <a:xfrm>
            <a:off x="71438" y="1533932"/>
            <a:ext cx="9001125" cy="134175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6"/>
          <p:cNvSpPr txBox="1"/>
          <p:nvPr>
            <p:ph type="title"/>
          </p:nvPr>
        </p:nvSpPr>
        <p:spPr>
          <a:xfrm>
            <a:off x="471488" y="205383"/>
            <a:ext cx="5915100" cy="7458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onstantia"/>
              <a:buNone/>
            </a:pPr>
            <a:r>
              <a:rPr lang="en">
                <a:latin typeface="Constantia"/>
                <a:ea typeface="Constantia"/>
                <a:cs typeface="Constantia"/>
                <a:sym typeface="Constantia"/>
              </a:rPr>
              <a:t>Homeostasis</a:t>
            </a:r>
            <a:endParaRPr/>
          </a:p>
        </p:txBody>
      </p:sp>
      <p:sp>
        <p:nvSpPr>
          <p:cNvPr id="203" name="Google Shape;203;p36"/>
          <p:cNvSpPr txBox="1"/>
          <p:nvPr>
            <p:ph idx="1" type="body"/>
          </p:nvPr>
        </p:nvSpPr>
        <p:spPr>
          <a:xfrm>
            <a:off x="628650" y="1032775"/>
            <a:ext cx="6378000" cy="3210600"/>
          </a:xfrm>
          <a:prstGeom prst="rect">
            <a:avLst/>
          </a:prstGeom>
          <a:noFill/>
          <a:ln>
            <a:noFill/>
          </a:ln>
        </p:spPr>
        <p:txBody>
          <a:bodyPr anchorCtr="0" anchor="t" bIns="34275" lIns="68575" spcFirstLastPara="1" rIns="68575" wrap="square" tIns="34275">
            <a:normAutofit lnSpcReduction="20000"/>
          </a:bodyPr>
          <a:lstStyle/>
          <a:p>
            <a:pPr indent="-177800" lvl="0" marL="177800" rtl="0" algn="just">
              <a:lnSpc>
                <a:spcPct val="115000"/>
              </a:lnSpc>
              <a:spcBef>
                <a:spcPts val="0"/>
              </a:spcBef>
              <a:spcAft>
                <a:spcPts val="0"/>
              </a:spcAft>
              <a:buSzPts val="1800"/>
              <a:buFont typeface="Constantia"/>
              <a:buChar char="•"/>
            </a:pPr>
            <a:r>
              <a:rPr lang="en">
                <a:solidFill>
                  <a:schemeClr val="dk1"/>
                </a:solidFill>
              </a:rPr>
              <a:t>The body’s tendency to maintain a steady internal state.</a:t>
            </a:r>
            <a:endParaRPr>
              <a:solidFill>
                <a:schemeClr val="dk1"/>
              </a:solidFill>
            </a:endParaRPr>
          </a:p>
          <a:p>
            <a:pPr indent="-177800" lvl="0" marL="177800" rtl="0" algn="just">
              <a:lnSpc>
                <a:spcPct val="115000"/>
              </a:lnSpc>
              <a:spcBef>
                <a:spcPts val="800"/>
              </a:spcBef>
              <a:spcAft>
                <a:spcPts val="0"/>
              </a:spcAft>
              <a:buClr>
                <a:schemeClr val="dk1"/>
              </a:buClr>
              <a:buSzPts val="1800"/>
              <a:buFont typeface="Noto Sans"/>
              <a:buNone/>
            </a:pPr>
            <a:r>
              <a:rPr lang="en">
                <a:solidFill>
                  <a:schemeClr val="dk1"/>
                </a:solidFill>
              </a:rPr>
              <a:t>    Example- Temperature too high: Expansion of blood vessels in skin, Sweating.</a:t>
            </a:r>
            <a:endParaRPr>
              <a:solidFill>
                <a:schemeClr val="dk1"/>
              </a:solidFill>
            </a:endParaRPr>
          </a:p>
          <a:p>
            <a:pPr indent="-177800" lvl="0" marL="177800" rtl="0" algn="just">
              <a:lnSpc>
                <a:spcPct val="115000"/>
              </a:lnSpc>
              <a:spcBef>
                <a:spcPts val="800"/>
              </a:spcBef>
              <a:spcAft>
                <a:spcPts val="0"/>
              </a:spcAft>
              <a:buClr>
                <a:schemeClr val="dk1"/>
              </a:buClr>
              <a:buSzPts val="1800"/>
              <a:buFont typeface="Noto Sans"/>
              <a:buNone/>
            </a:pPr>
            <a:r>
              <a:t/>
            </a:r>
            <a:endParaRPr>
              <a:solidFill>
                <a:schemeClr val="dk1"/>
              </a:solidFill>
            </a:endParaRPr>
          </a:p>
          <a:p>
            <a:pPr indent="-38100" lvl="0" marL="177800" rtl="0" algn="just">
              <a:lnSpc>
                <a:spcPct val="115000"/>
              </a:lnSpc>
              <a:spcBef>
                <a:spcPts val="800"/>
              </a:spcBef>
              <a:spcAft>
                <a:spcPts val="0"/>
              </a:spcAft>
              <a:buClr>
                <a:schemeClr val="dk1"/>
              </a:buClr>
              <a:buSzPts val="2100"/>
              <a:buNone/>
            </a:pPr>
            <a:r>
              <a:rPr lang="en">
                <a:solidFill>
                  <a:schemeClr val="dk1"/>
                </a:solidFill>
                <a:highlight>
                  <a:srgbClr val="FFFFFF"/>
                </a:highlight>
              </a:rPr>
              <a:t>The concept homeostasis suggests internal motivating factors arise from a need to maintain a constant internal environment. The brain senses deviations from healthy set points and is driven to correct imbalances. If the body becomes short of water or nutrients, for example, the individual is driven to seek them.</a:t>
            </a:r>
            <a:endParaRPr>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7"/>
          <p:cNvSpPr txBox="1"/>
          <p:nvPr>
            <p:ph type="title"/>
          </p:nvPr>
        </p:nvSpPr>
        <p:spPr>
          <a:xfrm>
            <a:off x="471488" y="205383"/>
            <a:ext cx="5915100" cy="7458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onstantia"/>
              <a:buNone/>
            </a:pPr>
            <a:r>
              <a:rPr lang="en">
                <a:latin typeface="Constantia"/>
                <a:ea typeface="Constantia"/>
                <a:cs typeface="Constantia"/>
                <a:sym typeface="Constantia"/>
              </a:rPr>
              <a:t>Arousal Approaches</a:t>
            </a:r>
            <a:endParaRPr/>
          </a:p>
        </p:txBody>
      </p:sp>
      <p:sp>
        <p:nvSpPr>
          <p:cNvPr id="209" name="Google Shape;209;p37"/>
          <p:cNvSpPr txBox="1"/>
          <p:nvPr>
            <p:ph idx="1" type="body"/>
          </p:nvPr>
        </p:nvSpPr>
        <p:spPr>
          <a:xfrm>
            <a:off x="371400" y="1078550"/>
            <a:ext cx="8424900" cy="3312000"/>
          </a:xfrm>
          <a:prstGeom prst="rect">
            <a:avLst/>
          </a:prstGeom>
          <a:noFill/>
          <a:ln>
            <a:noFill/>
          </a:ln>
        </p:spPr>
        <p:txBody>
          <a:bodyPr anchorCtr="0" anchor="t" bIns="34275" lIns="68575" spcFirstLastPara="1" rIns="68575" wrap="square" tIns="34275">
            <a:normAutofit/>
          </a:bodyPr>
          <a:lstStyle/>
          <a:p>
            <a:pPr indent="-177800" lvl="0" marL="177800" rtl="0" algn="just">
              <a:lnSpc>
                <a:spcPct val="90000"/>
              </a:lnSpc>
              <a:spcBef>
                <a:spcPts val="0"/>
              </a:spcBef>
              <a:spcAft>
                <a:spcPts val="0"/>
              </a:spcAft>
              <a:buClr>
                <a:schemeClr val="dk1"/>
              </a:buClr>
              <a:buSzPts val="2100"/>
              <a:buFont typeface="Noto Sans"/>
              <a:buNone/>
            </a:pPr>
            <a:r>
              <a:t/>
            </a:r>
            <a:endParaRPr sz="2000">
              <a:solidFill>
                <a:schemeClr val="dk1"/>
              </a:solidFill>
            </a:endParaRPr>
          </a:p>
          <a:p>
            <a:pPr indent="-177800" lvl="0" marL="177800" rtl="0" algn="just">
              <a:lnSpc>
                <a:spcPct val="90000"/>
              </a:lnSpc>
              <a:spcBef>
                <a:spcPts val="0"/>
              </a:spcBef>
              <a:spcAft>
                <a:spcPts val="0"/>
              </a:spcAft>
              <a:buClr>
                <a:schemeClr val="dk1"/>
              </a:buClr>
              <a:buSzPts val="2100"/>
              <a:buFont typeface="Noto Sans"/>
              <a:buNone/>
            </a:pPr>
            <a:r>
              <a:rPr lang="en" sz="2000">
                <a:solidFill>
                  <a:schemeClr val="dk1"/>
                </a:solidFill>
                <a:highlight>
                  <a:srgbClr val="FFFFFF"/>
                </a:highlight>
              </a:rPr>
              <a:t>The Arousal Theory of Motivation suggests that people are driven to perform actions in order to maintain an optimum level of physiological arousal. Arousal can be stimulated by any number of things or actions, but it always results in higher or lower motivation. </a:t>
            </a:r>
            <a:endParaRPr sz="2000">
              <a:solidFill>
                <a:schemeClr val="dk1"/>
              </a:solidFill>
              <a:highlight>
                <a:srgbClr val="FFFFFF"/>
              </a:highlight>
            </a:endParaRPr>
          </a:p>
          <a:p>
            <a:pPr indent="-177800" lvl="0" marL="177800" rtl="0" algn="l">
              <a:lnSpc>
                <a:spcPct val="90000"/>
              </a:lnSpc>
              <a:spcBef>
                <a:spcPts val="800"/>
              </a:spcBef>
              <a:spcAft>
                <a:spcPts val="0"/>
              </a:spcAft>
              <a:buClr>
                <a:schemeClr val="dk1"/>
              </a:buClr>
              <a:buSzPts val="2100"/>
              <a:buFont typeface="Noto Sans"/>
              <a:buNone/>
            </a:pPr>
            <a:r>
              <a:t/>
            </a:r>
            <a:endParaRPr>
              <a:latin typeface="Constantia"/>
              <a:ea typeface="Constantia"/>
              <a:cs typeface="Constantia"/>
              <a:sym typeface="Constantia"/>
            </a:endParaRPr>
          </a:p>
          <a:p>
            <a:pPr indent="-177800" lvl="0" marL="177800" rtl="0" algn="l">
              <a:lnSpc>
                <a:spcPct val="90000"/>
              </a:lnSpc>
              <a:spcBef>
                <a:spcPts val="800"/>
              </a:spcBef>
              <a:spcAft>
                <a:spcPts val="0"/>
              </a:spcAft>
              <a:buClr>
                <a:schemeClr val="dk1"/>
              </a:buClr>
              <a:buSzPts val="2100"/>
              <a:buFont typeface="Noto Sans"/>
              <a:buNone/>
            </a:pPr>
            <a:r>
              <a:t/>
            </a:r>
            <a:endParaRPr>
              <a:latin typeface="Constantia"/>
              <a:ea typeface="Constantia"/>
              <a:cs typeface="Constantia"/>
              <a:sym typeface="Constantia"/>
            </a:endParaRPr>
          </a:p>
        </p:txBody>
      </p:sp>
      <p:pic>
        <p:nvPicPr>
          <p:cNvPr descr="C:\Users\sumaiya.BRACU\Desktop\thinking\index.jpg" id="210" name="Google Shape;210;p37"/>
          <p:cNvPicPr preferRelativeResize="0"/>
          <p:nvPr/>
        </p:nvPicPr>
        <p:blipFill rotWithShape="1">
          <a:blip r:embed="rId3">
            <a:alphaModFix/>
          </a:blip>
          <a:srcRect b="0" l="0" r="0" t="0"/>
          <a:stretch/>
        </p:blipFill>
        <p:spPr>
          <a:xfrm>
            <a:off x="2508151" y="3188200"/>
            <a:ext cx="1676400" cy="1738650"/>
          </a:xfrm>
          <a:prstGeom prst="rect">
            <a:avLst/>
          </a:prstGeom>
          <a:noFill/>
          <a:ln>
            <a:noFill/>
          </a:ln>
        </p:spPr>
      </p:pic>
      <p:pic>
        <p:nvPicPr>
          <p:cNvPr descr="C:\Users\sumaiya.BRACU\Desktop\thinking\129032_crop_340x234.jpg" id="211" name="Google Shape;211;p37"/>
          <p:cNvPicPr preferRelativeResize="0"/>
          <p:nvPr/>
        </p:nvPicPr>
        <p:blipFill rotWithShape="1">
          <a:blip r:embed="rId4">
            <a:alphaModFix/>
          </a:blip>
          <a:srcRect b="0" l="0" r="0" t="0"/>
          <a:stretch/>
        </p:blipFill>
        <p:spPr>
          <a:xfrm>
            <a:off x="4432350" y="3120800"/>
            <a:ext cx="1754100" cy="18060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8"/>
          <p:cNvSpPr txBox="1"/>
          <p:nvPr>
            <p:ph idx="1" type="body"/>
          </p:nvPr>
        </p:nvSpPr>
        <p:spPr>
          <a:xfrm>
            <a:off x="628650" y="620675"/>
            <a:ext cx="7886700" cy="4011900"/>
          </a:xfrm>
          <a:prstGeom prst="rect">
            <a:avLst/>
          </a:prstGeom>
        </p:spPr>
        <p:txBody>
          <a:bodyPr anchorCtr="0" anchor="t" bIns="34275" lIns="68575" spcFirstLastPara="1" rIns="68575" wrap="square" tIns="34275">
            <a:noAutofit/>
          </a:bodyPr>
          <a:lstStyle/>
          <a:p>
            <a:pPr indent="0" lvl="0" marL="0" rtl="0" algn="l">
              <a:lnSpc>
                <a:spcPct val="155555"/>
              </a:lnSpc>
              <a:spcBef>
                <a:spcPts val="0"/>
              </a:spcBef>
              <a:spcAft>
                <a:spcPts val="0"/>
              </a:spcAft>
              <a:buNone/>
            </a:pPr>
            <a:r>
              <a:rPr lang="en">
                <a:solidFill>
                  <a:schemeClr val="dk1"/>
                </a:solidFill>
                <a:highlight>
                  <a:srgbClr val="FFFFFF"/>
                </a:highlight>
              </a:rPr>
              <a:t>When your arousal level drops below your optimal threshold, you become demotivated until your arousal spikes. Meaningful work, a night out with friends, or a fun new activity are all things that can spike arousal and therefore motivation. </a:t>
            </a:r>
            <a:endParaRPr>
              <a:solidFill>
                <a:schemeClr val="dk1"/>
              </a:solidFill>
              <a:highlight>
                <a:srgbClr val="FFFFFF"/>
              </a:highlight>
            </a:endParaRPr>
          </a:p>
          <a:p>
            <a:pPr indent="0" lvl="0" marL="0" rtl="0" algn="l">
              <a:lnSpc>
                <a:spcPct val="155555"/>
              </a:lnSpc>
              <a:spcBef>
                <a:spcPts val="1400"/>
              </a:spcBef>
              <a:spcAft>
                <a:spcPts val="0"/>
              </a:spcAft>
              <a:buNone/>
            </a:pPr>
            <a:r>
              <a:rPr lang="en">
                <a:solidFill>
                  <a:schemeClr val="dk1"/>
                </a:solidFill>
                <a:highlight>
                  <a:srgbClr val="FFFFFF"/>
                </a:highlight>
              </a:rPr>
              <a:t>For example, if you become demotivated at work, you might spike your mental alertness by taking on new and complex tasks, which in turn motivates you to work harder and get that promotion you deserve.</a:t>
            </a:r>
            <a:endParaRPr>
              <a:solidFill>
                <a:schemeClr val="dk1"/>
              </a:solidFill>
              <a:highlight>
                <a:srgbClr val="FFFFFF"/>
              </a:highlight>
            </a:endParaRPr>
          </a:p>
          <a:p>
            <a:pPr indent="0" lvl="0" marL="0" rtl="0" algn="l">
              <a:lnSpc>
                <a:spcPct val="155555"/>
              </a:lnSpc>
              <a:spcBef>
                <a:spcPts val="1400"/>
              </a:spcBef>
              <a:spcAft>
                <a:spcPts val="0"/>
              </a:spcAft>
              <a:buNone/>
            </a:pPr>
            <a:r>
              <a:t/>
            </a:r>
            <a:endParaRPr>
              <a:solidFill>
                <a:schemeClr val="dk1"/>
              </a:solidFill>
              <a:highlight>
                <a:srgbClr val="FFFFFF"/>
              </a:highlight>
            </a:endParaRPr>
          </a:p>
          <a:p>
            <a:pPr indent="0" lvl="0" marL="0" rtl="0" algn="l">
              <a:lnSpc>
                <a:spcPct val="155555"/>
              </a:lnSpc>
              <a:spcBef>
                <a:spcPts val="1400"/>
              </a:spcBef>
              <a:spcAft>
                <a:spcPts val="0"/>
              </a:spcAft>
              <a:buNone/>
            </a:pPr>
            <a:r>
              <a:t/>
            </a:r>
            <a:endParaRPr>
              <a:solidFill>
                <a:schemeClr val="dk1"/>
              </a:solidFill>
              <a:highlight>
                <a:srgbClr val="FFFFFF"/>
              </a:highlight>
            </a:endParaRPr>
          </a:p>
          <a:p>
            <a:pPr indent="0" lvl="0" marL="0" rtl="0" algn="l">
              <a:spcBef>
                <a:spcPts val="1400"/>
              </a:spcBef>
              <a:spcAft>
                <a:spcPts val="12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9"/>
          <p:cNvSpPr txBox="1"/>
          <p:nvPr>
            <p:ph idx="1" type="body"/>
          </p:nvPr>
        </p:nvSpPr>
        <p:spPr>
          <a:xfrm>
            <a:off x="628650" y="635725"/>
            <a:ext cx="7886700" cy="4426200"/>
          </a:xfrm>
          <a:prstGeom prst="rect">
            <a:avLst/>
          </a:prstGeom>
        </p:spPr>
        <p:txBody>
          <a:bodyPr anchorCtr="0" anchor="t" bIns="34275" lIns="68575" spcFirstLastPara="1" rIns="68575" wrap="square" tIns="34275">
            <a:normAutofit lnSpcReduction="10000"/>
          </a:bodyPr>
          <a:lstStyle/>
          <a:p>
            <a:pPr indent="0" lvl="0" marL="0" rtl="0" algn="l">
              <a:lnSpc>
                <a:spcPct val="155555"/>
              </a:lnSpc>
              <a:spcBef>
                <a:spcPts val="0"/>
              </a:spcBef>
              <a:spcAft>
                <a:spcPts val="0"/>
              </a:spcAft>
              <a:buClr>
                <a:schemeClr val="dk1"/>
              </a:buClr>
              <a:buSzPts val="1100"/>
              <a:buFont typeface="Arial"/>
              <a:buNone/>
            </a:pPr>
            <a:r>
              <a:rPr lang="en">
                <a:solidFill>
                  <a:schemeClr val="dk1"/>
                </a:solidFill>
                <a:highlight>
                  <a:srgbClr val="FFFFFF"/>
                </a:highlight>
              </a:rPr>
              <a:t>If your mental alertness becomes too high, you also become demotivated until your arousal drops back to your desired level.</a:t>
            </a:r>
            <a:endParaRPr>
              <a:solidFill>
                <a:schemeClr val="dk1"/>
              </a:solidFill>
              <a:highlight>
                <a:srgbClr val="FFFFFF"/>
              </a:highlight>
            </a:endParaRPr>
          </a:p>
          <a:p>
            <a:pPr indent="0" lvl="0" marL="0" rtl="0" algn="l">
              <a:lnSpc>
                <a:spcPct val="155555"/>
              </a:lnSpc>
              <a:spcBef>
                <a:spcPts val="1400"/>
              </a:spcBef>
              <a:spcAft>
                <a:spcPts val="0"/>
              </a:spcAft>
              <a:buNone/>
            </a:pPr>
            <a:r>
              <a:rPr lang="en">
                <a:solidFill>
                  <a:schemeClr val="dk1"/>
                </a:solidFill>
                <a:highlight>
                  <a:srgbClr val="FFFFFF"/>
                </a:highlight>
              </a:rPr>
              <a:t>If you become overstimulated your mental alertness can spike too high, which decreases performance and motivation. </a:t>
            </a:r>
            <a:endParaRPr>
              <a:solidFill>
                <a:schemeClr val="dk1"/>
              </a:solidFill>
              <a:highlight>
                <a:srgbClr val="FFFFFF"/>
              </a:highlight>
            </a:endParaRPr>
          </a:p>
          <a:p>
            <a:pPr indent="0" lvl="0" marL="0" rtl="0" algn="l">
              <a:lnSpc>
                <a:spcPct val="155555"/>
              </a:lnSpc>
              <a:spcBef>
                <a:spcPts val="1400"/>
              </a:spcBef>
              <a:spcAft>
                <a:spcPts val="0"/>
              </a:spcAft>
              <a:buClr>
                <a:schemeClr val="dk1"/>
              </a:buClr>
              <a:buSzPts val="1100"/>
              <a:buFont typeface="Arial"/>
              <a:buNone/>
            </a:pPr>
            <a:r>
              <a:rPr lang="en">
                <a:solidFill>
                  <a:schemeClr val="dk1"/>
                </a:solidFill>
                <a:highlight>
                  <a:srgbClr val="FFFFFF"/>
                </a:highlight>
              </a:rPr>
              <a:t>For example, if you're working hard on the job and taking on tasks that are new and complex, you may become overstimulated and burn out. To combat this, you might take a long weekend to recharge, giving yourself time to lower your arousal back to optimal levels.</a:t>
            </a:r>
            <a:endParaRPr>
              <a:solidFill>
                <a:schemeClr val="dk1"/>
              </a:solidFill>
              <a:highlight>
                <a:srgbClr val="FFFFFF"/>
              </a:highlight>
            </a:endParaRPr>
          </a:p>
          <a:p>
            <a:pPr indent="0" lvl="0" marL="0" rtl="0" algn="l">
              <a:spcBef>
                <a:spcPts val="14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pic>
        <p:nvPicPr>
          <p:cNvPr descr="C:\Users\sumaiya.BRACU\Desktop\maslow-3.jpg" id="226" name="Google Shape;226;p40"/>
          <p:cNvPicPr preferRelativeResize="0"/>
          <p:nvPr>
            <p:ph idx="1" type="body"/>
          </p:nvPr>
        </p:nvPicPr>
        <p:blipFill rotWithShape="1">
          <a:blip r:embed="rId3">
            <a:alphaModFix/>
          </a:blip>
          <a:srcRect b="0" l="0" r="0" t="0"/>
          <a:stretch/>
        </p:blipFill>
        <p:spPr>
          <a:xfrm>
            <a:off x="994450" y="171450"/>
            <a:ext cx="6892200" cy="47532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1"/>
          <p:cNvSpPr txBox="1"/>
          <p:nvPr>
            <p:ph type="title"/>
          </p:nvPr>
        </p:nvSpPr>
        <p:spPr>
          <a:xfrm>
            <a:off x="628650" y="273848"/>
            <a:ext cx="7886700" cy="667200"/>
          </a:xfrm>
          <a:prstGeom prst="rect">
            <a:avLst/>
          </a:prstGeom>
        </p:spPr>
        <p:txBody>
          <a:bodyPr anchorCtr="0" anchor="ctr" bIns="34275" lIns="68575" spcFirstLastPara="1" rIns="68575" wrap="square" tIns="34275">
            <a:normAutofit/>
          </a:bodyPr>
          <a:lstStyle/>
          <a:p>
            <a:pPr indent="0" lvl="0" marL="0" rtl="0" algn="l">
              <a:lnSpc>
                <a:spcPct val="140000"/>
              </a:lnSpc>
              <a:spcBef>
                <a:spcPts val="1800"/>
              </a:spcBef>
              <a:spcAft>
                <a:spcPts val="400"/>
              </a:spcAft>
              <a:buClr>
                <a:schemeClr val="dk1"/>
              </a:buClr>
              <a:buSzPts val="1100"/>
              <a:buFont typeface="Arial"/>
              <a:buNone/>
            </a:pPr>
            <a:r>
              <a:rPr b="1" lang="en" sz="2200">
                <a:highlight>
                  <a:srgbClr val="F8F8F8"/>
                </a:highlight>
              </a:rPr>
              <a:t>Maslow’s Hierarchy of Needs</a:t>
            </a:r>
            <a:endParaRPr sz="3300"/>
          </a:p>
        </p:txBody>
      </p:sp>
      <p:sp>
        <p:nvSpPr>
          <p:cNvPr id="232" name="Google Shape;232;p41"/>
          <p:cNvSpPr txBox="1"/>
          <p:nvPr>
            <p:ph idx="1" type="body"/>
          </p:nvPr>
        </p:nvSpPr>
        <p:spPr>
          <a:xfrm>
            <a:off x="628650" y="1185400"/>
            <a:ext cx="7886700" cy="3754500"/>
          </a:xfrm>
          <a:prstGeom prst="rect">
            <a:avLst/>
          </a:prstGeom>
        </p:spPr>
        <p:txBody>
          <a:bodyPr anchorCtr="0" anchor="t" bIns="34275" lIns="68575" spcFirstLastPara="1" rIns="68575" wrap="square" tIns="34275">
            <a:normAutofit lnSpcReduction="10000"/>
          </a:bodyPr>
          <a:lstStyle/>
          <a:p>
            <a:pPr indent="0" lvl="0" marL="0" rtl="0" algn="just">
              <a:lnSpc>
                <a:spcPct val="115000"/>
              </a:lnSpc>
              <a:spcBef>
                <a:spcPts val="800"/>
              </a:spcBef>
              <a:spcAft>
                <a:spcPts val="0"/>
              </a:spcAft>
              <a:buNone/>
            </a:pPr>
            <a:r>
              <a:rPr lang="en">
                <a:solidFill>
                  <a:srgbClr val="1B1B1B"/>
                </a:solidFill>
                <a:highlight>
                  <a:schemeClr val="lt1"/>
                </a:highlight>
              </a:rPr>
              <a:t>This theory created by Abraham Maslow is based on how humans are inspired to satisfy their needs in a hierarchical order. Starting from the bottom going upwards, the five needs are physiological, safety, love and belonging, esteem, and self-actualization.</a:t>
            </a:r>
            <a:endParaRPr>
              <a:solidFill>
                <a:srgbClr val="1F1F1F"/>
              </a:solidFill>
              <a:highlight>
                <a:schemeClr val="lt1"/>
              </a:highlight>
            </a:endParaRPr>
          </a:p>
          <a:p>
            <a:pPr indent="0" lvl="0" marL="0" rtl="0" algn="just">
              <a:lnSpc>
                <a:spcPct val="115000"/>
              </a:lnSpc>
              <a:spcBef>
                <a:spcPts val="1800"/>
              </a:spcBef>
              <a:spcAft>
                <a:spcPts val="0"/>
              </a:spcAft>
              <a:buClr>
                <a:schemeClr val="dk1"/>
              </a:buClr>
              <a:buSzPts val="1100"/>
              <a:buFont typeface="Arial"/>
              <a:buNone/>
            </a:pPr>
            <a:r>
              <a:rPr b="1" lang="en">
                <a:solidFill>
                  <a:schemeClr val="dk1"/>
                </a:solidFill>
                <a:highlight>
                  <a:schemeClr val="lt1"/>
                </a:highlight>
              </a:rPr>
              <a:t>Applying Maslow’s Hierarchy of Needs</a:t>
            </a:r>
            <a:endParaRPr b="1">
              <a:solidFill>
                <a:schemeClr val="dk1"/>
              </a:solidFill>
              <a:highlight>
                <a:schemeClr val="lt1"/>
              </a:highlight>
            </a:endParaRPr>
          </a:p>
          <a:p>
            <a:pPr indent="0" lvl="0" marL="0" rtl="0" algn="just">
              <a:lnSpc>
                <a:spcPct val="115000"/>
              </a:lnSpc>
              <a:spcBef>
                <a:spcPts val="400"/>
              </a:spcBef>
              <a:spcAft>
                <a:spcPts val="0"/>
              </a:spcAft>
              <a:buClr>
                <a:schemeClr val="dk1"/>
              </a:buClr>
              <a:buSzPts val="1100"/>
              <a:buFont typeface="Arial"/>
              <a:buNone/>
            </a:pPr>
            <a:r>
              <a:rPr lang="en">
                <a:solidFill>
                  <a:srgbClr val="1B1B1B"/>
                </a:solidFill>
                <a:highlight>
                  <a:schemeClr val="lt1"/>
                </a:highlight>
              </a:rPr>
              <a:t>When you apply Maslow's hierarchy of needs in your life, you may experience improvements in some areas. To reach the highest level of development in this motivational theory, you must be self-actualized. Identifying your needs and ensuring that those needs are fulfilled can help increase your chances of success.</a:t>
            </a:r>
            <a:endParaRPr>
              <a:solidFill>
                <a:srgbClr val="1B1B1B"/>
              </a:solidFill>
              <a:highlight>
                <a:schemeClr val="lt1"/>
              </a:highlight>
            </a:endParaRPr>
          </a:p>
          <a:p>
            <a:pPr indent="0" lvl="0" marL="0" rtl="0" algn="l">
              <a:spcBef>
                <a:spcPts val="1100"/>
              </a:spcBef>
              <a:spcAft>
                <a:spcPts val="1200"/>
              </a:spcAft>
              <a:buNone/>
            </a:pPr>
            <a:r>
              <a:t/>
            </a:r>
            <a:endParaRPr sz="1500">
              <a:solidFill>
                <a:srgbClr val="1F1F1F"/>
              </a:solidFill>
              <a:highlight>
                <a:srgbClr val="FFFFFF"/>
              </a:highlight>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p42"/>
          <p:cNvPicPr preferRelativeResize="0"/>
          <p:nvPr/>
        </p:nvPicPr>
        <p:blipFill>
          <a:blip r:embed="rId3">
            <a:alphaModFix/>
          </a:blip>
          <a:stretch>
            <a:fillRect/>
          </a:stretch>
        </p:blipFill>
        <p:spPr>
          <a:xfrm>
            <a:off x="932731" y="0"/>
            <a:ext cx="7278536" cy="514349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3"/>
          <p:cNvSpPr txBox="1"/>
          <p:nvPr>
            <p:ph type="title"/>
          </p:nvPr>
        </p:nvSpPr>
        <p:spPr>
          <a:xfrm>
            <a:off x="320812" y="-277867"/>
            <a:ext cx="6400800" cy="7431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117857"/>
              <a:buFont typeface="Constantia"/>
              <a:buNone/>
            </a:pPr>
            <a:br>
              <a:rPr lang="en">
                <a:latin typeface="Constantia"/>
                <a:ea typeface="Constantia"/>
                <a:cs typeface="Constantia"/>
                <a:sym typeface="Constantia"/>
              </a:rPr>
            </a:br>
            <a:br>
              <a:rPr lang="en">
                <a:latin typeface="Constantia"/>
                <a:ea typeface="Constantia"/>
                <a:cs typeface="Constantia"/>
                <a:sym typeface="Constantia"/>
              </a:rPr>
            </a:br>
            <a:br>
              <a:rPr lang="en">
                <a:latin typeface="Constantia"/>
                <a:ea typeface="Constantia"/>
                <a:cs typeface="Constantia"/>
                <a:sym typeface="Constantia"/>
              </a:rPr>
            </a:br>
            <a:r>
              <a:rPr lang="en">
                <a:latin typeface="Constantia"/>
                <a:ea typeface="Constantia"/>
                <a:cs typeface="Constantia"/>
                <a:sym typeface="Constantia"/>
              </a:rPr>
              <a:t> Maslow’s Hierarchy: Ordering Motivational Needs</a:t>
            </a:r>
            <a:endParaRPr/>
          </a:p>
        </p:txBody>
      </p:sp>
      <p:sp>
        <p:nvSpPr>
          <p:cNvPr id="243" name="Google Shape;243;p43"/>
          <p:cNvSpPr txBox="1"/>
          <p:nvPr>
            <p:ph idx="1" type="body"/>
          </p:nvPr>
        </p:nvSpPr>
        <p:spPr>
          <a:xfrm>
            <a:off x="1314039" y="1389747"/>
            <a:ext cx="6378000" cy="3429000"/>
          </a:xfrm>
          <a:prstGeom prst="rect">
            <a:avLst/>
          </a:prstGeom>
          <a:noFill/>
          <a:ln>
            <a:noFill/>
          </a:ln>
        </p:spPr>
        <p:txBody>
          <a:bodyPr anchorCtr="0" anchor="t" bIns="34275" lIns="68575" spcFirstLastPara="1" rIns="68575" wrap="square" tIns="34275">
            <a:normAutofit/>
          </a:bodyPr>
          <a:lstStyle/>
          <a:p>
            <a:pPr indent="-203200" lvl="0" marL="203200" rtl="0" algn="l">
              <a:lnSpc>
                <a:spcPct val="90000"/>
              </a:lnSpc>
              <a:spcBef>
                <a:spcPts val="0"/>
              </a:spcBef>
              <a:spcAft>
                <a:spcPts val="0"/>
              </a:spcAft>
              <a:buClr>
                <a:schemeClr val="dk1"/>
              </a:buClr>
              <a:buSzPts val="1800"/>
              <a:buNone/>
            </a:pPr>
            <a:r>
              <a:rPr lang="en" sz="1800">
                <a:latin typeface="Constantia"/>
                <a:ea typeface="Constantia"/>
                <a:cs typeface="Constantia"/>
                <a:sym typeface="Constantia"/>
              </a:rPr>
              <a:t>Maslow’s hierarchy suggests that there are five basic needs: </a:t>
            </a:r>
            <a:endParaRPr/>
          </a:p>
          <a:p>
            <a:pPr indent="-203200" lvl="0" marL="203200" rtl="0" algn="l">
              <a:lnSpc>
                <a:spcPct val="90000"/>
              </a:lnSpc>
              <a:spcBef>
                <a:spcPts val="800"/>
              </a:spcBef>
              <a:spcAft>
                <a:spcPts val="0"/>
              </a:spcAft>
              <a:buClr>
                <a:schemeClr val="dk1"/>
              </a:buClr>
              <a:buSzPts val="1800"/>
              <a:buNone/>
            </a:pPr>
            <a:r>
              <a:t/>
            </a:r>
            <a:endParaRPr sz="1800">
              <a:latin typeface="Constantia"/>
              <a:ea typeface="Constantia"/>
              <a:cs typeface="Constantia"/>
              <a:sym typeface="Constantia"/>
            </a:endParaRPr>
          </a:p>
          <a:p>
            <a:pPr indent="-203200" lvl="0" marL="203200" rtl="0" algn="l">
              <a:lnSpc>
                <a:spcPct val="90000"/>
              </a:lnSpc>
              <a:spcBef>
                <a:spcPts val="800"/>
              </a:spcBef>
              <a:spcAft>
                <a:spcPts val="0"/>
              </a:spcAft>
              <a:buClr>
                <a:schemeClr val="dk1"/>
              </a:buClr>
              <a:buSzPts val="1800"/>
              <a:buFont typeface="Noto Sans"/>
              <a:buChar char="✔"/>
            </a:pPr>
            <a:r>
              <a:rPr lang="en" sz="1800">
                <a:latin typeface="Constantia"/>
                <a:ea typeface="Constantia"/>
                <a:cs typeface="Constantia"/>
                <a:sym typeface="Constantia"/>
              </a:rPr>
              <a:t>physiological</a:t>
            </a:r>
            <a:endParaRPr/>
          </a:p>
          <a:p>
            <a:pPr indent="-203200" lvl="0" marL="203200" rtl="0" algn="l">
              <a:lnSpc>
                <a:spcPct val="90000"/>
              </a:lnSpc>
              <a:spcBef>
                <a:spcPts val="800"/>
              </a:spcBef>
              <a:spcAft>
                <a:spcPts val="0"/>
              </a:spcAft>
              <a:buClr>
                <a:schemeClr val="dk1"/>
              </a:buClr>
              <a:buSzPts val="1800"/>
              <a:buFont typeface="Noto Sans"/>
              <a:buChar char="✔"/>
            </a:pPr>
            <a:r>
              <a:rPr lang="en" sz="1800">
                <a:latin typeface="Constantia"/>
                <a:ea typeface="Constantia"/>
                <a:cs typeface="Constantia"/>
                <a:sym typeface="Constantia"/>
              </a:rPr>
              <a:t> safety</a:t>
            </a:r>
            <a:endParaRPr/>
          </a:p>
          <a:p>
            <a:pPr indent="-203200" lvl="0" marL="203200" rtl="0" algn="l">
              <a:lnSpc>
                <a:spcPct val="90000"/>
              </a:lnSpc>
              <a:spcBef>
                <a:spcPts val="800"/>
              </a:spcBef>
              <a:spcAft>
                <a:spcPts val="0"/>
              </a:spcAft>
              <a:buClr>
                <a:schemeClr val="dk1"/>
              </a:buClr>
              <a:buSzPts val="1800"/>
              <a:buFont typeface="Noto Sans"/>
              <a:buChar char="✔"/>
            </a:pPr>
            <a:r>
              <a:rPr lang="en" sz="1800">
                <a:latin typeface="Constantia"/>
                <a:ea typeface="Constantia"/>
                <a:cs typeface="Constantia"/>
                <a:sym typeface="Constantia"/>
              </a:rPr>
              <a:t> love and belongingness</a:t>
            </a:r>
            <a:endParaRPr/>
          </a:p>
          <a:p>
            <a:pPr indent="-203200" lvl="0" marL="203200" rtl="0" algn="l">
              <a:lnSpc>
                <a:spcPct val="90000"/>
              </a:lnSpc>
              <a:spcBef>
                <a:spcPts val="800"/>
              </a:spcBef>
              <a:spcAft>
                <a:spcPts val="0"/>
              </a:spcAft>
              <a:buClr>
                <a:schemeClr val="dk1"/>
              </a:buClr>
              <a:buSzPts val="1800"/>
              <a:buFont typeface="Noto Sans"/>
              <a:buChar char="✔"/>
            </a:pPr>
            <a:r>
              <a:rPr lang="en" sz="1800">
                <a:latin typeface="Constantia"/>
                <a:ea typeface="Constantia"/>
                <a:cs typeface="Constantia"/>
                <a:sym typeface="Constantia"/>
              </a:rPr>
              <a:t>esteem and </a:t>
            </a:r>
            <a:endParaRPr/>
          </a:p>
          <a:p>
            <a:pPr indent="-203200" lvl="0" marL="203200" rtl="0" algn="l">
              <a:lnSpc>
                <a:spcPct val="90000"/>
              </a:lnSpc>
              <a:spcBef>
                <a:spcPts val="800"/>
              </a:spcBef>
              <a:spcAft>
                <a:spcPts val="0"/>
              </a:spcAft>
              <a:buClr>
                <a:schemeClr val="dk1"/>
              </a:buClr>
              <a:buSzPts val="1800"/>
              <a:buFont typeface="Noto Sans"/>
              <a:buChar char="✔"/>
            </a:pPr>
            <a:r>
              <a:rPr lang="en" sz="1800">
                <a:latin typeface="Constantia"/>
                <a:ea typeface="Constantia"/>
                <a:cs typeface="Constantia"/>
                <a:sym typeface="Constantia"/>
              </a:rPr>
              <a:t>self-actualization</a:t>
            </a:r>
            <a:endParaRPr/>
          </a:p>
          <a:p>
            <a:pPr indent="-88900" lvl="0" marL="203200" rtl="0" algn="l">
              <a:lnSpc>
                <a:spcPct val="90000"/>
              </a:lnSpc>
              <a:spcBef>
                <a:spcPts val="800"/>
              </a:spcBef>
              <a:spcAft>
                <a:spcPts val="0"/>
              </a:spcAft>
              <a:buClr>
                <a:schemeClr val="dk1"/>
              </a:buClr>
              <a:buSzPts val="1800"/>
              <a:buFont typeface="Noto Sans"/>
              <a:buNone/>
            </a:pPr>
            <a:r>
              <a:t/>
            </a:r>
            <a:endParaRPr sz="1800">
              <a:latin typeface="Constantia"/>
              <a:ea typeface="Constantia"/>
              <a:cs typeface="Constantia"/>
              <a:sym typeface="Constantia"/>
            </a:endParaRPr>
          </a:p>
          <a:p>
            <a:pPr indent="-203200" lvl="0" marL="203200" rtl="0" algn="l">
              <a:lnSpc>
                <a:spcPct val="90000"/>
              </a:lnSpc>
              <a:spcBef>
                <a:spcPts val="800"/>
              </a:spcBef>
              <a:spcAft>
                <a:spcPts val="0"/>
              </a:spcAft>
              <a:buClr>
                <a:schemeClr val="dk1"/>
              </a:buClr>
              <a:buSzPts val="1800"/>
              <a:buNone/>
            </a:pPr>
            <a:r>
              <a:rPr lang="en" sz="1800">
                <a:latin typeface="Constantia"/>
                <a:ea typeface="Constantia"/>
                <a:cs typeface="Constantia"/>
                <a:sym typeface="Constantia"/>
              </a:rPr>
              <a:t>	Only after the more basic needs are fulfilled can a person move toward meeting higher-order needs.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4"/>
          <p:cNvSpPr txBox="1"/>
          <p:nvPr>
            <p:ph type="title"/>
          </p:nvPr>
        </p:nvSpPr>
        <p:spPr>
          <a:xfrm>
            <a:off x="471488" y="205383"/>
            <a:ext cx="5915100" cy="7458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onstantia"/>
              <a:buNone/>
            </a:pPr>
            <a:r>
              <a:rPr lang="en">
                <a:latin typeface="Constantia"/>
                <a:ea typeface="Constantia"/>
                <a:cs typeface="Constantia"/>
                <a:sym typeface="Constantia"/>
              </a:rPr>
              <a:t>Cont…</a:t>
            </a:r>
            <a:endParaRPr/>
          </a:p>
        </p:txBody>
      </p:sp>
      <p:sp>
        <p:nvSpPr>
          <p:cNvPr id="249" name="Google Shape;249;p44"/>
          <p:cNvSpPr txBox="1"/>
          <p:nvPr>
            <p:ph idx="1" type="body"/>
          </p:nvPr>
        </p:nvSpPr>
        <p:spPr>
          <a:xfrm>
            <a:off x="1369219" y="1145381"/>
            <a:ext cx="6378000" cy="3429000"/>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2100"/>
              <a:buChar char="•"/>
            </a:pPr>
            <a:r>
              <a:rPr lang="en">
                <a:latin typeface="Constantia"/>
                <a:ea typeface="Constantia"/>
                <a:cs typeface="Constantia"/>
                <a:sym typeface="Constantia"/>
              </a:rPr>
              <a:t>1. Biological and Physiological needs - air, food, drink, shelter, warmth, sex, sleep.</a:t>
            </a:r>
            <a:br>
              <a:rPr lang="en">
                <a:latin typeface="Constantia"/>
                <a:ea typeface="Constantia"/>
                <a:cs typeface="Constantia"/>
                <a:sym typeface="Constantia"/>
              </a:rPr>
            </a:br>
            <a:endParaRPr>
              <a:latin typeface="Constantia"/>
              <a:ea typeface="Constantia"/>
              <a:cs typeface="Constantia"/>
              <a:sym typeface="Constantia"/>
            </a:endParaRPr>
          </a:p>
          <a:p>
            <a:pPr indent="-171450" lvl="0" marL="177800" rtl="0" algn="l">
              <a:lnSpc>
                <a:spcPct val="90000"/>
              </a:lnSpc>
              <a:spcBef>
                <a:spcPts val="800"/>
              </a:spcBef>
              <a:spcAft>
                <a:spcPts val="0"/>
              </a:spcAft>
              <a:buClr>
                <a:schemeClr val="dk1"/>
              </a:buClr>
              <a:buSzPts val="2100"/>
              <a:buChar char="•"/>
            </a:pPr>
            <a:r>
              <a:rPr lang="en">
                <a:latin typeface="Constantia"/>
                <a:ea typeface="Constantia"/>
                <a:cs typeface="Constantia"/>
                <a:sym typeface="Constantia"/>
              </a:rPr>
              <a:t>2. Safety needs - protection from elements, security, order, law, stability, freedom from fear.</a:t>
            </a:r>
            <a:br>
              <a:rPr lang="en">
                <a:latin typeface="Constantia"/>
                <a:ea typeface="Constantia"/>
                <a:cs typeface="Constantia"/>
                <a:sym typeface="Constantia"/>
              </a:rPr>
            </a:br>
            <a:endParaRPr>
              <a:latin typeface="Constantia"/>
              <a:ea typeface="Constantia"/>
              <a:cs typeface="Constantia"/>
              <a:sym typeface="Constantia"/>
            </a:endParaRPr>
          </a:p>
          <a:p>
            <a:pPr indent="-171450" lvl="0" marL="177800" rtl="0" algn="l">
              <a:lnSpc>
                <a:spcPct val="90000"/>
              </a:lnSpc>
              <a:spcBef>
                <a:spcPts val="800"/>
              </a:spcBef>
              <a:spcAft>
                <a:spcPts val="0"/>
              </a:spcAft>
              <a:buClr>
                <a:schemeClr val="dk1"/>
              </a:buClr>
              <a:buSzPts val="2100"/>
              <a:buChar char="•"/>
            </a:pPr>
            <a:r>
              <a:rPr lang="en">
                <a:latin typeface="Constantia"/>
                <a:ea typeface="Constantia"/>
                <a:cs typeface="Constantia"/>
                <a:sym typeface="Constantia"/>
              </a:rPr>
              <a:t>3. Love and belongingness needs - friendship, intimacy, affection and love, - from work group, family, friends, romantic relationships.</a:t>
            </a:r>
            <a:br>
              <a:rPr lang="en">
                <a:latin typeface="Constantia"/>
                <a:ea typeface="Constantia"/>
                <a:cs typeface="Constantia"/>
                <a:sym typeface="Constantia"/>
              </a:rPr>
            </a:br>
            <a:endParaRPr>
              <a:latin typeface="Constantia"/>
              <a:ea typeface="Constantia"/>
              <a:cs typeface="Constantia"/>
              <a:sym typeface="Constantia"/>
            </a:endParaRPr>
          </a:p>
          <a:p>
            <a:pPr indent="-38100" lvl="0" marL="177800" rtl="0" algn="l">
              <a:lnSpc>
                <a:spcPct val="90000"/>
              </a:lnSpc>
              <a:spcBef>
                <a:spcPts val="800"/>
              </a:spcBef>
              <a:spcAft>
                <a:spcPts val="0"/>
              </a:spcAft>
              <a:buClr>
                <a:schemeClr val="dk1"/>
              </a:buClr>
              <a:buSzPts val="2100"/>
              <a:buNone/>
            </a:pPr>
            <a:r>
              <a:t/>
            </a:r>
            <a:endParaRPr>
              <a:latin typeface="Constantia"/>
              <a:ea typeface="Constantia"/>
              <a:cs typeface="Constantia"/>
              <a:sym typeface="Constanti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5"/>
          <p:cNvSpPr txBox="1"/>
          <p:nvPr>
            <p:ph type="title"/>
          </p:nvPr>
        </p:nvSpPr>
        <p:spPr>
          <a:xfrm>
            <a:off x="471488" y="205383"/>
            <a:ext cx="5915100" cy="7458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onstantia"/>
              <a:buNone/>
            </a:pPr>
            <a:r>
              <a:rPr lang="en">
                <a:latin typeface="Constantia"/>
                <a:ea typeface="Constantia"/>
                <a:cs typeface="Constantia"/>
                <a:sym typeface="Constantia"/>
              </a:rPr>
              <a:t>Cont…</a:t>
            </a:r>
            <a:endParaRPr/>
          </a:p>
        </p:txBody>
      </p:sp>
      <p:sp>
        <p:nvSpPr>
          <p:cNvPr id="255" name="Google Shape;255;p45"/>
          <p:cNvSpPr txBox="1"/>
          <p:nvPr>
            <p:ph idx="1" type="body"/>
          </p:nvPr>
        </p:nvSpPr>
        <p:spPr>
          <a:xfrm>
            <a:off x="1369219" y="1145381"/>
            <a:ext cx="6378000" cy="3429000"/>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2100"/>
              <a:buChar char="•"/>
            </a:pPr>
            <a:r>
              <a:rPr lang="en">
                <a:latin typeface="Constantia"/>
                <a:ea typeface="Constantia"/>
                <a:cs typeface="Constantia"/>
                <a:sym typeface="Constantia"/>
              </a:rPr>
              <a:t>4. Esteem needs - achievement, mastery, independence, status, dominance, prestige, self-respect, respect from others.</a:t>
            </a:r>
            <a:br>
              <a:rPr lang="en">
                <a:latin typeface="Constantia"/>
                <a:ea typeface="Constantia"/>
                <a:cs typeface="Constantia"/>
                <a:sym typeface="Constantia"/>
              </a:rPr>
            </a:br>
            <a:endParaRPr>
              <a:latin typeface="Constantia"/>
              <a:ea typeface="Constantia"/>
              <a:cs typeface="Constantia"/>
              <a:sym typeface="Constantia"/>
            </a:endParaRPr>
          </a:p>
          <a:p>
            <a:pPr indent="-171450" lvl="0" marL="177800" rtl="0" algn="l">
              <a:lnSpc>
                <a:spcPct val="90000"/>
              </a:lnSpc>
              <a:spcBef>
                <a:spcPts val="800"/>
              </a:spcBef>
              <a:spcAft>
                <a:spcPts val="0"/>
              </a:spcAft>
              <a:buClr>
                <a:schemeClr val="dk1"/>
              </a:buClr>
              <a:buSzPts val="2100"/>
              <a:buChar char="•"/>
            </a:pPr>
            <a:r>
              <a:rPr lang="en">
                <a:latin typeface="Constantia"/>
                <a:ea typeface="Constantia"/>
                <a:cs typeface="Constantia"/>
                <a:sym typeface="Constantia"/>
              </a:rPr>
              <a:t>5. Self-Actualization needs - realizing personal potential, self-fulfillment, seeking personal growth and peak experiences.</a:t>
            </a:r>
            <a:endParaRPr/>
          </a:p>
          <a:p>
            <a:pPr indent="-38100" lvl="0" marL="177800" rtl="0" algn="l">
              <a:lnSpc>
                <a:spcPct val="90000"/>
              </a:lnSpc>
              <a:spcBef>
                <a:spcPts val="800"/>
              </a:spcBef>
              <a:spcAft>
                <a:spcPts val="0"/>
              </a:spcAft>
              <a:buClr>
                <a:schemeClr val="dk1"/>
              </a:buClr>
              <a:buSzPts val="2100"/>
              <a:buNone/>
            </a:pPr>
            <a:r>
              <a:t/>
            </a:r>
            <a:endParaRPr>
              <a:latin typeface="Constantia"/>
              <a:ea typeface="Constantia"/>
              <a:cs typeface="Constantia"/>
              <a:sym typeface="Constanti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