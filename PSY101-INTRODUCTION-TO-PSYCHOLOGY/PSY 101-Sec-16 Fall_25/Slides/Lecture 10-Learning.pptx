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0" r:id="rId1"/>
  </p:sldMasterIdLst>
  <p:notesMasterIdLst>
    <p:notesMasterId r:id="rId2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sldSz cx="9144000" cy="5143500" type="screen16x9"/>
  <p:notesSz cx="6858000" cy="9144000"/>
  <p:embeddedFontLst>
    <p:embeddedFont>
      <p:font typeface="Constantia" panose="02030602050306030303" pitchFamily="18" charset="0"/>
      <p:regular r:id="rId25"/>
      <p:bold r:id="rId26"/>
      <p:italic r:id="rId27"/>
      <p:boldItalic r:id="rId28"/>
    </p:embeddedFont>
    <p:embeddedFont>
      <p:font typeface="Verdana" panose="020B0604030504040204" pitchFamily="34" charset="0"/>
      <p:regular r:id="rId29"/>
      <p:bold r:id="rId30"/>
      <p:italic r:id="rId31"/>
      <p:boldItalic r:id="rId3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008"/>
    <p:restoredTop sz="94667"/>
  </p:normalViewPr>
  <p:slideViewPr>
    <p:cSldViewPr snapToGrid="0">
      <p:cViewPr>
        <p:scale>
          <a:sx n="120" d="100"/>
          <a:sy n="120" d="100"/>
        </p:scale>
        <p:origin x="1424" y="904"/>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2.fntdata"/><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1.fntdata"/><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5.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32" Type="http://schemas.openxmlformats.org/officeDocument/2006/relationships/font" Target="fonts/font8.fntdata"/><Relationship Id="rId37"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4.fntdata"/><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7.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3.fntdata"/><Relationship Id="rId30" Type="http://schemas.openxmlformats.org/officeDocument/2006/relationships/font" Target="fonts/font6.fntdata"/><Relationship Id="rId35"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ehedi Hasan" userId="3f84af61-50e3-4561-93b6-29c6e556d79c" providerId="ADAL" clId="{02FB1482-9278-5792-853F-EEADF0BED0EF}"/>
    <pc:docChg chg="undo custSel mod modSld">
      <pc:chgData name="Mehedi Hasan" userId="3f84af61-50e3-4561-93b6-29c6e556d79c" providerId="ADAL" clId="{02FB1482-9278-5792-853F-EEADF0BED0EF}" dt="2025-12-10T06:26:53.416" v="6" actId="1076"/>
      <pc:docMkLst>
        <pc:docMk/>
      </pc:docMkLst>
      <pc:sldChg chg="modSp mod">
        <pc:chgData name="Mehedi Hasan" userId="3f84af61-50e3-4561-93b6-29c6e556d79c" providerId="ADAL" clId="{02FB1482-9278-5792-853F-EEADF0BED0EF}" dt="2025-12-10T06:26:53.416" v="6" actId="1076"/>
        <pc:sldMkLst>
          <pc:docMk/>
          <pc:sldMk cId="0" sldId="263"/>
        </pc:sldMkLst>
        <pc:picChg chg="mod">
          <ac:chgData name="Mehedi Hasan" userId="3f84af61-50e3-4561-93b6-29c6e556d79c" providerId="ADAL" clId="{02FB1482-9278-5792-853F-EEADF0BED0EF}" dt="2025-12-10T06:26:53.416" v="6" actId="1076"/>
          <ac:picMkLst>
            <pc:docMk/>
            <pc:sldMk cId="0" sldId="263"/>
            <ac:picMk id="106" creationId="{00000000-0000-0000-0000-000000000000}"/>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g34f22017aed_0_0: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8" name="Google Shape;58;g34f22017aed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p:cNvGrpSpPr/>
        <p:nvPr/>
      </p:nvGrpSpPr>
      <p:grpSpPr>
        <a:xfrm>
          <a:off x="0" y="0"/>
          <a:ext cx="0" cy="0"/>
          <a:chOff x="0" y="0"/>
          <a:chExt cx="0" cy="0"/>
        </a:xfrm>
      </p:grpSpPr>
      <p:sp>
        <p:nvSpPr>
          <p:cNvPr id="63" name="Google Shape;63;g34f22017aed_0_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4" name="Google Shape;64;g34f22017aed_0_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 sz="1200">
                <a:solidFill>
                  <a:schemeClr val="dk1"/>
                </a:solidFill>
                <a:latin typeface="Calibri"/>
                <a:ea typeface="Calibri"/>
                <a:cs typeface="Calibri"/>
                <a:sym typeface="Calibri"/>
              </a:rPr>
              <a:t>Yeah, we don't actually know what the internal mental life of an infant's like. But it</a:t>
            </a:r>
            <a:endParaRPr/>
          </a:p>
          <a:p>
            <a:pPr marL="0" lvl="0" indent="0" algn="l" rtl="0">
              <a:spcBef>
                <a:spcPts val="0"/>
              </a:spcBef>
              <a:spcAft>
                <a:spcPts val="0"/>
              </a:spcAft>
              <a:buNone/>
            </a:pPr>
            <a:r>
              <a:rPr lang="en" sz="1200">
                <a:solidFill>
                  <a:schemeClr val="dk1"/>
                </a:solidFill>
                <a:latin typeface="Calibri"/>
                <a:ea typeface="Calibri"/>
                <a:cs typeface="Calibri"/>
                <a:sym typeface="Calibri"/>
              </a:rPr>
              <a:t>doesn't seem like they remember many very specific things about their lives. You</a:t>
            </a:r>
            <a:endParaRPr/>
          </a:p>
          <a:p>
            <a:pPr marL="0" lvl="0" indent="0" algn="l" rtl="0">
              <a:spcBef>
                <a:spcPts val="0"/>
              </a:spcBef>
              <a:spcAft>
                <a:spcPts val="0"/>
              </a:spcAft>
              <a:buNone/>
            </a:pPr>
            <a:r>
              <a:rPr lang="en" sz="1200">
                <a:solidFill>
                  <a:schemeClr val="dk1"/>
                </a:solidFill>
                <a:latin typeface="Calibri"/>
                <a:ea typeface="Calibri"/>
                <a:cs typeface="Calibri"/>
                <a:sym typeface="Calibri"/>
              </a:rPr>
              <a:t>do. But you know it's a lot more than, you know a ton of stuff, a lot of facts, right,</a:t>
            </a:r>
            <a:endParaRPr/>
          </a:p>
          <a:p>
            <a:pPr marL="0" lvl="0" indent="0" algn="l" rtl="0">
              <a:spcBef>
                <a:spcPts val="0"/>
              </a:spcBef>
              <a:spcAft>
                <a:spcPts val="0"/>
              </a:spcAft>
              <a:buNone/>
            </a:pPr>
            <a:r>
              <a:rPr lang="en" sz="1200">
                <a:solidFill>
                  <a:schemeClr val="dk1"/>
                </a:solidFill>
                <a:latin typeface="Calibri"/>
                <a:ea typeface="Calibri"/>
                <a:cs typeface="Calibri"/>
                <a:sym typeface="Calibri"/>
              </a:rPr>
              <a:t>things about the world, the values you hold, about your family, your culture, the</a:t>
            </a:r>
            <a:endParaRPr/>
          </a:p>
          <a:p>
            <a:pPr marL="0" lvl="0" indent="0" algn="l" rtl="0">
              <a:spcBef>
                <a:spcPts val="0"/>
              </a:spcBef>
              <a:spcAft>
                <a:spcPts val="0"/>
              </a:spcAft>
              <a:buNone/>
            </a:pPr>
            <a:r>
              <a:rPr lang="en" sz="1200">
                <a:solidFill>
                  <a:schemeClr val="dk1"/>
                </a:solidFill>
                <a:latin typeface="Calibri"/>
                <a:ea typeface="Calibri"/>
                <a:cs typeface="Calibri"/>
                <a:sym typeface="Calibri"/>
              </a:rPr>
              <a:t>country or countries you've grown up in. You just know a ton compared to an infant.</a:t>
            </a:r>
            <a:endParaRPr/>
          </a:p>
          <a:p>
            <a:pPr marL="0" lvl="0" indent="0" algn="l" rtl="0">
              <a:spcBef>
                <a:spcPts val="0"/>
              </a:spcBef>
              <a:spcAft>
                <a:spcPts val="0"/>
              </a:spcAft>
              <a:buNone/>
            </a:pPr>
            <a:r>
              <a:rPr lang="en" sz="1200">
                <a:solidFill>
                  <a:schemeClr val="dk1"/>
                </a:solidFill>
                <a:latin typeface="Calibri"/>
                <a:ea typeface="Calibri"/>
                <a:cs typeface="Calibri"/>
                <a:sym typeface="Calibri"/>
              </a:rPr>
              <a:t>And there's only two ways that you know this. It's either in your genes when you're</a:t>
            </a:r>
            <a:endParaRPr/>
          </a:p>
          <a:p>
            <a:pPr marL="0" lvl="0" indent="0" algn="l" rtl="0">
              <a:spcBef>
                <a:spcPts val="0"/>
              </a:spcBef>
              <a:spcAft>
                <a:spcPts val="0"/>
              </a:spcAft>
              <a:buNone/>
            </a:pPr>
            <a:r>
              <a:rPr lang="en" sz="1200">
                <a:solidFill>
                  <a:schemeClr val="dk1"/>
                </a:solidFill>
                <a:latin typeface="Calibri"/>
                <a:ea typeface="Calibri"/>
                <a:cs typeface="Calibri"/>
                <a:sym typeface="Calibri"/>
              </a:rPr>
              <a:t>born or you learned it through life. And so we're going to talk today about how</a:t>
            </a:r>
            <a:endParaRPr/>
          </a:p>
          <a:p>
            <a:pPr marL="0" lvl="0" indent="0" algn="l" rtl="0">
              <a:spcBef>
                <a:spcPts val="0"/>
              </a:spcBef>
              <a:spcAft>
                <a:spcPts val="0"/>
              </a:spcAft>
              <a:buNone/>
            </a:pPr>
            <a:r>
              <a:rPr lang="en" sz="1200">
                <a:solidFill>
                  <a:schemeClr val="dk1"/>
                </a:solidFill>
                <a:latin typeface="Calibri"/>
                <a:ea typeface="Calibri"/>
                <a:cs typeface="Calibri"/>
                <a:sym typeface="Calibri"/>
              </a:rPr>
              <a:t>scientific psychology tries to approach learning. And in a remarkable thing about</a:t>
            </a:r>
            <a:endParaRPr/>
          </a:p>
          <a:p>
            <a:pPr marL="0" lvl="0" indent="0" algn="l" rtl="0">
              <a:spcBef>
                <a:spcPts val="0"/>
              </a:spcBef>
              <a:spcAft>
                <a:spcPts val="0"/>
              </a:spcAft>
              <a:buNone/>
            </a:pPr>
            <a:r>
              <a:rPr lang="en" sz="1200">
                <a:solidFill>
                  <a:schemeClr val="dk1"/>
                </a:solidFill>
                <a:latin typeface="Calibri"/>
                <a:ea typeface="Calibri"/>
                <a:cs typeface="Calibri"/>
                <a:sym typeface="Calibri"/>
              </a:rPr>
              <a:t>learning is we often think, well, we're learning lessons or whatever. We're learning</a:t>
            </a:r>
            <a:endParaRPr/>
          </a:p>
          <a:p>
            <a:pPr marL="0" lvl="0" indent="0" algn="l" rtl="0">
              <a:spcBef>
                <a:spcPts val="0"/>
              </a:spcBef>
              <a:spcAft>
                <a:spcPts val="0"/>
              </a:spcAft>
              <a:buNone/>
            </a:pPr>
            <a:r>
              <a:rPr lang="en" sz="1200">
                <a:solidFill>
                  <a:schemeClr val="dk1"/>
                </a:solidFill>
                <a:latin typeface="Calibri"/>
                <a:ea typeface="Calibri"/>
                <a:cs typeface="Calibri"/>
                <a:sym typeface="Calibri"/>
              </a:rPr>
              <a:t>material.</a:t>
            </a:r>
            <a:endParaRPr/>
          </a:p>
          <a:p>
            <a:pPr marL="0" lvl="0" indent="0" algn="l" rtl="0">
              <a:spcBef>
                <a:spcPts val="0"/>
              </a:spcBef>
              <a:spcAft>
                <a:spcPts val="0"/>
              </a:spcAft>
              <a:buNone/>
            </a:pPr>
            <a:endParaRPr/>
          </a:p>
        </p:txBody>
      </p:sp>
      <p:sp>
        <p:nvSpPr>
          <p:cNvPr id="65" name="Google Shape;65;g34f22017aed_0_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p:cNvGrpSpPr/>
        <p:nvPr/>
      </p:nvGrpSpPr>
      <p:grpSpPr>
        <a:xfrm>
          <a:off x="0" y="0"/>
          <a:ext cx="0" cy="0"/>
          <a:chOff x="0" y="0"/>
          <a:chExt cx="0" cy="0"/>
        </a:xfrm>
      </p:grpSpPr>
      <p:sp>
        <p:nvSpPr>
          <p:cNvPr id="69" name="Google Shape;69;g34f22017aed_0_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0" name="Google Shape;70;g34f22017aed_0_1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 sz="1200">
                <a:solidFill>
                  <a:schemeClr val="dk1"/>
                </a:solidFill>
                <a:latin typeface="Calibri"/>
                <a:ea typeface="Calibri"/>
                <a:cs typeface="Calibri"/>
                <a:sym typeface="Calibri"/>
              </a:rPr>
              <a:t>But the important part of learning the way we think about it is that it allows us to</a:t>
            </a:r>
            <a:endParaRPr/>
          </a:p>
          <a:p>
            <a:pPr marL="0" lvl="0" indent="0" algn="l" rtl="0">
              <a:spcBef>
                <a:spcPts val="0"/>
              </a:spcBef>
              <a:spcAft>
                <a:spcPts val="0"/>
              </a:spcAft>
              <a:buNone/>
            </a:pPr>
            <a:r>
              <a:rPr lang="en" sz="1200">
                <a:solidFill>
                  <a:schemeClr val="dk1"/>
                </a:solidFill>
                <a:latin typeface="Calibri"/>
                <a:ea typeface="Calibri"/>
                <a:cs typeface="Calibri"/>
                <a:sym typeface="Calibri"/>
              </a:rPr>
              <a:t>predict the future on the basis of the past, right? We want to learn lessons in life to</a:t>
            </a:r>
            <a:endParaRPr/>
          </a:p>
          <a:p>
            <a:pPr marL="0" lvl="0" indent="0" algn="l" rtl="0">
              <a:spcBef>
                <a:spcPts val="0"/>
              </a:spcBef>
              <a:spcAft>
                <a:spcPts val="0"/>
              </a:spcAft>
              <a:buNone/>
            </a:pPr>
            <a:r>
              <a:rPr lang="en" sz="1200">
                <a:solidFill>
                  <a:schemeClr val="dk1"/>
                </a:solidFill>
                <a:latin typeface="Calibri"/>
                <a:ea typeface="Calibri"/>
                <a:cs typeface="Calibri"/>
                <a:sym typeface="Calibri"/>
              </a:rPr>
              <a:t>know what's desirable, what's dangerous, what's a smart way to do things so we're</a:t>
            </a:r>
            <a:endParaRPr/>
          </a:p>
          <a:p>
            <a:pPr marL="0" lvl="0" indent="0" algn="l" rtl="0">
              <a:spcBef>
                <a:spcPts val="0"/>
              </a:spcBef>
              <a:spcAft>
                <a:spcPts val="0"/>
              </a:spcAft>
              <a:buNone/>
            </a:pPr>
            <a:r>
              <a:rPr lang="en" sz="1200">
                <a:solidFill>
                  <a:schemeClr val="dk1"/>
                </a:solidFill>
                <a:latin typeface="Calibri"/>
                <a:ea typeface="Calibri"/>
                <a:cs typeface="Calibri"/>
                <a:sym typeface="Calibri"/>
              </a:rPr>
              <a:t>more effective. We choose what we want to do better in the future to learn from the</a:t>
            </a:r>
            <a:endParaRPr/>
          </a:p>
          <a:p>
            <a:pPr marL="0" lvl="0" indent="0" algn="l" rtl="0">
              <a:spcBef>
                <a:spcPts val="0"/>
              </a:spcBef>
              <a:spcAft>
                <a:spcPts val="0"/>
              </a:spcAft>
              <a:buNone/>
            </a:pPr>
            <a:r>
              <a:rPr lang="en" sz="1200">
                <a:solidFill>
                  <a:schemeClr val="dk1"/>
                </a:solidFill>
                <a:latin typeface="Calibri"/>
                <a:ea typeface="Calibri"/>
                <a:cs typeface="Calibri"/>
                <a:sym typeface="Calibri"/>
              </a:rPr>
              <a:t>past and predict the future.</a:t>
            </a:r>
            <a:endParaRPr/>
          </a:p>
          <a:p>
            <a:pPr marL="0" lvl="0" indent="0" algn="l" rtl="0">
              <a:spcBef>
                <a:spcPts val="0"/>
              </a:spcBef>
              <a:spcAft>
                <a:spcPts val="0"/>
              </a:spcAft>
              <a:buNone/>
            </a:pPr>
            <a:r>
              <a:rPr lang="en" sz="1200">
                <a:solidFill>
                  <a:schemeClr val="dk1"/>
                </a:solidFill>
                <a:latin typeface="Calibri"/>
                <a:ea typeface="Calibri"/>
                <a:cs typeface="Calibri"/>
                <a:sym typeface="Calibri"/>
              </a:rPr>
              <a:t>It imbues our word with meaning. For an infant, not much means much, right? They</a:t>
            </a:r>
            <a:endParaRPr/>
          </a:p>
          <a:p>
            <a:pPr marL="0" lvl="0" indent="0" algn="l" rtl="0">
              <a:spcBef>
                <a:spcPts val="0"/>
              </a:spcBef>
              <a:spcAft>
                <a:spcPts val="0"/>
              </a:spcAft>
              <a:buNone/>
            </a:pPr>
            <a:r>
              <a:rPr lang="en" sz="1200">
                <a:solidFill>
                  <a:schemeClr val="dk1"/>
                </a:solidFill>
                <a:latin typeface="Calibri"/>
                <a:ea typeface="Calibri"/>
                <a:cs typeface="Calibri"/>
                <a:sym typeface="Calibri"/>
              </a:rPr>
              <a:t>just look around. Who knows what anything means. Words, gestures, facial</a:t>
            </a:r>
            <a:endParaRPr/>
          </a:p>
          <a:p>
            <a:pPr marL="0" lvl="0" indent="0" algn="l" rtl="0">
              <a:spcBef>
                <a:spcPts val="0"/>
              </a:spcBef>
              <a:spcAft>
                <a:spcPts val="0"/>
              </a:spcAft>
              <a:buNone/>
            </a:pPr>
            <a:r>
              <a:rPr lang="en" sz="1200">
                <a:solidFill>
                  <a:schemeClr val="dk1"/>
                </a:solidFill>
                <a:latin typeface="Calibri"/>
                <a:ea typeface="Calibri"/>
                <a:cs typeface="Calibri"/>
                <a:sym typeface="Calibri"/>
              </a:rPr>
              <a:t>expressions, there's not much meaning of the world out there. For you, the world is</a:t>
            </a:r>
            <a:endParaRPr/>
          </a:p>
          <a:p>
            <a:pPr marL="0" lvl="0" indent="0" algn="l" rtl="0">
              <a:spcBef>
                <a:spcPts val="0"/>
              </a:spcBef>
              <a:spcAft>
                <a:spcPts val="0"/>
              </a:spcAft>
              <a:buNone/>
            </a:pPr>
            <a:r>
              <a:rPr lang="en" sz="1200">
                <a:solidFill>
                  <a:schemeClr val="dk1"/>
                </a:solidFill>
                <a:latin typeface="Calibri"/>
                <a:ea typeface="Calibri"/>
                <a:cs typeface="Calibri"/>
                <a:sym typeface="Calibri"/>
              </a:rPr>
              <a:t>full of meaning, history, social interactions, everything that you're thinking about. So</a:t>
            </a:r>
            <a:endParaRPr/>
          </a:p>
          <a:p>
            <a:pPr marL="0" lvl="0" indent="0" algn="l" rtl="0">
              <a:spcBef>
                <a:spcPts val="0"/>
              </a:spcBef>
              <a:spcAft>
                <a:spcPts val="0"/>
              </a:spcAft>
              <a:buNone/>
            </a:pPr>
            <a:r>
              <a:rPr lang="en" sz="1200">
                <a:solidFill>
                  <a:schemeClr val="dk1"/>
                </a:solidFill>
                <a:latin typeface="Calibri"/>
                <a:ea typeface="Calibri"/>
                <a:cs typeface="Calibri"/>
                <a:sym typeface="Calibri"/>
              </a:rPr>
              <a:t>how do we acquire the meanings of things in the world that matter to us?</a:t>
            </a:r>
            <a:endParaRPr/>
          </a:p>
          <a:p>
            <a:pPr marL="0" lvl="0" indent="0" algn="l" rtl="0">
              <a:spcBef>
                <a:spcPts val="0"/>
              </a:spcBef>
              <a:spcAft>
                <a:spcPts val="0"/>
              </a:spcAft>
              <a:buNone/>
            </a:pPr>
            <a:r>
              <a:rPr lang="en" sz="1200">
                <a:solidFill>
                  <a:schemeClr val="dk1"/>
                </a:solidFill>
                <a:latin typeface="Calibri"/>
                <a:ea typeface="Calibri"/>
                <a:cs typeface="Calibri"/>
                <a:sym typeface="Calibri"/>
              </a:rPr>
              <a:t>And it's also had an interesting kind of a give and take with how we learn about</a:t>
            </a:r>
            <a:endParaRPr/>
          </a:p>
          <a:p>
            <a:pPr marL="0" lvl="0" indent="0" algn="l" rtl="0">
              <a:spcBef>
                <a:spcPts val="0"/>
              </a:spcBef>
              <a:spcAft>
                <a:spcPts val="0"/>
              </a:spcAft>
              <a:buNone/>
            </a:pPr>
            <a:r>
              <a:rPr lang="en" sz="1200">
                <a:solidFill>
                  <a:schemeClr val="dk1"/>
                </a:solidFill>
                <a:latin typeface="Calibri"/>
                <a:ea typeface="Calibri"/>
                <a:cs typeface="Calibri"/>
                <a:sym typeface="Calibri"/>
              </a:rPr>
              <a:t>learning in scientific psychology and sort of historically. And we'll talk about three aspects of learning today: classical conditioning,</a:t>
            </a:r>
            <a:endParaRPr/>
          </a:p>
          <a:p>
            <a:pPr marL="0" lvl="0" indent="0" algn="l" rtl="0">
              <a:spcBef>
                <a:spcPts val="0"/>
              </a:spcBef>
              <a:spcAft>
                <a:spcPts val="0"/>
              </a:spcAft>
              <a:buNone/>
            </a:pPr>
            <a:r>
              <a:rPr lang="en" sz="1200">
                <a:solidFill>
                  <a:schemeClr val="dk1"/>
                </a:solidFill>
                <a:latin typeface="Calibri"/>
                <a:ea typeface="Calibri"/>
                <a:cs typeface="Calibri"/>
                <a:sym typeface="Calibri"/>
              </a:rPr>
              <a:t>operant conditioning, and then various ways in which there are limits to conditioning.</a:t>
            </a:r>
            <a:endParaRPr/>
          </a:p>
          <a:p>
            <a:pPr marL="0" lvl="0" indent="0" algn="l" rtl="0">
              <a:spcBef>
                <a:spcPts val="0"/>
              </a:spcBef>
              <a:spcAft>
                <a:spcPts val="0"/>
              </a:spcAft>
              <a:buNone/>
            </a:pPr>
            <a:endParaRPr/>
          </a:p>
        </p:txBody>
      </p:sp>
      <p:sp>
        <p:nvSpPr>
          <p:cNvPr id="71" name="Google Shape;71;g34f22017aed_0_1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
        <p:cNvGrpSpPr/>
        <p:nvPr/>
      </p:nvGrpSpPr>
      <p:grpSpPr>
        <a:xfrm>
          <a:off x="0" y="0"/>
          <a:ext cx="0" cy="0"/>
          <a:chOff x="0" y="0"/>
          <a:chExt cx="0" cy="0"/>
        </a:xfrm>
      </p:grpSpPr>
      <p:sp>
        <p:nvSpPr>
          <p:cNvPr id="76" name="Google Shape;76;g34f22017aed_0_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7" name="Google Shape;77;g34f22017aed_0_1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8" name="Google Shape;78;g34f22017aed_0_1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p:cNvGrpSpPr/>
        <p:nvPr/>
      </p:nvGrpSpPr>
      <p:grpSpPr>
        <a:xfrm>
          <a:off x="0" y="0"/>
          <a:ext cx="0" cy="0"/>
          <a:chOff x="0" y="0"/>
          <a:chExt cx="0" cy="0"/>
        </a:xfrm>
      </p:grpSpPr>
      <p:sp>
        <p:nvSpPr>
          <p:cNvPr id="83" name="Google Shape;83;g34f22017aed_0_2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4" name="Google Shape;84;g34f22017aed_0_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g34f22017aed_0_2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 name="Google Shape;89;g34f22017aed_0_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g34f22017aed_0_31: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5" name="Google Shape;95;g34f22017aed_0_3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g34f22017aed_0_3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0" name="Google Shape;100;g34f22017aed_0_3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1" name="Google Shape;101;g34f22017aed_0_3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p:cNvGrpSpPr/>
        <p:nvPr/>
      </p:nvGrpSpPr>
      <p:grpSpPr>
        <a:xfrm>
          <a:off x="0" y="0"/>
          <a:ext cx="0" cy="0"/>
          <a:chOff x="0" y="0"/>
          <a:chExt cx="0" cy="0"/>
        </a:xfrm>
      </p:grpSpPr>
      <p:sp>
        <p:nvSpPr>
          <p:cNvPr id="108" name="Google Shape;108;g34f22017aed_0_43: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9" name="Google Shape;109;g34f22017aed_0_4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g34f22017aed_0_49: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6" name="Google Shape;116;g34f22017aed_0_4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g34f22017aed_0_53: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1" name="Google Shape;121;g34f22017aed_0_5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g34f22017aed_0_65: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8" name="Google Shape;128;g34f22017aed_0_6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p:cNvGrpSpPr/>
        <p:nvPr/>
      </p:nvGrpSpPr>
      <p:grpSpPr>
        <a:xfrm>
          <a:off x="0" y="0"/>
          <a:ext cx="0" cy="0"/>
          <a:chOff x="0" y="0"/>
          <a:chExt cx="0" cy="0"/>
        </a:xfrm>
      </p:grpSpPr>
      <p:sp>
        <p:nvSpPr>
          <p:cNvPr id="133" name="Google Shape;133;g34f22017aed_0_7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4" name="Google Shape;134;g34f22017aed_0_7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 sz="1200">
                <a:solidFill>
                  <a:schemeClr val="dk1"/>
                </a:solidFill>
                <a:latin typeface="Calibri"/>
                <a:ea typeface="Calibri"/>
                <a:cs typeface="Calibri"/>
                <a:sym typeface="Calibri"/>
              </a:rPr>
              <a:t>So we're going to discuss what instrumental conditioning is. And then we're going to</a:t>
            </a:r>
            <a:endParaRPr/>
          </a:p>
          <a:p>
            <a:pPr marL="0" lvl="0" indent="0" algn="l" rtl="0">
              <a:spcBef>
                <a:spcPts val="0"/>
              </a:spcBef>
              <a:spcAft>
                <a:spcPts val="0"/>
              </a:spcAft>
              <a:buNone/>
            </a:pPr>
            <a:r>
              <a:rPr lang="en" sz="1200">
                <a:solidFill>
                  <a:schemeClr val="dk1"/>
                </a:solidFill>
                <a:latin typeface="Calibri"/>
                <a:ea typeface="Calibri"/>
                <a:cs typeface="Calibri"/>
                <a:sym typeface="Calibri"/>
              </a:rPr>
              <a:t>slightly think philosophically about whether this is how you learn to do everything.</a:t>
            </a:r>
            <a:endParaRPr/>
          </a:p>
          <a:p>
            <a:pPr marL="0" lvl="0" indent="0" algn="l" rtl="0">
              <a:spcBef>
                <a:spcPts val="0"/>
              </a:spcBef>
              <a:spcAft>
                <a:spcPts val="0"/>
              </a:spcAft>
              <a:buNone/>
            </a:pPr>
            <a:r>
              <a:rPr lang="en" sz="1200">
                <a:solidFill>
                  <a:schemeClr val="dk1"/>
                </a:solidFill>
                <a:latin typeface="Calibri"/>
                <a:ea typeface="Calibri"/>
                <a:cs typeface="Calibri"/>
                <a:sym typeface="Calibri"/>
              </a:rPr>
              <a:t>You get to choose who the applause comes from, your parents, your family, your</a:t>
            </a:r>
            <a:endParaRPr/>
          </a:p>
          <a:p>
            <a:pPr marL="0" lvl="0" indent="0" algn="l" rtl="0">
              <a:spcBef>
                <a:spcPts val="0"/>
              </a:spcBef>
              <a:spcAft>
                <a:spcPts val="0"/>
              </a:spcAft>
              <a:buNone/>
            </a:pPr>
            <a:r>
              <a:rPr lang="en" sz="1200">
                <a:solidFill>
                  <a:schemeClr val="dk1"/>
                </a:solidFill>
                <a:latin typeface="Calibri"/>
                <a:ea typeface="Calibri"/>
                <a:cs typeface="Calibri"/>
                <a:sym typeface="Calibri"/>
              </a:rPr>
              <a:t>friends, medical schools and law schools and graduate schools. You get to choose</a:t>
            </a:r>
            <a:endParaRPr/>
          </a:p>
          <a:p>
            <a:pPr marL="0" lvl="0" indent="0" algn="l" rtl="0">
              <a:spcBef>
                <a:spcPts val="0"/>
              </a:spcBef>
              <a:spcAft>
                <a:spcPts val="0"/>
              </a:spcAft>
              <a:buNone/>
            </a:pPr>
            <a:r>
              <a:rPr lang="en" sz="1200">
                <a:solidFill>
                  <a:schemeClr val="dk1"/>
                </a:solidFill>
                <a:latin typeface="Calibri"/>
                <a:ea typeface="Calibri"/>
                <a:cs typeface="Calibri"/>
                <a:sym typeface="Calibri"/>
              </a:rPr>
              <a:t>who the applause comes from, about how much of our lives is responding to the</a:t>
            </a:r>
            <a:endParaRPr/>
          </a:p>
          <a:p>
            <a:pPr marL="0" lvl="0" indent="0" algn="l" rtl="0">
              <a:spcBef>
                <a:spcPts val="0"/>
              </a:spcBef>
              <a:spcAft>
                <a:spcPts val="0"/>
              </a:spcAft>
              <a:buNone/>
            </a:pPr>
            <a:r>
              <a:rPr lang="en" sz="1200">
                <a:solidFill>
                  <a:schemeClr val="dk1"/>
                </a:solidFill>
                <a:latin typeface="Calibri"/>
                <a:ea typeface="Calibri"/>
                <a:cs typeface="Calibri"/>
                <a:sym typeface="Calibri"/>
              </a:rPr>
              <a:t>applause that we care about</a:t>
            </a:r>
            <a:endParaRPr/>
          </a:p>
          <a:p>
            <a:pPr marL="0" lvl="0" indent="0" algn="l" rtl="0">
              <a:spcBef>
                <a:spcPts val="0"/>
              </a:spcBef>
              <a:spcAft>
                <a:spcPts val="0"/>
              </a:spcAft>
              <a:buNone/>
            </a:pPr>
            <a:endParaRPr/>
          </a:p>
        </p:txBody>
      </p:sp>
      <p:sp>
        <p:nvSpPr>
          <p:cNvPr id="135" name="Google Shape;135;g34f22017aed_0_7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g34f22017aed_0_79: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4" name="Google Shape;144;g34f22017aed_0_7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g34f22017aed_0_8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9" name="Google Shape;149;g34f22017aed_0_8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Google Shape;153;g34f22017aed_0_87: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4" name="Google Shape;154;g34f22017aed_0_8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g34f22017aed_0_9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0" name="Google Shape;160;g34f22017aed_0_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g34f22017aed_0_9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5" name="Google Shape;165;g34f22017aed_0_9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p:cNvGrpSpPr/>
        <p:nvPr/>
      </p:nvGrpSpPr>
      <p:grpSpPr>
        <a:xfrm>
          <a:off x="0" y="0"/>
          <a:ext cx="0" cy="0"/>
          <a:chOff x="0" y="0"/>
          <a:chExt cx="0" cy="0"/>
        </a:xfrm>
      </p:grpSpPr>
      <p:sp>
        <p:nvSpPr>
          <p:cNvPr id="170" name="Google Shape;170;g34f22017aed_0_10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1" name="Google Shape;171;g34f22017aed_0_10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 sz="1200" b="0" i="0" u="none" strike="noStrike">
                <a:solidFill>
                  <a:schemeClr val="dk1"/>
                </a:solidFill>
                <a:latin typeface="Calibri"/>
                <a:ea typeface="Calibri"/>
                <a:cs typeface="Calibri"/>
                <a:sym typeface="Calibri"/>
              </a:rPr>
              <a:t>The partial reinforcement effect (PRE) is </a:t>
            </a:r>
            <a:r>
              <a:rPr lang="en" sz="1200" b="1" i="0" u="none" strike="noStrike">
                <a:solidFill>
                  <a:schemeClr val="dk1"/>
                </a:solidFill>
                <a:latin typeface="Calibri"/>
                <a:ea typeface="Calibri"/>
                <a:cs typeface="Calibri"/>
                <a:sym typeface="Calibri"/>
              </a:rPr>
              <a:t>the empirical finding that resistance to extinction is greater following acquisition where some, but not all, responses are reinforced</a:t>
            </a:r>
            <a:r>
              <a:rPr lang="en" sz="1200" b="0" i="0" u="none" strike="noStrike">
                <a:solidFill>
                  <a:schemeClr val="dk1"/>
                </a:solidFill>
                <a:latin typeface="Calibri"/>
                <a:ea typeface="Calibri"/>
                <a:cs typeface="Calibri"/>
                <a:sym typeface="Calibri"/>
              </a:rPr>
              <a:t> (PRF); compared to acquisition all responses are reinforced (CRF).</a:t>
            </a:r>
            <a:endParaRPr/>
          </a:p>
        </p:txBody>
      </p:sp>
      <p:sp>
        <p:nvSpPr>
          <p:cNvPr id="172" name="Google Shape;172;g34f22017aed_0_10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g34f22017aed_0_12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3" name="Google Shape;193;g34f22017aed_0_1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p:cNvGrpSpPr/>
        <p:nvPr/>
      </p:nvGrpSpPr>
      <p:grpSpPr>
        <a:xfrm>
          <a:off x="0" y="0"/>
          <a:ext cx="0" cy="0"/>
          <a:chOff x="0" y="0"/>
          <a:chExt cx="0" cy="0"/>
        </a:xfrm>
      </p:grpSpPr>
      <p:sp>
        <p:nvSpPr>
          <p:cNvPr id="198" name="Google Shape;198;g34f22017aed_0_12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9" name="Google Shape;199;g34f22017aed_0_1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3"/>
        <p:cNvGrpSpPr/>
        <p:nvPr/>
      </p:nvGrpSpPr>
      <p:grpSpPr>
        <a:xfrm>
          <a:off x="0" y="0"/>
          <a:ext cx="0" cy="0"/>
          <a:chOff x="0" y="0"/>
          <a:chExt cx="0" cy="0"/>
        </a:xfrm>
      </p:grpSpPr>
      <p:sp>
        <p:nvSpPr>
          <p:cNvPr id="204" name="Google Shape;204;g34f22017aed_0_13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5" name="Google Shape;205;g34f22017aed_0_13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6" name="Google Shape;206;g34f22017aed_0_13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
              <a:t>22</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628650" y="273844"/>
            <a:ext cx="7886700" cy="994200"/>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3300"/>
              <a:buFont typeface="Constantia"/>
              <a:buNone/>
              <a:defRPr>
                <a:latin typeface="Constantia"/>
                <a:ea typeface="Constantia"/>
                <a:cs typeface="Constantia"/>
                <a:sym typeface="Constantia"/>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52" name="Google Shape;52;p13"/>
          <p:cNvSpPr txBox="1">
            <a:spLocks noGrp="1"/>
          </p:cNvSpPr>
          <p:nvPr>
            <p:ph type="body" idx="1"/>
          </p:nvPr>
        </p:nvSpPr>
        <p:spPr>
          <a:xfrm>
            <a:off x="628650" y="1369219"/>
            <a:ext cx="7886700" cy="3263400"/>
          </a:xfrm>
          <a:prstGeom prst="rect">
            <a:avLst/>
          </a:prstGeom>
          <a:noFill/>
          <a:ln>
            <a:noFill/>
          </a:ln>
        </p:spPr>
        <p:txBody>
          <a:bodyPr spcFirstLastPara="1" wrap="square" lIns="68575" tIns="34275" rIns="68575" bIns="34275" anchor="t" anchorCtr="0">
            <a:normAutofit/>
          </a:bodyPr>
          <a:lstStyle>
            <a:lvl1pPr marL="457200" lvl="0" indent="-361950" algn="l">
              <a:lnSpc>
                <a:spcPct val="90000"/>
              </a:lnSpc>
              <a:spcBef>
                <a:spcPts val="800"/>
              </a:spcBef>
              <a:spcAft>
                <a:spcPts val="0"/>
              </a:spcAft>
              <a:buClr>
                <a:schemeClr val="dk1"/>
              </a:buClr>
              <a:buSzPts val="2100"/>
              <a:buChar char="●"/>
              <a:defRPr>
                <a:latin typeface="Constantia"/>
                <a:ea typeface="Constantia"/>
                <a:cs typeface="Constantia"/>
                <a:sym typeface="Constantia"/>
              </a:defRPr>
            </a:lvl1pPr>
            <a:lvl2pPr marL="914400" lvl="1" indent="-342900" algn="l">
              <a:lnSpc>
                <a:spcPct val="90000"/>
              </a:lnSpc>
              <a:spcBef>
                <a:spcPts val="1200"/>
              </a:spcBef>
              <a:spcAft>
                <a:spcPts val="0"/>
              </a:spcAft>
              <a:buClr>
                <a:schemeClr val="dk1"/>
              </a:buClr>
              <a:buSzPts val="1800"/>
              <a:buChar char="○"/>
              <a:defRPr>
                <a:latin typeface="Constantia"/>
                <a:ea typeface="Constantia"/>
                <a:cs typeface="Constantia"/>
                <a:sym typeface="Constantia"/>
              </a:defRPr>
            </a:lvl2pPr>
            <a:lvl3pPr marL="1371600" lvl="2" indent="-323850" algn="l">
              <a:lnSpc>
                <a:spcPct val="90000"/>
              </a:lnSpc>
              <a:spcBef>
                <a:spcPts val="1200"/>
              </a:spcBef>
              <a:spcAft>
                <a:spcPts val="0"/>
              </a:spcAft>
              <a:buClr>
                <a:schemeClr val="dk1"/>
              </a:buClr>
              <a:buSzPts val="1500"/>
              <a:buChar char="■"/>
              <a:defRPr>
                <a:latin typeface="Constantia"/>
                <a:ea typeface="Constantia"/>
                <a:cs typeface="Constantia"/>
                <a:sym typeface="Constantia"/>
              </a:defRPr>
            </a:lvl3pPr>
            <a:lvl4pPr marL="1828800" lvl="3" indent="-317500" algn="l">
              <a:lnSpc>
                <a:spcPct val="90000"/>
              </a:lnSpc>
              <a:spcBef>
                <a:spcPts val="1200"/>
              </a:spcBef>
              <a:spcAft>
                <a:spcPts val="0"/>
              </a:spcAft>
              <a:buClr>
                <a:schemeClr val="dk1"/>
              </a:buClr>
              <a:buSzPts val="1400"/>
              <a:buChar char="●"/>
              <a:defRPr>
                <a:latin typeface="Constantia"/>
                <a:ea typeface="Constantia"/>
                <a:cs typeface="Constantia"/>
                <a:sym typeface="Constantia"/>
              </a:defRPr>
            </a:lvl4pPr>
            <a:lvl5pPr marL="2286000" lvl="4" indent="-317500" algn="l">
              <a:lnSpc>
                <a:spcPct val="90000"/>
              </a:lnSpc>
              <a:spcBef>
                <a:spcPts val="1200"/>
              </a:spcBef>
              <a:spcAft>
                <a:spcPts val="0"/>
              </a:spcAft>
              <a:buClr>
                <a:schemeClr val="dk1"/>
              </a:buClr>
              <a:buSzPts val="1400"/>
              <a:buChar char="○"/>
              <a:defRPr>
                <a:latin typeface="Constantia"/>
                <a:ea typeface="Constantia"/>
                <a:cs typeface="Constantia"/>
                <a:sym typeface="Constantia"/>
              </a:defRPr>
            </a:lvl5pPr>
            <a:lvl6pPr marL="2743200" lvl="5" indent="-317500" algn="l">
              <a:lnSpc>
                <a:spcPct val="90000"/>
              </a:lnSpc>
              <a:spcBef>
                <a:spcPts val="1200"/>
              </a:spcBef>
              <a:spcAft>
                <a:spcPts val="0"/>
              </a:spcAft>
              <a:buClr>
                <a:schemeClr val="dk1"/>
              </a:buClr>
              <a:buSzPts val="1400"/>
              <a:buChar char="■"/>
              <a:defRPr/>
            </a:lvl6pPr>
            <a:lvl7pPr marL="3200400" lvl="6" indent="-317500" algn="l">
              <a:lnSpc>
                <a:spcPct val="90000"/>
              </a:lnSpc>
              <a:spcBef>
                <a:spcPts val="1200"/>
              </a:spcBef>
              <a:spcAft>
                <a:spcPts val="0"/>
              </a:spcAft>
              <a:buClr>
                <a:schemeClr val="dk1"/>
              </a:buClr>
              <a:buSzPts val="1400"/>
              <a:buChar char="●"/>
              <a:defRPr/>
            </a:lvl7pPr>
            <a:lvl8pPr marL="3657600" lvl="7" indent="-317500" algn="l">
              <a:lnSpc>
                <a:spcPct val="90000"/>
              </a:lnSpc>
              <a:spcBef>
                <a:spcPts val="1200"/>
              </a:spcBef>
              <a:spcAft>
                <a:spcPts val="0"/>
              </a:spcAft>
              <a:buClr>
                <a:schemeClr val="dk1"/>
              </a:buClr>
              <a:buSzPts val="1400"/>
              <a:buChar char="○"/>
              <a:defRPr/>
            </a:lvl8pPr>
            <a:lvl9pPr marL="4114800" lvl="8" indent="-317500" algn="l">
              <a:lnSpc>
                <a:spcPct val="90000"/>
              </a:lnSpc>
              <a:spcBef>
                <a:spcPts val="1200"/>
              </a:spcBef>
              <a:spcAft>
                <a:spcPts val="1200"/>
              </a:spcAft>
              <a:buClr>
                <a:schemeClr val="dk1"/>
              </a:buClr>
              <a:buSzPts val="1400"/>
              <a:buChar char="■"/>
              <a:defRPr/>
            </a:lvl9pPr>
          </a:lstStyle>
          <a:p>
            <a:endParaRPr/>
          </a:p>
        </p:txBody>
      </p:sp>
      <p:sp>
        <p:nvSpPr>
          <p:cNvPr id="53" name="Google Shape;53;p13"/>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sz="1100"/>
            </a:lvl1pPr>
            <a:lvl2pPr lvl="1" algn="l">
              <a:spcBef>
                <a:spcPts val="0"/>
              </a:spcBef>
              <a:spcAft>
                <a:spcPts val="0"/>
              </a:spcAft>
              <a:buSzPts val="1100"/>
              <a:buNone/>
              <a:defRPr sz="1100"/>
            </a:lvl2pPr>
            <a:lvl3pPr lvl="2" algn="l">
              <a:spcBef>
                <a:spcPts val="0"/>
              </a:spcBef>
              <a:spcAft>
                <a:spcPts val="0"/>
              </a:spcAft>
              <a:buSzPts val="1100"/>
              <a:buNone/>
              <a:defRPr sz="1100"/>
            </a:lvl3pPr>
            <a:lvl4pPr lvl="3" algn="l">
              <a:spcBef>
                <a:spcPts val="0"/>
              </a:spcBef>
              <a:spcAft>
                <a:spcPts val="0"/>
              </a:spcAft>
              <a:buSzPts val="1100"/>
              <a:buNone/>
              <a:defRPr sz="1100"/>
            </a:lvl4pPr>
            <a:lvl5pPr lvl="4" algn="l">
              <a:spcBef>
                <a:spcPts val="0"/>
              </a:spcBef>
              <a:spcAft>
                <a:spcPts val="0"/>
              </a:spcAft>
              <a:buSzPts val="1100"/>
              <a:buNone/>
              <a:defRPr sz="1100"/>
            </a:lvl5pPr>
            <a:lvl6pPr lvl="5" algn="l">
              <a:spcBef>
                <a:spcPts val="0"/>
              </a:spcBef>
              <a:spcAft>
                <a:spcPts val="0"/>
              </a:spcAft>
              <a:buSzPts val="1100"/>
              <a:buNone/>
              <a:defRPr sz="1100"/>
            </a:lvl6pPr>
            <a:lvl7pPr lvl="6" algn="l">
              <a:spcBef>
                <a:spcPts val="0"/>
              </a:spcBef>
              <a:spcAft>
                <a:spcPts val="0"/>
              </a:spcAft>
              <a:buSzPts val="1100"/>
              <a:buNone/>
              <a:defRPr sz="1100"/>
            </a:lvl7pPr>
            <a:lvl8pPr lvl="7" algn="l">
              <a:spcBef>
                <a:spcPts val="0"/>
              </a:spcBef>
              <a:spcAft>
                <a:spcPts val="0"/>
              </a:spcAft>
              <a:buSzPts val="1100"/>
              <a:buNone/>
              <a:defRPr sz="1100"/>
            </a:lvl8pPr>
            <a:lvl9pPr lvl="8" algn="l">
              <a:spcBef>
                <a:spcPts val="0"/>
              </a:spcBef>
              <a:spcAft>
                <a:spcPts val="0"/>
              </a:spcAft>
              <a:buSzPts val="1100"/>
              <a:buNone/>
              <a:defRPr sz="1100"/>
            </a:lvl9pPr>
          </a:lstStyle>
          <a:p>
            <a:endParaRPr/>
          </a:p>
        </p:txBody>
      </p:sp>
      <p:sp>
        <p:nvSpPr>
          <p:cNvPr id="54" name="Google Shape;54;p13"/>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sz="1100"/>
            </a:lvl1pPr>
            <a:lvl2pPr lvl="1" algn="l">
              <a:spcBef>
                <a:spcPts val="0"/>
              </a:spcBef>
              <a:spcAft>
                <a:spcPts val="0"/>
              </a:spcAft>
              <a:buSzPts val="1100"/>
              <a:buNone/>
              <a:defRPr sz="1100"/>
            </a:lvl2pPr>
            <a:lvl3pPr lvl="2" algn="l">
              <a:spcBef>
                <a:spcPts val="0"/>
              </a:spcBef>
              <a:spcAft>
                <a:spcPts val="0"/>
              </a:spcAft>
              <a:buSzPts val="1100"/>
              <a:buNone/>
              <a:defRPr sz="1100"/>
            </a:lvl3pPr>
            <a:lvl4pPr lvl="3" algn="l">
              <a:spcBef>
                <a:spcPts val="0"/>
              </a:spcBef>
              <a:spcAft>
                <a:spcPts val="0"/>
              </a:spcAft>
              <a:buSzPts val="1100"/>
              <a:buNone/>
              <a:defRPr sz="1100"/>
            </a:lvl4pPr>
            <a:lvl5pPr lvl="4" algn="l">
              <a:spcBef>
                <a:spcPts val="0"/>
              </a:spcBef>
              <a:spcAft>
                <a:spcPts val="0"/>
              </a:spcAft>
              <a:buSzPts val="1100"/>
              <a:buNone/>
              <a:defRPr sz="1100"/>
            </a:lvl5pPr>
            <a:lvl6pPr lvl="5" algn="l">
              <a:spcBef>
                <a:spcPts val="0"/>
              </a:spcBef>
              <a:spcAft>
                <a:spcPts val="0"/>
              </a:spcAft>
              <a:buSzPts val="1100"/>
              <a:buNone/>
              <a:defRPr sz="1100"/>
            </a:lvl6pPr>
            <a:lvl7pPr lvl="6" algn="l">
              <a:spcBef>
                <a:spcPts val="0"/>
              </a:spcBef>
              <a:spcAft>
                <a:spcPts val="0"/>
              </a:spcAft>
              <a:buSzPts val="1100"/>
              <a:buNone/>
              <a:defRPr sz="1100"/>
            </a:lvl7pPr>
            <a:lvl8pPr lvl="7" algn="l">
              <a:spcBef>
                <a:spcPts val="0"/>
              </a:spcBef>
              <a:spcAft>
                <a:spcPts val="0"/>
              </a:spcAft>
              <a:buSzPts val="1100"/>
              <a:buNone/>
              <a:defRPr sz="1100"/>
            </a:lvl8pPr>
            <a:lvl9pPr lvl="8" algn="l">
              <a:spcBef>
                <a:spcPts val="0"/>
              </a:spcBef>
              <a:spcAft>
                <a:spcPts val="0"/>
              </a:spcAft>
              <a:buSzPts val="1100"/>
              <a:buNone/>
              <a:defRPr sz="1100"/>
            </a:lvl9pPr>
          </a:lstStyle>
          <a:p>
            <a:endParaRPr/>
          </a:p>
        </p:txBody>
      </p:sp>
      <p:sp>
        <p:nvSpPr>
          <p:cNvPr id="55" name="Google Shape;55;p13"/>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rm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9.xml"/><Relationship Id="rId1" Type="http://schemas.openxmlformats.org/officeDocument/2006/relationships/slideLayout" Target="../slideLayouts/slideLayout5.xml"/><Relationship Id="rId4" Type="http://schemas.openxmlformats.org/officeDocument/2006/relationships/hyperlink" Target="http://www.flatworldknowledge.com/pub/introduction-psychology/67025" TargetMode="Externa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1.xml"/><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3" Type="http://schemas.openxmlformats.org/officeDocument/2006/relationships/hyperlink" Target="https://www.youtube.com/watch?v=9hBfnXACsOI" TargetMode="External"/><Relationship Id="rId2" Type="http://schemas.openxmlformats.org/officeDocument/2006/relationships/notesSlide" Target="../notesSlides/notesSlide12.xml"/><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3" Type="http://schemas.openxmlformats.org/officeDocument/2006/relationships/hyperlink" Target="https://www.britannica.com/science/learning" TargetMode="External"/><Relationship Id="rId2" Type="http://schemas.openxmlformats.org/officeDocument/2006/relationships/notesSlide" Target="../notesSlides/notesSlide21.xml"/><Relationship Id="rId1" Type="http://schemas.openxmlformats.org/officeDocument/2006/relationships/slideLayout" Target="../slideLayouts/slideLayout12.xml"/><Relationship Id="rId5" Type="http://schemas.openxmlformats.org/officeDocument/2006/relationships/hyperlink" Target="https://www.britannica.com/dictionary/emphasized" TargetMode="External"/><Relationship Id="rId4" Type="http://schemas.openxmlformats.org/officeDocument/2006/relationships/hyperlink" Target="https://www.britannica.com/biography/Albert-Bandura" TargetMode="Externa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9"/>
        <p:cNvGrpSpPr/>
        <p:nvPr/>
      </p:nvGrpSpPr>
      <p:grpSpPr>
        <a:xfrm>
          <a:off x="0" y="0"/>
          <a:ext cx="0" cy="0"/>
          <a:chOff x="0" y="0"/>
          <a:chExt cx="0" cy="0"/>
        </a:xfrm>
      </p:grpSpPr>
      <p:sp>
        <p:nvSpPr>
          <p:cNvPr id="60" name="Google Shape;60;p14"/>
          <p:cNvSpPr txBox="1">
            <a:spLocks noGrp="1"/>
          </p:cNvSpPr>
          <p:nvPr>
            <p:ph type="ctrTitle"/>
          </p:nvPr>
        </p:nvSpPr>
        <p:spPr>
          <a:xfrm>
            <a:off x="1748981" y="586006"/>
            <a:ext cx="6390600" cy="1539600"/>
          </a:xfrm>
          <a:prstGeom prst="rect">
            <a:avLst/>
          </a:prstGeom>
          <a:noFill/>
          <a:ln>
            <a:noFill/>
          </a:ln>
        </p:spPr>
        <p:txBody>
          <a:bodyPr spcFirstLastPara="1" wrap="square" lIns="68575" tIns="34275" rIns="68575" bIns="34275" anchor="b" anchorCtr="0">
            <a:normAutofit/>
          </a:bodyPr>
          <a:lstStyle/>
          <a:p>
            <a:pPr marL="0" lvl="0" indent="0" algn="ctr" rtl="0">
              <a:lnSpc>
                <a:spcPct val="90000"/>
              </a:lnSpc>
              <a:spcBef>
                <a:spcPts val="0"/>
              </a:spcBef>
              <a:spcAft>
                <a:spcPts val="0"/>
              </a:spcAft>
              <a:buClr>
                <a:schemeClr val="dk1"/>
              </a:buClr>
              <a:buSzPts val="4500"/>
              <a:buFont typeface="Constantia"/>
              <a:buNone/>
            </a:pPr>
            <a:r>
              <a:rPr lang="en">
                <a:latin typeface="Constantia"/>
                <a:ea typeface="Constantia"/>
                <a:cs typeface="Constantia"/>
                <a:sym typeface="Constantia"/>
              </a:rPr>
              <a:t>Learning </a:t>
            </a:r>
            <a:endParaRPr/>
          </a:p>
        </p:txBody>
      </p:sp>
      <p:sp>
        <p:nvSpPr>
          <p:cNvPr id="61" name="Google Shape;61;p14"/>
          <p:cNvSpPr txBox="1">
            <a:spLocks noGrp="1"/>
          </p:cNvSpPr>
          <p:nvPr>
            <p:ph type="subTitle" idx="1"/>
          </p:nvPr>
        </p:nvSpPr>
        <p:spPr>
          <a:xfrm>
            <a:off x="1485475" y="2571744"/>
            <a:ext cx="6390600" cy="594600"/>
          </a:xfrm>
          <a:prstGeom prst="rect">
            <a:avLst/>
          </a:prstGeom>
          <a:noFill/>
          <a:ln>
            <a:noFill/>
          </a:ln>
        </p:spPr>
        <p:txBody>
          <a:bodyPr spcFirstLastPara="1" wrap="square" lIns="68575" tIns="34275" rIns="68575" bIns="34275" anchor="t" anchorCtr="0">
            <a:noAutofit/>
          </a:bodyPr>
          <a:lstStyle/>
          <a:p>
            <a:pPr marL="0" lvl="0" indent="0" algn="ctr" rtl="0">
              <a:lnSpc>
                <a:spcPct val="70000"/>
              </a:lnSpc>
              <a:spcBef>
                <a:spcPts val="0"/>
              </a:spcBef>
              <a:spcAft>
                <a:spcPts val="0"/>
              </a:spcAft>
              <a:buClr>
                <a:schemeClr val="dk1"/>
              </a:buClr>
              <a:buSzPts val="450"/>
              <a:buNone/>
            </a:pPr>
            <a:r>
              <a:rPr lang="en" sz="2100" b="1">
                <a:latin typeface="Constantia"/>
                <a:ea typeface="Constantia"/>
                <a:cs typeface="Constantia"/>
                <a:sym typeface="Constantia"/>
              </a:rPr>
              <a:t>PSY 101, BRAC University</a:t>
            </a:r>
            <a:endParaRPr sz="2100" b="1"/>
          </a:p>
          <a:p>
            <a:pPr marL="0" lvl="0" indent="0" algn="ctr" rtl="0">
              <a:lnSpc>
                <a:spcPct val="70000"/>
              </a:lnSpc>
              <a:spcBef>
                <a:spcPts val="800"/>
              </a:spcBef>
              <a:spcAft>
                <a:spcPts val="0"/>
              </a:spcAft>
              <a:buClr>
                <a:schemeClr val="dk1"/>
              </a:buClr>
              <a:buSzPts val="450"/>
              <a:buNone/>
            </a:pPr>
            <a:endParaRPr sz="2100" b="1">
              <a:latin typeface="Constantia"/>
              <a:ea typeface="Constantia"/>
              <a:cs typeface="Constantia"/>
              <a:sym typeface="Constantia"/>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6"/>
        <p:cNvGrpSpPr/>
        <p:nvPr/>
      </p:nvGrpSpPr>
      <p:grpSpPr>
        <a:xfrm>
          <a:off x="0" y="0"/>
          <a:ext cx="0" cy="0"/>
          <a:chOff x="0" y="0"/>
          <a:chExt cx="0" cy="0"/>
        </a:xfrm>
      </p:grpSpPr>
      <p:sp>
        <p:nvSpPr>
          <p:cNvPr id="67" name="Google Shape;67;p15"/>
          <p:cNvSpPr txBox="1">
            <a:spLocks noGrp="1"/>
          </p:cNvSpPr>
          <p:nvPr>
            <p:ph type="title"/>
          </p:nvPr>
        </p:nvSpPr>
        <p:spPr>
          <a:xfrm>
            <a:off x="948690" y="2006798"/>
            <a:ext cx="7886700" cy="994200"/>
          </a:xfrm>
          <a:prstGeom prst="rect">
            <a:avLst/>
          </a:prstGeom>
          <a:noFill/>
          <a:ln>
            <a:noFill/>
          </a:ln>
        </p:spPr>
        <p:txBody>
          <a:bodyPr spcFirstLastPara="1" wrap="square" lIns="68575" tIns="34275" rIns="68575" bIns="34275" anchor="ctr" anchorCtr="0">
            <a:normAutofit/>
          </a:bodyPr>
          <a:lstStyle/>
          <a:p>
            <a:pPr marL="0" lvl="0" indent="0" algn="ctr" rtl="0">
              <a:lnSpc>
                <a:spcPct val="90000"/>
              </a:lnSpc>
              <a:spcBef>
                <a:spcPts val="0"/>
              </a:spcBef>
              <a:spcAft>
                <a:spcPts val="0"/>
              </a:spcAft>
              <a:buClr>
                <a:schemeClr val="dk1"/>
              </a:buClr>
              <a:buSzPts val="3300"/>
              <a:buFont typeface="Constantia"/>
              <a:buNone/>
            </a:pPr>
            <a:r>
              <a:rPr lang="en">
                <a:latin typeface="Constantia"/>
                <a:ea typeface="Constantia"/>
                <a:cs typeface="Constantia"/>
                <a:sym typeface="Constantia"/>
              </a:rPr>
              <a:t>What can you do now that you couldn’t do as an infant?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2"/>
        <p:cNvGrpSpPr/>
        <p:nvPr/>
      </p:nvGrpSpPr>
      <p:grpSpPr>
        <a:xfrm>
          <a:off x="0" y="0"/>
          <a:ext cx="0" cy="0"/>
          <a:chOff x="0" y="0"/>
          <a:chExt cx="0" cy="0"/>
        </a:xfrm>
      </p:grpSpPr>
      <p:sp>
        <p:nvSpPr>
          <p:cNvPr id="73" name="Google Shape;73;p16"/>
          <p:cNvSpPr txBox="1">
            <a:spLocks noGrp="1"/>
          </p:cNvSpPr>
          <p:nvPr>
            <p:ph type="title"/>
          </p:nvPr>
        </p:nvSpPr>
        <p:spPr>
          <a:xfrm>
            <a:off x="880355" y="386336"/>
            <a:ext cx="2215200" cy="517200"/>
          </a:xfrm>
          <a:prstGeom prst="rect">
            <a:avLst/>
          </a:prstGeom>
          <a:noFill/>
          <a:ln>
            <a:noFill/>
          </a:ln>
        </p:spPr>
        <p:txBody>
          <a:bodyPr spcFirstLastPara="1" wrap="square" lIns="0" tIns="9075" rIns="0" bIns="0" anchor="ctr" anchorCtr="0">
            <a:spAutoFit/>
          </a:bodyPr>
          <a:lstStyle/>
          <a:p>
            <a:pPr marL="12700" lvl="0" indent="0" algn="l" rtl="0">
              <a:lnSpc>
                <a:spcPct val="100000"/>
              </a:lnSpc>
              <a:spcBef>
                <a:spcPts val="0"/>
              </a:spcBef>
              <a:spcAft>
                <a:spcPts val="0"/>
              </a:spcAft>
              <a:buClr>
                <a:schemeClr val="dk1"/>
              </a:buClr>
              <a:buSzPts val="3300"/>
              <a:buFont typeface="Constantia"/>
              <a:buNone/>
            </a:pPr>
            <a:r>
              <a:rPr lang="en" sz="3300" b="1"/>
              <a:t>Learning</a:t>
            </a:r>
            <a:endParaRPr sz="3300" b="1"/>
          </a:p>
        </p:txBody>
      </p:sp>
      <p:sp>
        <p:nvSpPr>
          <p:cNvPr id="74" name="Google Shape;74;p16"/>
          <p:cNvSpPr txBox="1"/>
          <p:nvPr/>
        </p:nvSpPr>
        <p:spPr>
          <a:xfrm>
            <a:off x="703205" y="1047204"/>
            <a:ext cx="6617100" cy="3842700"/>
          </a:xfrm>
          <a:prstGeom prst="rect">
            <a:avLst/>
          </a:prstGeom>
          <a:noFill/>
          <a:ln>
            <a:noFill/>
          </a:ln>
        </p:spPr>
        <p:txBody>
          <a:bodyPr spcFirstLastPara="1" wrap="square" lIns="0" tIns="54500" rIns="0" bIns="0" anchor="t" anchorCtr="0">
            <a:spAutoFit/>
          </a:bodyPr>
          <a:lstStyle/>
          <a:p>
            <a:pPr marL="266700" marR="647700" lvl="0" indent="-254000" algn="l" rtl="0">
              <a:lnSpc>
                <a:spcPct val="106569"/>
              </a:lnSpc>
              <a:spcBef>
                <a:spcPts val="0"/>
              </a:spcBef>
              <a:spcAft>
                <a:spcPts val="0"/>
              </a:spcAft>
              <a:buClr>
                <a:schemeClr val="dk1"/>
              </a:buClr>
              <a:buSzPts val="2400"/>
              <a:buChar char="•"/>
            </a:pPr>
            <a:r>
              <a:rPr lang="en" sz="2400" i="0" u="none" strike="noStrike" cap="none">
                <a:solidFill>
                  <a:schemeClr val="dk1"/>
                </a:solidFill>
                <a:latin typeface="Constantia"/>
                <a:ea typeface="Constantia"/>
                <a:cs typeface="Constantia"/>
                <a:sym typeface="Constantia"/>
              </a:rPr>
              <a:t>how behavior changes within the  lifespan of an individual</a:t>
            </a:r>
            <a:endParaRPr sz="2400" i="0" u="none" strike="noStrike" cap="none">
              <a:solidFill>
                <a:schemeClr val="dk1"/>
              </a:solidFill>
              <a:latin typeface="Constantia"/>
              <a:ea typeface="Constantia"/>
              <a:cs typeface="Constantia"/>
              <a:sym typeface="Constantia"/>
            </a:endParaRPr>
          </a:p>
          <a:p>
            <a:pPr marL="266700" marR="1003300" lvl="0" indent="-254000" algn="l" rtl="0">
              <a:lnSpc>
                <a:spcPct val="106569"/>
              </a:lnSpc>
              <a:spcBef>
                <a:spcPts val="600"/>
              </a:spcBef>
              <a:spcAft>
                <a:spcPts val="0"/>
              </a:spcAft>
              <a:buClr>
                <a:schemeClr val="dk1"/>
              </a:buClr>
              <a:buSzPts val="2400"/>
              <a:buChar char="•"/>
            </a:pPr>
            <a:r>
              <a:rPr lang="en" sz="2400" i="0" u="none" strike="noStrike" cap="none">
                <a:solidFill>
                  <a:schemeClr val="dk1"/>
                </a:solidFill>
                <a:latin typeface="Constantia"/>
                <a:ea typeface="Constantia"/>
                <a:cs typeface="Constantia"/>
                <a:sym typeface="Constantia"/>
              </a:rPr>
              <a:t>everything we know that is not  genetically given</a:t>
            </a:r>
            <a:endParaRPr sz="2400" i="0" u="none" strike="noStrike" cap="none">
              <a:solidFill>
                <a:schemeClr val="dk1"/>
              </a:solidFill>
              <a:latin typeface="Constantia"/>
              <a:ea typeface="Constantia"/>
              <a:cs typeface="Constantia"/>
              <a:sym typeface="Constantia"/>
            </a:endParaRPr>
          </a:p>
          <a:p>
            <a:pPr marL="266700" marR="0" lvl="0" indent="-254000" algn="l" rtl="0">
              <a:lnSpc>
                <a:spcPct val="113262"/>
              </a:lnSpc>
              <a:spcBef>
                <a:spcPts val="300"/>
              </a:spcBef>
              <a:spcAft>
                <a:spcPts val="0"/>
              </a:spcAft>
              <a:buClr>
                <a:schemeClr val="dk1"/>
              </a:buClr>
              <a:buSzPts val="2400"/>
              <a:buChar char="•"/>
            </a:pPr>
            <a:r>
              <a:rPr lang="en" sz="2400" i="0" u="none" strike="noStrike" cap="none">
                <a:solidFill>
                  <a:schemeClr val="dk1"/>
                </a:solidFill>
                <a:latin typeface="Constantia"/>
                <a:ea typeface="Constantia"/>
                <a:cs typeface="Constantia"/>
                <a:sym typeface="Constantia"/>
              </a:rPr>
              <a:t>how to predict the </a:t>
            </a:r>
            <a:r>
              <a:rPr lang="en" sz="2400" i="1" u="none" strike="noStrike" cap="none">
                <a:solidFill>
                  <a:schemeClr val="dk1"/>
                </a:solidFill>
                <a:latin typeface="Constantia"/>
                <a:ea typeface="Constantia"/>
                <a:cs typeface="Constantia"/>
                <a:sym typeface="Constantia"/>
              </a:rPr>
              <a:t>future </a:t>
            </a:r>
            <a:r>
              <a:rPr lang="en" sz="2400" i="0" u="none" strike="noStrike" cap="none">
                <a:solidFill>
                  <a:schemeClr val="dk1"/>
                </a:solidFill>
                <a:latin typeface="Constantia"/>
                <a:ea typeface="Constantia"/>
                <a:cs typeface="Constantia"/>
                <a:sym typeface="Constantia"/>
              </a:rPr>
              <a:t>on the </a:t>
            </a:r>
            <a:r>
              <a:rPr lang="en" sz="2400" i="1" u="none" strike="noStrike" cap="none">
                <a:solidFill>
                  <a:schemeClr val="dk1"/>
                </a:solidFill>
                <a:latin typeface="Constantia"/>
                <a:ea typeface="Constantia"/>
                <a:cs typeface="Constantia"/>
                <a:sym typeface="Constantia"/>
              </a:rPr>
              <a:t>basis</a:t>
            </a:r>
            <a:endParaRPr sz="2400" i="0" u="none" strike="noStrike" cap="none">
              <a:solidFill>
                <a:schemeClr val="dk1"/>
              </a:solidFill>
              <a:latin typeface="Constantia"/>
              <a:ea typeface="Constantia"/>
              <a:cs typeface="Constantia"/>
              <a:sym typeface="Constantia"/>
            </a:endParaRPr>
          </a:p>
          <a:p>
            <a:pPr marL="266700" marR="0" lvl="0" indent="0" algn="l" rtl="0">
              <a:lnSpc>
                <a:spcPct val="113262"/>
              </a:lnSpc>
              <a:spcBef>
                <a:spcPts val="0"/>
              </a:spcBef>
              <a:spcAft>
                <a:spcPts val="0"/>
              </a:spcAft>
              <a:buNone/>
            </a:pPr>
            <a:r>
              <a:rPr lang="en" sz="2400" i="0" u="none" strike="noStrike" cap="none">
                <a:solidFill>
                  <a:schemeClr val="dk1"/>
                </a:solidFill>
                <a:latin typeface="Constantia"/>
                <a:ea typeface="Constantia"/>
                <a:cs typeface="Constantia"/>
                <a:sym typeface="Constantia"/>
              </a:rPr>
              <a:t>of past experience</a:t>
            </a:r>
            <a:endParaRPr sz="2400" i="0" u="none" strike="noStrike" cap="none">
              <a:solidFill>
                <a:schemeClr val="dk1"/>
              </a:solidFill>
              <a:latin typeface="Constantia"/>
              <a:ea typeface="Constantia"/>
              <a:cs typeface="Constantia"/>
              <a:sym typeface="Constantia"/>
            </a:endParaRPr>
          </a:p>
          <a:p>
            <a:pPr marL="266700" marR="0" lvl="0" indent="-254000" algn="l" rtl="0">
              <a:spcBef>
                <a:spcPts val="300"/>
              </a:spcBef>
              <a:spcAft>
                <a:spcPts val="0"/>
              </a:spcAft>
              <a:buClr>
                <a:schemeClr val="dk1"/>
              </a:buClr>
              <a:buSzPts val="2400"/>
              <a:buChar char="•"/>
            </a:pPr>
            <a:r>
              <a:rPr lang="en" sz="2400" i="0" u="none" strike="noStrike" cap="none">
                <a:solidFill>
                  <a:schemeClr val="dk1"/>
                </a:solidFill>
                <a:latin typeface="Constantia"/>
                <a:ea typeface="Constantia"/>
                <a:cs typeface="Constantia"/>
                <a:sym typeface="Constantia"/>
              </a:rPr>
              <a:t>to imbue the world with </a:t>
            </a:r>
            <a:r>
              <a:rPr lang="en" sz="2400" i="1" u="none" strike="noStrike" cap="none">
                <a:solidFill>
                  <a:schemeClr val="dk1"/>
                </a:solidFill>
                <a:latin typeface="Constantia"/>
                <a:ea typeface="Constantia"/>
                <a:cs typeface="Constantia"/>
                <a:sym typeface="Constantia"/>
              </a:rPr>
              <a:t>meaning</a:t>
            </a:r>
            <a:endParaRPr sz="2400" i="0" u="none" strike="noStrike" cap="none">
              <a:solidFill>
                <a:schemeClr val="dk1"/>
              </a:solidFill>
              <a:latin typeface="Constantia"/>
              <a:ea typeface="Constantia"/>
              <a:cs typeface="Constantia"/>
              <a:sym typeface="Constantia"/>
            </a:endParaRPr>
          </a:p>
          <a:p>
            <a:pPr marL="266700" marR="838200" lvl="0" indent="-254000" algn="l" rtl="0">
              <a:lnSpc>
                <a:spcPct val="106569"/>
              </a:lnSpc>
              <a:spcBef>
                <a:spcPts val="700"/>
              </a:spcBef>
              <a:spcAft>
                <a:spcPts val="0"/>
              </a:spcAft>
              <a:buClr>
                <a:schemeClr val="dk1"/>
              </a:buClr>
              <a:buSzPts val="2400"/>
              <a:buChar char="•"/>
            </a:pPr>
            <a:r>
              <a:rPr lang="en" sz="2400" i="0" u="none" strike="noStrike" cap="none">
                <a:solidFill>
                  <a:schemeClr val="dk1"/>
                </a:solidFill>
                <a:latin typeface="Constantia"/>
                <a:ea typeface="Constantia"/>
                <a:cs typeface="Constantia"/>
                <a:sym typeface="Constantia"/>
              </a:rPr>
              <a:t>learning about learning through  scientific psychology</a:t>
            </a:r>
            <a:endParaRPr sz="2400" i="0" u="none" strike="noStrike" cap="none">
              <a:solidFill>
                <a:schemeClr val="dk1"/>
              </a:solidFill>
              <a:latin typeface="Constantia"/>
              <a:ea typeface="Constantia"/>
              <a:cs typeface="Constantia"/>
              <a:sym typeface="Constantia"/>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9"/>
        <p:cNvGrpSpPr/>
        <p:nvPr/>
      </p:nvGrpSpPr>
      <p:grpSpPr>
        <a:xfrm>
          <a:off x="0" y="0"/>
          <a:ext cx="0" cy="0"/>
          <a:chOff x="0" y="0"/>
          <a:chExt cx="0" cy="0"/>
        </a:xfrm>
      </p:grpSpPr>
      <p:sp>
        <p:nvSpPr>
          <p:cNvPr id="80" name="Google Shape;80;p17"/>
          <p:cNvSpPr txBox="1">
            <a:spLocks noGrp="1"/>
          </p:cNvSpPr>
          <p:nvPr>
            <p:ph type="title"/>
          </p:nvPr>
        </p:nvSpPr>
        <p:spPr>
          <a:xfrm>
            <a:off x="675054" y="333075"/>
            <a:ext cx="3054000" cy="686400"/>
          </a:xfrm>
          <a:prstGeom prst="rect">
            <a:avLst/>
          </a:prstGeom>
          <a:noFill/>
          <a:ln>
            <a:noFill/>
          </a:ln>
        </p:spPr>
        <p:txBody>
          <a:bodyPr spcFirstLastPara="1" wrap="square" lIns="0" tIns="9075" rIns="0" bIns="0" anchor="ctr" anchorCtr="0">
            <a:spAutoFit/>
          </a:bodyPr>
          <a:lstStyle/>
          <a:p>
            <a:pPr marL="12700" lvl="0" indent="0" algn="l" rtl="0">
              <a:lnSpc>
                <a:spcPct val="100000"/>
              </a:lnSpc>
              <a:spcBef>
                <a:spcPts val="0"/>
              </a:spcBef>
              <a:spcAft>
                <a:spcPts val="0"/>
              </a:spcAft>
              <a:buClr>
                <a:schemeClr val="dk1"/>
              </a:buClr>
              <a:buSzPts val="3300"/>
              <a:buFont typeface="Constantia"/>
              <a:buNone/>
            </a:pPr>
            <a:r>
              <a:rPr lang="en" sz="4400" b="1"/>
              <a:t>Learning</a:t>
            </a:r>
            <a:endParaRPr sz="4400" b="1"/>
          </a:p>
        </p:txBody>
      </p:sp>
      <p:sp>
        <p:nvSpPr>
          <p:cNvPr id="81" name="Google Shape;81;p17"/>
          <p:cNvSpPr txBox="1"/>
          <p:nvPr/>
        </p:nvSpPr>
        <p:spPr>
          <a:xfrm>
            <a:off x="801848" y="1698900"/>
            <a:ext cx="6962400" cy="3090600"/>
          </a:xfrm>
          <a:prstGeom prst="rect">
            <a:avLst/>
          </a:prstGeom>
          <a:noFill/>
          <a:ln>
            <a:noFill/>
          </a:ln>
        </p:spPr>
        <p:txBody>
          <a:bodyPr spcFirstLastPara="1" wrap="square" lIns="0" tIns="9075" rIns="0" bIns="0" anchor="t" anchorCtr="0">
            <a:spAutoFit/>
          </a:bodyPr>
          <a:lstStyle/>
          <a:p>
            <a:pPr marL="469900" marR="0" lvl="0" indent="-482600" algn="l" rtl="0">
              <a:spcBef>
                <a:spcPts val="0"/>
              </a:spcBef>
              <a:spcAft>
                <a:spcPts val="0"/>
              </a:spcAft>
              <a:buClr>
                <a:schemeClr val="dk1"/>
              </a:buClr>
              <a:buSzPts val="2800"/>
              <a:buFont typeface="Times New Roman"/>
              <a:buAutoNum type="arabicPeriod"/>
            </a:pPr>
            <a:r>
              <a:rPr lang="en" sz="2800" b="1" i="0" u="none" strike="noStrike" cap="none">
                <a:solidFill>
                  <a:schemeClr val="dk1"/>
                </a:solidFill>
                <a:latin typeface="Times New Roman"/>
                <a:ea typeface="Times New Roman"/>
                <a:cs typeface="Times New Roman"/>
                <a:sym typeface="Times New Roman"/>
              </a:rPr>
              <a:t>Classical Conditioning</a:t>
            </a:r>
            <a:endParaRPr sz="2800">
              <a:solidFill>
                <a:schemeClr val="dk1"/>
              </a:solidFill>
              <a:latin typeface="Times New Roman"/>
              <a:ea typeface="Times New Roman"/>
              <a:cs typeface="Times New Roman"/>
              <a:sym typeface="Times New Roman"/>
            </a:endParaRPr>
          </a:p>
          <a:p>
            <a:pPr marL="342900" marR="0" lvl="0" indent="0" algn="l" rtl="0">
              <a:spcBef>
                <a:spcPts val="0"/>
              </a:spcBef>
              <a:spcAft>
                <a:spcPts val="0"/>
              </a:spcAft>
              <a:buNone/>
            </a:pPr>
            <a:endParaRPr sz="2800">
              <a:solidFill>
                <a:schemeClr val="dk1"/>
              </a:solidFill>
              <a:latin typeface="Times New Roman"/>
              <a:ea typeface="Times New Roman"/>
              <a:cs typeface="Times New Roman"/>
              <a:sym typeface="Times New Roman"/>
            </a:endParaRPr>
          </a:p>
          <a:p>
            <a:pPr marL="469900" marR="0" lvl="0" indent="-482600" algn="l" rtl="0">
              <a:spcBef>
                <a:spcPts val="0"/>
              </a:spcBef>
              <a:spcAft>
                <a:spcPts val="0"/>
              </a:spcAft>
              <a:buClr>
                <a:schemeClr val="dk1"/>
              </a:buClr>
              <a:buSzPts val="2800"/>
              <a:buFont typeface="Times New Roman"/>
              <a:buAutoNum type="arabicPeriod"/>
            </a:pPr>
            <a:r>
              <a:rPr lang="en" sz="2800" b="1" i="0" u="none" strike="noStrike" cap="none">
                <a:solidFill>
                  <a:schemeClr val="dk1"/>
                </a:solidFill>
                <a:latin typeface="Times New Roman"/>
                <a:ea typeface="Times New Roman"/>
                <a:cs typeface="Times New Roman"/>
                <a:sym typeface="Times New Roman"/>
              </a:rPr>
              <a:t>Operant Conditioning</a:t>
            </a:r>
            <a:endParaRPr sz="2800" b="1" i="0" u="none" strike="noStrike" cap="none">
              <a:solidFill>
                <a:schemeClr val="dk1"/>
              </a:solidFill>
              <a:latin typeface="Times New Roman"/>
              <a:ea typeface="Times New Roman"/>
              <a:cs typeface="Times New Roman"/>
              <a:sym typeface="Times New Roman"/>
            </a:endParaRPr>
          </a:p>
          <a:p>
            <a:pPr marL="342900" marR="0" lvl="0" indent="0" algn="l" rtl="0">
              <a:spcBef>
                <a:spcPts val="0"/>
              </a:spcBef>
              <a:spcAft>
                <a:spcPts val="0"/>
              </a:spcAft>
              <a:buNone/>
            </a:pPr>
            <a:endParaRPr sz="2800" b="1">
              <a:solidFill>
                <a:schemeClr val="dk1"/>
              </a:solidFill>
              <a:latin typeface="Times New Roman"/>
              <a:ea typeface="Times New Roman"/>
              <a:cs typeface="Times New Roman"/>
              <a:sym typeface="Times New Roman"/>
            </a:endParaRPr>
          </a:p>
          <a:p>
            <a:pPr marL="342900" lvl="0" indent="-342900" algn="l" rtl="0">
              <a:lnSpc>
                <a:spcPct val="90000"/>
              </a:lnSpc>
              <a:spcBef>
                <a:spcPts val="0"/>
              </a:spcBef>
              <a:spcAft>
                <a:spcPts val="0"/>
              </a:spcAft>
              <a:buClr>
                <a:schemeClr val="dk1"/>
              </a:buClr>
              <a:buSzPts val="2800"/>
              <a:buFont typeface="Times New Roman"/>
              <a:buAutoNum type="arabicPeriod"/>
            </a:pPr>
            <a:r>
              <a:rPr lang="en" sz="2800" b="1">
                <a:solidFill>
                  <a:schemeClr val="dk1"/>
                </a:solidFill>
                <a:latin typeface="Times New Roman"/>
                <a:ea typeface="Times New Roman"/>
                <a:cs typeface="Times New Roman"/>
                <a:sym typeface="Times New Roman"/>
              </a:rPr>
              <a:t>Observational Learning</a:t>
            </a:r>
            <a:endParaRPr sz="2800" b="1">
              <a:solidFill>
                <a:schemeClr val="dk1"/>
              </a:solidFill>
              <a:latin typeface="Times New Roman"/>
              <a:ea typeface="Times New Roman"/>
              <a:cs typeface="Times New Roman"/>
              <a:sym typeface="Times New Roman"/>
            </a:endParaRPr>
          </a:p>
          <a:p>
            <a:pPr marL="342900" marR="0" lvl="0" indent="0" algn="l" rtl="0">
              <a:spcBef>
                <a:spcPts val="0"/>
              </a:spcBef>
              <a:spcAft>
                <a:spcPts val="0"/>
              </a:spcAft>
              <a:buNone/>
            </a:pPr>
            <a:endParaRPr sz="2800" b="1">
              <a:solidFill>
                <a:schemeClr val="dk1"/>
              </a:solidFill>
              <a:latin typeface="Times New Roman"/>
              <a:ea typeface="Times New Roman"/>
              <a:cs typeface="Times New Roman"/>
              <a:sym typeface="Times New Roman"/>
            </a:endParaRPr>
          </a:p>
          <a:p>
            <a:pPr marL="0" marR="0" lvl="0" indent="0" algn="l" rtl="0">
              <a:spcBef>
                <a:spcPts val="0"/>
              </a:spcBef>
              <a:spcAft>
                <a:spcPts val="0"/>
              </a:spcAft>
              <a:buClr>
                <a:srgbClr val="FFFFFF"/>
              </a:buClr>
              <a:buSzPts val="3500"/>
              <a:buFont typeface="Arial"/>
              <a:buNone/>
            </a:pPr>
            <a:endParaRPr sz="3500" b="0" i="0" u="none" strike="noStrike" cap="none">
              <a:solidFill>
                <a:schemeClr val="dk1"/>
              </a:solidFill>
              <a:latin typeface="Constantia"/>
              <a:ea typeface="Constantia"/>
              <a:cs typeface="Constantia"/>
              <a:sym typeface="Constantia"/>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5"/>
        <p:cNvGrpSpPr/>
        <p:nvPr/>
      </p:nvGrpSpPr>
      <p:grpSpPr>
        <a:xfrm>
          <a:off x="0" y="0"/>
          <a:ext cx="0" cy="0"/>
          <a:chOff x="0" y="0"/>
          <a:chExt cx="0" cy="0"/>
        </a:xfrm>
      </p:grpSpPr>
      <p:sp>
        <p:nvSpPr>
          <p:cNvPr id="86" name="Google Shape;86;p18"/>
          <p:cNvSpPr txBox="1">
            <a:spLocks noGrp="1"/>
          </p:cNvSpPr>
          <p:nvPr>
            <p:ph type="body" idx="1"/>
          </p:nvPr>
        </p:nvSpPr>
        <p:spPr>
          <a:xfrm>
            <a:off x="704950" y="1970546"/>
            <a:ext cx="7886700" cy="1202400"/>
          </a:xfrm>
          <a:prstGeom prst="rect">
            <a:avLst/>
          </a:prstGeom>
        </p:spPr>
        <p:txBody>
          <a:bodyPr spcFirstLastPara="1" wrap="square" lIns="68575" tIns="34275" rIns="68575" bIns="34275" anchor="t" anchorCtr="0">
            <a:normAutofit lnSpcReduction="20000"/>
          </a:bodyPr>
          <a:lstStyle/>
          <a:p>
            <a:pPr marL="342900" lvl="0" indent="0" algn="ctr" rtl="0">
              <a:lnSpc>
                <a:spcPct val="100000"/>
              </a:lnSpc>
              <a:spcBef>
                <a:spcPts val="0"/>
              </a:spcBef>
              <a:spcAft>
                <a:spcPts val="0"/>
              </a:spcAft>
              <a:buClr>
                <a:schemeClr val="dk1"/>
              </a:buClr>
              <a:buSzPts val="1100"/>
              <a:buFont typeface="Arial"/>
              <a:buNone/>
            </a:pPr>
            <a:r>
              <a:rPr lang="en" sz="2800" b="1">
                <a:solidFill>
                  <a:schemeClr val="dk1"/>
                </a:solidFill>
                <a:latin typeface="Times New Roman"/>
                <a:ea typeface="Times New Roman"/>
                <a:cs typeface="Times New Roman"/>
                <a:sym typeface="Times New Roman"/>
              </a:rPr>
              <a:t>Classical Conditioning</a:t>
            </a:r>
            <a:endParaRPr sz="2800">
              <a:solidFill>
                <a:schemeClr val="dk1"/>
              </a:solidFill>
              <a:latin typeface="Times New Roman"/>
              <a:ea typeface="Times New Roman"/>
              <a:cs typeface="Times New Roman"/>
              <a:sym typeface="Times New Roman"/>
            </a:endParaRPr>
          </a:p>
          <a:p>
            <a:pPr marL="0" lvl="0" indent="0" algn="l" rtl="0">
              <a:spcBef>
                <a:spcPts val="0"/>
              </a:spcBef>
              <a:spcAft>
                <a:spcPts val="0"/>
              </a:spcAft>
              <a:buClr>
                <a:schemeClr val="dk1"/>
              </a:buClr>
              <a:buSzPts val="1100"/>
              <a:buFont typeface="Arial"/>
              <a:buNone/>
            </a:pPr>
            <a:endParaRPr sz="2800">
              <a:solidFill>
                <a:schemeClr val="dk1"/>
              </a:solidFill>
            </a:endParaRPr>
          </a:p>
          <a:p>
            <a:pPr marL="0" lvl="0" indent="0" algn="l" rtl="0">
              <a:spcBef>
                <a:spcPts val="800"/>
              </a:spcBef>
              <a:spcAft>
                <a:spcPts val="1200"/>
              </a:spcAft>
              <a:buNone/>
            </a:pPr>
            <a:endParaRPr sz="2800" b="1">
              <a:solidFill>
                <a:schemeClr val="dk1"/>
              </a:solidFill>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pic>
        <p:nvPicPr>
          <p:cNvPr id="91" name="Google Shape;91;p19" descr="husband and wife dancing"/>
          <p:cNvPicPr preferRelativeResize="0"/>
          <p:nvPr/>
        </p:nvPicPr>
        <p:blipFill>
          <a:blip r:embed="rId3">
            <a:alphaModFix/>
          </a:blip>
          <a:stretch>
            <a:fillRect/>
          </a:stretch>
        </p:blipFill>
        <p:spPr>
          <a:xfrm>
            <a:off x="6568000" y="1251525"/>
            <a:ext cx="2484425" cy="1856300"/>
          </a:xfrm>
          <a:prstGeom prst="rect">
            <a:avLst/>
          </a:prstGeom>
          <a:noFill/>
          <a:ln>
            <a:noFill/>
          </a:ln>
        </p:spPr>
      </p:pic>
      <p:sp>
        <p:nvSpPr>
          <p:cNvPr id="92" name="Google Shape;92;p19"/>
          <p:cNvSpPr txBox="1"/>
          <p:nvPr/>
        </p:nvSpPr>
        <p:spPr>
          <a:xfrm>
            <a:off x="263350" y="86500"/>
            <a:ext cx="5999400" cy="4924800"/>
          </a:xfrm>
          <a:prstGeom prst="rect">
            <a:avLst/>
          </a:prstGeom>
          <a:noFill/>
          <a:ln>
            <a:noFill/>
          </a:ln>
        </p:spPr>
        <p:txBody>
          <a:bodyPr spcFirstLastPara="1" wrap="square" lIns="91425" tIns="91425" rIns="91425" bIns="91425" anchor="ctr" anchorCtr="0">
            <a:noAutofit/>
          </a:bodyPr>
          <a:lstStyle/>
          <a:p>
            <a:pPr marL="0" lvl="0" indent="0" algn="just" rtl="0">
              <a:spcBef>
                <a:spcPts val="0"/>
              </a:spcBef>
              <a:spcAft>
                <a:spcPts val="0"/>
              </a:spcAft>
              <a:buNone/>
            </a:pPr>
            <a:endParaRPr sz="1800">
              <a:latin typeface="Times New Roman"/>
              <a:ea typeface="Times New Roman"/>
              <a:cs typeface="Times New Roman"/>
              <a:sym typeface="Times New Roman"/>
            </a:endParaRPr>
          </a:p>
          <a:p>
            <a:pPr marL="0" lvl="0" indent="0" algn="just" rtl="0">
              <a:lnSpc>
                <a:spcPct val="130000"/>
              </a:lnSpc>
              <a:spcBef>
                <a:spcPts val="0"/>
              </a:spcBef>
              <a:spcAft>
                <a:spcPts val="0"/>
              </a:spcAft>
              <a:buNone/>
            </a:pPr>
            <a:r>
              <a:rPr lang="en" sz="2400" b="1">
                <a:solidFill>
                  <a:srgbClr val="3A3A3A"/>
                </a:solidFill>
                <a:highlight>
                  <a:srgbClr val="FFFFFF"/>
                </a:highlight>
                <a:latin typeface="Times New Roman"/>
                <a:ea typeface="Times New Roman"/>
                <a:cs typeface="Times New Roman"/>
                <a:sym typeface="Times New Roman"/>
              </a:rPr>
              <a:t>Association of a Song with Fond Memories</a:t>
            </a:r>
            <a:endParaRPr sz="2400" b="1">
              <a:solidFill>
                <a:srgbClr val="3A3A3A"/>
              </a:solidFill>
              <a:highlight>
                <a:srgbClr val="FFFFFF"/>
              </a:highlight>
              <a:latin typeface="Times New Roman"/>
              <a:ea typeface="Times New Roman"/>
              <a:cs typeface="Times New Roman"/>
              <a:sym typeface="Times New Roman"/>
            </a:endParaRPr>
          </a:p>
          <a:p>
            <a:pPr marL="0" lvl="0" indent="0" algn="just" rtl="0">
              <a:lnSpc>
                <a:spcPct val="115000"/>
              </a:lnSpc>
              <a:spcBef>
                <a:spcPts val="1500"/>
              </a:spcBef>
              <a:spcAft>
                <a:spcPts val="0"/>
              </a:spcAft>
              <a:buNone/>
            </a:pPr>
            <a:r>
              <a:rPr lang="en" sz="1800">
                <a:solidFill>
                  <a:srgbClr val="3A3A3A"/>
                </a:solidFill>
                <a:highlight>
                  <a:srgbClr val="FFFFFF"/>
                </a:highlight>
                <a:latin typeface="Times New Roman"/>
                <a:ea typeface="Times New Roman"/>
                <a:cs typeface="Times New Roman"/>
                <a:sym typeface="Times New Roman"/>
              </a:rPr>
              <a:t>Music can be a very powerful stimulus. Sometimes in our lives we may have experiences that are very significant, such as meeting the love of our life for the first time. If that moment happens while a certain song is playing, then the two may become associated.</a:t>
            </a:r>
            <a:endParaRPr sz="1800">
              <a:solidFill>
                <a:srgbClr val="3A3A3A"/>
              </a:solidFill>
              <a:highlight>
                <a:srgbClr val="FFFFFF"/>
              </a:highlight>
              <a:latin typeface="Times New Roman"/>
              <a:ea typeface="Times New Roman"/>
              <a:cs typeface="Times New Roman"/>
              <a:sym typeface="Times New Roman"/>
            </a:endParaRPr>
          </a:p>
          <a:p>
            <a:pPr marL="0" lvl="0" indent="0" algn="just" rtl="0">
              <a:lnSpc>
                <a:spcPct val="115000"/>
              </a:lnSpc>
              <a:spcBef>
                <a:spcPts val="1900"/>
              </a:spcBef>
              <a:spcAft>
                <a:spcPts val="0"/>
              </a:spcAft>
              <a:buNone/>
            </a:pPr>
            <a:r>
              <a:rPr lang="en" sz="1800">
                <a:solidFill>
                  <a:srgbClr val="3A3A3A"/>
                </a:solidFill>
                <a:highlight>
                  <a:srgbClr val="FFFFFF"/>
                </a:highlight>
                <a:latin typeface="Times New Roman"/>
                <a:ea typeface="Times New Roman"/>
                <a:cs typeface="Times New Roman"/>
                <a:sym typeface="Times New Roman"/>
              </a:rPr>
              <a:t>Then, whenever that song is heard it can trigger our memory of meeting that person. The association between the song and event of meeting can last a very long time, even decades.</a:t>
            </a:r>
            <a:endParaRPr sz="1800">
              <a:solidFill>
                <a:srgbClr val="3A3A3A"/>
              </a:solidFill>
              <a:highlight>
                <a:srgbClr val="FFFFFF"/>
              </a:highlight>
              <a:latin typeface="Times New Roman"/>
              <a:ea typeface="Times New Roman"/>
              <a:cs typeface="Times New Roman"/>
              <a:sym typeface="Times New Roman"/>
            </a:endParaRPr>
          </a:p>
          <a:p>
            <a:pPr marL="0" lvl="0" indent="0" algn="just" rtl="0">
              <a:lnSpc>
                <a:spcPct val="115000"/>
              </a:lnSpc>
              <a:spcBef>
                <a:spcPts val="1900"/>
              </a:spcBef>
              <a:spcAft>
                <a:spcPts val="1900"/>
              </a:spcAft>
              <a:buNone/>
            </a:pPr>
            <a:r>
              <a:rPr lang="en" sz="1800">
                <a:solidFill>
                  <a:srgbClr val="3A3A3A"/>
                </a:solidFill>
                <a:highlight>
                  <a:srgbClr val="FFFFFF"/>
                </a:highlight>
                <a:latin typeface="Times New Roman"/>
                <a:ea typeface="Times New Roman"/>
                <a:cs typeface="Times New Roman"/>
                <a:sym typeface="Times New Roman"/>
              </a:rPr>
              <a:t>Even after the relationship has terminated, the memory can still persist and be triggered by that particular song. It’s unfortunate, but that is the way classical conditioning works.</a:t>
            </a:r>
            <a:endParaRPr sz="1800">
              <a:solidFill>
                <a:srgbClr val="3A3A3A"/>
              </a:solidFill>
              <a:highlight>
                <a:srgbClr val="FFFFFF"/>
              </a:highlight>
              <a:latin typeface="Times New Roman"/>
              <a:ea typeface="Times New Roman"/>
              <a:cs typeface="Times New Roman"/>
              <a:sym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sp>
        <p:nvSpPr>
          <p:cNvPr id="97" name="Google Shape;97;p20"/>
          <p:cNvSpPr txBox="1"/>
          <p:nvPr/>
        </p:nvSpPr>
        <p:spPr>
          <a:xfrm>
            <a:off x="356125" y="409050"/>
            <a:ext cx="8562300" cy="4519200"/>
          </a:xfrm>
          <a:prstGeom prst="rect">
            <a:avLst/>
          </a:prstGeom>
          <a:noFill/>
          <a:ln>
            <a:noFill/>
          </a:ln>
        </p:spPr>
        <p:txBody>
          <a:bodyPr spcFirstLastPara="1" wrap="square" lIns="0" tIns="9075" rIns="0" bIns="0" anchor="t" anchorCtr="0">
            <a:spAutoFit/>
          </a:bodyPr>
          <a:lstStyle/>
          <a:p>
            <a:pPr marL="12700" marR="0" lvl="0" indent="0" algn="ctr" rtl="0">
              <a:spcBef>
                <a:spcPts val="0"/>
              </a:spcBef>
              <a:spcAft>
                <a:spcPts val="0"/>
              </a:spcAft>
              <a:buNone/>
            </a:pPr>
            <a:r>
              <a:rPr lang="en" sz="2300" b="1">
                <a:solidFill>
                  <a:schemeClr val="dk1"/>
                </a:solidFill>
                <a:latin typeface="Times New Roman"/>
                <a:ea typeface="Times New Roman"/>
                <a:cs typeface="Times New Roman"/>
                <a:sym typeface="Times New Roman"/>
              </a:rPr>
              <a:t>Ivan Pavlov (1849-1936)</a:t>
            </a:r>
            <a:endParaRPr sz="2300">
              <a:solidFill>
                <a:schemeClr val="dk1"/>
              </a:solidFill>
              <a:latin typeface="Times New Roman"/>
              <a:ea typeface="Times New Roman"/>
              <a:cs typeface="Times New Roman"/>
              <a:sym typeface="Times New Roman"/>
            </a:endParaRPr>
          </a:p>
          <a:p>
            <a:pPr marL="0" marR="0" lvl="0" indent="0" algn="l" rtl="0">
              <a:spcBef>
                <a:spcPts val="0"/>
              </a:spcBef>
              <a:spcAft>
                <a:spcPts val="0"/>
              </a:spcAft>
              <a:buNone/>
            </a:pPr>
            <a:endParaRPr sz="2400">
              <a:solidFill>
                <a:schemeClr val="dk1"/>
              </a:solidFill>
              <a:latin typeface="Constantia"/>
              <a:ea typeface="Constantia"/>
              <a:cs typeface="Constantia"/>
              <a:sym typeface="Constantia"/>
            </a:endParaRPr>
          </a:p>
          <a:p>
            <a:pPr marL="165100" marR="177800" lvl="0" indent="-184150" algn="l" rtl="0">
              <a:lnSpc>
                <a:spcPct val="79700"/>
              </a:lnSpc>
              <a:spcBef>
                <a:spcPts val="0"/>
              </a:spcBef>
              <a:spcAft>
                <a:spcPts val="0"/>
              </a:spcAft>
              <a:buClr>
                <a:schemeClr val="dk1"/>
              </a:buClr>
              <a:buSzPts val="2300"/>
              <a:buFont typeface="Times New Roman"/>
              <a:buChar char="•"/>
            </a:pPr>
            <a:r>
              <a:rPr lang="en" sz="2300">
                <a:solidFill>
                  <a:schemeClr val="dk1"/>
                </a:solidFill>
                <a:latin typeface="Times New Roman"/>
                <a:ea typeface="Times New Roman"/>
                <a:cs typeface="Times New Roman"/>
                <a:sym typeface="Times New Roman"/>
              </a:rPr>
              <a:t>Nobel Prize for reflexes of digestion - food in  mouth provokes specific salivation to prepare  for digestion - salivation </a:t>
            </a:r>
            <a:r>
              <a:rPr lang="en" sz="2300" i="1">
                <a:solidFill>
                  <a:schemeClr val="dk1"/>
                </a:solidFill>
                <a:latin typeface="Times New Roman"/>
                <a:ea typeface="Times New Roman"/>
                <a:cs typeface="Times New Roman"/>
                <a:sym typeface="Times New Roman"/>
              </a:rPr>
              <a:t>reflexes</a:t>
            </a:r>
            <a:endParaRPr sz="2300">
              <a:solidFill>
                <a:schemeClr val="dk1"/>
              </a:solidFill>
              <a:latin typeface="Times New Roman"/>
              <a:ea typeface="Times New Roman"/>
              <a:cs typeface="Times New Roman"/>
              <a:sym typeface="Times New Roman"/>
            </a:endParaRPr>
          </a:p>
          <a:p>
            <a:pPr marL="0" marR="0" lvl="0" indent="0" algn="l" rtl="0">
              <a:spcBef>
                <a:spcPts val="0"/>
              </a:spcBef>
              <a:spcAft>
                <a:spcPts val="0"/>
              </a:spcAft>
              <a:buClr>
                <a:srgbClr val="FFFFFF"/>
              </a:buClr>
              <a:buSzPts val="2500"/>
              <a:buFont typeface="Arial"/>
              <a:buNone/>
            </a:pPr>
            <a:endParaRPr sz="2300">
              <a:solidFill>
                <a:schemeClr val="dk1"/>
              </a:solidFill>
              <a:latin typeface="Times New Roman"/>
              <a:ea typeface="Times New Roman"/>
              <a:cs typeface="Times New Roman"/>
              <a:sym typeface="Times New Roman"/>
            </a:endParaRPr>
          </a:p>
          <a:p>
            <a:pPr marL="266700" marR="0" lvl="0" indent="-254000" algn="l" rtl="0">
              <a:lnSpc>
                <a:spcPct val="79200"/>
              </a:lnSpc>
              <a:spcBef>
                <a:spcPts val="0"/>
              </a:spcBef>
              <a:spcAft>
                <a:spcPts val="0"/>
              </a:spcAft>
              <a:buNone/>
            </a:pPr>
            <a:r>
              <a:rPr lang="en" sz="2300">
                <a:solidFill>
                  <a:schemeClr val="dk1"/>
                </a:solidFill>
                <a:latin typeface="Times New Roman"/>
                <a:ea typeface="Times New Roman"/>
                <a:cs typeface="Times New Roman"/>
                <a:sym typeface="Times New Roman"/>
              </a:rPr>
              <a:t>"But Professor, there's a revolution going on with  shooting in the streets."</a:t>
            </a:r>
            <a:endParaRPr sz="2300">
              <a:solidFill>
                <a:schemeClr val="dk1"/>
              </a:solidFill>
              <a:latin typeface="Times New Roman"/>
              <a:ea typeface="Times New Roman"/>
              <a:cs typeface="Times New Roman"/>
              <a:sym typeface="Times New Roman"/>
            </a:endParaRPr>
          </a:p>
          <a:p>
            <a:pPr marL="266700" marR="114300" lvl="0" indent="-254000" algn="l" rtl="0">
              <a:lnSpc>
                <a:spcPct val="79800"/>
              </a:lnSpc>
              <a:spcBef>
                <a:spcPts val="500"/>
              </a:spcBef>
              <a:spcAft>
                <a:spcPts val="0"/>
              </a:spcAft>
              <a:buNone/>
            </a:pPr>
            <a:r>
              <a:rPr lang="en" sz="2300">
                <a:solidFill>
                  <a:schemeClr val="dk1"/>
                </a:solidFill>
                <a:latin typeface="Times New Roman"/>
                <a:ea typeface="Times New Roman"/>
                <a:cs typeface="Times New Roman"/>
                <a:sym typeface="Times New Roman"/>
              </a:rPr>
              <a:t>"What difference does it make when you've work  to do in the laboratory?	Next time there's a  revolution, get up earlier!“</a:t>
            </a:r>
            <a:endParaRPr sz="2300">
              <a:solidFill>
                <a:schemeClr val="dk1"/>
              </a:solidFill>
              <a:latin typeface="Times New Roman"/>
              <a:ea typeface="Times New Roman"/>
              <a:cs typeface="Times New Roman"/>
              <a:sym typeface="Times New Roman"/>
            </a:endParaRPr>
          </a:p>
          <a:p>
            <a:pPr marL="0" marR="0" lvl="0" indent="0" algn="l" rtl="0">
              <a:spcBef>
                <a:spcPts val="0"/>
              </a:spcBef>
              <a:spcAft>
                <a:spcPts val="0"/>
              </a:spcAft>
              <a:buNone/>
            </a:pPr>
            <a:endParaRPr sz="2300">
              <a:solidFill>
                <a:schemeClr val="dk1"/>
              </a:solidFill>
              <a:latin typeface="Times New Roman"/>
              <a:ea typeface="Times New Roman"/>
              <a:cs typeface="Times New Roman"/>
              <a:sym typeface="Times New Roman"/>
            </a:endParaRPr>
          </a:p>
          <a:p>
            <a:pPr marL="165100" marR="0" lvl="0" indent="-171450" algn="l" rtl="0">
              <a:spcBef>
                <a:spcPts val="0"/>
              </a:spcBef>
              <a:spcAft>
                <a:spcPts val="0"/>
              </a:spcAft>
              <a:buClr>
                <a:schemeClr val="dk1"/>
              </a:buClr>
              <a:buSzPts val="2300"/>
              <a:buFont typeface="Times New Roman"/>
              <a:buChar char="•"/>
            </a:pPr>
            <a:r>
              <a:rPr lang="en" sz="2300">
                <a:solidFill>
                  <a:schemeClr val="dk1"/>
                </a:solidFill>
                <a:latin typeface="Times New Roman"/>
                <a:ea typeface="Times New Roman"/>
                <a:cs typeface="Times New Roman"/>
                <a:sym typeface="Times New Roman"/>
              </a:rPr>
              <a:t>cut esophagus so food could not go to stomach</a:t>
            </a:r>
            <a:endParaRPr sz="2300">
              <a:solidFill>
                <a:schemeClr val="dk1"/>
              </a:solidFill>
              <a:latin typeface="Times New Roman"/>
              <a:ea typeface="Times New Roman"/>
              <a:cs typeface="Times New Roman"/>
              <a:sym typeface="Times New Roman"/>
            </a:endParaRPr>
          </a:p>
          <a:p>
            <a:pPr marL="165100" marR="228600" lvl="0" indent="-184150" algn="l" rtl="0">
              <a:lnSpc>
                <a:spcPct val="79400"/>
              </a:lnSpc>
              <a:spcBef>
                <a:spcPts val="500"/>
              </a:spcBef>
              <a:spcAft>
                <a:spcPts val="0"/>
              </a:spcAft>
              <a:buClr>
                <a:schemeClr val="dk1"/>
              </a:buClr>
              <a:buSzPts val="2300"/>
              <a:buFont typeface="Times New Roman"/>
              <a:buChar char="•"/>
            </a:pPr>
            <a:r>
              <a:rPr lang="en" sz="2300">
                <a:solidFill>
                  <a:schemeClr val="dk1"/>
                </a:solidFill>
                <a:latin typeface="Times New Roman"/>
                <a:ea typeface="Times New Roman"/>
                <a:cs typeface="Times New Roman"/>
                <a:sym typeface="Times New Roman"/>
              </a:rPr>
              <a:t>placed food in dog's mouth, stomach secreted  plenty of gastric juice</a:t>
            </a:r>
            <a:endParaRPr sz="2300">
              <a:solidFill>
                <a:schemeClr val="dk1"/>
              </a:solidFill>
              <a:latin typeface="Times New Roman"/>
              <a:ea typeface="Times New Roman"/>
              <a:cs typeface="Times New Roman"/>
              <a:sym typeface="Times New Roman"/>
            </a:endParaRPr>
          </a:p>
          <a:p>
            <a:pPr marL="165100" marR="965200" lvl="0" indent="-184150" algn="l" rtl="0">
              <a:lnSpc>
                <a:spcPct val="79200"/>
              </a:lnSpc>
              <a:spcBef>
                <a:spcPts val="500"/>
              </a:spcBef>
              <a:spcAft>
                <a:spcPts val="0"/>
              </a:spcAft>
              <a:buClr>
                <a:schemeClr val="dk1"/>
              </a:buClr>
              <a:buSzPts val="2300"/>
              <a:buFont typeface="Constantia"/>
              <a:buChar char="•"/>
            </a:pPr>
            <a:r>
              <a:rPr lang="en" sz="2300">
                <a:solidFill>
                  <a:schemeClr val="dk1"/>
                </a:solidFill>
                <a:latin typeface="Times New Roman"/>
                <a:ea typeface="Times New Roman"/>
                <a:cs typeface="Times New Roman"/>
                <a:sym typeface="Times New Roman"/>
              </a:rPr>
              <a:t>sight of food or sight of feeder - psychic  </a:t>
            </a:r>
            <a:r>
              <a:rPr lang="en" sz="2300" b="1">
                <a:solidFill>
                  <a:schemeClr val="dk1"/>
                </a:solidFill>
                <a:latin typeface="Times New Roman"/>
                <a:ea typeface="Times New Roman"/>
                <a:cs typeface="Times New Roman"/>
                <a:sym typeface="Times New Roman"/>
              </a:rPr>
              <a:t>secretions or conditioned reflex</a:t>
            </a:r>
            <a:endParaRPr sz="2300">
              <a:solidFill>
                <a:schemeClr val="dk1"/>
              </a:solidFill>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3" name="Google Shape;103;p21"/>
          <p:cNvSpPr txBox="1">
            <a:spLocks noGrp="1"/>
          </p:cNvSpPr>
          <p:nvPr>
            <p:ph type="title"/>
          </p:nvPr>
        </p:nvSpPr>
        <p:spPr>
          <a:xfrm>
            <a:off x="1722424" y="111666"/>
            <a:ext cx="5699100" cy="517200"/>
          </a:xfrm>
          <a:prstGeom prst="rect">
            <a:avLst/>
          </a:prstGeom>
          <a:noFill/>
          <a:ln>
            <a:noFill/>
          </a:ln>
        </p:spPr>
        <p:txBody>
          <a:bodyPr spcFirstLastPara="1" wrap="square" lIns="0" tIns="9075" rIns="0" bIns="0" anchor="ctr" anchorCtr="0">
            <a:spAutoFit/>
          </a:bodyPr>
          <a:lstStyle/>
          <a:p>
            <a:pPr marL="12700" lvl="0" indent="0" algn="l" rtl="0">
              <a:lnSpc>
                <a:spcPct val="100000"/>
              </a:lnSpc>
              <a:spcBef>
                <a:spcPts val="0"/>
              </a:spcBef>
              <a:spcAft>
                <a:spcPts val="0"/>
              </a:spcAft>
              <a:buClr>
                <a:schemeClr val="dk1"/>
              </a:buClr>
              <a:buSzPts val="3300"/>
              <a:buFont typeface="Constantia"/>
              <a:buNone/>
            </a:pPr>
            <a:r>
              <a:rPr lang="en" sz="3300" dirty="0"/>
              <a:t>PAVLOVIAN CONDITIONING</a:t>
            </a:r>
            <a:endParaRPr sz="3300" dirty="0"/>
          </a:p>
        </p:txBody>
      </p:sp>
      <p:sp>
        <p:nvSpPr>
          <p:cNvPr id="104" name="Google Shape;104;p21"/>
          <p:cNvSpPr txBox="1"/>
          <p:nvPr/>
        </p:nvSpPr>
        <p:spPr>
          <a:xfrm>
            <a:off x="2935066" y="4769495"/>
            <a:ext cx="2839500" cy="440700"/>
          </a:xfrm>
          <a:prstGeom prst="rect">
            <a:avLst/>
          </a:prstGeom>
          <a:noFill/>
          <a:ln>
            <a:noFill/>
          </a:ln>
        </p:spPr>
        <p:txBody>
          <a:bodyPr spcFirstLastPara="1" wrap="square" lIns="0" tIns="9550" rIns="0" bIns="0" anchor="t" anchorCtr="0">
            <a:spAutoFit/>
          </a:bodyPr>
          <a:lstStyle/>
          <a:p>
            <a:pPr marL="12700" marR="0" lvl="0" indent="0" algn="l" rtl="0">
              <a:spcBef>
                <a:spcPts val="0"/>
              </a:spcBef>
              <a:spcAft>
                <a:spcPts val="0"/>
              </a:spcAft>
              <a:buNone/>
            </a:pPr>
            <a:r>
              <a:rPr lang="en" sz="1400" b="1" i="1">
                <a:solidFill>
                  <a:schemeClr val="dk1"/>
                </a:solidFill>
                <a:latin typeface="Arial"/>
                <a:ea typeface="Arial"/>
                <a:cs typeface="Arial"/>
                <a:sym typeface="Arial"/>
              </a:rPr>
              <a:t>A modification of Pavlov’s method</a:t>
            </a:r>
            <a:endParaRPr sz="1400">
              <a:solidFill>
                <a:schemeClr val="dk1"/>
              </a:solidFill>
              <a:latin typeface="Arial"/>
              <a:ea typeface="Arial"/>
              <a:cs typeface="Arial"/>
              <a:sym typeface="Arial"/>
            </a:endParaRPr>
          </a:p>
        </p:txBody>
      </p:sp>
      <p:sp>
        <p:nvSpPr>
          <p:cNvPr id="105" name="Google Shape;105;p21"/>
          <p:cNvSpPr txBox="1"/>
          <p:nvPr/>
        </p:nvSpPr>
        <p:spPr>
          <a:xfrm>
            <a:off x="6273561" y="4800472"/>
            <a:ext cx="1436100" cy="225000"/>
          </a:xfrm>
          <a:prstGeom prst="rect">
            <a:avLst/>
          </a:prstGeom>
          <a:noFill/>
          <a:ln>
            <a:noFill/>
          </a:ln>
        </p:spPr>
        <p:txBody>
          <a:bodyPr spcFirstLastPara="1" wrap="square" lIns="0" tIns="9550" rIns="0" bIns="0" anchor="t" anchorCtr="0">
            <a:spAutoFit/>
          </a:bodyPr>
          <a:lstStyle/>
          <a:p>
            <a:pPr marL="12700" marR="0" lvl="0" indent="0" algn="l" rtl="0">
              <a:spcBef>
                <a:spcPts val="0"/>
              </a:spcBef>
              <a:spcAft>
                <a:spcPts val="0"/>
              </a:spcAft>
              <a:buNone/>
            </a:pPr>
            <a:r>
              <a:rPr lang="en" sz="700">
                <a:solidFill>
                  <a:srgbClr val="FFFFFF"/>
                </a:solidFill>
                <a:latin typeface="Verdana"/>
                <a:ea typeface="Verdana"/>
                <a:cs typeface="Verdana"/>
                <a:sym typeface="Verdana"/>
              </a:rPr>
              <a:t>Image by MIT OpenCourseWare.</a:t>
            </a:r>
            <a:endParaRPr sz="700">
              <a:solidFill>
                <a:schemeClr val="dk1"/>
              </a:solidFill>
              <a:latin typeface="Verdana"/>
              <a:ea typeface="Verdana"/>
              <a:cs typeface="Verdana"/>
              <a:sym typeface="Verdana"/>
            </a:endParaRPr>
          </a:p>
        </p:txBody>
      </p:sp>
      <p:pic>
        <p:nvPicPr>
          <p:cNvPr id="106" name="Google Shape;106;p21"/>
          <p:cNvPicPr preferRelativeResize="0"/>
          <p:nvPr/>
        </p:nvPicPr>
        <p:blipFill rotWithShape="1">
          <a:blip r:embed="rId3">
            <a:alphaModFix/>
          </a:blip>
          <a:srcRect/>
          <a:stretch/>
        </p:blipFill>
        <p:spPr>
          <a:xfrm>
            <a:off x="1341921" y="648476"/>
            <a:ext cx="6460159" cy="4101416"/>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0"/>
        <p:cNvGrpSpPr/>
        <p:nvPr/>
      </p:nvGrpSpPr>
      <p:grpSpPr>
        <a:xfrm>
          <a:off x="0" y="0"/>
          <a:ext cx="0" cy="0"/>
          <a:chOff x="0" y="0"/>
          <a:chExt cx="0" cy="0"/>
        </a:xfrm>
      </p:grpSpPr>
      <p:pic>
        <p:nvPicPr>
          <p:cNvPr id="111" name="Google Shape;111;p22"/>
          <p:cNvPicPr preferRelativeResize="0"/>
          <p:nvPr/>
        </p:nvPicPr>
        <p:blipFill rotWithShape="1">
          <a:blip r:embed="rId3">
            <a:alphaModFix/>
          </a:blip>
          <a:srcRect/>
          <a:stretch/>
        </p:blipFill>
        <p:spPr>
          <a:xfrm>
            <a:off x="1618688" y="962925"/>
            <a:ext cx="5906624" cy="3845025"/>
          </a:xfrm>
          <a:prstGeom prst="rect">
            <a:avLst/>
          </a:prstGeom>
          <a:noFill/>
          <a:ln>
            <a:noFill/>
          </a:ln>
        </p:spPr>
      </p:pic>
      <p:sp>
        <p:nvSpPr>
          <p:cNvPr id="112" name="Google Shape;112;p22"/>
          <p:cNvSpPr txBox="1"/>
          <p:nvPr/>
        </p:nvSpPr>
        <p:spPr>
          <a:xfrm>
            <a:off x="1099600" y="4807950"/>
            <a:ext cx="6792000" cy="179100"/>
          </a:xfrm>
          <a:prstGeom prst="rect">
            <a:avLst/>
          </a:prstGeom>
          <a:noFill/>
          <a:ln>
            <a:noFill/>
          </a:ln>
        </p:spPr>
        <p:txBody>
          <a:bodyPr spcFirstLastPara="1" wrap="square" lIns="0" tIns="9550" rIns="0" bIns="0" anchor="t" anchorCtr="0">
            <a:spAutoFit/>
          </a:bodyPr>
          <a:lstStyle/>
          <a:p>
            <a:pPr marL="12700" marR="0" lvl="0" indent="0" algn="l" rtl="0">
              <a:spcBef>
                <a:spcPts val="0"/>
              </a:spcBef>
              <a:spcAft>
                <a:spcPts val="0"/>
              </a:spcAft>
              <a:buNone/>
            </a:pPr>
            <a:r>
              <a:rPr lang="en" sz="1100">
                <a:solidFill>
                  <a:schemeClr val="dk1"/>
                </a:solidFill>
                <a:latin typeface="Times New Roman"/>
                <a:ea typeface="Times New Roman"/>
                <a:cs typeface="Times New Roman"/>
                <a:sym typeface="Times New Roman"/>
              </a:rPr>
              <a:t>Source: Stangor, C. </a:t>
            </a:r>
            <a:r>
              <a:rPr lang="en" sz="1100" i="1" u="sng">
                <a:solidFill>
                  <a:schemeClr val="dk1"/>
                </a:solidFill>
                <a:latin typeface="Times New Roman"/>
                <a:ea typeface="Times New Roman"/>
                <a:cs typeface="Times New Roman"/>
                <a:sym typeface="Times New Roman"/>
                <a:hlinkClick r:id="rId4">
                  <a:extLst>
                    <a:ext uri="{A12FA001-AC4F-418D-AE19-62706E023703}">
                      <ahyp:hlinkClr xmlns:ahyp="http://schemas.microsoft.com/office/drawing/2018/hyperlinkcolor" val="tx"/>
                    </a:ext>
                  </a:extLst>
                </a:hlinkClick>
              </a:rPr>
              <a:t>Introduction to Psychology</a:t>
            </a:r>
            <a:r>
              <a:rPr lang="en" sz="1100">
                <a:solidFill>
                  <a:schemeClr val="dk1"/>
                </a:solidFill>
                <a:latin typeface="Times New Roman"/>
                <a:ea typeface="Times New Roman"/>
                <a:cs typeface="Times New Roman"/>
                <a:sym typeface="Times New Roman"/>
              </a:rPr>
              <a:t>. Flatworld Knowledge, 2010. Courtesy of Flatworld Knowledge.</a:t>
            </a:r>
            <a:endParaRPr sz="1100">
              <a:solidFill>
                <a:schemeClr val="dk1"/>
              </a:solidFill>
              <a:latin typeface="Times New Roman"/>
              <a:ea typeface="Times New Roman"/>
              <a:cs typeface="Times New Roman"/>
              <a:sym typeface="Times New Roman"/>
            </a:endParaRPr>
          </a:p>
        </p:txBody>
      </p:sp>
      <p:sp>
        <p:nvSpPr>
          <p:cNvPr id="113" name="Google Shape;113;p22"/>
          <p:cNvSpPr txBox="1">
            <a:spLocks noGrp="1"/>
          </p:cNvSpPr>
          <p:nvPr>
            <p:ph type="title"/>
          </p:nvPr>
        </p:nvSpPr>
        <p:spPr>
          <a:xfrm>
            <a:off x="382296" y="306921"/>
            <a:ext cx="8479800" cy="488400"/>
          </a:xfrm>
          <a:prstGeom prst="rect">
            <a:avLst/>
          </a:prstGeom>
          <a:noFill/>
          <a:ln>
            <a:noFill/>
          </a:ln>
        </p:spPr>
        <p:txBody>
          <a:bodyPr spcFirstLastPara="1" wrap="square" lIns="0" tIns="26300" rIns="0" bIns="0" anchor="ctr" anchorCtr="0">
            <a:spAutoFit/>
          </a:bodyPr>
          <a:lstStyle/>
          <a:p>
            <a:pPr marL="1104900" marR="0" lvl="0" indent="-558800" algn="l" rtl="0">
              <a:lnSpc>
                <a:spcPct val="118256"/>
              </a:lnSpc>
              <a:spcBef>
                <a:spcPts val="0"/>
              </a:spcBef>
              <a:spcAft>
                <a:spcPts val="0"/>
              </a:spcAft>
              <a:buClr>
                <a:schemeClr val="dk1"/>
              </a:buClr>
              <a:buSzPts val="3000"/>
              <a:buFont typeface="Constantia"/>
              <a:buNone/>
            </a:pPr>
            <a:r>
              <a:rPr lang="en" sz="3000">
                <a:latin typeface="Constantia"/>
                <a:ea typeface="Constantia"/>
                <a:cs typeface="Constantia"/>
                <a:sym typeface="Constantia"/>
              </a:rPr>
              <a:t>Classically Conditioning a  Salivation Response</a:t>
            </a:r>
            <a:endParaRPr sz="3000">
              <a:latin typeface="Constantia"/>
              <a:ea typeface="Constantia"/>
              <a:cs typeface="Constantia"/>
              <a:sym typeface="Constantia"/>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7"/>
        <p:cNvGrpSpPr/>
        <p:nvPr/>
      </p:nvGrpSpPr>
      <p:grpSpPr>
        <a:xfrm>
          <a:off x="0" y="0"/>
          <a:ext cx="0" cy="0"/>
          <a:chOff x="0" y="0"/>
          <a:chExt cx="0" cy="0"/>
        </a:xfrm>
      </p:grpSpPr>
      <p:sp>
        <p:nvSpPr>
          <p:cNvPr id="118" name="Google Shape;118;p23"/>
          <p:cNvSpPr txBox="1"/>
          <p:nvPr/>
        </p:nvSpPr>
        <p:spPr>
          <a:xfrm>
            <a:off x="478225" y="345700"/>
            <a:ext cx="7967100" cy="4103400"/>
          </a:xfrm>
          <a:prstGeom prst="rect">
            <a:avLst/>
          </a:prstGeom>
          <a:noFill/>
          <a:ln>
            <a:noFill/>
          </a:ln>
        </p:spPr>
        <p:txBody>
          <a:bodyPr spcFirstLastPara="1" wrap="square" lIns="0" tIns="9075" rIns="0" bIns="0" anchor="t" anchorCtr="0">
            <a:spAutoFit/>
          </a:bodyPr>
          <a:lstStyle/>
          <a:p>
            <a:pPr marL="203200" marR="1104900" lvl="0" indent="-234950" algn="l" rtl="0">
              <a:spcBef>
                <a:spcPts val="0"/>
              </a:spcBef>
              <a:spcAft>
                <a:spcPts val="0"/>
              </a:spcAft>
              <a:buClr>
                <a:schemeClr val="dk1"/>
              </a:buClr>
              <a:buSzPts val="2900"/>
              <a:buFont typeface="Times New Roman"/>
              <a:buChar char="•"/>
            </a:pPr>
            <a:r>
              <a:rPr lang="en" sz="2900" b="1">
                <a:solidFill>
                  <a:schemeClr val="dk1"/>
                </a:solidFill>
                <a:latin typeface="Times New Roman"/>
                <a:ea typeface="Times New Roman"/>
                <a:cs typeface="Times New Roman"/>
                <a:sym typeface="Times New Roman"/>
              </a:rPr>
              <a:t>Unconditioned Stimulus  (UCS) – food</a:t>
            </a:r>
            <a:endParaRPr sz="2900">
              <a:solidFill>
                <a:schemeClr val="dk1"/>
              </a:solidFill>
              <a:latin typeface="Times New Roman"/>
              <a:ea typeface="Times New Roman"/>
              <a:cs typeface="Times New Roman"/>
              <a:sym typeface="Times New Roman"/>
            </a:endParaRPr>
          </a:p>
          <a:p>
            <a:pPr marL="203200" marR="622300" lvl="0" indent="-234950" algn="l" rtl="0">
              <a:lnSpc>
                <a:spcPct val="119987"/>
              </a:lnSpc>
              <a:spcBef>
                <a:spcPts val="100"/>
              </a:spcBef>
              <a:spcAft>
                <a:spcPts val="0"/>
              </a:spcAft>
              <a:buClr>
                <a:schemeClr val="dk1"/>
              </a:buClr>
              <a:buSzPts val="2900"/>
              <a:buFont typeface="Times New Roman"/>
              <a:buChar char="•"/>
            </a:pPr>
            <a:r>
              <a:rPr lang="en" sz="2900" b="1">
                <a:solidFill>
                  <a:schemeClr val="dk1"/>
                </a:solidFill>
                <a:latin typeface="Times New Roman"/>
                <a:ea typeface="Times New Roman"/>
                <a:cs typeface="Times New Roman"/>
                <a:sym typeface="Times New Roman"/>
              </a:rPr>
              <a:t>Unconditioned Response  (UCR) - salivating (food)</a:t>
            </a:r>
            <a:endParaRPr sz="2900">
              <a:solidFill>
                <a:schemeClr val="dk1"/>
              </a:solidFill>
              <a:latin typeface="Times New Roman"/>
              <a:ea typeface="Times New Roman"/>
              <a:cs typeface="Times New Roman"/>
              <a:sym typeface="Times New Roman"/>
            </a:endParaRPr>
          </a:p>
          <a:p>
            <a:pPr marL="203200" marR="0" lvl="0" indent="-222250" algn="l" rtl="0">
              <a:lnSpc>
                <a:spcPct val="115753"/>
              </a:lnSpc>
              <a:spcBef>
                <a:spcPts val="0"/>
              </a:spcBef>
              <a:spcAft>
                <a:spcPts val="0"/>
              </a:spcAft>
              <a:buClr>
                <a:schemeClr val="dk1"/>
              </a:buClr>
              <a:buSzPts val="2900"/>
              <a:buFont typeface="Times New Roman"/>
              <a:buChar char="•"/>
            </a:pPr>
            <a:r>
              <a:rPr lang="en" sz="2900" b="1">
                <a:solidFill>
                  <a:schemeClr val="dk1"/>
                </a:solidFill>
                <a:latin typeface="Times New Roman"/>
                <a:ea typeface="Times New Roman"/>
                <a:cs typeface="Times New Roman"/>
                <a:sym typeface="Times New Roman"/>
              </a:rPr>
              <a:t>Conditioned Stimulus</a:t>
            </a:r>
            <a:endParaRPr sz="2900">
              <a:solidFill>
                <a:schemeClr val="dk1"/>
              </a:solidFill>
              <a:latin typeface="Times New Roman"/>
              <a:ea typeface="Times New Roman"/>
              <a:cs typeface="Times New Roman"/>
              <a:sym typeface="Times New Roman"/>
            </a:endParaRPr>
          </a:p>
          <a:p>
            <a:pPr marL="698500" marR="0" lvl="0" indent="0" algn="l" rtl="0">
              <a:lnSpc>
                <a:spcPct val="119831"/>
              </a:lnSpc>
              <a:spcBef>
                <a:spcPts val="0"/>
              </a:spcBef>
              <a:spcAft>
                <a:spcPts val="0"/>
              </a:spcAft>
              <a:buNone/>
            </a:pPr>
            <a:r>
              <a:rPr lang="en" sz="2900" b="1">
                <a:solidFill>
                  <a:schemeClr val="dk1"/>
                </a:solidFill>
                <a:latin typeface="Times New Roman"/>
                <a:ea typeface="Times New Roman"/>
                <a:cs typeface="Times New Roman"/>
                <a:sym typeface="Times New Roman"/>
              </a:rPr>
              <a:t>(CS) – bell</a:t>
            </a:r>
            <a:endParaRPr sz="2900">
              <a:solidFill>
                <a:schemeClr val="dk1"/>
              </a:solidFill>
              <a:latin typeface="Times New Roman"/>
              <a:ea typeface="Times New Roman"/>
              <a:cs typeface="Times New Roman"/>
              <a:sym typeface="Times New Roman"/>
            </a:endParaRPr>
          </a:p>
          <a:p>
            <a:pPr marL="203200" marR="1295400" lvl="0" indent="-234950" algn="l" rtl="0">
              <a:lnSpc>
                <a:spcPct val="119987"/>
              </a:lnSpc>
              <a:spcBef>
                <a:spcPts val="100"/>
              </a:spcBef>
              <a:spcAft>
                <a:spcPts val="0"/>
              </a:spcAft>
              <a:buClr>
                <a:schemeClr val="dk1"/>
              </a:buClr>
              <a:buSzPts val="2900"/>
              <a:buFont typeface="Times New Roman"/>
              <a:buChar char="•"/>
            </a:pPr>
            <a:r>
              <a:rPr lang="en" sz="2900" b="1">
                <a:solidFill>
                  <a:schemeClr val="dk1"/>
                </a:solidFill>
                <a:latin typeface="Times New Roman"/>
                <a:ea typeface="Times New Roman"/>
                <a:cs typeface="Times New Roman"/>
                <a:sym typeface="Times New Roman"/>
              </a:rPr>
              <a:t>Conditioned Response  (CR) – salivating</a:t>
            </a:r>
            <a:endParaRPr sz="2900">
              <a:solidFill>
                <a:schemeClr val="dk1"/>
              </a:solidFill>
              <a:latin typeface="Times New Roman"/>
              <a:ea typeface="Times New Roman"/>
              <a:cs typeface="Times New Roman"/>
              <a:sym typeface="Times New Roman"/>
            </a:endParaRPr>
          </a:p>
          <a:p>
            <a:pPr marL="203200" marR="0" lvl="0" indent="-222250" algn="l" rtl="0">
              <a:lnSpc>
                <a:spcPct val="115940"/>
              </a:lnSpc>
              <a:spcBef>
                <a:spcPts val="0"/>
              </a:spcBef>
              <a:spcAft>
                <a:spcPts val="0"/>
              </a:spcAft>
              <a:buClr>
                <a:schemeClr val="dk1"/>
              </a:buClr>
              <a:buSzPts val="2900"/>
              <a:buFont typeface="Times New Roman"/>
              <a:buChar char="•"/>
            </a:pPr>
            <a:r>
              <a:rPr lang="en" sz="2900" b="1" i="1">
                <a:solidFill>
                  <a:schemeClr val="dk1"/>
                </a:solidFill>
                <a:latin typeface="Times New Roman"/>
                <a:ea typeface="Times New Roman"/>
                <a:cs typeface="Times New Roman"/>
                <a:sym typeface="Times New Roman"/>
              </a:rPr>
              <a:t>new association !!</a:t>
            </a:r>
            <a:endParaRPr sz="2900">
              <a:solidFill>
                <a:schemeClr val="dk1"/>
              </a:solidFill>
              <a:latin typeface="Times New Roman"/>
              <a:ea typeface="Times New Roman"/>
              <a:cs typeface="Times New Roman"/>
              <a:sym typeface="Times New Roman"/>
            </a:endParaRPr>
          </a:p>
          <a:p>
            <a:pPr marL="698500" marR="0" lvl="0" indent="0" algn="l" rtl="0">
              <a:lnSpc>
                <a:spcPct val="119831"/>
              </a:lnSpc>
              <a:spcBef>
                <a:spcPts val="0"/>
              </a:spcBef>
              <a:spcAft>
                <a:spcPts val="0"/>
              </a:spcAft>
              <a:buNone/>
            </a:pPr>
            <a:r>
              <a:rPr lang="en" sz="2900" b="1">
                <a:solidFill>
                  <a:schemeClr val="dk1"/>
                </a:solidFill>
                <a:latin typeface="Times New Roman"/>
                <a:ea typeface="Times New Roman"/>
                <a:cs typeface="Times New Roman"/>
                <a:sym typeface="Times New Roman"/>
              </a:rPr>
              <a:t>bell (CS) &amp; salivating (CR)</a:t>
            </a:r>
            <a:endParaRPr sz="2900">
              <a:solidFill>
                <a:schemeClr val="dk1"/>
              </a:solidFill>
              <a:latin typeface="Times New Roman"/>
              <a:ea typeface="Times New Roman"/>
              <a:cs typeface="Times New Roman"/>
              <a:sym typeface="Times New Roman"/>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123" name="Google Shape;123;p24"/>
          <p:cNvSpPr txBox="1"/>
          <p:nvPr/>
        </p:nvSpPr>
        <p:spPr>
          <a:xfrm>
            <a:off x="3197786" y="3968717"/>
            <a:ext cx="1436100" cy="225000"/>
          </a:xfrm>
          <a:prstGeom prst="rect">
            <a:avLst/>
          </a:prstGeom>
          <a:noFill/>
          <a:ln>
            <a:noFill/>
          </a:ln>
        </p:spPr>
        <p:txBody>
          <a:bodyPr spcFirstLastPara="1" wrap="square" lIns="0" tIns="9550" rIns="0" bIns="0" anchor="t" anchorCtr="0">
            <a:spAutoFit/>
          </a:bodyPr>
          <a:lstStyle/>
          <a:p>
            <a:pPr marL="12700" marR="0" lvl="0" indent="0" algn="l" rtl="0">
              <a:spcBef>
                <a:spcPts val="0"/>
              </a:spcBef>
              <a:spcAft>
                <a:spcPts val="0"/>
              </a:spcAft>
              <a:buNone/>
            </a:pPr>
            <a:r>
              <a:rPr lang="en" sz="700">
                <a:solidFill>
                  <a:srgbClr val="FFFFFF"/>
                </a:solidFill>
                <a:latin typeface="Verdana"/>
                <a:ea typeface="Verdana"/>
                <a:cs typeface="Verdana"/>
                <a:sym typeface="Verdana"/>
              </a:rPr>
              <a:t>Image by MIT OpenCourseWare.</a:t>
            </a:r>
            <a:endParaRPr sz="700">
              <a:solidFill>
                <a:schemeClr val="dk1"/>
              </a:solidFill>
              <a:latin typeface="Verdana"/>
              <a:ea typeface="Verdana"/>
              <a:cs typeface="Verdana"/>
              <a:sym typeface="Verdana"/>
            </a:endParaRPr>
          </a:p>
        </p:txBody>
      </p:sp>
      <p:sp>
        <p:nvSpPr>
          <p:cNvPr id="124" name="Google Shape;124;p24"/>
          <p:cNvSpPr txBox="1"/>
          <p:nvPr/>
        </p:nvSpPr>
        <p:spPr>
          <a:xfrm>
            <a:off x="6237995" y="3430660"/>
            <a:ext cx="1436100" cy="225000"/>
          </a:xfrm>
          <a:prstGeom prst="rect">
            <a:avLst/>
          </a:prstGeom>
          <a:noFill/>
          <a:ln>
            <a:noFill/>
          </a:ln>
        </p:spPr>
        <p:txBody>
          <a:bodyPr spcFirstLastPara="1" wrap="square" lIns="0" tIns="9550" rIns="0" bIns="0" anchor="t" anchorCtr="0">
            <a:spAutoFit/>
          </a:bodyPr>
          <a:lstStyle/>
          <a:p>
            <a:pPr marL="12700" marR="0" lvl="0" indent="0" algn="l" rtl="0">
              <a:spcBef>
                <a:spcPts val="0"/>
              </a:spcBef>
              <a:spcAft>
                <a:spcPts val="0"/>
              </a:spcAft>
              <a:buNone/>
            </a:pPr>
            <a:r>
              <a:rPr lang="en" sz="700">
                <a:solidFill>
                  <a:srgbClr val="FFFFFF"/>
                </a:solidFill>
                <a:latin typeface="Verdana"/>
                <a:ea typeface="Verdana"/>
                <a:cs typeface="Verdana"/>
                <a:sym typeface="Verdana"/>
              </a:rPr>
              <a:t>Image by MIT OpenCourseWare.</a:t>
            </a:r>
            <a:endParaRPr sz="700">
              <a:solidFill>
                <a:schemeClr val="dk1"/>
              </a:solidFill>
              <a:latin typeface="Verdana"/>
              <a:ea typeface="Verdana"/>
              <a:cs typeface="Verdana"/>
              <a:sym typeface="Verdana"/>
            </a:endParaRPr>
          </a:p>
        </p:txBody>
      </p:sp>
      <p:pic>
        <p:nvPicPr>
          <p:cNvPr id="125" name="Google Shape;125;p24"/>
          <p:cNvPicPr preferRelativeResize="0"/>
          <p:nvPr/>
        </p:nvPicPr>
        <p:blipFill rotWithShape="1">
          <a:blip r:embed="rId3">
            <a:alphaModFix/>
          </a:blip>
          <a:srcRect/>
          <a:stretch/>
        </p:blipFill>
        <p:spPr>
          <a:xfrm>
            <a:off x="2091950" y="191374"/>
            <a:ext cx="4812100" cy="4760764"/>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130" name="Google Shape;130;p25"/>
          <p:cNvSpPr txBox="1"/>
          <p:nvPr/>
        </p:nvSpPr>
        <p:spPr>
          <a:xfrm>
            <a:off x="1394446" y="2294750"/>
            <a:ext cx="6593100" cy="531000"/>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 sz="3000" u="sng">
                <a:solidFill>
                  <a:schemeClr val="hlink"/>
                </a:solidFill>
                <a:latin typeface="Calibri"/>
                <a:ea typeface="Calibri"/>
                <a:cs typeface="Calibri"/>
                <a:sym typeface="Calibri"/>
                <a:hlinkClick r:id="rId3"/>
              </a:rPr>
              <a:t>The Little Albert Experiment</a:t>
            </a:r>
            <a:endParaRPr sz="3000"/>
          </a:p>
        </p:txBody>
      </p:sp>
      <p:sp>
        <p:nvSpPr>
          <p:cNvPr id="131" name="Google Shape;131;p25"/>
          <p:cNvSpPr txBox="1"/>
          <p:nvPr/>
        </p:nvSpPr>
        <p:spPr>
          <a:xfrm>
            <a:off x="960120" y="617220"/>
            <a:ext cx="6949500" cy="808200"/>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 sz="2400">
                <a:solidFill>
                  <a:schemeClr val="dk1"/>
                </a:solidFill>
                <a:latin typeface="Times New Roman"/>
                <a:ea typeface="Times New Roman"/>
                <a:cs typeface="Times New Roman"/>
                <a:sym typeface="Times New Roman"/>
              </a:rPr>
              <a:t>Little Albert Experiment! Classical Conditioning in a Baby </a:t>
            </a:r>
            <a:endParaRPr sz="2400">
              <a:latin typeface="Times New Roman"/>
              <a:ea typeface="Times New Roman"/>
              <a:cs typeface="Times New Roman"/>
              <a:sym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36"/>
        <p:cNvGrpSpPr/>
        <p:nvPr/>
      </p:nvGrpSpPr>
      <p:grpSpPr>
        <a:xfrm>
          <a:off x="0" y="0"/>
          <a:ext cx="0" cy="0"/>
          <a:chOff x="0" y="0"/>
          <a:chExt cx="0" cy="0"/>
        </a:xfrm>
      </p:grpSpPr>
      <p:sp>
        <p:nvSpPr>
          <p:cNvPr id="137" name="Google Shape;137;p26"/>
          <p:cNvSpPr txBox="1">
            <a:spLocks noGrp="1"/>
          </p:cNvSpPr>
          <p:nvPr>
            <p:ph type="title"/>
          </p:nvPr>
        </p:nvSpPr>
        <p:spPr>
          <a:xfrm>
            <a:off x="1213943" y="320255"/>
            <a:ext cx="6716100" cy="471300"/>
          </a:xfrm>
          <a:prstGeom prst="rect">
            <a:avLst/>
          </a:prstGeom>
          <a:noFill/>
          <a:ln>
            <a:noFill/>
          </a:ln>
        </p:spPr>
        <p:txBody>
          <a:bodyPr spcFirstLastPara="1" wrap="square" lIns="0" tIns="9550" rIns="0" bIns="0" anchor="ctr" anchorCtr="0">
            <a:spAutoFit/>
          </a:bodyPr>
          <a:lstStyle/>
          <a:p>
            <a:pPr marL="12700" lvl="0" indent="0" algn="l" rtl="0">
              <a:lnSpc>
                <a:spcPct val="100000"/>
              </a:lnSpc>
              <a:spcBef>
                <a:spcPts val="0"/>
              </a:spcBef>
              <a:spcAft>
                <a:spcPts val="0"/>
              </a:spcAft>
              <a:buClr>
                <a:schemeClr val="dk1"/>
              </a:buClr>
              <a:buSzPts val="3000"/>
              <a:buFont typeface="Constantia"/>
              <a:buNone/>
            </a:pPr>
            <a:r>
              <a:rPr lang="en" sz="3000"/>
              <a:t>Instrumental/Operant Conditioning</a:t>
            </a:r>
            <a:endParaRPr sz="3000"/>
          </a:p>
        </p:txBody>
      </p:sp>
      <p:grpSp>
        <p:nvGrpSpPr>
          <p:cNvPr id="138" name="Google Shape;138;p26"/>
          <p:cNvGrpSpPr/>
          <p:nvPr/>
        </p:nvGrpSpPr>
        <p:grpSpPr>
          <a:xfrm>
            <a:off x="1543842" y="1976943"/>
            <a:ext cx="1663155" cy="20173"/>
            <a:chOff x="536701" y="2626105"/>
            <a:chExt cx="2209292" cy="26797"/>
          </a:xfrm>
        </p:grpSpPr>
        <p:sp>
          <p:nvSpPr>
            <p:cNvPr id="139" name="Google Shape;139;p26"/>
            <p:cNvSpPr/>
            <p:nvPr/>
          </p:nvSpPr>
          <p:spPr>
            <a:xfrm>
              <a:off x="548893" y="2638297"/>
              <a:ext cx="2197100" cy="14605"/>
            </a:xfrm>
            <a:custGeom>
              <a:avLst/>
              <a:gdLst/>
              <a:ahLst/>
              <a:cxnLst/>
              <a:rect l="l" t="t" r="r" b="b"/>
              <a:pathLst>
                <a:path w="2197100" h="14605" extrusionOk="0">
                  <a:moveTo>
                    <a:pt x="2196846" y="14477"/>
                  </a:moveTo>
                  <a:lnTo>
                    <a:pt x="2196846" y="0"/>
                  </a:lnTo>
                  <a:lnTo>
                    <a:pt x="0" y="0"/>
                  </a:lnTo>
                  <a:lnTo>
                    <a:pt x="0" y="14477"/>
                  </a:lnTo>
                  <a:lnTo>
                    <a:pt x="2196846" y="14477"/>
                  </a:lnTo>
                  <a:close/>
                </a:path>
              </a:pathLst>
            </a:custGeom>
            <a:solidFill>
              <a:srgbClr val="000000"/>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140" name="Google Shape;140;p26"/>
            <p:cNvSpPr/>
            <p:nvPr/>
          </p:nvSpPr>
          <p:spPr>
            <a:xfrm>
              <a:off x="536701" y="2626105"/>
              <a:ext cx="2197100" cy="14605"/>
            </a:xfrm>
            <a:custGeom>
              <a:avLst/>
              <a:gdLst/>
              <a:ahLst/>
              <a:cxnLst/>
              <a:rect l="l" t="t" r="r" b="b"/>
              <a:pathLst>
                <a:path w="2197100" h="14605" extrusionOk="0">
                  <a:moveTo>
                    <a:pt x="2196846" y="14477"/>
                  </a:moveTo>
                  <a:lnTo>
                    <a:pt x="2196846" y="0"/>
                  </a:lnTo>
                  <a:lnTo>
                    <a:pt x="0" y="0"/>
                  </a:lnTo>
                  <a:lnTo>
                    <a:pt x="0" y="14478"/>
                  </a:lnTo>
                  <a:lnTo>
                    <a:pt x="2196846" y="14477"/>
                  </a:lnTo>
                  <a:close/>
                </a:path>
              </a:pathLst>
            </a:custGeom>
            <a:solidFill>
              <a:srgbClr val="FFE701"/>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grpSp>
      <p:sp>
        <p:nvSpPr>
          <p:cNvPr id="141" name="Google Shape;141;p26"/>
          <p:cNvSpPr txBox="1"/>
          <p:nvPr/>
        </p:nvSpPr>
        <p:spPr>
          <a:xfrm>
            <a:off x="547425" y="1013025"/>
            <a:ext cx="7706400" cy="4000800"/>
          </a:xfrm>
          <a:prstGeom prst="rect">
            <a:avLst/>
          </a:prstGeom>
          <a:noFill/>
          <a:ln>
            <a:noFill/>
          </a:ln>
        </p:spPr>
        <p:txBody>
          <a:bodyPr spcFirstLastPara="1" wrap="square" lIns="0" tIns="9550" rIns="0" bIns="0" anchor="t" anchorCtr="0">
            <a:spAutoFit/>
          </a:bodyPr>
          <a:lstStyle/>
          <a:p>
            <a:pPr marL="12700" marR="0" lvl="0" indent="0" algn="l" rtl="0">
              <a:spcBef>
                <a:spcPts val="0"/>
              </a:spcBef>
              <a:spcAft>
                <a:spcPts val="0"/>
              </a:spcAft>
              <a:buNone/>
            </a:pPr>
            <a:r>
              <a:rPr lang="en" sz="2000" b="1">
                <a:solidFill>
                  <a:schemeClr val="dk1"/>
                </a:solidFill>
                <a:latin typeface="Constantia"/>
                <a:ea typeface="Constantia"/>
                <a:cs typeface="Constantia"/>
                <a:sym typeface="Constantia"/>
              </a:rPr>
              <a:t>operate as instruments to produce desired effect</a:t>
            </a:r>
            <a:endParaRPr sz="2000">
              <a:solidFill>
                <a:schemeClr val="dk1"/>
              </a:solidFill>
              <a:latin typeface="Constantia"/>
              <a:ea typeface="Constantia"/>
              <a:cs typeface="Constantia"/>
              <a:sym typeface="Constantia"/>
            </a:endParaRPr>
          </a:p>
          <a:p>
            <a:pPr marL="0" marR="0" lvl="0" indent="0" algn="l" rtl="0">
              <a:spcBef>
                <a:spcPts val="0"/>
              </a:spcBef>
              <a:spcAft>
                <a:spcPts val="0"/>
              </a:spcAft>
              <a:buNone/>
            </a:pPr>
            <a:endParaRPr sz="2000">
              <a:solidFill>
                <a:schemeClr val="dk1"/>
              </a:solidFill>
              <a:latin typeface="Constantia"/>
              <a:ea typeface="Constantia"/>
              <a:cs typeface="Constantia"/>
              <a:sym typeface="Constantia"/>
            </a:endParaRPr>
          </a:p>
          <a:p>
            <a:pPr marL="12700" marR="0" lvl="0" indent="0" algn="l" rtl="0">
              <a:spcBef>
                <a:spcPts val="0"/>
              </a:spcBef>
              <a:spcAft>
                <a:spcPts val="0"/>
              </a:spcAft>
              <a:buNone/>
            </a:pPr>
            <a:r>
              <a:rPr lang="en" sz="2000" b="1">
                <a:solidFill>
                  <a:schemeClr val="dk1"/>
                </a:solidFill>
                <a:latin typeface="Constantia"/>
                <a:ea typeface="Constantia"/>
                <a:cs typeface="Constantia"/>
                <a:sym typeface="Constantia"/>
              </a:rPr>
              <a:t>E. L. Thorndike (1898)</a:t>
            </a:r>
            <a:endParaRPr sz="2000">
              <a:solidFill>
                <a:schemeClr val="dk1"/>
              </a:solidFill>
              <a:latin typeface="Constantia"/>
              <a:ea typeface="Constantia"/>
              <a:cs typeface="Constantia"/>
              <a:sym typeface="Constantia"/>
            </a:endParaRPr>
          </a:p>
          <a:p>
            <a:pPr marL="266700" marR="0" lvl="0" indent="-254000" algn="l" rtl="0">
              <a:lnSpc>
                <a:spcPct val="78700"/>
              </a:lnSpc>
              <a:spcBef>
                <a:spcPts val="500"/>
              </a:spcBef>
              <a:spcAft>
                <a:spcPts val="0"/>
              </a:spcAft>
              <a:buNone/>
            </a:pPr>
            <a:r>
              <a:rPr lang="en" sz="2000" b="1">
                <a:solidFill>
                  <a:schemeClr val="dk1"/>
                </a:solidFill>
                <a:latin typeface="Constantia"/>
                <a:ea typeface="Constantia"/>
                <a:cs typeface="Constantia"/>
                <a:sym typeface="Constantia"/>
              </a:rPr>
              <a:t>puzzle box - cat had to unlatch door by pulling latch -  trial and error - fewer errors over time -</a:t>
            </a:r>
            <a:endParaRPr sz="2000">
              <a:solidFill>
                <a:schemeClr val="dk1"/>
              </a:solidFill>
              <a:latin typeface="Constantia"/>
              <a:ea typeface="Constantia"/>
              <a:cs typeface="Constantia"/>
              <a:sym typeface="Constantia"/>
            </a:endParaRPr>
          </a:p>
          <a:p>
            <a:pPr marL="698500" marR="2273300" lvl="0" indent="0" algn="l" rtl="0">
              <a:lnSpc>
                <a:spcPct val="119593"/>
              </a:lnSpc>
              <a:spcBef>
                <a:spcPts val="100"/>
              </a:spcBef>
              <a:spcAft>
                <a:spcPts val="0"/>
              </a:spcAft>
              <a:buNone/>
            </a:pPr>
            <a:r>
              <a:rPr lang="en" sz="2000" b="1">
                <a:solidFill>
                  <a:schemeClr val="dk1"/>
                </a:solidFill>
                <a:latin typeface="Constantia"/>
                <a:ea typeface="Constantia"/>
                <a:cs typeface="Constantia"/>
                <a:sym typeface="Constantia"/>
              </a:rPr>
              <a:t>where is US?  consequence of response</a:t>
            </a:r>
            <a:endParaRPr sz="2000">
              <a:solidFill>
                <a:schemeClr val="dk1"/>
              </a:solidFill>
              <a:latin typeface="Constantia"/>
              <a:ea typeface="Constantia"/>
              <a:cs typeface="Constantia"/>
              <a:sym typeface="Constantia"/>
            </a:endParaRPr>
          </a:p>
          <a:p>
            <a:pPr marL="152400" marR="0" lvl="0" indent="-152400" algn="l" rtl="0">
              <a:lnSpc>
                <a:spcPct val="116023"/>
              </a:lnSpc>
              <a:spcBef>
                <a:spcPts val="0"/>
              </a:spcBef>
              <a:spcAft>
                <a:spcPts val="0"/>
              </a:spcAft>
              <a:buClr>
                <a:schemeClr val="dk1"/>
              </a:buClr>
              <a:buSzPts val="2000"/>
              <a:buFont typeface="Constantia"/>
              <a:buChar char="•"/>
            </a:pPr>
            <a:r>
              <a:rPr lang="en" sz="2000" b="1">
                <a:solidFill>
                  <a:schemeClr val="dk1"/>
                </a:solidFill>
                <a:latin typeface="Constantia"/>
                <a:ea typeface="Constantia"/>
                <a:cs typeface="Constantia"/>
                <a:sym typeface="Constantia"/>
              </a:rPr>
              <a:t>Law of Effect</a:t>
            </a:r>
            <a:endParaRPr sz="2000">
              <a:solidFill>
                <a:schemeClr val="dk1"/>
              </a:solidFill>
              <a:latin typeface="Constantia"/>
              <a:ea typeface="Constantia"/>
              <a:cs typeface="Constantia"/>
              <a:sym typeface="Constantia"/>
            </a:endParaRPr>
          </a:p>
          <a:p>
            <a:pPr marL="698500" marR="292100" lvl="0" indent="-431800" algn="l" rtl="0">
              <a:lnSpc>
                <a:spcPct val="78800"/>
              </a:lnSpc>
              <a:spcBef>
                <a:spcPts val="500"/>
              </a:spcBef>
              <a:spcAft>
                <a:spcPts val="0"/>
              </a:spcAft>
              <a:buNone/>
            </a:pPr>
            <a:r>
              <a:rPr lang="en" sz="2000" b="1" i="1">
                <a:solidFill>
                  <a:schemeClr val="dk1"/>
                </a:solidFill>
                <a:latin typeface="Constantia"/>
                <a:ea typeface="Constantia"/>
                <a:cs typeface="Constantia"/>
                <a:sym typeface="Constantia"/>
              </a:rPr>
              <a:t>consequence of a response determines whether  it is strengthened or weakened</a:t>
            </a:r>
            <a:endParaRPr sz="2000">
              <a:solidFill>
                <a:schemeClr val="dk1"/>
              </a:solidFill>
              <a:latin typeface="Constantia"/>
              <a:ea typeface="Constantia"/>
              <a:cs typeface="Constantia"/>
              <a:sym typeface="Constantia"/>
            </a:endParaRPr>
          </a:p>
          <a:p>
            <a:pPr marL="0" marR="0" lvl="0" indent="0" algn="l" rtl="0">
              <a:spcBef>
                <a:spcPts val="0"/>
              </a:spcBef>
              <a:spcAft>
                <a:spcPts val="0"/>
              </a:spcAft>
              <a:buNone/>
            </a:pPr>
            <a:endParaRPr sz="2000">
              <a:solidFill>
                <a:schemeClr val="dk1"/>
              </a:solidFill>
              <a:latin typeface="Constantia"/>
              <a:ea typeface="Constantia"/>
              <a:cs typeface="Constantia"/>
              <a:sym typeface="Constantia"/>
            </a:endParaRPr>
          </a:p>
          <a:p>
            <a:pPr marL="12700" marR="3263900" lvl="0" indent="0" algn="l" rtl="0">
              <a:spcBef>
                <a:spcPts val="0"/>
              </a:spcBef>
              <a:spcAft>
                <a:spcPts val="0"/>
              </a:spcAft>
              <a:buNone/>
            </a:pPr>
            <a:r>
              <a:rPr lang="en" sz="2000" b="1">
                <a:solidFill>
                  <a:schemeClr val="dk1"/>
                </a:solidFill>
                <a:latin typeface="Constantia"/>
                <a:ea typeface="Constantia"/>
                <a:cs typeface="Constantia"/>
                <a:sym typeface="Constantia"/>
              </a:rPr>
              <a:t>Reward - Strengthened  No Reward - Weakened</a:t>
            </a:r>
            <a:endParaRPr sz="2000">
              <a:solidFill>
                <a:schemeClr val="dk1"/>
              </a:solidFill>
              <a:latin typeface="Constantia"/>
              <a:ea typeface="Constantia"/>
              <a:cs typeface="Constantia"/>
              <a:sym typeface="Constantia"/>
            </a:endParaRPr>
          </a:p>
          <a:p>
            <a:pPr marL="12700" marR="0" lvl="0" indent="0" algn="l" rtl="0">
              <a:lnSpc>
                <a:spcPct val="119593"/>
              </a:lnSpc>
              <a:spcBef>
                <a:spcPts val="0"/>
              </a:spcBef>
              <a:spcAft>
                <a:spcPts val="0"/>
              </a:spcAft>
              <a:buNone/>
            </a:pPr>
            <a:r>
              <a:rPr lang="en" sz="2000" b="1">
                <a:solidFill>
                  <a:schemeClr val="dk1"/>
                </a:solidFill>
                <a:latin typeface="Constantia"/>
                <a:ea typeface="Constantia"/>
                <a:cs typeface="Constantia"/>
                <a:sym typeface="Constantia"/>
              </a:rPr>
              <a:t>Punishment - Very Weakened</a:t>
            </a:r>
            <a:endParaRPr sz="2000">
              <a:solidFill>
                <a:schemeClr val="dk1"/>
              </a:solidFill>
              <a:latin typeface="Constantia"/>
              <a:ea typeface="Constantia"/>
              <a:cs typeface="Constantia"/>
              <a:sym typeface="Constantia"/>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sp>
        <p:nvSpPr>
          <p:cNvPr id="146" name="Google Shape;146;p27"/>
          <p:cNvSpPr txBox="1"/>
          <p:nvPr/>
        </p:nvSpPr>
        <p:spPr>
          <a:xfrm>
            <a:off x="1199575" y="590149"/>
            <a:ext cx="6513000" cy="4416000"/>
          </a:xfrm>
          <a:prstGeom prst="rect">
            <a:avLst/>
          </a:prstGeom>
          <a:noFill/>
          <a:ln>
            <a:noFill/>
          </a:ln>
        </p:spPr>
        <p:txBody>
          <a:bodyPr spcFirstLastPara="1" wrap="square" lIns="0" tIns="9550" rIns="0" bIns="0" anchor="t" anchorCtr="0">
            <a:spAutoFit/>
          </a:bodyPr>
          <a:lstStyle/>
          <a:p>
            <a:pPr marL="12700" marR="0" lvl="0" indent="0" algn="l" rtl="0">
              <a:spcBef>
                <a:spcPts val="0"/>
              </a:spcBef>
              <a:spcAft>
                <a:spcPts val="0"/>
              </a:spcAft>
              <a:buNone/>
            </a:pPr>
            <a:r>
              <a:rPr lang="en" sz="2900" b="1">
                <a:solidFill>
                  <a:schemeClr val="dk1"/>
                </a:solidFill>
                <a:latin typeface="Constantia"/>
                <a:ea typeface="Constantia"/>
                <a:cs typeface="Constantia"/>
                <a:sym typeface="Constantia"/>
              </a:rPr>
              <a:t>B. F. Skinner (1904-1990)</a:t>
            </a:r>
            <a:endParaRPr sz="2900" b="1">
              <a:solidFill>
                <a:schemeClr val="dk1"/>
              </a:solidFill>
              <a:latin typeface="Constantia"/>
              <a:ea typeface="Constantia"/>
              <a:cs typeface="Constantia"/>
              <a:sym typeface="Constantia"/>
            </a:endParaRPr>
          </a:p>
          <a:p>
            <a:pPr marL="12700" marR="0" lvl="0" indent="0" algn="l" rtl="0">
              <a:spcBef>
                <a:spcPts val="0"/>
              </a:spcBef>
              <a:spcAft>
                <a:spcPts val="0"/>
              </a:spcAft>
              <a:buNone/>
            </a:pPr>
            <a:endParaRPr sz="2900" b="1">
              <a:solidFill>
                <a:schemeClr val="dk1"/>
              </a:solidFill>
              <a:latin typeface="Constantia"/>
              <a:ea typeface="Constantia"/>
              <a:cs typeface="Constantia"/>
              <a:sym typeface="Constantia"/>
            </a:endParaRPr>
          </a:p>
          <a:p>
            <a:pPr marL="177800" marR="0" lvl="0" indent="-260350" algn="just" rtl="0">
              <a:spcBef>
                <a:spcPts val="0"/>
              </a:spcBef>
              <a:spcAft>
                <a:spcPts val="0"/>
              </a:spcAft>
              <a:buClr>
                <a:schemeClr val="dk1"/>
              </a:buClr>
              <a:buSzPts val="3500"/>
              <a:buFont typeface="Times New Roman"/>
              <a:buChar char="•"/>
            </a:pPr>
            <a:r>
              <a:rPr lang="en" sz="3500" i="1">
                <a:solidFill>
                  <a:schemeClr val="dk1"/>
                </a:solidFill>
                <a:latin typeface="Times New Roman"/>
                <a:ea typeface="Times New Roman"/>
                <a:cs typeface="Times New Roman"/>
                <a:sym typeface="Times New Roman"/>
              </a:rPr>
              <a:t>consequences </a:t>
            </a:r>
            <a:r>
              <a:rPr lang="en" sz="3500">
                <a:solidFill>
                  <a:schemeClr val="dk1"/>
                </a:solidFill>
                <a:latin typeface="Times New Roman"/>
                <a:ea typeface="Times New Roman"/>
                <a:cs typeface="Times New Roman"/>
                <a:sym typeface="Times New Roman"/>
              </a:rPr>
              <a:t>of responses</a:t>
            </a:r>
            <a:endParaRPr sz="3500">
              <a:solidFill>
                <a:schemeClr val="dk1"/>
              </a:solidFill>
              <a:latin typeface="Times New Roman"/>
              <a:ea typeface="Times New Roman"/>
              <a:cs typeface="Times New Roman"/>
              <a:sym typeface="Times New Roman"/>
            </a:endParaRPr>
          </a:p>
          <a:p>
            <a:pPr marL="177800" marR="0" lvl="0" indent="-260350" algn="just" rtl="0">
              <a:lnSpc>
                <a:spcPct val="79300"/>
              </a:lnSpc>
              <a:spcBef>
                <a:spcPts val="600"/>
              </a:spcBef>
              <a:spcAft>
                <a:spcPts val="0"/>
              </a:spcAft>
              <a:buClr>
                <a:schemeClr val="dk1"/>
              </a:buClr>
              <a:buSzPts val="3500"/>
              <a:buFont typeface="Times New Roman"/>
              <a:buChar char="•"/>
            </a:pPr>
            <a:r>
              <a:rPr lang="en" sz="3500">
                <a:solidFill>
                  <a:schemeClr val="dk1"/>
                </a:solidFill>
                <a:latin typeface="Times New Roman"/>
                <a:ea typeface="Times New Roman"/>
                <a:cs typeface="Times New Roman"/>
                <a:sym typeface="Times New Roman"/>
              </a:rPr>
              <a:t>operant response is an action that operates  on environment to produce some  consequence</a:t>
            </a:r>
            <a:endParaRPr sz="3500">
              <a:solidFill>
                <a:schemeClr val="dk1"/>
              </a:solidFill>
              <a:latin typeface="Times New Roman"/>
              <a:ea typeface="Times New Roman"/>
              <a:cs typeface="Times New Roman"/>
              <a:sym typeface="Times New Roman"/>
            </a:endParaRPr>
          </a:p>
          <a:p>
            <a:pPr marL="177800" marR="0" lvl="0" indent="-260350" algn="just" rtl="0">
              <a:spcBef>
                <a:spcPts val="0"/>
              </a:spcBef>
              <a:spcAft>
                <a:spcPts val="0"/>
              </a:spcAft>
              <a:buClr>
                <a:schemeClr val="dk1"/>
              </a:buClr>
              <a:buSzPts val="3500"/>
              <a:buFont typeface="Times New Roman"/>
              <a:buChar char="•"/>
            </a:pPr>
            <a:r>
              <a:rPr lang="en" sz="3500" u="sng">
                <a:solidFill>
                  <a:schemeClr val="dk1"/>
                </a:solidFill>
                <a:latin typeface="Times New Roman"/>
                <a:ea typeface="Times New Roman"/>
                <a:cs typeface="Times New Roman"/>
                <a:sym typeface="Times New Roman"/>
              </a:rPr>
              <a:t>operant behavior</a:t>
            </a:r>
            <a:endParaRPr sz="3500">
              <a:solidFill>
                <a:schemeClr val="dk1"/>
              </a:solidFill>
              <a:latin typeface="Times New Roman"/>
              <a:ea typeface="Times New Roman"/>
              <a:cs typeface="Times New Roman"/>
              <a:sym typeface="Times New Roman"/>
            </a:endParaRPr>
          </a:p>
          <a:p>
            <a:pPr marL="0" marR="0" lvl="0" indent="0" algn="just" rtl="0">
              <a:spcBef>
                <a:spcPts val="0"/>
              </a:spcBef>
              <a:spcAft>
                <a:spcPts val="0"/>
              </a:spcAft>
              <a:buNone/>
            </a:pPr>
            <a:endParaRPr sz="3500">
              <a:solidFill>
                <a:schemeClr val="dk1"/>
              </a:solidFill>
              <a:latin typeface="Times New Roman"/>
              <a:ea typeface="Times New Roman"/>
              <a:cs typeface="Times New Roman"/>
              <a:sym typeface="Times New Roman"/>
            </a:endParaRPr>
          </a:p>
          <a:p>
            <a:pPr marL="12700" marR="0" lvl="0" indent="0" algn="just" rtl="0">
              <a:spcBef>
                <a:spcPts val="0"/>
              </a:spcBef>
              <a:spcAft>
                <a:spcPts val="0"/>
              </a:spcAft>
              <a:buNone/>
            </a:pPr>
            <a:endParaRPr sz="3500">
              <a:solidFill>
                <a:schemeClr val="dk1"/>
              </a:solidFill>
              <a:latin typeface="Times New Roman"/>
              <a:ea typeface="Times New Roman"/>
              <a:cs typeface="Times New Roman"/>
              <a:sym typeface="Times New Roman"/>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51" name="Google Shape;151;p28"/>
          <p:cNvSpPr txBox="1">
            <a:spLocks noGrp="1"/>
          </p:cNvSpPr>
          <p:nvPr>
            <p:ph type="body" idx="1"/>
          </p:nvPr>
        </p:nvSpPr>
        <p:spPr>
          <a:xfrm>
            <a:off x="552325" y="194028"/>
            <a:ext cx="7886700" cy="4761300"/>
          </a:xfrm>
          <a:prstGeom prst="rect">
            <a:avLst/>
          </a:prstGeom>
        </p:spPr>
        <p:txBody>
          <a:bodyPr spcFirstLastPara="1" wrap="square" lIns="68575" tIns="34275" rIns="68575" bIns="34275" anchor="t" anchorCtr="0">
            <a:noAutofit/>
          </a:bodyPr>
          <a:lstStyle/>
          <a:p>
            <a:pPr marL="457200" lvl="0" indent="0" algn="just" rtl="0">
              <a:spcBef>
                <a:spcPts val="800"/>
              </a:spcBef>
              <a:spcAft>
                <a:spcPts val="0"/>
              </a:spcAft>
              <a:buNone/>
            </a:pPr>
            <a:endParaRPr sz="3400">
              <a:solidFill>
                <a:srgbClr val="040C28"/>
              </a:solidFill>
              <a:highlight>
                <a:schemeClr val="lt1"/>
              </a:highlight>
              <a:latin typeface="Times New Roman"/>
              <a:ea typeface="Times New Roman"/>
              <a:cs typeface="Times New Roman"/>
              <a:sym typeface="Times New Roman"/>
            </a:endParaRPr>
          </a:p>
          <a:p>
            <a:pPr marL="457200" lvl="0" indent="-444500" algn="just" rtl="0">
              <a:spcBef>
                <a:spcPts val="1200"/>
              </a:spcBef>
              <a:spcAft>
                <a:spcPts val="0"/>
              </a:spcAft>
              <a:buClr>
                <a:srgbClr val="040C28"/>
              </a:buClr>
              <a:buSzPts val="3400"/>
              <a:buFont typeface="Times New Roman"/>
              <a:buChar char="●"/>
            </a:pPr>
            <a:r>
              <a:rPr lang="en" sz="3400">
                <a:solidFill>
                  <a:srgbClr val="040C28"/>
                </a:solidFill>
                <a:highlight>
                  <a:schemeClr val="lt1"/>
                </a:highlight>
                <a:latin typeface="Times New Roman"/>
                <a:ea typeface="Times New Roman"/>
                <a:cs typeface="Times New Roman"/>
                <a:sym typeface="Times New Roman"/>
              </a:rPr>
              <a:t>Reinforcement means you are increasing a behavior.</a:t>
            </a:r>
            <a:endParaRPr sz="3400">
              <a:solidFill>
                <a:srgbClr val="040C28"/>
              </a:solidFill>
              <a:highlight>
                <a:schemeClr val="lt1"/>
              </a:highlight>
              <a:latin typeface="Times New Roman"/>
              <a:ea typeface="Times New Roman"/>
              <a:cs typeface="Times New Roman"/>
              <a:sym typeface="Times New Roman"/>
            </a:endParaRPr>
          </a:p>
          <a:p>
            <a:pPr marL="457200" lvl="0" indent="-444500" algn="just" rtl="0">
              <a:spcBef>
                <a:spcPts val="0"/>
              </a:spcBef>
              <a:spcAft>
                <a:spcPts val="0"/>
              </a:spcAft>
              <a:buClr>
                <a:srgbClr val="202124"/>
              </a:buClr>
              <a:buSzPts val="3400"/>
              <a:buFont typeface="Times New Roman"/>
              <a:buChar char="●"/>
            </a:pPr>
            <a:r>
              <a:rPr lang="en" sz="3400">
                <a:solidFill>
                  <a:srgbClr val="202124"/>
                </a:solidFill>
                <a:highlight>
                  <a:srgbClr val="FFFFFF"/>
                </a:highlight>
                <a:latin typeface="Times New Roman"/>
                <a:ea typeface="Times New Roman"/>
                <a:cs typeface="Times New Roman"/>
                <a:sym typeface="Times New Roman"/>
              </a:rPr>
              <a:t>Reinforcement can be positive or negative</a:t>
            </a:r>
            <a:endParaRPr sz="3400">
              <a:solidFill>
                <a:srgbClr val="040C28"/>
              </a:solidFill>
              <a:highlight>
                <a:schemeClr val="lt1"/>
              </a:highlight>
              <a:latin typeface="Times New Roman"/>
              <a:ea typeface="Times New Roman"/>
              <a:cs typeface="Times New Roman"/>
              <a:sym typeface="Times New Roman"/>
            </a:endParaRPr>
          </a:p>
          <a:p>
            <a:pPr marL="457200" lvl="0" indent="-444500" algn="just" rtl="0">
              <a:spcBef>
                <a:spcPts val="0"/>
              </a:spcBef>
              <a:spcAft>
                <a:spcPts val="0"/>
              </a:spcAft>
              <a:buSzPts val="3400"/>
              <a:buFont typeface="Times New Roman"/>
              <a:buChar char="●"/>
            </a:pPr>
            <a:r>
              <a:rPr lang="en" sz="3400">
                <a:solidFill>
                  <a:srgbClr val="040C28"/>
                </a:solidFill>
                <a:highlight>
                  <a:schemeClr val="lt1"/>
                </a:highlight>
                <a:latin typeface="Times New Roman"/>
                <a:ea typeface="Times New Roman"/>
                <a:cs typeface="Times New Roman"/>
                <a:sym typeface="Times New Roman"/>
              </a:rPr>
              <a:t>Punishment means you are decreasing a behavior</a:t>
            </a:r>
            <a:r>
              <a:rPr lang="en" sz="3400">
                <a:solidFill>
                  <a:srgbClr val="202124"/>
                </a:solidFill>
                <a:highlight>
                  <a:srgbClr val="FFFFFF"/>
                </a:highlight>
                <a:latin typeface="Times New Roman"/>
                <a:ea typeface="Times New Roman"/>
                <a:cs typeface="Times New Roman"/>
                <a:sym typeface="Times New Roman"/>
              </a:rPr>
              <a:t>.</a:t>
            </a:r>
            <a:endParaRPr sz="3400">
              <a:solidFill>
                <a:srgbClr val="202124"/>
              </a:solidFill>
              <a:highlight>
                <a:srgbClr val="FFFFFF"/>
              </a:highlight>
              <a:latin typeface="Times New Roman"/>
              <a:ea typeface="Times New Roman"/>
              <a:cs typeface="Times New Roman"/>
              <a:sym typeface="Times New Roman"/>
            </a:endParaRPr>
          </a:p>
          <a:p>
            <a:pPr marL="457200" lvl="0" indent="-444500" algn="just" rtl="0">
              <a:spcBef>
                <a:spcPts val="0"/>
              </a:spcBef>
              <a:spcAft>
                <a:spcPts val="0"/>
              </a:spcAft>
              <a:buClr>
                <a:srgbClr val="202124"/>
              </a:buClr>
              <a:buSzPts val="3400"/>
              <a:buFont typeface="Times New Roman"/>
              <a:buChar char="●"/>
            </a:pPr>
            <a:r>
              <a:rPr lang="en" sz="3400">
                <a:solidFill>
                  <a:srgbClr val="202124"/>
                </a:solidFill>
                <a:highlight>
                  <a:srgbClr val="FFFFFF"/>
                </a:highlight>
                <a:latin typeface="Times New Roman"/>
                <a:ea typeface="Times New Roman"/>
                <a:cs typeface="Times New Roman"/>
                <a:sym typeface="Times New Roman"/>
              </a:rPr>
              <a:t>Punishment can also be positive or negative. </a:t>
            </a:r>
            <a:endParaRPr sz="3400">
              <a:latin typeface="Times New Roman"/>
              <a:ea typeface="Times New Roman"/>
              <a:cs typeface="Times New Roman"/>
              <a:sym typeface="Times New Roman"/>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55"/>
        <p:cNvGrpSpPr/>
        <p:nvPr/>
      </p:nvGrpSpPr>
      <p:grpSpPr>
        <a:xfrm>
          <a:off x="0" y="0"/>
          <a:ext cx="0" cy="0"/>
          <a:chOff x="0" y="0"/>
          <a:chExt cx="0" cy="0"/>
        </a:xfrm>
      </p:grpSpPr>
      <p:sp>
        <p:nvSpPr>
          <p:cNvPr id="156" name="Google Shape;156;p29"/>
          <p:cNvSpPr txBox="1">
            <a:spLocks noGrp="1"/>
          </p:cNvSpPr>
          <p:nvPr>
            <p:ph type="title"/>
          </p:nvPr>
        </p:nvSpPr>
        <p:spPr>
          <a:xfrm>
            <a:off x="2670626" y="140347"/>
            <a:ext cx="3688500" cy="517200"/>
          </a:xfrm>
          <a:prstGeom prst="rect">
            <a:avLst/>
          </a:prstGeom>
          <a:noFill/>
          <a:ln>
            <a:noFill/>
          </a:ln>
        </p:spPr>
        <p:txBody>
          <a:bodyPr spcFirstLastPara="1" wrap="square" lIns="0" tIns="9075" rIns="0" bIns="0" anchor="ctr" anchorCtr="0">
            <a:spAutoFit/>
          </a:bodyPr>
          <a:lstStyle/>
          <a:p>
            <a:pPr marL="12700" lvl="0" indent="0" algn="l" rtl="0">
              <a:lnSpc>
                <a:spcPct val="100000"/>
              </a:lnSpc>
              <a:spcBef>
                <a:spcPts val="0"/>
              </a:spcBef>
              <a:spcAft>
                <a:spcPts val="0"/>
              </a:spcAft>
              <a:buClr>
                <a:schemeClr val="dk1"/>
              </a:buClr>
              <a:buSzPts val="3300"/>
              <a:buFont typeface="Constantia"/>
              <a:buNone/>
            </a:pPr>
            <a:r>
              <a:rPr lang="en" sz="3300"/>
              <a:t>REINFORCEMENT</a:t>
            </a:r>
            <a:endParaRPr sz="3300"/>
          </a:p>
        </p:txBody>
      </p:sp>
      <p:sp>
        <p:nvSpPr>
          <p:cNvPr id="157" name="Google Shape;157;p29"/>
          <p:cNvSpPr txBox="1"/>
          <p:nvPr/>
        </p:nvSpPr>
        <p:spPr>
          <a:xfrm>
            <a:off x="1190093" y="904766"/>
            <a:ext cx="6696600" cy="4011900"/>
          </a:xfrm>
          <a:prstGeom prst="rect">
            <a:avLst/>
          </a:prstGeom>
          <a:noFill/>
          <a:ln>
            <a:noFill/>
          </a:ln>
        </p:spPr>
        <p:txBody>
          <a:bodyPr spcFirstLastPara="1" wrap="square" lIns="0" tIns="9550" rIns="0" bIns="0" anchor="t" anchorCtr="0">
            <a:spAutoFit/>
          </a:bodyPr>
          <a:lstStyle/>
          <a:p>
            <a:pPr marL="292100" marR="2768600" lvl="0" indent="-292100" algn="l" rtl="0">
              <a:lnSpc>
                <a:spcPct val="119800"/>
              </a:lnSpc>
              <a:spcBef>
                <a:spcPts val="0"/>
              </a:spcBef>
              <a:spcAft>
                <a:spcPts val="0"/>
              </a:spcAft>
              <a:buClr>
                <a:schemeClr val="dk1"/>
              </a:buClr>
              <a:buSzPts val="2400"/>
              <a:buFont typeface="Constantia"/>
              <a:buChar char="•"/>
            </a:pPr>
            <a:r>
              <a:rPr lang="en" sz="2400" b="1">
                <a:solidFill>
                  <a:schemeClr val="dk1"/>
                </a:solidFill>
                <a:latin typeface="Constantia"/>
                <a:ea typeface="Constantia"/>
                <a:cs typeface="Constantia"/>
                <a:sym typeface="Constantia"/>
              </a:rPr>
              <a:t>Primary Reinforcers  food, thirst, pain</a:t>
            </a:r>
            <a:endParaRPr sz="2400">
              <a:solidFill>
                <a:schemeClr val="dk1"/>
              </a:solidFill>
              <a:latin typeface="Constantia"/>
              <a:ea typeface="Constantia"/>
              <a:cs typeface="Constantia"/>
              <a:sym typeface="Constantia"/>
            </a:endParaRPr>
          </a:p>
          <a:p>
            <a:pPr marL="292100" marR="0" lvl="0" indent="-203200" algn="l" rtl="0">
              <a:spcBef>
                <a:spcPts val="600"/>
              </a:spcBef>
              <a:spcAft>
                <a:spcPts val="0"/>
              </a:spcAft>
              <a:buClr>
                <a:schemeClr val="dk1"/>
              </a:buClr>
              <a:buSzPts val="2400"/>
              <a:buFont typeface="Constantia"/>
              <a:buChar char="•"/>
            </a:pPr>
            <a:r>
              <a:rPr lang="en" sz="2400" b="1">
                <a:solidFill>
                  <a:schemeClr val="dk1"/>
                </a:solidFill>
                <a:latin typeface="Constantia"/>
                <a:ea typeface="Constantia"/>
                <a:cs typeface="Constantia"/>
                <a:sym typeface="Constantia"/>
              </a:rPr>
              <a:t>Secondary Reinforcers</a:t>
            </a:r>
            <a:endParaRPr sz="2400">
              <a:solidFill>
                <a:schemeClr val="dk1"/>
              </a:solidFill>
              <a:latin typeface="Constantia"/>
              <a:ea typeface="Constantia"/>
              <a:cs typeface="Constantia"/>
              <a:sym typeface="Constantia"/>
            </a:endParaRPr>
          </a:p>
          <a:p>
            <a:pPr marL="698500" marR="0" lvl="0" indent="0" algn="l" rtl="0">
              <a:lnSpc>
                <a:spcPct val="119800"/>
              </a:lnSpc>
              <a:spcBef>
                <a:spcPts val="0"/>
              </a:spcBef>
              <a:spcAft>
                <a:spcPts val="0"/>
              </a:spcAft>
              <a:buNone/>
            </a:pPr>
            <a:r>
              <a:rPr lang="en" sz="2400" b="1">
                <a:solidFill>
                  <a:schemeClr val="dk1"/>
                </a:solidFill>
                <a:latin typeface="Constantia"/>
                <a:ea typeface="Constantia"/>
                <a:cs typeface="Constantia"/>
                <a:sym typeface="Constantia"/>
              </a:rPr>
              <a:t>money, attention, praise, admission,  promotion</a:t>
            </a:r>
            <a:endParaRPr sz="2400">
              <a:solidFill>
                <a:schemeClr val="dk1"/>
              </a:solidFill>
              <a:latin typeface="Constantia"/>
              <a:ea typeface="Constantia"/>
              <a:cs typeface="Constantia"/>
              <a:sym typeface="Constantia"/>
            </a:endParaRPr>
          </a:p>
          <a:p>
            <a:pPr marL="203200" marR="0" lvl="0" indent="-190500" algn="l" rtl="0">
              <a:spcBef>
                <a:spcPts val="600"/>
              </a:spcBef>
              <a:spcAft>
                <a:spcPts val="0"/>
              </a:spcAft>
              <a:buClr>
                <a:schemeClr val="dk1"/>
              </a:buClr>
              <a:buSzPts val="2400"/>
              <a:buFont typeface="Constantia"/>
              <a:buChar char="•"/>
            </a:pPr>
            <a:r>
              <a:rPr lang="en" sz="2400" b="1">
                <a:solidFill>
                  <a:schemeClr val="dk1"/>
                </a:solidFill>
                <a:latin typeface="Constantia"/>
                <a:ea typeface="Constantia"/>
                <a:cs typeface="Constantia"/>
                <a:sym typeface="Constantia"/>
              </a:rPr>
              <a:t>Positive (increase behavior)</a:t>
            </a:r>
            <a:endParaRPr sz="2400">
              <a:solidFill>
                <a:schemeClr val="dk1"/>
              </a:solidFill>
              <a:latin typeface="Constantia"/>
              <a:ea typeface="Constantia"/>
              <a:cs typeface="Constantia"/>
              <a:sym typeface="Constantia"/>
            </a:endParaRPr>
          </a:p>
          <a:p>
            <a:pPr marL="203200" marR="0" lvl="0" indent="-190500" algn="l" rtl="0">
              <a:spcBef>
                <a:spcPts val="600"/>
              </a:spcBef>
              <a:spcAft>
                <a:spcPts val="0"/>
              </a:spcAft>
              <a:buClr>
                <a:schemeClr val="dk1"/>
              </a:buClr>
              <a:buSzPts val="2400"/>
              <a:buFont typeface="Constantia"/>
              <a:buChar char="•"/>
            </a:pPr>
            <a:r>
              <a:rPr lang="en" sz="2400" b="1">
                <a:solidFill>
                  <a:schemeClr val="dk1"/>
                </a:solidFill>
                <a:latin typeface="Constantia"/>
                <a:ea typeface="Constantia"/>
                <a:cs typeface="Constantia"/>
                <a:sym typeface="Constantia"/>
              </a:rPr>
              <a:t>Negative (decrease behavior, escape)</a:t>
            </a:r>
            <a:endParaRPr sz="2400">
              <a:solidFill>
                <a:schemeClr val="dk1"/>
              </a:solidFill>
              <a:latin typeface="Constantia"/>
              <a:ea typeface="Constantia"/>
              <a:cs typeface="Constantia"/>
              <a:sym typeface="Constantia"/>
            </a:endParaRPr>
          </a:p>
          <a:p>
            <a:pPr marL="203200" marR="0" lvl="0" indent="-190500" algn="l" rtl="0">
              <a:spcBef>
                <a:spcPts val="600"/>
              </a:spcBef>
              <a:spcAft>
                <a:spcPts val="0"/>
              </a:spcAft>
              <a:buClr>
                <a:schemeClr val="dk1"/>
              </a:buClr>
              <a:buSzPts val="2400"/>
              <a:buFont typeface="Constantia"/>
              <a:buChar char="•"/>
            </a:pPr>
            <a:r>
              <a:rPr lang="en" sz="2400" b="1">
                <a:solidFill>
                  <a:schemeClr val="dk1"/>
                </a:solidFill>
                <a:latin typeface="Constantia"/>
                <a:ea typeface="Constantia"/>
                <a:cs typeface="Constantia"/>
                <a:sym typeface="Constantia"/>
              </a:rPr>
              <a:t>Punishment</a:t>
            </a:r>
            <a:endParaRPr sz="2400">
              <a:solidFill>
                <a:schemeClr val="dk1"/>
              </a:solidFill>
              <a:latin typeface="Constantia"/>
              <a:ea typeface="Constantia"/>
              <a:cs typeface="Constantia"/>
              <a:sym typeface="Constantia"/>
            </a:endParaRPr>
          </a:p>
          <a:p>
            <a:pPr marL="203200" marR="0" lvl="0" indent="-190500" algn="l" rtl="0">
              <a:spcBef>
                <a:spcPts val="600"/>
              </a:spcBef>
              <a:spcAft>
                <a:spcPts val="0"/>
              </a:spcAft>
              <a:buClr>
                <a:schemeClr val="dk1"/>
              </a:buClr>
              <a:buSzPts val="2400"/>
              <a:buFont typeface="Constantia"/>
              <a:buChar char="•"/>
            </a:pPr>
            <a:r>
              <a:rPr lang="en" sz="2400" b="1">
                <a:solidFill>
                  <a:schemeClr val="dk1"/>
                </a:solidFill>
                <a:latin typeface="Constantia"/>
                <a:ea typeface="Constantia"/>
                <a:cs typeface="Constantia"/>
                <a:sym typeface="Constantia"/>
              </a:rPr>
              <a:t>Partial Reinforcement</a:t>
            </a:r>
            <a:endParaRPr sz="2400">
              <a:solidFill>
                <a:schemeClr val="dk1"/>
              </a:solidFill>
              <a:latin typeface="Constantia"/>
              <a:ea typeface="Constantia"/>
              <a:cs typeface="Constantia"/>
              <a:sym typeface="Constantia"/>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61"/>
        <p:cNvGrpSpPr/>
        <p:nvPr/>
      </p:nvGrpSpPr>
      <p:grpSpPr>
        <a:xfrm>
          <a:off x="0" y="0"/>
          <a:ext cx="0" cy="0"/>
          <a:chOff x="0" y="0"/>
          <a:chExt cx="0" cy="0"/>
        </a:xfrm>
      </p:grpSpPr>
      <p:sp>
        <p:nvSpPr>
          <p:cNvPr id="162" name="Google Shape;162;p30"/>
          <p:cNvSpPr txBox="1">
            <a:spLocks noGrp="1"/>
          </p:cNvSpPr>
          <p:nvPr>
            <p:ph type="body" idx="1"/>
          </p:nvPr>
        </p:nvSpPr>
        <p:spPr>
          <a:xfrm>
            <a:off x="628650" y="513850"/>
            <a:ext cx="7886700" cy="4118700"/>
          </a:xfrm>
          <a:prstGeom prst="rect">
            <a:avLst/>
          </a:prstGeom>
        </p:spPr>
        <p:txBody>
          <a:bodyPr spcFirstLastPara="1" wrap="square" lIns="68575" tIns="34275" rIns="68575" bIns="34275" anchor="t" anchorCtr="0">
            <a:normAutofit/>
          </a:bodyPr>
          <a:lstStyle/>
          <a:p>
            <a:pPr marL="0" lvl="0" indent="0" algn="l" rtl="0">
              <a:spcBef>
                <a:spcPts val="800"/>
              </a:spcBef>
              <a:spcAft>
                <a:spcPts val="0"/>
              </a:spcAft>
              <a:buNone/>
            </a:pPr>
            <a:r>
              <a:rPr lang="en" sz="2600" b="1">
                <a:solidFill>
                  <a:schemeClr val="dk1"/>
                </a:solidFill>
              </a:rPr>
              <a:t>Reinforcement:</a:t>
            </a:r>
            <a:endParaRPr sz="2600" b="1">
              <a:solidFill>
                <a:schemeClr val="dk1"/>
              </a:solidFill>
            </a:endParaRPr>
          </a:p>
          <a:p>
            <a:pPr marL="0" lvl="0" indent="0" algn="l" rtl="0">
              <a:spcBef>
                <a:spcPts val="1200"/>
              </a:spcBef>
              <a:spcAft>
                <a:spcPts val="0"/>
              </a:spcAft>
              <a:buNone/>
            </a:pPr>
            <a:r>
              <a:rPr lang="en" sz="2600">
                <a:solidFill>
                  <a:schemeClr val="dk1"/>
                </a:solidFill>
              </a:rPr>
              <a:t>Adding or removing something to </a:t>
            </a:r>
            <a:r>
              <a:rPr lang="en" sz="2600" b="1">
                <a:solidFill>
                  <a:schemeClr val="dk1"/>
                </a:solidFill>
              </a:rPr>
              <a:t>increase desired behaviors.</a:t>
            </a:r>
            <a:endParaRPr sz="2600" b="1">
              <a:solidFill>
                <a:schemeClr val="dk1"/>
              </a:solidFill>
            </a:endParaRPr>
          </a:p>
          <a:p>
            <a:pPr marL="0" lvl="0" indent="0" algn="l" rtl="0">
              <a:spcBef>
                <a:spcPts val="1200"/>
              </a:spcBef>
              <a:spcAft>
                <a:spcPts val="0"/>
              </a:spcAft>
              <a:buNone/>
            </a:pPr>
            <a:endParaRPr sz="2600" b="1">
              <a:solidFill>
                <a:schemeClr val="dk1"/>
              </a:solidFill>
            </a:endParaRPr>
          </a:p>
          <a:p>
            <a:pPr marL="0" lvl="0" indent="0" algn="l" rtl="0">
              <a:spcBef>
                <a:spcPts val="1200"/>
              </a:spcBef>
              <a:spcAft>
                <a:spcPts val="0"/>
              </a:spcAft>
              <a:buNone/>
            </a:pPr>
            <a:r>
              <a:rPr lang="en" sz="2600" b="1">
                <a:solidFill>
                  <a:schemeClr val="dk1"/>
                </a:solidFill>
              </a:rPr>
              <a:t>Punishment</a:t>
            </a:r>
            <a:endParaRPr sz="2600" b="1">
              <a:solidFill>
                <a:schemeClr val="dk1"/>
              </a:solidFill>
            </a:endParaRPr>
          </a:p>
          <a:p>
            <a:pPr marL="0" lvl="0" indent="0" algn="l" rtl="0">
              <a:spcBef>
                <a:spcPts val="1200"/>
              </a:spcBef>
              <a:spcAft>
                <a:spcPts val="0"/>
              </a:spcAft>
              <a:buClr>
                <a:schemeClr val="dk1"/>
              </a:buClr>
              <a:buSzPts val="1100"/>
              <a:buFont typeface="Arial"/>
              <a:buNone/>
            </a:pPr>
            <a:r>
              <a:rPr lang="en" sz="2600">
                <a:solidFill>
                  <a:schemeClr val="dk1"/>
                </a:solidFill>
              </a:rPr>
              <a:t>Adding or removing something to </a:t>
            </a:r>
            <a:r>
              <a:rPr lang="en" sz="2600" b="1">
                <a:solidFill>
                  <a:schemeClr val="dk1"/>
                </a:solidFill>
              </a:rPr>
              <a:t>decrease undesirable behaviors.</a:t>
            </a:r>
            <a:endParaRPr sz="2600" b="1">
              <a:solidFill>
                <a:schemeClr val="dk1"/>
              </a:solidFill>
            </a:endParaRPr>
          </a:p>
          <a:p>
            <a:pPr marL="0" lvl="0" indent="0" algn="l" rtl="0">
              <a:spcBef>
                <a:spcPts val="1200"/>
              </a:spcBef>
              <a:spcAft>
                <a:spcPts val="1200"/>
              </a:spcAft>
              <a:buNone/>
            </a:pPr>
            <a:endParaRPr sz="2600">
              <a:solidFill>
                <a:schemeClr val="dk1"/>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66"/>
        <p:cNvGrpSpPr/>
        <p:nvPr/>
      </p:nvGrpSpPr>
      <p:grpSpPr>
        <a:xfrm>
          <a:off x="0" y="0"/>
          <a:ext cx="0" cy="0"/>
          <a:chOff x="0" y="0"/>
          <a:chExt cx="0" cy="0"/>
        </a:xfrm>
      </p:grpSpPr>
      <p:sp>
        <p:nvSpPr>
          <p:cNvPr id="167" name="Google Shape;167;p31"/>
          <p:cNvSpPr txBox="1">
            <a:spLocks noGrp="1"/>
          </p:cNvSpPr>
          <p:nvPr>
            <p:ph type="title"/>
          </p:nvPr>
        </p:nvSpPr>
        <p:spPr>
          <a:xfrm>
            <a:off x="628650" y="239125"/>
            <a:ext cx="7886700" cy="610500"/>
          </a:xfrm>
          <a:prstGeom prst="rect">
            <a:avLst/>
          </a:prstGeom>
        </p:spPr>
        <p:txBody>
          <a:bodyPr spcFirstLastPara="1" wrap="square" lIns="68575" tIns="34275" rIns="68575" bIns="34275" anchor="ctr" anchorCtr="0">
            <a:normAutofit/>
          </a:bodyPr>
          <a:lstStyle/>
          <a:p>
            <a:pPr marL="0" lvl="0" indent="0" algn="ctr" rtl="0">
              <a:spcBef>
                <a:spcPts val="800"/>
              </a:spcBef>
              <a:spcAft>
                <a:spcPts val="1200"/>
              </a:spcAft>
              <a:buClr>
                <a:schemeClr val="dk1"/>
              </a:buClr>
              <a:buSzPts val="1100"/>
              <a:buFont typeface="Arial"/>
              <a:buNone/>
            </a:pPr>
            <a:r>
              <a:rPr lang="en" sz="2600" b="1">
                <a:solidFill>
                  <a:srgbClr val="1F1F1F"/>
                </a:solidFill>
                <a:highlight>
                  <a:srgbClr val="FFFFFF"/>
                </a:highlight>
                <a:latin typeface="Times New Roman"/>
                <a:ea typeface="Times New Roman"/>
                <a:cs typeface="Times New Roman"/>
                <a:sym typeface="Times New Roman"/>
              </a:rPr>
              <a:t>Positive Reinforcement  &amp; Negative Reinforcement </a:t>
            </a:r>
            <a:endParaRPr sz="3900" b="1">
              <a:latin typeface="Times New Roman"/>
              <a:ea typeface="Times New Roman"/>
              <a:cs typeface="Times New Roman"/>
              <a:sym typeface="Times New Roman"/>
            </a:endParaRPr>
          </a:p>
        </p:txBody>
      </p:sp>
      <p:sp>
        <p:nvSpPr>
          <p:cNvPr id="168" name="Google Shape;168;p31"/>
          <p:cNvSpPr txBox="1">
            <a:spLocks noGrp="1"/>
          </p:cNvSpPr>
          <p:nvPr>
            <p:ph type="body" idx="1"/>
          </p:nvPr>
        </p:nvSpPr>
        <p:spPr>
          <a:xfrm>
            <a:off x="249150" y="1109025"/>
            <a:ext cx="8266200" cy="3968400"/>
          </a:xfrm>
          <a:prstGeom prst="rect">
            <a:avLst/>
          </a:prstGeom>
        </p:spPr>
        <p:txBody>
          <a:bodyPr spcFirstLastPara="1" wrap="square" lIns="68575" tIns="34275" rIns="68575" bIns="34275" anchor="t" anchorCtr="0">
            <a:normAutofit/>
          </a:bodyPr>
          <a:lstStyle/>
          <a:p>
            <a:pPr marL="0" lvl="0" indent="0" algn="just" rtl="0">
              <a:lnSpc>
                <a:spcPct val="115000"/>
              </a:lnSpc>
              <a:spcBef>
                <a:spcPts val="800"/>
              </a:spcBef>
              <a:spcAft>
                <a:spcPts val="0"/>
              </a:spcAft>
              <a:buNone/>
            </a:pPr>
            <a:r>
              <a:rPr lang="en" sz="2200" b="1">
                <a:solidFill>
                  <a:srgbClr val="1F1F1F"/>
                </a:solidFill>
                <a:highlight>
                  <a:srgbClr val="FFFFFF"/>
                </a:highlight>
                <a:latin typeface="Times New Roman"/>
                <a:ea typeface="Times New Roman"/>
                <a:cs typeface="Times New Roman"/>
                <a:sym typeface="Times New Roman"/>
              </a:rPr>
              <a:t>Positive reinforcement </a:t>
            </a:r>
            <a:r>
              <a:rPr lang="en" sz="2200">
                <a:solidFill>
                  <a:srgbClr val="1F1F1F"/>
                </a:solidFill>
                <a:highlight>
                  <a:srgbClr val="FFFFFF"/>
                </a:highlight>
                <a:latin typeface="Times New Roman"/>
                <a:ea typeface="Times New Roman"/>
                <a:cs typeface="Times New Roman"/>
                <a:sym typeface="Times New Roman"/>
              </a:rPr>
              <a:t>is a process that strengthens the likelihood of a particular response by adding a stimulus after the behavior is performed. </a:t>
            </a:r>
            <a:endParaRPr sz="2200">
              <a:solidFill>
                <a:srgbClr val="1F1F1F"/>
              </a:solidFill>
              <a:highlight>
                <a:srgbClr val="FFFFFF"/>
              </a:highlight>
              <a:latin typeface="Times New Roman"/>
              <a:ea typeface="Times New Roman"/>
              <a:cs typeface="Times New Roman"/>
              <a:sym typeface="Times New Roman"/>
            </a:endParaRPr>
          </a:p>
          <a:p>
            <a:pPr marL="0" lvl="0" indent="0" algn="just" rtl="0">
              <a:lnSpc>
                <a:spcPct val="115000"/>
              </a:lnSpc>
              <a:spcBef>
                <a:spcPts val="1200"/>
              </a:spcBef>
              <a:spcAft>
                <a:spcPts val="0"/>
              </a:spcAft>
              <a:buNone/>
            </a:pPr>
            <a:r>
              <a:rPr lang="en" sz="2200" b="1">
                <a:solidFill>
                  <a:srgbClr val="1F1F1F"/>
                </a:solidFill>
                <a:highlight>
                  <a:srgbClr val="FFFFFF"/>
                </a:highlight>
                <a:latin typeface="Times New Roman"/>
                <a:ea typeface="Times New Roman"/>
                <a:cs typeface="Times New Roman"/>
                <a:sym typeface="Times New Roman"/>
              </a:rPr>
              <a:t>Example:</a:t>
            </a:r>
            <a:r>
              <a:rPr lang="en" sz="2200">
                <a:solidFill>
                  <a:srgbClr val="1F1F1F"/>
                </a:solidFill>
                <a:highlight>
                  <a:srgbClr val="FFFFFF"/>
                </a:highlight>
                <a:latin typeface="Times New Roman"/>
                <a:ea typeface="Times New Roman"/>
                <a:cs typeface="Times New Roman"/>
                <a:sym typeface="Times New Roman"/>
              </a:rPr>
              <a:t> </a:t>
            </a:r>
            <a:r>
              <a:rPr lang="en" sz="2200">
                <a:solidFill>
                  <a:srgbClr val="040C28"/>
                </a:solidFill>
                <a:highlight>
                  <a:srgbClr val="FFFFFF"/>
                </a:highlight>
                <a:latin typeface="Times New Roman"/>
                <a:ea typeface="Times New Roman"/>
                <a:cs typeface="Times New Roman"/>
                <a:sym typeface="Times New Roman"/>
              </a:rPr>
              <a:t>Allowing a child to play on their tablet if they finish their homework.</a:t>
            </a:r>
            <a:endParaRPr sz="2200">
              <a:solidFill>
                <a:srgbClr val="1F1F1F"/>
              </a:solidFill>
              <a:highlight>
                <a:srgbClr val="FFFFFF"/>
              </a:highlight>
              <a:latin typeface="Times New Roman"/>
              <a:ea typeface="Times New Roman"/>
              <a:cs typeface="Times New Roman"/>
              <a:sym typeface="Times New Roman"/>
            </a:endParaRPr>
          </a:p>
          <a:p>
            <a:pPr marL="0" lvl="0" indent="0" algn="just" rtl="0">
              <a:lnSpc>
                <a:spcPct val="115000"/>
              </a:lnSpc>
              <a:spcBef>
                <a:spcPts val="1200"/>
              </a:spcBef>
              <a:spcAft>
                <a:spcPts val="0"/>
              </a:spcAft>
              <a:buNone/>
            </a:pPr>
            <a:r>
              <a:rPr lang="en" sz="2200" b="1">
                <a:solidFill>
                  <a:srgbClr val="1F1F1F"/>
                </a:solidFill>
                <a:highlight>
                  <a:srgbClr val="FFFFFF"/>
                </a:highlight>
                <a:latin typeface="Times New Roman"/>
                <a:ea typeface="Times New Roman"/>
                <a:cs typeface="Times New Roman"/>
                <a:sym typeface="Times New Roman"/>
              </a:rPr>
              <a:t>Negative r</a:t>
            </a:r>
            <a:r>
              <a:rPr lang="en" sz="2200">
                <a:solidFill>
                  <a:srgbClr val="1F1F1F"/>
                </a:solidFill>
                <a:highlight>
                  <a:srgbClr val="FFFFFF"/>
                </a:highlight>
                <a:latin typeface="Times New Roman"/>
                <a:ea typeface="Times New Roman"/>
                <a:cs typeface="Times New Roman"/>
                <a:sym typeface="Times New Roman"/>
              </a:rPr>
              <a:t>einforcement also strengthens the likelihood of a particular response, but by removing an undesirable consequence.</a:t>
            </a:r>
            <a:endParaRPr sz="2200">
              <a:solidFill>
                <a:srgbClr val="1F1F1F"/>
              </a:solidFill>
              <a:highlight>
                <a:srgbClr val="FFFFFF"/>
              </a:highlight>
              <a:latin typeface="Times New Roman"/>
              <a:ea typeface="Times New Roman"/>
              <a:cs typeface="Times New Roman"/>
              <a:sym typeface="Times New Roman"/>
            </a:endParaRPr>
          </a:p>
          <a:p>
            <a:pPr marL="0" lvl="0" indent="0" algn="just" rtl="0">
              <a:lnSpc>
                <a:spcPct val="115000"/>
              </a:lnSpc>
              <a:spcBef>
                <a:spcPts val="1200"/>
              </a:spcBef>
              <a:spcAft>
                <a:spcPts val="1200"/>
              </a:spcAft>
              <a:buNone/>
            </a:pPr>
            <a:r>
              <a:rPr lang="en" sz="2200" b="1">
                <a:solidFill>
                  <a:srgbClr val="1F1F1F"/>
                </a:solidFill>
                <a:highlight>
                  <a:srgbClr val="FFFFFF"/>
                </a:highlight>
                <a:latin typeface="Times New Roman"/>
                <a:ea typeface="Times New Roman"/>
                <a:cs typeface="Times New Roman"/>
                <a:sym typeface="Times New Roman"/>
              </a:rPr>
              <a:t>Example:</a:t>
            </a:r>
            <a:r>
              <a:rPr lang="en" sz="2200">
                <a:solidFill>
                  <a:srgbClr val="1F1F1F"/>
                </a:solidFill>
                <a:highlight>
                  <a:srgbClr val="FFFFFF"/>
                </a:highlight>
                <a:latin typeface="Times New Roman"/>
                <a:ea typeface="Times New Roman"/>
                <a:cs typeface="Times New Roman"/>
                <a:sym typeface="Times New Roman"/>
              </a:rPr>
              <a:t> Keeping the mobile in silent mode so that your concentration level increases.</a:t>
            </a:r>
            <a:endParaRPr sz="2200">
              <a:solidFill>
                <a:srgbClr val="1F1F1F"/>
              </a:solidFill>
              <a:highlight>
                <a:srgbClr val="FFFFFF"/>
              </a:highlight>
              <a:latin typeface="Times New Roman"/>
              <a:ea typeface="Times New Roman"/>
              <a:cs typeface="Times New Roman"/>
              <a:sym typeface="Times New Roman"/>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174" name="Google Shape;174;p32"/>
          <p:cNvSpPr txBox="1">
            <a:spLocks noGrp="1"/>
          </p:cNvSpPr>
          <p:nvPr>
            <p:ph type="title"/>
          </p:nvPr>
        </p:nvSpPr>
        <p:spPr>
          <a:xfrm>
            <a:off x="1940987" y="140358"/>
            <a:ext cx="5491500" cy="517200"/>
          </a:xfrm>
          <a:prstGeom prst="rect">
            <a:avLst/>
          </a:prstGeom>
          <a:noFill/>
          <a:ln>
            <a:noFill/>
          </a:ln>
        </p:spPr>
        <p:txBody>
          <a:bodyPr spcFirstLastPara="1" wrap="square" lIns="0" tIns="9075" rIns="0" bIns="0" anchor="ctr" anchorCtr="0">
            <a:spAutoFit/>
          </a:bodyPr>
          <a:lstStyle/>
          <a:p>
            <a:pPr marL="12700" lvl="0" indent="0" algn="l" rtl="0">
              <a:lnSpc>
                <a:spcPct val="100000"/>
              </a:lnSpc>
              <a:spcBef>
                <a:spcPts val="0"/>
              </a:spcBef>
              <a:spcAft>
                <a:spcPts val="0"/>
              </a:spcAft>
              <a:buClr>
                <a:schemeClr val="dk1"/>
              </a:buClr>
              <a:buSzPts val="3300"/>
              <a:buFont typeface="Constantia"/>
              <a:buNone/>
            </a:pPr>
            <a:r>
              <a:rPr lang="en" sz="3300"/>
              <a:t>Partial-reinforcement effect</a:t>
            </a:r>
            <a:endParaRPr sz="3300"/>
          </a:p>
        </p:txBody>
      </p:sp>
      <p:sp>
        <p:nvSpPr>
          <p:cNvPr id="175" name="Google Shape;175;p32"/>
          <p:cNvSpPr txBox="1"/>
          <p:nvPr/>
        </p:nvSpPr>
        <p:spPr>
          <a:xfrm>
            <a:off x="6464961" y="1711313"/>
            <a:ext cx="1262100" cy="1083300"/>
          </a:xfrm>
          <a:prstGeom prst="rect">
            <a:avLst/>
          </a:prstGeom>
          <a:solidFill>
            <a:srgbClr val="CCFFFF"/>
          </a:solidFill>
          <a:ln w="38100" cap="flat" cmpd="sng">
            <a:solidFill>
              <a:srgbClr val="FF0000"/>
            </a:solidFill>
            <a:prstDash val="solid"/>
            <a:round/>
            <a:headEnd type="none" w="sm" len="sm"/>
            <a:tailEnd type="none" w="sm" len="sm"/>
          </a:ln>
        </p:spPr>
        <p:txBody>
          <a:bodyPr spcFirstLastPara="1" wrap="square" lIns="0" tIns="43500" rIns="0" bIns="0" anchor="t" anchorCtr="0">
            <a:spAutoFit/>
          </a:bodyPr>
          <a:lstStyle/>
          <a:p>
            <a:pPr marL="88900" marR="177800" lvl="0" indent="0" algn="l" rtl="0">
              <a:lnSpc>
                <a:spcPct val="99300"/>
              </a:lnSpc>
              <a:spcBef>
                <a:spcPts val="0"/>
              </a:spcBef>
              <a:spcAft>
                <a:spcPts val="0"/>
              </a:spcAft>
              <a:buNone/>
            </a:pPr>
            <a:r>
              <a:rPr lang="en" sz="1700" b="1">
                <a:solidFill>
                  <a:schemeClr val="dk1"/>
                </a:solidFill>
                <a:latin typeface="Times New Roman"/>
                <a:ea typeface="Times New Roman"/>
                <a:cs typeface="Times New Roman"/>
                <a:sym typeface="Times New Roman"/>
              </a:rPr>
              <a:t>More  resistant to  extinction</a:t>
            </a:r>
            <a:endParaRPr sz="1700">
              <a:solidFill>
                <a:schemeClr val="dk1"/>
              </a:solidFill>
              <a:latin typeface="Times New Roman"/>
              <a:ea typeface="Times New Roman"/>
              <a:cs typeface="Times New Roman"/>
              <a:sym typeface="Times New Roman"/>
            </a:endParaRPr>
          </a:p>
        </p:txBody>
      </p:sp>
      <p:sp>
        <p:nvSpPr>
          <p:cNvPr id="176" name="Google Shape;176;p32"/>
          <p:cNvSpPr/>
          <p:nvPr/>
        </p:nvSpPr>
        <p:spPr>
          <a:xfrm>
            <a:off x="5890190" y="2150710"/>
            <a:ext cx="584395" cy="318240"/>
          </a:xfrm>
          <a:custGeom>
            <a:avLst/>
            <a:gdLst/>
            <a:ahLst/>
            <a:cxnLst/>
            <a:rect l="l" t="t" r="r" b="b"/>
            <a:pathLst>
              <a:path w="776604" h="422910" extrusionOk="0">
                <a:moveTo>
                  <a:pt x="246804" y="144315"/>
                </a:moveTo>
                <a:lnTo>
                  <a:pt x="246792" y="133445"/>
                </a:lnTo>
                <a:lnTo>
                  <a:pt x="242637" y="123289"/>
                </a:lnTo>
                <a:lnTo>
                  <a:pt x="234696" y="115062"/>
                </a:lnTo>
                <a:lnTo>
                  <a:pt x="224325" y="110573"/>
                </a:lnTo>
                <a:lnTo>
                  <a:pt x="213455" y="110585"/>
                </a:lnTo>
                <a:lnTo>
                  <a:pt x="203299" y="114740"/>
                </a:lnTo>
                <a:lnTo>
                  <a:pt x="195072" y="122682"/>
                </a:lnTo>
                <a:lnTo>
                  <a:pt x="0" y="407670"/>
                </a:lnTo>
                <a:lnTo>
                  <a:pt x="39624" y="409419"/>
                </a:lnTo>
                <a:lnTo>
                  <a:pt x="39624" y="355854"/>
                </a:lnTo>
                <a:lnTo>
                  <a:pt x="138746" y="306239"/>
                </a:lnTo>
                <a:lnTo>
                  <a:pt x="242316" y="154686"/>
                </a:lnTo>
                <a:lnTo>
                  <a:pt x="246804" y="144315"/>
                </a:lnTo>
                <a:close/>
              </a:path>
              <a:path w="776604" h="422910" extrusionOk="0">
                <a:moveTo>
                  <a:pt x="138746" y="306239"/>
                </a:moveTo>
                <a:lnTo>
                  <a:pt x="39624" y="355854"/>
                </a:lnTo>
                <a:lnTo>
                  <a:pt x="54101" y="384384"/>
                </a:lnTo>
                <a:lnTo>
                  <a:pt x="54101" y="352806"/>
                </a:lnTo>
                <a:lnTo>
                  <a:pt x="105376" y="355070"/>
                </a:lnTo>
                <a:lnTo>
                  <a:pt x="138746" y="306239"/>
                </a:lnTo>
                <a:close/>
              </a:path>
              <a:path w="776604" h="422910" extrusionOk="0">
                <a:moveTo>
                  <a:pt x="374903" y="395478"/>
                </a:moveTo>
                <a:lnTo>
                  <a:pt x="347472" y="365760"/>
                </a:lnTo>
                <a:lnTo>
                  <a:pt x="164125" y="357664"/>
                </a:lnTo>
                <a:lnTo>
                  <a:pt x="65531" y="406908"/>
                </a:lnTo>
                <a:lnTo>
                  <a:pt x="39624" y="355854"/>
                </a:lnTo>
                <a:lnTo>
                  <a:pt x="39624" y="409419"/>
                </a:lnTo>
                <a:lnTo>
                  <a:pt x="345185" y="422910"/>
                </a:lnTo>
                <a:lnTo>
                  <a:pt x="356473" y="421195"/>
                </a:lnTo>
                <a:lnTo>
                  <a:pt x="365759" y="415480"/>
                </a:lnTo>
                <a:lnTo>
                  <a:pt x="372189" y="406622"/>
                </a:lnTo>
                <a:lnTo>
                  <a:pt x="374903" y="395478"/>
                </a:lnTo>
                <a:close/>
              </a:path>
              <a:path w="776604" h="422910" extrusionOk="0">
                <a:moveTo>
                  <a:pt x="105376" y="355070"/>
                </a:moveTo>
                <a:lnTo>
                  <a:pt x="54101" y="352806"/>
                </a:lnTo>
                <a:lnTo>
                  <a:pt x="76200" y="397763"/>
                </a:lnTo>
                <a:lnTo>
                  <a:pt x="105376" y="355070"/>
                </a:lnTo>
                <a:close/>
              </a:path>
              <a:path w="776604" h="422910" extrusionOk="0">
                <a:moveTo>
                  <a:pt x="164125" y="357664"/>
                </a:moveTo>
                <a:lnTo>
                  <a:pt x="105376" y="355070"/>
                </a:lnTo>
                <a:lnTo>
                  <a:pt x="76200" y="397763"/>
                </a:lnTo>
                <a:lnTo>
                  <a:pt x="54101" y="352806"/>
                </a:lnTo>
                <a:lnTo>
                  <a:pt x="54101" y="384384"/>
                </a:lnTo>
                <a:lnTo>
                  <a:pt x="65531" y="406908"/>
                </a:lnTo>
                <a:lnTo>
                  <a:pt x="164125" y="357664"/>
                </a:lnTo>
                <a:close/>
              </a:path>
              <a:path w="776604" h="422910" extrusionOk="0">
                <a:moveTo>
                  <a:pt x="776477" y="51816"/>
                </a:moveTo>
                <a:lnTo>
                  <a:pt x="750570" y="0"/>
                </a:lnTo>
                <a:lnTo>
                  <a:pt x="138746" y="306239"/>
                </a:lnTo>
                <a:lnTo>
                  <a:pt x="105376" y="355070"/>
                </a:lnTo>
                <a:lnTo>
                  <a:pt x="164125" y="357664"/>
                </a:lnTo>
                <a:lnTo>
                  <a:pt x="776477" y="51816"/>
                </a:lnTo>
                <a:close/>
              </a:path>
            </a:pathLst>
          </a:custGeom>
          <a:solidFill>
            <a:srgbClr val="FF0000"/>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pic>
        <p:nvPicPr>
          <p:cNvPr id="177" name="Google Shape;177;p32"/>
          <p:cNvPicPr preferRelativeResize="0"/>
          <p:nvPr/>
        </p:nvPicPr>
        <p:blipFill rotWithShape="1">
          <a:blip r:embed="rId3">
            <a:alphaModFix/>
          </a:blip>
          <a:srcRect/>
          <a:stretch/>
        </p:blipFill>
        <p:spPr>
          <a:xfrm>
            <a:off x="1739443" y="850876"/>
            <a:ext cx="4094531" cy="3283999"/>
          </a:xfrm>
          <a:prstGeom prst="rect">
            <a:avLst/>
          </a:prstGeom>
          <a:noFill/>
          <a:ln>
            <a:noFill/>
          </a:ln>
        </p:spPr>
      </p:pic>
      <p:sp>
        <p:nvSpPr>
          <p:cNvPr id="178" name="Google Shape;178;p32"/>
          <p:cNvSpPr txBox="1"/>
          <p:nvPr/>
        </p:nvSpPr>
        <p:spPr>
          <a:xfrm>
            <a:off x="4689211" y="968718"/>
            <a:ext cx="1013100" cy="705000"/>
          </a:xfrm>
          <a:prstGeom prst="rect">
            <a:avLst/>
          </a:prstGeom>
          <a:noFill/>
          <a:ln>
            <a:noFill/>
          </a:ln>
        </p:spPr>
        <p:txBody>
          <a:bodyPr spcFirstLastPara="1" wrap="square" lIns="0" tIns="32500" rIns="0" bIns="0" anchor="t" anchorCtr="0">
            <a:spAutoFit/>
          </a:bodyPr>
          <a:lstStyle/>
          <a:p>
            <a:pPr marL="0" marR="25400" lvl="0" indent="0" algn="r" rtl="0">
              <a:spcBef>
                <a:spcPts val="0"/>
              </a:spcBef>
              <a:spcAft>
                <a:spcPts val="0"/>
              </a:spcAft>
              <a:buNone/>
            </a:pPr>
            <a:r>
              <a:rPr lang="en" sz="1400" b="1">
                <a:solidFill>
                  <a:schemeClr val="dk1"/>
                </a:solidFill>
                <a:latin typeface="Arial"/>
                <a:ea typeface="Arial"/>
                <a:cs typeface="Arial"/>
                <a:sym typeface="Arial"/>
              </a:rPr>
              <a:t>100% group</a:t>
            </a:r>
            <a:endParaRPr sz="1400">
              <a:solidFill>
                <a:schemeClr val="dk1"/>
              </a:solidFill>
              <a:latin typeface="Arial"/>
              <a:ea typeface="Arial"/>
              <a:cs typeface="Arial"/>
              <a:sym typeface="Arial"/>
            </a:endParaRPr>
          </a:p>
          <a:p>
            <a:pPr marL="0" marR="0" lvl="0" indent="0" algn="r" rtl="0">
              <a:spcBef>
                <a:spcPts val="200"/>
              </a:spcBef>
              <a:spcAft>
                <a:spcPts val="0"/>
              </a:spcAft>
              <a:buNone/>
            </a:pPr>
            <a:r>
              <a:rPr lang="en" sz="1400" b="1">
                <a:solidFill>
                  <a:schemeClr val="dk1"/>
                </a:solidFill>
                <a:latin typeface="Arial"/>
                <a:ea typeface="Arial"/>
                <a:cs typeface="Arial"/>
                <a:sym typeface="Arial"/>
              </a:rPr>
              <a:t>30% group</a:t>
            </a:r>
            <a:endParaRPr sz="1400">
              <a:solidFill>
                <a:schemeClr val="dk1"/>
              </a:solidFill>
              <a:latin typeface="Arial"/>
              <a:ea typeface="Arial"/>
              <a:cs typeface="Arial"/>
              <a:sym typeface="Arial"/>
            </a:endParaRPr>
          </a:p>
        </p:txBody>
      </p:sp>
      <p:sp>
        <p:nvSpPr>
          <p:cNvPr id="179" name="Google Shape;179;p32"/>
          <p:cNvSpPr txBox="1"/>
          <p:nvPr/>
        </p:nvSpPr>
        <p:spPr>
          <a:xfrm>
            <a:off x="3874205" y="3859613"/>
            <a:ext cx="478200" cy="225000"/>
          </a:xfrm>
          <a:prstGeom prst="rect">
            <a:avLst/>
          </a:prstGeom>
          <a:noFill/>
          <a:ln>
            <a:noFill/>
          </a:ln>
        </p:spPr>
        <p:txBody>
          <a:bodyPr spcFirstLastPara="1" wrap="square" lIns="0" tIns="9550" rIns="0" bIns="0" anchor="t" anchorCtr="0">
            <a:spAutoFit/>
          </a:bodyPr>
          <a:lstStyle/>
          <a:p>
            <a:pPr marL="12700" marR="0" lvl="0" indent="0" algn="l" rtl="0">
              <a:spcBef>
                <a:spcPts val="0"/>
              </a:spcBef>
              <a:spcAft>
                <a:spcPts val="0"/>
              </a:spcAft>
              <a:buNone/>
            </a:pPr>
            <a:r>
              <a:rPr lang="en" sz="1400" b="1">
                <a:solidFill>
                  <a:schemeClr val="dk1"/>
                </a:solidFill>
                <a:latin typeface="Arial"/>
                <a:ea typeface="Arial"/>
                <a:cs typeface="Arial"/>
                <a:sym typeface="Arial"/>
              </a:rPr>
              <a:t>Trials</a:t>
            </a:r>
            <a:endParaRPr sz="1400">
              <a:solidFill>
                <a:schemeClr val="dk1"/>
              </a:solidFill>
              <a:latin typeface="Arial"/>
              <a:ea typeface="Arial"/>
              <a:cs typeface="Arial"/>
              <a:sym typeface="Arial"/>
            </a:endParaRPr>
          </a:p>
        </p:txBody>
      </p:sp>
      <p:sp>
        <p:nvSpPr>
          <p:cNvPr id="180" name="Google Shape;180;p32"/>
          <p:cNvSpPr txBox="1"/>
          <p:nvPr/>
        </p:nvSpPr>
        <p:spPr>
          <a:xfrm rot="-5400000">
            <a:off x="762712" y="1995666"/>
            <a:ext cx="2533500" cy="465600"/>
          </a:xfrm>
          <a:prstGeom prst="rect">
            <a:avLst/>
          </a:prstGeom>
          <a:noFill/>
          <a:ln>
            <a:noFill/>
          </a:ln>
        </p:spPr>
        <p:txBody>
          <a:bodyPr spcFirstLastPara="1" wrap="square" lIns="0" tIns="0" rIns="0" bIns="0" anchor="t" anchorCtr="0">
            <a:spAutoFit/>
          </a:bodyPr>
          <a:lstStyle/>
          <a:p>
            <a:pPr marL="12700" marR="0" lvl="0" indent="0" algn="l" rtl="0">
              <a:lnSpc>
                <a:spcPct val="116104"/>
              </a:lnSpc>
              <a:spcBef>
                <a:spcPts val="0"/>
              </a:spcBef>
              <a:spcAft>
                <a:spcPts val="0"/>
              </a:spcAft>
              <a:buNone/>
            </a:pPr>
            <a:r>
              <a:rPr lang="en" sz="1400" b="1">
                <a:solidFill>
                  <a:schemeClr val="dk1"/>
                </a:solidFill>
                <a:latin typeface="Arial"/>
                <a:ea typeface="Arial"/>
                <a:cs typeface="Arial"/>
                <a:sym typeface="Arial"/>
              </a:rPr>
              <a:t>Speed (running time /distance)</a:t>
            </a:r>
            <a:endParaRPr sz="1400">
              <a:solidFill>
                <a:schemeClr val="dk1"/>
              </a:solidFill>
              <a:latin typeface="Arial"/>
              <a:ea typeface="Arial"/>
              <a:cs typeface="Arial"/>
              <a:sym typeface="Arial"/>
            </a:endParaRPr>
          </a:p>
        </p:txBody>
      </p:sp>
      <p:sp>
        <p:nvSpPr>
          <p:cNvPr id="181" name="Google Shape;181;p32"/>
          <p:cNvSpPr txBox="1"/>
          <p:nvPr/>
        </p:nvSpPr>
        <p:spPr>
          <a:xfrm>
            <a:off x="3080576" y="3612878"/>
            <a:ext cx="344400" cy="242400"/>
          </a:xfrm>
          <a:prstGeom prst="rect">
            <a:avLst/>
          </a:prstGeom>
          <a:solidFill>
            <a:srgbClr val="FFFFFF"/>
          </a:solidFill>
          <a:ln>
            <a:noFill/>
          </a:ln>
        </p:spPr>
        <p:txBody>
          <a:bodyPr spcFirstLastPara="1" wrap="square" lIns="0" tIns="26750" rIns="0" bIns="0" anchor="t" anchorCtr="0">
            <a:spAutoFit/>
          </a:bodyPr>
          <a:lstStyle/>
          <a:p>
            <a:pPr marL="0" marR="0" lvl="0" indent="0" algn="ctr" rtl="0">
              <a:spcBef>
                <a:spcPts val="0"/>
              </a:spcBef>
              <a:spcAft>
                <a:spcPts val="0"/>
              </a:spcAft>
              <a:buNone/>
            </a:pPr>
            <a:r>
              <a:rPr lang="en" sz="1400" b="1">
                <a:solidFill>
                  <a:schemeClr val="dk1"/>
                </a:solidFill>
                <a:latin typeface="Arial"/>
                <a:ea typeface="Arial"/>
                <a:cs typeface="Arial"/>
                <a:sym typeface="Arial"/>
              </a:rPr>
              <a:t>5</a:t>
            </a:r>
            <a:endParaRPr sz="1400">
              <a:solidFill>
                <a:schemeClr val="dk1"/>
              </a:solidFill>
              <a:latin typeface="Arial"/>
              <a:ea typeface="Arial"/>
              <a:cs typeface="Arial"/>
              <a:sym typeface="Arial"/>
            </a:endParaRPr>
          </a:p>
        </p:txBody>
      </p:sp>
      <p:sp>
        <p:nvSpPr>
          <p:cNvPr id="182" name="Google Shape;182;p32"/>
          <p:cNvSpPr txBox="1"/>
          <p:nvPr/>
        </p:nvSpPr>
        <p:spPr>
          <a:xfrm>
            <a:off x="3883651" y="3612878"/>
            <a:ext cx="344400" cy="242400"/>
          </a:xfrm>
          <a:prstGeom prst="rect">
            <a:avLst/>
          </a:prstGeom>
          <a:solidFill>
            <a:srgbClr val="FFFFFF"/>
          </a:solidFill>
          <a:ln>
            <a:noFill/>
          </a:ln>
        </p:spPr>
        <p:txBody>
          <a:bodyPr spcFirstLastPara="1" wrap="square" lIns="0" tIns="26750" rIns="0" bIns="0" anchor="t" anchorCtr="0">
            <a:spAutoFit/>
          </a:bodyPr>
          <a:lstStyle/>
          <a:p>
            <a:pPr marL="76200" marR="0" lvl="0" indent="0" algn="l" rtl="0">
              <a:spcBef>
                <a:spcPts val="0"/>
              </a:spcBef>
              <a:spcAft>
                <a:spcPts val="0"/>
              </a:spcAft>
              <a:buNone/>
            </a:pPr>
            <a:r>
              <a:rPr lang="en" sz="1400" b="1">
                <a:solidFill>
                  <a:schemeClr val="dk1"/>
                </a:solidFill>
                <a:latin typeface="Arial"/>
                <a:ea typeface="Arial"/>
                <a:cs typeface="Arial"/>
                <a:sym typeface="Arial"/>
              </a:rPr>
              <a:t>10</a:t>
            </a:r>
            <a:endParaRPr sz="1400">
              <a:solidFill>
                <a:schemeClr val="dk1"/>
              </a:solidFill>
              <a:latin typeface="Arial"/>
              <a:ea typeface="Arial"/>
              <a:cs typeface="Arial"/>
              <a:sym typeface="Arial"/>
            </a:endParaRPr>
          </a:p>
        </p:txBody>
      </p:sp>
      <p:sp>
        <p:nvSpPr>
          <p:cNvPr id="183" name="Google Shape;183;p32"/>
          <p:cNvSpPr txBox="1"/>
          <p:nvPr/>
        </p:nvSpPr>
        <p:spPr>
          <a:xfrm>
            <a:off x="4686725" y="3612878"/>
            <a:ext cx="344400" cy="242400"/>
          </a:xfrm>
          <a:prstGeom prst="rect">
            <a:avLst/>
          </a:prstGeom>
          <a:solidFill>
            <a:srgbClr val="FFFFFF"/>
          </a:solidFill>
          <a:ln>
            <a:noFill/>
          </a:ln>
        </p:spPr>
        <p:txBody>
          <a:bodyPr spcFirstLastPara="1" wrap="square" lIns="0" tIns="26750" rIns="0" bIns="0" anchor="t" anchorCtr="0">
            <a:spAutoFit/>
          </a:bodyPr>
          <a:lstStyle/>
          <a:p>
            <a:pPr marL="76200" marR="0" lvl="0" indent="0" algn="l" rtl="0">
              <a:spcBef>
                <a:spcPts val="0"/>
              </a:spcBef>
              <a:spcAft>
                <a:spcPts val="0"/>
              </a:spcAft>
              <a:buNone/>
            </a:pPr>
            <a:r>
              <a:rPr lang="en" sz="1400" b="1">
                <a:solidFill>
                  <a:schemeClr val="dk1"/>
                </a:solidFill>
                <a:latin typeface="Arial"/>
                <a:ea typeface="Arial"/>
                <a:cs typeface="Arial"/>
                <a:sym typeface="Arial"/>
              </a:rPr>
              <a:t>15</a:t>
            </a:r>
            <a:endParaRPr sz="1400">
              <a:solidFill>
                <a:schemeClr val="dk1"/>
              </a:solidFill>
              <a:latin typeface="Arial"/>
              <a:ea typeface="Arial"/>
              <a:cs typeface="Arial"/>
              <a:sym typeface="Arial"/>
            </a:endParaRPr>
          </a:p>
        </p:txBody>
      </p:sp>
      <p:sp>
        <p:nvSpPr>
          <p:cNvPr id="184" name="Google Shape;184;p32"/>
          <p:cNvSpPr txBox="1"/>
          <p:nvPr/>
        </p:nvSpPr>
        <p:spPr>
          <a:xfrm>
            <a:off x="5489799" y="3604274"/>
            <a:ext cx="344400" cy="243000"/>
          </a:xfrm>
          <a:prstGeom prst="rect">
            <a:avLst/>
          </a:prstGeom>
          <a:solidFill>
            <a:srgbClr val="FFFFFF"/>
          </a:solidFill>
          <a:ln>
            <a:noFill/>
          </a:ln>
        </p:spPr>
        <p:txBody>
          <a:bodyPr spcFirstLastPara="1" wrap="square" lIns="0" tIns="27250" rIns="0" bIns="0" anchor="t" anchorCtr="0">
            <a:spAutoFit/>
          </a:bodyPr>
          <a:lstStyle/>
          <a:p>
            <a:pPr marL="76200" marR="0" lvl="0" indent="0" algn="l" rtl="0">
              <a:spcBef>
                <a:spcPts val="0"/>
              </a:spcBef>
              <a:spcAft>
                <a:spcPts val="0"/>
              </a:spcAft>
              <a:buNone/>
            </a:pPr>
            <a:r>
              <a:rPr lang="en" sz="1400" b="1">
                <a:solidFill>
                  <a:schemeClr val="dk1"/>
                </a:solidFill>
                <a:latin typeface="Arial"/>
                <a:ea typeface="Arial"/>
                <a:cs typeface="Arial"/>
                <a:sym typeface="Arial"/>
              </a:rPr>
              <a:t>20</a:t>
            </a:r>
            <a:endParaRPr sz="1400">
              <a:solidFill>
                <a:schemeClr val="dk1"/>
              </a:solidFill>
              <a:latin typeface="Arial"/>
              <a:ea typeface="Arial"/>
              <a:cs typeface="Arial"/>
              <a:sym typeface="Arial"/>
            </a:endParaRPr>
          </a:p>
        </p:txBody>
      </p:sp>
      <p:sp>
        <p:nvSpPr>
          <p:cNvPr id="185" name="Google Shape;185;p32"/>
          <p:cNvSpPr txBox="1"/>
          <p:nvPr/>
        </p:nvSpPr>
        <p:spPr>
          <a:xfrm>
            <a:off x="2162777" y="3546911"/>
            <a:ext cx="344400" cy="243000"/>
          </a:xfrm>
          <a:prstGeom prst="rect">
            <a:avLst/>
          </a:prstGeom>
          <a:solidFill>
            <a:srgbClr val="FFFFFF"/>
          </a:solidFill>
          <a:ln>
            <a:noFill/>
          </a:ln>
        </p:spPr>
        <p:txBody>
          <a:bodyPr spcFirstLastPara="1" wrap="square" lIns="0" tIns="27250" rIns="0" bIns="0" anchor="t" anchorCtr="0">
            <a:spAutoFit/>
          </a:bodyPr>
          <a:lstStyle/>
          <a:p>
            <a:pPr marL="0" marR="0" lvl="0" indent="0" algn="ctr" rtl="0">
              <a:spcBef>
                <a:spcPts val="0"/>
              </a:spcBef>
              <a:spcAft>
                <a:spcPts val="0"/>
              </a:spcAft>
              <a:buNone/>
            </a:pPr>
            <a:r>
              <a:rPr lang="en" sz="1400" b="1">
                <a:solidFill>
                  <a:schemeClr val="dk1"/>
                </a:solidFill>
                <a:latin typeface="Arial"/>
                <a:ea typeface="Arial"/>
                <a:cs typeface="Arial"/>
                <a:sym typeface="Arial"/>
              </a:rPr>
              <a:t>0</a:t>
            </a:r>
            <a:endParaRPr sz="1400">
              <a:solidFill>
                <a:schemeClr val="dk1"/>
              </a:solidFill>
              <a:latin typeface="Arial"/>
              <a:ea typeface="Arial"/>
              <a:cs typeface="Arial"/>
              <a:sym typeface="Arial"/>
            </a:endParaRPr>
          </a:p>
        </p:txBody>
      </p:sp>
      <p:sp>
        <p:nvSpPr>
          <p:cNvPr id="186" name="Google Shape;186;p32"/>
          <p:cNvSpPr txBox="1"/>
          <p:nvPr/>
        </p:nvSpPr>
        <p:spPr>
          <a:xfrm>
            <a:off x="1990690" y="2915924"/>
            <a:ext cx="401700" cy="243000"/>
          </a:xfrm>
          <a:prstGeom prst="rect">
            <a:avLst/>
          </a:prstGeom>
          <a:solidFill>
            <a:srgbClr val="FFFFFF"/>
          </a:solidFill>
          <a:ln>
            <a:noFill/>
          </a:ln>
        </p:spPr>
        <p:txBody>
          <a:bodyPr spcFirstLastPara="1" wrap="square" lIns="0" tIns="27250" rIns="0" bIns="0" anchor="t" anchorCtr="0">
            <a:spAutoFit/>
          </a:bodyPr>
          <a:lstStyle/>
          <a:p>
            <a:pPr marL="76200" marR="0" lvl="0" indent="0" algn="l" rtl="0">
              <a:spcBef>
                <a:spcPts val="0"/>
              </a:spcBef>
              <a:spcAft>
                <a:spcPts val="0"/>
              </a:spcAft>
              <a:buNone/>
            </a:pPr>
            <a:r>
              <a:rPr lang="en" sz="1400" b="1">
                <a:solidFill>
                  <a:schemeClr val="dk1"/>
                </a:solidFill>
                <a:latin typeface="Arial"/>
                <a:ea typeface="Arial"/>
                <a:cs typeface="Arial"/>
                <a:sym typeface="Arial"/>
              </a:rPr>
              <a:t>0.2</a:t>
            </a:r>
            <a:endParaRPr sz="1400">
              <a:solidFill>
                <a:schemeClr val="dk1"/>
              </a:solidFill>
              <a:latin typeface="Arial"/>
              <a:ea typeface="Arial"/>
              <a:cs typeface="Arial"/>
              <a:sym typeface="Arial"/>
            </a:endParaRPr>
          </a:p>
        </p:txBody>
      </p:sp>
      <p:sp>
        <p:nvSpPr>
          <p:cNvPr id="187" name="Google Shape;187;p32"/>
          <p:cNvSpPr txBox="1"/>
          <p:nvPr/>
        </p:nvSpPr>
        <p:spPr>
          <a:xfrm>
            <a:off x="1990690" y="2408267"/>
            <a:ext cx="401700" cy="242400"/>
          </a:xfrm>
          <a:prstGeom prst="rect">
            <a:avLst/>
          </a:prstGeom>
          <a:solidFill>
            <a:srgbClr val="FFFFFF"/>
          </a:solidFill>
          <a:ln>
            <a:noFill/>
          </a:ln>
        </p:spPr>
        <p:txBody>
          <a:bodyPr spcFirstLastPara="1" wrap="square" lIns="0" tIns="26750" rIns="0" bIns="0" anchor="t" anchorCtr="0">
            <a:spAutoFit/>
          </a:bodyPr>
          <a:lstStyle/>
          <a:p>
            <a:pPr marL="76200" marR="0" lvl="0" indent="0" algn="l" rtl="0">
              <a:spcBef>
                <a:spcPts val="0"/>
              </a:spcBef>
              <a:spcAft>
                <a:spcPts val="0"/>
              </a:spcAft>
              <a:buNone/>
            </a:pPr>
            <a:r>
              <a:rPr lang="en" sz="1400" b="1">
                <a:solidFill>
                  <a:schemeClr val="dk1"/>
                </a:solidFill>
                <a:latin typeface="Arial"/>
                <a:ea typeface="Arial"/>
                <a:cs typeface="Arial"/>
                <a:sym typeface="Arial"/>
              </a:rPr>
              <a:t>0.4</a:t>
            </a:r>
            <a:endParaRPr sz="1400">
              <a:solidFill>
                <a:schemeClr val="dk1"/>
              </a:solidFill>
              <a:latin typeface="Arial"/>
              <a:ea typeface="Arial"/>
              <a:cs typeface="Arial"/>
              <a:sym typeface="Arial"/>
            </a:endParaRPr>
          </a:p>
        </p:txBody>
      </p:sp>
      <p:sp>
        <p:nvSpPr>
          <p:cNvPr id="188" name="Google Shape;188;p32"/>
          <p:cNvSpPr txBox="1"/>
          <p:nvPr/>
        </p:nvSpPr>
        <p:spPr>
          <a:xfrm>
            <a:off x="1990690" y="1940763"/>
            <a:ext cx="401700" cy="243000"/>
          </a:xfrm>
          <a:prstGeom prst="rect">
            <a:avLst/>
          </a:prstGeom>
          <a:solidFill>
            <a:srgbClr val="FFFFFF"/>
          </a:solidFill>
          <a:ln>
            <a:noFill/>
          </a:ln>
        </p:spPr>
        <p:txBody>
          <a:bodyPr spcFirstLastPara="1" wrap="square" lIns="0" tIns="27250" rIns="0" bIns="0" anchor="t" anchorCtr="0">
            <a:spAutoFit/>
          </a:bodyPr>
          <a:lstStyle/>
          <a:p>
            <a:pPr marL="76200" marR="0" lvl="0" indent="0" algn="l" rtl="0">
              <a:spcBef>
                <a:spcPts val="0"/>
              </a:spcBef>
              <a:spcAft>
                <a:spcPts val="0"/>
              </a:spcAft>
              <a:buNone/>
            </a:pPr>
            <a:r>
              <a:rPr lang="en" sz="1400" b="1">
                <a:solidFill>
                  <a:schemeClr val="dk1"/>
                </a:solidFill>
                <a:latin typeface="Arial"/>
                <a:ea typeface="Arial"/>
                <a:cs typeface="Arial"/>
                <a:sym typeface="Arial"/>
              </a:rPr>
              <a:t>0.6</a:t>
            </a:r>
            <a:endParaRPr sz="1400">
              <a:solidFill>
                <a:schemeClr val="dk1"/>
              </a:solidFill>
              <a:latin typeface="Arial"/>
              <a:ea typeface="Arial"/>
              <a:cs typeface="Arial"/>
              <a:sym typeface="Arial"/>
            </a:endParaRPr>
          </a:p>
        </p:txBody>
      </p:sp>
      <p:sp>
        <p:nvSpPr>
          <p:cNvPr id="189" name="Google Shape;189;p32"/>
          <p:cNvSpPr txBox="1"/>
          <p:nvPr/>
        </p:nvSpPr>
        <p:spPr>
          <a:xfrm>
            <a:off x="1990690" y="1433105"/>
            <a:ext cx="401700" cy="242400"/>
          </a:xfrm>
          <a:prstGeom prst="rect">
            <a:avLst/>
          </a:prstGeom>
          <a:solidFill>
            <a:srgbClr val="FFFFFF"/>
          </a:solidFill>
          <a:ln>
            <a:noFill/>
          </a:ln>
        </p:spPr>
        <p:txBody>
          <a:bodyPr spcFirstLastPara="1" wrap="square" lIns="0" tIns="26750" rIns="0" bIns="0" anchor="t" anchorCtr="0">
            <a:spAutoFit/>
          </a:bodyPr>
          <a:lstStyle/>
          <a:p>
            <a:pPr marL="76200" marR="0" lvl="0" indent="0" algn="l" rtl="0">
              <a:spcBef>
                <a:spcPts val="0"/>
              </a:spcBef>
              <a:spcAft>
                <a:spcPts val="0"/>
              </a:spcAft>
              <a:buNone/>
            </a:pPr>
            <a:r>
              <a:rPr lang="en" sz="1400" b="1">
                <a:solidFill>
                  <a:schemeClr val="dk1"/>
                </a:solidFill>
                <a:latin typeface="Arial"/>
                <a:ea typeface="Arial"/>
                <a:cs typeface="Arial"/>
                <a:sym typeface="Arial"/>
              </a:rPr>
              <a:t>0.8</a:t>
            </a:r>
            <a:endParaRPr sz="1400">
              <a:solidFill>
                <a:schemeClr val="dk1"/>
              </a:solidFill>
              <a:latin typeface="Arial"/>
              <a:ea typeface="Arial"/>
              <a:cs typeface="Arial"/>
              <a:sym typeface="Arial"/>
            </a:endParaRPr>
          </a:p>
        </p:txBody>
      </p:sp>
      <p:sp>
        <p:nvSpPr>
          <p:cNvPr id="190" name="Google Shape;190;p32"/>
          <p:cNvSpPr txBox="1"/>
          <p:nvPr/>
        </p:nvSpPr>
        <p:spPr>
          <a:xfrm>
            <a:off x="1990690" y="974207"/>
            <a:ext cx="401700" cy="242400"/>
          </a:xfrm>
          <a:prstGeom prst="rect">
            <a:avLst/>
          </a:prstGeom>
          <a:solidFill>
            <a:srgbClr val="FFFFFF"/>
          </a:solidFill>
          <a:ln>
            <a:noFill/>
          </a:ln>
        </p:spPr>
        <p:txBody>
          <a:bodyPr spcFirstLastPara="1" wrap="square" lIns="0" tIns="26750" rIns="0" bIns="0" anchor="t" anchorCtr="0">
            <a:spAutoFit/>
          </a:bodyPr>
          <a:lstStyle/>
          <a:p>
            <a:pPr marL="76200" marR="0" lvl="0" indent="0" algn="l" rtl="0">
              <a:spcBef>
                <a:spcPts val="0"/>
              </a:spcBef>
              <a:spcAft>
                <a:spcPts val="0"/>
              </a:spcAft>
              <a:buNone/>
            </a:pPr>
            <a:r>
              <a:rPr lang="en" sz="1400" b="1">
                <a:solidFill>
                  <a:schemeClr val="dk1"/>
                </a:solidFill>
                <a:latin typeface="Arial"/>
                <a:ea typeface="Arial"/>
                <a:cs typeface="Arial"/>
                <a:sym typeface="Arial"/>
              </a:rPr>
              <a:t>1.0</a:t>
            </a:r>
            <a:endParaRPr sz="1400">
              <a:solidFill>
                <a:schemeClr val="dk1"/>
              </a:solidFill>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sp>
        <p:nvSpPr>
          <p:cNvPr id="195" name="Google Shape;195;p33"/>
          <p:cNvSpPr txBox="1">
            <a:spLocks noGrp="1"/>
          </p:cNvSpPr>
          <p:nvPr>
            <p:ph type="title"/>
          </p:nvPr>
        </p:nvSpPr>
        <p:spPr>
          <a:xfrm>
            <a:off x="628650" y="223874"/>
            <a:ext cx="7886700" cy="473100"/>
          </a:xfrm>
          <a:prstGeom prst="rect">
            <a:avLst/>
          </a:prstGeom>
        </p:spPr>
        <p:txBody>
          <a:bodyPr spcFirstLastPara="1" wrap="square" lIns="68575" tIns="34275" rIns="68575" bIns="34275" anchor="ctr" anchorCtr="0">
            <a:normAutofit/>
          </a:bodyPr>
          <a:lstStyle/>
          <a:p>
            <a:pPr marL="0" lvl="0" indent="0" algn="ctr" rtl="0">
              <a:spcBef>
                <a:spcPts val="800"/>
              </a:spcBef>
              <a:spcAft>
                <a:spcPts val="1200"/>
              </a:spcAft>
              <a:buClr>
                <a:schemeClr val="dk1"/>
              </a:buClr>
              <a:buSzPts val="1100"/>
              <a:buFont typeface="Arial"/>
              <a:buNone/>
            </a:pPr>
            <a:r>
              <a:rPr lang="en" sz="2600" b="1">
                <a:solidFill>
                  <a:srgbClr val="1F1F1F"/>
                </a:solidFill>
                <a:highlight>
                  <a:srgbClr val="FFFFFF"/>
                </a:highlight>
                <a:latin typeface="Times New Roman"/>
                <a:ea typeface="Times New Roman"/>
                <a:cs typeface="Times New Roman"/>
                <a:sym typeface="Times New Roman"/>
              </a:rPr>
              <a:t>Positive &amp; Negative Punishment</a:t>
            </a:r>
            <a:endParaRPr/>
          </a:p>
        </p:txBody>
      </p:sp>
      <p:sp>
        <p:nvSpPr>
          <p:cNvPr id="196" name="Google Shape;196;p33"/>
          <p:cNvSpPr txBox="1">
            <a:spLocks noGrp="1"/>
          </p:cNvSpPr>
          <p:nvPr>
            <p:ph type="body" idx="1"/>
          </p:nvPr>
        </p:nvSpPr>
        <p:spPr>
          <a:xfrm>
            <a:off x="628650" y="1063300"/>
            <a:ext cx="7886700" cy="3907200"/>
          </a:xfrm>
          <a:prstGeom prst="rect">
            <a:avLst/>
          </a:prstGeom>
        </p:spPr>
        <p:txBody>
          <a:bodyPr spcFirstLastPara="1" wrap="square" lIns="68575" tIns="34275" rIns="68575" bIns="34275" anchor="t" anchorCtr="0">
            <a:noAutofit/>
          </a:bodyPr>
          <a:lstStyle/>
          <a:p>
            <a:pPr marL="0" lvl="0" indent="0" algn="just" rtl="0">
              <a:spcBef>
                <a:spcPts val="800"/>
              </a:spcBef>
              <a:spcAft>
                <a:spcPts val="0"/>
              </a:spcAft>
              <a:buNone/>
            </a:pPr>
            <a:r>
              <a:rPr lang="en" sz="2400">
                <a:solidFill>
                  <a:srgbClr val="1F1F1F"/>
                </a:solidFill>
                <a:highlight>
                  <a:srgbClr val="FFFFFF"/>
                </a:highlight>
                <a:latin typeface="Times New Roman"/>
                <a:ea typeface="Times New Roman"/>
                <a:cs typeface="Times New Roman"/>
                <a:sym typeface="Times New Roman"/>
              </a:rPr>
              <a:t>For </a:t>
            </a:r>
            <a:r>
              <a:rPr lang="en" sz="2400" b="1">
                <a:solidFill>
                  <a:srgbClr val="1F1F1F"/>
                </a:solidFill>
                <a:highlight>
                  <a:srgbClr val="FFFFFF"/>
                </a:highlight>
                <a:latin typeface="Times New Roman"/>
                <a:ea typeface="Times New Roman"/>
                <a:cs typeface="Times New Roman"/>
                <a:sym typeface="Times New Roman"/>
              </a:rPr>
              <a:t>positive punishment</a:t>
            </a:r>
            <a:r>
              <a:rPr lang="en" sz="2400">
                <a:solidFill>
                  <a:srgbClr val="1F1F1F"/>
                </a:solidFill>
                <a:highlight>
                  <a:srgbClr val="FFFFFF"/>
                </a:highlight>
                <a:latin typeface="Times New Roman"/>
                <a:ea typeface="Times New Roman"/>
                <a:cs typeface="Times New Roman"/>
                <a:sym typeface="Times New Roman"/>
              </a:rPr>
              <a:t>, try to think of it as adding a negative consequence after an undesired behavior is emitted to decrease future responses. </a:t>
            </a:r>
            <a:endParaRPr sz="2400">
              <a:solidFill>
                <a:srgbClr val="1F1F1F"/>
              </a:solidFill>
              <a:highlight>
                <a:srgbClr val="FFFFFF"/>
              </a:highlight>
              <a:latin typeface="Times New Roman"/>
              <a:ea typeface="Times New Roman"/>
              <a:cs typeface="Times New Roman"/>
              <a:sym typeface="Times New Roman"/>
            </a:endParaRPr>
          </a:p>
          <a:p>
            <a:pPr marL="0" lvl="0" indent="0" algn="just" rtl="0">
              <a:spcBef>
                <a:spcPts val="1200"/>
              </a:spcBef>
              <a:spcAft>
                <a:spcPts val="0"/>
              </a:spcAft>
              <a:buNone/>
            </a:pPr>
            <a:r>
              <a:rPr lang="en" sz="2400" b="1">
                <a:solidFill>
                  <a:srgbClr val="1F1F1F"/>
                </a:solidFill>
                <a:highlight>
                  <a:srgbClr val="FFFFFF"/>
                </a:highlight>
                <a:latin typeface="Times New Roman"/>
                <a:ea typeface="Times New Roman"/>
                <a:cs typeface="Times New Roman"/>
                <a:sym typeface="Times New Roman"/>
              </a:rPr>
              <a:t>Example:</a:t>
            </a:r>
            <a:r>
              <a:rPr lang="en" sz="2400">
                <a:solidFill>
                  <a:srgbClr val="1F1F1F"/>
                </a:solidFill>
                <a:highlight>
                  <a:srgbClr val="FFFFFF"/>
                </a:highlight>
                <a:latin typeface="Times New Roman"/>
                <a:ea typeface="Times New Roman"/>
                <a:cs typeface="Times New Roman"/>
                <a:sym typeface="Times New Roman"/>
              </a:rPr>
              <a:t> </a:t>
            </a:r>
            <a:r>
              <a:rPr lang="en" sz="2400">
                <a:solidFill>
                  <a:srgbClr val="040C28"/>
                </a:solidFill>
                <a:highlight>
                  <a:srgbClr val="FFFFFF"/>
                </a:highlight>
                <a:latin typeface="Times New Roman"/>
                <a:ea typeface="Times New Roman"/>
                <a:cs typeface="Times New Roman"/>
                <a:sym typeface="Times New Roman"/>
              </a:rPr>
              <a:t>Receiving a fine for speeding</a:t>
            </a:r>
            <a:endParaRPr sz="2400">
              <a:solidFill>
                <a:srgbClr val="1F1F1F"/>
              </a:solidFill>
              <a:highlight>
                <a:srgbClr val="FFFFFF"/>
              </a:highlight>
              <a:latin typeface="Times New Roman"/>
              <a:ea typeface="Times New Roman"/>
              <a:cs typeface="Times New Roman"/>
              <a:sym typeface="Times New Roman"/>
            </a:endParaRPr>
          </a:p>
          <a:p>
            <a:pPr marL="0" lvl="0" indent="0" algn="just" rtl="0">
              <a:spcBef>
                <a:spcPts val="1200"/>
              </a:spcBef>
              <a:spcAft>
                <a:spcPts val="0"/>
              </a:spcAft>
              <a:buNone/>
            </a:pPr>
            <a:endParaRPr sz="2400">
              <a:solidFill>
                <a:srgbClr val="1F1F1F"/>
              </a:solidFill>
              <a:highlight>
                <a:srgbClr val="FFFFFF"/>
              </a:highlight>
              <a:latin typeface="Times New Roman"/>
              <a:ea typeface="Times New Roman"/>
              <a:cs typeface="Times New Roman"/>
              <a:sym typeface="Times New Roman"/>
            </a:endParaRPr>
          </a:p>
          <a:p>
            <a:pPr marL="0" lvl="0" indent="0" algn="just" rtl="0">
              <a:spcBef>
                <a:spcPts val="1200"/>
              </a:spcBef>
              <a:spcAft>
                <a:spcPts val="0"/>
              </a:spcAft>
              <a:buNone/>
            </a:pPr>
            <a:r>
              <a:rPr lang="en" sz="2400">
                <a:solidFill>
                  <a:srgbClr val="1F1F1F"/>
                </a:solidFill>
                <a:highlight>
                  <a:srgbClr val="FFFFFF"/>
                </a:highlight>
                <a:latin typeface="Times New Roman"/>
                <a:ea typeface="Times New Roman"/>
                <a:cs typeface="Times New Roman"/>
                <a:sym typeface="Times New Roman"/>
              </a:rPr>
              <a:t>As for </a:t>
            </a:r>
            <a:r>
              <a:rPr lang="en" sz="2400" b="1">
                <a:solidFill>
                  <a:srgbClr val="1F1F1F"/>
                </a:solidFill>
                <a:highlight>
                  <a:srgbClr val="FFFFFF"/>
                </a:highlight>
                <a:latin typeface="Times New Roman"/>
                <a:ea typeface="Times New Roman"/>
                <a:cs typeface="Times New Roman"/>
                <a:sym typeface="Times New Roman"/>
              </a:rPr>
              <a:t>negative punishment</a:t>
            </a:r>
            <a:r>
              <a:rPr lang="en" sz="2400">
                <a:solidFill>
                  <a:srgbClr val="1F1F1F"/>
                </a:solidFill>
                <a:highlight>
                  <a:srgbClr val="FFFFFF"/>
                </a:highlight>
                <a:latin typeface="Times New Roman"/>
                <a:ea typeface="Times New Roman"/>
                <a:cs typeface="Times New Roman"/>
                <a:sym typeface="Times New Roman"/>
              </a:rPr>
              <a:t>, try to think of it as taking away a certain desired item after the undesired behavior happens in order to decrease future responses.</a:t>
            </a:r>
            <a:endParaRPr sz="2400">
              <a:solidFill>
                <a:srgbClr val="1F1F1F"/>
              </a:solidFill>
              <a:highlight>
                <a:srgbClr val="FFFFFF"/>
              </a:highlight>
              <a:latin typeface="Times New Roman"/>
              <a:ea typeface="Times New Roman"/>
              <a:cs typeface="Times New Roman"/>
              <a:sym typeface="Times New Roman"/>
            </a:endParaRPr>
          </a:p>
          <a:p>
            <a:pPr marL="0" lvl="0" indent="0" algn="just" rtl="0">
              <a:spcBef>
                <a:spcPts val="1200"/>
              </a:spcBef>
              <a:spcAft>
                <a:spcPts val="1200"/>
              </a:spcAft>
              <a:buNone/>
            </a:pPr>
            <a:r>
              <a:rPr lang="en" sz="2400" b="1">
                <a:solidFill>
                  <a:srgbClr val="1F1F1F"/>
                </a:solidFill>
                <a:highlight>
                  <a:srgbClr val="FFFFFF"/>
                </a:highlight>
                <a:latin typeface="Times New Roman"/>
                <a:ea typeface="Times New Roman"/>
                <a:cs typeface="Times New Roman"/>
                <a:sym typeface="Times New Roman"/>
              </a:rPr>
              <a:t>Example:</a:t>
            </a:r>
            <a:r>
              <a:rPr lang="en" sz="2400">
                <a:solidFill>
                  <a:srgbClr val="1F1F1F"/>
                </a:solidFill>
                <a:highlight>
                  <a:srgbClr val="FFFFFF"/>
                </a:highlight>
                <a:latin typeface="Times New Roman"/>
                <a:ea typeface="Times New Roman"/>
                <a:cs typeface="Times New Roman"/>
                <a:sym typeface="Times New Roman"/>
              </a:rPr>
              <a:t> Taking away a teenager's phone for not studying well.</a:t>
            </a:r>
            <a:endParaRPr sz="2400">
              <a:solidFill>
                <a:srgbClr val="1F1F1F"/>
              </a:solidFill>
              <a:highlight>
                <a:srgbClr val="FFFFFF"/>
              </a:highlight>
              <a:latin typeface="Times New Roman"/>
              <a:ea typeface="Times New Roman"/>
              <a:cs typeface="Times New Roman"/>
              <a:sym typeface="Times New Roman"/>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00"/>
        <p:cNvGrpSpPr/>
        <p:nvPr/>
      </p:nvGrpSpPr>
      <p:grpSpPr>
        <a:xfrm>
          <a:off x="0" y="0"/>
          <a:ext cx="0" cy="0"/>
          <a:chOff x="0" y="0"/>
          <a:chExt cx="0" cy="0"/>
        </a:xfrm>
      </p:grpSpPr>
      <p:sp>
        <p:nvSpPr>
          <p:cNvPr id="201" name="Google Shape;201;p34"/>
          <p:cNvSpPr txBox="1">
            <a:spLocks noGrp="1"/>
          </p:cNvSpPr>
          <p:nvPr>
            <p:ph type="title"/>
          </p:nvPr>
        </p:nvSpPr>
        <p:spPr>
          <a:xfrm>
            <a:off x="628650" y="426246"/>
            <a:ext cx="7886700" cy="405900"/>
          </a:xfrm>
          <a:prstGeom prst="rect">
            <a:avLst/>
          </a:prstGeom>
        </p:spPr>
        <p:txBody>
          <a:bodyPr spcFirstLastPara="1" wrap="square" lIns="68575" tIns="34275" rIns="68575" bIns="34275" anchor="ctr" anchorCtr="0">
            <a:noAutofit/>
          </a:bodyPr>
          <a:lstStyle/>
          <a:p>
            <a:pPr marL="0" lvl="0" indent="0" algn="ctr" rtl="0">
              <a:lnSpc>
                <a:spcPct val="115000"/>
              </a:lnSpc>
              <a:spcBef>
                <a:spcPts val="0"/>
              </a:spcBef>
              <a:spcAft>
                <a:spcPts val="0"/>
              </a:spcAft>
              <a:buClr>
                <a:schemeClr val="dk1"/>
              </a:buClr>
              <a:buSzPts val="990"/>
              <a:buFont typeface="Arial"/>
              <a:buNone/>
            </a:pPr>
            <a:r>
              <a:rPr lang="en" sz="2370" b="1">
                <a:solidFill>
                  <a:srgbClr val="1A1A1A"/>
                </a:solidFill>
                <a:highlight>
                  <a:srgbClr val="FFFFFF"/>
                </a:highlight>
                <a:latin typeface="Times New Roman"/>
                <a:ea typeface="Times New Roman"/>
                <a:cs typeface="Times New Roman"/>
                <a:sym typeface="Times New Roman"/>
              </a:rPr>
              <a:t>Observational Learning</a:t>
            </a:r>
            <a:endParaRPr sz="2370" b="1">
              <a:solidFill>
                <a:srgbClr val="1A1A1A"/>
              </a:solidFill>
              <a:highlight>
                <a:srgbClr val="FFFFFF"/>
              </a:highlight>
              <a:latin typeface="Times New Roman"/>
              <a:ea typeface="Times New Roman"/>
              <a:cs typeface="Times New Roman"/>
              <a:sym typeface="Times New Roman"/>
            </a:endParaRPr>
          </a:p>
          <a:p>
            <a:pPr marL="0" lvl="0" indent="0" algn="l" rtl="0">
              <a:spcBef>
                <a:spcPts val="600"/>
              </a:spcBef>
              <a:spcAft>
                <a:spcPts val="0"/>
              </a:spcAft>
              <a:buSzPts val="990"/>
              <a:buNone/>
            </a:pPr>
            <a:endParaRPr sz="2520"/>
          </a:p>
        </p:txBody>
      </p:sp>
      <p:sp>
        <p:nvSpPr>
          <p:cNvPr id="202" name="Google Shape;202;p34"/>
          <p:cNvSpPr txBox="1">
            <a:spLocks noGrp="1"/>
          </p:cNvSpPr>
          <p:nvPr>
            <p:ph type="body" idx="1"/>
          </p:nvPr>
        </p:nvSpPr>
        <p:spPr>
          <a:xfrm>
            <a:off x="132350" y="968550"/>
            <a:ext cx="9011700" cy="4042500"/>
          </a:xfrm>
          <a:prstGeom prst="rect">
            <a:avLst/>
          </a:prstGeom>
        </p:spPr>
        <p:txBody>
          <a:bodyPr spcFirstLastPara="1" wrap="square" lIns="68575" tIns="34275" rIns="68575" bIns="34275" anchor="t" anchorCtr="0">
            <a:noAutofit/>
          </a:bodyPr>
          <a:lstStyle/>
          <a:p>
            <a:pPr marL="0" lvl="0" indent="0" algn="l" rtl="0">
              <a:spcBef>
                <a:spcPts val="800"/>
              </a:spcBef>
              <a:spcAft>
                <a:spcPts val="0"/>
              </a:spcAft>
              <a:buNone/>
            </a:pPr>
            <a:r>
              <a:rPr lang="en" sz="2200">
                <a:solidFill>
                  <a:srgbClr val="1A1A1A"/>
                </a:solidFill>
                <a:highlight>
                  <a:srgbClr val="FFFFFF"/>
                </a:highlight>
                <a:latin typeface="Times New Roman"/>
                <a:ea typeface="Times New Roman"/>
                <a:cs typeface="Times New Roman"/>
                <a:sym typeface="Times New Roman"/>
              </a:rPr>
              <a:t>O</a:t>
            </a:r>
            <a:r>
              <a:rPr lang="en" sz="2200">
                <a:solidFill>
                  <a:schemeClr val="dk1"/>
                </a:solidFill>
                <a:highlight>
                  <a:srgbClr val="FFFFFF"/>
                </a:highlight>
                <a:latin typeface="Times New Roman"/>
                <a:ea typeface="Times New Roman"/>
                <a:cs typeface="Times New Roman"/>
                <a:sym typeface="Times New Roman"/>
              </a:rPr>
              <a:t>bservational learning, method of </a:t>
            </a:r>
            <a:r>
              <a:rPr lang="en" sz="2200">
                <a:solidFill>
                  <a:schemeClr val="dk1"/>
                </a:solidFill>
                <a:highlight>
                  <a:srgbClr val="FFFFFF"/>
                </a:highlight>
                <a:uFill>
                  <a:noFill/>
                </a:uFill>
                <a:latin typeface="Times New Roman"/>
                <a:ea typeface="Times New Roman"/>
                <a:cs typeface="Times New Roman"/>
                <a:sym typeface="Times New Roman"/>
                <a:hlinkClick r:id="rId3">
                  <a:extLst>
                    <a:ext uri="{A12FA001-AC4F-418D-AE19-62706E023703}">
                      <ahyp:hlinkClr xmlns:ahyp="http://schemas.microsoft.com/office/drawing/2018/hyperlinkcolor" val="tx"/>
                    </a:ext>
                  </a:extLst>
                </a:hlinkClick>
              </a:rPr>
              <a:t>learning</a:t>
            </a:r>
            <a:r>
              <a:rPr lang="en" sz="2200">
                <a:solidFill>
                  <a:schemeClr val="dk1"/>
                </a:solidFill>
                <a:highlight>
                  <a:srgbClr val="FFFFFF"/>
                </a:highlight>
                <a:latin typeface="Times New Roman"/>
                <a:ea typeface="Times New Roman"/>
                <a:cs typeface="Times New Roman"/>
                <a:sym typeface="Times New Roman"/>
              </a:rPr>
              <a:t> that consists of observing and modeling another individual’s behavior, attitudes, or emotional expressions. Although it is commonly believed that the observer will copy the model, American psychologist </a:t>
            </a:r>
            <a:r>
              <a:rPr lang="en" sz="2200">
                <a:solidFill>
                  <a:schemeClr val="dk1"/>
                </a:solidFill>
                <a:highlight>
                  <a:srgbClr val="FFFFFF"/>
                </a:highlight>
                <a:uFill>
                  <a:noFill/>
                </a:uFill>
                <a:latin typeface="Times New Roman"/>
                <a:ea typeface="Times New Roman"/>
                <a:cs typeface="Times New Roman"/>
                <a:sym typeface="Times New Roman"/>
                <a:hlinkClick r:id="rId4">
                  <a:extLst>
                    <a:ext uri="{A12FA001-AC4F-418D-AE19-62706E023703}">
                      <ahyp:hlinkClr xmlns:ahyp="http://schemas.microsoft.com/office/drawing/2018/hyperlinkcolor" val="tx"/>
                    </a:ext>
                  </a:extLst>
                </a:hlinkClick>
              </a:rPr>
              <a:t>Albert Bandura</a:t>
            </a:r>
            <a:r>
              <a:rPr lang="en" sz="2200">
                <a:solidFill>
                  <a:schemeClr val="dk1"/>
                </a:solidFill>
                <a:highlight>
                  <a:srgbClr val="FFFFFF"/>
                </a:highlight>
                <a:latin typeface="Times New Roman"/>
                <a:ea typeface="Times New Roman"/>
                <a:cs typeface="Times New Roman"/>
                <a:sym typeface="Times New Roman"/>
              </a:rPr>
              <a:t> stressed that individuals may simply learn from the behavior rather than imitate it. </a:t>
            </a:r>
            <a:endParaRPr sz="2200">
              <a:solidFill>
                <a:schemeClr val="dk1"/>
              </a:solidFill>
              <a:highlight>
                <a:srgbClr val="FFFFFF"/>
              </a:highlight>
              <a:latin typeface="Times New Roman"/>
              <a:ea typeface="Times New Roman"/>
              <a:cs typeface="Times New Roman"/>
              <a:sym typeface="Times New Roman"/>
            </a:endParaRPr>
          </a:p>
          <a:p>
            <a:pPr marL="0" lvl="0" indent="0" algn="l" rtl="0">
              <a:spcBef>
                <a:spcPts val="1200"/>
              </a:spcBef>
              <a:spcAft>
                <a:spcPts val="0"/>
              </a:spcAft>
              <a:buNone/>
            </a:pPr>
            <a:r>
              <a:rPr lang="en" sz="2200">
                <a:solidFill>
                  <a:schemeClr val="dk1"/>
                </a:solidFill>
                <a:highlight>
                  <a:srgbClr val="FFFFFF"/>
                </a:highlight>
                <a:latin typeface="Times New Roman"/>
                <a:ea typeface="Times New Roman"/>
                <a:cs typeface="Times New Roman"/>
                <a:sym typeface="Times New Roman"/>
              </a:rPr>
              <a:t>He also </a:t>
            </a:r>
            <a:r>
              <a:rPr lang="en" sz="2200">
                <a:solidFill>
                  <a:schemeClr val="dk1"/>
                </a:solidFill>
                <a:highlight>
                  <a:srgbClr val="FFFFFF"/>
                </a:highlight>
                <a:uFill>
                  <a:noFill/>
                </a:uFill>
                <a:latin typeface="Times New Roman"/>
                <a:ea typeface="Times New Roman"/>
                <a:cs typeface="Times New Roman"/>
                <a:sym typeface="Times New Roman"/>
                <a:hlinkClick r:id="rId5">
                  <a:extLst>
                    <a:ext uri="{A12FA001-AC4F-418D-AE19-62706E023703}">
                      <ahyp:hlinkClr xmlns:ahyp="http://schemas.microsoft.com/office/drawing/2018/hyperlinkcolor" val="tx"/>
                    </a:ext>
                  </a:extLst>
                </a:hlinkClick>
              </a:rPr>
              <a:t>emphasized</a:t>
            </a:r>
            <a:r>
              <a:rPr lang="en" sz="2200">
                <a:solidFill>
                  <a:schemeClr val="dk1"/>
                </a:solidFill>
                <a:highlight>
                  <a:srgbClr val="FFFFFF"/>
                </a:highlight>
                <a:latin typeface="Times New Roman"/>
                <a:ea typeface="Times New Roman"/>
                <a:cs typeface="Times New Roman"/>
                <a:sym typeface="Times New Roman"/>
              </a:rPr>
              <a:t> that four conditions were necessary in any form of observing and modeling behavior: </a:t>
            </a:r>
            <a:endParaRPr sz="2200">
              <a:solidFill>
                <a:schemeClr val="dk1"/>
              </a:solidFill>
              <a:highlight>
                <a:srgbClr val="FFFFFF"/>
              </a:highlight>
              <a:latin typeface="Times New Roman"/>
              <a:ea typeface="Times New Roman"/>
              <a:cs typeface="Times New Roman"/>
              <a:sym typeface="Times New Roman"/>
            </a:endParaRPr>
          </a:p>
          <a:p>
            <a:pPr marL="457200" lvl="0" indent="-368300" algn="l" rtl="0">
              <a:spcBef>
                <a:spcPts val="1200"/>
              </a:spcBef>
              <a:spcAft>
                <a:spcPts val="0"/>
              </a:spcAft>
              <a:buClr>
                <a:schemeClr val="dk1"/>
              </a:buClr>
              <a:buSzPts val="2200"/>
              <a:buFont typeface="Times New Roman"/>
              <a:buChar char="●"/>
            </a:pPr>
            <a:r>
              <a:rPr lang="en" sz="2200">
                <a:solidFill>
                  <a:schemeClr val="dk1"/>
                </a:solidFill>
                <a:highlight>
                  <a:srgbClr val="FFFFFF"/>
                </a:highlight>
                <a:latin typeface="Times New Roman"/>
                <a:ea typeface="Times New Roman"/>
                <a:cs typeface="Times New Roman"/>
                <a:sym typeface="Times New Roman"/>
              </a:rPr>
              <a:t>Attention</a:t>
            </a:r>
            <a:endParaRPr sz="2200">
              <a:solidFill>
                <a:schemeClr val="dk1"/>
              </a:solidFill>
              <a:highlight>
                <a:srgbClr val="FFFFFF"/>
              </a:highlight>
              <a:latin typeface="Times New Roman"/>
              <a:ea typeface="Times New Roman"/>
              <a:cs typeface="Times New Roman"/>
              <a:sym typeface="Times New Roman"/>
            </a:endParaRPr>
          </a:p>
          <a:p>
            <a:pPr marL="457200" lvl="0" indent="-368300" algn="l" rtl="0">
              <a:spcBef>
                <a:spcPts val="0"/>
              </a:spcBef>
              <a:spcAft>
                <a:spcPts val="0"/>
              </a:spcAft>
              <a:buSzPts val="2200"/>
              <a:buFont typeface="Times New Roman"/>
              <a:buChar char="●"/>
            </a:pPr>
            <a:r>
              <a:rPr lang="en" sz="2200">
                <a:solidFill>
                  <a:schemeClr val="dk1"/>
                </a:solidFill>
                <a:highlight>
                  <a:srgbClr val="FFFFFF"/>
                </a:highlight>
                <a:latin typeface="Times New Roman"/>
                <a:ea typeface="Times New Roman"/>
                <a:cs typeface="Times New Roman"/>
                <a:sym typeface="Times New Roman"/>
              </a:rPr>
              <a:t>Retenti</a:t>
            </a:r>
            <a:r>
              <a:rPr lang="en" sz="2200">
                <a:solidFill>
                  <a:srgbClr val="1A1A1A"/>
                </a:solidFill>
                <a:highlight>
                  <a:srgbClr val="FFFFFF"/>
                </a:highlight>
                <a:latin typeface="Times New Roman"/>
                <a:ea typeface="Times New Roman"/>
                <a:cs typeface="Times New Roman"/>
                <a:sym typeface="Times New Roman"/>
              </a:rPr>
              <a:t>on</a:t>
            </a:r>
            <a:endParaRPr sz="2200">
              <a:solidFill>
                <a:srgbClr val="1A1A1A"/>
              </a:solidFill>
              <a:highlight>
                <a:srgbClr val="FFFFFF"/>
              </a:highlight>
              <a:latin typeface="Times New Roman"/>
              <a:ea typeface="Times New Roman"/>
              <a:cs typeface="Times New Roman"/>
              <a:sym typeface="Times New Roman"/>
            </a:endParaRPr>
          </a:p>
          <a:p>
            <a:pPr marL="457200" lvl="0" indent="-368300" algn="l" rtl="0">
              <a:spcBef>
                <a:spcPts val="0"/>
              </a:spcBef>
              <a:spcAft>
                <a:spcPts val="0"/>
              </a:spcAft>
              <a:buClr>
                <a:srgbClr val="1A1A1A"/>
              </a:buClr>
              <a:buSzPts val="2200"/>
              <a:buFont typeface="Times New Roman"/>
              <a:buChar char="●"/>
            </a:pPr>
            <a:r>
              <a:rPr lang="en" sz="2200">
                <a:solidFill>
                  <a:srgbClr val="1A1A1A"/>
                </a:solidFill>
                <a:highlight>
                  <a:srgbClr val="FFFFFF"/>
                </a:highlight>
                <a:latin typeface="Times New Roman"/>
                <a:ea typeface="Times New Roman"/>
                <a:cs typeface="Times New Roman"/>
                <a:sym typeface="Times New Roman"/>
              </a:rPr>
              <a:t>Reproduction</a:t>
            </a:r>
            <a:endParaRPr sz="2200">
              <a:solidFill>
                <a:srgbClr val="1A1A1A"/>
              </a:solidFill>
              <a:highlight>
                <a:srgbClr val="FFFFFF"/>
              </a:highlight>
              <a:latin typeface="Times New Roman"/>
              <a:ea typeface="Times New Roman"/>
              <a:cs typeface="Times New Roman"/>
              <a:sym typeface="Times New Roman"/>
            </a:endParaRPr>
          </a:p>
          <a:p>
            <a:pPr marL="457200" lvl="0" indent="-368300" algn="l" rtl="0">
              <a:spcBef>
                <a:spcPts val="0"/>
              </a:spcBef>
              <a:spcAft>
                <a:spcPts val="0"/>
              </a:spcAft>
              <a:buClr>
                <a:srgbClr val="1A1A1A"/>
              </a:buClr>
              <a:buSzPts val="2200"/>
              <a:buFont typeface="Times New Roman"/>
              <a:buChar char="●"/>
            </a:pPr>
            <a:r>
              <a:rPr lang="en" sz="2200">
                <a:solidFill>
                  <a:srgbClr val="1A1A1A"/>
                </a:solidFill>
                <a:highlight>
                  <a:srgbClr val="FFFFFF"/>
                </a:highlight>
                <a:latin typeface="Times New Roman"/>
                <a:ea typeface="Times New Roman"/>
                <a:cs typeface="Times New Roman"/>
                <a:sym typeface="Times New Roman"/>
              </a:rPr>
              <a:t>Motivation.</a:t>
            </a:r>
            <a:endParaRPr sz="2200">
              <a:latin typeface="Times New Roman"/>
              <a:ea typeface="Times New Roman"/>
              <a:cs typeface="Times New Roman"/>
              <a:sym typeface="Times New Roman"/>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07"/>
        <p:cNvGrpSpPr/>
        <p:nvPr/>
      </p:nvGrpSpPr>
      <p:grpSpPr>
        <a:xfrm>
          <a:off x="0" y="0"/>
          <a:ext cx="0" cy="0"/>
          <a:chOff x="0" y="0"/>
          <a:chExt cx="0" cy="0"/>
        </a:xfrm>
      </p:grpSpPr>
      <p:sp>
        <p:nvSpPr>
          <p:cNvPr id="208" name="Google Shape;208;p35"/>
          <p:cNvSpPr txBox="1">
            <a:spLocks noGrp="1"/>
          </p:cNvSpPr>
          <p:nvPr>
            <p:ph type="title"/>
          </p:nvPr>
        </p:nvSpPr>
        <p:spPr>
          <a:xfrm>
            <a:off x="1994657" y="708917"/>
            <a:ext cx="5154900" cy="517200"/>
          </a:xfrm>
          <a:prstGeom prst="rect">
            <a:avLst/>
          </a:prstGeom>
          <a:noFill/>
          <a:ln>
            <a:noFill/>
          </a:ln>
        </p:spPr>
        <p:txBody>
          <a:bodyPr spcFirstLastPara="1" wrap="square" lIns="0" tIns="9075" rIns="0" bIns="0" anchor="ctr" anchorCtr="0">
            <a:spAutoFit/>
          </a:bodyPr>
          <a:lstStyle/>
          <a:p>
            <a:pPr marL="12700" lvl="0" indent="0" algn="l" rtl="0">
              <a:lnSpc>
                <a:spcPct val="100000"/>
              </a:lnSpc>
              <a:spcBef>
                <a:spcPts val="0"/>
              </a:spcBef>
              <a:spcAft>
                <a:spcPts val="0"/>
              </a:spcAft>
              <a:buClr>
                <a:schemeClr val="dk1"/>
              </a:buClr>
              <a:buSzPts val="3300"/>
              <a:buFont typeface="Constantia"/>
              <a:buNone/>
            </a:pPr>
            <a:r>
              <a:rPr lang="en" sz="3300">
                <a:latin typeface="Constantia"/>
                <a:ea typeface="Constantia"/>
                <a:cs typeface="Constantia"/>
                <a:sym typeface="Constantia"/>
              </a:rPr>
              <a:t>Discuss with a partner!</a:t>
            </a:r>
            <a:endParaRPr sz="3300">
              <a:latin typeface="Constantia"/>
              <a:ea typeface="Constantia"/>
              <a:cs typeface="Constantia"/>
              <a:sym typeface="Constantia"/>
            </a:endParaRPr>
          </a:p>
        </p:txBody>
      </p:sp>
      <p:sp>
        <p:nvSpPr>
          <p:cNvPr id="209" name="Google Shape;209;p35"/>
          <p:cNvSpPr txBox="1"/>
          <p:nvPr/>
        </p:nvSpPr>
        <p:spPr>
          <a:xfrm>
            <a:off x="1263471" y="2053718"/>
            <a:ext cx="6617100" cy="1211700"/>
          </a:xfrm>
          <a:prstGeom prst="rect">
            <a:avLst/>
          </a:prstGeom>
          <a:noFill/>
          <a:ln>
            <a:noFill/>
          </a:ln>
        </p:spPr>
        <p:txBody>
          <a:bodyPr spcFirstLastPara="1" wrap="square" lIns="0" tIns="54500" rIns="0" bIns="0" anchor="t" anchorCtr="0">
            <a:spAutoFit/>
          </a:bodyPr>
          <a:lstStyle/>
          <a:p>
            <a:pPr marL="12700" marR="647700" lvl="0" indent="0" algn="l" rtl="0">
              <a:lnSpc>
                <a:spcPct val="106569"/>
              </a:lnSpc>
              <a:spcBef>
                <a:spcPts val="0"/>
              </a:spcBef>
              <a:spcAft>
                <a:spcPts val="0"/>
              </a:spcAft>
              <a:buNone/>
            </a:pPr>
            <a:r>
              <a:rPr lang="en" sz="2400">
                <a:solidFill>
                  <a:schemeClr val="dk1"/>
                </a:solidFill>
                <a:latin typeface="Constantia"/>
                <a:ea typeface="Constantia"/>
                <a:cs typeface="Constantia"/>
                <a:sym typeface="Constantia"/>
              </a:rPr>
              <a:t>Discuss a time when you learned something by classical conditioning, by operant conditioning or by observational learning.</a:t>
            </a:r>
            <a:endParaRPr sz="2400">
              <a:solidFill>
                <a:schemeClr val="dk1"/>
              </a:solidFill>
              <a:latin typeface="Constantia"/>
              <a:ea typeface="Constantia"/>
              <a:cs typeface="Constantia"/>
              <a:sym typeface="Constantia"/>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1372</Words>
  <Application>Microsoft Macintosh PowerPoint</Application>
  <PresentationFormat>On-screen Show (16:9)</PresentationFormat>
  <Paragraphs>155</Paragraphs>
  <Slides>22</Slides>
  <Notes>22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22</vt:i4>
      </vt:variant>
    </vt:vector>
  </HeadingPairs>
  <TitlesOfParts>
    <vt:vector size="28" baseType="lpstr">
      <vt:lpstr>Arial</vt:lpstr>
      <vt:lpstr>Verdana</vt:lpstr>
      <vt:lpstr>Calibri</vt:lpstr>
      <vt:lpstr>Times New Roman</vt:lpstr>
      <vt:lpstr>Constantia</vt:lpstr>
      <vt:lpstr>Simple Light</vt:lpstr>
      <vt:lpstr>Learning </vt:lpstr>
      <vt:lpstr>What can you do now that you couldn’t do as an infant? </vt:lpstr>
      <vt:lpstr>Learning</vt:lpstr>
      <vt:lpstr>Learning</vt:lpstr>
      <vt:lpstr>PowerPoint Presentation</vt:lpstr>
      <vt:lpstr>PowerPoint Presentation</vt:lpstr>
      <vt:lpstr>PowerPoint Presentation</vt:lpstr>
      <vt:lpstr>PAVLOVIAN CONDITIONING</vt:lpstr>
      <vt:lpstr>Classically Conditioning a  Salivation Response</vt:lpstr>
      <vt:lpstr>PowerPoint Presentation</vt:lpstr>
      <vt:lpstr>PowerPoint Presentation</vt:lpstr>
      <vt:lpstr>PowerPoint Presentation</vt:lpstr>
      <vt:lpstr>Instrumental/Operant Conditioning</vt:lpstr>
      <vt:lpstr>PowerPoint Presentation</vt:lpstr>
      <vt:lpstr>PowerPoint Presentation</vt:lpstr>
      <vt:lpstr>REINFORCEMENT</vt:lpstr>
      <vt:lpstr>PowerPoint Presentation</vt:lpstr>
      <vt:lpstr>Positive Reinforcement  &amp; Negative Reinforcement </vt:lpstr>
      <vt:lpstr>Partial-reinforcement effect</vt:lpstr>
      <vt:lpstr>Positive &amp; Negative Punishment</vt:lpstr>
      <vt:lpstr>Observational Learning </vt:lpstr>
      <vt:lpstr>Discuss with a partner!</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Mehedi Hasan</cp:lastModifiedBy>
  <cp:revision>1</cp:revision>
  <dcterms:modified xsi:type="dcterms:W3CDTF">2025-12-10T06:27:03Z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defa4170-0d19-0005-0004-bc88714345d2_Enabled">
    <vt:lpwstr>true</vt:lpwstr>
  </property>
  <property fmtid="{D5CDD505-2E9C-101B-9397-08002B2CF9AE}" pid="3" name="MSIP_Label_defa4170-0d19-0005-0004-bc88714345d2_SetDate">
    <vt:lpwstr>2025-12-10T06:26:53Z</vt:lpwstr>
  </property>
  <property fmtid="{D5CDD505-2E9C-101B-9397-08002B2CF9AE}" pid="4" name="MSIP_Label_defa4170-0d19-0005-0004-bc88714345d2_Method">
    <vt:lpwstr>Standard</vt:lpwstr>
  </property>
  <property fmtid="{D5CDD505-2E9C-101B-9397-08002B2CF9AE}" pid="5" name="MSIP_Label_defa4170-0d19-0005-0004-bc88714345d2_Name">
    <vt:lpwstr>defa4170-0d19-0005-0004-bc88714345d2</vt:lpwstr>
  </property>
  <property fmtid="{D5CDD505-2E9C-101B-9397-08002B2CF9AE}" pid="6" name="MSIP_Label_defa4170-0d19-0005-0004-bc88714345d2_SiteId">
    <vt:lpwstr>bc1e5976-f887-41cf-87d7-138b8da14090</vt:lpwstr>
  </property>
  <property fmtid="{D5CDD505-2E9C-101B-9397-08002B2CF9AE}" pid="7" name="MSIP_Label_defa4170-0d19-0005-0004-bc88714345d2_ActionId">
    <vt:lpwstr>fff0433c-368a-4732-b380-557742d108bd</vt:lpwstr>
  </property>
  <property fmtid="{D5CDD505-2E9C-101B-9397-08002B2CF9AE}" pid="8" name="MSIP_Label_defa4170-0d19-0005-0004-bc88714345d2_ContentBits">
    <vt:lpwstr>0</vt:lpwstr>
  </property>
  <property fmtid="{D5CDD505-2E9C-101B-9397-08002B2CF9AE}" pid="9" name="MSIP_Label_defa4170-0d19-0005-0004-bc88714345d2_Tag">
    <vt:lpwstr>50, 3, 0, 1</vt:lpwstr>
  </property>
</Properties>
</file>