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Constantia"/>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Constantia-bold.fntdata"/><Relationship Id="rId10" Type="http://schemas.openxmlformats.org/officeDocument/2006/relationships/slide" Target="slides/slide5.xml"/><Relationship Id="rId21" Type="http://schemas.openxmlformats.org/officeDocument/2006/relationships/font" Target="fonts/Constantia-regular.fntdata"/><Relationship Id="rId13" Type="http://schemas.openxmlformats.org/officeDocument/2006/relationships/slide" Target="slides/slide8.xml"/><Relationship Id="rId24" Type="http://schemas.openxmlformats.org/officeDocument/2006/relationships/font" Target="fonts/Constantia-boldItalic.fntdata"/><Relationship Id="rId12" Type="http://schemas.openxmlformats.org/officeDocument/2006/relationships/slide" Target="slides/slide7.xml"/><Relationship Id="rId23" Type="http://schemas.openxmlformats.org/officeDocument/2006/relationships/font" Target="fonts/Constanti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f8e661e5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f8e661e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f8e661e53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f8e661e53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f8e661e5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f8e661e5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f8e661e53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f8e661e53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4f8e661e53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4f8e661e5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f8e661e53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4f8e661e53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f8e661e53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f8e661e53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f8e661e53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f8e661e53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f8e661e53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4f8e661e53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f8e661e53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4f8e661e53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f8e661e53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f8e661e53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f8e661e53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f8e661e53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f8e661e53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4f8e661e53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f8e661e53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f8e661e53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f8e661e53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f8e661e53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onstantia"/>
              <a:buNone/>
              <a:defRPr>
                <a:latin typeface="Constantia"/>
                <a:ea typeface="Constantia"/>
                <a:cs typeface="Constantia"/>
                <a:sym typeface="Constantia"/>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517560"/>
            <a:ext cx="7886700" cy="29670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Constantia"/>
                <a:ea typeface="Constantia"/>
                <a:cs typeface="Constantia"/>
                <a:sym typeface="Constantia"/>
              </a:defRPr>
            </a:lvl1pPr>
            <a:lvl2pPr indent="-342900" lvl="1" marL="914400" algn="l">
              <a:lnSpc>
                <a:spcPct val="90000"/>
              </a:lnSpc>
              <a:spcBef>
                <a:spcPts val="1200"/>
              </a:spcBef>
              <a:spcAft>
                <a:spcPts val="0"/>
              </a:spcAft>
              <a:buClr>
                <a:schemeClr val="dk1"/>
              </a:buClr>
              <a:buSzPts val="1800"/>
              <a:buChar char="○"/>
              <a:defRPr>
                <a:latin typeface="Constantia"/>
                <a:ea typeface="Constantia"/>
                <a:cs typeface="Constantia"/>
                <a:sym typeface="Constantia"/>
              </a:defRPr>
            </a:lvl2pPr>
            <a:lvl3pPr indent="-323850" lvl="2" marL="1371600" algn="l">
              <a:lnSpc>
                <a:spcPct val="90000"/>
              </a:lnSpc>
              <a:spcBef>
                <a:spcPts val="1200"/>
              </a:spcBef>
              <a:spcAft>
                <a:spcPts val="0"/>
              </a:spcAft>
              <a:buClr>
                <a:schemeClr val="dk1"/>
              </a:buClr>
              <a:buSzPts val="1500"/>
              <a:buChar char="■"/>
              <a:defRPr>
                <a:latin typeface="Constantia"/>
                <a:ea typeface="Constantia"/>
                <a:cs typeface="Constantia"/>
                <a:sym typeface="Constantia"/>
              </a:defRPr>
            </a:lvl3pPr>
            <a:lvl4pPr indent="-317500" lvl="3" marL="1828800" algn="l">
              <a:lnSpc>
                <a:spcPct val="90000"/>
              </a:lnSpc>
              <a:spcBef>
                <a:spcPts val="1200"/>
              </a:spcBef>
              <a:spcAft>
                <a:spcPts val="0"/>
              </a:spcAft>
              <a:buClr>
                <a:schemeClr val="dk1"/>
              </a:buClr>
              <a:buSzPts val="1400"/>
              <a:buChar char="●"/>
              <a:defRPr>
                <a:latin typeface="Constantia"/>
                <a:ea typeface="Constantia"/>
                <a:cs typeface="Constantia"/>
                <a:sym typeface="Constantia"/>
              </a:defRPr>
            </a:lvl4pPr>
            <a:lvl5pPr indent="-317500" lvl="4" marL="2286000" algn="l">
              <a:lnSpc>
                <a:spcPct val="90000"/>
              </a:lnSpc>
              <a:spcBef>
                <a:spcPts val="1200"/>
              </a:spcBef>
              <a:spcAft>
                <a:spcPts val="0"/>
              </a:spcAft>
              <a:buClr>
                <a:schemeClr val="dk1"/>
              </a:buClr>
              <a:buSzPts val="1400"/>
              <a:buChar char="○"/>
              <a:defRPr>
                <a:latin typeface="Constantia"/>
                <a:ea typeface="Constantia"/>
                <a:cs typeface="Constantia"/>
                <a:sym typeface="Constantia"/>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leveluprn.com/blogs/psychiatric-mental-health/principles-12-primary-secondary-tertiary-prevention" TargetMode="External"/><Relationship Id="rId4" Type="http://schemas.openxmlformats.org/officeDocument/2006/relationships/hyperlink" Target="https://leveluprn.com/blogs/psychiatric-mental-health/principles-12-primary-secondary-tertiary-prevention" TargetMode="External"/><Relationship Id="rId5" Type="http://schemas.openxmlformats.org/officeDocument/2006/relationships/hyperlink" Target="https://leveluprn.com/blogs/psychiatric-mental-health/principles-12-primary-secondary-tertiary-preventi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194450"/>
            <a:ext cx="8520600" cy="598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4800">
                <a:solidFill>
                  <a:srgbClr val="002060"/>
                </a:solidFill>
                <a:latin typeface="Times New Roman"/>
                <a:ea typeface="Times New Roman"/>
                <a:cs typeface="Times New Roman"/>
                <a:sym typeface="Times New Roman"/>
              </a:rPr>
              <a:t>Psychopathology</a:t>
            </a:r>
            <a:endParaRPr sz="4080">
              <a:solidFill>
                <a:srgbClr val="002060"/>
              </a:solidFill>
              <a:latin typeface="Times New Roman"/>
              <a:ea typeface="Times New Roman"/>
              <a:cs typeface="Times New Roman"/>
              <a:sym typeface="Times New Roman"/>
            </a:endParaRPr>
          </a:p>
        </p:txBody>
      </p:sp>
      <p:pic>
        <p:nvPicPr>
          <p:cNvPr id="61" name="Google Shape;61;p14"/>
          <p:cNvPicPr preferRelativeResize="0"/>
          <p:nvPr/>
        </p:nvPicPr>
        <p:blipFill>
          <a:blip r:embed="rId3">
            <a:alphaModFix/>
          </a:blip>
          <a:stretch>
            <a:fillRect/>
          </a:stretch>
        </p:blipFill>
        <p:spPr>
          <a:xfrm>
            <a:off x="2644400" y="976800"/>
            <a:ext cx="4018651" cy="40186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400">
                <a:solidFill>
                  <a:srgbClr val="002060"/>
                </a:solidFill>
                <a:latin typeface="Times New Roman"/>
                <a:ea typeface="Times New Roman"/>
                <a:cs typeface="Times New Roman"/>
                <a:sym typeface="Times New Roman"/>
              </a:rPr>
              <a:t>Psychological Disorder</a:t>
            </a:r>
            <a:endParaRPr>
              <a:latin typeface="Times New Roman"/>
              <a:ea typeface="Times New Roman"/>
              <a:cs typeface="Times New Roman"/>
              <a:sym typeface="Times New Roman"/>
            </a:endParaRPr>
          </a:p>
        </p:txBody>
      </p:sp>
      <p:sp>
        <p:nvSpPr>
          <p:cNvPr id="67" name="Google Shape;67;p15"/>
          <p:cNvSpPr txBox="1"/>
          <p:nvPr>
            <p:ph idx="1" type="body"/>
          </p:nvPr>
        </p:nvSpPr>
        <p:spPr>
          <a:xfrm>
            <a:off x="384150" y="1529200"/>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just">
              <a:lnSpc>
                <a:spcPct val="90000"/>
              </a:lnSpc>
              <a:spcBef>
                <a:spcPts val="1000"/>
              </a:spcBef>
              <a:spcAft>
                <a:spcPts val="0"/>
              </a:spcAft>
              <a:buClr>
                <a:schemeClr val="dk1"/>
              </a:buClr>
              <a:buSzPct val="39285"/>
              <a:buFont typeface="Arial"/>
              <a:buNone/>
            </a:pPr>
            <a:r>
              <a:rPr lang="en" sz="2800">
                <a:solidFill>
                  <a:schemeClr val="dk1"/>
                </a:solidFill>
              </a:rPr>
              <a:t>•</a:t>
            </a:r>
            <a:r>
              <a:rPr lang="en" sz="2800">
                <a:solidFill>
                  <a:schemeClr val="dk1"/>
                </a:solidFill>
                <a:latin typeface="Times New Roman"/>
                <a:ea typeface="Times New Roman"/>
                <a:cs typeface="Times New Roman"/>
                <a:sym typeface="Times New Roman"/>
              </a:rPr>
              <a:t>How should we draw the line between normality and disorder?</a:t>
            </a:r>
            <a:endParaRPr sz="2800">
              <a:solidFill>
                <a:schemeClr val="dk1"/>
              </a:solidFill>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39285"/>
              <a:buFont typeface="Arial"/>
              <a:buNone/>
            </a:pPr>
            <a:r>
              <a:rPr lang="en" sz="2800">
                <a:solidFill>
                  <a:schemeClr val="dk1"/>
                </a:solidFill>
                <a:latin typeface="Times New Roman"/>
                <a:ea typeface="Times New Roman"/>
                <a:cs typeface="Times New Roman"/>
                <a:sym typeface="Times New Roman"/>
              </a:rPr>
              <a:t>•Psychological disorder is deviant, distressful, and dysfunctional patterns of thoughts, feelings, and actions.</a:t>
            </a:r>
            <a:endParaRPr sz="2800">
              <a:solidFill>
                <a:schemeClr val="dk1"/>
              </a:solidFill>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39285"/>
              <a:buFont typeface="Arial"/>
              <a:buNone/>
            </a:pPr>
            <a:r>
              <a:rPr lang="en" sz="2800">
                <a:solidFill>
                  <a:schemeClr val="dk1"/>
                </a:solidFill>
                <a:latin typeface="Times New Roman"/>
                <a:ea typeface="Times New Roman"/>
                <a:cs typeface="Times New Roman"/>
                <a:sym typeface="Times New Roman"/>
              </a:rPr>
              <a:t>•</a:t>
            </a:r>
            <a:r>
              <a:rPr lang="en" sz="2800">
                <a:solidFill>
                  <a:srgbClr val="202124"/>
                </a:solidFill>
                <a:latin typeface="Times New Roman"/>
                <a:ea typeface="Times New Roman"/>
                <a:cs typeface="Times New Roman"/>
                <a:sym typeface="Times New Roman"/>
              </a:rPr>
              <a:t>A mental disorder is a syndrome characterized by clinically significant disturbance in an individual's cognition, emotion regulation, or behavior that reflects a dysfunction in the psychological, biological, or development processes underlying mental functioning. (DSM-5)</a:t>
            </a:r>
            <a:endParaRPr sz="2800">
              <a:solidFill>
                <a:srgbClr val="202124"/>
              </a:solidFill>
              <a:latin typeface="Times New Roman"/>
              <a:ea typeface="Times New Roman"/>
              <a:cs typeface="Times New Roman"/>
              <a:sym typeface="Times New Roman"/>
            </a:endParaRPr>
          </a:p>
          <a:p>
            <a:pPr indent="0" lvl="0" marL="0" rtl="0" algn="just">
              <a:spcBef>
                <a:spcPts val="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500">
                <a:solidFill>
                  <a:srgbClr val="002060"/>
                </a:solidFill>
                <a:latin typeface="Times New Roman"/>
                <a:ea typeface="Times New Roman"/>
                <a:cs typeface="Times New Roman"/>
                <a:sym typeface="Times New Roman"/>
              </a:rPr>
              <a:t>Perspectives of Psychological Disorders </a:t>
            </a:r>
            <a:endParaRPr b="1" sz="2500">
              <a:solidFill>
                <a:srgbClr val="002060"/>
              </a:solidFill>
              <a:latin typeface="Times New Roman"/>
              <a:ea typeface="Times New Roman"/>
              <a:cs typeface="Times New Roman"/>
              <a:sym typeface="Times New Roman"/>
            </a:endParaRPr>
          </a:p>
        </p:txBody>
      </p:sp>
      <p:sp>
        <p:nvSpPr>
          <p:cNvPr id="73" name="Google Shape;73;p16"/>
          <p:cNvSpPr txBox="1"/>
          <p:nvPr>
            <p:ph idx="1" type="body"/>
          </p:nvPr>
        </p:nvSpPr>
        <p:spPr>
          <a:xfrm>
            <a:off x="311700" y="1152475"/>
            <a:ext cx="8520600" cy="3808500"/>
          </a:xfrm>
          <a:prstGeom prst="rect">
            <a:avLst/>
          </a:prstGeom>
        </p:spPr>
        <p:txBody>
          <a:bodyPr anchorCtr="0" anchor="t" bIns="91425" lIns="91425" spcFirstLastPara="1" rIns="91425" wrap="square" tIns="91425">
            <a:normAutofit fontScale="85000" lnSpcReduction="20000"/>
          </a:bodyPr>
          <a:lstStyle/>
          <a:p>
            <a:pPr indent="0" lvl="0" marL="0" rtl="0" algn="just">
              <a:lnSpc>
                <a:spcPct val="90000"/>
              </a:lnSpc>
              <a:spcBef>
                <a:spcPts val="1000"/>
              </a:spcBef>
              <a:spcAft>
                <a:spcPts val="0"/>
              </a:spcAft>
              <a:buClr>
                <a:schemeClr val="dk1"/>
              </a:buClr>
              <a:buSzPct val="39285"/>
              <a:buFont typeface="Arial"/>
              <a:buNone/>
            </a:pPr>
            <a:r>
              <a:rPr lang="en" sz="2800">
                <a:solidFill>
                  <a:schemeClr val="dk1"/>
                </a:solidFill>
              </a:rPr>
              <a:t>•</a:t>
            </a:r>
            <a:r>
              <a:rPr lang="en" sz="2725">
                <a:solidFill>
                  <a:srgbClr val="0070C0"/>
                </a:solidFill>
                <a:latin typeface="Times New Roman"/>
                <a:ea typeface="Times New Roman"/>
                <a:cs typeface="Times New Roman"/>
                <a:sym typeface="Times New Roman"/>
              </a:rPr>
              <a:t>What perspectives can help us understand psychological disorders?</a:t>
            </a:r>
            <a:endParaRPr sz="2725">
              <a:solidFill>
                <a:srgbClr val="0070C0"/>
              </a:solidFill>
              <a:latin typeface="Times New Roman"/>
              <a:ea typeface="Times New Roman"/>
              <a:cs typeface="Times New Roman"/>
              <a:sym typeface="Times New Roman"/>
            </a:endParaRPr>
          </a:p>
          <a:p>
            <a:pPr indent="0" lvl="0" marL="0" rtl="0" algn="just">
              <a:lnSpc>
                <a:spcPct val="90000"/>
              </a:lnSpc>
              <a:spcBef>
                <a:spcPts val="1000"/>
              </a:spcBef>
              <a:spcAft>
                <a:spcPts val="0"/>
              </a:spcAft>
              <a:buNone/>
            </a:pPr>
            <a:r>
              <a:rPr lang="en" sz="2725">
                <a:solidFill>
                  <a:schemeClr val="dk1"/>
                </a:solidFill>
                <a:latin typeface="Times New Roman"/>
                <a:ea typeface="Times New Roman"/>
                <a:cs typeface="Times New Roman"/>
                <a:sym typeface="Times New Roman"/>
              </a:rPr>
              <a:t>•During the Middle Ages, you might have said “The devil made him do it,” and you might have approved of an exorcism to get rid of the evil demon. </a:t>
            </a:r>
            <a:endParaRPr sz="2725">
              <a:solidFill>
                <a:schemeClr val="dk1"/>
              </a:solidFill>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40355"/>
              <a:buFont typeface="Arial"/>
              <a:buNone/>
            </a:pPr>
            <a:r>
              <a:rPr lang="en" sz="2725">
                <a:solidFill>
                  <a:schemeClr val="dk1"/>
                </a:solidFill>
                <a:latin typeface="Times New Roman"/>
                <a:ea typeface="Times New Roman"/>
                <a:cs typeface="Times New Roman"/>
                <a:sym typeface="Times New Roman"/>
              </a:rPr>
              <a:t>Until the last two centuries, “mad” people were sometimes caged in zoo like conditions or given “therapies” appropriate to a demon: beatings, burning, or castration. In other times, therapy included trephination (drilling holes in the skull), pulling teeth, removing lengths of intestines, cauterizing the clitoris, or giving transfusions of animal blood (Farina, 1982).</a:t>
            </a:r>
            <a:endParaRPr sz="2725">
              <a:solidFill>
                <a:schemeClr val="dk1"/>
              </a:solidFill>
              <a:latin typeface="Times New Roman"/>
              <a:ea typeface="Times New Roman"/>
              <a:cs typeface="Times New Roman"/>
              <a:sym typeface="Times New Roman"/>
            </a:endParaRPr>
          </a:p>
          <a:p>
            <a:pPr indent="0" lvl="0" marL="0" rtl="0" algn="just">
              <a:spcBef>
                <a:spcPts val="0"/>
              </a:spcBef>
              <a:spcAft>
                <a:spcPts val="1200"/>
              </a:spcAft>
              <a:buNone/>
            </a:pPr>
            <a:r>
              <a:t/>
            </a:r>
            <a:endParaRPr sz="2725">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7"/>
          <p:cNvPicPr preferRelativeResize="0"/>
          <p:nvPr/>
        </p:nvPicPr>
        <p:blipFill>
          <a:blip r:embed="rId3">
            <a:alphaModFix/>
          </a:blip>
          <a:stretch>
            <a:fillRect/>
          </a:stretch>
        </p:blipFill>
        <p:spPr>
          <a:xfrm>
            <a:off x="278175" y="150675"/>
            <a:ext cx="8597950" cy="4836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8"/>
          <p:cNvPicPr preferRelativeResize="0"/>
          <p:nvPr/>
        </p:nvPicPr>
        <p:blipFill>
          <a:blip r:embed="rId3">
            <a:alphaModFix/>
          </a:blip>
          <a:stretch>
            <a:fillRect/>
          </a:stretch>
        </p:blipFill>
        <p:spPr>
          <a:xfrm>
            <a:off x="1138428" y="0"/>
            <a:ext cx="6867144"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500">
                <a:solidFill>
                  <a:srgbClr val="002060"/>
                </a:solidFill>
                <a:latin typeface="Times New Roman"/>
                <a:ea typeface="Times New Roman"/>
                <a:cs typeface="Times New Roman"/>
                <a:sym typeface="Times New Roman"/>
              </a:rPr>
              <a:t>Perspectives of Psychological Disorders </a:t>
            </a:r>
            <a:endParaRPr b="1" sz="2500">
              <a:solidFill>
                <a:srgbClr val="002060"/>
              </a:solidFill>
              <a:latin typeface="Times New Roman"/>
              <a:ea typeface="Times New Roman"/>
              <a:cs typeface="Times New Roman"/>
              <a:sym typeface="Times New Roman"/>
            </a:endParaRPr>
          </a:p>
        </p:txBody>
      </p:sp>
      <p:sp>
        <p:nvSpPr>
          <p:cNvPr id="89" name="Google Shape;89;p19"/>
          <p:cNvSpPr txBox="1"/>
          <p:nvPr>
            <p:ph idx="1" type="body"/>
          </p:nvPr>
        </p:nvSpPr>
        <p:spPr>
          <a:xfrm>
            <a:off x="311700" y="1152475"/>
            <a:ext cx="8520600" cy="3909900"/>
          </a:xfrm>
          <a:prstGeom prst="rect">
            <a:avLst/>
          </a:prstGeom>
        </p:spPr>
        <p:txBody>
          <a:bodyPr anchorCtr="0" anchor="t" bIns="91425" lIns="91425" spcFirstLastPara="1" rIns="91425" wrap="square" tIns="91425">
            <a:normAutofit fontScale="85000" lnSpcReduction="20000"/>
          </a:bodyPr>
          <a:lstStyle/>
          <a:p>
            <a:pPr indent="0" lvl="0" marL="457200" rtl="0" algn="just">
              <a:lnSpc>
                <a:spcPct val="90000"/>
              </a:lnSpc>
              <a:spcBef>
                <a:spcPts val="500"/>
              </a:spcBef>
              <a:spcAft>
                <a:spcPts val="0"/>
              </a:spcAft>
              <a:buClr>
                <a:schemeClr val="dk1"/>
              </a:buClr>
              <a:buSzPct val="34375"/>
              <a:buFont typeface="Arial"/>
              <a:buNone/>
            </a:pPr>
            <a:r>
              <a:rPr lang="en" sz="3200">
                <a:solidFill>
                  <a:srgbClr val="1F4E79"/>
                </a:solidFill>
                <a:latin typeface="Times New Roman"/>
                <a:ea typeface="Times New Roman"/>
                <a:cs typeface="Times New Roman"/>
                <a:sym typeface="Times New Roman"/>
              </a:rPr>
              <a:t>Medical model</a:t>
            </a:r>
            <a:endParaRPr sz="3200">
              <a:solidFill>
                <a:srgbClr val="1F4E79"/>
              </a:solidFill>
              <a:latin typeface="Times New Roman"/>
              <a:ea typeface="Times New Roman"/>
              <a:cs typeface="Times New Roman"/>
              <a:sym typeface="Times New Roman"/>
            </a:endParaRPr>
          </a:p>
          <a:p>
            <a:pPr indent="0" lvl="0" marL="457200" rtl="0" algn="just">
              <a:lnSpc>
                <a:spcPct val="90000"/>
              </a:lnSpc>
              <a:spcBef>
                <a:spcPts val="500"/>
              </a:spcBef>
              <a:spcAft>
                <a:spcPts val="0"/>
              </a:spcAft>
              <a:buNone/>
            </a:pPr>
            <a:r>
              <a:rPr lang="en" sz="2800">
                <a:solidFill>
                  <a:schemeClr val="dk1"/>
                </a:solidFill>
                <a:latin typeface="Times New Roman"/>
                <a:ea typeface="Times New Roman"/>
                <a:cs typeface="Times New Roman"/>
                <a:sym typeface="Times New Roman"/>
              </a:rPr>
              <a:t>By the 1800s, the discovery that syphilis infects the brain and distorts the mind provided the impetus for further reform. Hospitals replaced asylums, and the medical world began searching for physical causes of mental disorders, and for treatments that would cure them. </a:t>
            </a:r>
            <a:endParaRPr sz="2800">
              <a:solidFill>
                <a:schemeClr val="dk1"/>
              </a:solidFill>
              <a:latin typeface="Times New Roman"/>
              <a:ea typeface="Times New Roman"/>
              <a:cs typeface="Times New Roman"/>
              <a:sym typeface="Times New Roman"/>
            </a:endParaRPr>
          </a:p>
          <a:p>
            <a:pPr indent="0" lvl="0" marL="457200" rtl="0" algn="just">
              <a:lnSpc>
                <a:spcPct val="90000"/>
              </a:lnSpc>
              <a:spcBef>
                <a:spcPts val="500"/>
              </a:spcBef>
              <a:spcAft>
                <a:spcPts val="0"/>
              </a:spcAft>
              <a:buClr>
                <a:schemeClr val="dk1"/>
              </a:buClr>
              <a:buSzPct val="39285"/>
              <a:buFont typeface="Arial"/>
              <a:buNone/>
            </a:pPr>
            <a:r>
              <a:rPr lang="en" sz="2800">
                <a:solidFill>
                  <a:schemeClr val="dk1"/>
                </a:solidFill>
                <a:latin typeface="Times New Roman"/>
                <a:ea typeface="Times New Roman"/>
                <a:cs typeface="Times New Roman"/>
                <a:sym typeface="Times New Roman"/>
              </a:rPr>
              <a:t>Today, this medical model is recognizable in the terminology of the mental health movement: A mental illness (also called a psychopathology) needs to be diagnosed on the basis of its symptoms and cured through therapy, which may include treatment in a psychiatric hospital.</a:t>
            </a:r>
            <a:endParaRPr sz="2800">
              <a:solidFill>
                <a:schemeClr val="dk1"/>
              </a:solidFill>
              <a:latin typeface="Times New Roman"/>
              <a:ea typeface="Times New Roman"/>
              <a:cs typeface="Times New Roman"/>
              <a:sym typeface="Times New Roman"/>
            </a:endParaRPr>
          </a:p>
          <a:p>
            <a:pPr indent="0" lvl="0" marL="0" rtl="0" algn="just">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0"/>
          <p:cNvSpPr txBox="1"/>
          <p:nvPr>
            <p:ph type="title"/>
          </p:nvPr>
        </p:nvSpPr>
        <p:spPr>
          <a:xfrm>
            <a:off x="311700" y="2431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090">
                <a:solidFill>
                  <a:srgbClr val="002060"/>
                </a:solidFill>
                <a:latin typeface="Times New Roman"/>
                <a:ea typeface="Times New Roman"/>
                <a:cs typeface="Times New Roman"/>
                <a:sym typeface="Times New Roman"/>
              </a:rPr>
              <a:t>Perspectives of Psychological Disorders-</a:t>
            </a:r>
            <a:r>
              <a:rPr b="1" lang="en" sz="2360">
                <a:solidFill>
                  <a:srgbClr val="002060"/>
                </a:solidFill>
                <a:latin typeface="Times New Roman"/>
                <a:ea typeface="Times New Roman"/>
                <a:cs typeface="Times New Roman"/>
                <a:sym typeface="Times New Roman"/>
              </a:rPr>
              <a:t>Biopsychosocial model </a:t>
            </a:r>
            <a:endParaRPr b="1" sz="2360">
              <a:solidFill>
                <a:srgbClr val="002060"/>
              </a:solidFill>
              <a:latin typeface="Times New Roman"/>
              <a:ea typeface="Times New Roman"/>
              <a:cs typeface="Times New Roman"/>
              <a:sym typeface="Times New Roman"/>
            </a:endParaRPr>
          </a:p>
          <a:p>
            <a:pPr indent="0" lvl="0" marL="0" rtl="0" algn="l">
              <a:spcBef>
                <a:spcPts val="0"/>
              </a:spcBef>
              <a:spcAft>
                <a:spcPts val="0"/>
              </a:spcAft>
              <a:buSzPts val="990"/>
              <a:buNone/>
            </a:pPr>
            <a:r>
              <a:t/>
            </a:r>
            <a:endParaRPr b="1" sz="2090">
              <a:solidFill>
                <a:srgbClr val="1F4E79"/>
              </a:solidFill>
            </a:endParaRPr>
          </a:p>
        </p:txBody>
      </p:sp>
      <p:pic>
        <p:nvPicPr>
          <p:cNvPr id="95" name="Google Shape;95;p20"/>
          <p:cNvPicPr preferRelativeResize="0"/>
          <p:nvPr/>
        </p:nvPicPr>
        <p:blipFill>
          <a:blip r:embed="rId3">
            <a:alphaModFix/>
          </a:blip>
          <a:stretch>
            <a:fillRect/>
          </a:stretch>
        </p:blipFill>
        <p:spPr>
          <a:xfrm>
            <a:off x="1449650" y="909500"/>
            <a:ext cx="6163799" cy="42339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type="title"/>
          </p:nvPr>
        </p:nvSpPr>
        <p:spPr>
          <a:xfrm>
            <a:off x="311700" y="372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4000">
                <a:solidFill>
                  <a:srgbClr val="002060"/>
                </a:solidFill>
                <a:latin typeface="Times New Roman"/>
                <a:ea typeface="Times New Roman"/>
                <a:cs typeface="Times New Roman"/>
                <a:sym typeface="Times New Roman"/>
              </a:rPr>
              <a:t>Classification of Psychopathology</a:t>
            </a:r>
            <a:endParaRPr b="1">
              <a:solidFill>
                <a:srgbClr val="002060"/>
              </a:solidFill>
              <a:latin typeface="Times New Roman"/>
              <a:ea typeface="Times New Roman"/>
              <a:cs typeface="Times New Roman"/>
              <a:sym typeface="Times New Roman"/>
            </a:endParaRPr>
          </a:p>
        </p:txBody>
      </p:sp>
      <p:sp>
        <p:nvSpPr>
          <p:cNvPr id="101" name="Google Shape;101;p21"/>
          <p:cNvSpPr txBox="1"/>
          <p:nvPr>
            <p:ph idx="1" type="body"/>
          </p:nvPr>
        </p:nvSpPr>
        <p:spPr>
          <a:xfrm>
            <a:off x="311700" y="1152475"/>
            <a:ext cx="8520600" cy="3765000"/>
          </a:xfrm>
          <a:prstGeom prst="rect">
            <a:avLst/>
          </a:prstGeom>
        </p:spPr>
        <p:txBody>
          <a:bodyPr anchorCtr="0" anchor="t" bIns="91425" lIns="91425" spcFirstLastPara="1" rIns="91425" wrap="square" tIns="91425">
            <a:normAutofit fontScale="92500" lnSpcReduction="20000"/>
          </a:bodyPr>
          <a:lstStyle/>
          <a:p>
            <a:pPr indent="0" lvl="0" marL="12700" rtl="0" algn="l">
              <a:spcBef>
                <a:spcPts val="0"/>
              </a:spcBef>
              <a:spcAft>
                <a:spcPts val="0"/>
              </a:spcAft>
              <a:buClr>
                <a:schemeClr val="dk1"/>
              </a:buClr>
              <a:buSzPct val="55000"/>
              <a:buFont typeface="Arial"/>
              <a:buNone/>
            </a:pPr>
            <a:r>
              <a:rPr lang="en" sz="2000">
                <a:solidFill>
                  <a:schemeClr val="dk1"/>
                </a:solidFill>
              </a:rPr>
              <a:t>1.</a:t>
            </a:r>
            <a:r>
              <a:rPr lang="en" sz="2408">
                <a:solidFill>
                  <a:schemeClr val="dk1"/>
                </a:solidFill>
                <a:latin typeface="Times New Roman"/>
                <a:ea typeface="Times New Roman"/>
                <a:cs typeface="Times New Roman"/>
                <a:sym typeface="Times New Roman"/>
              </a:rPr>
              <a:t>Neurodevelopmental disorders</a:t>
            </a:r>
            <a:endParaRPr sz="2408">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5678"/>
              <a:buFont typeface="Arial"/>
              <a:buNone/>
            </a:pPr>
            <a:r>
              <a:rPr lang="en" sz="2408">
                <a:solidFill>
                  <a:schemeClr val="dk1"/>
                </a:solidFill>
                <a:latin typeface="Times New Roman"/>
                <a:ea typeface="Times New Roman"/>
                <a:cs typeface="Times New Roman"/>
                <a:sym typeface="Times New Roman"/>
              </a:rPr>
              <a:t>2.Schizophrenia spectrum and other psychotic disorders</a:t>
            </a:r>
            <a:endParaRPr sz="2408">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5678"/>
              <a:buFont typeface="Arial"/>
              <a:buNone/>
            </a:pPr>
            <a:r>
              <a:rPr lang="en" sz="2408">
                <a:solidFill>
                  <a:schemeClr val="dk1"/>
                </a:solidFill>
                <a:latin typeface="Times New Roman"/>
                <a:ea typeface="Times New Roman"/>
                <a:cs typeface="Times New Roman"/>
                <a:sym typeface="Times New Roman"/>
              </a:rPr>
              <a:t>3.Bipolar and related disorders</a:t>
            </a:r>
            <a:endParaRPr sz="2408">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5678"/>
              <a:buFont typeface="Arial"/>
              <a:buNone/>
            </a:pPr>
            <a:r>
              <a:rPr lang="en" sz="2408">
                <a:solidFill>
                  <a:schemeClr val="dk1"/>
                </a:solidFill>
                <a:latin typeface="Times New Roman"/>
                <a:ea typeface="Times New Roman"/>
                <a:cs typeface="Times New Roman"/>
                <a:sym typeface="Times New Roman"/>
              </a:rPr>
              <a:t>4.Depressive disorders</a:t>
            </a:r>
            <a:endParaRPr sz="2408">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5678"/>
              <a:buFont typeface="Arial"/>
              <a:buNone/>
            </a:pPr>
            <a:r>
              <a:rPr lang="en" sz="2408">
                <a:solidFill>
                  <a:schemeClr val="dk1"/>
                </a:solidFill>
                <a:latin typeface="Times New Roman"/>
                <a:ea typeface="Times New Roman"/>
                <a:cs typeface="Times New Roman"/>
                <a:sym typeface="Times New Roman"/>
              </a:rPr>
              <a:t>5.Anxiety disorders</a:t>
            </a:r>
            <a:endParaRPr sz="2408">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5678"/>
              <a:buFont typeface="Arial"/>
              <a:buNone/>
            </a:pPr>
            <a:r>
              <a:rPr lang="en" sz="2408">
                <a:solidFill>
                  <a:schemeClr val="dk1"/>
                </a:solidFill>
                <a:latin typeface="Times New Roman"/>
                <a:ea typeface="Times New Roman"/>
                <a:cs typeface="Times New Roman"/>
                <a:sym typeface="Times New Roman"/>
              </a:rPr>
              <a:t>6.Obsessive-compulsive and related disorders</a:t>
            </a:r>
            <a:endParaRPr sz="2408">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5678"/>
              <a:buFont typeface="Arial"/>
              <a:buNone/>
            </a:pPr>
            <a:r>
              <a:rPr lang="en" sz="2408">
                <a:solidFill>
                  <a:schemeClr val="dk1"/>
                </a:solidFill>
                <a:latin typeface="Times New Roman"/>
                <a:ea typeface="Times New Roman"/>
                <a:cs typeface="Times New Roman"/>
                <a:sym typeface="Times New Roman"/>
              </a:rPr>
              <a:t>7.Trauma- and stressor-related disorders</a:t>
            </a:r>
            <a:endParaRPr sz="2408">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5678"/>
              <a:buFont typeface="Arial"/>
              <a:buNone/>
            </a:pPr>
            <a:r>
              <a:rPr lang="en" sz="2408">
                <a:solidFill>
                  <a:schemeClr val="dk1"/>
                </a:solidFill>
                <a:latin typeface="Times New Roman"/>
                <a:ea typeface="Times New Roman"/>
                <a:cs typeface="Times New Roman"/>
                <a:sym typeface="Times New Roman"/>
              </a:rPr>
              <a:t>8.Dissociative disorders</a:t>
            </a:r>
            <a:endParaRPr sz="2408">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5678"/>
              <a:buFont typeface="Arial"/>
              <a:buNone/>
            </a:pPr>
            <a:r>
              <a:rPr lang="en" sz="2408">
                <a:solidFill>
                  <a:schemeClr val="dk1"/>
                </a:solidFill>
                <a:latin typeface="Times New Roman"/>
                <a:ea typeface="Times New Roman"/>
                <a:cs typeface="Times New Roman"/>
                <a:sym typeface="Times New Roman"/>
              </a:rPr>
              <a:t>9.Somatic symptom and related disorders</a:t>
            </a:r>
            <a:endParaRPr sz="2408">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ct val="45678"/>
              <a:buFont typeface="Arial"/>
              <a:buNone/>
            </a:pPr>
            <a:r>
              <a:rPr lang="en" sz="2408">
                <a:solidFill>
                  <a:schemeClr val="dk1"/>
                </a:solidFill>
                <a:latin typeface="Times New Roman"/>
                <a:ea typeface="Times New Roman"/>
                <a:cs typeface="Times New Roman"/>
                <a:sym typeface="Times New Roman"/>
              </a:rPr>
              <a:t>10.Feeding and eating disorders</a:t>
            </a:r>
            <a:endParaRPr sz="2408">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pic>
        <p:nvPicPr>
          <p:cNvPr id="102" name="Google Shape;102;p21"/>
          <p:cNvPicPr preferRelativeResize="0"/>
          <p:nvPr/>
        </p:nvPicPr>
        <p:blipFill>
          <a:blip r:embed="rId3">
            <a:alphaModFix/>
          </a:blip>
          <a:stretch>
            <a:fillRect/>
          </a:stretch>
        </p:blipFill>
        <p:spPr>
          <a:xfrm>
            <a:off x="6199400" y="2300325"/>
            <a:ext cx="2770725" cy="2770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2566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500">
                <a:solidFill>
                  <a:srgbClr val="002060"/>
                </a:solidFill>
                <a:latin typeface="Times New Roman"/>
                <a:ea typeface="Times New Roman"/>
                <a:cs typeface="Times New Roman"/>
                <a:sym typeface="Times New Roman"/>
              </a:rPr>
              <a:t>Classification of Psychopathology</a:t>
            </a:r>
            <a:endParaRPr b="1" sz="2500">
              <a:solidFill>
                <a:srgbClr val="002060"/>
              </a:solidFill>
              <a:latin typeface="Times New Roman"/>
              <a:ea typeface="Times New Roman"/>
              <a:cs typeface="Times New Roman"/>
              <a:sym typeface="Times New Roman"/>
            </a:endParaRPr>
          </a:p>
        </p:txBody>
      </p:sp>
      <p:sp>
        <p:nvSpPr>
          <p:cNvPr id="108" name="Google Shape;10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12700" rtl="0" algn="l">
              <a:spcBef>
                <a:spcPts val="0"/>
              </a:spcBef>
              <a:spcAft>
                <a:spcPts val="0"/>
              </a:spcAft>
              <a:buClr>
                <a:schemeClr val="dk1"/>
              </a:buClr>
              <a:buSzPct val="46081"/>
              <a:buFont typeface="Arial"/>
              <a:buNone/>
            </a:pPr>
            <a:r>
              <a:rPr lang="en" sz="2387">
                <a:solidFill>
                  <a:schemeClr val="dk1"/>
                </a:solidFill>
              </a:rPr>
              <a:t>11</a:t>
            </a:r>
            <a:r>
              <a:rPr lang="en" sz="2572">
                <a:solidFill>
                  <a:schemeClr val="dk1"/>
                </a:solidFill>
              </a:rPr>
              <a:t>.</a:t>
            </a:r>
            <a:r>
              <a:rPr lang="en" sz="2572">
                <a:solidFill>
                  <a:schemeClr val="dk1"/>
                </a:solidFill>
                <a:latin typeface="Times New Roman"/>
                <a:ea typeface="Times New Roman"/>
                <a:cs typeface="Times New Roman"/>
                <a:sym typeface="Times New Roman"/>
              </a:rPr>
              <a:t>Elimination disorders</a:t>
            </a:r>
            <a:endParaRPr sz="2572">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2761"/>
              <a:buFont typeface="Arial"/>
              <a:buNone/>
            </a:pPr>
            <a:r>
              <a:rPr lang="en" sz="2572">
                <a:solidFill>
                  <a:schemeClr val="dk1"/>
                </a:solidFill>
                <a:latin typeface="Times New Roman"/>
                <a:ea typeface="Times New Roman"/>
                <a:cs typeface="Times New Roman"/>
                <a:sym typeface="Times New Roman"/>
              </a:rPr>
              <a:t>12.Sleep-wake disorders</a:t>
            </a:r>
            <a:endParaRPr sz="2572">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2761"/>
              <a:buFont typeface="Arial"/>
              <a:buNone/>
            </a:pPr>
            <a:r>
              <a:rPr lang="en" sz="2572">
                <a:solidFill>
                  <a:schemeClr val="dk1"/>
                </a:solidFill>
                <a:latin typeface="Times New Roman"/>
                <a:ea typeface="Times New Roman"/>
                <a:cs typeface="Times New Roman"/>
                <a:sym typeface="Times New Roman"/>
              </a:rPr>
              <a:t>13.Sexual dysfunctions</a:t>
            </a:r>
            <a:endParaRPr sz="2572">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2761"/>
              <a:buFont typeface="Arial"/>
              <a:buNone/>
            </a:pPr>
            <a:r>
              <a:rPr lang="en" sz="2572">
                <a:solidFill>
                  <a:schemeClr val="dk1"/>
                </a:solidFill>
                <a:latin typeface="Times New Roman"/>
                <a:ea typeface="Times New Roman"/>
                <a:cs typeface="Times New Roman"/>
                <a:sym typeface="Times New Roman"/>
              </a:rPr>
              <a:t>14.Gender dysphoria</a:t>
            </a:r>
            <a:endParaRPr sz="2572">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2761"/>
              <a:buFont typeface="Arial"/>
              <a:buNone/>
            </a:pPr>
            <a:r>
              <a:rPr lang="en" sz="2572">
                <a:solidFill>
                  <a:schemeClr val="dk1"/>
                </a:solidFill>
                <a:latin typeface="Times New Roman"/>
                <a:ea typeface="Times New Roman"/>
                <a:cs typeface="Times New Roman"/>
                <a:sym typeface="Times New Roman"/>
              </a:rPr>
              <a:t>15.Disruptive, impulse-control, and conduct disorders</a:t>
            </a:r>
            <a:endParaRPr sz="2572">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2761"/>
              <a:buFont typeface="Arial"/>
              <a:buNone/>
            </a:pPr>
            <a:r>
              <a:rPr lang="en" sz="2572">
                <a:solidFill>
                  <a:schemeClr val="dk1"/>
                </a:solidFill>
                <a:latin typeface="Times New Roman"/>
                <a:ea typeface="Times New Roman"/>
                <a:cs typeface="Times New Roman"/>
                <a:sym typeface="Times New Roman"/>
              </a:rPr>
              <a:t>16.Substance-related and addictive disorders</a:t>
            </a:r>
            <a:endParaRPr sz="2572">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2761"/>
              <a:buFont typeface="Arial"/>
              <a:buNone/>
            </a:pPr>
            <a:r>
              <a:rPr lang="en" sz="2572">
                <a:solidFill>
                  <a:schemeClr val="dk1"/>
                </a:solidFill>
                <a:latin typeface="Times New Roman"/>
                <a:ea typeface="Times New Roman"/>
                <a:cs typeface="Times New Roman"/>
                <a:sym typeface="Times New Roman"/>
              </a:rPr>
              <a:t>17.Neurocognitive disorders</a:t>
            </a:r>
            <a:endParaRPr sz="2572">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2761"/>
              <a:buFont typeface="Arial"/>
              <a:buNone/>
            </a:pPr>
            <a:r>
              <a:rPr lang="en" sz="2572">
                <a:solidFill>
                  <a:schemeClr val="dk1"/>
                </a:solidFill>
                <a:latin typeface="Times New Roman"/>
                <a:ea typeface="Times New Roman"/>
                <a:cs typeface="Times New Roman"/>
                <a:sym typeface="Times New Roman"/>
              </a:rPr>
              <a:t>18.Personality disorders</a:t>
            </a:r>
            <a:endParaRPr sz="2572">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2761"/>
              <a:buFont typeface="Arial"/>
              <a:buNone/>
            </a:pPr>
            <a:r>
              <a:rPr lang="en" sz="2572">
                <a:solidFill>
                  <a:schemeClr val="dk1"/>
                </a:solidFill>
                <a:latin typeface="Times New Roman"/>
                <a:ea typeface="Times New Roman"/>
                <a:cs typeface="Times New Roman"/>
                <a:sym typeface="Times New Roman"/>
              </a:rPr>
              <a:t>19.Paraphilic disorders</a:t>
            </a:r>
            <a:endParaRPr sz="2572">
              <a:solidFill>
                <a:schemeClr val="dk1"/>
              </a:solidFill>
              <a:latin typeface="Times New Roman"/>
              <a:ea typeface="Times New Roman"/>
              <a:cs typeface="Times New Roman"/>
              <a:sym typeface="Times New Roman"/>
            </a:endParaRPr>
          </a:p>
          <a:p>
            <a:pPr indent="0" lvl="0" marL="12700" rtl="0" algn="l">
              <a:spcBef>
                <a:spcPts val="0"/>
              </a:spcBef>
              <a:spcAft>
                <a:spcPts val="0"/>
              </a:spcAft>
              <a:buClr>
                <a:schemeClr val="dk1"/>
              </a:buClr>
              <a:buSzPct val="42761"/>
              <a:buFont typeface="Arial"/>
              <a:buNone/>
            </a:pPr>
            <a:r>
              <a:rPr lang="en" sz="2572">
                <a:solidFill>
                  <a:schemeClr val="dk1"/>
                </a:solidFill>
                <a:latin typeface="Times New Roman"/>
                <a:ea typeface="Times New Roman"/>
                <a:cs typeface="Times New Roman"/>
                <a:sym typeface="Times New Roman"/>
              </a:rPr>
              <a:t>20.Other mental disorders</a:t>
            </a:r>
            <a:endParaRPr sz="2572">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sz="2572">
              <a:latin typeface="Times New Roman"/>
              <a:ea typeface="Times New Roman"/>
              <a:cs typeface="Times New Roman"/>
              <a:sym typeface="Times New Roman"/>
            </a:endParaRPr>
          </a:p>
        </p:txBody>
      </p:sp>
      <p:pic>
        <p:nvPicPr>
          <p:cNvPr id="109" name="Google Shape;109;p22"/>
          <p:cNvPicPr preferRelativeResize="0"/>
          <p:nvPr/>
        </p:nvPicPr>
        <p:blipFill>
          <a:blip r:embed="rId3">
            <a:alphaModFix/>
          </a:blip>
          <a:stretch>
            <a:fillRect/>
          </a:stretch>
        </p:blipFill>
        <p:spPr>
          <a:xfrm>
            <a:off x="6117150" y="2872075"/>
            <a:ext cx="3026850" cy="2271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471075" y="35325"/>
            <a:ext cx="8520600" cy="370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1800">
                <a:solidFill>
                  <a:srgbClr val="002060"/>
                </a:solidFill>
              </a:rPr>
              <a:t>Mental Health Continuum Model</a:t>
            </a:r>
            <a:endParaRPr>
              <a:solidFill>
                <a:srgbClr val="002060"/>
              </a:solidFill>
            </a:endParaRPr>
          </a:p>
        </p:txBody>
      </p:sp>
      <p:pic>
        <p:nvPicPr>
          <p:cNvPr id="115" name="Google Shape;115;p23"/>
          <p:cNvPicPr preferRelativeResize="0"/>
          <p:nvPr/>
        </p:nvPicPr>
        <p:blipFill rotWithShape="1">
          <a:blip r:embed="rId3">
            <a:alphaModFix/>
          </a:blip>
          <a:srcRect b="0" l="0" r="0" t="10944"/>
          <a:stretch/>
        </p:blipFill>
        <p:spPr>
          <a:xfrm>
            <a:off x="311700" y="520838"/>
            <a:ext cx="8520600" cy="44863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90000"/>
              </a:lnSpc>
              <a:spcBef>
                <a:spcPts val="1000"/>
              </a:spcBef>
              <a:spcAft>
                <a:spcPts val="0"/>
              </a:spcAft>
              <a:buClr>
                <a:schemeClr val="dk1"/>
              </a:buClr>
              <a:buSzPts val="990"/>
              <a:buFont typeface="Arial"/>
              <a:buNone/>
            </a:pPr>
            <a:r>
              <a:rPr b="1" lang="en" sz="2600">
                <a:solidFill>
                  <a:srgbClr val="002060"/>
                </a:solidFill>
                <a:latin typeface="Times New Roman"/>
                <a:ea typeface="Times New Roman"/>
                <a:cs typeface="Times New Roman"/>
                <a:sym typeface="Times New Roman"/>
              </a:rPr>
              <a:t>Prevention</a:t>
            </a:r>
            <a:endParaRPr sz="3320">
              <a:solidFill>
                <a:srgbClr val="002060"/>
              </a:solidFill>
              <a:latin typeface="Times New Roman"/>
              <a:ea typeface="Times New Roman"/>
              <a:cs typeface="Times New Roman"/>
              <a:sym typeface="Times New Roman"/>
            </a:endParaRPr>
          </a:p>
        </p:txBody>
      </p:sp>
      <p:sp>
        <p:nvSpPr>
          <p:cNvPr id="121" name="Google Shape;121;p24"/>
          <p:cNvSpPr txBox="1"/>
          <p:nvPr>
            <p:ph idx="1" type="body"/>
          </p:nvPr>
        </p:nvSpPr>
        <p:spPr>
          <a:xfrm>
            <a:off x="311700" y="1181450"/>
            <a:ext cx="8520600" cy="3698700"/>
          </a:xfrm>
          <a:prstGeom prst="rect">
            <a:avLst/>
          </a:prstGeom>
        </p:spPr>
        <p:txBody>
          <a:bodyPr anchorCtr="0" anchor="t" bIns="91425" lIns="91425" spcFirstLastPara="1" rIns="91425" wrap="square" tIns="91425">
            <a:noAutofit/>
          </a:bodyPr>
          <a:lstStyle/>
          <a:p>
            <a:pPr indent="0" lvl="0" marL="0" rtl="0" algn="just">
              <a:lnSpc>
                <a:spcPct val="90000"/>
              </a:lnSpc>
              <a:spcBef>
                <a:spcPts val="1000"/>
              </a:spcBef>
              <a:spcAft>
                <a:spcPts val="0"/>
              </a:spcAft>
              <a:buClr>
                <a:schemeClr val="dk1"/>
              </a:buClr>
              <a:buSzPts val="1100"/>
              <a:buFont typeface="Arial"/>
              <a:buNone/>
            </a:pPr>
            <a:r>
              <a:rPr b="1" lang="en" sz="2400">
                <a:solidFill>
                  <a:srgbClr val="385723"/>
                </a:solidFill>
                <a:latin typeface="Times New Roman"/>
                <a:ea typeface="Times New Roman"/>
                <a:cs typeface="Times New Roman"/>
                <a:sym typeface="Times New Roman"/>
              </a:rPr>
              <a:t>Primary Prevention</a:t>
            </a:r>
            <a:endParaRPr b="1" sz="2400">
              <a:solidFill>
                <a:srgbClr val="385723"/>
              </a:solidFill>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Primary prevention focuses on the prevention of mental health disorders in the community before they occur. This level of prevention aims to decrease risk factors and increase protective factors in order to prevent a mental health disorder from occurring in the first place.</a:t>
            </a:r>
            <a:endParaRPr sz="2400">
              <a:solidFill>
                <a:schemeClr val="dk1"/>
              </a:solidFill>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Examples of primary prevention activities include youth groups and clubs, which help to increase community bonds and support; parenting workshops</a:t>
            </a:r>
            <a:endParaRPr sz="2400">
              <a:solidFill>
                <a:schemeClr val="dk1"/>
              </a:solidFill>
              <a:latin typeface="Times New Roman"/>
              <a:ea typeface="Times New Roman"/>
              <a:cs typeface="Times New Roman"/>
              <a:sym typeface="Times New Roman"/>
            </a:endParaRPr>
          </a:p>
          <a:p>
            <a:pPr indent="0" lvl="0" marL="0" rtl="0" algn="just">
              <a:spcBef>
                <a:spcPts val="0"/>
              </a:spcBef>
              <a:spcAft>
                <a:spcPts val="1200"/>
              </a:spcAft>
              <a:buNone/>
            </a:pPr>
            <a:r>
              <a:t/>
            </a:r>
            <a:endParaRPr sz="2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118150"/>
            <a:ext cx="8520600" cy="572700"/>
          </a:xfrm>
          <a:prstGeom prst="rect">
            <a:avLst/>
          </a:prstGeom>
        </p:spPr>
        <p:txBody>
          <a:bodyPr anchorCtr="0" anchor="t" bIns="91425" lIns="91425" spcFirstLastPara="1" rIns="91425" wrap="square" tIns="91425">
            <a:noAutofit/>
          </a:bodyPr>
          <a:lstStyle/>
          <a:p>
            <a:pPr indent="0" lvl="0" marL="0" rtl="0" algn="l">
              <a:lnSpc>
                <a:spcPct val="90000"/>
              </a:lnSpc>
              <a:spcBef>
                <a:spcPts val="1000"/>
              </a:spcBef>
              <a:spcAft>
                <a:spcPts val="0"/>
              </a:spcAft>
              <a:buClr>
                <a:schemeClr val="dk1"/>
              </a:buClr>
              <a:buSzPts val="990"/>
              <a:buFont typeface="Arial"/>
              <a:buNone/>
            </a:pPr>
            <a:r>
              <a:rPr b="1" lang="en" sz="2600">
                <a:solidFill>
                  <a:srgbClr val="002060"/>
                </a:solidFill>
                <a:latin typeface="Times New Roman"/>
                <a:ea typeface="Times New Roman"/>
                <a:cs typeface="Times New Roman"/>
                <a:sym typeface="Times New Roman"/>
              </a:rPr>
              <a:t>Prevention</a:t>
            </a:r>
            <a:endParaRPr sz="3320">
              <a:solidFill>
                <a:srgbClr val="002060"/>
              </a:solidFill>
              <a:latin typeface="Times New Roman"/>
              <a:ea typeface="Times New Roman"/>
              <a:cs typeface="Times New Roman"/>
              <a:sym typeface="Times New Roman"/>
            </a:endParaRPr>
          </a:p>
        </p:txBody>
      </p:sp>
      <p:sp>
        <p:nvSpPr>
          <p:cNvPr id="127" name="Google Shape;127;p25"/>
          <p:cNvSpPr txBox="1"/>
          <p:nvPr>
            <p:ph idx="1" type="body"/>
          </p:nvPr>
        </p:nvSpPr>
        <p:spPr>
          <a:xfrm>
            <a:off x="311700" y="690850"/>
            <a:ext cx="8520600" cy="4313700"/>
          </a:xfrm>
          <a:prstGeom prst="rect">
            <a:avLst/>
          </a:prstGeom>
        </p:spPr>
        <p:txBody>
          <a:bodyPr anchorCtr="0" anchor="t" bIns="91425" lIns="91425" spcFirstLastPara="1" rIns="91425" wrap="square" tIns="91425">
            <a:noAutofit/>
          </a:bodyPr>
          <a:lstStyle/>
          <a:p>
            <a:pPr indent="0" lvl="0" marL="0" rtl="0" algn="l">
              <a:lnSpc>
                <a:spcPct val="90000"/>
              </a:lnSpc>
              <a:spcBef>
                <a:spcPts val="1000"/>
              </a:spcBef>
              <a:spcAft>
                <a:spcPts val="0"/>
              </a:spcAft>
              <a:buClr>
                <a:schemeClr val="dk1"/>
              </a:buClr>
              <a:buSzPts val="1100"/>
              <a:buFont typeface="Arial"/>
              <a:buNone/>
            </a:pPr>
            <a:r>
              <a:rPr b="1" lang="en" sz="1600">
                <a:solidFill>
                  <a:srgbClr val="385723"/>
                </a:solidFill>
              </a:rPr>
              <a:t>Secondary Prevention</a:t>
            </a:r>
            <a:endParaRPr b="1" sz="1600">
              <a:solidFill>
                <a:srgbClr val="385723"/>
              </a:solidFill>
            </a:endParaRPr>
          </a:p>
          <a:p>
            <a:pPr indent="0" lvl="0" marL="0" rtl="0" algn="l">
              <a:lnSpc>
                <a:spcPct val="90000"/>
              </a:lnSpc>
              <a:spcBef>
                <a:spcPts val="1000"/>
              </a:spcBef>
              <a:spcAft>
                <a:spcPts val="0"/>
              </a:spcAft>
              <a:buClr>
                <a:schemeClr val="dk1"/>
              </a:buClr>
              <a:buSzPts val="1100"/>
              <a:buFont typeface="Arial"/>
              <a:buNone/>
            </a:pPr>
            <a:r>
              <a:rPr lang="en" sz="1600">
                <a:solidFill>
                  <a:schemeClr val="dk1"/>
                </a:solidFill>
              </a:rPr>
              <a:t>Secondary prevention focuses on the early detection and prompt intervention of mental health disorders. At this level of prevention, a patient already has a mental health disorder, and secondary prevention is aimed at detecting the disorder early in order to intervene promptly.</a:t>
            </a:r>
            <a:endParaRPr sz="16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600">
                <a:solidFill>
                  <a:schemeClr val="dk1"/>
                </a:solidFill>
              </a:rPr>
              <a:t>Essentially, this means screening. Screening patients for depression or suicide risk, for example, can lead to the early intervention ― and prevention — of a more dire outcome.</a:t>
            </a:r>
            <a:endParaRPr sz="16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b="1" lang="en" sz="1600">
                <a:solidFill>
                  <a:srgbClr val="385723"/>
                </a:solidFill>
              </a:rPr>
              <a:t>Tertiary Prevention</a:t>
            </a:r>
            <a:endParaRPr b="1" sz="1600">
              <a:solidFill>
                <a:srgbClr val="385723"/>
              </a:solidFill>
            </a:endParaRPr>
          </a:p>
          <a:p>
            <a:pPr indent="0" lvl="0" marL="0" rtl="0" algn="l">
              <a:lnSpc>
                <a:spcPct val="90000"/>
              </a:lnSpc>
              <a:spcBef>
                <a:spcPts val="1000"/>
              </a:spcBef>
              <a:spcAft>
                <a:spcPts val="0"/>
              </a:spcAft>
              <a:buClr>
                <a:schemeClr val="dk1"/>
              </a:buClr>
              <a:buSzPts val="1100"/>
              <a:buFont typeface="Arial"/>
              <a:buNone/>
            </a:pPr>
            <a:r>
              <a:rPr lang="en" sz="1600">
                <a:solidFill>
                  <a:schemeClr val="dk1"/>
                </a:solidFill>
              </a:rPr>
              <a:t>Tertiary prevention focuses on the period after a mental health disorder or crisis has already occurred. The focus at this point is to help promote the patient's recovery as well as to prevent further complications.</a:t>
            </a:r>
            <a:endParaRPr sz="16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600">
                <a:solidFill>
                  <a:schemeClr val="dk1"/>
                </a:solidFill>
              </a:rPr>
              <a:t>Source-</a:t>
            </a:r>
            <a:r>
              <a:rPr lang="en" sz="1600">
                <a:solidFill>
                  <a:schemeClr val="dk1"/>
                </a:solidFill>
                <a:uFill>
                  <a:noFill/>
                </a:uFill>
                <a:hlinkClick r:id="rId3">
                  <a:extLst>
                    <a:ext uri="{A12FA001-AC4F-418D-AE19-62706E023703}">
                      <ahyp:hlinkClr val="tx"/>
                    </a:ext>
                  </a:extLst>
                </a:hlinkClick>
              </a:rPr>
              <a:t> </a:t>
            </a:r>
            <a:r>
              <a:rPr lang="en" sz="1500" u="sng">
                <a:solidFill>
                  <a:schemeClr val="accent5"/>
                </a:solidFill>
                <a:hlinkClick r:id="rId4">
                  <a:extLst>
                    <a:ext uri="{A12FA001-AC4F-418D-AE19-62706E023703}">
                      <ahyp:hlinkClr val="tx"/>
                    </a:ext>
                  </a:extLst>
                </a:hlinkClick>
              </a:rPr>
              <a:t>h</a:t>
            </a:r>
            <a:r>
              <a:rPr lang="en" sz="800" u="sng">
                <a:solidFill>
                  <a:schemeClr val="accent5"/>
                </a:solidFill>
                <a:hlinkClick r:id="rId5">
                  <a:extLst>
                    <a:ext uri="{A12FA001-AC4F-418D-AE19-62706E023703}">
                      <ahyp:hlinkClr val="tx"/>
                    </a:ext>
                  </a:extLst>
                </a:hlinkClick>
              </a:rPr>
              <a:t>ttps://leveluprn.com/blogs/psychiatric-mental-health/principles-12-primary-secondary-tertiary-prevention#:~:text=Primary%20prevention%20focuses%20on%20the,occurring%20in%20the%20first%20place</a:t>
            </a:r>
            <a:r>
              <a:rPr lang="en" sz="800">
                <a:solidFill>
                  <a:schemeClr val="dk1"/>
                </a:solidFill>
              </a:rPr>
              <a:t>. </a:t>
            </a:r>
            <a:endParaRPr sz="800">
              <a:solidFill>
                <a:schemeClr val="dk1"/>
              </a:solidFill>
            </a:endParaRPr>
          </a:p>
          <a:p>
            <a:pPr indent="0" lvl="0" marL="0" rtl="0" algn="l">
              <a:spcBef>
                <a:spcPts val="0"/>
              </a:spcBef>
              <a:spcAft>
                <a:spcPts val="0"/>
              </a:spcAft>
              <a:buClr>
                <a:schemeClr val="dk1"/>
              </a:buClr>
              <a:buSzPts val="1100"/>
              <a:buFont typeface="Arial"/>
              <a:buNone/>
            </a:pPr>
            <a:r>
              <a:t/>
            </a:r>
            <a:endParaRPr sz="800"/>
          </a:p>
          <a:p>
            <a:pPr indent="0" lvl="0" marL="0" rtl="0" algn="l">
              <a:spcBef>
                <a:spcPts val="1200"/>
              </a:spcBef>
              <a:spcAft>
                <a:spcPts val="1200"/>
              </a:spcAft>
              <a:buNone/>
            </a:pPr>
            <a:r>
              <a:t/>
            </a:r>
            <a:endParaRPr sz="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1987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4400">
                <a:solidFill>
                  <a:srgbClr val="002060"/>
                </a:solidFill>
                <a:latin typeface="Times New Roman"/>
                <a:ea typeface="Times New Roman"/>
                <a:cs typeface="Times New Roman"/>
                <a:sym typeface="Times New Roman"/>
              </a:rPr>
              <a:t>Treatment </a:t>
            </a:r>
            <a:endParaRPr b="1">
              <a:latin typeface="Times New Roman"/>
              <a:ea typeface="Times New Roman"/>
              <a:cs typeface="Times New Roman"/>
              <a:sym typeface="Times New Roman"/>
            </a:endParaRPr>
          </a:p>
        </p:txBody>
      </p:sp>
      <p:sp>
        <p:nvSpPr>
          <p:cNvPr id="133" name="Google Shape;133;p26"/>
          <p:cNvSpPr txBox="1"/>
          <p:nvPr>
            <p:ph idx="1" type="body"/>
          </p:nvPr>
        </p:nvSpPr>
        <p:spPr>
          <a:xfrm>
            <a:off x="311700" y="1152475"/>
            <a:ext cx="8520600" cy="3924300"/>
          </a:xfrm>
          <a:prstGeom prst="rect">
            <a:avLst/>
          </a:prstGeom>
        </p:spPr>
        <p:txBody>
          <a:bodyPr anchorCtr="0" anchor="t" bIns="91425" lIns="91425" spcFirstLastPara="1" rIns="91425" wrap="square" tIns="91425">
            <a:normAutofit fontScale="70000" lnSpcReduction="20000"/>
          </a:bodyPr>
          <a:lstStyle/>
          <a:p>
            <a:pPr indent="0" lvl="0" marL="0" rtl="0" algn="just">
              <a:lnSpc>
                <a:spcPct val="90000"/>
              </a:lnSpc>
              <a:spcBef>
                <a:spcPts val="1000"/>
              </a:spcBef>
              <a:spcAft>
                <a:spcPts val="0"/>
              </a:spcAft>
              <a:buClr>
                <a:schemeClr val="dk1"/>
              </a:buClr>
              <a:buSzPct val="42307"/>
              <a:buFont typeface="Arial"/>
              <a:buNone/>
            </a:pPr>
            <a:r>
              <a:rPr lang="en" sz="2600">
                <a:solidFill>
                  <a:schemeClr val="dk1"/>
                </a:solidFill>
              </a:rPr>
              <a:t>•</a:t>
            </a:r>
            <a:r>
              <a:rPr lang="en" sz="2636">
                <a:solidFill>
                  <a:schemeClr val="dk1"/>
                </a:solidFill>
                <a:latin typeface="Times New Roman"/>
                <a:ea typeface="Times New Roman"/>
                <a:cs typeface="Times New Roman"/>
                <a:sym typeface="Times New Roman"/>
              </a:rPr>
              <a:t>Psychopharmacology</a:t>
            </a:r>
            <a:endParaRPr sz="2636">
              <a:solidFill>
                <a:schemeClr val="dk1"/>
              </a:solidFill>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41726"/>
              <a:buFont typeface="Arial"/>
              <a:buNone/>
            </a:pPr>
            <a:r>
              <a:rPr lang="en" sz="2636">
                <a:solidFill>
                  <a:schemeClr val="dk1"/>
                </a:solidFill>
                <a:latin typeface="Times New Roman"/>
                <a:ea typeface="Times New Roman"/>
                <a:cs typeface="Times New Roman"/>
                <a:sym typeface="Times New Roman"/>
              </a:rPr>
              <a:t>Medicines provided by psychiatrists</a:t>
            </a:r>
            <a:endParaRPr sz="2636">
              <a:solidFill>
                <a:schemeClr val="dk1"/>
              </a:solidFill>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41726"/>
              <a:buFont typeface="Arial"/>
              <a:buNone/>
            </a:pPr>
            <a:r>
              <a:rPr lang="en" sz="2636">
                <a:solidFill>
                  <a:schemeClr val="dk1"/>
                </a:solidFill>
                <a:latin typeface="Times New Roman"/>
                <a:ea typeface="Times New Roman"/>
                <a:cs typeface="Times New Roman"/>
                <a:sym typeface="Times New Roman"/>
              </a:rPr>
              <a:t>•Counseling</a:t>
            </a:r>
            <a:endParaRPr sz="2636">
              <a:solidFill>
                <a:schemeClr val="dk1"/>
              </a:solidFill>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41726"/>
              <a:buFont typeface="Arial"/>
              <a:buNone/>
            </a:pPr>
            <a:r>
              <a:rPr lang="en" sz="2636">
                <a:solidFill>
                  <a:schemeClr val="dk1"/>
                </a:solidFill>
                <a:latin typeface="Times New Roman"/>
                <a:ea typeface="Times New Roman"/>
                <a:cs typeface="Times New Roman"/>
                <a:sym typeface="Times New Roman"/>
              </a:rPr>
              <a:t>Professional assistance in coping with personal problems, including emotional, behavioral, vocational, marital, educational, rehabilitation, and life-stage problems. (APA)</a:t>
            </a:r>
            <a:endParaRPr sz="2636">
              <a:solidFill>
                <a:schemeClr val="dk1"/>
              </a:solidFill>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41726"/>
              <a:buFont typeface="Arial"/>
              <a:buNone/>
            </a:pPr>
            <a:r>
              <a:rPr lang="en" sz="2636">
                <a:solidFill>
                  <a:schemeClr val="dk1"/>
                </a:solidFill>
                <a:latin typeface="Times New Roman"/>
                <a:ea typeface="Times New Roman"/>
                <a:cs typeface="Times New Roman"/>
                <a:sym typeface="Times New Roman"/>
              </a:rPr>
              <a:t>•Psychotherapy</a:t>
            </a:r>
            <a:endParaRPr sz="2636">
              <a:solidFill>
                <a:schemeClr val="dk1"/>
              </a:solidFill>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41726"/>
              <a:buFont typeface="Arial"/>
              <a:buNone/>
            </a:pPr>
            <a:r>
              <a:rPr lang="en" sz="2636">
                <a:solidFill>
                  <a:schemeClr val="dk1"/>
                </a:solidFill>
                <a:latin typeface="Times New Roman"/>
                <a:ea typeface="Times New Roman"/>
                <a:cs typeface="Times New Roman"/>
                <a:sym typeface="Times New Roman"/>
              </a:rPr>
              <a:t>Psychotherapy is a type of treatment that can help individuals experiencing a wide array of mental health conditions and emotional challenges. Psychotherapy can help not only alleviate symptoms, but also, certain types of psychotherapies can help identify the psychological root causes of one’s condition so a person can function better and have enhanced emotional well-being and healing. (APA)</a:t>
            </a:r>
            <a:endParaRPr sz="2636">
              <a:solidFill>
                <a:schemeClr val="dk1"/>
              </a:solidFill>
              <a:latin typeface="Times New Roman"/>
              <a:ea typeface="Times New Roman"/>
              <a:cs typeface="Times New Roman"/>
              <a:sym typeface="Times New Roman"/>
            </a:endParaRPr>
          </a:p>
          <a:p>
            <a:pPr indent="0" lvl="0" marL="0" rtl="0" algn="just">
              <a:spcBef>
                <a:spcPts val="0"/>
              </a:spcBef>
              <a:spcAft>
                <a:spcPts val="1200"/>
              </a:spcAft>
              <a:buNone/>
            </a:pPr>
            <a:r>
              <a:t/>
            </a:r>
            <a:endParaRPr sz="2636">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400">
                <a:solidFill>
                  <a:srgbClr val="002060"/>
                </a:solidFill>
                <a:latin typeface="Times New Roman"/>
                <a:ea typeface="Times New Roman"/>
                <a:cs typeface="Times New Roman"/>
                <a:sym typeface="Times New Roman"/>
              </a:rPr>
              <a:t>Mental Health Services Available in Bangladesh</a:t>
            </a:r>
            <a:endParaRPr b="1" sz="2400">
              <a:solidFill>
                <a:srgbClr val="002060"/>
              </a:solidFill>
              <a:latin typeface="Times New Roman"/>
              <a:ea typeface="Times New Roman"/>
              <a:cs typeface="Times New Roman"/>
              <a:sym typeface="Times New Roman"/>
            </a:endParaRPr>
          </a:p>
        </p:txBody>
      </p:sp>
      <p:sp>
        <p:nvSpPr>
          <p:cNvPr id="139" name="Google Shape;139;p27"/>
          <p:cNvSpPr txBox="1"/>
          <p:nvPr>
            <p:ph idx="1" type="body"/>
          </p:nvPr>
        </p:nvSpPr>
        <p:spPr>
          <a:xfrm>
            <a:off x="311700" y="1152475"/>
            <a:ext cx="8520600" cy="3866400"/>
          </a:xfrm>
          <a:prstGeom prst="rect">
            <a:avLst/>
          </a:prstGeom>
        </p:spPr>
        <p:txBody>
          <a:bodyPr anchorCtr="0" anchor="t" bIns="91425" lIns="91425" spcFirstLastPara="1" rIns="91425" wrap="square" tIns="91425">
            <a:normAutofit fontScale="55000" lnSpcReduction="10000"/>
          </a:bodyPr>
          <a:lstStyle/>
          <a:p>
            <a:pPr indent="0" lvl="0" marL="0" rtl="0" algn="l">
              <a:lnSpc>
                <a:spcPct val="150000"/>
              </a:lnSpc>
              <a:spcBef>
                <a:spcPts val="1000"/>
              </a:spcBef>
              <a:spcAft>
                <a:spcPts val="0"/>
              </a:spcAft>
              <a:buClr>
                <a:schemeClr val="dk1"/>
              </a:buClr>
              <a:buSzPct val="33314"/>
              <a:buFont typeface="Arial"/>
              <a:buNone/>
            </a:pPr>
            <a:r>
              <a:rPr lang="en" sz="3301">
                <a:solidFill>
                  <a:schemeClr val="dk1"/>
                </a:solidFill>
              </a:rPr>
              <a:t>•</a:t>
            </a:r>
            <a:r>
              <a:rPr lang="en" sz="3301">
                <a:solidFill>
                  <a:schemeClr val="dk1"/>
                </a:solidFill>
                <a:latin typeface="Times New Roman"/>
                <a:ea typeface="Times New Roman"/>
                <a:cs typeface="Times New Roman"/>
                <a:sym typeface="Times New Roman"/>
              </a:rPr>
              <a:t>Counseling and Wellness Centre (BRAC University)</a:t>
            </a:r>
            <a:endParaRPr sz="3301">
              <a:solidFill>
                <a:schemeClr val="dk1"/>
              </a:solidFill>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33314"/>
              <a:buFont typeface="Arial"/>
              <a:buNone/>
            </a:pPr>
            <a:r>
              <a:rPr lang="en" sz="3301">
                <a:solidFill>
                  <a:schemeClr val="dk1"/>
                </a:solidFill>
                <a:latin typeface="Times New Roman"/>
                <a:ea typeface="Times New Roman"/>
                <a:cs typeface="Times New Roman"/>
                <a:sym typeface="Times New Roman"/>
              </a:rPr>
              <a:t>•Counseling service (Educational and Counseling Psychology Department, University of Dhaka)</a:t>
            </a:r>
            <a:endParaRPr sz="3301">
              <a:solidFill>
                <a:schemeClr val="dk1"/>
              </a:solidFill>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33314"/>
              <a:buFont typeface="Arial"/>
              <a:buNone/>
            </a:pPr>
            <a:r>
              <a:rPr lang="en" sz="3301">
                <a:solidFill>
                  <a:schemeClr val="dk1"/>
                </a:solidFill>
                <a:latin typeface="Times New Roman"/>
                <a:ea typeface="Times New Roman"/>
                <a:cs typeface="Times New Roman"/>
                <a:sym typeface="Times New Roman"/>
              </a:rPr>
              <a:t>•Nasirullah Psychotherapy Unit (Clinical Psychology Department, University of Dhaka)</a:t>
            </a:r>
            <a:endParaRPr sz="3301">
              <a:solidFill>
                <a:schemeClr val="dk1"/>
              </a:solidFill>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33314"/>
              <a:buFont typeface="Arial"/>
              <a:buNone/>
            </a:pPr>
            <a:r>
              <a:rPr lang="en" sz="3301">
                <a:solidFill>
                  <a:schemeClr val="dk1"/>
                </a:solidFill>
                <a:latin typeface="Times New Roman"/>
                <a:ea typeface="Times New Roman"/>
                <a:cs typeface="Times New Roman"/>
                <a:sym typeface="Times New Roman"/>
              </a:rPr>
              <a:t>•Psychiatry Unit, Govt Hospital (e.g. BSMMU, Dhaka Medical College and Hospital)</a:t>
            </a:r>
            <a:endParaRPr sz="3301">
              <a:solidFill>
                <a:schemeClr val="dk1"/>
              </a:solidFill>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33314"/>
              <a:buFont typeface="Arial"/>
              <a:buNone/>
            </a:pPr>
            <a:r>
              <a:rPr lang="en" sz="3301">
                <a:solidFill>
                  <a:schemeClr val="dk1"/>
                </a:solidFill>
                <a:latin typeface="Times New Roman"/>
                <a:ea typeface="Times New Roman"/>
                <a:cs typeface="Times New Roman"/>
                <a:sym typeface="Times New Roman"/>
              </a:rPr>
              <a:t>•National Institute of Mental Health</a:t>
            </a:r>
            <a:endParaRPr sz="3301">
              <a:solidFill>
                <a:schemeClr val="dk1"/>
              </a:solidFill>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33314"/>
              <a:buFont typeface="Arial"/>
              <a:buNone/>
            </a:pPr>
            <a:r>
              <a:rPr lang="en" sz="3301">
                <a:solidFill>
                  <a:schemeClr val="dk1"/>
                </a:solidFill>
                <a:latin typeface="Times New Roman"/>
                <a:ea typeface="Times New Roman"/>
                <a:cs typeface="Times New Roman"/>
                <a:sym typeface="Times New Roman"/>
              </a:rPr>
              <a:t>•Different private hospital and organization</a:t>
            </a:r>
            <a:endParaRPr sz="3301">
              <a:solidFill>
                <a:schemeClr val="dk1"/>
              </a:solidFill>
              <a:latin typeface="Times New Roman"/>
              <a:ea typeface="Times New Roman"/>
              <a:cs typeface="Times New Roman"/>
              <a:sym typeface="Times New Roman"/>
            </a:endParaRPr>
          </a:p>
          <a:p>
            <a:pPr indent="0" lvl="0" marL="0" rtl="0" algn="l">
              <a:lnSpc>
                <a:spcPct val="150000"/>
              </a:lnSpc>
              <a:spcBef>
                <a:spcPts val="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4400">
                <a:solidFill>
                  <a:schemeClr val="dk1"/>
                </a:solidFill>
              </a:rPr>
              <a:t>       </a:t>
            </a:r>
            <a:r>
              <a:rPr b="1" lang="en" sz="4400">
                <a:solidFill>
                  <a:srgbClr val="002060"/>
                </a:solidFill>
                <a:latin typeface="Times New Roman"/>
                <a:ea typeface="Times New Roman"/>
                <a:cs typeface="Times New Roman"/>
                <a:sym typeface="Times New Roman"/>
              </a:rPr>
              <a:t>Careers in Psychology </a:t>
            </a:r>
            <a:endParaRPr b="1">
              <a:solidFill>
                <a:srgbClr val="00206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