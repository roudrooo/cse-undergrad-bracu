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Constantia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Constantia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onstanti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onstantia-boldItalic.fntdata"/><Relationship Id="rId30" Type="http://schemas.openxmlformats.org/officeDocument/2006/relationships/font" Target="fonts/Constantia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e9c0766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4e9c0766d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e9c0766d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4e9c0766d1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e9c0766d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4e9c0766d1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e9c0766d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4e9c0766d1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e9c0766d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4e9c0766d1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e9c0766d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e9c0766d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e9c0766d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e9c0766d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e9c0766d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4e9c0766d1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e9c0766d1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e9c0766d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e9c0766d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4e9c0766d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e9c0766d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4e9c0766d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e9c0766d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4e9c0766d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e9c0766d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e9c0766d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4e9c0766d1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4e9c0766d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e9c0766d1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4e9c0766d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e9c0766d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4e9c0766d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e9c0766d1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4e9c0766d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e9c0766d1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4e9c0766d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e9c0766d1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e9c0766d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4e9c0766d1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4e9c0766d1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4e9c0766d1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4e9c0766d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4e9c0766d1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4e9c0766d1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ctrTitle"/>
          </p:nvPr>
        </p:nvSpPr>
        <p:spPr>
          <a:xfrm>
            <a:off x="2832346" y="636150"/>
            <a:ext cx="3479400" cy="9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1" i="0" sz="6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1371600" y="2880360"/>
            <a:ext cx="64008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/>
            </a:lvl1pPr>
            <a:lvl2pPr lvl="1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i="0" sz="9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1492625" y="283000"/>
            <a:ext cx="6858000" cy="1013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onstantia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Stress Management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8550" y="1354975"/>
            <a:ext cx="6321775" cy="355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2316076" y="1869450"/>
            <a:ext cx="7363500" cy="7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have you been?</a:t>
            </a:r>
            <a:endParaRPr i="0" sz="5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1591612" y="1559500"/>
            <a:ext cx="51099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2263145" y="514925"/>
            <a:ext cx="36966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5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onstantia"/>
              <a:buNone/>
            </a:pPr>
            <a:r>
              <a:rPr lang="en" sz="4500">
                <a:latin typeface="Times New Roman"/>
                <a:ea typeface="Times New Roman"/>
                <a:cs typeface="Times New Roman"/>
                <a:sym typeface="Times New Roman"/>
              </a:rPr>
              <a:t>STRESS</a:t>
            </a:r>
            <a:endParaRPr sz="4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1591650" y="1493898"/>
            <a:ext cx="58284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05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7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W</a:t>
            </a:r>
            <a:r>
              <a:rPr lang="en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hat stresses a zebra?</a:t>
            </a:r>
            <a:endParaRPr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9850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(Robert Saplosky, Why Zebras Don’t Get  Ulcers)</a:t>
            </a:r>
            <a:endParaRPr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382509" y="538306"/>
            <a:ext cx="23823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onstantia"/>
              <a:buNone/>
            </a:pPr>
            <a:r>
              <a:rPr lang="en" sz="4500">
                <a:latin typeface="Times New Roman"/>
                <a:ea typeface="Times New Roman"/>
                <a:cs typeface="Times New Roman"/>
                <a:sym typeface="Times New Roman"/>
              </a:rPr>
              <a:t>STRESS</a:t>
            </a:r>
            <a:endParaRPr sz="4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8"/>
          <p:cNvSpPr txBox="1"/>
          <p:nvPr/>
        </p:nvSpPr>
        <p:spPr>
          <a:xfrm>
            <a:off x="1591638" y="1664695"/>
            <a:ext cx="5964000" cy="19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-50800" lvl="0" marL="38100" marR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i="0" lang="e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animals, stress is often acute, physical,  responsive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marR="3429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" lvl="0" marL="38100" marR="0" rtl="0" algn="just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i="0" lang="e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people in industrial society, stress is often  chronic, psychosocial, anticipatory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2191569" y="514925"/>
            <a:ext cx="37776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5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onstantia"/>
              <a:buNone/>
            </a:pPr>
            <a:r>
              <a:rPr lang="en" sz="4500">
                <a:latin typeface="Times New Roman"/>
                <a:ea typeface="Times New Roman"/>
                <a:cs typeface="Times New Roman"/>
                <a:sym typeface="Times New Roman"/>
              </a:rPr>
              <a:t>STRESS</a:t>
            </a:r>
            <a:endParaRPr sz="4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9"/>
          <p:cNvSpPr txBox="1"/>
          <p:nvPr/>
        </p:nvSpPr>
        <p:spPr>
          <a:xfrm>
            <a:off x="1602868" y="1559494"/>
            <a:ext cx="60252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75">
            <a:spAutoFit/>
          </a:bodyPr>
          <a:lstStyle/>
          <a:p>
            <a:pPr indent="0" lvl="0" marL="12700" marR="0" rtl="0" algn="l">
              <a:lnSpc>
                <a:spcPct val="100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psychological and physiological response to  a stimulus (</a:t>
            </a:r>
            <a:r>
              <a:rPr i="1" lang="en" sz="2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stressor) </a:t>
            </a:r>
            <a:r>
              <a:rPr i="0" lang="en" sz="2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alters the body’s  equilibrium</a:t>
            </a:r>
            <a:endParaRPr i="0" sz="2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628650" y="145273"/>
            <a:ext cx="7886700" cy="733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latin typeface="Times New Roman"/>
                <a:ea typeface="Times New Roman"/>
                <a:cs typeface="Times New Roman"/>
                <a:sym typeface="Times New Roman"/>
              </a:rPr>
              <a:t>Is stress always bad?</a:t>
            </a:r>
            <a:endParaRPr sz="4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8900" y="1221275"/>
            <a:ext cx="3404894" cy="368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575" y="51225"/>
            <a:ext cx="6858000" cy="5024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/>
        </p:nvSpPr>
        <p:spPr>
          <a:xfrm>
            <a:off x="5366675" y="4192575"/>
            <a:ext cx="32262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(Weiss, Levine, Sehgman)</a:t>
            </a:r>
            <a:endParaRPr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2"/>
          <p:cNvSpPr txBox="1"/>
          <p:nvPr>
            <p:ph type="title"/>
          </p:nvPr>
        </p:nvSpPr>
        <p:spPr>
          <a:xfrm>
            <a:off x="994725" y="360325"/>
            <a:ext cx="75048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550">
            <a:spAutoFit/>
          </a:bodyPr>
          <a:lstStyle/>
          <a:p>
            <a:pPr indent="-139700" lvl="0" marL="152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</a:pPr>
            <a:r>
              <a:rPr b="1" lang="en" sz="2500">
                <a:latin typeface="Times New Roman"/>
                <a:ea typeface="Times New Roman"/>
                <a:cs typeface="Times New Roman"/>
                <a:sym typeface="Times New Roman"/>
              </a:rPr>
              <a:t>Psychological Modifiers of the Stress Response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22"/>
          <p:cNvSpPr txBox="1"/>
          <p:nvPr/>
        </p:nvSpPr>
        <p:spPr>
          <a:xfrm>
            <a:off x="819399" y="1462700"/>
            <a:ext cx="7387800" cy="1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075">
            <a:spAutoFit/>
          </a:bodyPr>
          <a:lstStyle/>
          <a:p>
            <a:pPr indent="-279400" lvl="0" marL="2413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1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Outlets for frustration 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(How am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releasing the stress)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2286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1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Sense of predictability and of control</a:t>
            </a:r>
            <a:endParaRPr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2286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1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perception of life improving</a:t>
            </a:r>
            <a:endParaRPr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2286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1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support</a:t>
            </a:r>
            <a:endParaRPr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0700" y="58113"/>
            <a:ext cx="6703024" cy="502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6950" y="107975"/>
            <a:ext cx="6545824" cy="49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0238" y="125425"/>
            <a:ext cx="6523526" cy="489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025" y="0"/>
            <a:ext cx="6720975" cy="5040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4824" y="57238"/>
            <a:ext cx="6705377" cy="50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7150" y="76200"/>
            <a:ext cx="6654799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Signs of PTSD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Intrusive memories</a:t>
            </a:r>
            <a:endParaRPr b="1" sz="1900"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Symptoms of intrusive memories may include:</a:t>
            </a:r>
            <a:endParaRPr sz="1900"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8001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80808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Unwanted, distressing memories of a traumatic event that come back over and over again.</a:t>
            </a:r>
            <a:endParaRPr sz="1900"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Reliving a traumatic event as if it were happening again, also known as flashbacks.</a:t>
            </a:r>
            <a:endParaRPr sz="1900"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Upsetting dreams or nightmares about a traumatic event.</a:t>
            </a:r>
            <a:endParaRPr sz="1900"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Severe emotional distress or physical reactions to something that reminds you of a traumatic event.</a:t>
            </a:r>
            <a:endParaRPr sz="1900"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Signs of PTSD</a:t>
            </a:r>
            <a:endParaRPr/>
          </a:p>
        </p:txBody>
      </p:sp>
      <p:sp>
        <p:nvSpPr>
          <p:cNvPr id="151" name="Google Shape;151;p3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Avoidance</a:t>
            </a:r>
            <a:endParaRPr b="1" sz="2400"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Symptoms of avoidance may include:</a:t>
            </a:r>
            <a:endParaRPr sz="2200"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8001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80808"/>
              </a:buClr>
              <a:buSzPts val="2300"/>
              <a:buFont typeface="Times New Roman"/>
              <a:buChar char="●"/>
            </a:pPr>
            <a:r>
              <a:rPr lang="en" sz="2300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Trying not to think or talk about a traumatic event.</a:t>
            </a:r>
            <a:endParaRPr sz="2300"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2300"/>
              <a:buFont typeface="Times New Roman"/>
              <a:buChar char="●"/>
            </a:pPr>
            <a:r>
              <a:rPr lang="en" sz="2300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Staying away from places, activities or people that remind you of a traumatic event.</a:t>
            </a:r>
            <a:endParaRPr sz="2300"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1"/>
          <p:cNvSpPr txBox="1"/>
          <p:nvPr>
            <p:ph type="title"/>
          </p:nvPr>
        </p:nvSpPr>
        <p:spPr>
          <a:xfrm>
            <a:off x="628650" y="71998"/>
            <a:ext cx="7886700" cy="748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Signs of PTSD</a:t>
            </a:r>
            <a:endParaRPr/>
          </a:p>
        </p:txBody>
      </p:sp>
      <p:sp>
        <p:nvSpPr>
          <p:cNvPr id="157" name="Google Shape;157;p31"/>
          <p:cNvSpPr txBox="1"/>
          <p:nvPr>
            <p:ph idx="1" type="body"/>
          </p:nvPr>
        </p:nvSpPr>
        <p:spPr>
          <a:xfrm>
            <a:off x="628650" y="1066201"/>
            <a:ext cx="7886700" cy="356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Negative changes in thinking and mood</a:t>
            </a:r>
            <a:endParaRPr b="1" sz="1900"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Symptoms of negative changes in thinking and mood may include:</a:t>
            </a:r>
            <a:endParaRPr sz="1700"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8001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80808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Negative thoughts about yourself, other people or the world.</a:t>
            </a:r>
            <a:endParaRPr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Ongoing negative emotions of fear, blame, guilt, anger or shame.</a:t>
            </a:r>
            <a:endParaRPr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Memory problems, including not remembering important aspects of a traumatic event.</a:t>
            </a:r>
            <a:endParaRPr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Feeling detached from family and friends.</a:t>
            </a:r>
            <a:endParaRPr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Not being interested in activities you once enjoyed.</a:t>
            </a:r>
            <a:endParaRPr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Having a hard time feeling positive emotions.</a:t>
            </a:r>
            <a:endParaRPr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Feeling emotionally numb.</a:t>
            </a:r>
            <a:endParaRPr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2"/>
          <p:cNvSpPr txBox="1"/>
          <p:nvPr>
            <p:ph type="title"/>
          </p:nvPr>
        </p:nvSpPr>
        <p:spPr>
          <a:xfrm>
            <a:off x="628650" y="273846"/>
            <a:ext cx="7886700" cy="39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Signs of PTSD</a:t>
            </a:r>
            <a:endParaRPr/>
          </a:p>
        </p:txBody>
      </p:sp>
      <p:sp>
        <p:nvSpPr>
          <p:cNvPr id="163" name="Google Shape;163;p32"/>
          <p:cNvSpPr txBox="1"/>
          <p:nvPr>
            <p:ph idx="1" type="body"/>
          </p:nvPr>
        </p:nvSpPr>
        <p:spPr>
          <a:xfrm>
            <a:off x="628650" y="820700"/>
            <a:ext cx="8408700" cy="4185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120"/>
              <a:buFont typeface="Arial"/>
              <a:buNone/>
            </a:pPr>
            <a:r>
              <a:rPr b="1" lang="en" sz="1925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Changes in physical and emotional reactions</a:t>
            </a:r>
            <a:endParaRPr b="1" sz="1925"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57120"/>
              <a:buFont typeface="Arial"/>
              <a:buNone/>
            </a:pPr>
            <a:r>
              <a:rPr lang="en" sz="1925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Symptoms of changes in physical and emotional reactions, also called arousal symptoms, may include:</a:t>
            </a:r>
            <a:endParaRPr sz="1925"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542" lvl="0" marL="8001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80808"/>
              </a:buClr>
              <a:buSzPct val="100000"/>
              <a:buFont typeface="Times New Roman"/>
              <a:buChar char="●"/>
            </a:pPr>
            <a:r>
              <a:rPr lang="en" sz="1925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Being easily startled or frightened.</a:t>
            </a:r>
            <a:endParaRPr sz="1925"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542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ct val="100000"/>
              <a:buFont typeface="Times New Roman"/>
              <a:buChar char="●"/>
            </a:pPr>
            <a:r>
              <a:rPr lang="en" sz="1925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Always being on guard for danger.</a:t>
            </a:r>
            <a:endParaRPr sz="1925"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542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ct val="100000"/>
              <a:buFont typeface="Times New Roman"/>
              <a:buChar char="●"/>
            </a:pPr>
            <a:r>
              <a:rPr lang="en" sz="1925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Self-destructive behavior, such as drinking too much or driving too fast.</a:t>
            </a:r>
            <a:endParaRPr sz="1925"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542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ct val="100000"/>
              <a:buFont typeface="Times New Roman"/>
              <a:buChar char="●"/>
            </a:pPr>
            <a:r>
              <a:rPr lang="en" sz="1925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Trouble sleeping.</a:t>
            </a:r>
            <a:endParaRPr sz="1925"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542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ct val="100000"/>
              <a:buFont typeface="Times New Roman"/>
              <a:buChar char="●"/>
            </a:pPr>
            <a:r>
              <a:rPr lang="en" sz="1925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Trouble concentrating.</a:t>
            </a:r>
            <a:endParaRPr sz="1925"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542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ct val="100000"/>
              <a:buFont typeface="Times New Roman"/>
              <a:buChar char="●"/>
            </a:pPr>
            <a:r>
              <a:rPr lang="en" sz="1925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Irritability, angry outbursts or aggressive behavior.</a:t>
            </a:r>
            <a:endParaRPr sz="1925"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542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ct val="100000"/>
              <a:buFont typeface="Times New Roman"/>
              <a:buChar char="●"/>
            </a:pPr>
            <a:r>
              <a:rPr lang="en" sz="1925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Physical reactions, such as sweating, rapid breathing, fast heartbeat or shaking.</a:t>
            </a:r>
            <a:endParaRPr sz="1925"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57120"/>
              <a:buFont typeface="Arial"/>
              <a:buNone/>
            </a:pPr>
            <a:r>
              <a:rPr lang="en" sz="1925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For children 6 years old and younger, symptoms also may include:</a:t>
            </a:r>
            <a:endParaRPr sz="1925"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542" lvl="0" marL="8001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80808"/>
              </a:buClr>
              <a:buSzPct val="100000"/>
              <a:buFont typeface="Times New Roman"/>
              <a:buChar char="●"/>
            </a:pPr>
            <a:r>
              <a:rPr lang="en" sz="1925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Reenacting a traumatic event or aspects of a traumatic event through play.</a:t>
            </a:r>
            <a:endParaRPr sz="1925"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542" lvl="0" marL="800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ct val="100000"/>
              <a:buFont typeface="Times New Roman"/>
              <a:buChar char="●"/>
            </a:pPr>
            <a:r>
              <a:rPr lang="en" sz="1925">
                <a:solidFill>
                  <a:srgbClr val="08080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Frightening dreams that may or may not include aspects of a traumatic event.</a:t>
            </a:r>
            <a:endParaRPr sz="1925">
              <a:solidFill>
                <a:srgbClr val="08080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rPr b="1" lang="en" sz="4250">
                <a:solidFill>
                  <a:srgbClr val="3666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Let’s identify inner resources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latin typeface="Times New Roman"/>
                <a:ea typeface="Times New Roman"/>
                <a:cs typeface="Times New Roman"/>
                <a:sym typeface="Times New Roman"/>
              </a:rPr>
              <a:t>Myths about Self Care</a:t>
            </a:r>
            <a:endParaRPr b="1" sz="3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34"/>
          <p:cNvSpPr txBox="1"/>
          <p:nvPr>
            <p:ph idx="1" type="body"/>
          </p:nvPr>
        </p:nvSpPr>
        <p:spPr>
          <a:xfrm>
            <a:off x="628650" y="1369225"/>
            <a:ext cx="7886700" cy="348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1.Self-care is being selfish</a:t>
            </a:r>
            <a:endParaRPr sz="3200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2: The effects of self-care are temporary</a:t>
            </a:r>
            <a:endParaRPr sz="3200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3: Self-care is just for women</a:t>
            </a:r>
            <a:endParaRPr sz="3200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4: Self-care takes too much time</a:t>
            </a:r>
            <a:endParaRPr sz="3200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5:  Self-care is doing anything that soothes you</a:t>
            </a:r>
            <a:endParaRPr sz="3200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6:  Self-care is the same for everyone</a:t>
            </a:r>
            <a:endParaRPr sz="3200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5"/>
          <p:cNvSpPr txBox="1"/>
          <p:nvPr>
            <p:ph type="title"/>
          </p:nvPr>
        </p:nvSpPr>
        <p:spPr>
          <a:xfrm>
            <a:off x="628650" y="147498"/>
            <a:ext cx="7886700" cy="69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Times New Roman"/>
                <a:ea typeface="Times New Roman"/>
                <a:cs typeface="Times New Roman"/>
                <a:sym typeface="Times New Roman"/>
              </a:rPr>
              <a:t>Self care for PTSD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35"/>
          <p:cNvSpPr txBox="1"/>
          <p:nvPr>
            <p:ph idx="1" type="body"/>
          </p:nvPr>
        </p:nvSpPr>
        <p:spPr>
          <a:xfrm>
            <a:off x="628650" y="842300"/>
            <a:ext cx="7886700" cy="423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Appreciate yourself  and others</a:t>
            </a:r>
            <a:endParaRPr sz="2100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yoga, meditation, and physical Exercise</a:t>
            </a:r>
            <a:endParaRPr sz="2100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 some exclusive “ME” time</a:t>
            </a:r>
            <a:endParaRPr sz="2100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boundaries</a:t>
            </a:r>
            <a:endParaRPr sz="2100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Share responsibility</a:t>
            </a:r>
            <a:endParaRPr sz="2100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 responsibility of your own acts</a:t>
            </a:r>
            <a:endParaRPr sz="2100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something that inspires you and teaches you something new</a:t>
            </a:r>
            <a:endParaRPr sz="2100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Look in the mirror and compliment yourself</a:t>
            </a:r>
            <a:endParaRPr sz="2100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 on what you’re grateful for and appreciate often</a:t>
            </a:r>
            <a:endParaRPr sz="2100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/>
          <p:nvPr>
            <p:ph type="title"/>
          </p:nvPr>
        </p:nvSpPr>
        <p:spPr>
          <a:xfrm>
            <a:off x="628650" y="285097"/>
            <a:ext cx="7886700" cy="460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>
                <a:latin typeface="Times New Roman"/>
                <a:ea typeface="Times New Roman"/>
                <a:cs typeface="Times New Roman"/>
                <a:sym typeface="Times New Roman"/>
              </a:rPr>
              <a:t>Self care for PTSD</a:t>
            </a:r>
            <a:endParaRPr/>
          </a:p>
        </p:txBody>
      </p:sp>
      <p:sp>
        <p:nvSpPr>
          <p:cNvPr id="187" name="Google Shape;187;p36"/>
          <p:cNvSpPr txBox="1"/>
          <p:nvPr>
            <p:ph idx="1" type="body"/>
          </p:nvPr>
        </p:nvSpPr>
        <p:spPr>
          <a:xfrm>
            <a:off x="628650" y="1031125"/>
            <a:ext cx="7886700" cy="3799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 how to say no</a:t>
            </a:r>
            <a:endParaRPr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Forgive self and others</a:t>
            </a:r>
            <a:endParaRPr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journal</a:t>
            </a:r>
            <a:endParaRPr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and use the strengths</a:t>
            </a:r>
            <a:endParaRPr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 social relationship</a:t>
            </a:r>
            <a:endParaRPr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 professional support (individual/group counseling, workshop/training) when needed</a:t>
            </a:r>
            <a:endParaRPr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Believe in YOURSELF!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