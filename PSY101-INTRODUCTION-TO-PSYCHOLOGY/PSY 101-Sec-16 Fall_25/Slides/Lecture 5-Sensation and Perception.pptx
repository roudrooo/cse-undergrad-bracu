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Constantia"/>
      <p:regular r:id="rId33"/>
      <p:bold r:id="rId34"/>
      <p:italic r:id="rId35"/>
      <p:boldItalic r:id="rId36"/>
    </p:embeddedFont>
    <p:embeddedFont>
      <p:font typeface="Bell M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ellMT-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onstantia-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onstantia-italic.fntdata"/><Relationship Id="rId12" Type="http://schemas.openxmlformats.org/officeDocument/2006/relationships/slide" Target="slides/slide7.xml"/><Relationship Id="rId34" Type="http://schemas.openxmlformats.org/officeDocument/2006/relationships/font" Target="fonts/Constantia-bold.fntdata"/><Relationship Id="rId15" Type="http://schemas.openxmlformats.org/officeDocument/2006/relationships/slide" Target="slides/slide10.xml"/><Relationship Id="rId37" Type="http://schemas.openxmlformats.org/officeDocument/2006/relationships/font" Target="fonts/BellMT-regular.fntdata"/><Relationship Id="rId14" Type="http://schemas.openxmlformats.org/officeDocument/2006/relationships/slide" Target="slides/slide9.xml"/><Relationship Id="rId36" Type="http://schemas.openxmlformats.org/officeDocument/2006/relationships/font" Target="fonts/Constantia-boldItalic.fntdata"/><Relationship Id="rId17" Type="http://schemas.openxmlformats.org/officeDocument/2006/relationships/slide" Target="slides/slide12.xml"/><Relationship Id="rId39" Type="http://schemas.openxmlformats.org/officeDocument/2006/relationships/font" Target="fonts/BellMT-italic.fntdata"/><Relationship Id="rId16" Type="http://schemas.openxmlformats.org/officeDocument/2006/relationships/slide" Target="slides/slide11.xml"/><Relationship Id="rId38" Type="http://schemas.openxmlformats.org/officeDocument/2006/relationships/font" Target="fonts/BellM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3b8aeacb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g33b8aeacb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3b8aeacbe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g33b8aeacbe0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g33b8aeacbe0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b8aeacbe0_0_12:notes"/>
          <p:cNvSpPr txBox="1"/>
          <p:nvPr>
            <p:ph idx="1" type="body"/>
          </p:nvPr>
        </p:nvSpPr>
        <p:spPr>
          <a:xfrm>
            <a:off x="701025" y="4415775"/>
            <a:ext cx="5608200" cy="4183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6" name="Google Shape;76;g33b8aeacbe0_0_12:notes"/>
          <p:cNvSpPr/>
          <p:nvPr>
            <p:ph idx="2" type="sldImg"/>
          </p:nvPr>
        </p:nvSpPr>
        <p:spPr>
          <a:xfrm>
            <a:off x="406400" y="696913"/>
            <a:ext cx="61977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b8aeacbe0_0_17:notes"/>
          <p:cNvSpPr txBox="1"/>
          <p:nvPr>
            <p:ph idx="1" type="body"/>
          </p:nvPr>
        </p:nvSpPr>
        <p:spPr>
          <a:xfrm>
            <a:off x="701025" y="4415775"/>
            <a:ext cx="5608200" cy="4183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82" name="Google Shape;82;g33b8aeacbe0_0_17:notes"/>
          <p:cNvSpPr/>
          <p:nvPr>
            <p:ph idx="2" type="sldImg"/>
          </p:nvPr>
        </p:nvSpPr>
        <p:spPr>
          <a:xfrm>
            <a:off x="406400" y="696913"/>
            <a:ext cx="61977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3b8aeacbe0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3b8aeacbe0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b8aeacbe0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33b8aeacbe0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3b8aeacbe0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g33b8aeacbe0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3b8aeacbe0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33b8aeacbe0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3b8aeacbe0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3b8aeacbe0_0_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3b8aeacbe0_0_4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3b8aeacbe0_0_5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g33b8aeacbe0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3b8aeacbe0_0_5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3b8aeacbe0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b8aeacbe0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b8aeacbe0_0_6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3b8aeacbe0_0_6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3b8aeacbe0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3b8aeacbe0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3b8aeacbe0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b8aeacbe0_0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3b8aeacbe0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3b8aeacbe0_0_7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3b8aeacbe0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3b8aeacbe0_0_8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3b8aeacbe0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3b8aeacbe0_0_8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3b8aeacbe0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3b8aeacbe0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3b8aeacbe0_0_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
                <a:latin typeface="Bell MT"/>
                <a:ea typeface="Bell MT"/>
                <a:cs typeface="Bell MT"/>
                <a:sym typeface="Bell MT"/>
              </a:rPr>
              <a:t>RETINA: </a:t>
            </a:r>
            <a:r>
              <a:rPr lang="en">
                <a:latin typeface="Bell MT"/>
                <a:ea typeface="Bell MT"/>
                <a:cs typeface="Bell MT"/>
                <a:sym typeface="Bell MT"/>
              </a:rPr>
              <a:t> the light - sensitive inner surface of the eye, containing the receptor rods and cones plus layers of neurons that begin the processing of visual information.</a:t>
            </a:r>
            <a:endParaRPr>
              <a:latin typeface="Bell MT"/>
              <a:ea typeface="Bell MT"/>
              <a:cs typeface="Bell MT"/>
              <a:sym typeface="Bell MT"/>
            </a:endParaRPr>
          </a:p>
          <a:p>
            <a:pPr indent="0" lvl="0" marL="0" rtl="0" algn="l">
              <a:lnSpc>
                <a:spcPct val="100000"/>
              </a:lnSpc>
              <a:spcBef>
                <a:spcPts val="0"/>
              </a:spcBef>
              <a:spcAft>
                <a:spcPts val="0"/>
              </a:spcAft>
              <a:buSzPts val="1400"/>
              <a:buNone/>
            </a:pPr>
            <a:r>
              <a:t/>
            </a:r>
            <a:endParaRPr>
              <a:latin typeface="Bell MT"/>
              <a:ea typeface="Bell MT"/>
              <a:cs typeface="Bell MT"/>
              <a:sym typeface="Bell MT"/>
            </a:endParaRPr>
          </a:p>
          <a:p>
            <a:pPr indent="0" lvl="0" marL="0" rtl="0" algn="l">
              <a:lnSpc>
                <a:spcPct val="100000"/>
              </a:lnSpc>
              <a:spcBef>
                <a:spcPts val="0"/>
              </a:spcBef>
              <a:spcAft>
                <a:spcPts val="0"/>
              </a:spcAft>
              <a:buSzPts val="1400"/>
              <a:buNone/>
            </a:pPr>
            <a:r>
              <a:rPr b="1" lang="en">
                <a:latin typeface="Bell MT"/>
                <a:ea typeface="Bell MT"/>
                <a:cs typeface="Bell MT"/>
                <a:sym typeface="Bell MT"/>
              </a:rPr>
              <a:t>RODS:</a:t>
            </a:r>
            <a:r>
              <a:rPr lang="en">
                <a:latin typeface="Bell MT"/>
                <a:ea typeface="Bell MT"/>
                <a:cs typeface="Bell MT"/>
                <a:sym typeface="Bell MT"/>
              </a:rPr>
              <a:t> retinal receptors that detect black, white, and gray; necessary for peripheral and twilight vision, when cones don’t respond</a:t>
            </a:r>
            <a:endParaRPr>
              <a:latin typeface="Bell MT"/>
              <a:ea typeface="Bell MT"/>
              <a:cs typeface="Bell MT"/>
              <a:sym typeface="Bell MT"/>
            </a:endParaRPr>
          </a:p>
          <a:p>
            <a:pPr indent="0" lvl="0" marL="0" rtl="0" algn="l">
              <a:lnSpc>
                <a:spcPct val="100000"/>
              </a:lnSpc>
              <a:spcBef>
                <a:spcPts val="0"/>
              </a:spcBef>
              <a:spcAft>
                <a:spcPts val="0"/>
              </a:spcAft>
              <a:buSzPts val="1400"/>
              <a:buNone/>
            </a:pPr>
            <a:r>
              <a:t/>
            </a:r>
            <a:endParaRPr>
              <a:latin typeface="Bell MT"/>
              <a:ea typeface="Bell MT"/>
              <a:cs typeface="Bell MT"/>
              <a:sym typeface="Bell MT"/>
            </a:endParaRPr>
          </a:p>
          <a:p>
            <a:pPr indent="0" lvl="0" marL="0" rtl="0" algn="l">
              <a:lnSpc>
                <a:spcPct val="100000"/>
              </a:lnSpc>
              <a:spcBef>
                <a:spcPts val="0"/>
              </a:spcBef>
              <a:spcAft>
                <a:spcPts val="0"/>
              </a:spcAft>
              <a:buSzPts val="1400"/>
              <a:buNone/>
            </a:pPr>
            <a:r>
              <a:rPr b="1" lang="en">
                <a:latin typeface="Bell MT"/>
                <a:ea typeface="Bell MT"/>
                <a:cs typeface="Bell MT"/>
                <a:sym typeface="Bell MT"/>
              </a:rPr>
              <a:t>CONES: </a:t>
            </a:r>
            <a:r>
              <a:rPr lang="en">
                <a:latin typeface="Bell MT"/>
                <a:ea typeface="Bell MT"/>
                <a:cs typeface="Bell MT"/>
                <a:sym typeface="Bell MT"/>
              </a:rPr>
              <a:t> retinal receptor cells that are concentrated near the center of the retina and that function in daylight or in well - lit conditions. The cones detect fine detail and give rise to color sensations.</a:t>
            </a:r>
            <a:endParaRPr>
              <a:latin typeface="Bell MT"/>
              <a:ea typeface="Bell MT"/>
              <a:cs typeface="Bell MT"/>
              <a:sym typeface="Bell MT"/>
            </a:endParaRPr>
          </a:p>
        </p:txBody>
      </p:sp>
      <p:sp>
        <p:nvSpPr>
          <p:cNvPr id="171" name="Google Shape;171;g33b8aeacbe0_0_1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3b8aeacbe0_0_14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3b8aeacbe0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b8aeacbe0_0_15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3b8aeacbe0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3b8aeacbe0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3b8aeacbe0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3b8aeacbe0_0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3b8aeacbe0_0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g33b8aeacbe0_0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g33b8aeacbe0_0_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3b8aeacbe0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3b8aeacbe0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g33b8aeacbe0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3b8aeacbe0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3b8aeacbe0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33b8aeacbe0_0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3b8aeacbe0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3b8aeacbe0_0_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17" name="Google Shape;217;g33b8aeacbe0_0_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3b8aeacbe0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33b8aeacbe0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33b8aeacbe0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3b8aeacbe0_0_19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3b8aeacbe0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56" name="Shape 56"/>
        <p:cNvGrpSpPr/>
        <p:nvPr/>
      </p:nvGrpSpPr>
      <p:grpSpPr>
        <a:xfrm>
          <a:off x="0" y="0"/>
          <a:ext cx="0" cy="0"/>
          <a:chOff x="0" y="0"/>
          <a:chExt cx="0" cy="0"/>
        </a:xfrm>
      </p:grpSpPr>
      <p:sp>
        <p:nvSpPr>
          <p:cNvPr id="57" name="Google Shape;57;p14"/>
          <p:cNvSpPr txBox="1"/>
          <p:nvPr>
            <p:ph idx="11" type="ftr"/>
          </p:nvPr>
        </p:nvSpPr>
        <p:spPr>
          <a:xfrm>
            <a:off x="3028950" y="4767263"/>
            <a:ext cx="3086100" cy="2739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100"/>
              <a:buChar char="●"/>
              <a:defRPr sz="1100">
                <a:solidFill>
                  <a:srgbClr val="888888"/>
                </a:solidFill>
              </a:defRPr>
            </a:lvl1pPr>
            <a:lvl2pPr lvl="1" algn="l">
              <a:lnSpc>
                <a:spcPct val="100000"/>
              </a:lnSpc>
              <a:spcBef>
                <a:spcPts val="0"/>
              </a:spcBef>
              <a:spcAft>
                <a:spcPts val="0"/>
              </a:spcAft>
              <a:buSzPts val="1100"/>
              <a:buChar char="○"/>
              <a:defRPr sz="1100"/>
            </a:lvl2pPr>
            <a:lvl3pPr lvl="2" algn="l">
              <a:lnSpc>
                <a:spcPct val="100000"/>
              </a:lnSpc>
              <a:spcBef>
                <a:spcPts val="0"/>
              </a:spcBef>
              <a:spcAft>
                <a:spcPts val="0"/>
              </a:spcAft>
              <a:buSzPts val="1100"/>
              <a:buChar char="■"/>
              <a:defRPr sz="1100"/>
            </a:lvl3pPr>
            <a:lvl4pPr lvl="3" algn="l">
              <a:lnSpc>
                <a:spcPct val="100000"/>
              </a:lnSpc>
              <a:spcBef>
                <a:spcPts val="0"/>
              </a:spcBef>
              <a:spcAft>
                <a:spcPts val="0"/>
              </a:spcAft>
              <a:buSzPts val="1100"/>
              <a:buChar char="●"/>
              <a:defRPr sz="1100"/>
            </a:lvl4pPr>
            <a:lvl5pPr lvl="4" algn="l">
              <a:lnSpc>
                <a:spcPct val="100000"/>
              </a:lnSpc>
              <a:spcBef>
                <a:spcPts val="0"/>
              </a:spcBef>
              <a:spcAft>
                <a:spcPts val="0"/>
              </a:spcAft>
              <a:buSzPts val="1100"/>
              <a:buChar char="○"/>
              <a:defRPr sz="1100"/>
            </a:lvl5pPr>
            <a:lvl6pPr lvl="5" algn="l">
              <a:lnSpc>
                <a:spcPct val="100000"/>
              </a:lnSpc>
              <a:spcBef>
                <a:spcPts val="0"/>
              </a:spcBef>
              <a:spcAft>
                <a:spcPts val="0"/>
              </a:spcAft>
              <a:buSzPts val="1100"/>
              <a:buChar char="■"/>
              <a:defRPr sz="1100"/>
            </a:lvl6pPr>
            <a:lvl7pPr lvl="6" algn="l">
              <a:lnSpc>
                <a:spcPct val="100000"/>
              </a:lnSpc>
              <a:spcBef>
                <a:spcPts val="0"/>
              </a:spcBef>
              <a:spcAft>
                <a:spcPts val="0"/>
              </a:spcAft>
              <a:buSzPts val="1100"/>
              <a:buChar char="●"/>
              <a:defRPr sz="1100"/>
            </a:lvl7pPr>
            <a:lvl8pPr lvl="7" algn="l">
              <a:lnSpc>
                <a:spcPct val="100000"/>
              </a:lnSpc>
              <a:spcBef>
                <a:spcPts val="0"/>
              </a:spcBef>
              <a:spcAft>
                <a:spcPts val="0"/>
              </a:spcAft>
              <a:buSzPts val="1100"/>
              <a:buChar char="○"/>
              <a:defRPr sz="1100"/>
            </a:lvl8pPr>
            <a:lvl9pPr lvl="8" algn="l">
              <a:lnSpc>
                <a:spcPct val="100000"/>
              </a:lnSpc>
              <a:spcBef>
                <a:spcPts val="0"/>
              </a:spcBef>
              <a:spcAft>
                <a:spcPts val="0"/>
              </a:spcAft>
              <a:buSzPts val="1100"/>
              <a:buChar char="■"/>
              <a:defRPr sz="1100"/>
            </a:lvl9pPr>
          </a:lstStyle>
          <a:p/>
        </p:txBody>
      </p:sp>
      <p:sp>
        <p:nvSpPr>
          <p:cNvPr id="58" name="Google Shape;58;p14"/>
          <p:cNvSpPr txBox="1"/>
          <p:nvPr>
            <p:ph idx="10" type="dt"/>
          </p:nvPr>
        </p:nvSpPr>
        <p:spPr>
          <a:xfrm>
            <a:off x="628650" y="4767263"/>
            <a:ext cx="2057400" cy="27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Char char="●"/>
              <a:defRPr sz="1100">
                <a:solidFill>
                  <a:srgbClr val="888888"/>
                </a:solidFill>
              </a:defRPr>
            </a:lvl1pPr>
            <a:lvl2pPr lvl="1" algn="l">
              <a:lnSpc>
                <a:spcPct val="100000"/>
              </a:lnSpc>
              <a:spcBef>
                <a:spcPts val="0"/>
              </a:spcBef>
              <a:spcAft>
                <a:spcPts val="0"/>
              </a:spcAft>
              <a:buSzPts val="1100"/>
              <a:buChar char="○"/>
              <a:defRPr sz="1100"/>
            </a:lvl2pPr>
            <a:lvl3pPr lvl="2" algn="l">
              <a:lnSpc>
                <a:spcPct val="100000"/>
              </a:lnSpc>
              <a:spcBef>
                <a:spcPts val="0"/>
              </a:spcBef>
              <a:spcAft>
                <a:spcPts val="0"/>
              </a:spcAft>
              <a:buSzPts val="1100"/>
              <a:buChar char="■"/>
              <a:defRPr sz="1100"/>
            </a:lvl3pPr>
            <a:lvl4pPr lvl="3" algn="l">
              <a:lnSpc>
                <a:spcPct val="100000"/>
              </a:lnSpc>
              <a:spcBef>
                <a:spcPts val="0"/>
              </a:spcBef>
              <a:spcAft>
                <a:spcPts val="0"/>
              </a:spcAft>
              <a:buSzPts val="1100"/>
              <a:buChar char="●"/>
              <a:defRPr sz="1100"/>
            </a:lvl4pPr>
            <a:lvl5pPr lvl="4" algn="l">
              <a:lnSpc>
                <a:spcPct val="100000"/>
              </a:lnSpc>
              <a:spcBef>
                <a:spcPts val="0"/>
              </a:spcBef>
              <a:spcAft>
                <a:spcPts val="0"/>
              </a:spcAft>
              <a:buSzPts val="1100"/>
              <a:buChar char="○"/>
              <a:defRPr sz="1100"/>
            </a:lvl5pPr>
            <a:lvl6pPr lvl="5" algn="l">
              <a:lnSpc>
                <a:spcPct val="100000"/>
              </a:lnSpc>
              <a:spcBef>
                <a:spcPts val="0"/>
              </a:spcBef>
              <a:spcAft>
                <a:spcPts val="0"/>
              </a:spcAft>
              <a:buSzPts val="1100"/>
              <a:buChar char="■"/>
              <a:defRPr sz="1100"/>
            </a:lvl6pPr>
            <a:lvl7pPr lvl="6" algn="l">
              <a:lnSpc>
                <a:spcPct val="100000"/>
              </a:lnSpc>
              <a:spcBef>
                <a:spcPts val="0"/>
              </a:spcBef>
              <a:spcAft>
                <a:spcPts val="0"/>
              </a:spcAft>
              <a:buSzPts val="1100"/>
              <a:buChar char="●"/>
              <a:defRPr sz="1100"/>
            </a:lvl7pPr>
            <a:lvl8pPr lvl="7" algn="l">
              <a:lnSpc>
                <a:spcPct val="100000"/>
              </a:lnSpc>
              <a:spcBef>
                <a:spcPts val="0"/>
              </a:spcBef>
              <a:spcAft>
                <a:spcPts val="0"/>
              </a:spcAft>
              <a:buSzPts val="1100"/>
              <a:buChar char="○"/>
              <a:defRPr sz="1100"/>
            </a:lvl8pPr>
            <a:lvl9pPr lvl="8" algn="l">
              <a:lnSpc>
                <a:spcPct val="100000"/>
              </a:lnSpc>
              <a:spcBef>
                <a:spcPts val="0"/>
              </a:spcBef>
              <a:spcAft>
                <a:spcPts val="0"/>
              </a:spcAft>
              <a:buSzPts val="1100"/>
              <a:buChar char="■"/>
              <a:defRPr sz="1100"/>
            </a:lvl9pPr>
          </a:lstStyle>
          <a:p/>
        </p:txBody>
      </p:sp>
      <p:sp>
        <p:nvSpPr>
          <p:cNvPr id="59" name="Google Shape;59;p14"/>
          <p:cNvSpPr txBox="1"/>
          <p:nvPr>
            <p:ph idx="12" type="sldNum"/>
          </p:nvPr>
        </p:nvSpPr>
        <p:spPr>
          <a:xfrm>
            <a:off x="6457950" y="4767263"/>
            <a:ext cx="2057400" cy="273900"/>
          </a:xfrm>
          <a:prstGeom prst="rect">
            <a:avLst/>
          </a:prstGeom>
          <a:noFill/>
          <a:ln>
            <a:noFill/>
          </a:ln>
        </p:spPr>
        <p:txBody>
          <a:bodyPr anchorCtr="0" anchor="ctr" bIns="0" lIns="0" spcFirstLastPara="1" rIns="0" wrap="square" tIns="0">
            <a:noAutofit/>
          </a:bodyPr>
          <a:lstStyle>
            <a:lvl1pPr indent="0" lvl="0" marL="0" algn="r">
              <a:lnSpc>
                <a:spcPct val="100000"/>
              </a:lnSpc>
              <a:spcBef>
                <a:spcPts val="0"/>
              </a:spcBef>
              <a:spcAft>
                <a:spcPts val="0"/>
              </a:spcAft>
              <a:buSzPts val="900"/>
              <a:buNone/>
              <a:defRPr>
                <a:solidFill>
                  <a:srgbClr val="888888"/>
                </a:solidFill>
              </a:defRPr>
            </a:lvl1pPr>
            <a:lvl2pPr indent="0" lvl="1" marL="0" algn="r">
              <a:lnSpc>
                <a:spcPct val="100000"/>
              </a:lnSpc>
              <a:spcBef>
                <a:spcPts val="0"/>
              </a:spcBef>
              <a:spcAft>
                <a:spcPts val="0"/>
              </a:spcAft>
              <a:buSzPts val="900"/>
              <a:buNone/>
              <a:defRPr>
                <a:solidFill>
                  <a:srgbClr val="888888"/>
                </a:solidFill>
              </a:defRPr>
            </a:lvl2pPr>
            <a:lvl3pPr indent="0" lvl="2" marL="0" algn="r">
              <a:lnSpc>
                <a:spcPct val="100000"/>
              </a:lnSpc>
              <a:spcBef>
                <a:spcPts val="0"/>
              </a:spcBef>
              <a:spcAft>
                <a:spcPts val="0"/>
              </a:spcAft>
              <a:buSzPts val="900"/>
              <a:buNone/>
              <a:defRPr>
                <a:solidFill>
                  <a:srgbClr val="888888"/>
                </a:solidFill>
              </a:defRPr>
            </a:lvl3pPr>
            <a:lvl4pPr indent="0" lvl="3" marL="0" algn="r">
              <a:lnSpc>
                <a:spcPct val="100000"/>
              </a:lnSpc>
              <a:spcBef>
                <a:spcPts val="0"/>
              </a:spcBef>
              <a:spcAft>
                <a:spcPts val="0"/>
              </a:spcAft>
              <a:buSzPts val="900"/>
              <a:buNone/>
              <a:defRPr>
                <a:solidFill>
                  <a:srgbClr val="888888"/>
                </a:solidFill>
              </a:defRPr>
            </a:lvl4pPr>
            <a:lvl5pPr indent="0" lvl="4" marL="0" algn="r">
              <a:lnSpc>
                <a:spcPct val="100000"/>
              </a:lnSpc>
              <a:spcBef>
                <a:spcPts val="0"/>
              </a:spcBef>
              <a:spcAft>
                <a:spcPts val="0"/>
              </a:spcAft>
              <a:buSzPts val="900"/>
              <a:buNone/>
              <a:defRPr>
                <a:solidFill>
                  <a:srgbClr val="888888"/>
                </a:solidFill>
              </a:defRPr>
            </a:lvl5pPr>
            <a:lvl6pPr indent="0" lvl="5" marL="0" algn="r">
              <a:lnSpc>
                <a:spcPct val="100000"/>
              </a:lnSpc>
              <a:spcBef>
                <a:spcPts val="0"/>
              </a:spcBef>
              <a:spcAft>
                <a:spcPts val="0"/>
              </a:spcAft>
              <a:buSzPts val="900"/>
              <a:buNone/>
              <a:defRPr>
                <a:solidFill>
                  <a:srgbClr val="888888"/>
                </a:solidFill>
              </a:defRPr>
            </a:lvl6pPr>
            <a:lvl7pPr indent="0" lvl="6" marL="0" algn="r">
              <a:lnSpc>
                <a:spcPct val="100000"/>
              </a:lnSpc>
              <a:spcBef>
                <a:spcPts val="0"/>
              </a:spcBef>
              <a:spcAft>
                <a:spcPts val="0"/>
              </a:spcAft>
              <a:buSzPts val="900"/>
              <a:buNone/>
              <a:defRPr>
                <a:solidFill>
                  <a:srgbClr val="888888"/>
                </a:solidFill>
              </a:defRPr>
            </a:lvl7pPr>
            <a:lvl8pPr indent="0" lvl="7" marL="0" algn="r">
              <a:lnSpc>
                <a:spcPct val="100000"/>
              </a:lnSpc>
              <a:spcBef>
                <a:spcPts val="0"/>
              </a:spcBef>
              <a:spcAft>
                <a:spcPts val="0"/>
              </a:spcAft>
              <a:buSzPts val="900"/>
              <a:buNone/>
              <a:defRPr>
                <a:solidFill>
                  <a:srgbClr val="888888"/>
                </a:solidFill>
              </a:defRPr>
            </a:lvl8pPr>
            <a:lvl9pPr indent="0" lvl="8" marL="0" algn="r">
              <a:lnSpc>
                <a:spcPct val="100000"/>
              </a:lnSpc>
              <a:spcBef>
                <a:spcPts val="0"/>
              </a:spcBef>
              <a:spcAft>
                <a:spcPts val="0"/>
              </a:spcAft>
              <a:buSzPts val="900"/>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b="0" i="0" sz="900" u="none" cap="none" strike="noStrik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hyperlink" Target="https://www.youtube.com/watch?v=s0XtXgfvLAQ"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1143000" y="304800"/>
            <a:ext cx="6858000" cy="17907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86538"/>
              <a:buFont typeface="Constantia"/>
              <a:buNone/>
            </a:pPr>
            <a:r>
              <a:rPr lang="en">
                <a:latin typeface="Bell MT"/>
                <a:ea typeface="Bell MT"/>
                <a:cs typeface="Bell MT"/>
                <a:sym typeface="Bell MT"/>
              </a:rPr>
              <a:t>Sensation and Perception</a:t>
            </a:r>
            <a:br>
              <a:rPr lang="en">
                <a:latin typeface="Constantia"/>
                <a:ea typeface="Constantia"/>
                <a:cs typeface="Constantia"/>
                <a:sym typeface="Constantia"/>
              </a:rPr>
            </a:br>
            <a:endParaRPr/>
          </a:p>
        </p:txBody>
      </p:sp>
      <p:sp>
        <p:nvSpPr>
          <p:cNvPr id="65" name="Google Shape;65;p15"/>
          <p:cNvSpPr txBox="1"/>
          <p:nvPr>
            <p:ph idx="1" type="subTitle"/>
          </p:nvPr>
        </p:nvSpPr>
        <p:spPr>
          <a:xfrm>
            <a:off x="1143000" y="2390776"/>
            <a:ext cx="6858000" cy="1241700"/>
          </a:xfrm>
          <a:prstGeom prst="rect">
            <a:avLst/>
          </a:prstGeom>
          <a:noFill/>
          <a:ln>
            <a:noFill/>
          </a:ln>
        </p:spPr>
        <p:txBody>
          <a:bodyPr anchorCtr="0" anchor="t" bIns="34275" lIns="68575" spcFirstLastPara="1" rIns="68575" wrap="square" tIns="34275">
            <a:normAutofit fontScale="85000" lnSpcReduction="20000"/>
          </a:bodyPr>
          <a:lstStyle/>
          <a:p>
            <a:pPr indent="0" lvl="0" marL="0" rtl="0" algn="l">
              <a:lnSpc>
                <a:spcPct val="90000"/>
              </a:lnSpc>
              <a:spcBef>
                <a:spcPts val="0"/>
              </a:spcBef>
              <a:spcAft>
                <a:spcPts val="0"/>
              </a:spcAft>
              <a:buClr>
                <a:schemeClr val="dk1"/>
              </a:buClr>
              <a:buSzPct val="81818"/>
              <a:buNone/>
            </a:pPr>
            <a:r>
              <a:rPr lang="en" sz="2200">
                <a:latin typeface="Times New Roman"/>
                <a:ea typeface="Times New Roman"/>
                <a:cs typeface="Times New Roman"/>
                <a:sym typeface="Times New Roman"/>
              </a:rPr>
              <a:t>Monzia Mushtaq</a:t>
            </a:r>
            <a:endParaRPr sz="22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81818"/>
              <a:buNone/>
            </a:pPr>
            <a:r>
              <a:rPr lang="en" sz="2200">
                <a:latin typeface="Times New Roman"/>
                <a:ea typeface="Times New Roman"/>
                <a:cs typeface="Times New Roman"/>
                <a:sym typeface="Times New Roman"/>
              </a:rPr>
              <a:t>BRAC University</a:t>
            </a:r>
            <a:endParaRPr sz="22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81818"/>
              <a:buNone/>
            </a:pPr>
            <a:r>
              <a:rPr lang="en" sz="2200">
                <a:latin typeface="Times New Roman"/>
                <a:ea typeface="Times New Roman"/>
                <a:cs typeface="Times New Roman"/>
                <a:sym typeface="Times New Roman"/>
              </a:rPr>
              <a:t>PSY 101</a:t>
            </a:r>
            <a:endParaRPr sz="2200">
              <a:latin typeface="Times New Roman"/>
              <a:ea typeface="Times New Roman"/>
              <a:cs typeface="Times New Roman"/>
              <a:sym typeface="Times New Roman"/>
            </a:endParaRPr>
          </a:p>
          <a:p>
            <a:pPr indent="0" lvl="0" marL="0" rtl="0" algn="l">
              <a:lnSpc>
                <a:spcPct val="90000"/>
              </a:lnSpc>
              <a:spcBef>
                <a:spcPts val="0"/>
              </a:spcBef>
              <a:spcAft>
                <a:spcPts val="0"/>
              </a:spcAft>
              <a:buClr>
                <a:schemeClr val="dk1"/>
              </a:buClr>
              <a:buSzPct val="81818"/>
              <a:buNone/>
            </a:pPr>
            <a:r>
              <a:t/>
            </a:r>
            <a:endParaRPr sz="2200">
              <a:latin typeface="Times New Roman"/>
              <a:ea typeface="Times New Roman"/>
              <a:cs typeface="Times New Roman"/>
              <a:sym typeface="Times New Roman"/>
            </a:endParaRPr>
          </a:p>
          <a:p>
            <a:pPr indent="0" lvl="0" marL="0" rtl="0" algn="l">
              <a:lnSpc>
                <a:spcPct val="90000"/>
              </a:lnSpc>
              <a:spcBef>
                <a:spcPts val="800"/>
              </a:spcBef>
              <a:spcAft>
                <a:spcPts val="0"/>
              </a:spcAft>
              <a:buClr>
                <a:schemeClr val="dk1"/>
              </a:buClr>
              <a:buSzPct val="81818"/>
              <a:buNone/>
            </a:pPr>
            <a:r>
              <a:t/>
            </a:r>
            <a:endParaRPr sz="2200"/>
          </a:p>
        </p:txBody>
      </p:sp>
      <p:pic>
        <p:nvPicPr>
          <p:cNvPr descr="Introduction to Sensation and Perception – General Psychology" id="66" name="Google Shape;66;p15"/>
          <p:cNvPicPr preferRelativeResize="0"/>
          <p:nvPr/>
        </p:nvPicPr>
        <p:blipFill rotWithShape="1">
          <a:blip r:embed="rId3">
            <a:alphaModFix/>
          </a:blip>
          <a:srcRect b="0" l="0" r="0" t="0"/>
          <a:stretch/>
        </p:blipFill>
        <p:spPr>
          <a:xfrm>
            <a:off x="4434923" y="1841897"/>
            <a:ext cx="3019978" cy="241220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4480454" y="1441521"/>
            <a:ext cx="3815700" cy="2089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1500"/>
              <a:buNone/>
            </a:pPr>
            <a:r>
              <a:rPr b="1" i="1" lang="en">
                <a:solidFill>
                  <a:srgbClr val="00B050"/>
                </a:solidFill>
                <a:latin typeface="Bell MT"/>
                <a:ea typeface="Bell MT"/>
                <a:cs typeface="Bell MT"/>
                <a:sym typeface="Bell MT"/>
              </a:rPr>
              <a:t>Our all senses are working together as a team, in order to navigate successfully in the world</a:t>
            </a:r>
            <a:endParaRPr b="1" i="1">
              <a:solidFill>
                <a:srgbClr val="00B050"/>
              </a:solidFill>
              <a:latin typeface="Bell MT"/>
              <a:ea typeface="Bell MT"/>
              <a:cs typeface="Bell MT"/>
              <a:sym typeface="Bell MT"/>
            </a:endParaRPr>
          </a:p>
        </p:txBody>
      </p:sp>
      <p:pic>
        <p:nvPicPr>
          <p:cNvPr descr="Human Brain And Sensory Perception High-Res Vector Graphic - Getty Images" id="73" name="Google Shape;73;p16"/>
          <p:cNvPicPr preferRelativeResize="0"/>
          <p:nvPr/>
        </p:nvPicPr>
        <p:blipFill rotWithShape="1">
          <a:blip r:embed="rId3">
            <a:alphaModFix/>
          </a:blip>
          <a:srcRect b="4534" l="0" r="0" t="0"/>
          <a:stretch/>
        </p:blipFill>
        <p:spPr>
          <a:xfrm>
            <a:off x="626533" y="686959"/>
            <a:ext cx="3455988" cy="32994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1346454" y="284607"/>
            <a:ext cx="6400800" cy="5694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rgbClr val="9D2613"/>
              </a:buClr>
              <a:buSzPts val="2500"/>
              <a:buFont typeface="Georgia"/>
              <a:buNone/>
            </a:pPr>
            <a:r>
              <a:rPr lang="en" sz="2500">
                <a:latin typeface="Georgia"/>
                <a:ea typeface="Georgia"/>
                <a:cs typeface="Georgia"/>
                <a:sym typeface="Georgia"/>
              </a:rPr>
              <a:t>Sensation and Perception</a:t>
            </a:r>
            <a:endParaRPr sz="2500">
              <a:latin typeface="Georgia"/>
              <a:ea typeface="Georgia"/>
              <a:cs typeface="Georgia"/>
              <a:sym typeface="Georgia"/>
            </a:endParaRPr>
          </a:p>
        </p:txBody>
      </p:sp>
      <p:sp>
        <p:nvSpPr>
          <p:cNvPr id="79" name="Google Shape;79;p17"/>
          <p:cNvSpPr txBox="1"/>
          <p:nvPr>
            <p:ph idx="1" type="body"/>
          </p:nvPr>
        </p:nvSpPr>
        <p:spPr>
          <a:xfrm>
            <a:off x="1133927" y="1564386"/>
            <a:ext cx="6825900" cy="3331500"/>
          </a:xfrm>
          <a:prstGeom prst="rect">
            <a:avLst/>
          </a:prstGeom>
          <a:noFill/>
          <a:ln>
            <a:noFill/>
          </a:ln>
        </p:spPr>
        <p:txBody>
          <a:bodyPr anchorCtr="0" anchor="t" bIns="34275" lIns="68575" spcFirstLastPara="1" rIns="68575" wrap="square" tIns="34275">
            <a:noAutofit/>
          </a:bodyPr>
          <a:lstStyle/>
          <a:p>
            <a:pPr indent="-336550" lvl="0" marL="342900" rtl="0" algn="just">
              <a:lnSpc>
                <a:spcPct val="90000"/>
              </a:lnSpc>
              <a:spcBef>
                <a:spcPts val="0"/>
              </a:spcBef>
              <a:spcAft>
                <a:spcPts val="0"/>
              </a:spcAft>
              <a:buClr>
                <a:schemeClr val="accent1"/>
              </a:buClr>
              <a:buSzPts val="1700"/>
              <a:buChar char="•"/>
            </a:pPr>
            <a:r>
              <a:rPr lang="en" sz="2000">
                <a:solidFill>
                  <a:schemeClr val="dk1"/>
                </a:solidFill>
                <a:latin typeface="Bell MT"/>
                <a:ea typeface="Bell MT"/>
                <a:cs typeface="Bell MT"/>
                <a:sym typeface="Bell MT"/>
              </a:rPr>
              <a:t>Sensations can be defined as the process by which our sensory receptors and nervous system receive and represent stimulus energies from our environment.</a:t>
            </a:r>
            <a:endParaRPr/>
          </a:p>
          <a:p>
            <a:pPr indent="-228600" lvl="0" marL="342900" rtl="0" algn="just">
              <a:lnSpc>
                <a:spcPct val="90000"/>
              </a:lnSpc>
              <a:spcBef>
                <a:spcPts val="0"/>
              </a:spcBef>
              <a:spcAft>
                <a:spcPts val="0"/>
              </a:spcAft>
              <a:buClr>
                <a:schemeClr val="accent1"/>
              </a:buClr>
              <a:buSzPts val="1700"/>
              <a:buNone/>
            </a:pPr>
            <a:r>
              <a:t/>
            </a:r>
            <a:endParaRPr sz="2000">
              <a:solidFill>
                <a:schemeClr val="dk1"/>
              </a:solidFill>
              <a:latin typeface="Bell MT"/>
              <a:ea typeface="Bell MT"/>
              <a:cs typeface="Bell MT"/>
              <a:sym typeface="Bell MT"/>
            </a:endParaRPr>
          </a:p>
          <a:p>
            <a:pPr indent="-336550" lvl="0" marL="342900" rtl="0" algn="just">
              <a:lnSpc>
                <a:spcPct val="90000"/>
              </a:lnSpc>
              <a:spcBef>
                <a:spcPts val="0"/>
              </a:spcBef>
              <a:spcAft>
                <a:spcPts val="0"/>
              </a:spcAft>
              <a:buSzPts val="1700"/>
              <a:buChar char="•"/>
            </a:pPr>
            <a:r>
              <a:rPr lang="en" sz="2000">
                <a:solidFill>
                  <a:schemeClr val="dk1"/>
                </a:solidFill>
                <a:latin typeface="Bell MT"/>
                <a:ea typeface="Bell MT"/>
                <a:cs typeface="Bell MT"/>
                <a:sym typeface="Bell MT"/>
              </a:rPr>
              <a:t>Perception can be defined as the process of selecting, organizing, and interpreting the sensory information, enabling us to recognize meaningful objects and events.</a:t>
            </a:r>
            <a:endParaRPr sz="2000">
              <a:solidFill>
                <a:schemeClr val="dk1"/>
              </a:solidFill>
              <a:latin typeface="Bell MT"/>
              <a:ea typeface="Bell MT"/>
              <a:cs typeface="Bell MT"/>
              <a:sym typeface="Bell MT"/>
            </a:endParaRPr>
          </a:p>
          <a:p>
            <a:pPr indent="0" lvl="0" marL="0" rtl="0" algn="just">
              <a:lnSpc>
                <a:spcPct val="90000"/>
              </a:lnSpc>
              <a:spcBef>
                <a:spcPts val="0"/>
              </a:spcBef>
              <a:spcAft>
                <a:spcPts val="0"/>
              </a:spcAft>
              <a:buClr>
                <a:schemeClr val="accent1"/>
              </a:buClr>
              <a:buSzPts val="1700"/>
              <a:buNone/>
            </a:pPr>
            <a:r>
              <a:t/>
            </a:r>
            <a:endParaRPr>
              <a:solidFill>
                <a:schemeClr val="dk1"/>
              </a:solidFill>
              <a:latin typeface="Bell MT"/>
              <a:ea typeface="Bell MT"/>
              <a:cs typeface="Bell MT"/>
              <a:sym typeface="Bell MT"/>
            </a:endParaRPr>
          </a:p>
          <a:p>
            <a:pPr indent="-203200" lvl="0" marL="203200" rtl="0" algn="just">
              <a:lnSpc>
                <a:spcPct val="90000"/>
              </a:lnSpc>
              <a:spcBef>
                <a:spcPts val="400"/>
              </a:spcBef>
              <a:spcAft>
                <a:spcPts val="0"/>
              </a:spcAft>
              <a:buClr>
                <a:schemeClr val="accent1"/>
              </a:buClr>
              <a:buSzPts val="2000"/>
              <a:buNone/>
            </a:pPr>
            <a:r>
              <a:t/>
            </a:r>
            <a:endParaRPr b="1" i="1" sz="2000">
              <a:solidFill>
                <a:schemeClr val="dk1"/>
              </a:solidFill>
              <a:latin typeface="Bell MT"/>
              <a:ea typeface="Bell MT"/>
              <a:cs typeface="Bell MT"/>
              <a:sym typeface="Bell MT"/>
            </a:endParaRPr>
          </a:p>
          <a:p>
            <a:pPr indent="0" lvl="0" marL="0" rtl="0" algn="l">
              <a:lnSpc>
                <a:spcPct val="90000"/>
              </a:lnSpc>
              <a:spcBef>
                <a:spcPts val="400"/>
              </a:spcBef>
              <a:spcAft>
                <a:spcPts val="0"/>
              </a:spcAft>
              <a:buClr>
                <a:schemeClr val="accent1"/>
              </a:buClr>
              <a:buSzPts val="1700"/>
              <a:buNone/>
            </a:pPr>
            <a:br>
              <a:rPr lang="en" sz="2000">
                <a:solidFill>
                  <a:schemeClr val="dk1"/>
                </a:solidFill>
                <a:latin typeface="Georgia"/>
                <a:ea typeface="Georgia"/>
                <a:cs typeface="Georgia"/>
                <a:sym typeface="Georgia"/>
              </a:rPr>
            </a:br>
            <a:endParaRPr sz="2000">
              <a:solidFill>
                <a:schemeClr val="dk1"/>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0" st="0"/>
                                            </p:txEl>
                                          </p:spTgt>
                                        </p:tgtEl>
                                        <p:attrNameLst>
                                          <p:attrName>style.visibility</p:attrName>
                                        </p:attrNameLst>
                                      </p:cBhvr>
                                      <p:to>
                                        <p:strVal val="visible"/>
                                      </p:to>
                                    </p:set>
                                    <p:animEffect filter="fade" transition="in">
                                      <p:cBhvr>
                                        <p:cTn dur="500"/>
                                        <p:tgtEl>
                                          <p:spTgt spid="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1" st="1"/>
                                            </p:txEl>
                                          </p:spTgt>
                                        </p:tgtEl>
                                        <p:attrNameLst>
                                          <p:attrName>style.visibility</p:attrName>
                                        </p:attrNameLst>
                                      </p:cBhvr>
                                      <p:to>
                                        <p:strVal val="visible"/>
                                      </p:to>
                                    </p:set>
                                    <p:animEffect filter="fade" transition="in">
                                      <p:cBhvr>
                                        <p:cTn dur="500"/>
                                        <p:tgtEl>
                                          <p:spTgt spid="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2" st="2"/>
                                            </p:txEl>
                                          </p:spTgt>
                                        </p:tgtEl>
                                        <p:attrNameLst>
                                          <p:attrName>style.visibility</p:attrName>
                                        </p:attrNameLst>
                                      </p:cBhvr>
                                      <p:to>
                                        <p:strVal val="visible"/>
                                      </p:to>
                                    </p:set>
                                    <p:animEffect filter="fade" transition="in">
                                      <p:cBhvr>
                                        <p:cTn dur="500"/>
                                        <p:tgtEl>
                                          <p:spTgt spid="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3" st="3"/>
                                            </p:txEl>
                                          </p:spTgt>
                                        </p:tgtEl>
                                        <p:attrNameLst>
                                          <p:attrName>style.visibility</p:attrName>
                                        </p:attrNameLst>
                                      </p:cBhvr>
                                      <p:to>
                                        <p:strVal val="visible"/>
                                      </p:to>
                                    </p:set>
                                    <p:animEffect filter="fade" transition="in">
                                      <p:cBhvr>
                                        <p:cTn dur="500"/>
                                        <p:tgtEl>
                                          <p:spTgt spid="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4" st="4"/>
                                            </p:txEl>
                                          </p:spTgt>
                                        </p:tgtEl>
                                        <p:attrNameLst>
                                          <p:attrName>style.visibility</p:attrName>
                                        </p:attrNameLst>
                                      </p:cBhvr>
                                      <p:to>
                                        <p:strVal val="visible"/>
                                      </p:to>
                                    </p:set>
                                    <p:animEffect filter="fade" transition="in">
                                      <p:cBhvr>
                                        <p:cTn dur="500"/>
                                        <p:tgtEl>
                                          <p:spTgt spid="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5" st="5"/>
                                            </p:txEl>
                                          </p:spTgt>
                                        </p:tgtEl>
                                        <p:attrNameLst>
                                          <p:attrName>style.visibility</p:attrName>
                                        </p:attrNameLst>
                                      </p:cBhvr>
                                      <p:to>
                                        <p:strVal val="visible"/>
                                      </p:to>
                                    </p:set>
                                    <p:animEffect filter="fade" transition="in">
                                      <p:cBhvr>
                                        <p:cTn dur="500"/>
                                        <p:tgtEl>
                                          <p:spTgt spid="7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766050" y="114300"/>
            <a:ext cx="7770000" cy="799800"/>
          </a:xfrm>
          <a:prstGeom prst="rect">
            <a:avLst/>
          </a:prstGeom>
          <a:noFill/>
          <a:ln>
            <a:noFill/>
          </a:ln>
        </p:spPr>
        <p:txBody>
          <a:bodyPr anchorCtr="0" anchor="b" bIns="34275" lIns="68575" spcFirstLastPara="1" rIns="68575" wrap="square" tIns="34275">
            <a:noAutofit/>
          </a:bodyPr>
          <a:lstStyle/>
          <a:p>
            <a:pPr indent="0" lvl="0" marL="0" rtl="0" algn="ctr">
              <a:lnSpc>
                <a:spcPct val="90000"/>
              </a:lnSpc>
              <a:spcBef>
                <a:spcPts val="0"/>
              </a:spcBef>
              <a:spcAft>
                <a:spcPts val="0"/>
              </a:spcAft>
              <a:buClr>
                <a:srgbClr val="9D2613"/>
              </a:buClr>
              <a:buSzPts val="2500"/>
              <a:buFont typeface="Constantia"/>
              <a:buNone/>
            </a:pPr>
            <a:r>
              <a:t/>
            </a:r>
            <a:endParaRPr b="1" sz="2500">
              <a:latin typeface="Bell MT"/>
              <a:ea typeface="Bell MT"/>
              <a:cs typeface="Bell MT"/>
              <a:sym typeface="Bell MT"/>
            </a:endParaRPr>
          </a:p>
          <a:p>
            <a:pPr indent="0" lvl="0" marL="0" rtl="0" algn="ctr">
              <a:lnSpc>
                <a:spcPct val="90000"/>
              </a:lnSpc>
              <a:spcBef>
                <a:spcPts val="0"/>
              </a:spcBef>
              <a:spcAft>
                <a:spcPts val="0"/>
              </a:spcAft>
              <a:buClr>
                <a:srgbClr val="9D2613"/>
              </a:buClr>
              <a:buSzPts val="2500"/>
              <a:buFont typeface="Constantia"/>
              <a:buNone/>
            </a:pPr>
            <a:r>
              <a:t/>
            </a:r>
            <a:endParaRPr b="1" sz="2500">
              <a:latin typeface="Bell MT"/>
              <a:ea typeface="Bell MT"/>
              <a:cs typeface="Bell MT"/>
              <a:sym typeface="Bell MT"/>
            </a:endParaRPr>
          </a:p>
          <a:p>
            <a:pPr indent="0" lvl="0" marL="0" rtl="0" algn="ctr">
              <a:lnSpc>
                <a:spcPct val="90000"/>
              </a:lnSpc>
              <a:spcBef>
                <a:spcPts val="0"/>
              </a:spcBef>
              <a:spcAft>
                <a:spcPts val="0"/>
              </a:spcAft>
              <a:buClr>
                <a:srgbClr val="9D2613"/>
              </a:buClr>
              <a:buSzPts val="2500"/>
              <a:buFont typeface="Constantia"/>
              <a:buNone/>
            </a:pPr>
            <a:r>
              <a:t/>
            </a:r>
            <a:endParaRPr b="1" sz="2500">
              <a:latin typeface="Bell MT"/>
              <a:ea typeface="Bell MT"/>
              <a:cs typeface="Bell MT"/>
              <a:sym typeface="Bell MT"/>
            </a:endParaRPr>
          </a:p>
        </p:txBody>
      </p:sp>
      <p:sp>
        <p:nvSpPr>
          <p:cNvPr id="85" name="Google Shape;85;p18"/>
          <p:cNvSpPr txBox="1"/>
          <p:nvPr>
            <p:ph idx="1" type="body"/>
          </p:nvPr>
        </p:nvSpPr>
        <p:spPr>
          <a:xfrm>
            <a:off x="766050" y="1213688"/>
            <a:ext cx="8164800" cy="3122700"/>
          </a:xfrm>
          <a:prstGeom prst="rect">
            <a:avLst/>
          </a:prstGeom>
          <a:noFill/>
          <a:ln>
            <a:noFill/>
          </a:ln>
        </p:spPr>
        <p:txBody>
          <a:bodyPr anchorCtr="0" anchor="t" bIns="34275" lIns="68575" spcFirstLastPara="1" rIns="68575" wrap="square" tIns="34275">
            <a:noAutofit/>
          </a:bodyPr>
          <a:lstStyle/>
          <a:p>
            <a:pPr indent="-203200" lvl="0" marL="203200" rtl="0" algn="l">
              <a:lnSpc>
                <a:spcPct val="90000"/>
              </a:lnSpc>
              <a:spcBef>
                <a:spcPts val="0"/>
              </a:spcBef>
              <a:spcAft>
                <a:spcPts val="0"/>
              </a:spcAft>
              <a:buClr>
                <a:schemeClr val="accent1"/>
              </a:buClr>
              <a:buSzPts val="2000"/>
              <a:buNone/>
            </a:pPr>
            <a:r>
              <a:rPr lang="en" sz="2000">
                <a:solidFill>
                  <a:schemeClr val="dk1"/>
                </a:solidFill>
                <a:latin typeface="Bell MT"/>
                <a:ea typeface="Bell MT"/>
                <a:cs typeface="Bell MT"/>
                <a:sym typeface="Bell MT"/>
              </a:rPr>
              <a:t>1) </a:t>
            </a:r>
            <a:r>
              <a:rPr b="1" lang="en" sz="2000">
                <a:solidFill>
                  <a:schemeClr val="dk1"/>
                </a:solidFill>
                <a:latin typeface="Bell MT"/>
                <a:ea typeface="Bell MT"/>
                <a:cs typeface="Bell MT"/>
                <a:sym typeface="Bell MT"/>
              </a:rPr>
              <a:t>Sensation occurs</a:t>
            </a:r>
            <a:endParaRPr b="1">
              <a:latin typeface="Bell MT"/>
              <a:ea typeface="Bell MT"/>
              <a:cs typeface="Bell MT"/>
              <a:sym typeface="Bell MT"/>
            </a:endParaRPr>
          </a:p>
          <a:p>
            <a:pPr indent="-196850" lvl="0" marL="203200" rtl="0" algn="l">
              <a:lnSpc>
                <a:spcPct val="90000"/>
              </a:lnSpc>
              <a:spcBef>
                <a:spcPts val="400"/>
              </a:spcBef>
              <a:spcAft>
                <a:spcPts val="0"/>
              </a:spcAft>
              <a:buClr>
                <a:schemeClr val="accent1"/>
              </a:buClr>
              <a:buSzPts val="1700"/>
              <a:buFont typeface="Noto Sans"/>
              <a:buChar char="●"/>
            </a:pPr>
            <a:r>
              <a:rPr lang="en" sz="2000">
                <a:solidFill>
                  <a:schemeClr val="dk1"/>
                </a:solidFill>
                <a:latin typeface="Bell MT"/>
                <a:ea typeface="Bell MT"/>
                <a:cs typeface="Bell MT"/>
                <a:sym typeface="Bell MT"/>
              </a:rPr>
              <a:t>sensory organs absorb energy from a physical stimulus in the environment.</a:t>
            </a:r>
            <a:endParaRPr>
              <a:latin typeface="Bell MT"/>
              <a:ea typeface="Bell MT"/>
              <a:cs typeface="Bell MT"/>
              <a:sym typeface="Bell MT"/>
            </a:endParaRPr>
          </a:p>
          <a:p>
            <a:pPr indent="-196850" lvl="0" marL="203200" rtl="0" algn="l">
              <a:lnSpc>
                <a:spcPct val="90000"/>
              </a:lnSpc>
              <a:spcBef>
                <a:spcPts val="400"/>
              </a:spcBef>
              <a:spcAft>
                <a:spcPts val="0"/>
              </a:spcAft>
              <a:buClr>
                <a:schemeClr val="accent1"/>
              </a:buClr>
              <a:buSzPts val="1700"/>
              <a:buFont typeface="Noto Sans"/>
              <a:buChar char="●"/>
            </a:pPr>
            <a:r>
              <a:rPr lang="en" sz="2000">
                <a:solidFill>
                  <a:schemeClr val="dk1"/>
                </a:solidFill>
                <a:latin typeface="Bell MT"/>
                <a:ea typeface="Bell MT"/>
                <a:cs typeface="Bell MT"/>
                <a:sym typeface="Bell MT"/>
              </a:rPr>
              <a:t>sensory receptors convert this energy into neural impulses and send them to the brain.</a:t>
            </a:r>
            <a:endParaRPr>
              <a:latin typeface="Bell MT"/>
              <a:ea typeface="Bell MT"/>
              <a:cs typeface="Bell MT"/>
              <a:sym typeface="Bell MT"/>
            </a:endParaRPr>
          </a:p>
          <a:p>
            <a:pPr indent="-203200" lvl="0" marL="203200" rtl="0" algn="l">
              <a:lnSpc>
                <a:spcPct val="90000"/>
              </a:lnSpc>
              <a:spcBef>
                <a:spcPts val="400"/>
              </a:spcBef>
              <a:spcAft>
                <a:spcPts val="0"/>
              </a:spcAft>
              <a:buClr>
                <a:schemeClr val="accent1"/>
              </a:buClr>
              <a:buSzPts val="2000"/>
              <a:buNone/>
            </a:pPr>
            <a:r>
              <a:t/>
            </a:r>
            <a:endParaRPr sz="2000">
              <a:solidFill>
                <a:schemeClr val="dk1"/>
              </a:solidFill>
              <a:latin typeface="Bell MT"/>
              <a:ea typeface="Bell MT"/>
              <a:cs typeface="Bell MT"/>
              <a:sym typeface="Bell MT"/>
            </a:endParaRPr>
          </a:p>
          <a:p>
            <a:pPr indent="-203200" lvl="0" marL="203200" rtl="0" algn="l">
              <a:lnSpc>
                <a:spcPct val="90000"/>
              </a:lnSpc>
              <a:spcBef>
                <a:spcPts val="400"/>
              </a:spcBef>
              <a:spcAft>
                <a:spcPts val="0"/>
              </a:spcAft>
              <a:buClr>
                <a:schemeClr val="accent1"/>
              </a:buClr>
              <a:buSzPts val="2000"/>
              <a:buNone/>
            </a:pPr>
            <a:r>
              <a:rPr lang="en" sz="2000">
                <a:solidFill>
                  <a:schemeClr val="dk1"/>
                </a:solidFill>
                <a:latin typeface="Bell MT"/>
                <a:ea typeface="Bell MT"/>
                <a:cs typeface="Bell MT"/>
                <a:sym typeface="Bell MT"/>
              </a:rPr>
              <a:t>2)</a:t>
            </a:r>
            <a:r>
              <a:rPr b="1" lang="en" sz="2000">
                <a:solidFill>
                  <a:schemeClr val="dk1"/>
                </a:solidFill>
                <a:latin typeface="Bell MT"/>
                <a:ea typeface="Bell MT"/>
                <a:cs typeface="Bell MT"/>
                <a:sym typeface="Bell MT"/>
              </a:rPr>
              <a:t> Perception follows</a:t>
            </a:r>
            <a:endParaRPr b="1">
              <a:latin typeface="Bell MT"/>
              <a:ea typeface="Bell MT"/>
              <a:cs typeface="Bell MT"/>
              <a:sym typeface="Bell MT"/>
            </a:endParaRPr>
          </a:p>
          <a:p>
            <a:pPr indent="-196850" lvl="0" marL="203200" rtl="0" algn="l">
              <a:lnSpc>
                <a:spcPct val="90000"/>
              </a:lnSpc>
              <a:spcBef>
                <a:spcPts val="400"/>
              </a:spcBef>
              <a:spcAft>
                <a:spcPts val="0"/>
              </a:spcAft>
              <a:buClr>
                <a:schemeClr val="accent1"/>
              </a:buClr>
              <a:buSzPts val="1700"/>
              <a:buFont typeface="Noto Sans"/>
              <a:buChar char="●"/>
            </a:pPr>
            <a:r>
              <a:rPr lang="en" sz="2000">
                <a:solidFill>
                  <a:schemeClr val="dk1"/>
                </a:solidFill>
                <a:latin typeface="Bell MT"/>
                <a:ea typeface="Bell MT"/>
                <a:cs typeface="Bell MT"/>
                <a:sym typeface="Bell MT"/>
              </a:rPr>
              <a:t>the brain organizes the information and translates it into something </a:t>
            </a:r>
            <a:r>
              <a:rPr b="1" lang="en" sz="2000">
                <a:solidFill>
                  <a:schemeClr val="dk1"/>
                </a:solidFill>
                <a:latin typeface="Bell MT"/>
                <a:ea typeface="Bell MT"/>
                <a:cs typeface="Bell MT"/>
                <a:sym typeface="Bell MT"/>
              </a:rPr>
              <a:t>meaningful.</a:t>
            </a:r>
            <a:endParaRPr b="1">
              <a:latin typeface="Bell MT"/>
              <a:ea typeface="Bell MT"/>
              <a:cs typeface="Bell MT"/>
              <a:sym typeface="Bell MT"/>
            </a:endParaRPr>
          </a:p>
          <a:p>
            <a:pPr indent="-88900" lvl="0" marL="203200" rtl="0" algn="l">
              <a:lnSpc>
                <a:spcPct val="90000"/>
              </a:lnSpc>
              <a:spcBef>
                <a:spcPts val="400"/>
              </a:spcBef>
              <a:spcAft>
                <a:spcPts val="0"/>
              </a:spcAft>
              <a:buClr>
                <a:schemeClr val="accent1"/>
              </a:buClr>
              <a:buSzPts val="1700"/>
              <a:buNone/>
            </a:pPr>
            <a:r>
              <a:t/>
            </a:r>
            <a:endParaRPr b="1" sz="2000">
              <a:solidFill>
                <a:schemeClr val="dk1"/>
              </a:solidFill>
              <a:latin typeface="Georgia"/>
              <a:ea typeface="Georgia"/>
              <a:cs typeface="Georgia"/>
              <a:sym typeface="Georgia"/>
            </a:endParaRPr>
          </a:p>
        </p:txBody>
      </p:sp>
      <p:sp>
        <p:nvSpPr>
          <p:cNvPr descr="data:image/jpeg;base64,/9j/4AAQSkZJRgABAQAAAQABAAD/2wCEAAkGBxQSEhUUEhQWFRQVFxwXGBgYFxQcFxUcHBgXGBUYFxcYHCggHBwlHBUUITEhJSkrLi4uGB8zODMsNygtLiwBCgoKDg0OGxAQGywkHyQsLCwsLC0sLCwsNCwsLCwsLCwsLCwsLCwsLCwsLCwsLCwsLCw0LCwsLCwsLCwsLCwsLP/AABEIAQMAwgMBIgACEQEDEQH/xAAbAAABBQEBAAAAAAAAAAAAAAACAAEDBQYEB//EAD4QAAEDAgUBBgMGBQMDBQAAAAEAAhEDIQQFEjFBUQYTImFxgTKRoSNCUrHB0RRicuHwBxUzgqLxJENTY5L/xAAZAQADAQEBAAAAAAAAAAAAAAAAAQIDBAX/xAAvEQACAgEDAgQFBAIDAAAAAAAAAQIRAxIhMQRBUWHB8BMiMnHRQoGh4WKxFDOR/9oADAMBAAIRAxEAPwDFtYjDU4RALzrOkEBEAnhE0JDG0pAIk8KRjAJ4RAIgEDBATwiDUQCBgaUtKOE4CQA6UxCkhJMCOEi1SJiEARkIS1SwmIQBGQhIUkJigREQhLVIQmTAAhAWqWEJCdkkGlJSJJgOEYCEBGAkAgE4SARBIYoShEnASGIBEAnaEUJDGATwnhFCABhIBFCUIAaEoRQmhAAgJEI0xCAATFG3EYcHRWqmk90aSbtvPxDcC28qTGZe+mNRAcw7PYdTD0uNvQwpU1dFaWlZzFCQiDkirJI4QkIyE0IAEoCpIQkJiIk6eEkCEAjCYIwgBkQTpQkMcBFCdoTpDHARQmCJACATp4TgIAaEoRQlCABAShFCUIAFIDrYC5PQC5PyTlLHZc9+ErvaJDW9bkC7oHNkpSoqKtldm3ZmtWe6vhqjKphs0wNLmt2BAc46m2uZ9lFhu17sCW0GHvWNtUk6mmfia0G0A2HG+82pMuzarh2A63aXS0NG5bs+87eWxV/hcgwOMpzRL6NUCSfipmODPwON4vFrdEmkklm4XDXqa7/pL7DUKOPYauEAY4b0y4QTyGjdp8tuiqntLSWuBBFiDuFlcyxdTD19FNvddybD8Q6kiNQI/Nb3K8U3H4cPr6KFX4WOJjvIiLG5bFp3EcqZasSTl9L7919yWlL6eSrlMQpMThn03FrwQ4cfqDyEBWid8GYBQlHCEpiI0k8Jk6EEEaYBEErAUJwkUwQMkCIIQnSGHKRqIsFhKld+ikJPJ2a0dXHgLZYHsphdIbU1PeILnhzgPTSLafr5pqN9yXJIxHfBSNqL1Kv2foVWMFWmzTRdLdHhBEfCQN27GPJc+d5UK2FfQosa0t8VJogDUDMDgTce60eOu5KyHnBco3VwFa5b2exDa7BXoObTa4FxMaSBfTIJBmIXoRwFEUoZSphj7VGhjYNrSFMY3fkNzo8qbWCkBW9zbImYnDltNjW1afipw0DVG7LdRtPMLzym/g2IsRyOspSjW6HGVkwaSQ0XJMAdTwuPEZm/D13nVoYwBrZaTL9OqBxzJPQjqrLAlzZqMEuaRp9Zv8hPzC5M2pHMg7RVa17T8Bs15Aj4h14PndcmScXPTLjuzpxRpWVuZZSMxBr0HNFe32RIDXCB8JMaXTqtsbXCzuKf/DAU2x30y82OgiIa08EXB3mfRdxwtXChzqgdScDoDTYuPJHUD8QsV0ZfhsPi2ltX7OubirMX51g/EPr0XTGWhfM7gve/ikDXdclthO1dHE0DSxtIVC0eE2Dg6PCA7oTHP7LP53gcU89/WpPbQbAaRGlg+6BpNhsJ9AuHPsqqYVzabxuJDxOh/wDQ7kD5q67Nds6uGZpcNVMWv0MyDG6pQ0LXjVr79vIm72exp8kDa9HunVC6pANIOu+nO7HO3LT0i0qtexzCWvBa4GCDuFK3KauJ/wDU0cSyrUbtTDQ2B5OBgmIgGPYq2zLCmrRbUP8AzsaNbbXaBcHq4dek+S5ITUHV7P8Ah+BWSN7lKQgcE7HJ3LqMCKEk5SQKhAIgEwRhADaUQanRBAxg1HhcM6q9tNm7j7Ack+QQuK1HYzK3aHYgjwk6GnoB8R9CbeyKfYlujvo4cUqXd0xA5MeJ5/E4rtywO43XRpCnoYFzQXGQ1cE9SzRfJN7FhQtTAJuSfTe0J6bIcCFVUcdLtM2FgtBlxDrHfhd+eSqk9/wQkV+aVCfQbKoo4x1J3iBcyNpj/OFos6w7o1QSAN4+qyxxzSYPVefHO4P5nT8y6vgtcPiA8d5SkAbg7j+yy3bPI9ZOJoA6iftaY5n/ANxv6/PqrGrVNOHsOxuOCDuPzXXice1hLtQbAmfKJXRLLpWrs3uvVfgIrfYzb6Le5GFc8U3xBc3eT8UzwbbLG/7TWw9Q6wWtYNRePhcOCDzPRaLPstqvqipS8TapkOB+Dkh34YuuWnmNGs40MQXPpgaQ7UQ0nk+RHBHuCuWE2r7p8nopUlRW4XFYfGt0YoEP2ZVb8bRx5OHkVSZ7kr8FBc4PD5DHtnS4dSeHcad/a5tc0yMYbVVLw+i3/jNtTncMe0bEWk7G0b2hyLPzpdRxDRVpVDdjthJ4O4I4I2XZBuKuG8PD8fghpP7jZDnXeMOGxLBVokSZMaYHxT90jqPRV+fdnXNZ3uGiphhy0y9vnUHrI1C2ynzzBtZTe3CNe6kHS95EuaIkNcR92xvA2UPZTHVqJc9j9NJl3E3A6Bo5cb29VrC4p5MfHh74ZEkns+fE5skxlTCs7/U4NJIY0EjWRYmeANrc+i2/ZrOKGKhw+xxAJ2cYMmYLbAyTfnzWWfl1TMtVVlZjqomKJGnwjYMOw4sYHnK48Hhf4Md9iGkVNqdJ1jI3fUabgdAd9/VZscMib/X4eleoRk4uuxss8wBo1LRpfcRMNPLb8CR81wFykyLtP/HNOHrgCrd1JwsCQD4bnkWQBTj1L5J8r2jKaXK4IySkjhJWSIKQIWo0xDwiaEwRhAAVBZb/ALMdqXCkxrqAbh2jQ5zRZp5J8r3PzWEcRz9EbM7qvpCmXnSPDoFmnp4QplleNWvf3DTq2PaRToNAIY0g3Fp9wqPNc2bWltN3wOLXNi4IkT+ajyTA1XUGarHSARebbX9IVPjj3OJ1NOpkeJp69QVz9V1vaKpNUmZxhuX+XZXqGp0AdOfUq/w+DbFj8lgsy7RPqANB0joFxjOzR0kOdM7STPsFhiydOpKLuTff+i3CVWelOxPdkAusdlz5hlGHxQlw0u/GyAffg+6z+IzA1Gh9xb3XIcwrv8FLkbggOPUCefddWHrMU3PFJakuO9ojRJU1sXVDs2xgOqsHNHVob8yTC5sw7G4PGUx3hc15u14dEfh8OzrRY/RVuVZRi3VAS0ta10nvSIPWxuVpM0pGnLmw9vHOkrfHNfDv4bSXiDuMtpbmBxuX1MD9jXBdSdbWJDXb2ji0c9Vn8w7OMB72k8DDi7wbuZaTH4gf86r0LOsV32ErU3QXOaQ0fhcLtPsQCvMKea9xVhpLmCztxPWBPqvOeNwleN87te+534puat8kWVdodFR8iaD7aSAfDEXBsV24nKcOwPfhKT69R7fDTkEUupaJ1O9LkLpxuW4et9vRaZgudRbEVDxpH3b7gb8Qshgs1qsqmoJ1OMaeReIHQhawWu3j2Xden38yn5jdnM2rYer4JkmHCL2mQR87KxzGi7MPDhRTYAS51MeHU77zpDdN4G5Vzm2BOJLzSNNuMLNNW4Ej8tZFifbqsRg21cPViHMe0+IHfzkfquiDjkbyQ2ku359GZ/4skwGAqUC6pVD6TaZIIu1z3fgb+ZPT1CscqdhcdVP8UX03u2cHEi0AWdJPHn53s9WsMycGvr6HNEN1yQTaAeg39PNUeKyuph3xWaWlsH+ocFp6WWy+e7dT8ve5L225RtaOHoZUS8VBVc6NAFiAdpHU7fWF0ZzSOptW0VRqtsHfeH6rKdne0vdPHeMY4SYLmzpB3Hv13XoD6FKvh3GkSZ8bASSGkbtaSJv59QuPIpYsic+/L7e0U0pQ2M3qTqLUkuo5iUFSAqJqkaUAGmNSFHUetJkXZ4ECpiObtYfzd+yaVgU+BwdSsYptJA3P3R6krsqZt3dB2HNFgqMqSXAQ6Qd3RuQOZWxqNBDaTXd2XnS0tjgFxjjZpXnIoEEzf9Vlnk4LbuNJM9GwXazXRqSIJsyCCbgcbj1Kz/8ACuqNL+8aDMFrpBjrMQqrCYcmNAuTB8vUKwxWGrUINam5rTYO3bP9QXB1Ep5Ja3G0l7Y4RS4CoZfJILwf6Z/WysqGXMZeDPUmSVDhMU0MnflQYDMu88RbpPToubVpV+Pv7lNNlrisWQwtb81n69apTdckTseCtDgmgunc8Kyx7G4ikaJa1u7mG3xj99jK26XpfiKT4a4IWTS6MnTzRx+J7j7lT4HNHiq1rCS57g0DeZIEKvdl4IhhuOqtcMyngQ2rUIdVPwDeLX0Ddzk8Lud6mbTSrg0+fdmMQ9g7l1EPDgTLniwkmCGm8x05WLzLL6eJ8LoZXp2dtDo4tvxB8/Ndj+2b9UfbuJ6UahA+Td1TdqsJiBVFWnSqBpGouDSTcAkEC7b8Fb5MKdPEmn4sMFraRm62Kq0MQSGmnpNmnp/dXjsa3EO1UaNMY0Ddx0xOziNtdoB3uJhSYPMW1KTO8b3lekZY525ItBGx3HuslmlWu2u41dTaoNgSCYN23FiI6JwXxHVU1/P5R0PzOapQxGGrQ4PZXkEjkyd55BPIV/isYzGMdSqVG08SAAKmm7hYhj3i5bM8W9lyZhmbqjWE/wDK1hDHTcdQTyPij1WZpgzIkPncbz1C64xeT5ns17/8M38uw/8ADPp1Sx3hew+K4tG9wrnCZrSrt7nEh53DHax4Zi8Ebgge1lA/CVcQ6QHOMAExYwIu4+gXRS7JOtre0ekn9lrLTNXLnyM707FCcLoqFr7hh4PxDiDeJVx2b7RV6NYaAXMJgsaIHqALTfdXlPJKLYlpcepJ/JdRDWiGgAdAAB9ETlGcakrI1VwHXbRLnQHbnZwjfjwn80y5yksFGu7JsjCIIAjC0JLLI8M3V3tSNLT4QfvO4tyBY/JaDvLgPkvnVPiDRBtPHSyzGXY8OeacNDWWEiSZHiM7CXRyNgr6jimn8RHUipEeToggdZMKW2axWxDTxtR+NqFlSP4ejpDYJDjUkuvwQ1rfmuV2F8lPhnUaWIe0Oh9cB8biGw0wRMcLqxrgOv0WWZOSTM3tIrqRLDLf/K1fZ/O2xpqeJjhpc0iRPmDwqLBZVVrCQNDD994Iaf6YEk+g+S02XZHh6I2dVdF3kloB/lZsI85KWCE4u+F5kzaZwdouzYpt77D/APGfiZfwebf5fy/KjwFyvQaDvCQR4Y2KzOFyYmp4RzfyXD1kYa46P1dvMvHN1TJaDPmuhmJDHSQXGxbeL9R+y6hgelioK+HO5G3+GF0dFCcYt+ZlJpszXbGjVp1Wvpjw1pcQIMPnxC2wMhw9T0V/2YGIDPtw1o+63dw9T+i7MLgdLS8g7iJMgWNr83Upeu1dPFZNdUarJcKOsVf8/wA9Uta5e8TCr/l102SV2c9l8LiXa6lMB/8A8jCWv35I395XnHaXI69LEUqTjrZfuahkTyaZ/m3Mc3jletd4uTNsGyvTNOq2Wu9iOhaeCDsVEoxe5cZtHmFPImE6nuLj5WH7rrZltFtwwH1v+anxmDfRcWPJcR96PjaT4XyLTw7oR5hRSsarYbm33DdVgQLDoFG6ohKEpECc5RuKMlAUwIoTpkkAJrV00QACYmBPquUuR0cTpDnG8A2HomJFVkuLdDi5wGo/fLiHegBv722nZX1LM5u5xPMm0+5PnyQszQw2qzAS6Zht7+nK9L7If6dVKkVcc492btotJaXfzVY2twDPnwq+H8R7F69C3Mdh8LXxWP1UWPLWt0AgHSTufFtAm5not5keXaHk4qmZF6bTEGD8ThNxIsPfotvjqbcPhy2iwNDQGsa0ABoJAsBwAVkq1Z7nnVII3npJiPJT1FYUn3/gx1a2WVXFOqHxbdOB6KWkAqhtTngbefmrDL6RqFeN1HVzWy3kylEtCJENuSuzB5Z4TI3QYV7GAncNEl0KpOfVnfCQ0cW+RuunD0co1l6h0+yW5Ld7RNGzKBygflAG4n3P6Kib2nqUv+R7P+qB8lVdov8AU4UB4Whztg2DBMck8egK9XFkwRWlMjRNstc3exsBr5MwWg7dCVV9/b/P3WW7OY+piO+xFZ2p9V/I8LQ0AANbw0S4frJVoKpO3+Hkn8vnztnLJqk2dMcdKi2bWUjX/wB1U/xDWRqdEmBZxk7AGx3JUdfFvInQRFxB3PG5tfjkR1MGoNJed5G5gdePmo6tYQb7Klw2ZmqNTGju3NB3B0k8EgkEzA8lx4t+JcQKL2MaJBN3OtpLGvB23dMXiEOdjUDv7SNmgalyWAm0XaR4xPFgHDzYFlGrQMr1arnNfp7kA0nf/ZUOky0b6BMTEyRwCVmMK4hoDrOAh3qLH6gpMTVExQlSVWERP3hI901enpdHkD8wD+qRJGUDkZQOQBHCSElJACxVQafNcb32XQz80GJwgHWDyLj5T+6aa4Eaz/S/Bue51R5ihTMBo2qVCBJd/SA35herUsaDz+x9V532ZzFuHw9On3dSAJLmAPBLjLiWsJcN+W8BXNPO6NUFrKrQ8j8TQ8HrodefULshpSpGM7b3LmvVqOc7VZurwkG7m8SPp7KKplFOoQXajxvf/OF3U8MREkm25585R0qLxJAkdIsVOSMZbSVkp1wVtXs40kFj4aAZBvHp6oX0+6YQ33P+cq1r1zHwx7Krx4OiSP7rx5Y8K6m4rdJv34GlutyCrS1YckbuEb9JNgvMO2fbCrRqMoUfs/gc+p4SYMy0Ai3BleoYOnFNsumSSAAIE3jzPmvGO0+g4jEPc3wh5G1/D4SY/wClellitUZSXYrGrtGjbl5c0HvTWc6oJcHAw1zgHNDpsBc26Kftfko7h7m0tegDSZILS4hjTP3rkW5VF2DzcCq2g53hqH7PaJgmPU/mFvu0jqlPCPqU5JY5jnNAmWBwDjEEWBkkiAASuHFhksnzdraNnPdJFDljBh6DKbrQJNudz8pU/e3sW+twPcnf0t+qqHZmK1VrGgCQ2dLHeE6QXAAeZ4BtBUtOtVrEMPdd2AQwtAGv8IJPigRuJ9pCpNm7R0/xffS0F9PSdL3gMaT0DJ1SXCLmLHlMzAMZem1rSfvTJ63mdRPn8ly/7dWb4XyKexDYcZ3BlvxNiZ5EKengKryacE9WuJFT+qY259xCu2+wtiLE5m2kWsLQ03u0t0STuWht/cSuvCYs6db2l5HhJYw6nNiz3A3eBtaSJ2XDmHZZrKQqNbXfVDwAyWs1E7X0mBqgbjYnYLoY2tXpPoYhpowNGsAkmN2jTYbG5IsRZXpJtF3gWuqeA0i+k34XuI3gfdJ2GrfyjhVmW5LqdUNRj7VHQDItqLgSTcgtI/crsyzUwNDJeWtANSpuSCblrDB3t4p+q5sxDWF9R7y51T7t9J8g0kgN9lcdkZTCzXMm62loHgBAgDSJtb0jYfRUD36iSdyk95cZJTJSk3uSkIqNyMlA4pARQklKSAIJRtqbA7T8lHKdVRKNRhy2AWm0WNrLvGJOn7QCoJ2cAQB6OCyGBxbqZ6tO4/bzVlRxL6YmdTHG3l5TwknpCrPQ8ipYd7PA0UjzoLmAezSAFeMwMC1Wp7uJt7rzDKc5DHWNiYIPB4PoVsMJ2iEAH81pLJGUfBkOLReVjUAjvJHm1v6KvzF79JJINuJQHMmP+8feFz4isCIlePPNHHN3L9mVT8AssJNIaWiGkyS4+8jSstj8LRrF7XMJLnutpBNybAawVZ4TGOoP1Ay07jhXuDzDCPIJpta4c7H3P7r04SXUQi4tfv6BvBsw/ZbsI6hXbWGtwDS0B7GANnkEVCR025K9BbhaoGzbiCOoNiN11CjN6bw5vTn+6ZmIJ6/X8l1KKi9+TNybMNmHZSiapc0VKbg1oqNa6mGPIjS7QLbafkFBX7O0ywMIeWt2moByejb7rS5/V0V2PDS7wQ8XgwfDfrc/ILgx5lss67QZE/os54o8m8cknRUYfItEmiAwEg6hUqx/2kWuVO/IHQAG0yAdogDzEg3ubqnfg8W5xLXlvE6nAnm/uSuulg8QT48Q+ANg4/3XOlfZm/C5O6vQLL6eNib+QlvmoMHgahLgdNOm6CPCzw2vAA3kmN10NwgaNT3uIbclzjpHnuqLMO0xeTTwtgLOrR9GA/n/AOVp8PvIjX4F7mWYUqDdA+LfSD4nE8u/CP8AIWUxFd1R2p3sOB5BRU6UdSTck3JPUnko4SlKzMZNKRQlSMRUbiiJQFMQKSGUkxHOCjaoWlSNKoklUlN0W46KEFGCpGT1KciR7H9CuzL8wLYa/wBj09f3XDSq6fMHcdVYYDSfFYxwd/dRJFp7lp/FcgyFLTzI7EqsxA0Emndjrxy08grmGInf6T9QubJijk+pGrVOjY4fEMI8UFNXwtNwlroKytLFkbFPVxpEXsfoqSUY0kSoeZoKWLqUdnSOQrvL+0DakNJIdsLn5LB/7ha5UWFxnjsbq8eacX5Dljiz1Co3r9VDUpiCJXDhqzyxpLtwDwuTM84p0mmXyeguf2C9VtJWzkUXZ0d23mVR5t2ooYeQ3xu6D91ks57SVa0tB0s6Dn1PK4cvyw1Dqft+fouVz8DfTXJ2YnMcRjneN2mkD8Is3+5XbTpBgAaIARgACGiAEGpZNtgPKGUpQkpCGJQkpOKAlADkoSnJQkpiAlJMkmByNUjVC0qRpWjRBMEQKiBRhSxkwKOlULTI+R2PkVCEYUjNFl2l4L2DUB8bCfE3+3Qrjx+Hk+FsekSqyhXdTcH0yWuHI+oI5HktdlGKpYvwkCnW5bw7zZ+yFDVsPVRm6lIiBAF9yHT9LLmrNdMDS6POx6GxC3GLyY6drqhrYfTaVM8TiVHImUrKLzZ0ALuweXtBBL7+g/dG3BX4+itcDguqmGNtj10DisY6A0VLREC31lZvNi8iB+a11TBtH3RKp8xc0eGBPTp6/stZqSe4lJFBgMunxP26dVak8BBKSgLFKGUiUJKBDlAUiUBKAEShSKEpiHlCU6AlMAUk0pJis42lSNKhaVI0rRogmCIFRgo2lSxkgRgqNpRNKljJUJBBBaSCLgjceYSBRhIo3fZPtQK47jEx3uzHmweehPDvzUWZ0GgmHhp6OkfVYkUpQDtNiHVn0iW1Gs0jxDxbfjG/vK2+Jqg9XYxyNY1qfBp8HiAaopyJJi1/yVvh3zqADiWnpErI4LtWKNSX4eSDB+0bHtZR5/2wql1Huy2nTrPIIaPFpmILzfkbQjHOKrfn8GX/ACMbaSfJb5vmrgS1sB3MX0+U9fyVM0Jd3CcLKUm2daQ8pEppTEqRiJQEpyUDkCFKElOUJQAiUJKRTFMQiUBTlA5MBkyaUkxHGFI0qJpRhasgmCNqhaVI0qWhkoKMKIFGHKKGSgowoNaNtRJjOuisfgaznVnuaYNStHsCT+oWmq19LHu6NJ+izuQ0i0sP4ab6p9/CP0TtKEmcfXTqFHVi3jW4uuR+a5O0VSaOFeN4f6SH9FHj6hl17m/5os2bqwdB/wCEub9ZlEI6ZQfnX8M8/EqcX5+jNlr1Na4feAPzEoFy5NV1Yakf5APlb9F0ypapnup7DymKUoZQMclAUimKBClMU0oSUAIpkiUJTEMUBKclRuKaEKUkEpKqEcbHKZpXIx6mD1qyDoBS1I8NgqlQS0eHqTA/uvSOyGQU8LTLqpa6q8XnZo4aAURjrdItpqOprY86wlJ9U6abXOPkJ+fRX2D7J1HH7Soyl5fE75C31Wqz7AtLCcNUFIiSWiAH/sVg6Wc1aTyyoC1x6qljUXUybbWxusq7E4MXqPqVPIu0j/tE/Vbzs5kGDYCaWHpAiLxqd/8Ap0leZ5ViKdQB7q3wuuJG5+G3K9R7LYylp7tjgXG66Vjg42omMm092U/+qQ7vLsWWNaNVEtswXDoabx5rw3BYbTQxTyPhp0qQPQm7h9F7/wD6okf7bWafvGmPX7VlvkCvCcwaWZaXx/z4p0elOB+q4OslcowXl/v+jz+sbtR81/sy2amI8wPyXfmVCMBS9S75k/sqvMnTp9Arlp1YED8JI+spT+VQf+X5Jl8sYPzNT2BY6pgWgMD9LnDifinn1U2Zvp0rPouaZj0/RY7s9iKrKJFIuEOJ8M9BeymxGZVYJdqIJiXSb9JPK6J0z1ocWXD8dSmzj7hMzGsJiVmTWkwASfK6cPsOnmstETRSZqrHYyhIWWZinNMgwrLB5yTZ491Dx1wUnZaQmKTKgcJBskVAAoSEaAuTFYJULipHuXPUcqSFYtSZRaklekmzgYV0YcSbpJJvgrHvJF32feX4mm1xloO3FhI2XpVHCMdcifUlMkjB3N+tb1I6jl1L8A+qevk1Co2KlJjhHISSXQ4rwOK2eSZ7l9OjiSymC1uoW1OPPmVd9jcbUZV8L3C45/dMkufBJ6luay+k0/b/AB9SoyHuJAcy1vNZjtQwf7blreCK5jz7wXSSS63/AL39vU8bqfr/AG9Tz3M2jU0eX6q9psAwdujj7pJLHN9EPuRl+iH3I+zXwkfzH8gixLdVZjTdpdcSUkl0Puexj+lGx7P0GsNUNaAAx0W8jyvOA8k3SSWWLlmr7Al0zPVFT2SSWrNsfJ2YeqQ6xVzh3kgSkkspGmdbDuKjcU6SSOUheVC8pklaEQykkkqMrP/Z" id="86" name="Google Shape;86;p18"/>
          <p:cNvSpPr/>
          <p:nvPr/>
        </p:nvSpPr>
        <p:spPr>
          <a:xfrm>
            <a:off x="1259682" y="-1343025"/>
            <a:ext cx="2107500" cy="2807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Georgia"/>
              <a:ea typeface="Georgia"/>
              <a:cs typeface="Georgia"/>
              <a:sym typeface="Georgia"/>
            </a:endParaRPr>
          </a:p>
        </p:txBody>
      </p:sp>
      <p:sp>
        <p:nvSpPr>
          <p:cNvPr descr="data:image/jpeg;base64,/9j/4AAQSkZJRgABAQAAAQABAAD/2wCEAAkGBxQSEhUUEhQWFRQVFxwXGBgYFxQcFxUcHBgXGBUYFxcYHCggHBwlHBUUITEhJSkrLi4uGB8zODMsNygtLiwBCgoKDg0OGxAQGywkHyQsLCwsLC0sLCwsNCwsLCwsLCwsLCwsLCwsLCwsLCwsLCwsLCw0LCwsLCwsLCwsLCwsLP/AABEIAQMAwgMBIgACEQEDEQH/xAAbAAABBQEBAAAAAAAAAAAAAAACAAEDBQYEB//EAD4QAAEDAgUBBgMGBQMDBQAAAAEAAhEDIQQFEjFBUQYTImFxgTKRoSNCUrHB0RRicuHwBxUzgqLxJENTY5L/xAAZAQADAQEBAAAAAAAAAAAAAAAAAQIDBAX/xAAvEQACAgEDAgQFBAIDAAAAAAAAAQIRAxIhMQRBUWHB8BMiMnHRQoGh4WKxFDOR/9oADAMBAAIRAxEAPwDFtYjDU4RALzrOkEBEAnhE0JDG0pAIk8KRjAJ4RAIgEDBATwiDUQCBgaUtKOE4CQA6UxCkhJMCOEi1SJiEARkIS1SwmIQBGQhIUkJigREQhLVIQmTAAhAWqWEJCdkkGlJSJJgOEYCEBGAkAgE4SARBIYoShEnASGIBEAnaEUJDGATwnhFCABhIBFCUIAaEoRQmhAAgJEI0xCAATFG3EYcHRWqmk90aSbtvPxDcC28qTGZe+mNRAcw7PYdTD0uNvQwpU1dFaWlZzFCQiDkirJI4QkIyE0IAEoCpIQkJiIk6eEkCEAjCYIwgBkQTpQkMcBFCdoTpDHARQmCJACATp4TgIAaEoRQlCABAShFCUIAFIDrYC5PQC5PyTlLHZc9+ErvaJDW9bkC7oHNkpSoqKtldm3ZmtWe6vhqjKphs0wNLmt2BAc46m2uZ9lFhu17sCW0GHvWNtUk6mmfia0G0A2HG+82pMuzarh2A63aXS0NG5bs+87eWxV/hcgwOMpzRL6NUCSfipmODPwON4vFrdEmkklm4XDXqa7/pL7DUKOPYauEAY4b0y4QTyGjdp8tuiqntLSWuBBFiDuFlcyxdTD19FNvddybD8Q6kiNQI/Nb3K8U3H4cPr6KFX4WOJjvIiLG5bFp3EcqZasSTl9L7919yWlL6eSrlMQpMThn03FrwQ4cfqDyEBWid8GYBQlHCEpiI0k8Jk6EEEaYBEErAUJwkUwQMkCIIQnSGHKRqIsFhKld+ikJPJ2a0dXHgLZYHsphdIbU1PeILnhzgPTSLafr5pqN9yXJIxHfBSNqL1Kv2foVWMFWmzTRdLdHhBEfCQN27GPJc+d5UK2FfQosa0t8VJogDUDMDgTce60eOu5KyHnBco3VwFa5b2exDa7BXoObTa4FxMaSBfTIJBmIXoRwFEUoZSphj7VGhjYNrSFMY3fkNzo8qbWCkBW9zbImYnDltNjW1afipw0DVG7LdRtPMLzym/g2IsRyOspSjW6HGVkwaSQ0XJMAdTwuPEZm/D13nVoYwBrZaTL9OqBxzJPQjqrLAlzZqMEuaRp9Zv8hPzC5M2pHMg7RVa17T8Bs15Aj4h14PndcmScXPTLjuzpxRpWVuZZSMxBr0HNFe32RIDXCB8JMaXTqtsbXCzuKf/DAU2x30y82OgiIa08EXB3mfRdxwtXChzqgdScDoDTYuPJHUD8QsV0ZfhsPi2ltX7OubirMX51g/EPr0XTGWhfM7gve/ikDXdclthO1dHE0DSxtIVC0eE2Dg6PCA7oTHP7LP53gcU89/WpPbQbAaRGlg+6BpNhsJ9AuHPsqqYVzabxuJDxOh/wDQ7kD5q67Nds6uGZpcNVMWv0MyDG6pQ0LXjVr79vIm72exp8kDa9HunVC6pANIOu+nO7HO3LT0i0qtexzCWvBa4GCDuFK3KauJ/wDU0cSyrUbtTDQ2B5OBgmIgGPYq2zLCmrRbUP8AzsaNbbXaBcHq4dek+S5ITUHV7P8Ah+BWSN7lKQgcE7HJ3LqMCKEk5SQKhAIgEwRhADaUQanRBAxg1HhcM6q9tNm7j7Ack+QQuK1HYzK3aHYgjwk6GnoB8R9CbeyKfYlujvo4cUqXd0xA5MeJ5/E4rtywO43XRpCnoYFzQXGQ1cE9SzRfJN7FhQtTAJuSfTe0J6bIcCFVUcdLtM2FgtBlxDrHfhd+eSqk9/wQkV+aVCfQbKoo4x1J3iBcyNpj/OFos6w7o1QSAN4+qyxxzSYPVefHO4P5nT8y6vgtcPiA8d5SkAbg7j+yy3bPI9ZOJoA6iftaY5n/ANxv6/PqrGrVNOHsOxuOCDuPzXXice1hLtQbAmfKJXRLLpWrs3uvVfgIrfYzb6Le5GFc8U3xBc3eT8UzwbbLG/7TWw9Q6wWtYNRePhcOCDzPRaLPstqvqipS8TapkOB+Dkh34YuuWnmNGs40MQXPpgaQ7UQ0nk+RHBHuCuWE2r7p8nopUlRW4XFYfGt0YoEP2ZVb8bRx5OHkVSZ7kr8FBc4PD5DHtnS4dSeHcad/a5tc0yMYbVVLw+i3/jNtTncMe0bEWk7G0b2hyLPzpdRxDRVpVDdjthJ4O4I4I2XZBuKuG8PD8fghpP7jZDnXeMOGxLBVokSZMaYHxT90jqPRV+fdnXNZ3uGiphhy0y9vnUHrI1C2ynzzBtZTe3CNe6kHS95EuaIkNcR92xvA2UPZTHVqJc9j9NJl3E3A6Bo5cb29VrC4p5MfHh74ZEkns+fE5skxlTCs7/U4NJIY0EjWRYmeANrc+i2/ZrOKGKhw+xxAJ2cYMmYLbAyTfnzWWfl1TMtVVlZjqomKJGnwjYMOw4sYHnK48Hhf4Md9iGkVNqdJ1jI3fUabgdAd9/VZscMib/X4eleoRk4uuxss8wBo1LRpfcRMNPLb8CR81wFykyLtP/HNOHrgCrd1JwsCQD4bnkWQBTj1L5J8r2jKaXK4IySkjhJWSIKQIWo0xDwiaEwRhAAVBZb/ALMdqXCkxrqAbh2jQ5zRZp5J8r3PzWEcRz9EbM7qvpCmXnSPDoFmnp4QplleNWvf3DTq2PaRToNAIY0g3Fp9wqPNc2bWltN3wOLXNi4IkT+ajyTA1XUGarHSARebbX9IVPjj3OJ1NOpkeJp69QVz9V1vaKpNUmZxhuX+XZXqGp0AdOfUq/w+DbFj8lgsy7RPqANB0joFxjOzR0kOdM7STPsFhiydOpKLuTff+i3CVWelOxPdkAusdlz5hlGHxQlw0u/GyAffg+6z+IzA1Gh9xb3XIcwrv8FLkbggOPUCefddWHrMU3PFJakuO9ojRJU1sXVDs2xgOqsHNHVob8yTC5sw7G4PGUx3hc15u14dEfh8OzrRY/RVuVZRi3VAS0ta10nvSIPWxuVpM0pGnLmw9vHOkrfHNfDv4bSXiDuMtpbmBxuX1MD9jXBdSdbWJDXb2ji0c9Vn8w7OMB72k8DDi7wbuZaTH4gf86r0LOsV32ErU3QXOaQ0fhcLtPsQCvMKea9xVhpLmCztxPWBPqvOeNwleN87te+534puat8kWVdodFR8iaD7aSAfDEXBsV24nKcOwPfhKT69R7fDTkEUupaJ1O9LkLpxuW4et9vRaZgudRbEVDxpH3b7gb8Qshgs1qsqmoJ1OMaeReIHQhawWu3j2Xden38yn5jdnM2rYer4JkmHCL2mQR87KxzGi7MPDhRTYAS51MeHU77zpDdN4G5Vzm2BOJLzSNNuMLNNW4Ej8tZFifbqsRg21cPViHMe0+IHfzkfquiDjkbyQ2ku359GZ/4skwGAqUC6pVD6TaZIIu1z3fgb+ZPT1CscqdhcdVP8UX03u2cHEi0AWdJPHn53s9WsMycGvr6HNEN1yQTaAeg39PNUeKyuph3xWaWlsH+ocFp6WWy+e7dT8ve5L225RtaOHoZUS8VBVc6NAFiAdpHU7fWF0ZzSOptW0VRqtsHfeH6rKdne0vdPHeMY4SYLmzpB3Hv13XoD6FKvh3GkSZ8bASSGkbtaSJv59QuPIpYsic+/L7e0U0pQ2M3qTqLUkuo5iUFSAqJqkaUAGmNSFHUetJkXZ4ECpiObtYfzd+yaVgU+BwdSsYptJA3P3R6krsqZt3dB2HNFgqMqSXAQ6Qd3RuQOZWxqNBDaTXd2XnS0tjgFxjjZpXnIoEEzf9Vlnk4LbuNJM9GwXazXRqSIJsyCCbgcbj1Kz/8ACuqNL+8aDMFrpBjrMQqrCYcmNAuTB8vUKwxWGrUINam5rTYO3bP9QXB1Ep5Ja3G0l7Y4RS4CoZfJILwf6Z/WysqGXMZeDPUmSVDhMU0MnflQYDMu88RbpPToubVpV+Pv7lNNlrisWQwtb81n69apTdckTseCtDgmgunc8Kyx7G4ikaJa1u7mG3xj99jK26XpfiKT4a4IWTS6MnTzRx+J7j7lT4HNHiq1rCS57g0DeZIEKvdl4IhhuOqtcMyngQ2rUIdVPwDeLX0Ddzk8Lud6mbTSrg0+fdmMQ9g7l1EPDgTLniwkmCGm8x05WLzLL6eJ8LoZXp2dtDo4tvxB8/Ndj+2b9UfbuJ6UahA+Td1TdqsJiBVFWnSqBpGouDSTcAkEC7b8Fb5MKdPEmn4sMFraRm62Kq0MQSGmnpNmnp/dXjsa3EO1UaNMY0Ddx0xOziNtdoB3uJhSYPMW1KTO8b3lekZY525ItBGx3HuslmlWu2u41dTaoNgSCYN23FiI6JwXxHVU1/P5R0PzOapQxGGrQ4PZXkEjkyd55BPIV/isYzGMdSqVG08SAAKmm7hYhj3i5bM8W9lyZhmbqjWE/wDK1hDHTcdQTyPij1WZpgzIkPncbz1C64xeT5ns17/8M38uw/8ADPp1Sx3hew+K4tG9wrnCZrSrt7nEh53DHax4Zi8Ebgge1lA/CVcQ6QHOMAExYwIu4+gXRS7JOtre0ekn9lrLTNXLnyM707FCcLoqFr7hh4PxDiDeJVx2b7RV6NYaAXMJgsaIHqALTfdXlPJKLYlpcepJ/JdRDWiGgAdAAB9ETlGcakrI1VwHXbRLnQHbnZwjfjwn80y5yksFGu7JsjCIIAjC0JLLI8M3V3tSNLT4QfvO4tyBY/JaDvLgPkvnVPiDRBtPHSyzGXY8OeacNDWWEiSZHiM7CXRyNgr6jimn8RHUipEeToggdZMKW2axWxDTxtR+NqFlSP4ejpDYJDjUkuvwQ1rfmuV2F8lPhnUaWIe0Oh9cB8biGw0wRMcLqxrgOv0WWZOSTM3tIrqRLDLf/K1fZ/O2xpqeJjhpc0iRPmDwqLBZVVrCQNDD994Iaf6YEk+g+S02XZHh6I2dVdF3kloB/lZsI85KWCE4u+F5kzaZwdouzYpt77D/APGfiZfwebf5fy/KjwFyvQaDvCQR4Y2KzOFyYmp4RzfyXD1kYa46P1dvMvHN1TJaDPmuhmJDHSQXGxbeL9R+y6hgelioK+HO5G3+GF0dFCcYt+ZlJpszXbGjVp1Wvpjw1pcQIMPnxC2wMhw9T0V/2YGIDPtw1o+63dw9T+i7MLgdLS8g7iJMgWNr83Upeu1dPFZNdUarJcKOsVf8/wA9Uta5e8TCr/l102SV2c9l8LiXa6lMB/8A8jCWv35I395XnHaXI69LEUqTjrZfuahkTyaZ/m3Mc3jletd4uTNsGyvTNOq2Wu9iOhaeCDsVEoxe5cZtHmFPImE6nuLj5WH7rrZltFtwwH1v+anxmDfRcWPJcR96PjaT4XyLTw7oR5hRSsarYbm33DdVgQLDoFG6ohKEpECc5RuKMlAUwIoTpkkAJrV00QACYmBPquUuR0cTpDnG8A2HomJFVkuLdDi5wGo/fLiHegBv722nZX1LM5u5xPMm0+5PnyQszQw2qzAS6Zht7+nK9L7If6dVKkVcc492btotJaXfzVY2twDPnwq+H8R7F69C3Mdh8LXxWP1UWPLWt0AgHSTufFtAm5not5keXaHk4qmZF6bTEGD8ThNxIsPfotvjqbcPhy2iwNDQGsa0ABoJAsBwAVkq1Z7nnVII3npJiPJT1FYUn3/gx1a2WVXFOqHxbdOB6KWkAqhtTngbefmrDL6RqFeN1HVzWy3kylEtCJENuSuzB5Z4TI3QYV7GAncNEl0KpOfVnfCQ0cW+RuunD0co1l6h0+yW5Ld7RNGzKBygflAG4n3P6Kib2nqUv+R7P+qB8lVdov8AU4UB4Whztg2DBMck8egK9XFkwRWlMjRNstc3exsBr5MwWg7dCVV9/b/P3WW7OY+piO+xFZ2p9V/I8LQ0AANbw0S4frJVoKpO3+Hkn8vnztnLJqk2dMcdKi2bWUjX/wB1U/xDWRqdEmBZxk7AGx3JUdfFvInQRFxB3PG5tfjkR1MGoNJed5G5gdePmo6tYQb7Klw2ZmqNTGju3NB3B0k8EgkEzA8lx4t+JcQKL2MaJBN3OtpLGvB23dMXiEOdjUDv7SNmgalyWAm0XaR4xPFgHDzYFlGrQMr1arnNfp7kA0nf/ZUOky0b6BMTEyRwCVmMK4hoDrOAh3qLH6gpMTVExQlSVWERP3hI901enpdHkD8wD+qRJGUDkZQOQBHCSElJACxVQafNcb32XQz80GJwgHWDyLj5T+6aa4Eaz/S/Bue51R5ihTMBo2qVCBJd/SA35herUsaDz+x9V532ZzFuHw9On3dSAJLmAPBLjLiWsJcN+W8BXNPO6NUFrKrQ8j8TQ8HrodefULshpSpGM7b3LmvVqOc7VZurwkG7m8SPp7KKplFOoQXajxvf/OF3U8MREkm25585R0qLxJAkdIsVOSMZbSVkp1wVtXs40kFj4aAZBvHp6oX0+6YQ33P+cq1r1zHwx7Krx4OiSP7rx5Y8K6m4rdJv34GlutyCrS1YckbuEb9JNgvMO2fbCrRqMoUfs/gc+p4SYMy0Ai3BleoYOnFNsumSSAAIE3jzPmvGO0+g4jEPc3wh5G1/D4SY/wClellitUZSXYrGrtGjbl5c0HvTWc6oJcHAw1zgHNDpsBc26Kftfko7h7m0tegDSZILS4hjTP3rkW5VF2DzcCq2g53hqH7PaJgmPU/mFvu0jqlPCPqU5JY5jnNAmWBwDjEEWBkkiAASuHFhksnzdraNnPdJFDljBh6DKbrQJNudz8pU/e3sW+twPcnf0t+qqHZmK1VrGgCQ2dLHeE6QXAAeZ4BtBUtOtVrEMPdd2AQwtAGv8IJPigRuJ9pCpNm7R0/xffS0F9PSdL3gMaT0DJ1SXCLmLHlMzAMZem1rSfvTJ63mdRPn8ly/7dWb4XyKexDYcZ3BlvxNiZ5EKengKryacE9WuJFT+qY259xCu2+wtiLE5m2kWsLQ03u0t0STuWht/cSuvCYs6db2l5HhJYw6nNiz3A3eBtaSJ2XDmHZZrKQqNbXfVDwAyWs1E7X0mBqgbjYnYLoY2tXpPoYhpowNGsAkmN2jTYbG5IsRZXpJtF3gWuqeA0i+k34XuI3gfdJ2GrfyjhVmW5LqdUNRj7VHQDItqLgSTcgtI/crsyzUwNDJeWtANSpuSCblrDB3t4p+q5sxDWF9R7y51T7t9J8g0kgN9lcdkZTCzXMm62loHgBAgDSJtb0jYfRUD36iSdyk95cZJTJSk3uSkIqNyMlA4pARQklKSAIJRtqbA7T8lHKdVRKNRhy2AWm0WNrLvGJOn7QCoJ2cAQB6OCyGBxbqZ6tO4/bzVlRxL6YmdTHG3l5TwknpCrPQ8ipYd7PA0UjzoLmAezSAFeMwMC1Wp7uJt7rzDKc5DHWNiYIPB4PoVsMJ2iEAH81pLJGUfBkOLReVjUAjvJHm1v6KvzF79JJINuJQHMmP+8feFz4isCIlePPNHHN3L9mVT8AssJNIaWiGkyS4+8jSstj8LRrF7XMJLnutpBNybAawVZ4TGOoP1Ay07jhXuDzDCPIJpta4c7H3P7r04SXUQi4tfv6BvBsw/ZbsI6hXbWGtwDS0B7GANnkEVCR025K9BbhaoGzbiCOoNiN11CjN6bw5vTn+6ZmIJ6/X8l1KKi9+TNybMNmHZSiapc0VKbg1oqNa6mGPIjS7QLbafkFBX7O0ywMIeWt2moByejb7rS5/V0V2PDS7wQ8XgwfDfrc/ILgx5lss67QZE/os54o8m8cknRUYfItEmiAwEg6hUqx/2kWuVO/IHQAG0yAdogDzEg3ubqnfg8W5xLXlvE6nAnm/uSuulg8QT48Q+ANg4/3XOlfZm/C5O6vQLL6eNib+QlvmoMHgahLgdNOm6CPCzw2vAA3kmN10NwgaNT3uIbclzjpHnuqLMO0xeTTwtgLOrR9GA/n/AOVp8PvIjX4F7mWYUqDdA+LfSD4nE8u/CP8AIWUxFd1R2p3sOB5BRU6UdSTck3JPUnko4SlKzMZNKRQlSMRUbiiJQFMQKSGUkxHOCjaoWlSNKoklUlN0W46KEFGCpGT1KciR7H9CuzL8wLYa/wBj09f3XDSq6fMHcdVYYDSfFYxwd/dRJFp7lp/FcgyFLTzI7EqsxA0Emndjrxy08grmGInf6T9QubJijk+pGrVOjY4fEMI8UFNXwtNwlroKytLFkbFPVxpEXsfoqSUY0kSoeZoKWLqUdnSOQrvL+0DakNJIdsLn5LB/7ha5UWFxnjsbq8eacX5Dljiz1Co3r9VDUpiCJXDhqzyxpLtwDwuTM84p0mmXyeguf2C9VtJWzkUXZ0d23mVR5t2ooYeQ3xu6D91ks57SVa0tB0s6Dn1PK4cvyw1Dqft+fouVz8DfTXJ2YnMcRjneN2mkD8Is3+5XbTpBgAaIARgACGiAEGpZNtgPKGUpQkpCGJQkpOKAlADkoSnJQkpiAlJMkmByNUjVC0qRpWjRBMEQKiBRhSxkwKOlULTI+R2PkVCEYUjNFl2l4L2DUB8bCfE3+3Qrjx+Hk+FsekSqyhXdTcH0yWuHI+oI5HktdlGKpYvwkCnW5bw7zZ+yFDVsPVRm6lIiBAF9yHT9LLmrNdMDS6POx6GxC3GLyY6drqhrYfTaVM8TiVHImUrKLzZ0ALuweXtBBL7+g/dG3BX4+itcDguqmGNtj10DisY6A0VLREC31lZvNi8iB+a11TBtH3RKp8xc0eGBPTp6/stZqSe4lJFBgMunxP26dVak8BBKSgLFKGUiUJKBDlAUiUBKAEShSKEpiHlCU6AlMAUk0pJis42lSNKhaVI0rRogmCIFRgo2lSxkgRgqNpRNKljJUJBBBaSCLgjceYSBRhIo3fZPtQK47jEx3uzHmweehPDvzUWZ0GgmHhp6OkfVYkUpQDtNiHVn0iW1Gs0jxDxbfjG/vK2+Jqg9XYxyNY1qfBp8HiAaopyJJi1/yVvh3zqADiWnpErI4LtWKNSX4eSDB+0bHtZR5/2wql1Huy2nTrPIIaPFpmILzfkbQjHOKrfn8GX/ACMbaSfJb5vmrgS1sB3MX0+U9fyVM0Jd3CcLKUm2daQ8pEppTEqRiJQEpyUDkCFKElOUJQAiUJKRTFMQiUBTlA5MBkyaUkxHGFI0qJpRhasgmCNqhaVI0qWhkoKMKIFGHKKGSgowoNaNtRJjOuisfgaznVnuaYNStHsCT+oWmq19LHu6NJ+izuQ0i0sP4ab6p9/CP0TtKEmcfXTqFHVi3jW4uuR+a5O0VSaOFeN4f6SH9FHj6hl17m/5os2bqwdB/wCEub9ZlEI6ZQfnX8M8/EqcX5+jNlr1Na4feAPzEoFy5NV1Yakf5APlb9F0ypapnup7DymKUoZQMclAUimKBClMU0oSUAIpkiUJTEMUBKclRuKaEKUkEpKqEcbHKZpXIx6mD1qyDoBS1I8NgqlQS0eHqTA/uvSOyGQU8LTLqpa6q8XnZo4aAURjrdItpqOprY86wlJ9U6abXOPkJ+fRX2D7J1HH7Soyl5fE75C31Wqz7AtLCcNUFIiSWiAH/sVg6Wc1aTyyoC1x6qljUXUybbWxusq7E4MXqPqVPIu0j/tE/Vbzs5kGDYCaWHpAiLxqd/8Ap0leZ5ViKdQB7q3wuuJG5+G3K9R7LYylp7tjgXG66Vjg42omMm092U/+qQ7vLsWWNaNVEtswXDoabx5rw3BYbTQxTyPhp0qQPQm7h9F7/wD6okf7bWafvGmPX7VlvkCvCcwaWZaXx/z4p0elOB+q4OslcowXl/v+jz+sbtR81/sy2amI8wPyXfmVCMBS9S75k/sqvMnTp9Arlp1YED8JI+spT+VQf+X5Jl8sYPzNT2BY6pgWgMD9LnDifinn1U2Zvp0rPouaZj0/RY7s9iKrKJFIuEOJ8M9BeymxGZVYJdqIJiXSb9JPK6J0z1ocWXD8dSmzj7hMzGsJiVmTWkwASfK6cPsOnmstETRSZqrHYyhIWWZinNMgwrLB5yTZ491Dx1wUnZaQmKTKgcJBskVAAoSEaAuTFYJULipHuXPUcqSFYtSZRaklekmzgYV0YcSbpJJvgrHvJF32feX4mm1xloO3FhI2XpVHCMdcifUlMkjB3N+tb1I6jl1L8A+qevk1Co2KlJjhHISSXQ4rwOK2eSZ7l9OjiSymC1uoW1OPPmVd9jcbUZV8L3C45/dMkufBJ6luay+k0/b/AB9SoyHuJAcy1vNZjtQwf7blreCK5jz7wXSSS63/AL39vU8bqfr/AG9Tz3M2jU0eX6q9psAwdujj7pJLHN9EPuRl+iH3I+zXwkfzH8gixLdVZjTdpdcSUkl0Puexj+lGx7P0GsNUNaAAx0W8jyvOA8k3SSWWLlmr7Al0zPVFT2SSWrNsfJ2YeqQ6xVzh3kgSkkspGmdbDuKjcU6SSOUheVC8pklaEQykkkqMrP/Z" id="87" name="Google Shape;87;p18"/>
          <p:cNvSpPr/>
          <p:nvPr/>
        </p:nvSpPr>
        <p:spPr>
          <a:xfrm>
            <a:off x="1259682" y="-1343025"/>
            <a:ext cx="2107500" cy="2807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Georgia"/>
              <a:ea typeface="Georgia"/>
              <a:cs typeface="Georgia"/>
              <a:sym typeface="Georgia"/>
            </a:endParaRPr>
          </a:p>
        </p:txBody>
      </p:sp>
      <p:sp>
        <p:nvSpPr>
          <p:cNvPr descr="data:image/jpeg;base64,/9j/4AAQSkZJRgABAQAAAQABAAD/2wCEAAkGBxQSEhUUEhQWFRQVFxwXGBgYFxQcFxUcHBgXGBUYFxcYHCggHBwlHBUUITEhJSkrLi4uGB8zODMsNygtLiwBCgoKDg0OGxAQGywkHyQsLCwsLC0sLCwsNCwsLCwsLCwsLCwsLCwsLCwsLCwsLCwsLCw0LCwsLCwsLCwsLCwsLP/AABEIAQMAwgMBIgACEQEDEQH/xAAbAAABBQEBAAAAAAAAAAAAAAACAAEDBQYEB//EAD4QAAEDAgUBBgMGBQMDBQAAAAEAAhEDIQQFEjFBUQYTImFxgTKRoSNCUrHB0RRicuHwBxUzgqLxJENTY5L/xAAZAQADAQEBAAAAAAAAAAAAAAAAAQIDBAX/xAAvEQACAgEDAgQFBAIDAAAAAAAAAQIRAxIhMQRBUWHB8BMiMnHRQoGh4WKxFDOR/9oADAMBAAIRAxEAPwDFtYjDU4RALzrOkEBEAnhE0JDG0pAIk8KRjAJ4RAIgEDBATwiDUQCBgaUtKOE4CQA6UxCkhJMCOEi1SJiEARkIS1SwmIQBGQhIUkJigREQhLVIQmTAAhAWqWEJCdkkGlJSJJgOEYCEBGAkAgE4SARBIYoShEnASGIBEAnaEUJDGATwnhFCABhIBFCUIAaEoRQmhAAgJEI0xCAATFG3EYcHRWqmk90aSbtvPxDcC28qTGZe+mNRAcw7PYdTD0uNvQwpU1dFaWlZzFCQiDkirJI4QkIyE0IAEoCpIQkJiIk6eEkCEAjCYIwgBkQTpQkMcBFCdoTpDHARQmCJACATp4TgIAaEoRQlCABAShFCUIAFIDrYC5PQC5PyTlLHZc9+ErvaJDW9bkC7oHNkpSoqKtldm3ZmtWe6vhqjKphs0wNLmt2BAc46m2uZ9lFhu17sCW0GHvWNtUk6mmfia0G0A2HG+82pMuzarh2A63aXS0NG5bs+87eWxV/hcgwOMpzRL6NUCSfipmODPwON4vFrdEmkklm4XDXqa7/pL7DUKOPYauEAY4b0y4QTyGjdp8tuiqntLSWuBBFiDuFlcyxdTD19FNvddybD8Q6kiNQI/Nb3K8U3H4cPr6KFX4WOJjvIiLG5bFp3EcqZasSTl9L7919yWlL6eSrlMQpMThn03FrwQ4cfqDyEBWid8GYBQlHCEpiI0k8Jk6EEEaYBEErAUJwkUwQMkCIIQnSGHKRqIsFhKld+ikJPJ2a0dXHgLZYHsphdIbU1PeILnhzgPTSLafr5pqN9yXJIxHfBSNqL1Kv2foVWMFWmzTRdLdHhBEfCQN27GPJc+d5UK2FfQosa0t8VJogDUDMDgTce60eOu5KyHnBco3VwFa5b2exDa7BXoObTa4FxMaSBfTIJBmIXoRwFEUoZSphj7VGhjYNrSFMY3fkNzo8qbWCkBW9zbImYnDltNjW1afipw0DVG7LdRtPMLzym/g2IsRyOspSjW6HGVkwaSQ0XJMAdTwuPEZm/D13nVoYwBrZaTL9OqBxzJPQjqrLAlzZqMEuaRp9Zv8hPzC5M2pHMg7RVa17T8Bs15Aj4h14PndcmScXPTLjuzpxRpWVuZZSMxBr0HNFe32RIDXCB8JMaXTqtsbXCzuKf/DAU2x30y82OgiIa08EXB3mfRdxwtXChzqgdScDoDTYuPJHUD8QsV0ZfhsPi2ltX7OubirMX51g/EPr0XTGWhfM7gve/ikDXdclthO1dHE0DSxtIVC0eE2Dg6PCA7oTHP7LP53gcU89/WpPbQbAaRGlg+6BpNhsJ9AuHPsqqYVzabxuJDxOh/wDQ7kD5q67Nds6uGZpcNVMWv0MyDG6pQ0LXjVr79vIm72exp8kDa9HunVC6pANIOu+nO7HO3LT0i0qtexzCWvBa4GCDuFK3KauJ/wDU0cSyrUbtTDQ2B5OBgmIgGPYq2zLCmrRbUP8AzsaNbbXaBcHq4dek+S5ITUHV7P8Ah+BWSN7lKQgcE7HJ3LqMCKEk5SQKhAIgEwRhADaUQanRBAxg1HhcM6q9tNm7j7Ack+QQuK1HYzK3aHYgjwk6GnoB8R9CbeyKfYlujvo4cUqXd0xA5MeJ5/E4rtywO43XRpCnoYFzQXGQ1cE9SzRfJN7FhQtTAJuSfTe0J6bIcCFVUcdLtM2FgtBlxDrHfhd+eSqk9/wQkV+aVCfQbKoo4x1J3iBcyNpj/OFos6w7o1QSAN4+qyxxzSYPVefHO4P5nT8y6vgtcPiA8d5SkAbg7j+yy3bPI9ZOJoA6iftaY5n/ANxv6/PqrGrVNOHsOxuOCDuPzXXice1hLtQbAmfKJXRLLpWrs3uvVfgIrfYzb6Le5GFc8U3xBc3eT8UzwbbLG/7TWw9Q6wWtYNRePhcOCDzPRaLPstqvqipS8TapkOB+Dkh34YuuWnmNGs40MQXPpgaQ7UQ0nk+RHBHuCuWE2r7p8nopUlRW4XFYfGt0YoEP2ZVb8bRx5OHkVSZ7kr8FBc4PD5DHtnS4dSeHcad/a5tc0yMYbVVLw+i3/jNtTncMe0bEWk7G0b2hyLPzpdRxDRVpVDdjthJ4O4I4I2XZBuKuG8PD8fghpP7jZDnXeMOGxLBVokSZMaYHxT90jqPRV+fdnXNZ3uGiphhy0y9vnUHrI1C2ynzzBtZTe3CNe6kHS95EuaIkNcR92xvA2UPZTHVqJc9j9NJl3E3A6Bo5cb29VrC4p5MfHh74ZEkns+fE5skxlTCs7/U4NJIY0EjWRYmeANrc+i2/ZrOKGKhw+xxAJ2cYMmYLbAyTfnzWWfl1TMtVVlZjqomKJGnwjYMOw4sYHnK48Hhf4Md9iGkVNqdJ1jI3fUabgdAd9/VZscMib/X4eleoRk4uuxss8wBo1LRpfcRMNPLb8CR81wFykyLtP/HNOHrgCrd1JwsCQD4bnkWQBTj1L5J8r2jKaXK4IySkjhJWSIKQIWo0xDwiaEwRhAAVBZb/ALMdqXCkxrqAbh2jQ5zRZp5J8r3PzWEcRz9EbM7qvpCmXnSPDoFmnp4QplleNWvf3DTq2PaRToNAIY0g3Fp9wqPNc2bWltN3wOLXNi4IkT+ajyTA1XUGarHSARebbX9IVPjj3OJ1NOpkeJp69QVz9V1vaKpNUmZxhuX+XZXqGp0AdOfUq/w+DbFj8lgsy7RPqANB0joFxjOzR0kOdM7STPsFhiydOpKLuTff+i3CVWelOxPdkAusdlz5hlGHxQlw0u/GyAffg+6z+IzA1Gh9xb3XIcwrv8FLkbggOPUCefddWHrMU3PFJakuO9ojRJU1sXVDs2xgOqsHNHVob8yTC5sw7G4PGUx3hc15u14dEfh8OzrRY/RVuVZRi3VAS0ta10nvSIPWxuVpM0pGnLmw9vHOkrfHNfDv4bSXiDuMtpbmBxuX1MD9jXBdSdbWJDXb2ji0c9Vn8w7OMB72k8DDi7wbuZaTH4gf86r0LOsV32ErU3QXOaQ0fhcLtPsQCvMKea9xVhpLmCztxPWBPqvOeNwleN87te+534puat8kWVdodFR8iaD7aSAfDEXBsV24nKcOwPfhKT69R7fDTkEUupaJ1O9LkLpxuW4et9vRaZgudRbEVDxpH3b7gb8Qshgs1qsqmoJ1OMaeReIHQhawWu3j2Xden38yn5jdnM2rYer4JkmHCL2mQR87KxzGi7MPDhRTYAS51MeHU77zpDdN4G5Vzm2BOJLzSNNuMLNNW4Ej8tZFifbqsRg21cPViHMe0+IHfzkfquiDjkbyQ2ku359GZ/4skwGAqUC6pVD6TaZIIu1z3fgb+ZPT1CscqdhcdVP8UX03u2cHEi0AWdJPHn53s9WsMycGvr6HNEN1yQTaAeg39PNUeKyuph3xWaWlsH+ocFp6WWy+e7dT8ve5L225RtaOHoZUS8VBVc6NAFiAdpHU7fWF0ZzSOptW0VRqtsHfeH6rKdne0vdPHeMY4SYLmzpB3Hv13XoD6FKvh3GkSZ8bASSGkbtaSJv59QuPIpYsic+/L7e0U0pQ2M3qTqLUkuo5iUFSAqJqkaUAGmNSFHUetJkXZ4ECpiObtYfzd+yaVgU+BwdSsYptJA3P3R6krsqZt3dB2HNFgqMqSXAQ6Qd3RuQOZWxqNBDaTXd2XnS0tjgFxjjZpXnIoEEzf9Vlnk4LbuNJM9GwXazXRqSIJsyCCbgcbj1Kz/8ACuqNL+8aDMFrpBjrMQqrCYcmNAuTB8vUKwxWGrUINam5rTYO3bP9QXB1Ep5Ja3G0l7Y4RS4CoZfJILwf6Z/WysqGXMZeDPUmSVDhMU0MnflQYDMu88RbpPToubVpV+Pv7lNNlrisWQwtb81n69apTdckTseCtDgmgunc8Kyx7G4ikaJa1u7mG3xj99jK26XpfiKT4a4IWTS6MnTzRx+J7j7lT4HNHiq1rCS57g0DeZIEKvdl4IhhuOqtcMyngQ2rUIdVPwDeLX0Ddzk8Lud6mbTSrg0+fdmMQ9g7l1EPDgTLniwkmCGm8x05WLzLL6eJ8LoZXp2dtDo4tvxB8/Ndj+2b9UfbuJ6UahA+Td1TdqsJiBVFWnSqBpGouDSTcAkEC7b8Fb5MKdPEmn4sMFraRm62Kq0MQSGmnpNmnp/dXjsa3EO1UaNMY0Ddx0xOziNtdoB3uJhSYPMW1KTO8b3lekZY525ItBGx3HuslmlWu2u41dTaoNgSCYN23FiI6JwXxHVU1/P5R0PzOapQxGGrQ4PZXkEjkyd55BPIV/isYzGMdSqVG08SAAKmm7hYhj3i5bM8W9lyZhmbqjWE/wDK1hDHTcdQTyPij1WZpgzIkPncbz1C64xeT5ns17/8M38uw/8ADPp1Sx3hew+K4tG9wrnCZrSrt7nEh53DHax4Zi8Ebgge1lA/CVcQ6QHOMAExYwIu4+gXRS7JOtre0ekn9lrLTNXLnyM707FCcLoqFr7hh4PxDiDeJVx2b7RV6NYaAXMJgsaIHqALTfdXlPJKLYlpcepJ/JdRDWiGgAdAAB9ETlGcakrI1VwHXbRLnQHbnZwjfjwn80y5yksFGu7JsjCIIAjC0JLLI8M3V3tSNLT4QfvO4tyBY/JaDvLgPkvnVPiDRBtPHSyzGXY8OeacNDWWEiSZHiM7CXRyNgr6jimn8RHUipEeToggdZMKW2axWxDTxtR+NqFlSP4ejpDYJDjUkuvwQ1rfmuV2F8lPhnUaWIe0Oh9cB8biGw0wRMcLqxrgOv0WWZOSTM3tIrqRLDLf/K1fZ/O2xpqeJjhpc0iRPmDwqLBZVVrCQNDD994Iaf6YEk+g+S02XZHh6I2dVdF3kloB/lZsI85KWCE4u+F5kzaZwdouzYpt77D/APGfiZfwebf5fy/KjwFyvQaDvCQR4Y2KzOFyYmp4RzfyXD1kYa46P1dvMvHN1TJaDPmuhmJDHSQXGxbeL9R+y6hgelioK+HO5G3+GF0dFCcYt+ZlJpszXbGjVp1Wvpjw1pcQIMPnxC2wMhw9T0V/2YGIDPtw1o+63dw9T+i7MLgdLS8g7iJMgWNr83Upeu1dPFZNdUarJcKOsVf8/wA9Uta5e8TCr/l102SV2c9l8LiXa6lMB/8A8jCWv35I395XnHaXI69LEUqTjrZfuahkTyaZ/m3Mc3jletd4uTNsGyvTNOq2Wu9iOhaeCDsVEoxe5cZtHmFPImE6nuLj5WH7rrZltFtwwH1v+anxmDfRcWPJcR96PjaT4XyLTw7oR5hRSsarYbm33DdVgQLDoFG6ohKEpECc5RuKMlAUwIoTpkkAJrV00QACYmBPquUuR0cTpDnG8A2HomJFVkuLdDi5wGo/fLiHegBv722nZX1LM5u5xPMm0+5PnyQszQw2qzAS6Zht7+nK9L7If6dVKkVcc492btotJaXfzVY2twDPnwq+H8R7F69C3Mdh8LXxWP1UWPLWt0AgHSTufFtAm5not5keXaHk4qmZF6bTEGD8ThNxIsPfotvjqbcPhy2iwNDQGsa0ABoJAsBwAVkq1Z7nnVII3npJiPJT1FYUn3/gx1a2WVXFOqHxbdOB6KWkAqhtTngbefmrDL6RqFeN1HVzWy3kylEtCJENuSuzB5Z4TI3QYV7GAncNEl0KpOfVnfCQ0cW+RuunD0co1l6h0+yW5Ld7RNGzKBygflAG4n3P6Kib2nqUv+R7P+qB8lVdov8AU4UB4Whztg2DBMck8egK9XFkwRWlMjRNstc3exsBr5MwWg7dCVV9/b/P3WW7OY+piO+xFZ2p9V/I8LQ0AANbw0S4frJVoKpO3+Hkn8vnztnLJqk2dMcdKi2bWUjX/wB1U/xDWRqdEmBZxk7AGx3JUdfFvInQRFxB3PG5tfjkR1MGoNJed5G5gdePmo6tYQb7Klw2ZmqNTGju3NB3B0k8EgkEzA8lx4t+JcQKL2MaJBN3OtpLGvB23dMXiEOdjUDv7SNmgalyWAm0XaR4xPFgHDzYFlGrQMr1arnNfp7kA0nf/ZUOky0b6BMTEyRwCVmMK4hoDrOAh3qLH6gpMTVExQlSVWERP3hI901enpdHkD8wD+qRJGUDkZQOQBHCSElJACxVQafNcb32XQz80GJwgHWDyLj5T+6aa4Eaz/S/Bue51R5ihTMBo2qVCBJd/SA35herUsaDz+x9V532ZzFuHw9On3dSAJLmAPBLjLiWsJcN+W8BXNPO6NUFrKrQ8j8TQ8HrodefULshpSpGM7b3LmvVqOc7VZurwkG7m8SPp7KKplFOoQXajxvf/OF3U8MREkm25585R0qLxJAkdIsVOSMZbSVkp1wVtXs40kFj4aAZBvHp6oX0+6YQ33P+cq1r1zHwx7Krx4OiSP7rx5Y8K6m4rdJv34GlutyCrS1YckbuEb9JNgvMO2fbCrRqMoUfs/gc+p4SYMy0Ai3BleoYOnFNsumSSAAIE3jzPmvGO0+g4jEPc3wh5G1/D4SY/wClellitUZSXYrGrtGjbl5c0HvTWc6oJcHAw1zgHNDpsBc26Kftfko7h7m0tegDSZILS4hjTP3rkW5VF2DzcCq2g53hqH7PaJgmPU/mFvu0jqlPCPqU5JY5jnNAmWBwDjEEWBkkiAASuHFhksnzdraNnPdJFDljBh6DKbrQJNudz8pU/e3sW+twPcnf0t+qqHZmK1VrGgCQ2dLHeE6QXAAeZ4BtBUtOtVrEMPdd2AQwtAGv8IJPigRuJ9pCpNm7R0/xffS0F9PSdL3gMaT0DJ1SXCLmLHlMzAMZem1rSfvTJ63mdRPn8ly/7dWb4XyKexDYcZ3BlvxNiZ5EKengKryacE9WuJFT+qY259xCu2+wtiLE5m2kWsLQ03u0t0STuWht/cSuvCYs6db2l5HhJYw6nNiz3A3eBtaSJ2XDmHZZrKQqNbXfVDwAyWs1E7X0mBqgbjYnYLoY2tXpPoYhpowNGsAkmN2jTYbG5IsRZXpJtF3gWuqeA0i+k34XuI3gfdJ2GrfyjhVmW5LqdUNRj7VHQDItqLgSTcgtI/crsyzUwNDJeWtANSpuSCblrDB3t4p+q5sxDWF9R7y51T7t9J8g0kgN9lcdkZTCzXMm62loHgBAgDSJtb0jYfRUD36iSdyk95cZJTJSk3uSkIqNyMlA4pARQklKSAIJRtqbA7T8lHKdVRKNRhy2AWm0WNrLvGJOn7QCoJ2cAQB6OCyGBxbqZ6tO4/bzVlRxL6YmdTHG3l5TwknpCrPQ8ipYd7PA0UjzoLmAezSAFeMwMC1Wp7uJt7rzDKc5DHWNiYIPB4PoVsMJ2iEAH81pLJGUfBkOLReVjUAjvJHm1v6KvzF79JJINuJQHMmP+8feFz4isCIlePPNHHN3L9mVT8AssJNIaWiGkyS4+8jSstj8LRrF7XMJLnutpBNybAawVZ4TGOoP1Ay07jhXuDzDCPIJpta4c7H3P7r04SXUQi4tfv6BvBsw/ZbsI6hXbWGtwDS0B7GANnkEVCR025K9BbhaoGzbiCOoNiN11CjN6bw5vTn+6ZmIJ6/X8l1KKi9+TNybMNmHZSiapc0VKbg1oqNa6mGPIjS7QLbafkFBX7O0ywMIeWt2moByejb7rS5/V0V2PDS7wQ8XgwfDfrc/ILgx5lss67QZE/os54o8m8cknRUYfItEmiAwEg6hUqx/2kWuVO/IHQAG0yAdogDzEg3ubqnfg8W5xLXlvE6nAnm/uSuulg8QT48Q+ANg4/3XOlfZm/C5O6vQLL6eNib+QlvmoMHgahLgdNOm6CPCzw2vAA3kmN10NwgaNT3uIbclzjpHnuqLMO0xeTTwtgLOrR9GA/n/AOVp8PvIjX4F7mWYUqDdA+LfSD4nE8u/CP8AIWUxFd1R2p3sOB5BRU6UdSTck3JPUnko4SlKzMZNKRQlSMRUbiiJQFMQKSGUkxHOCjaoWlSNKoklUlN0W46KEFGCpGT1KciR7H9CuzL8wLYa/wBj09f3XDSq6fMHcdVYYDSfFYxwd/dRJFp7lp/FcgyFLTzI7EqsxA0Emndjrxy08grmGInf6T9QubJijk+pGrVOjY4fEMI8UFNXwtNwlroKytLFkbFPVxpEXsfoqSUY0kSoeZoKWLqUdnSOQrvL+0DakNJIdsLn5LB/7ha5UWFxnjsbq8eacX5Dljiz1Co3r9VDUpiCJXDhqzyxpLtwDwuTM84p0mmXyeguf2C9VtJWzkUXZ0d23mVR5t2ooYeQ3xu6D91ks57SVa0tB0s6Dn1PK4cvyw1Dqft+fouVz8DfTXJ2YnMcRjneN2mkD8Is3+5XbTpBgAaIARgACGiAEGpZNtgPKGUpQkpCGJQkpOKAlADkoSnJQkpiAlJMkmByNUjVC0qRpWjRBMEQKiBRhSxkwKOlULTI+R2PkVCEYUjNFl2l4L2DUB8bCfE3+3Qrjx+Hk+FsekSqyhXdTcH0yWuHI+oI5HktdlGKpYvwkCnW5bw7zZ+yFDVsPVRm6lIiBAF9yHT9LLmrNdMDS6POx6GxC3GLyY6drqhrYfTaVM8TiVHImUrKLzZ0ALuweXtBBL7+g/dG3BX4+itcDguqmGNtj10DisY6A0VLREC31lZvNi8iB+a11TBtH3RKp8xc0eGBPTp6/stZqSe4lJFBgMunxP26dVak8BBKSgLFKGUiUJKBDlAUiUBKAEShSKEpiHlCU6AlMAUk0pJis42lSNKhaVI0rRogmCIFRgo2lSxkgRgqNpRNKljJUJBBBaSCLgjceYSBRhIo3fZPtQK47jEx3uzHmweehPDvzUWZ0GgmHhp6OkfVYkUpQDtNiHVn0iW1Gs0jxDxbfjG/vK2+Jqg9XYxyNY1qfBp8HiAaopyJJi1/yVvh3zqADiWnpErI4LtWKNSX4eSDB+0bHtZR5/2wql1Huy2nTrPIIaPFpmILzfkbQjHOKrfn8GX/ACMbaSfJb5vmrgS1sB3MX0+U9fyVM0Jd3CcLKUm2daQ8pEppTEqRiJQEpyUDkCFKElOUJQAiUJKRTFMQiUBTlA5MBkyaUkxHGFI0qJpRhasgmCNqhaVI0qWhkoKMKIFGHKKGSgowoNaNtRJjOuisfgaznVnuaYNStHsCT+oWmq19LHu6NJ+izuQ0i0sP4ab6p9/CP0TtKEmcfXTqFHVi3jW4uuR+a5O0VSaOFeN4f6SH9FHj6hl17m/5os2bqwdB/wCEub9ZlEI6ZQfnX8M8/EqcX5+jNlr1Na4feAPzEoFy5NV1Yakf5APlb9F0ypapnup7DymKUoZQMclAUimKBClMU0oSUAIpkiUJTEMUBKclRuKaEKUkEpKqEcbHKZpXIx6mD1qyDoBS1I8NgqlQS0eHqTA/uvSOyGQU8LTLqpa6q8XnZo4aAURjrdItpqOprY86wlJ9U6abXOPkJ+fRX2D7J1HH7Soyl5fE75C31Wqz7AtLCcNUFIiSWiAH/sVg6Wc1aTyyoC1x6qljUXUybbWxusq7E4MXqPqVPIu0j/tE/Vbzs5kGDYCaWHpAiLxqd/8Ap0leZ5ViKdQB7q3wuuJG5+G3K9R7LYylp7tjgXG66Vjg42omMm092U/+qQ7vLsWWNaNVEtswXDoabx5rw3BYbTQxTyPhp0qQPQm7h9F7/wD6okf7bWafvGmPX7VlvkCvCcwaWZaXx/z4p0elOB+q4OslcowXl/v+jz+sbtR81/sy2amI8wPyXfmVCMBS9S75k/sqvMnTp9Arlp1YED8JI+spT+VQf+X5Jl8sYPzNT2BY6pgWgMD9LnDifinn1U2Zvp0rPouaZj0/RY7s9iKrKJFIuEOJ8M9BeymxGZVYJdqIJiXSb9JPK6J0z1ocWXD8dSmzj7hMzGsJiVmTWkwASfK6cPsOnmstETRSZqrHYyhIWWZinNMgwrLB5yTZ491Dx1wUnZaQmKTKgcJBskVAAoSEaAuTFYJULipHuXPUcqSFYtSZRaklekmzgYV0YcSbpJJvgrHvJF32feX4mm1xloO3FhI2XpVHCMdcifUlMkjB3N+tb1I6jl1L8A+qevk1Co2KlJjhHISSXQ4rwOK2eSZ7l9OjiSymC1uoW1OPPmVd9jcbUZV8L3C45/dMkufBJ6luay+k0/b/AB9SoyHuJAcy1vNZjtQwf7blreCK5jz7wXSSS63/AL39vU8bqfr/AG9Tz3M2jU0eX6q9psAwdujj7pJLHN9EPuRl+iH3I+zXwkfzH8gixLdVZjTdpdcSUkl0Puexj+lGx7P0GsNUNaAAx0W8jyvOA8k3SSWWLlmr7Al0zPVFT2SSWrNsfJ2YeqQ6xVzh3kgSkkspGmdbDuKjcU6SSOUheVC8pklaEQykkkqMrP/Z" id="88" name="Google Shape;88;p18"/>
          <p:cNvSpPr/>
          <p:nvPr/>
        </p:nvSpPr>
        <p:spPr>
          <a:xfrm>
            <a:off x="966029" y="447038"/>
            <a:ext cx="6990300" cy="720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 sz="2300" u="none" cap="none" strike="noStrike">
                <a:solidFill>
                  <a:schemeClr val="dk1"/>
                </a:solidFill>
                <a:latin typeface="Bell MT"/>
                <a:ea typeface="Bell MT"/>
                <a:cs typeface="Bell MT"/>
                <a:sym typeface="Bell MT"/>
              </a:rPr>
              <a:t>How do Sensation and Perception work together?</a:t>
            </a:r>
            <a:endParaRPr b="1" i="0" sz="2300" u="none" cap="none" strike="noStrike">
              <a:solidFill>
                <a:schemeClr val="dk1"/>
              </a:solidFill>
              <a:latin typeface="Bell MT"/>
              <a:ea typeface="Bell MT"/>
              <a:cs typeface="Bell MT"/>
              <a:sym typeface="Bell M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55555"/>
              <a:buNone/>
            </a:pPr>
            <a:r>
              <a:rPr b="0" i="0" lang="en" sz="2700" u="none" strike="noStrike">
                <a:latin typeface="Arial"/>
                <a:ea typeface="Arial"/>
                <a:cs typeface="Arial"/>
                <a:sym typeface="Arial"/>
              </a:rPr>
              <a:t>The process of sensation and perception (visual) Diagram</a:t>
            </a:r>
            <a:br>
              <a:rPr b="0" i="0" lang="en" sz="2700" u="none" strike="noStrike">
                <a:latin typeface="Arial"/>
                <a:ea typeface="Arial"/>
                <a:cs typeface="Arial"/>
                <a:sym typeface="Arial"/>
              </a:rPr>
            </a:br>
            <a:endParaRPr sz="2700"/>
          </a:p>
        </p:txBody>
      </p:sp>
      <p:pic>
        <p:nvPicPr>
          <p:cNvPr descr="Sensation and Perception – EMPOWER COMMUNITY HEALTH, llc- 617-729-9111" id="94" name="Google Shape;94;p19"/>
          <p:cNvPicPr preferRelativeResize="0"/>
          <p:nvPr/>
        </p:nvPicPr>
        <p:blipFill rotWithShape="1">
          <a:blip r:embed="rId3">
            <a:alphaModFix/>
          </a:blip>
          <a:srcRect b="0" l="0" r="0" t="0"/>
          <a:stretch/>
        </p:blipFill>
        <p:spPr>
          <a:xfrm>
            <a:off x="1515534" y="965333"/>
            <a:ext cx="5545667" cy="3697111"/>
          </a:xfrm>
          <a:prstGeom prst="rect">
            <a:avLst/>
          </a:prstGeom>
          <a:noFill/>
          <a:ln>
            <a:noFill/>
          </a:ln>
        </p:spPr>
      </p:pic>
      <p:sp>
        <p:nvSpPr>
          <p:cNvPr id="95" name="Google Shape;95;p19"/>
          <p:cNvSpPr txBox="1"/>
          <p:nvPr/>
        </p:nvSpPr>
        <p:spPr>
          <a:xfrm>
            <a:off x="550333" y="4743158"/>
            <a:ext cx="4572000" cy="2079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0" i="0" lang="en" sz="900" u="none" cap="none" strike="noStrike">
                <a:solidFill>
                  <a:srgbClr val="000000"/>
                </a:solidFill>
                <a:latin typeface="Arial"/>
                <a:ea typeface="Arial"/>
                <a:cs typeface="Arial"/>
                <a:sym typeface="Arial"/>
              </a:rPr>
              <a:t>Source of diagram: https://empowercommunityhealth.org/sensation-and-perception/</a:t>
            </a:r>
            <a:endParaRPr sz="1100"/>
          </a:p>
        </p:txBody>
      </p:sp>
      <p:sp>
        <p:nvSpPr>
          <p:cNvPr id="96" name="Google Shape;96;p19"/>
          <p:cNvSpPr/>
          <p:nvPr/>
        </p:nvSpPr>
        <p:spPr>
          <a:xfrm>
            <a:off x="948266" y="3587559"/>
            <a:ext cx="7247400" cy="9942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1400"/>
              <a:buNone/>
            </a:pPr>
            <a:r>
              <a:rPr lang="en">
                <a:latin typeface="Bell MT"/>
                <a:ea typeface="Bell MT"/>
                <a:cs typeface="Bell MT"/>
                <a:sym typeface="Bell MT"/>
              </a:rPr>
              <a:t>Thresholds</a:t>
            </a:r>
            <a:endParaRPr/>
          </a:p>
        </p:txBody>
      </p:sp>
      <p:sp>
        <p:nvSpPr>
          <p:cNvPr id="102" name="Google Shape;102;p20"/>
          <p:cNvSpPr txBox="1"/>
          <p:nvPr>
            <p:ph idx="1" type="body"/>
          </p:nvPr>
        </p:nvSpPr>
        <p:spPr>
          <a:xfrm>
            <a:off x="1184121" y="1268016"/>
            <a:ext cx="7331100" cy="31449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b="1" i="1" lang="en">
                <a:solidFill>
                  <a:schemeClr val="dk1"/>
                </a:solidFill>
                <a:latin typeface="Bell MT"/>
                <a:ea typeface="Bell MT"/>
                <a:cs typeface="Bell MT"/>
                <a:sym typeface="Bell MT"/>
              </a:rPr>
              <a:t>Threshold:</a:t>
            </a:r>
            <a:r>
              <a:rPr lang="en">
                <a:solidFill>
                  <a:schemeClr val="dk1"/>
                </a:solidFill>
                <a:latin typeface="Bell MT"/>
                <a:ea typeface="Bell MT"/>
                <a:cs typeface="Bell MT"/>
                <a:sym typeface="Bell MT"/>
              </a:rPr>
              <a:t> A dividing line between what has detectable energy and what does not.</a:t>
            </a:r>
            <a:endParaRPr>
              <a:solidFill>
                <a:schemeClr val="dk1"/>
              </a:solidFill>
              <a:latin typeface="Bell MT"/>
              <a:ea typeface="Bell MT"/>
              <a:cs typeface="Bell MT"/>
              <a:sym typeface="Bell MT"/>
            </a:endParaRPr>
          </a:p>
          <a:p>
            <a:pPr indent="0" lvl="0" marL="0" rtl="0" algn="l">
              <a:lnSpc>
                <a:spcPct val="90000"/>
              </a:lnSpc>
              <a:spcBef>
                <a:spcPts val="800"/>
              </a:spcBef>
              <a:spcAft>
                <a:spcPts val="0"/>
              </a:spcAft>
              <a:buSzPts val="1400"/>
              <a:buNone/>
            </a:pPr>
            <a:r>
              <a:t/>
            </a:r>
            <a:endParaRPr>
              <a:solidFill>
                <a:schemeClr val="dk1"/>
              </a:solidFill>
              <a:latin typeface="Bell MT"/>
              <a:ea typeface="Bell MT"/>
              <a:cs typeface="Bell MT"/>
              <a:sym typeface="Bell MT"/>
            </a:endParaRPr>
          </a:p>
          <a:p>
            <a:pPr indent="0" lvl="0" marL="0" rtl="0" algn="l">
              <a:lnSpc>
                <a:spcPct val="90000"/>
              </a:lnSpc>
              <a:spcBef>
                <a:spcPts val="800"/>
              </a:spcBef>
              <a:spcAft>
                <a:spcPts val="0"/>
              </a:spcAft>
              <a:buSzPts val="1400"/>
              <a:buNone/>
            </a:pPr>
            <a:r>
              <a:t/>
            </a:r>
            <a:endParaRPr>
              <a:solidFill>
                <a:schemeClr val="dk1"/>
              </a:solidFill>
              <a:latin typeface="Bell MT"/>
              <a:ea typeface="Bell MT"/>
              <a:cs typeface="Bell MT"/>
              <a:sym typeface="Bell MT"/>
            </a:endParaRPr>
          </a:p>
          <a:p>
            <a:pPr indent="0" lvl="0" marL="0" rtl="0" algn="l">
              <a:lnSpc>
                <a:spcPct val="90000"/>
              </a:lnSpc>
              <a:spcBef>
                <a:spcPts val="800"/>
              </a:spcBef>
              <a:spcAft>
                <a:spcPts val="0"/>
              </a:spcAft>
              <a:buSzPts val="1400"/>
              <a:buNone/>
            </a:pPr>
            <a:r>
              <a:rPr b="1" i="1" lang="en">
                <a:solidFill>
                  <a:schemeClr val="dk1"/>
                </a:solidFill>
                <a:latin typeface="Bell MT"/>
                <a:ea typeface="Bell MT"/>
                <a:cs typeface="Bell MT"/>
                <a:sym typeface="Bell MT"/>
              </a:rPr>
              <a:t>Absolute Threshold:</a:t>
            </a:r>
            <a:r>
              <a:rPr lang="en">
                <a:solidFill>
                  <a:schemeClr val="dk1"/>
                </a:solidFill>
                <a:latin typeface="Bell MT"/>
                <a:ea typeface="Bell MT"/>
                <a:cs typeface="Bell MT"/>
                <a:sym typeface="Bell MT"/>
              </a:rPr>
              <a:t> The minimum stimulation needed to detect a particular stimulus 50 percent of the time.</a:t>
            </a:r>
            <a:endParaRPr>
              <a:solidFill>
                <a:schemeClr val="dk1"/>
              </a:solidFill>
              <a:latin typeface="Bell MT"/>
              <a:ea typeface="Bell MT"/>
              <a:cs typeface="Bell MT"/>
              <a:sym typeface="Bell MT"/>
            </a:endParaRPr>
          </a:p>
          <a:p>
            <a:pPr indent="-254000" lvl="0" marL="342900" rtl="0" algn="l">
              <a:lnSpc>
                <a:spcPct val="90000"/>
              </a:lnSpc>
              <a:spcBef>
                <a:spcPts val="800"/>
              </a:spcBef>
              <a:spcAft>
                <a:spcPts val="0"/>
              </a:spcAft>
              <a:buSzPts val="1400"/>
              <a:buNone/>
            </a:pPr>
            <a:r>
              <a:t/>
            </a:r>
            <a:endParaRPr>
              <a:solidFill>
                <a:schemeClr val="dk1"/>
              </a:solidFill>
              <a:latin typeface="Bell MT"/>
              <a:ea typeface="Bell MT"/>
              <a:cs typeface="Bell MT"/>
              <a:sym typeface="Bell MT"/>
            </a:endParaRPr>
          </a:p>
          <a:p>
            <a:pPr indent="0" lvl="0" marL="88900" rtl="0" algn="just">
              <a:lnSpc>
                <a:spcPct val="90000"/>
              </a:lnSpc>
              <a:spcBef>
                <a:spcPts val="800"/>
              </a:spcBef>
              <a:spcAft>
                <a:spcPts val="0"/>
              </a:spcAft>
              <a:buSzPts val="1400"/>
              <a:buNone/>
            </a:pPr>
            <a:r>
              <a:t/>
            </a:r>
            <a:endParaRPr>
              <a:latin typeface="Bell MT"/>
              <a:ea typeface="Bell MT"/>
              <a:cs typeface="Bell MT"/>
              <a:sym typeface="Bell MT"/>
            </a:endParaRPr>
          </a:p>
          <a:p>
            <a:pPr indent="0" lvl="0" marL="88900" rtl="0" algn="l">
              <a:lnSpc>
                <a:spcPct val="90000"/>
              </a:lnSpc>
              <a:spcBef>
                <a:spcPts val="800"/>
              </a:spcBef>
              <a:spcAft>
                <a:spcPts val="0"/>
              </a:spcAft>
              <a:buSzPts val="14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1"/>
          <p:cNvPicPr preferRelativeResize="0"/>
          <p:nvPr/>
        </p:nvPicPr>
        <p:blipFill rotWithShape="1">
          <a:blip r:embed="rId3">
            <a:alphaModFix/>
          </a:blip>
          <a:srcRect b="0" l="0" r="0" t="0"/>
          <a:stretch/>
        </p:blipFill>
        <p:spPr>
          <a:xfrm>
            <a:off x="1050132" y="257175"/>
            <a:ext cx="7436643" cy="46291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1400"/>
              <a:buNone/>
            </a:pPr>
            <a:r>
              <a:rPr lang="en">
                <a:latin typeface="Bell MT"/>
                <a:ea typeface="Bell MT"/>
                <a:cs typeface="Bell MT"/>
                <a:sym typeface="Bell MT"/>
              </a:rPr>
              <a:t>Difference Threshold</a:t>
            </a:r>
            <a:endParaRPr/>
          </a:p>
        </p:txBody>
      </p:sp>
      <p:sp>
        <p:nvSpPr>
          <p:cNvPr id="113" name="Google Shape;113;p22"/>
          <p:cNvSpPr txBox="1"/>
          <p:nvPr>
            <p:ph idx="1" type="body"/>
          </p:nvPr>
        </p:nvSpPr>
        <p:spPr>
          <a:xfrm>
            <a:off x="628650" y="1369219"/>
            <a:ext cx="8115300" cy="3500700"/>
          </a:xfrm>
          <a:prstGeom prst="rect">
            <a:avLst/>
          </a:prstGeom>
          <a:noFill/>
          <a:ln>
            <a:noFill/>
          </a:ln>
        </p:spPr>
        <p:txBody>
          <a:bodyPr anchorCtr="0" anchor="t" bIns="34275" lIns="68575" spcFirstLastPara="1" rIns="68575" wrap="square" tIns="34275">
            <a:normAutofit/>
          </a:bodyPr>
          <a:lstStyle/>
          <a:p>
            <a:pPr indent="0" lvl="0" marL="88900" rtl="0" algn="l">
              <a:lnSpc>
                <a:spcPct val="150000"/>
              </a:lnSpc>
              <a:spcBef>
                <a:spcPts val="800"/>
              </a:spcBef>
              <a:spcAft>
                <a:spcPts val="0"/>
              </a:spcAft>
              <a:buSzPts val="1600"/>
              <a:buNone/>
            </a:pPr>
            <a:r>
              <a:rPr lang="en">
                <a:solidFill>
                  <a:schemeClr val="dk1"/>
                </a:solidFill>
                <a:latin typeface="Bell MT"/>
                <a:ea typeface="Bell MT"/>
                <a:cs typeface="Bell MT"/>
                <a:sym typeface="Bell MT"/>
              </a:rPr>
              <a:t>The minimum amount of stimulus intensity change needed to produce a noticeable change.</a:t>
            </a:r>
            <a:endParaRPr>
              <a:solidFill>
                <a:schemeClr val="dk1"/>
              </a:solidFill>
            </a:endParaRPr>
          </a:p>
          <a:p>
            <a:pPr indent="-266700" lvl="0" marL="342900" rtl="0" algn="l">
              <a:lnSpc>
                <a:spcPct val="150000"/>
              </a:lnSpc>
              <a:spcBef>
                <a:spcPts val="800"/>
              </a:spcBef>
              <a:spcAft>
                <a:spcPts val="0"/>
              </a:spcAft>
              <a:buSzPts val="1600"/>
              <a:buChar char="•"/>
            </a:pPr>
            <a:r>
              <a:rPr lang="en">
                <a:solidFill>
                  <a:schemeClr val="dk1"/>
                </a:solidFill>
                <a:latin typeface="Bell MT"/>
                <a:ea typeface="Bell MT"/>
                <a:cs typeface="Bell MT"/>
                <a:sym typeface="Bell MT"/>
              </a:rPr>
              <a:t>the greater the intensity (ex., weight) of a stimulus, the greater the change needed to produce a noticeable change.</a:t>
            </a:r>
            <a:endParaRPr>
              <a:solidFill>
                <a:schemeClr val="dk1"/>
              </a:solidFill>
            </a:endParaRPr>
          </a:p>
          <a:p>
            <a:pPr indent="-266700" lvl="0" marL="342900" rtl="0" algn="l">
              <a:lnSpc>
                <a:spcPct val="150000"/>
              </a:lnSpc>
              <a:spcBef>
                <a:spcPts val="800"/>
              </a:spcBef>
              <a:spcAft>
                <a:spcPts val="0"/>
              </a:spcAft>
              <a:buSzPts val="1600"/>
              <a:buChar char="•"/>
            </a:pPr>
            <a:r>
              <a:rPr lang="en">
                <a:solidFill>
                  <a:schemeClr val="dk1"/>
                </a:solidFill>
                <a:latin typeface="Bell MT"/>
                <a:ea typeface="Bell MT"/>
                <a:cs typeface="Bell MT"/>
                <a:sym typeface="Bell MT"/>
              </a:rPr>
              <a:t>For example, when you pick up a 5 lb weight, and then a 10 pound weight, you can feel a big difference between the two. However, when you pick up 100 lbs, and then 105 lbs, it is much more difficult to feel the difference.</a:t>
            </a:r>
            <a:endParaRPr>
              <a:solidFill>
                <a:schemeClr val="dk1"/>
              </a:solidFill>
            </a:endParaRPr>
          </a:p>
          <a:p>
            <a:pPr indent="0" lvl="0" marL="88900" rtl="0" algn="l">
              <a:lnSpc>
                <a:spcPct val="90000"/>
              </a:lnSpc>
              <a:spcBef>
                <a:spcPts val="800"/>
              </a:spcBef>
              <a:spcAft>
                <a:spcPts val="0"/>
              </a:spcAft>
              <a:buSzPts val="16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20" name="Google Shape;120;p2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
                <a:solidFill>
                  <a:schemeClr val="dk1"/>
                </a:solidFill>
              </a:rPr>
              <a:t>Signal Detection Theory-Psychology</a:t>
            </a:r>
            <a:endParaRPr>
              <a:solidFill>
                <a:schemeClr val="dk1"/>
              </a:solidFill>
            </a:endParaRPr>
          </a:p>
          <a:p>
            <a:pPr indent="0" lvl="0" marL="0" rtl="0" algn="l">
              <a:spcBef>
                <a:spcPts val="800"/>
              </a:spcBef>
              <a:spcAft>
                <a:spcPts val="0"/>
              </a:spcAft>
              <a:buNone/>
            </a:pPr>
            <a:r>
              <a:rPr lang="en">
                <a:solidFill>
                  <a:schemeClr val="dk1"/>
                </a:solidFill>
              </a:rPr>
              <a:t>It’s application specially in decision making and other areas</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1400"/>
              <a:buNone/>
            </a:pPr>
            <a:r>
              <a:rPr lang="en">
                <a:latin typeface="Times New Roman"/>
                <a:ea typeface="Times New Roman"/>
                <a:cs typeface="Times New Roman"/>
                <a:sym typeface="Times New Roman"/>
              </a:rPr>
              <a:t>Signal Detection Theory</a:t>
            </a:r>
            <a:endParaRPr>
              <a:latin typeface="Times New Roman"/>
              <a:ea typeface="Times New Roman"/>
              <a:cs typeface="Times New Roman"/>
              <a:sym typeface="Times New Roman"/>
            </a:endParaRPr>
          </a:p>
        </p:txBody>
      </p:sp>
      <p:sp>
        <p:nvSpPr>
          <p:cNvPr id="126" name="Google Shape;126;p2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254000" lvl="0" marL="342900" rtl="0" algn="just">
              <a:lnSpc>
                <a:spcPct val="90000"/>
              </a:lnSpc>
              <a:spcBef>
                <a:spcPts val="800"/>
              </a:spcBef>
              <a:spcAft>
                <a:spcPts val="0"/>
              </a:spcAft>
              <a:buSzPts val="1400"/>
              <a:buFont typeface="Times New Roman"/>
              <a:buChar char="•"/>
            </a:pPr>
            <a:r>
              <a:rPr lang="en">
                <a:solidFill>
                  <a:schemeClr val="dk1"/>
                </a:solidFill>
                <a:latin typeface="Times New Roman"/>
                <a:ea typeface="Times New Roman"/>
                <a:cs typeface="Times New Roman"/>
                <a:sym typeface="Times New Roman"/>
              </a:rPr>
              <a:t>A psychological theory regarding a threshold of sensory detection.</a:t>
            </a:r>
            <a:endParaRPr>
              <a:solidFill>
                <a:schemeClr val="dk1"/>
              </a:solidFill>
              <a:latin typeface="Times New Roman"/>
              <a:ea typeface="Times New Roman"/>
              <a:cs typeface="Times New Roman"/>
              <a:sym typeface="Times New Roman"/>
            </a:endParaRPr>
          </a:p>
          <a:p>
            <a:pPr indent="-254000" lvl="0" marL="342900" rtl="0" algn="just">
              <a:lnSpc>
                <a:spcPct val="90000"/>
              </a:lnSpc>
              <a:spcBef>
                <a:spcPts val="800"/>
              </a:spcBef>
              <a:spcAft>
                <a:spcPts val="0"/>
              </a:spcAft>
              <a:buSzPts val="1400"/>
              <a:buFont typeface="Times New Roman"/>
              <a:buChar char="•"/>
            </a:pPr>
            <a:r>
              <a:rPr lang="en">
                <a:solidFill>
                  <a:schemeClr val="dk1"/>
                </a:solidFill>
                <a:latin typeface="Times New Roman"/>
                <a:ea typeface="Times New Roman"/>
                <a:cs typeface="Times New Roman"/>
                <a:sym typeface="Times New Roman"/>
              </a:rPr>
              <a:t>It relates to the idea that the intensity of the stimuli and the psychological and physical state of the person contribute to whether or not the person is able to detect the stimuli.</a:t>
            </a:r>
            <a:endParaRPr>
              <a:solidFill>
                <a:schemeClr val="dk1"/>
              </a:solidFill>
              <a:latin typeface="Times New Roman"/>
              <a:ea typeface="Times New Roman"/>
              <a:cs typeface="Times New Roman"/>
              <a:sym typeface="Times New Roman"/>
            </a:endParaRPr>
          </a:p>
          <a:p>
            <a:pPr indent="-254000" lvl="0" marL="342900" rtl="0" algn="just">
              <a:lnSpc>
                <a:spcPct val="90000"/>
              </a:lnSpc>
              <a:spcBef>
                <a:spcPts val="800"/>
              </a:spcBef>
              <a:spcAft>
                <a:spcPts val="0"/>
              </a:spcAft>
              <a:buSzPts val="1400"/>
              <a:buChar char="•"/>
            </a:pPr>
            <a:r>
              <a:rPr lang="en">
                <a:solidFill>
                  <a:schemeClr val="dk1"/>
                </a:solidFill>
                <a:latin typeface="Times New Roman"/>
                <a:ea typeface="Times New Roman"/>
                <a:cs typeface="Times New Roman"/>
                <a:sym typeface="Times New Roman"/>
              </a:rPr>
              <a:t>The basic idea behind signal detection theory is that neurons are constantly sending information to the </a:t>
            </a:r>
            <a:r>
              <a:rPr b="1" lang="en">
                <a:solidFill>
                  <a:schemeClr val="dk1"/>
                </a:solidFill>
                <a:latin typeface="Times New Roman"/>
                <a:ea typeface="Times New Roman"/>
                <a:cs typeface="Times New Roman"/>
                <a:sym typeface="Times New Roman"/>
              </a:rPr>
              <a:t>brain</a:t>
            </a:r>
            <a:r>
              <a:rPr lang="en">
                <a:solidFill>
                  <a:schemeClr val="dk1"/>
                </a:solidFill>
                <a:latin typeface="Times New Roman"/>
                <a:ea typeface="Times New Roman"/>
                <a:cs typeface="Times New Roman"/>
                <a:sym typeface="Times New Roman"/>
              </a:rPr>
              <a:t> , even when no stimuli are present. This is called neural noise. The level of neural noise fluctuates constantly. When a faint stimulus, or signal, occurs, it creates a neural response. The brain must decide whether the neural activity reflects noise alone, or whether there was also a signal.</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descr="Signal Detection Theory - Wize University Psychology Textbook | Wizeprep" id="131" name="Google Shape;131;p25"/>
          <p:cNvPicPr preferRelativeResize="0"/>
          <p:nvPr/>
        </p:nvPicPr>
        <p:blipFill rotWithShape="1">
          <a:blip r:embed="rId3">
            <a:alphaModFix/>
          </a:blip>
          <a:srcRect b="0" l="0" r="0" t="0"/>
          <a:stretch/>
        </p:blipFill>
        <p:spPr>
          <a:xfrm>
            <a:off x="2491785" y="943100"/>
            <a:ext cx="4572354" cy="36896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6"/>
          <p:cNvPicPr preferRelativeResize="0"/>
          <p:nvPr/>
        </p:nvPicPr>
        <p:blipFill>
          <a:blip r:embed="rId3">
            <a:alphaModFix/>
          </a:blip>
          <a:stretch>
            <a:fillRect/>
          </a:stretch>
        </p:blipFill>
        <p:spPr>
          <a:xfrm>
            <a:off x="276175" y="248225"/>
            <a:ext cx="8062076" cy="4767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628650" y="903113"/>
            <a:ext cx="7886700" cy="994200"/>
          </a:xfrm>
          <a:prstGeom prst="rect">
            <a:avLst/>
          </a:prstGeom>
          <a:noFill/>
          <a:ln>
            <a:noFill/>
          </a:ln>
        </p:spPr>
        <p:txBody>
          <a:bodyPr anchorCtr="0" anchor="ctr" bIns="34275" lIns="68575" spcFirstLastPara="1" rIns="68575" wrap="square" tIns="34275">
            <a:noAutofit/>
          </a:bodyPr>
          <a:lstStyle/>
          <a:p>
            <a:pPr indent="-254000" lvl="0" marL="342900" rtl="0" algn="l">
              <a:lnSpc>
                <a:spcPct val="90000"/>
              </a:lnSpc>
              <a:spcBef>
                <a:spcPts val="800"/>
              </a:spcBef>
              <a:spcAft>
                <a:spcPts val="0"/>
              </a:spcAft>
              <a:buSzPts val="700"/>
              <a:buNone/>
            </a:pPr>
            <a:r>
              <a:t/>
            </a:r>
            <a:endParaRPr sz="2300">
              <a:latin typeface="Bell MT"/>
              <a:ea typeface="Bell MT"/>
              <a:cs typeface="Bell MT"/>
              <a:sym typeface="Bell MT"/>
            </a:endParaRPr>
          </a:p>
          <a:p>
            <a:pPr indent="-254000" lvl="0" marL="342900" rtl="0" algn="l">
              <a:lnSpc>
                <a:spcPct val="90000"/>
              </a:lnSpc>
              <a:spcBef>
                <a:spcPts val="800"/>
              </a:spcBef>
              <a:spcAft>
                <a:spcPts val="0"/>
              </a:spcAft>
              <a:buSzPts val="700"/>
              <a:buNone/>
            </a:pPr>
            <a:r>
              <a:t/>
            </a:r>
            <a:endParaRPr sz="2300">
              <a:latin typeface="Bell MT"/>
              <a:ea typeface="Bell MT"/>
              <a:cs typeface="Bell MT"/>
              <a:sym typeface="Bell MT"/>
            </a:endParaRPr>
          </a:p>
          <a:p>
            <a:pPr indent="-254000" lvl="0" marL="342900" rtl="0" algn="l">
              <a:lnSpc>
                <a:spcPct val="90000"/>
              </a:lnSpc>
              <a:spcBef>
                <a:spcPts val="800"/>
              </a:spcBef>
              <a:spcAft>
                <a:spcPts val="0"/>
              </a:spcAft>
              <a:buSzPts val="700"/>
              <a:buNone/>
            </a:pPr>
            <a:r>
              <a:t/>
            </a:r>
            <a:endParaRPr sz="2300">
              <a:latin typeface="Bell MT"/>
              <a:ea typeface="Bell MT"/>
              <a:cs typeface="Bell MT"/>
              <a:sym typeface="Bell MT"/>
            </a:endParaRPr>
          </a:p>
          <a:p>
            <a:pPr indent="-254000" lvl="0" marL="342900" rtl="0" algn="ctr">
              <a:lnSpc>
                <a:spcPct val="90000"/>
              </a:lnSpc>
              <a:spcBef>
                <a:spcPts val="800"/>
              </a:spcBef>
              <a:spcAft>
                <a:spcPts val="0"/>
              </a:spcAft>
              <a:buSzPts val="700"/>
              <a:buNone/>
            </a:pPr>
            <a:r>
              <a:rPr b="1" lang="en" sz="2300">
                <a:latin typeface="Bell MT"/>
                <a:ea typeface="Bell MT"/>
                <a:cs typeface="Bell MT"/>
                <a:sym typeface="Bell MT"/>
              </a:rPr>
              <a:t>Sensory Adaptation</a:t>
            </a:r>
            <a:endParaRPr b="1" sz="2300">
              <a:latin typeface="Bell MT"/>
              <a:ea typeface="Bell MT"/>
              <a:cs typeface="Bell MT"/>
              <a:sym typeface="Bell MT"/>
            </a:endParaRPr>
          </a:p>
          <a:p>
            <a:pPr indent="-254000" lvl="0" marL="342900" rtl="0" algn="ctr">
              <a:lnSpc>
                <a:spcPct val="90000"/>
              </a:lnSpc>
              <a:spcBef>
                <a:spcPts val="800"/>
              </a:spcBef>
              <a:spcAft>
                <a:spcPts val="0"/>
              </a:spcAft>
              <a:buClr>
                <a:schemeClr val="dk1"/>
              </a:buClr>
              <a:buSzPts val="700"/>
              <a:buFont typeface="Arial"/>
              <a:buNone/>
            </a:pPr>
            <a:r>
              <a:rPr b="1" i="1" lang="en" sz="2300" u="sng">
                <a:solidFill>
                  <a:schemeClr val="hlink"/>
                </a:solidFill>
                <a:latin typeface="Bell MT"/>
                <a:ea typeface="Bell MT"/>
                <a:cs typeface="Bell MT"/>
                <a:sym typeface="Bell MT"/>
                <a:hlinkClick r:id="rId3"/>
              </a:rPr>
              <a:t>Fool Your Senses</a:t>
            </a:r>
            <a:endParaRPr b="1" i="1" sz="2300">
              <a:solidFill>
                <a:srgbClr val="9D2613"/>
              </a:solidFill>
              <a:latin typeface="Bell MT"/>
              <a:ea typeface="Bell MT"/>
              <a:cs typeface="Bell MT"/>
              <a:sym typeface="Bell MT"/>
            </a:endParaRPr>
          </a:p>
          <a:p>
            <a:pPr indent="0" lvl="0" marL="88900" rtl="0" algn="l">
              <a:lnSpc>
                <a:spcPct val="90000"/>
              </a:lnSpc>
              <a:spcBef>
                <a:spcPts val="800"/>
              </a:spcBef>
              <a:spcAft>
                <a:spcPts val="0"/>
              </a:spcAft>
              <a:buClr>
                <a:schemeClr val="dk1"/>
              </a:buClr>
              <a:buSzPts val="700"/>
              <a:buFont typeface="Arial"/>
              <a:buNone/>
            </a:pPr>
            <a:r>
              <a:t/>
            </a:r>
            <a:endParaRPr sz="2300">
              <a:latin typeface="Bell MT"/>
              <a:ea typeface="Bell MT"/>
              <a:cs typeface="Bell MT"/>
              <a:sym typeface="Bell MT"/>
            </a:endParaRPr>
          </a:p>
          <a:p>
            <a:pPr indent="0" lvl="0" marL="0" rtl="0" algn="l">
              <a:lnSpc>
                <a:spcPct val="90000"/>
              </a:lnSpc>
              <a:spcBef>
                <a:spcPts val="0"/>
              </a:spcBef>
              <a:spcAft>
                <a:spcPts val="0"/>
              </a:spcAft>
              <a:buSzPts val="700"/>
              <a:buNone/>
            </a:pPr>
            <a:r>
              <a:t/>
            </a:r>
            <a:endParaRPr sz="3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628650" y="564356"/>
            <a:ext cx="7886700" cy="400200"/>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90000"/>
              </a:lnSpc>
              <a:spcBef>
                <a:spcPts val="0"/>
              </a:spcBef>
              <a:spcAft>
                <a:spcPts val="0"/>
              </a:spcAft>
              <a:buSzPct val="53571"/>
              <a:buNone/>
            </a:pPr>
            <a:r>
              <a:rPr lang="en">
                <a:latin typeface="Bell MT"/>
                <a:ea typeface="Bell MT"/>
                <a:cs typeface="Bell MT"/>
                <a:sym typeface="Bell MT"/>
              </a:rPr>
              <a:t>Sensory Adaptation</a:t>
            </a:r>
            <a:br>
              <a:rPr b="1" lang="en"/>
            </a:br>
            <a:endParaRPr/>
          </a:p>
        </p:txBody>
      </p:sp>
      <p:sp>
        <p:nvSpPr>
          <p:cNvPr id="149" name="Google Shape;149;p2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254000" lvl="0" marL="342900" rtl="0" algn="l">
              <a:lnSpc>
                <a:spcPct val="90000"/>
              </a:lnSpc>
              <a:spcBef>
                <a:spcPts val="800"/>
              </a:spcBef>
              <a:spcAft>
                <a:spcPts val="0"/>
              </a:spcAft>
              <a:buSzPts val="1400"/>
              <a:buNone/>
            </a:pPr>
            <a:r>
              <a:rPr lang="en">
                <a:latin typeface="Bell MT"/>
                <a:ea typeface="Bell MT"/>
                <a:cs typeface="Bell MT"/>
                <a:sym typeface="Bell MT"/>
              </a:rPr>
              <a:t>Diminished sensitivity as a consequence of constant stimulation</a:t>
            </a:r>
            <a:endParaRPr/>
          </a:p>
          <a:p>
            <a:pPr indent="-254000" lvl="0" marL="342900" rtl="0" algn="l">
              <a:lnSpc>
                <a:spcPct val="90000"/>
              </a:lnSpc>
              <a:spcBef>
                <a:spcPts val="800"/>
              </a:spcBef>
              <a:spcAft>
                <a:spcPts val="0"/>
              </a:spcAft>
              <a:buSzPts val="1400"/>
              <a:buNone/>
            </a:pPr>
            <a:r>
              <a:t/>
            </a:r>
            <a:endParaRPr>
              <a:latin typeface="Bell MT"/>
              <a:ea typeface="Bell MT"/>
              <a:cs typeface="Bell MT"/>
              <a:sym typeface="Bell MT"/>
            </a:endParaRPr>
          </a:p>
          <a:p>
            <a:pPr indent="-254000" lvl="0" marL="342900" rtl="0" algn="l">
              <a:lnSpc>
                <a:spcPct val="90000"/>
              </a:lnSpc>
              <a:spcBef>
                <a:spcPts val="800"/>
              </a:spcBef>
              <a:spcAft>
                <a:spcPts val="0"/>
              </a:spcAft>
              <a:buClr>
                <a:schemeClr val="dk1"/>
              </a:buClr>
              <a:buSzPts val="1400"/>
              <a:buChar char="•"/>
            </a:pPr>
            <a:r>
              <a:rPr lang="en">
                <a:latin typeface="Bell MT"/>
                <a:ea typeface="Bell MT"/>
                <a:cs typeface="Bell MT"/>
                <a:sym typeface="Bell MT"/>
              </a:rPr>
              <a:t>The heat of the oil while frying, for a chef</a:t>
            </a:r>
            <a:endParaRPr/>
          </a:p>
          <a:p>
            <a:pPr indent="-254000" lvl="0" marL="342900" rtl="0" algn="l">
              <a:lnSpc>
                <a:spcPct val="90000"/>
              </a:lnSpc>
              <a:spcBef>
                <a:spcPts val="800"/>
              </a:spcBef>
              <a:spcAft>
                <a:spcPts val="0"/>
              </a:spcAft>
              <a:buClr>
                <a:schemeClr val="dk1"/>
              </a:buClr>
              <a:buSzPts val="1400"/>
              <a:buChar char="•"/>
            </a:pPr>
            <a:r>
              <a:rPr lang="en">
                <a:latin typeface="Bell MT"/>
                <a:ea typeface="Bell MT"/>
                <a:cs typeface="Bell MT"/>
                <a:sym typeface="Bell MT"/>
              </a:rPr>
              <a:t>The sound of the rolling machine in a construction sight, for a worker</a:t>
            </a:r>
            <a:endParaRPr/>
          </a:p>
          <a:p>
            <a:pPr indent="0" lvl="0" marL="88900" rtl="0" algn="l">
              <a:lnSpc>
                <a:spcPct val="90000"/>
              </a:lnSpc>
              <a:spcBef>
                <a:spcPts val="800"/>
              </a:spcBef>
              <a:spcAft>
                <a:spcPts val="0"/>
              </a:spcAft>
              <a:buSzPts val="14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628650" y="273844"/>
            <a:ext cx="7886700" cy="671700"/>
          </a:xfrm>
          <a:prstGeom prst="rect">
            <a:avLst/>
          </a:prstGeom>
          <a:noFill/>
          <a:ln>
            <a:noFill/>
          </a:ln>
        </p:spPr>
        <p:txBody>
          <a:bodyPr anchorCtr="0" anchor="ctr" bIns="0" lIns="0" spcFirstLastPara="1" rIns="0" wrap="square" tIns="40175">
            <a:spAutoFit/>
          </a:bodyPr>
          <a:lstStyle/>
          <a:p>
            <a:pPr indent="0" lvl="0" marL="3187700" rtl="0" algn="l">
              <a:lnSpc>
                <a:spcPct val="100000"/>
              </a:lnSpc>
              <a:spcBef>
                <a:spcPts val="100"/>
              </a:spcBef>
              <a:spcAft>
                <a:spcPts val="0"/>
              </a:spcAft>
              <a:buSzPts val="1400"/>
              <a:buNone/>
            </a:pPr>
            <a:r>
              <a:rPr lang="en" sz="4100">
                <a:solidFill>
                  <a:srgbClr val="000000"/>
                </a:solidFill>
                <a:latin typeface="Constantia"/>
                <a:ea typeface="Constantia"/>
                <a:cs typeface="Constantia"/>
                <a:sym typeface="Constantia"/>
              </a:rPr>
              <a:t>Vision</a:t>
            </a:r>
            <a:endParaRPr sz="4100">
              <a:latin typeface="Constantia"/>
              <a:ea typeface="Constantia"/>
              <a:cs typeface="Constantia"/>
              <a:sym typeface="Constantia"/>
            </a:endParaRPr>
          </a:p>
        </p:txBody>
      </p:sp>
      <p:sp>
        <p:nvSpPr>
          <p:cNvPr id="155" name="Google Shape;155;p29"/>
          <p:cNvSpPr txBox="1"/>
          <p:nvPr/>
        </p:nvSpPr>
        <p:spPr>
          <a:xfrm>
            <a:off x="1467387" y="1141484"/>
            <a:ext cx="6146100" cy="3869700"/>
          </a:xfrm>
          <a:prstGeom prst="rect">
            <a:avLst/>
          </a:prstGeom>
          <a:noFill/>
          <a:ln>
            <a:noFill/>
          </a:ln>
        </p:spPr>
        <p:txBody>
          <a:bodyPr anchorCtr="0" anchor="t" bIns="0" lIns="0" spcFirstLastPara="1" rIns="0" wrap="square" tIns="9050">
            <a:spAutoFit/>
          </a:bodyPr>
          <a:lstStyle/>
          <a:p>
            <a:pPr indent="-190500" lvl="0" marL="203200" marR="0" rtl="0" algn="just">
              <a:lnSpc>
                <a:spcPct val="100299"/>
              </a:lnSpc>
              <a:spcBef>
                <a:spcPts val="0"/>
              </a:spcBef>
              <a:spcAft>
                <a:spcPts val="0"/>
              </a:spcAft>
              <a:buClr>
                <a:srgbClr val="000000"/>
              </a:buClr>
              <a:buSzPts val="2400"/>
              <a:buFont typeface="Times New Roman"/>
              <a:buChar char="•"/>
            </a:pPr>
            <a:r>
              <a:rPr i="0" lang="en" sz="2400" u="none" cap="none" strike="noStrike">
                <a:solidFill>
                  <a:srgbClr val="000000"/>
                </a:solidFill>
                <a:latin typeface="Times New Roman"/>
                <a:ea typeface="Times New Roman"/>
                <a:cs typeface="Times New Roman"/>
                <a:sym typeface="Times New Roman"/>
              </a:rPr>
              <a:t>vision is an </a:t>
            </a:r>
            <a:r>
              <a:rPr i="1" lang="en" sz="2400" u="none" cap="none" strike="noStrike">
                <a:solidFill>
                  <a:srgbClr val="000000"/>
                </a:solidFill>
                <a:latin typeface="Times New Roman"/>
                <a:ea typeface="Times New Roman"/>
                <a:cs typeface="Times New Roman"/>
                <a:sym typeface="Times New Roman"/>
              </a:rPr>
              <a:t>interpretation </a:t>
            </a:r>
            <a:r>
              <a:rPr i="0" lang="en" sz="2400" u="none" cap="none" strike="noStrike">
                <a:solidFill>
                  <a:srgbClr val="000000"/>
                </a:solidFill>
                <a:latin typeface="Times New Roman"/>
                <a:ea typeface="Times New Roman"/>
                <a:cs typeface="Times New Roman"/>
                <a:sym typeface="Times New Roman"/>
              </a:rPr>
              <a:t>of the world around us</a:t>
            </a:r>
            <a:endParaRPr i="0" sz="2400" u="none" cap="none" strike="noStrike">
              <a:solidFill>
                <a:srgbClr val="000000"/>
              </a:solidFill>
              <a:latin typeface="Times New Roman"/>
              <a:ea typeface="Times New Roman"/>
              <a:cs typeface="Times New Roman"/>
              <a:sym typeface="Times New Roman"/>
            </a:endParaRPr>
          </a:p>
          <a:p>
            <a:pPr indent="-190500" lvl="0" marL="203200" marR="139700" rtl="0" algn="just">
              <a:lnSpc>
                <a:spcPct val="100400"/>
              </a:lnSpc>
              <a:spcBef>
                <a:spcPts val="600"/>
              </a:spcBef>
              <a:spcAft>
                <a:spcPts val="0"/>
              </a:spcAft>
              <a:buClr>
                <a:srgbClr val="000000"/>
              </a:buClr>
              <a:buSzPts val="2400"/>
              <a:buFont typeface="Times New Roman"/>
              <a:buChar char="•"/>
            </a:pPr>
            <a:r>
              <a:rPr i="0" lang="en" sz="2400" u="none" cap="none" strike="noStrike">
                <a:solidFill>
                  <a:srgbClr val="000000"/>
                </a:solidFill>
                <a:latin typeface="Times New Roman"/>
                <a:ea typeface="Times New Roman"/>
                <a:cs typeface="Times New Roman"/>
                <a:sym typeface="Times New Roman"/>
              </a:rPr>
              <a:t>visual illusions demonstrate the gap between 	what is out there and how our minds and 	brains interpret what is out there</a:t>
            </a:r>
            <a:endParaRPr i="0" sz="2400" u="none" cap="none" strike="noStrike">
              <a:solidFill>
                <a:srgbClr val="000000"/>
              </a:solidFill>
              <a:latin typeface="Times New Roman"/>
              <a:ea typeface="Times New Roman"/>
              <a:cs typeface="Times New Roman"/>
              <a:sym typeface="Times New Roman"/>
            </a:endParaRPr>
          </a:p>
          <a:p>
            <a:pPr indent="-190500" lvl="0" marL="203200" marR="304800" rtl="0" algn="just">
              <a:lnSpc>
                <a:spcPct val="100400"/>
              </a:lnSpc>
              <a:spcBef>
                <a:spcPts val="600"/>
              </a:spcBef>
              <a:spcAft>
                <a:spcPts val="0"/>
              </a:spcAft>
              <a:buClr>
                <a:srgbClr val="000000"/>
              </a:buClr>
              <a:buSzPts val="2400"/>
              <a:buFont typeface="Times New Roman"/>
              <a:buChar char="•"/>
            </a:pPr>
            <a:r>
              <a:rPr i="0" lang="en" sz="2400" u="none" cap="none" strike="noStrike">
                <a:solidFill>
                  <a:srgbClr val="000000"/>
                </a:solidFill>
                <a:latin typeface="Times New Roman"/>
                <a:ea typeface="Times New Roman"/>
                <a:cs typeface="Times New Roman"/>
                <a:sym typeface="Times New Roman"/>
              </a:rPr>
              <a:t>illusions are rare because our minds and 	brains have evolved to have interpretations 	that almost always work brilliantly in our 	environment without us having to think 	about it</a:t>
            </a:r>
            <a:endParaRPr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30"/>
          <p:cNvPicPr preferRelativeResize="0"/>
          <p:nvPr/>
        </p:nvPicPr>
        <p:blipFill rotWithShape="1">
          <a:blip r:embed="rId3">
            <a:alphaModFix/>
          </a:blip>
          <a:srcRect b="0" l="0" r="0" t="0"/>
          <a:stretch/>
        </p:blipFill>
        <p:spPr>
          <a:xfrm>
            <a:off x="1834529" y="296164"/>
            <a:ext cx="5201612" cy="484725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720772" y="110071"/>
            <a:ext cx="7886700" cy="668400"/>
          </a:xfrm>
          <a:prstGeom prst="rect">
            <a:avLst/>
          </a:prstGeom>
          <a:noFill/>
          <a:ln>
            <a:noFill/>
          </a:ln>
        </p:spPr>
        <p:txBody>
          <a:bodyPr anchorCtr="0" anchor="ctr" bIns="0" lIns="0" spcFirstLastPara="1" rIns="0" wrap="square" tIns="204550">
            <a:spAutoFit/>
          </a:bodyPr>
          <a:lstStyle/>
          <a:p>
            <a:pPr indent="0" lvl="0" marL="2857500" rtl="0" algn="l">
              <a:lnSpc>
                <a:spcPct val="100000"/>
              </a:lnSpc>
              <a:spcBef>
                <a:spcPts val="100"/>
              </a:spcBef>
              <a:spcAft>
                <a:spcPts val="0"/>
              </a:spcAft>
              <a:buSzPts val="1400"/>
              <a:buNone/>
            </a:pPr>
            <a:r>
              <a:rPr lang="en" sz="3000">
                <a:solidFill>
                  <a:srgbClr val="000000"/>
                </a:solidFill>
                <a:latin typeface="Constantia"/>
                <a:ea typeface="Constantia"/>
                <a:cs typeface="Constantia"/>
                <a:sym typeface="Constantia"/>
              </a:rPr>
              <a:t>Vision</a:t>
            </a:r>
            <a:endParaRPr sz="3000">
              <a:latin typeface="Constantia"/>
              <a:ea typeface="Constantia"/>
              <a:cs typeface="Constantia"/>
              <a:sym typeface="Constantia"/>
            </a:endParaRPr>
          </a:p>
        </p:txBody>
      </p:sp>
      <p:sp>
        <p:nvSpPr>
          <p:cNvPr id="166" name="Google Shape;166;p31"/>
          <p:cNvSpPr txBox="1"/>
          <p:nvPr/>
        </p:nvSpPr>
        <p:spPr>
          <a:xfrm>
            <a:off x="1346433" y="1824944"/>
            <a:ext cx="1176300" cy="1660800"/>
          </a:xfrm>
          <a:prstGeom prst="rect">
            <a:avLst/>
          </a:prstGeom>
          <a:noFill/>
          <a:ln>
            <a:noFill/>
          </a:ln>
        </p:spPr>
        <p:txBody>
          <a:bodyPr anchorCtr="0" anchor="t" bIns="0" lIns="0" spcFirstLastPara="1" rIns="0" wrap="square" tIns="191450">
            <a:spAutoFit/>
          </a:bodyPr>
          <a:lstStyle/>
          <a:p>
            <a:pPr indent="-254000" lvl="0" marL="266700" marR="0" rtl="0" algn="l">
              <a:lnSpc>
                <a:spcPct val="100000"/>
              </a:lnSpc>
              <a:spcBef>
                <a:spcPts val="0"/>
              </a:spcBef>
              <a:spcAft>
                <a:spcPts val="0"/>
              </a:spcAft>
              <a:buClr>
                <a:srgbClr val="000000"/>
              </a:buClr>
              <a:buSzPts val="2400"/>
              <a:buFont typeface="Times New Roman"/>
              <a:buChar char="•"/>
            </a:pPr>
            <a:r>
              <a:rPr b="1" i="0" lang="en" sz="2400" u="none" cap="none" strike="noStrike">
                <a:solidFill>
                  <a:srgbClr val="000000"/>
                </a:solidFill>
                <a:latin typeface="Times New Roman"/>
                <a:ea typeface="Times New Roman"/>
                <a:cs typeface="Times New Roman"/>
                <a:sym typeface="Times New Roman"/>
              </a:rPr>
              <a:t>Seeing</a:t>
            </a:r>
            <a:endParaRPr b="0" i="0" sz="2400" u="none" cap="none" strike="noStrike">
              <a:solidFill>
                <a:srgbClr val="000000"/>
              </a:solidFill>
              <a:latin typeface="Times New Roman"/>
              <a:ea typeface="Times New Roman"/>
              <a:cs typeface="Times New Roman"/>
              <a:sym typeface="Times New Roman"/>
            </a:endParaRPr>
          </a:p>
          <a:p>
            <a:pPr indent="-254000" lvl="0" marL="266700" marR="0" rtl="0" algn="l">
              <a:lnSpc>
                <a:spcPct val="100000"/>
              </a:lnSpc>
              <a:spcBef>
                <a:spcPts val="1400"/>
              </a:spcBef>
              <a:spcAft>
                <a:spcPts val="0"/>
              </a:spcAft>
              <a:buClr>
                <a:srgbClr val="000000"/>
              </a:buClr>
              <a:buSzPts val="2400"/>
              <a:buFont typeface="Times New Roman"/>
              <a:buChar char="•"/>
            </a:pPr>
            <a:r>
              <a:rPr b="1" i="0" lang="en" sz="2400" u="none" cap="none" strike="noStrike">
                <a:solidFill>
                  <a:srgbClr val="000000"/>
                </a:solidFill>
                <a:latin typeface="Times New Roman"/>
                <a:ea typeface="Times New Roman"/>
                <a:cs typeface="Times New Roman"/>
                <a:sym typeface="Times New Roman"/>
              </a:rPr>
              <a:t>Retina</a:t>
            </a:r>
            <a:endParaRPr b="0" i="0" sz="2400" u="none" cap="none" strike="noStrike">
              <a:solidFill>
                <a:srgbClr val="000000"/>
              </a:solidFill>
              <a:latin typeface="Times New Roman"/>
              <a:ea typeface="Times New Roman"/>
              <a:cs typeface="Times New Roman"/>
              <a:sym typeface="Times New Roman"/>
            </a:endParaRPr>
          </a:p>
          <a:p>
            <a:pPr indent="-254000" lvl="0" marL="266700" marR="0" rtl="0" algn="l">
              <a:lnSpc>
                <a:spcPct val="100000"/>
              </a:lnSpc>
              <a:spcBef>
                <a:spcPts val="1400"/>
              </a:spcBef>
              <a:spcAft>
                <a:spcPts val="0"/>
              </a:spcAft>
              <a:buClr>
                <a:srgbClr val="000000"/>
              </a:buClr>
              <a:buSzPts val="2400"/>
              <a:buFont typeface="Times New Roman"/>
              <a:buChar char="•"/>
            </a:pPr>
            <a:r>
              <a:rPr b="1" i="0" lang="en" sz="2400" u="none" cap="none" strike="noStrike">
                <a:solidFill>
                  <a:srgbClr val="000000"/>
                </a:solidFill>
                <a:latin typeface="Times New Roman"/>
                <a:ea typeface="Times New Roman"/>
                <a:cs typeface="Times New Roman"/>
                <a:sym typeface="Times New Roman"/>
              </a:rPr>
              <a:t>Cortex</a:t>
            </a:r>
            <a:endParaRPr b="0" i="0" sz="2400" u="none" cap="none" strike="noStrike">
              <a:solidFill>
                <a:srgbClr val="000000"/>
              </a:solidFill>
              <a:latin typeface="Times New Roman"/>
              <a:ea typeface="Times New Roman"/>
              <a:cs typeface="Times New Roman"/>
              <a:sym typeface="Times New Roman"/>
            </a:endParaRPr>
          </a:p>
        </p:txBody>
      </p:sp>
      <p:pic>
        <p:nvPicPr>
          <p:cNvPr descr="4.2 Seeing – Introduction to Psychology" id="167" name="Google Shape;167;p31"/>
          <p:cNvPicPr preferRelativeResize="0"/>
          <p:nvPr/>
        </p:nvPicPr>
        <p:blipFill rotWithShape="1">
          <a:blip r:embed="rId3">
            <a:alphaModFix/>
          </a:blip>
          <a:srcRect b="0" l="0" r="0" t="0"/>
          <a:stretch/>
        </p:blipFill>
        <p:spPr>
          <a:xfrm>
            <a:off x="3896435" y="1278252"/>
            <a:ext cx="4147223" cy="332155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ct val="53571"/>
              <a:buNone/>
            </a:pPr>
            <a:r>
              <a:rPr lang="en">
                <a:latin typeface="Bell MT"/>
                <a:ea typeface="Bell MT"/>
                <a:cs typeface="Bell MT"/>
                <a:sym typeface="Bell MT"/>
              </a:rPr>
              <a:t>                        </a:t>
            </a:r>
            <a:endParaRPr>
              <a:latin typeface="Bell MT"/>
              <a:ea typeface="Bell MT"/>
              <a:cs typeface="Bell MT"/>
              <a:sym typeface="Bell MT"/>
            </a:endParaRPr>
          </a:p>
          <a:p>
            <a:pPr indent="0" lvl="0" marL="0" rtl="0" algn="ctr">
              <a:lnSpc>
                <a:spcPct val="90000"/>
              </a:lnSpc>
              <a:spcBef>
                <a:spcPts val="0"/>
              </a:spcBef>
              <a:spcAft>
                <a:spcPts val="0"/>
              </a:spcAft>
              <a:buSzPct val="53571"/>
              <a:buNone/>
            </a:pPr>
            <a:r>
              <a:rPr lang="en">
                <a:latin typeface="Bell MT"/>
                <a:ea typeface="Bell MT"/>
                <a:cs typeface="Bell MT"/>
                <a:sym typeface="Bell MT"/>
              </a:rPr>
              <a:t>Colour Vision</a:t>
            </a:r>
            <a:endParaRPr>
              <a:latin typeface="Bell MT"/>
              <a:ea typeface="Bell MT"/>
              <a:cs typeface="Bell MT"/>
              <a:sym typeface="Bell MT"/>
            </a:endParaRPr>
          </a:p>
          <a:p>
            <a:pPr indent="0" lvl="0" marL="0" rtl="0" algn="l">
              <a:lnSpc>
                <a:spcPct val="90000"/>
              </a:lnSpc>
              <a:spcBef>
                <a:spcPts val="0"/>
              </a:spcBef>
              <a:spcAft>
                <a:spcPts val="0"/>
              </a:spcAft>
              <a:buSzPct val="53571"/>
              <a:buNone/>
            </a:pPr>
            <a:r>
              <a:t/>
            </a:r>
            <a:endParaRPr>
              <a:latin typeface="Bell MT"/>
              <a:ea typeface="Bell MT"/>
              <a:cs typeface="Bell MT"/>
              <a:sym typeface="Bell MT"/>
            </a:endParaRPr>
          </a:p>
        </p:txBody>
      </p:sp>
      <p:sp>
        <p:nvSpPr>
          <p:cNvPr id="174" name="Google Shape;174;p3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800"/>
              </a:spcBef>
              <a:spcAft>
                <a:spcPts val="0"/>
              </a:spcAft>
              <a:buSzPts val="1400"/>
              <a:buNone/>
            </a:pPr>
            <a:r>
              <a:rPr b="1" lang="en">
                <a:latin typeface="Bell MT"/>
                <a:ea typeface="Bell MT"/>
                <a:cs typeface="Bell MT"/>
                <a:sym typeface="Bell MT"/>
              </a:rPr>
              <a:t>Young - Helmholtz trichromatic (three - color)  theory </a:t>
            </a:r>
            <a:r>
              <a:rPr lang="en">
                <a:latin typeface="Bell MT"/>
                <a:ea typeface="Bell MT"/>
                <a:cs typeface="Bell MT"/>
                <a:sym typeface="Bell MT"/>
              </a:rPr>
              <a:t>says that the retina contains three different color receptors— </a:t>
            </a:r>
            <a:endParaRPr>
              <a:latin typeface="Bell MT"/>
              <a:ea typeface="Bell MT"/>
              <a:cs typeface="Bell MT"/>
              <a:sym typeface="Bell MT"/>
            </a:endParaRPr>
          </a:p>
          <a:p>
            <a:pPr indent="0" lvl="0" marL="0" rtl="0" algn="just">
              <a:lnSpc>
                <a:spcPct val="90000"/>
              </a:lnSpc>
              <a:spcBef>
                <a:spcPts val="800"/>
              </a:spcBef>
              <a:spcAft>
                <a:spcPts val="0"/>
              </a:spcAft>
              <a:buSzPts val="1400"/>
              <a:buNone/>
            </a:pPr>
            <a:r>
              <a:rPr lang="en">
                <a:latin typeface="Bell MT"/>
                <a:ea typeface="Bell MT"/>
                <a:cs typeface="Bell MT"/>
                <a:sym typeface="Bell MT"/>
              </a:rPr>
              <a:t>one most sensitive to red, one to green, one to blue—which, when stimulated in combination, can produce the perception of any color</a:t>
            </a:r>
            <a:endParaRPr>
              <a:latin typeface="Bell MT"/>
              <a:ea typeface="Bell MT"/>
              <a:cs typeface="Bell MT"/>
              <a:sym typeface="Bell MT"/>
            </a:endParaRPr>
          </a:p>
        </p:txBody>
      </p:sp>
      <p:pic>
        <p:nvPicPr>
          <p:cNvPr descr="Color Perception Blog Series Part 4 | X-Rite Blog" id="175" name="Google Shape;175;p32"/>
          <p:cNvPicPr preferRelativeResize="0"/>
          <p:nvPr/>
        </p:nvPicPr>
        <p:blipFill rotWithShape="1">
          <a:blip r:embed="rId3">
            <a:alphaModFix/>
          </a:blip>
          <a:srcRect b="0" l="0" r="0" t="0"/>
          <a:stretch/>
        </p:blipFill>
        <p:spPr>
          <a:xfrm>
            <a:off x="3064229" y="3000919"/>
            <a:ext cx="2727043" cy="14823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
              <a:t>Color Blindness</a:t>
            </a:r>
            <a:endParaRPr/>
          </a:p>
        </p:txBody>
      </p:sp>
      <p:sp>
        <p:nvSpPr>
          <p:cNvPr id="181" name="Google Shape;181;p3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254000" lvl="0" marL="342900" rtl="0" algn="l">
              <a:lnSpc>
                <a:spcPct val="90000"/>
              </a:lnSpc>
              <a:spcBef>
                <a:spcPts val="800"/>
              </a:spcBef>
              <a:spcAft>
                <a:spcPts val="0"/>
              </a:spcAft>
              <a:buClr>
                <a:schemeClr val="dk1"/>
              </a:buClr>
              <a:buSzPts val="1400"/>
              <a:buChar char="•"/>
            </a:pPr>
            <a:r>
              <a:rPr lang="en">
                <a:solidFill>
                  <a:schemeClr val="dk1"/>
                </a:solidFill>
              </a:rPr>
              <a:t>Color blindness or color vision deficiency (CVD) is the decreased ability to see color or differences in color.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4"/>
          <p:cNvSpPr txBox="1"/>
          <p:nvPr>
            <p:ph idx="1" type="body"/>
          </p:nvPr>
        </p:nvSpPr>
        <p:spPr>
          <a:xfrm>
            <a:off x="5803710" y="1424503"/>
            <a:ext cx="3049800" cy="3263400"/>
          </a:xfrm>
          <a:prstGeom prst="rect">
            <a:avLst/>
          </a:prstGeom>
          <a:noFill/>
          <a:ln>
            <a:noFill/>
          </a:ln>
        </p:spPr>
        <p:txBody>
          <a:bodyPr anchorCtr="0" anchor="t" bIns="34275" lIns="68575" spcFirstLastPara="1" rIns="68575" wrap="square" tIns="34275">
            <a:normAutofit/>
          </a:bodyPr>
          <a:lstStyle/>
          <a:p>
            <a:pPr indent="0" lvl="0" marL="88900" rtl="0" algn="l">
              <a:lnSpc>
                <a:spcPct val="90000"/>
              </a:lnSpc>
              <a:spcBef>
                <a:spcPts val="800"/>
              </a:spcBef>
              <a:spcAft>
                <a:spcPts val="0"/>
              </a:spcAft>
              <a:buSzPts val="1400"/>
              <a:buNone/>
            </a:pPr>
            <a:r>
              <a:rPr lang="en"/>
              <a:t>Viewers with normal color vision should clearly see the number "74".</a:t>
            </a:r>
            <a:endParaRPr/>
          </a:p>
        </p:txBody>
      </p:sp>
      <p:pic>
        <p:nvPicPr>
          <p:cNvPr descr="color vision.JPG" id="187" name="Google Shape;187;p34"/>
          <p:cNvPicPr preferRelativeResize="0"/>
          <p:nvPr/>
        </p:nvPicPr>
        <p:blipFill rotWithShape="1">
          <a:blip r:embed="rId3">
            <a:alphaModFix/>
          </a:blip>
          <a:srcRect b="0" l="0" r="30366" t="0"/>
          <a:stretch/>
        </p:blipFill>
        <p:spPr>
          <a:xfrm>
            <a:off x="1146412" y="335401"/>
            <a:ext cx="4421502" cy="435260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628650" y="1901719"/>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SzPts val="1400"/>
              <a:buNone/>
            </a:pPr>
            <a:r>
              <a:rPr lang="en">
                <a:latin typeface="Bell MT"/>
                <a:ea typeface="Bell MT"/>
                <a:cs typeface="Bell MT"/>
                <a:sym typeface="Bell MT"/>
              </a:rPr>
              <a:t>Visual Information Processing</a:t>
            </a:r>
            <a:endParaRPr>
              <a:latin typeface="Bell MT"/>
              <a:ea typeface="Bell MT"/>
              <a:cs typeface="Bell MT"/>
              <a:sym typeface="Bell M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just">
              <a:lnSpc>
                <a:spcPct val="90000"/>
              </a:lnSpc>
              <a:spcBef>
                <a:spcPts val="0"/>
              </a:spcBef>
              <a:spcAft>
                <a:spcPts val="0"/>
              </a:spcAft>
              <a:buSzPts val="1400"/>
              <a:buNone/>
            </a:pPr>
            <a:r>
              <a:rPr lang="en">
                <a:latin typeface="Bell MT"/>
                <a:ea typeface="Bell MT"/>
                <a:cs typeface="Bell MT"/>
                <a:sym typeface="Bell MT"/>
              </a:rPr>
              <a:t>Feature Detection</a:t>
            </a:r>
            <a:r>
              <a:rPr lang="en"/>
              <a:t> </a:t>
            </a:r>
            <a:endParaRPr/>
          </a:p>
        </p:txBody>
      </p:sp>
      <p:sp>
        <p:nvSpPr>
          <p:cNvPr id="200" name="Google Shape;200;p3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800"/>
              </a:spcBef>
              <a:spcAft>
                <a:spcPts val="0"/>
              </a:spcAft>
              <a:buSzPts val="1500"/>
              <a:buNone/>
            </a:pPr>
            <a:r>
              <a:rPr lang="en">
                <a:latin typeface="Bell MT"/>
                <a:ea typeface="Bell MT"/>
                <a:cs typeface="Bell MT"/>
                <a:sym typeface="Bell MT"/>
              </a:rPr>
              <a:t>David Hubel and Torsten Wiesel (1979) have demonstrated that neurons in the occipital lobe receive information from the ganglion cells in the retina . These  feature detector cells have the  ability to respond to a scene’s specific features—to particular edges, lines, angles, and movements. </a:t>
            </a:r>
            <a:endParaRPr>
              <a:latin typeface="Bell MT"/>
              <a:ea typeface="Bell MT"/>
              <a:cs typeface="Bell MT"/>
              <a:sym typeface="Bell MT"/>
            </a:endParaRPr>
          </a:p>
          <a:p>
            <a:pPr indent="0" lvl="0" marL="0" rtl="0" algn="just">
              <a:lnSpc>
                <a:spcPct val="90000"/>
              </a:lnSpc>
              <a:spcBef>
                <a:spcPts val="800"/>
              </a:spcBef>
              <a:spcAft>
                <a:spcPts val="0"/>
              </a:spcAft>
              <a:buSzPts val="1500"/>
              <a:buNone/>
            </a:pPr>
            <a:r>
              <a:t/>
            </a:r>
            <a:endParaRPr>
              <a:latin typeface="Bell MT"/>
              <a:ea typeface="Bell MT"/>
              <a:cs typeface="Bell MT"/>
              <a:sym typeface="Bell MT"/>
            </a:endParaRPr>
          </a:p>
          <a:p>
            <a:pPr indent="0" lvl="0" marL="0" rtl="0" algn="just">
              <a:lnSpc>
                <a:spcPct val="90000"/>
              </a:lnSpc>
              <a:spcBef>
                <a:spcPts val="800"/>
              </a:spcBef>
              <a:spcAft>
                <a:spcPts val="0"/>
              </a:spcAft>
              <a:buSzPts val="1500"/>
              <a:buNone/>
            </a:pPr>
            <a:r>
              <a:rPr lang="en">
                <a:latin typeface="Bell MT"/>
                <a:ea typeface="Bell MT"/>
                <a:cs typeface="Bell MT"/>
                <a:sym typeface="Bell MT"/>
              </a:rPr>
              <a:t>Psychologist David Perrett and his colleagues (1988, 1992, 1994) reported that have a “vast visual encyclopedia” distributed as cells that specialize in responding to one type of stimulus—such as a specific gaze, head angle, posture, or body movement. Other supercell clusters integrate this information and fire only when the cues collectively indicate the direction of someone’s attention and approach. This instant analysis, which aided our ancestors’ survival. </a:t>
            </a:r>
            <a:endParaRPr>
              <a:latin typeface="Bell MT"/>
              <a:ea typeface="Bell MT"/>
              <a:cs typeface="Bell MT"/>
              <a:sym typeface="Bell M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7"/>
          <p:cNvPicPr preferRelativeResize="0"/>
          <p:nvPr/>
        </p:nvPicPr>
        <p:blipFill rotWithShape="1">
          <a:blip r:embed="rId3">
            <a:alphaModFix/>
          </a:blip>
          <a:srcRect b="0" l="0" r="0" t="0"/>
          <a:stretch/>
        </p:blipFill>
        <p:spPr>
          <a:xfrm>
            <a:off x="114300" y="114300"/>
            <a:ext cx="8777381" cy="491975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
                <a:latin typeface="Bell MT"/>
                <a:ea typeface="Bell MT"/>
                <a:cs typeface="Bell MT"/>
                <a:sym typeface="Bell MT"/>
              </a:rPr>
              <a:t>Parallel Processing</a:t>
            </a:r>
            <a:endParaRPr>
              <a:latin typeface="Bell MT"/>
              <a:ea typeface="Bell MT"/>
              <a:cs typeface="Bell MT"/>
              <a:sym typeface="Bell MT"/>
            </a:endParaRPr>
          </a:p>
        </p:txBody>
      </p:sp>
      <p:sp>
        <p:nvSpPr>
          <p:cNvPr id="213" name="Google Shape;213;p3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just">
              <a:lnSpc>
                <a:spcPct val="150000"/>
              </a:lnSpc>
              <a:spcBef>
                <a:spcPts val="800"/>
              </a:spcBef>
              <a:spcAft>
                <a:spcPts val="0"/>
              </a:spcAft>
              <a:buSzPts val="1400"/>
              <a:buNone/>
            </a:pPr>
            <a:r>
              <a:rPr lang="en">
                <a:latin typeface="Bell MT"/>
                <a:ea typeface="Bell MT"/>
                <a:cs typeface="Bell MT"/>
                <a:sym typeface="Bell MT"/>
              </a:rPr>
              <a:t>the processing of many aspects of a problem simultaneously; the brain’s natural mode of information processing for many functions, including vision. Contrasts with the step - by - step (serial) processing of most computers and of conscious problem solving. </a:t>
            </a:r>
            <a:endParaRPr>
              <a:latin typeface="Bell MT"/>
              <a:ea typeface="Bell MT"/>
              <a:cs typeface="Bell MT"/>
              <a:sym typeface="Bell M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para proc.JPG" id="219" name="Google Shape;219;p39"/>
          <p:cNvPicPr preferRelativeResize="0"/>
          <p:nvPr/>
        </p:nvPicPr>
        <p:blipFill rotWithShape="1">
          <a:blip r:embed="rId3">
            <a:alphaModFix/>
          </a:blip>
          <a:srcRect b="0" l="0" r="0" t="0"/>
          <a:stretch/>
        </p:blipFill>
        <p:spPr>
          <a:xfrm>
            <a:off x="210740" y="417910"/>
            <a:ext cx="8722520" cy="430768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title"/>
          </p:nvPr>
        </p:nvSpPr>
        <p:spPr>
          <a:xfrm>
            <a:off x="574538" y="273844"/>
            <a:ext cx="8235000" cy="4239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SzPct val="51724"/>
              <a:buNone/>
            </a:pPr>
            <a:r>
              <a:rPr b="1" lang="en" sz="2900">
                <a:latin typeface="Bell MT"/>
                <a:ea typeface="Bell MT"/>
                <a:cs typeface="Bell MT"/>
                <a:sym typeface="Bell MT"/>
              </a:rPr>
              <a:t>Simplified Summary of Visual Information Processing</a:t>
            </a:r>
            <a:endParaRPr b="1" sz="2800">
              <a:latin typeface="Bell MT"/>
              <a:ea typeface="Bell MT"/>
              <a:cs typeface="Bell MT"/>
              <a:sym typeface="Bell MT"/>
            </a:endParaRPr>
          </a:p>
        </p:txBody>
      </p:sp>
      <p:pic>
        <p:nvPicPr>
          <p:cNvPr id="226" name="Google Shape;226;p40"/>
          <p:cNvPicPr preferRelativeResize="0"/>
          <p:nvPr/>
        </p:nvPicPr>
        <p:blipFill rotWithShape="1">
          <a:blip r:embed="rId3">
            <a:alphaModFix/>
          </a:blip>
          <a:srcRect b="0" l="0" r="0" t="0"/>
          <a:stretch/>
        </p:blipFill>
        <p:spPr>
          <a:xfrm>
            <a:off x="2202394" y="848119"/>
            <a:ext cx="5071717" cy="407651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Page 10 | HD pink water nature wallpapers | Peakpx" id="231" name="Google Shape;231;p41"/>
          <p:cNvPicPr preferRelativeResize="0"/>
          <p:nvPr/>
        </p:nvPicPr>
        <p:blipFill rotWithShape="1">
          <a:blip r:embed="rId3">
            <a:alphaModFix/>
          </a:blip>
          <a:srcRect b="0" l="0" r="0" t="0"/>
          <a:stretch/>
        </p:blipFill>
        <p:spPr>
          <a:xfrm>
            <a:off x="1112968" y="273844"/>
            <a:ext cx="7083190" cy="442699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