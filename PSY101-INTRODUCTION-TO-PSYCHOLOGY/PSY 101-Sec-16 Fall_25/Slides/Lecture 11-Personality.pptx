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Constantia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Constantia-regular.fntdata"/><Relationship Id="rId11" Type="http://schemas.openxmlformats.org/officeDocument/2006/relationships/slide" Target="slides/slide6.xml"/><Relationship Id="rId22" Type="http://schemas.openxmlformats.org/officeDocument/2006/relationships/font" Target="fonts/Constantia-italic.fntdata"/><Relationship Id="rId10" Type="http://schemas.openxmlformats.org/officeDocument/2006/relationships/slide" Target="slides/slide5.xml"/><Relationship Id="rId21" Type="http://schemas.openxmlformats.org/officeDocument/2006/relationships/font" Target="fonts/Constantia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Constantia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4da03a2ad0_0_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g34da03a2ad0_0_7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Good afternoon. So we've come to a topic that I think feels to us like intuitively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almost the core of psychology might be about is personality. Why are some things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easy for us and hard for us? Why do we like some things or something else? Why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 people around us behave kindly or rudely, supportively or loyally or whatever?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can we understand about personality scientifically? So how do psychologists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try to study it in a somewhat systematic fashion?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g34da03a2ad0_0_7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4da03a2ad0_0_8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g34da03a2ad0_0_8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 I love this quote, because I think it's about individuality, which says, every person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in certain respects like all other people-- and we think that's true. There's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something deeply similar among all humans, also about psychology, also about our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brains.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Like some other people, that is, there's dimensions of individuality, or like some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other people, like if we're a male or female, if we're this age or that age, this culture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 that culture, like math or don't like math, like vanilla ice cream or don't like ice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cream.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then finally, we come down to the unique set of things that make you you. And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that's very hard to study, the unique things that make you you. But the second level,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dimensions of individuality, we can study in personality. It's obviously a big one that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feel in our own lives and around us.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g34da03a2ad0_0_8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4da03a2ad0_0_8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g34da03a2ad0_0_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4da03a2ad0_0_1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g34da03a2ad0_0_1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4da03a2ad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4da03a2ad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4da03a2ad0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4da03a2ad0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4da03a2ad0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4da03a2ad0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4da03a2ad0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4da03a2ad0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4f525d4c3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4f525d4c3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4da03a2ad0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4da03a2ad0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4da03a2ad0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4da03a2ad0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4da03a2ad0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4da03a2ad0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4da03a2ad0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4da03a2ad0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4da03a2ad0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4da03a2ad0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onstantia"/>
              <a:buNone/>
              <a:defRPr>
                <a:latin typeface="Constantia"/>
                <a:ea typeface="Constantia"/>
                <a:cs typeface="Constantia"/>
                <a:sym typeface="Constant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517560"/>
            <a:ext cx="7886700" cy="29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  <a:defRPr>
                <a:latin typeface="Constantia"/>
                <a:ea typeface="Constantia"/>
                <a:cs typeface="Constantia"/>
                <a:sym typeface="Constantia"/>
              </a:defRPr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>
                <a:latin typeface="Constantia"/>
                <a:ea typeface="Constantia"/>
                <a:cs typeface="Constantia"/>
                <a:sym typeface="Constantia"/>
              </a:defRPr>
            </a:lvl2pPr>
            <a:lvl3pPr indent="-32385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>
                <a:latin typeface="Constantia"/>
                <a:ea typeface="Constantia"/>
                <a:cs typeface="Constantia"/>
                <a:sym typeface="Constantia"/>
              </a:defRPr>
            </a:lvl3pPr>
            <a:lvl4pPr indent="-3175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latin typeface="Constantia"/>
                <a:ea typeface="Constantia"/>
                <a:cs typeface="Constantia"/>
                <a:sym typeface="Constantia"/>
              </a:defRPr>
            </a:lvl4pPr>
            <a:lvl5pPr indent="-3175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latin typeface="Constantia"/>
                <a:ea typeface="Constantia"/>
                <a:cs typeface="Constantia"/>
                <a:sym typeface="Constantia"/>
              </a:defRPr>
            </a:lvl5pPr>
            <a:lvl6pPr indent="-3175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://ocw.mit.edu/fairus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ctrTitle"/>
          </p:nvPr>
        </p:nvSpPr>
        <p:spPr>
          <a:xfrm>
            <a:off x="1376706" y="741581"/>
            <a:ext cx="6390600" cy="15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onstantia"/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Personality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/>
        </p:nvSpPr>
        <p:spPr>
          <a:xfrm>
            <a:off x="7325398" y="4727663"/>
            <a:ext cx="141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25400" marR="0" rtl="0" algn="l">
              <a:lnSpc>
                <a:spcPct val="117508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5"/>
          <p:cNvSpPr txBox="1"/>
          <p:nvPr>
            <p:ph type="title"/>
          </p:nvPr>
        </p:nvSpPr>
        <p:spPr>
          <a:xfrm>
            <a:off x="3089371" y="548768"/>
            <a:ext cx="37212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0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onstantia"/>
              <a:buNone/>
            </a:pPr>
            <a:r>
              <a:rPr lang="en" sz="3300"/>
              <a:t>INDIVIDUALITY</a:t>
            </a:r>
            <a:endParaRPr sz="3300"/>
          </a:p>
        </p:txBody>
      </p:sp>
      <p:sp>
        <p:nvSpPr>
          <p:cNvPr id="69" name="Google Shape;69;p15"/>
          <p:cNvSpPr txBox="1"/>
          <p:nvPr/>
        </p:nvSpPr>
        <p:spPr>
          <a:xfrm>
            <a:off x="1591637" y="1200214"/>
            <a:ext cx="5512200" cy="25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3100">
            <a:sp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Every person is in certain respects:</a:t>
            </a:r>
            <a:endParaRPr b="0" i="0" sz="2400" u="none" cap="none" strike="noStrik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indent="-279400" lvl="0" marL="292100" marR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nstantia"/>
              <a:buChar char="•"/>
            </a:pPr>
            <a:r>
              <a:rPr b="1" i="0" lang="en" sz="24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Like all other persons,</a:t>
            </a:r>
            <a:endParaRPr b="0" i="0" sz="2400" u="none" cap="none" strike="noStrik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indent="-279400" lvl="0" marL="292100" marR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nstantia"/>
              <a:buChar char="•"/>
            </a:pPr>
            <a:r>
              <a:rPr b="1" i="0" lang="en" sz="24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Like some other persons,</a:t>
            </a:r>
            <a:endParaRPr b="0" i="0" sz="2400" u="none" cap="none" strike="noStrik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indent="-279400" lvl="0" marL="292100" marR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nstantia"/>
              <a:buChar char="•"/>
            </a:pPr>
            <a:r>
              <a:rPr b="1" i="0" lang="en" sz="24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Like no other person.</a:t>
            </a:r>
            <a:endParaRPr b="0" i="0" sz="2400" u="none" cap="none" strike="noStrik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indent="0" lvl="0" marL="207010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1" lang="en" sz="15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adapted from Kluckhohn &amp; Murray, 1948</a:t>
            </a:r>
            <a:endParaRPr b="0" i="0" sz="1500" u="none" cap="none" strike="noStrik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70" name="Google Shape;70;p15"/>
          <p:cNvSpPr txBox="1"/>
          <p:nvPr/>
        </p:nvSpPr>
        <p:spPr>
          <a:xfrm>
            <a:off x="2373108" y="4316573"/>
            <a:ext cx="41316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50">
            <a:spAutoFit/>
          </a:bodyPr>
          <a:lstStyle/>
          <a:p>
            <a:pPr indent="0" lvl="0" marL="12700" marR="0" rtl="0" algn="l">
              <a:lnSpc>
                <a:spcPct val="108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© C. Kluckhohn and H. Murray. All rights reserved. This content is excluded from our  Creative Commons license. For more information, see </a:t>
            </a:r>
            <a:r>
              <a:rPr b="0" i="0" lang="en" sz="800" u="sng" cap="none" strike="noStrike">
                <a:solidFill>
                  <a:srgbClr val="0000FF"/>
                </a:solidFill>
                <a:latin typeface="Verdana"/>
                <a:ea typeface="Verdana"/>
                <a:cs typeface="Verdana"/>
                <a:sym typeface="Verdana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http://ocw.mit.edu/fairuse</a:t>
            </a:r>
            <a:r>
              <a:rPr b="0" i="0" lang="en" sz="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.</a:t>
            </a:r>
            <a:endParaRPr b="0" i="0" sz="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2959732" y="432296"/>
            <a:ext cx="3108900" cy="44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5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onstantia"/>
              <a:buNone/>
            </a:pPr>
            <a:r>
              <a:rPr lang="en"/>
              <a:t>Personality</a:t>
            </a:r>
            <a:endParaRPr/>
          </a:p>
        </p:txBody>
      </p:sp>
      <p:sp>
        <p:nvSpPr>
          <p:cNvPr id="76" name="Google Shape;76;p16"/>
          <p:cNvSpPr txBox="1"/>
          <p:nvPr/>
        </p:nvSpPr>
        <p:spPr>
          <a:xfrm>
            <a:off x="1019475" y="1565000"/>
            <a:ext cx="6989400" cy="16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75">
            <a:spAutoFit/>
          </a:bodyPr>
          <a:lstStyle/>
          <a:p>
            <a:pPr indent="0" lvl="0" marL="127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2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set of behavioral, emotional, and  cognitive tendencies that people  display over time and across  situations and that distinguish  individuals from one another.</a:t>
            </a:r>
            <a:endParaRPr sz="2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" name="Google Shape;77;p16"/>
          <p:cNvSpPr txBox="1"/>
          <p:nvPr/>
        </p:nvSpPr>
        <p:spPr>
          <a:xfrm>
            <a:off x="7344518" y="4727663"/>
            <a:ext cx="93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175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idx="12" type="sldNum"/>
          </p:nvPr>
        </p:nvSpPr>
        <p:spPr>
          <a:xfrm>
            <a:off x="6088952" y="4710153"/>
            <a:ext cx="2145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25400" marR="0" rtl="0" algn="l">
              <a:lnSpc>
                <a:spcPct val="117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7"/>
          <p:cNvSpPr txBox="1"/>
          <p:nvPr>
            <p:ph type="title"/>
          </p:nvPr>
        </p:nvSpPr>
        <p:spPr>
          <a:xfrm>
            <a:off x="2959732" y="432296"/>
            <a:ext cx="3108900" cy="44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5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onstantia"/>
              <a:buNone/>
            </a:pPr>
            <a:r>
              <a:rPr lang="en"/>
              <a:t>Personality</a:t>
            </a:r>
            <a:endParaRPr/>
          </a:p>
        </p:txBody>
      </p:sp>
      <p:sp>
        <p:nvSpPr>
          <p:cNvPr id="84" name="Google Shape;84;p17"/>
          <p:cNvSpPr txBox="1"/>
          <p:nvPr/>
        </p:nvSpPr>
        <p:spPr>
          <a:xfrm>
            <a:off x="1419551" y="1177850"/>
            <a:ext cx="5880000" cy="24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1725">
            <a:spAutoFit/>
          </a:bodyPr>
          <a:lstStyle/>
          <a:p>
            <a:pPr indent="-3810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nstantia"/>
              <a:buChar char="●"/>
            </a:pPr>
            <a:r>
              <a:rPr lang="en" sz="24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How can we measure?</a:t>
            </a:r>
            <a:endParaRPr sz="24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indent="-3810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nstantia"/>
              <a:buChar char="●"/>
            </a:pPr>
            <a:r>
              <a:rPr lang="en" sz="24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Interview</a:t>
            </a:r>
            <a:endParaRPr sz="24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indent="-3810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nstantia"/>
              <a:buChar char="●"/>
            </a:pPr>
            <a:r>
              <a:rPr lang="en" sz="24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Observation</a:t>
            </a:r>
            <a:endParaRPr sz="24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indent="-381000" lvl="0" marL="457200" marR="1498600" rtl="0" algn="l">
              <a:lnSpc>
                <a:spcPct val="1197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nstantia"/>
              <a:buChar char="●"/>
            </a:pPr>
            <a:r>
              <a:rPr lang="en" sz="24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Inventory/Questionnaire  </a:t>
            </a:r>
            <a:endParaRPr sz="24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indent="-381000" lvl="0" marL="457200" marR="1498600" rtl="0" algn="l">
              <a:lnSpc>
                <a:spcPct val="1197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nstantia"/>
              <a:buChar char="●"/>
            </a:pPr>
            <a:r>
              <a:rPr lang="en" sz="24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Factor Analysis</a:t>
            </a:r>
            <a:endParaRPr sz="24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indent="-3810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nstantia"/>
              <a:buChar char="●"/>
            </a:pPr>
            <a:r>
              <a:rPr lang="en" sz="24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Big Five Personality Dimensions</a:t>
            </a:r>
            <a:endParaRPr sz="24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" sz="2295">
                <a:latin typeface="Times New Roman"/>
                <a:ea typeface="Times New Roman"/>
                <a:cs typeface="Times New Roman"/>
                <a:sym typeface="Times New Roman"/>
              </a:rPr>
              <a:t>Introduction to Personality Theories</a:t>
            </a:r>
            <a:endParaRPr b="1" sz="2295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520"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311700" y="1152475"/>
            <a:ext cx="8520600" cy="385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32500" lnSpcReduction="10000"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 </a:t>
            </a:r>
            <a:r>
              <a:rPr lang="en" sz="5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Personality theories help explain individual behavior and traits.</a:t>
            </a:r>
            <a:br>
              <a:rPr lang="en" sz="5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5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106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●"/>
            </a:pPr>
            <a:r>
              <a:rPr lang="en" sz="5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Major perspectives include:</a:t>
            </a:r>
            <a:br>
              <a:rPr lang="en" sz="5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5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106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○"/>
            </a:pPr>
            <a:r>
              <a:rPr lang="en" sz="5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Psychodynamic</a:t>
            </a:r>
            <a:br>
              <a:rPr lang="en" sz="5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5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106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○"/>
            </a:pPr>
            <a:r>
              <a:rPr lang="en" sz="5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Humanistic</a:t>
            </a:r>
            <a:br>
              <a:rPr lang="en" sz="5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5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106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○"/>
            </a:pPr>
            <a:r>
              <a:rPr lang="en" sz="5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Trait</a:t>
            </a:r>
            <a:br>
              <a:rPr lang="en" sz="5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5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106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○"/>
            </a:pPr>
            <a:r>
              <a:rPr lang="en" sz="5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Social-Cognitive</a:t>
            </a:r>
            <a:endParaRPr sz="5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8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239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latin typeface="Times New Roman"/>
                <a:ea typeface="Times New Roman"/>
                <a:cs typeface="Times New Roman"/>
                <a:sym typeface="Times New Roman"/>
              </a:rPr>
              <a:t>What is Psychodynamic Theory?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1176450"/>
            <a:ext cx="8520600" cy="339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Emphasizes </a:t>
            </a:r>
            <a:r>
              <a:rPr b="1"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unconscious mind</a:t>
            </a: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b="1"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early childhood experiences</a:t>
            </a: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and </a:t>
            </a:r>
            <a:r>
              <a:rPr b="1"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inner conflicts</a:t>
            </a: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b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Originated with Freud in the late 19th century.</a:t>
            </a:r>
            <a:b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Influential in psychology, literature, and therapy.</a:t>
            </a:r>
            <a:b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311700" y="2046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41509"/>
              <a:buFont typeface="Arial"/>
              <a:buNone/>
            </a:pPr>
            <a:r>
              <a:rPr b="1" lang="en" sz="2650">
                <a:latin typeface="Times New Roman"/>
                <a:ea typeface="Times New Roman"/>
                <a:cs typeface="Times New Roman"/>
                <a:sym typeface="Times New Roman"/>
              </a:rPr>
              <a:t>Key Components of Freud’s Theory</a:t>
            </a:r>
            <a:endParaRPr b="1" sz="26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20"/>
          <p:cNvSpPr txBox="1"/>
          <p:nvPr>
            <p:ph idx="1" type="body"/>
          </p:nvPr>
        </p:nvSpPr>
        <p:spPr>
          <a:xfrm>
            <a:off x="248900" y="950600"/>
            <a:ext cx="5304900" cy="39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Structure of the Mind:</a:t>
            </a:r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Char char="●"/>
            </a:pPr>
            <a:r>
              <a:rPr b="1" lang="en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</a:t>
            </a:r>
            <a:r>
              <a:rPr lang="en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primitive desires, pleasure principle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Char char="●"/>
            </a:pPr>
            <a:r>
              <a:rPr b="1" lang="en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Ego</a:t>
            </a:r>
            <a:r>
              <a:rPr lang="en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rational part, reality principle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Char char="●"/>
            </a:pPr>
            <a:r>
              <a:rPr b="1" lang="en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Superego</a:t>
            </a:r>
            <a:r>
              <a:rPr lang="en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moral standards, conscience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Constant conflict among these parts creates anxiety and behavior.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3" name="Google Shape;10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63325" y="1060027"/>
            <a:ext cx="3353751" cy="3353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type="title"/>
          </p:nvPr>
        </p:nvSpPr>
        <p:spPr>
          <a:xfrm>
            <a:off x="311700" y="171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001D35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Ego Defense Mechanisms</a:t>
            </a:r>
            <a:endParaRPr b="1" sz="2400">
              <a:solidFill>
                <a:srgbClr val="001D35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ct val="53225"/>
              <a:buFont typeface="Arial"/>
              <a:buNone/>
            </a:pPr>
            <a:r>
              <a:rPr lang="en" sz="2066">
                <a:solidFill>
                  <a:srgbClr val="001D35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Ego defense mechanisms, as described by Sigmund Freud, are unconscious psychological strategies used by the ego to protect itself from anxiety and conflict between the id and superego. </a:t>
            </a:r>
            <a:endParaRPr sz="2066">
              <a:solidFill>
                <a:srgbClr val="001D35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9" name="Google Shape;109;p21"/>
          <p:cNvSpPr txBox="1"/>
          <p:nvPr>
            <p:ph idx="1" type="body"/>
          </p:nvPr>
        </p:nvSpPr>
        <p:spPr>
          <a:xfrm>
            <a:off x="380125" y="1969850"/>
            <a:ext cx="8520600" cy="310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" sz="6800">
                <a:solidFill>
                  <a:schemeClr val="dk1"/>
                </a:solidFill>
                <a:highlight>
                  <a:srgbClr val="FFF2C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Defense Mechanisms:</a:t>
            </a:r>
            <a:endParaRPr b="1" sz="6800">
              <a:solidFill>
                <a:schemeClr val="dk1"/>
              </a:solidFill>
              <a:highlight>
                <a:srgbClr val="FFF2CC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635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6800">
                <a:solidFill>
                  <a:srgbClr val="001D35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Denial:</a:t>
            </a:r>
            <a:r>
              <a:rPr lang="en" sz="6800">
                <a:solidFill>
                  <a:srgbClr val="001D35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Refusing to acknowledge a distressing event or thought, acting as if it doesn't exist. </a:t>
            </a:r>
            <a:endParaRPr sz="6800">
              <a:solidFill>
                <a:srgbClr val="001D35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63500" rtl="0" algn="l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None/>
            </a:pPr>
            <a:r>
              <a:rPr b="1" lang="en" sz="6800">
                <a:solidFill>
                  <a:srgbClr val="001D35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Repression:</a:t>
            </a:r>
            <a:r>
              <a:rPr lang="en" sz="6800">
                <a:solidFill>
                  <a:srgbClr val="001D35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Unconsciously pushing unwanted thoughts, feelings, or memories into the unconscious mind. </a:t>
            </a:r>
            <a:endParaRPr sz="6800">
              <a:solidFill>
                <a:srgbClr val="001D35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63500" rtl="0" algn="l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None/>
            </a:pPr>
            <a:r>
              <a:rPr b="1" lang="en" sz="6800">
                <a:solidFill>
                  <a:srgbClr val="001D35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Projection:</a:t>
            </a:r>
            <a:r>
              <a:rPr lang="en" sz="6800">
                <a:solidFill>
                  <a:srgbClr val="001D35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Attributing one's own unacceptable feelings or thoughts to someone else. </a:t>
            </a:r>
            <a:endParaRPr sz="6800">
              <a:solidFill>
                <a:srgbClr val="001D35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63500" rtl="0" algn="l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None/>
            </a:pPr>
            <a:r>
              <a:rPr b="1" lang="en" sz="6800">
                <a:solidFill>
                  <a:srgbClr val="001D35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Displacement:</a:t>
            </a:r>
            <a:r>
              <a:rPr lang="en" sz="6800">
                <a:solidFill>
                  <a:srgbClr val="001D35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Redirecting emotions or impulses from a target to a less threatening one. </a:t>
            </a:r>
            <a:endParaRPr sz="6800">
              <a:solidFill>
                <a:srgbClr val="001D35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37500"/>
              </a:lnSpc>
              <a:spcBef>
                <a:spcPts val="2100"/>
              </a:spcBef>
              <a:spcAft>
                <a:spcPts val="0"/>
              </a:spcAft>
              <a:buNone/>
            </a:pPr>
            <a:r>
              <a:t/>
            </a:r>
            <a:endParaRPr sz="4850">
              <a:solidFill>
                <a:srgbClr val="001D35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rgbClr val="001D35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Ego Defense Mechanisms</a:t>
            </a:r>
            <a:endParaRPr/>
          </a:p>
        </p:txBody>
      </p:sp>
      <p:sp>
        <p:nvSpPr>
          <p:cNvPr id="115" name="Google Shape;115;p22"/>
          <p:cNvSpPr txBox="1"/>
          <p:nvPr>
            <p:ph idx="1" type="body"/>
          </p:nvPr>
        </p:nvSpPr>
        <p:spPr>
          <a:xfrm>
            <a:off x="311700" y="1152475"/>
            <a:ext cx="8520600" cy="379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chemeClr val="dk1"/>
                </a:solidFill>
                <a:highlight>
                  <a:srgbClr val="FFF2C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Defense Mechanisms:</a:t>
            </a:r>
            <a:endParaRPr b="1" sz="1900">
              <a:solidFill>
                <a:srgbClr val="001D35"/>
              </a:solidFill>
              <a:highlight>
                <a:srgbClr val="FFF2CC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63500" rtl="0" algn="l">
              <a:lnSpc>
                <a:spcPct val="1375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001D35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Regression:</a:t>
            </a:r>
            <a:r>
              <a:rPr lang="en" sz="1900">
                <a:solidFill>
                  <a:srgbClr val="001D35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Reverting to earlier stages of development in response to stress or conflict. </a:t>
            </a:r>
            <a:endParaRPr sz="1900">
              <a:solidFill>
                <a:srgbClr val="001D35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63500" rtl="0" algn="l">
              <a:lnSpc>
                <a:spcPct val="1375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001D35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Sublimation:</a:t>
            </a:r>
            <a:r>
              <a:rPr lang="en" sz="1900">
                <a:solidFill>
                  <a:srgbClr val="001D35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Channeling unacceptable impulses into socially acceptable activities. </a:t>
            </a:r>
            <a:endParaRPr sz="1900">
              <a:solidFill>
                <a:srgbClr val="001D35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63500" rtl="0" algn="l">
              <a:lnSpc>
                <a:spcPct val="1375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001D35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Rationalization:</a:t>
            </a:r>
            <a:r>
              <a:rPr lang="en" sz="1900">
                <a:solidFill>
                  <a:srgbClr val="001D35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Creating a logical explanation for behavior to reduce anxiety. </a:t>
            </a:r>
            <a:endParaRPr sz="1900">
              <a:solidFill>
                <a:srgbClr val="001D35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375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001D35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Reaction Formation:</a:t>
            </a:r>
            <a:r>
              <a:rPr lang="en" sz="1900">
                <a:solidFill>
                  <a:srgbClr val="001D35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Overcompensating for an unacceptable feeling or thought by exhibiting the opposite behavior. </a:t>
            </a:r>
            <a:endParaRPr sz="1900">
              <a:solidFill>
                <a:srgbClr val="001D35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/>
          <p:nvPr>
            <p:ph type="title"/>
          </p:nvPr>
        </p:nvSpPr>
        <p:spPr>
          <a:xfrm>
            <a:off x="311700" y="2046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Big Five Theory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" name="Google Shape;121;p23"/>
          <p:cNvSpPr txBox="1"/>
          <p:nvPr>
            <p:ph idx="1" type="body"/>
          </p:nvPr>
        </p:nvSpPr>
        <p:spPr>
          <a:xfrm>
            <a:off x="350175" y="863550"/>
            <a:ext cx="8520600" cy="39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b="1"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Personality psychology studies individual differences in behavior, emotion, and thought.</a:t>
            </a:r>
            <a:b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b="1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Big Five Theory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the most widely accepted trait model in psychology today.</a:t>
            </a:r>
            <a:b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Also called the </a:t>
            </a:r>
            <a:r>
              <a:rPr b="1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Five-Factor Model (FFM)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Origin of the Big Five</a:t>
            </a:r>
            <a:endParaRPr b="1"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Developed through </a:t>
            </a:r>
            <a:r>
              <a:rPr b="1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factor analysis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 personality traits.</a:t>
            </a:r>
            <a:b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Pioneers: </a:t>
            </a:r>
            <a:r>
              <a:rPr b="1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Lewis Goldberg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b="1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Costa &amp; McCrae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b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Based on analysis of language and personality descriptors.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4"/>
          <p:cNvSpPr txBox="1"/>
          <p:nvPr>
            <p:ph type="title"/>
          </p:nvPr>
        </p:nvSpPr>
        <p:spPr>
          <a:xfrm>
            <a:off x="311700" y="2239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" sz="2100">
                <a:latin typeface="Times New Roman"/>
                <a:ea typeface="Times New Roman"/>
                <a:cs typeface="Times New Roman"/>
                <a:sym typeface="Times New Roman"/>
              </a:rPr>
              <a:t>What Are the Big Five Traits?</a:t>
            </a:r>
            <a:endParaRPr b="1"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b="1" sz="1170"/>
          </a:p>
        </p:txBody>
      </p:sp>
      <p:sp>
        <p:nvSpPr>
          <p:cNvPr id="127" name="Google Shape;127;p24"/>
          <p:cNvSpPr txBox="1"/>
          <p:nvPr>
            <p:ph idx="1" type="body"/>
          </p:nvPr>
        </p:nvSpPr>
        <p:spPr>
          <a:xfrm>
            <a:off x="311700" y="1152475"/>
            <a:ext cx="8520600" cy="38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Big Five Personality Traits:</a:t>
            </a:r>
            <a:endParaRPr b="1"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AutoNum type="arabicPeriod"/>
            </a:pPr>
            <a:r>
              <a:rPr b="1" lang="en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Openness to Experience</a:t>
            </a:r>
            <a:br>
              <a:rPr b="1" lang="en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AutoNum type="arabicPeriod"/>
            </a:pPr>
            <a:r>
              <a:rPr b="1" lang="en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Conscientiousness</a:t>
            </a:r>
            <a:br>
              <a:rPr b="1" lang="en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AutoNum type="arabicPeriod"/>
            </a:pPr>
            <a:r>
              <a:rPr b="1" lang="en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Extraversion</a:t>
            </a:r>
            <a:br>
              <a:rPr b="1" lang="en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AutoNum type="arabicPeriod"/>
            </a:pPr>
            <a:r>
              <a:rPr b="1" lang="en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Agreeableness</a:t>
            </a:r>
            <a:br>
              <a:rPr b="1" lang="en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AutoNum type="arabicPeriod"/>
            </a:pPr>
            <a:r>
              <a:rPr b="1" lang="en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Neuroticism</a:t>
            </a:r>
            <a:endParaRPr b="1"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5"/>
          <p:cNvSpPr txBox="1"/>
          <p:nvPr>
            <p:ph type="title"/>
          </p:nvPr>
        </p:nvSpPr>
        <p:spPr>
          <a:xfrm>
            <a:off x="311700" y="1380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" sz="2100">
                <a:latin typeface="Times New Roman"/>
                <a:ea typeface="Times New Roman"/>
                <a:cs typeface="Times New Roman"/>
                <a:sym typeface="Times New Roman"/>
              </a:rPr>
              <a:t> The Big Five Traits</a:t>
            </a:r>
            <a:endParaRPr/>
          </a:p>
        </p:txBody>
      </p:sp>
      <p:sp>
        <p:nvSpPr>
          <p:cNvPr id="133" name="Google Shape;133;p25"/>
          <p:cNvSpPr txBox="1"/>
          <p:nvPr>
            <p:ph idx="1" type="body"/>
          </p:nvPr>
        </p:nvSpPr>
        <p:spPr>
          <a:xfrm>
            <a:off x="311700" y="794825"/>
            <a:ext cx="8520600" cy="4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" sz="741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Openness to Experience</a:t>
            </a:r>
            <a:endParaRPr b="1" sz="741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6319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●"/>
            </a:pPr>
            <a:r>
              <a:rPr lang="en" sz="741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Traits: Imaginative, curious, artistic, open to new ideas.</a:t>
            </a:r>
            <a:br>
              <a:rPr lang="en" sz="741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741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6319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●"/>
            </a:pPr>
            <a:r>
              <a:rPr lang="en" sz="741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 score: Creative and open-minded.</a:t>
            </a:r>
            <a:br>
              <a:rPr lang="en" sz="741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741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6319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●"/>
            </a:pPr>
            <a:r>
              <a:rPr lang="en" sz="741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 score: Practical, conventional, prefers routine.</a:t>
            </a:r>
            <a:br>
              <a:rPr lang="en" sz="741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741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" sz="741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Conscientiousness</a:t>
            </a:r>
            <a:endParaRPr b="1" sz="741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6319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●"/>
            </a:pPr>
            <a:r>
              <a:rPr lang="en" sz="741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Traits: Organized, responsible, dependable, goal-oriented.</a:t>
            </a:r>
            <a:br>
              <a:rPr lang="en" sz="741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741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6319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●"/>
            </a:pPr>
            <a:r>
              <a:rPr lang="en" sz="741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 score: Efficient, self-disciplined, reliable.</a:t>
            </a:r>
            <a:br>
              <a:rPr lang="en" sz="741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741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6319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●"/>
            </a:pPr>
            <a:r>
              <a:rPr lang="en" sz="741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 score: Impulsive, careless, disorganized.</a:t>
            </a:r>
            <a:br>
              <a:rPr lang="en" sz="741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741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6"/>
          <p:cNvSpPr txBox="1"/>
          <p:nvPr>
            <p:ph type="title"/>
          </p:nvPr>
        </p:nvSpPr>
        <p:spPr>
          <a:xfrm>
            <a:off x="5219275" y="127750"/>
            <a:ext cx="3709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52380"/>
              <a:buFont typeface="Arial"/>
              <a:buNone/>
            </a:pPr>
            <a:r>
              <a:rPr b="1" lang="en" sz="2100">
                <a:latin typeface="Times New Roman"/>
                <a:ea typeface="Times New Roman"/>
                <a:cs typeface="Times New Roman"/>
                <a:sym typeface="Times New Roman"/>
              </a:rPr>
              <a:t>The Big Five Traits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26"/>
          <p:cNvSpPr txBox="1"/>
          <p:nvPr>
            <p:ph idx="1" type="body"/>
          </p:nvPr>
        </p:nvSpPr>
        <p:spPr>
          <a:xfrm>
            <a:off x="248875" y="286725"/>
            <a:ext cx="4162800" cy="467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Extraversion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Traits: Sociable, talkative, assertive, outgoing.</a:t>
            </a:r>
            <a:b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 score: Energetic, enjoys being around people.</a:t>
            </a:r>
            <a:b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 score: Reserved, quiet, prefers solitude (introverted).</a:t>
            </a:r>
            <a:b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Agreeableness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Traits: Trustworthy, kind, empathetic, cooperative.</a:t>
            </a:r>
            <a:b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 score: Warm, compassionate, helpful.</a:t>
            </a:r>
            <a:b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 score: Competitive, critical, argumentative.</a:t>
            </a:r>
            <a:b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0" name="Google Shape;140;p26"/>
          <p:cNvSpPr txBox="1"/>
          <p:nvPr>
            <p:ph idx="2" type="body"/>
          </p:nvPr>
        </p:nvSpPr>
        <p:spPr>
          <a:xfrm>
            <a:off x="4928575" y="1460750"/>
            <a:ext cx="3999900" cy="26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Neuroticism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Traits: Emotional instability, moodiness, anxiety.</a:t>
            </a:r>
            <a:b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 score: Prone to stress, sensitive, easily upset.</a:t>
            </a:r>
            <a:b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 score: Calm, emotionally stable, resilient.</a:t>
            </a:r>
            <a:b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7"/>
          <p:cNvSpPr txBox="1"/>
          <p:nvPr>
            <p:ph type="title"/>
          </p:nvPr>
        </p:nvSpPr>
        <p:spPr>
          <a:xfrm>
            <a:off x="311700" y="3489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" sz="1995">
                <a:latin typeface="Times New Roman"/>
                <a:ea typeface="Times New Roman"/>
                <a:cs typeface="Times New Roman"/>
                <a:sym typeface="Times New Roman"/>
              </a:rPr>
              <a:t>Applications of the Big Five</a:t>
            </a:r>
            <a:endParaRPr b="1" sz="1995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520"/>
          </a:p>
        </p:txBody>
      </p:sp>
      <p:sp>
        <p:nvSpPr>
          <p:cNvPr id="146" name="Google Shape;146;p27"/>
          <p:cNvSpPr txBox="1"/>
          <p:nvPr>
            <p:ph idx="1" type="body"/>
          </p:nvPr>
        </p:nvSpPr>
        <p:spPr>
          <a:xfrm>
            <a:off x="311700" y="986400"/>
            <a:ext cx="8520600" cy="366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○"/>
            </a:pP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Psychological research</a:t>
            </a:r>
            <a:b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○"/>
            </a:pP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Employee selection</a:t>
            </a:r>
            <a:b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○"/>
            </a:pP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Mental health assessment</a:t>
            </a:r>
            <a:b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○"/>
            </a:pP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Career counseling</a:t>
            </a:r>
            <a:b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Helps predict behaviors like job performance, relationships, well-being.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