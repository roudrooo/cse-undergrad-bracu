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6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y="6858000" cx="12192000"/>
  <p:notesSz cx="6858000" cy="9144000"/>
  <p:embeddedFontLst>
    <p:embeddedFont>
      <p:font typeface="Corbel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hKEvZWo6awwP2as62IubTs58AK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9604D0-21B5-454D-88FE-13AC82E181FC}">
  <a:tblStyle styleId="{539604D0-21B5-454D-88FE-13AC82E181FC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rbel-bold.fntdata"/><Relationship Id="rId20" Type="http://schemas.openxmlformats.org/officeDocument/2006/relationships/slide" Target="slides/slide13.xml"/><Relationship Id="rId42" Type="http://schemas.openxmlformats.org/officeDocument/2006/relationships/font" Target="fonts/Corbel-boldItalic.fntdata"/><Relationship Id="rId41" Type="http://schemas.openxmlformats.org/officeDocument/2006/relationships/font" Target="fonts/Corbel-italic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43" Type="http://customschemas.google.com/relationships/presentationmetadata" Target="meta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font" Target="fonts/Corbel-regular.fntdata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6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i="1" lang="en-US">
                <a:solidFill>
                  <a:srgbClr val="66FF33"/>
                </a:solidFill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6760abead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e6760abead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g3e6760abea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i="1" lang="en-US">
                <a:solidFill>
                  <a:srgbClr val="66FF33"/>
                </a:solidFill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e6760abead_0_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e6760abead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1" name="Google Shape;351;g3e6760abea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i="1" lang="en-US">
                <a:solidFill>
                  <a:srgbClr val="66FF33"/>
                </a:solidFill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e6760abead_0_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e6760abead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g3e6760abea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i="1" lang="en-US">
                <a:solidFill>
                  <a:srgbClr val="66FF33"/>
                </a:solidFill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e6760abead_0_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e6760abead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g3e6760abea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i="1" lang="en-US">
                <a:solidFill>
                  <a:srgbClr val="66FF33"/>
                </a:solidFill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e6760abead_0_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3e6760abead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5" name="Google Shape;485;g3e6760abea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i="1" lang="en-US">
                <a:solidFill>
                  <a:srgbClr val="66FF33"/>
                </a:solidFill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2" name="Google Shape;492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0" name="Google Shape;500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0" name="Google Shape;550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8" name="Google Shape;558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5" name="Google Shape;575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3" name="Google Shape;583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4"/>
          <p:cNvGrpSpPr/>
          <p:nvPr/>
        </p:nvGrpSpPr>
        <p:grpSpPr>
          <a:xfrm>
            <a:off x="546100" y="-4763"/>
            <a:ext cx="5014913" cy="6862763"/>
            <a:chOff x="2928938" y="-4763"/>
            <a:chExt cx="5014912" cy="6862763"/>
          </a:xfrm>
        </p:grpSpPr>
        <p:sp>
          <p:nvSpPr>
            <p:cNvPr id="24" name="Google Shape;24;p34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4"/>
            <p:cNvSpPr/>
            <p:nvPr/>
          </p:nvSpPr>
          <p:spPr>
            <a:xfrm>
              <a:off x="2928938" y="-4763"/>
              <a:ext cx="1035050" cy="2673351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34"/>
            <p:cNvSpPr/>
            <p:nvPr/>
          </p:nvSpPr>
          <p:spPr>
            <a:xfrm>
              <a:off x="2928938" y="2582863"/>
              <a:ext cx="2693987" cy="4275137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34"/>
            <p:cNvSpPr/>
            <p:nvPr/>
          </p:nvSpPr>
          <p:spPr>
            <a:xfrm>
              <a:off x="3371851" y="2692400"/>
              <a:ext cx="3332161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34"/>
            <p:cNvSpPr/>
            <p:nvPr/>
          </p:nvSpPr>
          <p:spPr>
            <a:xfrm>
              <a:off x="3367088" y="2687638"/>
              <a:ext cx="4576762" cy="4170362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34"/>
            <p:cNvSpPr/>
            <p:nvPr/>
          </p:nvSpPr>
          <p:spPr>
            <a:xfrm>
              <a:off x="2928938" y="2578100"/>
              <a:ext cx="3584574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pic>
        <p:nvPicPr>
          <p:cNvPr id="30" name="Google Shape;30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0188" y="201613"/>
            <a:ext cx="114300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4"/>
          <p:cNvSpPr txBox="1"/>
          <p:nvPr>
            <p:ph type="ctrTitle"/>
          </p:nvPr>
        </p:nvSpPr>
        <p:spPr>
          <a:xfrm>
            <a:off x="2928402" y="1380070"/>
            <a:ext cx="8574623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" type="subTitle"/>
          </p:nvPr>
        </p:nvSpPr>
        <p:spPr>
          <a:xfrm>
            <a:off x="4515378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2284"/>
              <a:buNone/>
              <a:defRPr sz="1575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85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5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34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4"/>
          <p:cNvSpPr txBox="1"/>
          <p:nvPr>
            <p:ph idx="11" type="ftr"/>
          </p:nvPr>
        </p:nvSpPr>
        <p:spPr>
          <a:xfrm>
            <a:off x="5332413" y="5883275"/>
            <a:ext cx="43243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3"/>
          <p:cNvSpPr txBox="1"/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3"/>
          <p:cNvSpPr txBox="1"/>
          <p:nvPr>
            <p:ph idx="1" type="body"/>
          </p:nvPr>
        </p:nvSpPr>
        <p:spPr>
          <a:xfrm>
            <a:off x="1484313" y="2667000"/>
            <a:ext cx="10018712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9" name="Google Shape;39;p53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3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3"/>
          <p:cNvSpPr txBox="1"/>
          <p:nvPr>
            <p:ph idx="12" type="sldNum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4"/>
          <p:cNvSpPr txBox="1"/>
          <p:nvPr>
            <p:ph type="title"/>
          </p:nvPr>
        </p:nvSpPr>
        <p:spPr>
          <a:xfrm>
            <a:off x="2572280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4"/>
          <p:cNvSpPr txBox="1"/>
          <p:nvPr>
            <p:ph idx="1" type="body"/>
          </p:nvPr>
        </p:nvSpPr>
        <p:spPr>
          <a:xfrm>
            <a:off x="2572279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54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4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4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5"/>
          <p:cNvSpPr txBox="1"/>
          <p:nvPr>
            <p:ph type="title"/>
          </p:nvPr>
        </p:nvSpPr>
        <p:spPr>
          <a:xfrm>
            <a:off x="1484313" y="685802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5"/>
          <p:cNvSpPr txBox="1"/>
          <p:nvPr>
            <p:ph idx="1" type="body"/>
          </p:nvPr>
        </p:nvSpPr>
        <p:spPr>
          <a:xfrm>
            <a:off x="1484314" y="2667001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52933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indent="-33909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indent="-32531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indent="-311468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indent="-311467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indent="-311467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indent="-311467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indent="-311467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indent="-311467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/>
        </p:txBody>
      </p:sp>
      <p:sp>
        <p:nvSpPr>
          <p:cNvPr id="51" name="Google Shape;51;p55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52933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indent="-33909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indent="-32531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indent="-311468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indent="-311467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indent="-311467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indent="-311467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indent="-311467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indent="-311467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/>
        </p:txBody>
      </p:sp>
      <p:sp>
        <p:nvSpPr>
          <p:cNvPr id="52" name="Google Shape;52;p55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5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5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6"/>
          <p:cNvSpPr txBox="1"/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6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b="0" sz="21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740"/>
              <a:buNone/>
              <a:defRPr b="1" sz="1200"/>
            </a:lvl9pPr>
          </a:lstStyle>
          <a:p/>
        </p:txBody>
      </p:sp>
      <p:sp>
        <p:nvSpPr>
          <p:cNvPr id="58" name="Google Shape;58;p56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933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indent="-33909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indent="-32531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indent="-311468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indent="-311467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indent="-311467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indent="-311467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indent="-311467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indent="-311467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/>
        </p:txBody>
      </p:sp>
      <p:sp>
        <p:nvSpPr>
          <p:cNvPr id="59" name="Google Shape;59;p56"/>
          <p:cNvSpPr txBox="1"/>
          <p:nvPr>
            <p:ph idx="3" type="body"/>
          </p:nvPr>
        </p:nvSpPr>
        <p:spPr>
          <a:xfrm>
            <a:off x="6880489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b="0" sz="21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740"/>
              <a:buNone/>
              <a:defRPr b="1" sz="1200"/>
            </a:lvl9pPr>
          </a:lstStyle>
          <a:p/>
        </p:txBody>
      </p:sp>
      <p:sp>
        <p:nvSpPr>
          <p:cNvPr id="60" name="Google Shape;60;p56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933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indent="-33909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indent="-32531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indent="-311468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indent="-311467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indent="-311467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indent="-311467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indent="-311467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indent="-311467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/>
        </p:txBody>
      </p:sp>
      <p:sp>
        <p:nvSpPr>
          <p:cNvPr id="61" name="Google Shape;61;p56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6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6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7"/>
          <p:cNvSpPr txBox="1"/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7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7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7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8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8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8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9"/>
          <p:cNvSpPr txBox="1"/>
          <p:nvPr>
            <p:ph type="title"/>
          </p:nvPr>
        </p:nvSpPr>
        <p:spPr>
          <a:xfrm>
            <a:off x="1484313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9"/>
          <p:cNvSpPr txBox="1"/>
          <p:nvPr>
            <p:ph idx="1" type="body"/>
          </p:nvPr>
        </p:nvSpPr>
        <p:spPr>
          <a:xfrm>
            <a:off x="5262034" y="685801"/>
            <a:ext cx="6240991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66713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Char char="•"/>
              <a:defRPr sz="1500"/>
            </a:lvl1pPr>
            <a:lvl2pPr indent="-352933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Char char="•"/>
              <a:defRPr sz="1350"/>
            </a:lvl2pPr>
            <a:lvl3pPr indent="-33909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3pPr>
            <a:lvl4pPr indent="-32531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4pPr>
            <a:lvl5pPr indent="-325311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5pPr>
            <a:lvl6pPr indent="-325311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6pPr>
            <a:lvl7pPr indent="-325311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7pPr>
            <a:lvl8pPr indent="-32531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8pPr>
            <a:lvl9pPr indent="-32531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Char char="•"/>
              <a:defRPr sz="1050"/>
            </a:lvl9pPr>
          </a:lstStyle>
          <a:p/>
        </p:txBody>
      </p:sp>
      <p:sp>
        <p:nvSpPr>
          <p:cNvPr id="76" name="Google Shape;76;p59"/>
          <p:cNvSpPr txBox="1"/>
          <p:nvPr>
            <p:ph idx="2" type="body"/>
          </p:nvPr>
        </p:nvSpPr>
        <p:spPr>
          <a:xfrm>
            <a:off x="1484313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74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8"/>
              <a:buNone/>
              <a:defRPr sz="7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79"/>
              <a:buNone/>
              <a:defRPr sz="675"/>
            </a:lvl9pPr>
          </a:lstStyle>
          <a:p/>
        </p:txBody>
      </p:sp>
      <p:sp>
        <p:nvSpPr>
          <p:cNvPr id="77" name="Google Shape;77;p59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9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9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0"/>
          <p:cNvSpPr txBox="1"/>
          <p:nvPr>
            <p:ph type="title"/>
          </p:nvPr>
        </p:nvSpPr>
        <p:spPr>
          <a:xfrm>
            <a:off x="1482725" y="1752599"/>
            <a:ext cx="542615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0"/>
          <p:cNvSpPr/>
          <p:nvPr>
            <p:ph idx="2" type="pic"/>
          </p:nvPr>
        </p:nvSpPr>
        <p:spPr>
          <a:xfrm>
            <a:off x="7594682" y="914400"/>
            <a:ext cx="3280975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0"/>
          <p:cNvSpPr txBox="1"/>
          <p:nvPr>
            <p:ph idx="1" type="body"/>
          </p:nvPr>
        </p:nvSpPr>
        <p:spPr>
          <a:xfrm>
            <a:off x="1482725" y="3124199"/>
            <a:ext cx="542615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None/>
              <a:defRPr sz="135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8"/>
              <a:buNone/>
              <a:defRPr sz="7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79"/>
              <a:buNone/>
              <a:defRPr sz="675"/>
            </a:lvl9pPr>
          </a:lstStyle>
          <a:p/>
        </p:txBody>
      </p:sp>
      <p:sp>
        <p:nvSpPr>
          <p:cNvPr id="84" name="Google Shape;84;p60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0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0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1"/>
          <p:cNvSpPr txBox="1"/>
          <p:nvPr>
            <p:ph type="title"/>
          </p:nvPr>
        </p:nvSpPr>
        <p:spPr>
          <a:xfrm>
            <a:off x="1484312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1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61"/>
          <p:cNvSpPr txBox="1"/>
          <p:nvPr>
            <p:ph idx="1" type="body"/>
          </p:nvPr>
        </p:nvSpPr>
        <p:spPr>
          <a:xfrm>
            <a:off x="1484312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523"/>
              <a:buNone/>
              <a:defRPr sz="105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8"/>
              <a:buNone/>
              <a:defRPr sz="7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79"/>
              <a:buNone/>
              <a:defRPr sz="675"/>
            </a:lvl9pPr>
          </a:lstStyle>
          <a:p/>
        </p:txBody>
      </p:sp>
      <p:sp>
        <p:nvSpPr>
          <p:cNvPr id="91" name="Google Shape;91;p61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1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61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2"/>
          <p:cNvSpPr txBox="1"/>
          <p:nvPr>
            <p:ph type="title"/>
          </p:nvPr>
        </p:nvSpPr>
        <p:spPr>
          <a:xfrm>
            <a:off x="1484314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62"/>
          <p:cNvSpPr txBox="1"/>
          <p:nvPr>
            <p:ph idx="1" type="body"/>
          </p:nvPr>
        </p:nvSpPr>
        <p:spPr>
          <a:xfrm>
            <a:off x="1484313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62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2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62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3"/>
          <p:cNvSpPr txBox="1"/>
          <p:nvPr/>
        </p:nvSpPr>
        <p:spPr>
          <a:xfrm>
            <a:off x="1598613" y="8636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orbe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3"/>
          <p:cNvSpPr txBox="1"/>
          <p:nvPr/>
        </p:nvSpPr>
        <p:spPr>
          <a:xfrm>
            <a:off x="10893425" y="28194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orbe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3"/>
          <p:cNvSpPr txBox="1"/>
          <p:nvPr>
            <p:ph type="title"/>
          </p:nvPr>
        </p:nvSpPr>
        <p:spPr>
          <a:xfrm>
            <a:off x="2208213" y="685801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 cap="none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3"/>
          <p:cNvSpPr txBox="1"/>
          <p:nvPr>
            <p:ph idx="1" type="body"/>
          </p:nvPr>
        </p:nvSpPr>
        <p:spPr>
          <a:xfrm>
            <a:off x="2436813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Font typeface="Corbel"/>
              <a:buNone/>
              <a:defRPr sz="135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85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5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5" name="Google Shape;105;p63"/>
          <p:cNvSpPr txBox="1"/>
          <p:nvPr>
            <p:ph idx="2" type="body"/>
          </p:nvPr>
        </p:nvSpPr>
        <p:spPr>
          <a:xfrm>
            <a:off x="1484312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6" name="Google Shape;106;p63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63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63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4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64"/>
          <p:cNvSpPr txBox="1"/>
          <p:nvPr>
            <p:ph idx="1" type="body"/>
          </p:nvPr>
        </p:nvSpPr>
        <p:spPr>
          <a:xfrm>
            <a:off x="1484312" y="4777381"/>
            <a:ext cx="10018711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64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64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64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5"/>
          <p:cNvSpPr txBox="1"/>
          <p:nvPr/>
        </p:nvSpPr>
        <p:spPr>
          <a:xfrm>
            <a:off x="1598613" y="8636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orbe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5"/>
          <p:cNvSpPr txBox="1"/>
          <p:nvPr/>
        </p:nvSpPr>
        <p:spPr>
          <a:xfrm>
            <a:off x="10893425" y="28194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orbe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5"/>
          <p:cNvSpPr txBox="1"/>
          <p:nvPr>
            <p:ph type="title"/>
          </p:nvPr>
        </p:nvSpPr>
        <p:spPr>
          <a:xfrm>
            <a:off x="2208213" y="685801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 cap="none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65"/>
          <p:cNvSpPr txBox="1"/>
          <p:nvPr>
            <p:ph idx="1" type="body"/>
          </p:nvPr>
        </p:nvSpPr>
        <p:spPr>
          <a:xfrm>
            <a:off x="1484314" y="3886200"/>
            <a:ext cx="10018711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b="0" sz="1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0" name="Google Shape;120;p65"/>
          <p:cNvSpPr txBox="1"/>
          <p:nvPr>
            <p:ph idx="2" type="body"/>
          </p:nvPr>
        </p:nvSpPr>
        <p:spPr>
          <a:xfrm>
            <a:off x="1484312" y="4775200"/>
            <a:ext cx="10018711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None/>
              <a:defRPr sz="135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1" name="Google Shape;121;p65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65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65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6"/>
          <p:cNvSpPr txBox="1"/>
          <p:nvPr>
            <p:ph type="title"/>
          </p:nvPr>
        </p:nvSpPr>
        <p:spPr>
          <a:xfrm>
            <a:off x="1484313" y="685802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66"/>
          <p:cNvSpPr txBox="1"/>
          <p:nvPr>
            <p:ph idx="1" type="body"/>
          </p:nvPr>
        </p:nvSpPr>
        <p:spPr>
          <a:xfrm>
            <a:off x="1484313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b="0" sz="21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7" name="Google Shape;127;p66"/>
          <p:cNvSpPr txBox="1"/>
          <p:nvPr>
            <p:ph idx="2" type="body"/>
          </p:nvPr>
        </p:nvSpPr>
        <p:spPr>
          <a:xfrm>
            <a:off x="1484313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None/>
              <a:defRPr sz="135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8" name="Google Shape;128;p66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66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66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7"/>
          <p:cNvSpPr txBox="1"/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67"/>
          <p:cNvSpPr txBox="1"/>
          <p:nvPr>
            <p:ph idx="1" type="body"/>
          </p:nvPr>
        </p:nvSpPr>
        <p:spPr>
          <a:xfrm rot="5400000">
            <a:off x="4931569" y="-780256"/>
            <a:ext cx="3124200" cy="10018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4" name="Google Shape;134;p67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67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67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8"/>
          <p:cNvSpPr txBox="1"/>
          <p:nvPr>
            <p:ph type="title"/>
          </p:nvPr>
        </p:nvSpPr>
        <p:spPr>
          <a:xfrm rot="5400000">
            <a:off x="8065142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8"/>
          <p:cNvSpPr txBox="1"/>
          <p:nvPr>
            <p:ph idx="1" type="body"/>
          </p:nvPr>
        </p:nvSpPr>
        <p:spPr>
          <a:xfrm rot="5400000">
            <a:off x="2941485" y="-771371"/>
            <a:ext cx="5105400" cy="8019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40" name="Google Shape;140;p68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68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68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80663" y="304800"/>
            <a:ext cx="1143000" cy="104933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6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6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6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7"/>
          <p:cNvSpPr txBox="1"/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7"/>
          <p:cNvSpPr txBox="1"/>
          <p:nvPr>
            <p:ph idx="1" type="body"/>
          </p:nvPr>
        </p:nvSpPr>
        <p:spPr>
          <a:xfrm>
            <a:off x="1484313" y="2667000"/>
            <a:ext cx="10018712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64" name="Google Shape;164;p37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7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7"/>
          <p:cNvSpPr txBox="1"/>
          <p:nvPr>
            <p:ph idx="12" type="sldNum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39"/>
          <p:cNvGrpSpPr/>
          <p:nvPr/>
        </p:nvGrpSpPr>
        <p:grpSpPr>
          <a:xfrm>
            <a:off x="546100" y="-4763"/>
            <a:ext cx="5014913" cy="6862763"/>
            <a:chOff x="2928938" y="-4763"/>
            <a:chExt cx="5014912" cy="6862763"/>
          </a:xfrm>
        </p:grpSpPr>
        <p:sp>
          <p:nvSpPr>
            <p:cNvPr id="169" name="Google Shape;169;p39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9"/>
            <p:cNvSpPr/>
            <p:nvPr/>
          </p:nvSpPr>
          <p:spPr>
            <a:xfrm>
              <a:off x="2928938" y="-4763"/>
              <a:ext cx="1035050" cy="2673351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71" name="Google Shape;171;p39"/>
            <p:cNvSpPr/>
            <p:nvPr/>
          </p:nvSpPr>
          <p:spPr>
            <a:xfrm>
              <a:off x="2928938" y="2582863"/>
              <a:ext cx="2693987" cy="4275137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72" name="Google Shape;172;p39"/>
            <p:cNvSpPr/>
            <p:nvPr/>
          </p:nvSpPr>
          <p:spPr>
            <a:xfrm>
              <a:off x="3371851" y="2692400"/>
              <a:ext cx="3332161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73" name="Google Shape;173;p39"/>
            <p:cNvSpPr/>
            <p:nvPr/>
          </p:nvSpPr>
          <p:spPr>
            <a:xfrm>
              <a:off x="3367088" y="2687638"/>
              <a:ext cx="4576762" cy="4170362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74" name="Google Shape;174;p39"/>
            <p:cNvSpPr/>
            <p:nvPr/>
          </p:nvSpPr>
          <p:spPr>
            <a:xfrm>
              <a:off x="2928938" y="2578100"/>
              <a:ext cx="3584574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5" name="Google Shape;175;p39"/>
          <p:cNvSpPr txBox="1"/>
          <p:nvPr>
            <p:ph type="ctrTitle"/>
          </p:nvPr>
        </p:nvSpPr>
        <p:spPr>
          <a:xfrm>
            <a:off x="2928402" y="1380070"/>
            <a:ext cx="8574623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9"/>
          <p:cNvSpPr txBox="1"/>
          <p:nvPr>
            <p:ph idx="1" type="subTitle"/>
          </p:nvPr>
        </p:nvSpPr>
        <p:spPr>
          <a:xfrm>
            <a:off x="4515378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2284"/>
              <a:buNone/>
              <a:defRPr sz="1575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85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5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7" name="Google Shape;177;p39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9"/>
          <p:cNvSpPr txBox="1"/>
          <p:nvPr>
            <p:ph idx="11" type="ftr"/>
          </p:nvPr>
        </p:nvSpPr>
        <p:spPr>
          <a:xfrm>
            <a:off x="5332413" y="5883275"/>
            <a:ext cx="43243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9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0"/>
          <p:cNvSpPr txBox="1"/>
          <p:nvPr>
            <p:ph type="title"/>
          </p:nvPr>
        </p:nvSpPr>
        <p:spPr>
          <a:xfrm>
            <a:off x="2572280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0"/>
          <p:cNvSpPr txBox="1"/>
          <p:nvPr>
            <p:ph idx="1" type="body"/>
          </p:nvPr>
        </p:nvSpPr>
        <p:spPr>
          <a:xfrm>
            <a:off x="2572279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3" name="Google Shape;183;p40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40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40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1"/>
          <p:cNvSpPr txBox="1"/>
          <p:nvPr>
            <p:ph type="title"/>
          </p:nvPr>
        </p:nvSpPr>
        <p:spPr>
          <a:xfrm>
            <a:off x="1484313" y="685802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41"/>
          <p:cNvSpPr txBox="1"/>
          <p:nvPr>
            <p:ph idx="1" type="body"/>
          </p:nvPr>
        </p:nvSpPr>
        <p:spPr>
          <a:xfrm>
            <a:off x="1484314" y="2667001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52933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indent="-33909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indent="-32531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indent="-311468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indent="-311467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indent="-311467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indent="-311467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indent="-311467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indent="-311467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/>
        </p:txBody>
      </p:sp>
      <p:sp>
        <p:nvSpPr>
          <p:cNvPr id="189" name="Google Shape;189;p41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52933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indent="-33909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indent="-32531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indent="-311468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indent="-311467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indent="-311467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indent="-311467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indent="-311467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indent="-311467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/>
        </p:txBody>
      </p:sp>
      <p:sp>
        <p:nvSpPr>
          <p:cNvPr id="190" name="Google Shape;190;p41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41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41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2"/>
          <p:cNvSpPr txBox="1"/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2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b="0" sz="21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740"/>
              <a:buNone/>
              <a:defRPr b="1" sz="1200"/>
            </a:lvl9pPr>
          </a:lstStyle>
          <a:p/>
        </p:txBody>
      </p:sp>
      <p:sp>
        <p:nvSpPr>
          <p:cNvPr id="196" name="Google Shape;196;p42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933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indent="-33909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indent="-32531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indent="-311468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indent="-311467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indent="-311467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indent="-311467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indent="-311467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indent="-311467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/>
        </p:txBody>
      </p:sp>
      <p:sp>
        <p:nvSpPr>
          <p:cNvPr id="197" name="Google Shape;197;p42"/>
          <p:cNvSpPr txBox="1"/>
          <p:nvPr>
            <p:ph idx="3" type="body"/>
          </p:nvPr>
        </p:nvSpPr>
        <p:spPr>
          <a:xfrm>
            <a:off x="6880489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b="0" sz="21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740"/>
              <a:buNone/>
              <a:defRPr b="1" sz="1200"/>
            </a:lvl9pPr>
          </a:lstStyle>
          <a:p/>
        </p:txBody>
      </p:sp>
      <p:sp>
        <p:nvSpPr>
          <p:cNvPr id="198" name="Google Shape;198;p42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933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indent="-33909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indent="-32531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indent="-311468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indent="-311467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indent="-311467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indent="-311467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indent="-311467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indent="-311467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/>
        </p:txBody>
      </p:sp>
      <p:sp>
        <p:nvSpPr>
          <p:cNvPr id="199" name="Google Shape;199;p42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42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2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3"/>
          <p:cNvSpPr txBox="1"/>
          <p:nvPr>
            <p:ph type="title"/>
          </p:nvPr>
        </p:nvSpPr>
        <p:spPr>
          <a:xfrm>
            <a:off x="1484313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43"/>
          <p:cNvSpPr txBox="1"/>
          <p:nvPr>
            <p:ph idx="1" type="body"/>
          </p:nvPr>
        </p:nvSpPr>
        <p:spPr>
          <a:xfrm>
            <a:off x="5262034" y="685801"/>
            <a:ext cx="6240991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66713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Char char="•"/>
              <a:defRPr sz="1500"/>
            </a:lvl1pPr>
            <a:lvl2pPr indent="-352933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Char char="•"/>
              <a:defRPr sz="1350"/>
            </a:lvl2pPr>
            <a:lvl3pPr indent="-33909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3pPr>
            <a:lvl4pPr indent="-32531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4pPr>
            <a:lvl5pPr indent="-325311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5pPr>
            <a:lvl6pPr indent="-325311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6pPr>
            <a:lvl7pPr indent="-325311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7pPr>
            <a:lvl8pPr indent="-32531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8pPr>
            <a:lvl9pPr indent="-32531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Char char="•"/>
              <a:defRPr sz="1050"/>
            </a:lvl9pPr>
          </a:lstStyle>
          <a:p/>
        </p:txBody>
      </p:sp>
      <p:sp>
        <p:nvSpPr>
          <p:cNvPr id="205" name="Google Shape;205;p43"/>
          <p:cNvSpPr txBox="1"/>
          <p:nvPr>
            <p:ph idx="2" type="body"/>
          </p:nvPr>
        </p:nvSpPr>
        <p:spPr>
          <a:xfrm>
            <a:off x="1484313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74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8"/>
              <a:buNone/>
              <a:defRPr sz="7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79"/>
              <a:buNone/>
              <a:defRPr sz="675"/>
            </a:lvl9pPr>
          </a:lstStyle>
          <a:p/>
        </p:txBody>
      </p:sp>
      <p:sp>
        <p:nvSpPr>
          <p:cNvPr id="206" name="Google Shape;206;p43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3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43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4"/>
          <p:cNvSpPr txBox="1"/>
          <p:nvPr>
            <p:ph type="title"/>
          </p:nvPr>
        </p:nvSpPr>
        <p:spPr>
          <a:xfrm>
            <a:off x="1482725" y="1752599"/>
            <a:ext cx="542615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44"/>
          <p:cNvSpPr/>
          <p:nvPr>
            <p:ph idx="2" type="pic"/>
          </p:nvPr>
        </p:nvSpPr>
        <p:spPr>
          <a:xfrm>
            <a:off x="7594682" y="914400"/>
            <a:ext cx="3280975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44"/>
          <p:cNvSpPr txBox="1"/>
          <p:nvPr>
            <p:ph idx="1" type="body"/>
          </p:nvPr>
        </p:nvSpPr>
        <p:spPr>
          <a:xfrm>
            <a:off x="1482725" y="3124199"/>
            <a:ext cx="542615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None/>
              <a:defRPr sz="135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8"/>
              <a:buNone/>
              <a:defRPr sz="7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79"/>
              <a:buNone/>
              <a:defRPr sz="675"/>
            </a:lvl9pPr>
          </a:lstStyle>
          <a:p/>
        </p:txBody>
      </p:sp>
      <p:sp>
        <p:nvSpPr>
          <p:cNvPr id="213" name="Google Shape;213;p44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4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4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5"/>
          <p:cNvSpPr txBox="1"/>
          <p:nvPr>
            <p:ph type="title"/>
          </p:nvPr>
        </p:nvSpPr>
        <p:spPr>
          <a:xfrm>
            <a:off x="1484312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45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45"/>
          <p:cNvSpPr txBox="1"/>
          <p:nvPr>
            <p:ph idx="1" type="body"/>
          </p:nvPr>
        </p:nvSpPr>
        <p:spPr>
          <a:xfrm>
            <a:off x="1484312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523"/>
              <a:buNone/>
              <a:defRPr sz="105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8"/>
              <a:buNone/>
              <a:defRPr sz="7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79"/>
              <a:buNone/>
              <a:defRPr sz="675"/>
            </a:lvl9pPr>
          </a:lstStyle>
          <a:p/>
        </p:txBody>
      </p:sp>
      <p:sp>
        <p:nvSpPr>
          <p:cNvPr id="220" name="Google Shape;220;p45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5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45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6"/>
          <p:cNvSpPr txBox="1"/>
          <p:nvPr>
            <p:ph type="title"/>
          </p:nvPr>
        </p:nvSpPr>
        <p:spPr>
          <a:xfrm>
            <a:off x="1484314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6"/>
          <p:cNvSpPr txBox="1"/>
          <p:nvPr>
            <p:ph idx="1" type="body"/>
          </p:nvPr>
        </p:nvSpPr>
        <p:spPr>
          <a:xfrm>
            <a:off x="1484313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6" name="Google Shape;226;p46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46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46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7"/>
          <p:cNvSpPr txBox="1"/>
          <p:nvPr/>
        </p:nvSpPr>
        <p:spPr>
          <a:xfrm>
            <a:off x="1598613" y="8636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7"/>
          <p:cNvSpPr txBox="1"/>
          <p:nvPr/>
        </p:nvSpPr>
        <p:spPr>
          <a:xfrm>
            <a:off x="10893425" y="28194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7"/>
          <p:cNvSpPr txBox="1"/>
          <p:nvPr>
            <p:ph type="title"/>
          </p:nvPr>
        </p:nvSpPr>
        <p:spPr>
          <a:xfrm>
            <a:off x="2208213" y="685801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 cap="none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47"/>
          <p:cNvSpPr txBox="1"/>
          <p:nvPr>
            <p:ph idx="1" type="body"/>
          </p:nvPr>
        </p:nvSpPr>
        <p:spPr>
          <a:xfrm>
            <a:off x="2436813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Font typeface="Corbel"/>
              <a:buNone/>
              <a:defRPr sz="135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85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5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34" name="Google Shape;234;p47"/>
          <p:cNvSpPr txBox="1"/>
          <p:nvPr>
            <p:ph idx="2" type="body"/>
          </p:nvPr>
        </p:nvSpPr>
        <p:spPr>
          <a:xfrm>
            <a:off x="1484312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5" name="Google Shape;235;p47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47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47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8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48"/>
          <p:cNvSpPr txBox="1"/>
          <p:nvPr>
            <p:ph idx="1" type="body"/>
          </p:nvPr>
        </p:nvSpPr>
        <p:spPr>
          <a:xfrm>
            <a:off x="1484312" y="4777381"/>
            <a:ext cx="10018711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1" name="Google Shape;241;p48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48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48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9"/>
          <p:cNvSpPr txBox="1"/>
          <p:nvPr/>
        </p:nvSpPr>
        <p:spPr>
          <a:xfrm>
            <a:off x="1598613" y="8636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9"/>
          <p:cNvSpPr txBox="1"/>
          <p:nvPr/>
        </p:nvSpPr>
        <p:spPr>
          <a:xfrm>
            <a:off x="10893425" y="28194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9"/>
          <p:cNvSpPr txBox="1"/>
          <p:nvPr>
            <p:ph type="title"/>
          </p:nvPr>
        </p:nvSpPr>
        <p:spPr>
          <a:xfrm>
            <a:off x="2208213" y="685801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 cap="none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9"/>
          <p:cNvSpPr txBox="1"/>
          <p:nvPr>
            <p:ph idx="1" type="body"/>
          </p:nvPr>
        </p:nvSpPr>
        <p:spPr>
          <a:xfrm>
            <a:off x="1484314" y="3886200"/>
            <a:ext cx="10018711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b="0" sz="1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49" name="Google Shape;249;p49"/>
          <p:cNvSpPr txBox="1"/>
          <p:nvPr>
            <p:ph idx="2" type="body"/>
          </p:nvPr>
        </p:nvSpPr>
        <p:spPr>
          <a:xfrm>
            <a:off x="1484312" y="4775200"/>
            <a:ext cx="10018711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None/>
              <a:defRPr sz="135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0" name="Google Shape;250;p49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49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49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0"/>
          <p:cNvSpPr txBox="1"/>
          <p:nvPr>
            <p:ph type="title"/>
          </p:nvPr>
        </p:nvSpPr>
        <p:spPr>
          <a:xfrm>
            <a:off x="1484313" y="685802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50"/>
          <p:cNvSpPr txBox="1"/>
          <p:nvPr>
            <p:ph idx="1" type="body"/>
          </p:nvPr>
        </p:nvSpPr>
        <p:spPr>
          <a:xfrm>
            <a:off x="1484313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b="0" sz="21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56" name="Google Shape;256;p50"/>
          <p:cNvSpPr txBox="1"/>
          <p:nvPr>
            <p:ph idx="2" type="body"/>
          </p:nvPr>
        </p:nvSpPr>
        <p:spPr>
          <a:xfrm>
            <a:off x="1484313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None/>
              <a:defRPr sz="135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7" name="Google Shape;257;p50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50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50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1"/>
          <p:cNvSpPr txBox="1"/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51"/>
          <p:cNvSpPr txBox="1"/>
          <p:nvPr>
            <p:ph idx="1" type="body"/>
          </p:nvPr>
        </p:nvSpPr>
        <p:spPr>
          <a:xfrm rot="5400000">
            <a:off x="4931569" y="-780256"/>
            <a:ext cx="3124200" cy="10018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63" name="Google Shape;263;p51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51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51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2"/>
          <p:cNvSpPr txBox="1"/>
          <p:nvPr>
            <p:ph type="title"/>
          </p:nvPr>
        </p:nvSpPr>
        <p:spPr>
          <a:xfrm rot="5400000">
            <a:off x="8065142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52"/>
          <p:cNvSpPr txBox="1"/>
          <p:nvPr>
            <p:ph idx="1" type="body"/>
          </p:nvPr>
        </p:nvSpPr>
        <p:spPr>
          <a:xfrm rot="5400000">
            <a:off x="2941485" y="-771371"/>
            <a:ext cx="5105400" cy="8019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69" name="Google Shape;269;p52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52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52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3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3"/>
          <p:cNvGrpSpPr/>
          <p:nvPr/>
        </p:nvGrpSpPr>
        <p:grpSpPr>
          <a:xfrm>
            <a:off x="150813" y="0"/>
            <a:ext cx="2436812" cy="6858000"/>
            <a:chOff x="1320800" y="0"/>
            <a:chExt cx="2436813" cy="6858001"/>
          </a:xfrm>
        </p:grpSpPr>
        <p:sp>
          <p:nvSpPr>
            <p:cNvPr id="11" name="Google Shape;11;p33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33"/>
            <p:cNvSpPr/>
            <p:nvPr/>
          </p:nvSpPr>
          <p:spPr>
            <a:xfrm>
              <a:off x="1320800" y="0"/>
              <a:ext cx="1117600" cy="5276851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33"/>
            <p:cNvSpPr/>
            <p:nvPr/>
          </p:nvSpPr>
          <p:spPr>
            <a:xfrm>
              <a:off x="1320800" y="5238751"/>
              <a:ext cx="1228726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33"/>
            <p:cNvSpPr/>
            <p:nvPr/>
          </p:nvSpPr>
          <p:spPr>
            <a:xfrm>
              <a:off x="1627187" y="5291139"/>
              <a:ext cx="1495426" cy="1566862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33"/>
            <p:cNvSpPr/>
            <p:nvPr/>
          </p:nvSpPr>
          <p:spPr>
            <a:xfrm>
              <a:off x="1627187" y="5286376"/>
              <a:ext cx="2130426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33"/>
            <p:cNvSpPr/>
            <p:nvPr/>
          </p:nvSpPr>
          <p:spPr>
            <a:xfrm>
              <a:off x="1320800" y="5238751"/>
              <a:ext cx="1695451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33"/>
          <p:cNvSpPr txBox="1"/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" type="body"/>
          </p:nvPr>
        </p:nvSpPr>
        <p:spPr>
          <a:xfrm>
            <a:off x="1484313" y="2667000"/>
            <a:ext cx="10018712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66713" lvl="1" marL="9144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48298" lvl="2" marL="1371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1885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39090" lvl="3" marL="18288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174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20675" lvl="4" marL="22860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145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25311" lvl="5" marL="2743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186C3"/>
              </a:buClr>
              <a:buSzPts val="1523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25311" lvl="6" marL="32004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186C3"/>
              </a:buClr>
              <a:buSzPts val="1523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25310" lvl="7" marL="3657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186C3"/>
              </a:buClr>
              <a:buSzPts val="1523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25310" lvl="8" marL="4114800" marR="0" rtl="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rgbClr val="1186C3"/>
              </a:buClr>
              <a:buSzPts val="1523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33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3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3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35"/>
          <p:cNvGrpSpPr/>
          <p:nvPr/>
        </p:nvGrpSpPr>
        <p:grpSpPr>
          <a:xfrm>
            <a:off x="150813" y="0"/>
            <a:ext cx="2436812" cy="6858000"/>
            <a:chOff x="1320800" y="0"/>
            <a:chExt cx="2436813" cy="6858001"/>
          </a:xfrm>
        </p:grpSpPr>
        <p:sp>
          <p:nvSpPr>
            <p:cNvPr id="145" name="Google Shape;145;p35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35"/>
            <p:cNvSpPr/>
            <p:nvPr/>
          </p:nvSpPr>
          <p:spPr>
            <a:xfrm>
              <a:off x="1320800" y="0"/>
              <a:ext cx="1117600" cy="5276851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47" name="Google Shape;147;p35"/>
            <p:cNvSpPr/>
            <p:nvPr/>
          </p:nvSpPr>
          <p:spPr>
            <a:xfrm>
              <a:off x="1320800" y="5238751"/>
              <a:ext cx="1228726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8" name="Google Shape;148;p35"/>
            <p:cNvSpPr/>
            <p:nvPr/>
          </p:nvSpPr>
          <p:spPr>
            <a:xfrm>
              <a:off x="1627187" y="5291139"/>
              <a:ext cx="1495426" cy="1566862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49" name="Google Shape;149;p35"/>
            <p:cNvSpPr/>
            <p:nvPr/>
          </p:nvSpPr>
          <p:spPr>
            <a:xfrm>
              <a:off x="1627187" y="5286376"/>
              <a:ext cx="2130426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50" name="Google Shape;150;p35"/>
            <p:cNvSpPr/>
            <p:nvPr/>
          </p:nvSpPr>
          <p:spPr>
            <a:xfrm>
              <a:off x="1320800" y="5238751"/>
              <a:ext cx="1695451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51" name="Google Shape;151;p35"/>
          <p:cNvSpPr txBox="1"/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2" name="Google Shape;152;p35"/>
          <p:cNvSpPr txBox="1"/>
          <p:nvPr>
            <p:ph idx="1" type="body"/>
          </p:nvPr>
        </p:nvSpPr>
        <p:spPr>
          <a:xfrm>
            <a:off x="1484313" y="2667000"/>
            <a:ext cx="10018712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66713" lvl="1" marL="9144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48298" lvl="2" marL="1371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1885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39090" lvl="3" marL="18288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174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20675" lvl="4" marL="22860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145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25311" lvl="5" marL="2743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186C3"/>
              </a:buClr>
              <a:buSzPts val="1523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25311" lvl="6" marL="32004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186C3"/>
              </a:buClr>
              <a:buSzPts val="1523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25310" lvl="7" marL="3657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186C3"/>
              </a:buClr>
              <a:buSzPts val="1523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25310" lvl="8" marL="4114800" marR="0" rtl="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rgbClr val="1186C3"/>
              </a:buClr>
              <a:buSzPts val="1523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3" name="Google Shape;153;p35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35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35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Relationship Id="rId4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Relationship Id="rId4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g"/><Relationship Id="rId4" Type="http://schemas.openxmlformats.org/officeDocument/2006/relationships/image" Target="../media/image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jpg"/><Relationship Id="rId4" Type="http://schemas.openxmlformats.org/officeDocument/2006/relationships/image" Target="../media/image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Relationship Id="rId4" Type="http://schemas.openxmlformats.org/officeDocument/2006/relationships/image" Target="../media/image25.jpg"/><Relationship Id="rId5" Type="http://schemas.openxmlformats.org/officeDocument/2006/relationships/image" Target="../media/image21.jpg"/><Relationship Id="rId6" Type="http://schemas.openxmlformats.org/officeDocument/2006/relationships/image" Target="../media/image24.jpg"/><Relationship Id="rId7" Type="http://schemas.openxmlformats.org/officeDocument/2006/relationships/image" Target="../media/image1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jpg"/><Relationship Id="rId4" Type="http://schemas.openxmlformats.org/officeDocument/2006/relationships/image" Target="../media/image1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jpg"/><Relationship Id="rId4" Type="http://schemas.openxmlformats.org/officeDocument/2006/relationships/image" Target="../media/image1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jpg"/><Relationship Id="rId4" Type="http://schemas.openxmlformats.org/officeDocument/2006/relationships/image" Target="../media/image20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"/>
          <p:cNvSpPr txBox="1"/>
          <p:nvPr>
            <p:ph type="ctrTitle"/>
          </p:nvPr>
        </p:nvSpPr>
        <p:spPr>
          <a:xfrm>
            <a:off x="2928938" y="1379538"/>
            <a:ext cx="8574087" cy="261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400"/>
              <a:t>Network Layer</a:t>
            </a:r>
            <a:br>
              <a:rPr lang="en-US" sz="5400"/>
            </a:br>
            <a:r>
              <a:rPr lang="en-US" sz="3200"/>
              <a:t>Routing Algorithm</a:t>
            </a:r>
            <a:br>
              <a:rPr lang="en-US" sz="2800"/>
            </a:br>
            <a:r>
              <a:rPr b="1" i="1" lang="en-US" sz="2400"/>
              <a:t>Link State Routing</a:t>
            </a:r>
            <a:endParaRPr b="1" i="1" sz="4800"/>
          </a:p>
        </p:txBody>
      </p:sp>
      <p:sp>
        <p:nvSpPr>
          <p:cNvPr id="278" name="Google Shape;278;p1"/>
          <p:cNvSpPr txBox="1"/>
          <p:nvPr>
            <p:ph idx="1" type="subTitle"/>
          </p:nvPr>
        </p:nvSpPr>
        <p:spPr>
          <a:xfrm>
            <a:off x="5481638" y="3995738"/>
            <a:ext cx="6035675" cy="1389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 sz="2000"/>
              <a:t>Lecture 13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None/>
            </a:pPr>
            <a:r>
              <a:rPr lang="en-US" sz="2000"/>
              <a:t>Department of Computer Science and Engineering</a:t>
            </a:r>
            <a:br>
              <a:rPr lang="en-US" sz="2000"/>
            </a:br>
            <a:r>
              <a:rPr lang="en-US" sz="2000"/>
              <a:t>School of Data &amp; Science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"/>
          <p:cNvSpPr txBox="1"/>
          <p:nvPr>
            <p:ph idx="4294967295" type="title"/>
          </p:nvPr>
        </p:nvSpPr>
        <p:spPr>
          <a:xfrm>
            <a:off x="1752600" y="25558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Chapter 4: Network Layer</a:t>
            </a:r>
            <a:endParaRPr/>
          </a:p>
        </p:txBody>
      </p:sp>
      <p:sp>
        <p:nvSpPr>
          <p:cNvPr id="286" name="Google Shape;286;p2"/>
          <p:cNvSpPr txBox="1"/>
          <p:nvPr>
            <p:ph idx="4294967295" type="body"/>
          </p:nvPr>
        </p:nvSpPr>
        <p:spPr>
          <a:xfrm>
            <a:off x="3566331" y="1398612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65430" lvl="0" marL="214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80"/>
              <a:buChar char="•"/>
            </a:pPr>
            <a:r>
              <a:rPr lang="en-US" sz="3100">
                <a:solidFill>
                  <a:srgbClr val="FF0000"/>
                </a:solidFill>
              </a:rPr>
              <a:t>4 Routing algorithms</a:t>
            </a:r>
            <a:endParaRPr sz="2500"/>
          </a:p>
          <a:p>
            <a:pPr indent="-258762" lvl="1" marL="557213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3600"/>
              <a:buChar char="•"/>
            </a:pPr>
            <a:r>
              <a:rPr lang="en-US" sz="2700"/>
              <a:t>Distance Vector</a:t>
            </a:r>
            <a:endParaRPr sz="2200"/>
          </a:p>
          <a:p>
            <a:pPr indent="-258762" lvl="1" marL="557213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3600"/>
              <a:buChar char="•"/>
            </a:pPr>
            <a:r>
              <a:rPr lang="en-US" sz="2700">
                <a:solidFill>
                  <a:srgbClr val="FF0000"/>
                </a:solidFill>
              </a:rPr>
              <a:t>Link state</a:t>
            </a:r>
            <a:endParaRPr sz="2200"/>
          </a:p>
          <a:p>
            <a:pPr indent="0" lvl="0" marL="91440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287" name="Google Shape;287;p2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"/>
          <p:cNvSpPr txBox="1"/>
          <p:nvPr>
            <p:ph idx="4294967295" type="title"/>
          </p:nvPr>
        </p:nvSpPr>
        <p:spPr>
          <a:xfrm>
            <a:off x="1754187" y="152400"/>
            <a:ext cx="7794761" cy="852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Distance Vector Routing Protocols</a:t>
            </a:r>
            <a:endParaRPr/>
          </a:p>
        </p:txBody>
      </p:sp>
      <p:sp>
        <p:nvSpPr>
          <p:cNvPr id="293" name="Google Shape;293;p3"/>
          <p:cNvSpPr txBox="1"/>
          <p:nvPr>
            <p:ph idx="4294967295" type="body"/>
          </p:nvPr>
        </p:nvSpPr>
        <p:spPr>
          <a:xfrm>
            <a:off x="1667760" y="4166735"/>
            <a:ext cx="9559834" cy="28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0980" lvl="0" marL="214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1" lang="en-US" sz="3200">
                <a:solidFill>
                  <a:srgbClr val="7030A0"/>
                </a:solidFill>
              </a:rPr>
              <a:t>Distance Vector</a:t>
            </a:r>
            <a:r>
              <a:rPr lang="en-US" sz="3200">
                <a:solidFill>
                  <a:srgbClr val="FFFF00"/>
                </a:solidFill>
              </a:rPr>
              <a:t> </a:t>
            </a:r>
            <a:r>
              <a:rPr lang="en-US" sz="3200"/>
              <a:t>routing protocols are like road signs.</a:t>
            </a:r>
            <a:endParaRPr sz="2400"/>
          </a:p>
          <a:p>
            <a:pPr indent="-288925" lvl="1" marL="855663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800"/>
              <a:t>Routers must make preferred path decisions based on a distance or metric to a network.</a:t>
            </a:r>
            <a:endParaRPr sz="1800"/>
          </a:p>
        </p:txBody>
      </p:sp>
      <p:sp>
        <p:nvSpPr>
          <p:cNvPr id="294" name="Google Shape;294;p3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5" name="Google Shape;29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8398" y="1004898"/>
            <a:ext cx="5776961" cy="3048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"/>
          <p:cNvSpPr txBox="1"/>
          <p:nvPr>
            <p:ph idx="12" type="sldNum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5"/>
          <p:cNvSpPr txBox="1"/>
          <p:nvPr/>
        </p:nvSpPr>
        <p:spPr>
          <a:xfrm>
            <a:off x="6361610" y="1697853"/>
            <a:ext cx="5590903" cy="4049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0980" lvl="0" marL="214313" marR="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Link-State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routing protocols are more like a road map.</a:t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8925" lvl="1" marL="855663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They create a topological map of the network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1" marL="855663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Each router uses this map to determine the shortest path to each network.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02" name="Google Shape;30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5303" y="1584906"/>
            <a:ext cx="4657143" cy="46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5"/>
          <p:cNvSpPr txBox="1"/>
          <p:nvPr>
            <p:ph idx="4294967295" type="title"/>
          </p:nvPr>
        </p:nvSpPr>
        <p:spPr>
          <a:xfrm>
            <a:off x="1754187" y="152400"/>
            <a:ext cx="7794761" cy="852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Link State Routing Protocols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"/>
          <p:cNvSpPr/>
          <p:nvPr/>
        </p:nvSpPr>
        <p:spPr>
          <a:xfrm>
            <a:off x="1161255" y="1580287"/>
            <a:ext cx="10341770" cy="4977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810" lvl="0" marL="21431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06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 </a:t>
            </a:r>
            <a:r>
              <a:rPr b="1" i="0" lang="en-US" sz="36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centralized algorithm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: finds the least-cost path using complete knowledge of the network.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431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06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57810" lvl="0" marL="21431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06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Also called </a:t>
            </a:r>
            <a:r>
              <a:rPr b="1" i="0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Shortest Path First (SPF) 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protocols.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431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06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57810" lvl="0" marL="21431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06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Uses </a:t>
            </a:r>
            <a:r>
              <a:rPr b="1" i="0" lang="en-US" sz="32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Dijkstra’s Algorithm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to compute the shortest path from one node to all others.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431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06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57810" lvl="0" marL="21431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06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Though it sounds complex, the basic idea is simple and easy to configure.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"/>
          <p:cNvSpPr/>
          <p:nvPr/>
        </p:nvSpPr>
        <p:spPr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Link-State Routing Protocols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9400" y="228600"/>
            <a:ext cx="1246188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"/>
          <p:cNvSpPr txBox="1"/>
          <p:nvPr>
            <p:ph idx="12" type="sldNum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9"/>
          <p:cNvSpPr txBox="1"/>
          <p:nvPr>
            <p:ph idx="4294967295" type="title"/>
          </p:nvPr>
        </p:nvSpPr>
        <p:spPr>
          <a:xfrm>
            <a:off x="1537063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How it works</a:t>
            </a:r>
            <a:endParaRPr sz="3200"/>
          </a:p>
        </p:txBody>
      </p:sp>
      <p:sp>
        <p:nvSpPr>
          <p:cNvPr id="319" name="Google Shape;319;p69"/>
          <p:cNvSpPr txBox="1"/>
          <p:nvPr>
            <p:ph idx="4294967295" type="body"/>
          </p:nvPr>
        </p:nvSpPr>
        <p:spPr>
          <a:xfrm>
            <a:off x="1340123" y="1188720"/>
            <a:ext cx="100584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9750" lvl="0" marL="5715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720"/>
              <a:buChar char="•"/>
            </a:pPr>
            <a:r>
              <a:rPr lang="en-US" sz="2700">
                <a:latin typeface="Corbel"/>
                <a:ea typeface="Corbel"/>
                <a:cs typeface="Corbel"/>
                <a:sym typeface="Corbel"/>
              </a:rPr>
              <a:t>Uses </a:t>
            </a:r>
            <a:r>
              <a:rPr b="1" lang="en-US" sz="27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Dijkstra’s Algorithm (SPF)</a:t>
            </a:r>
            <a:r>
              <a:rPr lang="en-US" sz="27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 sz="2700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40030" lvl="0" marL="5715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r>
              <a:t/>
            </a:r>
            <a:endParaRPr sz="2700">
              <a:latin typeface="Corbel"/>
              <a:ea typeface="Corbel"/>
              <a:cs typeface="Corbel"/>
              <a:sym typeface="Corbel"/>
            </a:endParaRPr>
          </a:p>
          <a:p>
            <a:pPr indent="-539750" lvl="0" marL="5715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720"/>
              <a:buChar char="•"/>
            </a:pPr>
            <a:r>
              <a:rPr lang="en-US" sz="2700">
                <a:latin typeface="Corbel"/>
                <a:ea typeface="Corbel"/>
                <a:cs typeface="Corbel"/>
                <a:sym typeface="Corbel"/>
              </a:rPr>
              <a:t>Every router knows the </a:t>
            </a:r>
            <a:r>
              <a:rPr b="1" lang="en-US" sz="2700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full network map</a:t>
            </a:r>
            <a:r>
              <a:rPr lang="en-US" sz="2700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700">
                <a:latin typeface="Corbel"/>
                <a:ea typeface="Corbel"/>
                <a:cs typeface="Corbel"/>
                <a:sym typeface="Corbel"/>
              </a:rPr>
              <a:t>(topology + link costs)</a:t>
            </a:r>
            <a:endParaRPr sz="1300"/>
          </a:p>
          <a:p>
            <a:pPr indent="-240030" lvl="0" marL="5715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r>
              <a:t/>
            </a:r>
            <a:endParaRPr sz="2700">
              <a:latin typeface="Corbel"/>
              <a:ea typeface="Corbel"/>
              <a:cs typeface="Corbel"/>
              <a:sym typeface="Corbel"/>
            </a:endParaRPr>
          </a:p>
          <a:p>
            <a:pPr indent="-539750" lvl="0" marL="5715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720"/>
              <a:buChar char="•"/>
            </a:pPr>
            <a:r>
              <a:rPr lang="en-US" sz="2700">
                <a:latin typeface="Corbel"/>
                <a:ea typeface="Corbel"/>
                <a:cs typeface="Corbel"/>
                <a:sym typeface="Corbel"/>
              </a:rPr>
              <a:t>Each router computes the </a:t>
            </a:r>
            <a:r>
              <a:rPr b="1" lang="en-US" sz="2700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least-cost paths</a:t>
            </a:r>
            <a:r>
              <a:rPr lang="en-US" sz="2700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700">
                <a:latin typeface="Corbel"/>
                <a:ea typeface="Corbel"/>
                <a:cs typeface="Corbel"/>
                <a:sym typeface="Corbel"/>
              </a:rPr>
              <a:t>from itself to all other</a:t>
            </a:r>
            <a:endParaRPr sz="1300"/>
          </a:p>
          <a:p>
            <a:pPr indent="-240030" lvl="0" marL="5715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r>
              <a:t/>
            </a:r>
            <a:endParaRPr sz="2700">
              <a:latin typeface="Corbel"/>
              <a:ea typeface="Corbel"/>
              <a:cs typeface="Corbel"/>
              <a:sym typeface="Corbel"/>
            </a:endParaRPr>
          </a:p>
          <a:p>
            <a:pPr indent="-539750" lvl="0" marL="5715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720"/>
              <a:buChar char="•"/>
            </a:pPr>
            <a:r>
              <a:rPr lang="en-US" sz="2700">
                <a:latin typeface="Corbel"/>
                <a:ea typeface="Corbel"/>
                <a:cs typeface="Corbel"/>
                <a:sym typeface="Corbel"/>
              </a:rPr>
              <a:t>The result is a </a:t>
            </a:r>
            <a:r>
              <a:rPr b="1" lang="en-US" sz="2700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forwarding/routing table</a:t>
            </a:r>
            <a:r>
              <a:rPr lang="en-US" sz="2700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700">
                <a:latin typeface="Corbel"/>
                <a:ea typeface="Corbel"/>
                <a:cs typeface="Corbel"/>
                <a:sym typeface="Corbel"/>
              </a:rPr>
              <a:t>(tells where to send packets)</a:t>
            </a:r>
            <a:endParaRPr sz="1300"/>
          </a:p>
          <a:p>
            <a:pPr indent="-240030" lvl="0" marL="5715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r>
              <a:t/>
            </a:r>
            <a:endParaRPr sz="2700">
              <a:latin typeface="Corbel"/>
              <a:ea typeface="Corbel"/>
              <a:cs typeface="Corbel"/>
              <a:sym typeface="Corbel"/>
            </a:endParaRPr>
          </a:p>
          <a:p>
            <a:pPr indent="-571500" lvl="0" marL="5715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20"/>
              <a:buChar char="•"/>
            </a:pPr>
            <a:r>
              <a:rPr lang="en-US" sz="2700">
                <a:latin typeface="Corbel"/>
                <a:ea typeface="Corbel"/>
                <a:cs typeface="Corbel"/>
                <a:sym typeface="Corbel"/>
              </a:rPr>
              <a:t>Algorithm runs in steps: after </a:t>
            </a:r>
            <a:r>
              <a:rPr b="1" lang="en-US" sz="2700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k iterations</a:t>
            </a:r>
            <a:r>
              <a:rPr lang="en-US" sz="2700">
                <a:latin typeface="Corbel"/>
                <a:ea typeface="Corbel"/>
                <a:cs typeface="Corbel"/>
                <a:sym typeface="Corbel"/>
              </a:rPr>
              <a:t>, the router knows the best path to </a:t>
            </a:r>
            <a:r>
              <a:rPr b="1" lang="en-US" sz="27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k destinations</a:t>
            </a:r>
            <a:r>
              <a:rPr lang="en-US" sz="1300"/>
              <a:t>.</a:t>
            </a:r>
            <a:endParaRPr sz="1300"/>
          </a:p>
        </p:txBody>
      </p:sp>
      <p:sp>
        <p:nvSpPr>
          <p:cNvPr id="320" name="Google Shape;320;p69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"/>
          <p:cNvSpPr txBox="1"/>
          <p:nvPr>
            <p:ph idx="4294967295" type="title"/>
          </p:nvPr>
        </p:nvSpPr>
        <p:spPr>
          <a:xfrm>
            <a:off x="1800497" y="76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Link-State Routing Process</a:t>
            </a:r>
            <a:endParaRPr/>
          </a:p>
        </p:txBody>
      </p:sp>
      <p:sp>
        <p:nvSpPr>
          <p:cNvPr id="327" name="Google Shape;327;p14"/>
          <p:cNvSpPr txBox="1"/>
          <p:nvPr>
            <p:ph idx="4294967295" type="body"/>
          </p:nvPr>
        </p:nvSpPr>
        <p:spPr>
          <a:xfrm>
            <a:off x="1323702" y="1219200"/>
            <a:ext cx="10341429" cy="53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r>
              <a:rPr b="1" lang="en-US" sz="3600">
                <a:solidFill>
                  <a:srgbClr val="7D28CD"/>
                </a:solidFill>
              </a:rPr>
              <a:t>5 Step Process :</a:t>
            </a:r>
            <a:endParaRPr b="1">
              <a:solidFill>
                <a:srgbClr val="7D28CD"/>
              </a:solidFill>
            </a:endParaRPr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learns its </a:t>
            </a:r>
            <a:r>
              <a:rPr b="1" lang="en-US" sz="3200">
                <a:solidFill>
                  <a:srgbClr val="0070C0"/>
                </a:solidFill>
              </a:rPr>
              <a:t>directly connected networks</a:t>
            </a:r>
            <a:r>
              <a:rPr lang="en-US" sz="3200">
                <a:solidFill>
                  <a:srgbClr val="0070C0"/>
                </a:solidFill>
              </a:rPr>
              <a:t>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</a:t>
            </a:r>
            <a:r>
              <a:rPr b="1" lang="en-US" sz="3200">
                <a:solidFill>
                  <a:srgbClr val="0070C0"/>
                </a:solidFill>
              </a:rPr>
              <a:t>talks to its neighbors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(sends Hello packets).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creates a </a:t>
            </a:r>
            <a:r>
              <a:rPr b="1" lang="en-US" sz="3200">
                <a:solidFill>
                  <a:srgbClr val="0070C0"/>
                </a:solidFill>
              </a:rPr>
              <a:t>Link-State Packet (LSP)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describing its links.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</a:t>
            </a:r>
            <a:r>
              <a:rPr b="1" lang="en-US" sz="3200">
                <a:solidFill>
                  <a:srgbClr val="0070C0"/>
                </a:solidFill>
              </a:rPr>
              <a:t>floods its LSP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to all other routers.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Every router builds a </a:t>
            </a:r>
            <a:r>
              <a:rPr b="1" lang="en-US" sz="3200">
                <a:solidFill>
                  <a:srgbClr val="0070C0"/>
                </a:solidFill>
              </a:rPr>
              <a:t>complete network map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from all LSPs and runs Dijkstra to find the </a:t>
            </a:r>
            <a:r>
              <a:rPr b="1" lang="en-US" sz="3200">
                <a:solidFill>
                  <a:srgbClr val="7030A0"/>
                </a:solidFill>
              </a:rPr>
              <a:t>best paths</a:t>
            </a:r>
            <a:r>
              <a:rPr lang="en-US" sz="3200">
                <a:solidFill>
                  <a:srgbClr val="7030A0"/>
                </a:solidFill>
              </a:rPr>
              <a:t>.</a:t>
            </a:r>
            <a:endParaRPr sz="3200">
              <a:solidFill>
                <a:srgbClr val="7030A0"/>
              </a:solidFill>
            </a:endParaRPr>
          </a:p>
        </p:txBody>
      </p:sp>
      <p:sp>
        <p:nvSpPr>
          <p:cNvPr id="328" name="Google Shape;328;p14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e6760abead_0_9"/>
          <p:cNvSpPr txBox="1"/>
          <p:nvPr>
            <p:ph idx="4294967295" type="title"/>
          </p:nvPr>
        </p:nvSpPr>
        <p:spPr>
          <a:xfrm>
            <a:off x="1800497" y="76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Link-State Routing Process</a:t>
            </a:r>
            <a:endParaRPr/>
          </a:p>
        </p:txBody>
      </p:sp>
      <p:sp>
        <p:nvSpPr>
          <p:cNvPr id="335" name="Google Shape;335;g3e6760abead_0_9"/>
          <p:cNvSpPr txBox="1"/>
          <p:nvPr>
            <p:ph idx="4294967295" type="body"/>
          </p:nvPr>
        </p:nvSpPr>
        <p:spPr>
          <a:xfrm>
            <a:off x="1323702" y="1219200"/>
            <a:ext cx="103413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r>
              <a:rPr b="1" lang="en-US" sz="3600">
                <a:solidFill>
                  <a:srgbClr val="7D28CD"/>
                </a:solidFill>
              </a:rPr>
              <a:t>5 Step Process :</a:t>
            </a:r>
            <a:endParaRPr b="1">
              <a:solidFill>
                <a:srgbClr val="7D28CD"/>
              </a:solidFill>
            </a:endParaRPr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>
                <a:highlight>
                  <a:schemeClr val="accent2"/>
                </a:highlight>
              </a:rPr>
              <a:t>Each router learns its </a:t>
            </a:r>
            <a:r>
              <a:rPr b="1" lang="en-US" sz="3200">
                <a:solidFill>
                  <a:srgbClr val="0070C0"/>
                </a:solidFill>
                <a:highlight>
                  <a:schemeClr val="accent2"/>
                </a:highlight>
              </a:rPr>
              <a:t>directly connected networks</a:t>
            </a:r>
            <a:r>
              <a:rPr lang="en-US" sz="3200">
                <a:solidFill>
                  <a:srgbClr val="0070C0"/>
                </a:solidFill>
                <a:highlight>
                  <a:schemeClr val="accent2"/>
                </a:highlight>
              </a:rPr>
              <a:t>.</a:t>
            </a:r>
            <a:endParaRPr>
              <a:highlight>
                <a:schemeClr val="accent2"/>
              </a:highlight>
            </a:endParaRPr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</a:t>
            </a:r>
            <a:r>
              <a:rPr b="1" lang="en-US" sz="3200">
                <a:solidFill>
                  <a:srgbClr val="0070C0"/>
                </a:solidFill>
              </a:rPr>
              <a:t>talks to its neighbors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(sends Hello packets).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creates a </a:t>
            </a:r>
            <a:r>
              <a:rPr b="1" lang="en-US" sz="3200">
                <a:solidFill>
                  <a:srgbClr val="0070C0"/>
                </a:solidFill>
              </a:rPr>
              <a:t>Link-State Packet (LSP)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describing its links.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</a:t>
            </a:r>
            <a:r>
              <a:rPr b="1" lang="en-US" sz="3200">
                <a:solidFill>
                  <a:srgbClr val="0070C0"/>
                </a:solidFill>
              </a:rPr>
              <a:t>floods its LSP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to all other routers.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Every router builds a </a:t>
            </a:r>
            <a:r>
              <a:rPr b="1" lang="en-US" sz="3200">
                <a:solidFill>
                  <a:srgbClr val="0070C0"/>
                </a:solidFill>
              </a:rPr>
              <a:t>complete network map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from all LSPs and runs Dijkstra to find the </a:t>
            </a:r>
            <a:r>
              <a:rPr b="1" lang="en-US" sz="3200">
                <a:solidFill>
                  <a:srgbClr val="7030A0"/>
                </a:solidFill>
              </a:rPr>
              <a:t>best paths</a:t>
            </a:r>
            <a:r>
              <a:rPr lang="en-US" sz="3200">
                <a:solidFill>
                  <a:srgbClr val="7030A0"/>
                </a:solidFill>
              </a:rPr>
              <a:t>.</a:t>
            </a:r>
            <a:endParaRPr sz="3200">
              <a:solidFill>
                <a:srgbClr val="7030A0"/>
              </a:solidFill>
            </a:endParaRPr>
          </a:p>
        </p:txBody>
      </p:sp>
      <p:sp>
        <p:nvSpPr>
          <p:cNvPr id="336" name="Google Shape;336;g3e6760abead_0_9"/>
          <p:cNvSpPr txBox="1"/>
          <p:nvPr>
            <p:ph idx="12" type="sldNum"/>
          </p:nvPr>
        </p:nvSpPr>
        <p:spPr>
          <a:xfrm>
            <a:off x="10952163" y="5883275"/>
            <a:ext cx="550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5"/>
          <p:cNvSpPr txBox="1"/>
          <p:nvPr>
            <p:ph idx="4294967295" type="title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Step 1: Directly Connected Networks</a:t>
            </a:r>
            <a:endParaRPr/>
          </a:p>
        </p:txBody>
      </p:sp>
      <p:sp>
        <p:nvSpPr>
          <p:cNvPr id="342" name="Google Shape;342;p15"/>
          <p:cNvSpPr txBox="1"/>
          <p:nvPr>
            <p:ph idx="4294967295" type="body"/>
          </p:nvPr>
        </p:nvSpPr>
        <p:spPr>
          <a:xfrm>
            <a:off x="1752600" y="4414707"/>
            <a:ext cx="9982200" cy="2214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Tahoma"/>
              <a:buChar char="•"/>
            </a:pPr>
            <a:r>
              <a:rPr lang="en-US" sz="2400">
                <a:solidFill>
                  <a:srgbClr val="FF0000"/>
                </a:solidFill>
              </a:rPr>
              <a:t>Each router</a:t>
            </a:r>
            <a:r>
              <a:rPr lang="en-US" sz="2400"/>
              <a:t> learns about its own </a:t>
            </a:r>
            <a:r>
              <a:rPr lang="en-US" sz="2400">
                <a:solidFill>
                  <a:schemeClr val="accent2"/>
                </a:solidFill>
              </a:rPr>
              <a:t>directly connected networks.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/>
              <a:t>When a router interface is configured with an IP address and subnet mask and activated, the interface becomes part of that network.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>
                <a:solidFill>
                  <a:srgbClr val="FF0000"/>
                </a:solidFill>
              </a:rPr>
              <a:t>Regardless of the routing protocols used</a:t>
            </a:r>
            <a:r>
              <a:rPr lang="en-US" sz="2400"/>
              <a:t>, these directly connected networks are now part of the routing table.</a:t>
            </a:r>
            <a:endParaRPr/>
          </a:p>
        </p:txBody>
      </p:sp>
      <p:pic>
        <p:nvPicPr>
          <p:cNvPr descr="ls05.jpg" id="343" name="Google Shape;34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3175" y="1422732"/>
            <a:ext cx="4794250" cy="2819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4" name="Google Shape;344;p15"/>
          <p:cNvGrpSpPr/>
          <p:nvPr/>
        </p:nvGrpSpPr>
        <p:grpSpPr>
          <a:xfrm>
            <a:off x="2552700" y="1544175"/>
            <a:ext cx="7315200" cy="2576513"/>
            <a:chOff x="685800" y="4114800"/>
            <a:chExt cx="7315200" cy="2576299"/>
          </a:xfrm>
        </p:grpSpPr>
        <p:pic>
          <p:nvPicPr>
            <p:cNvPr descr="ls11.jpg" id="345" name="Google Shape;34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76800" y="4114800"/>
              <a:ext cx="3124200" cy="257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15"/>
            <p:cNvSpPr txBox="1"/>
            <p:nvPr/>
          </p:nvSpPr>
          <p:spPr>
            <a:xfrm>
              <a:off x="685800" y="4571962"/>
              <a:ext cx="3505200" cy="1569908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We will focus on the Link-State routing process from the perspective of R1.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7" name="Google Shape;347;p15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e6760abead_0_16"/>
          <p:cNvSpPr txBox="1"/>
          <p:nvPr>
            <p:ph idx="4294967295" type="title"/>
          </p:nvPr>
        </p:nvSpPr>
        <p:spPr>
          <a:xfrm>
            <a:off x="1800497" y="76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Link-State Routing Process</a:t>
            </a:r>
            <a:endParaRPr/>
          </a:p>
        </p:txBody>
      </p:sp>
      <p:sp>
        <p:nvSpPr>
          <p:cNvPr id="354" name="Google Shape;354;g3e6760abead_0_16"/>
          <p:cNvSpPr txBox="1"/>
          <p:nvPr>
            <p:ph idx="4294967295" type="body"/>
          </p:nvPr>
        </p:nvSpPr>
        <p:spPr>
          <a:xfrm>
            <a:off x="1323702" y="1219200"/>
            <a:ext cx="103413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r>
              <a:rPr b="1" lang="en-US" sz="3600">
                <a:solidFill>
                  <a:srgbClr val="7D28CD"/>
                </a:solidFill>
              </a:rPr>
              <a:t>5 Step Process :</a:t>
            </a:r>
            <a:endParaRPr b="1">
              <a:solidFill>
                <a:srgbClr val="7D28CD"/>
              </a:solidFill>
            </a:endParaRPr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learns its </a:t>
            </a:r>
            <a:r>
              <a:rPr b="1" lang="en-US" sz="3200">
                <a:solidFill>
                  <a:srgbClr val="0070C0"/>
                </a:solidFill>
              </a:rPr>
              <a:t>directly connected networks</a:t>
            </a:r>
            <a:r>
              <a:rPr lang="en-US" sz="3200">
                <a:solidFill>
                  <a:srgbClr val="0070C0"/>
                </a:solidFill>
              </a:rPr>
              <a:t>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>
                <a:highlight>
                  <a:schemeClr val="accent2"/>
                </a:highlight>
              </a:rPr>
              <a:t>Each router </a:t>
            </a:r>
            <a:r>
              <a:rPr b="1" lang="en-US" sz="3200">
                <a:solidFill>
                  <a:srgbClr val="0070C0"/>
                </a:solidFill>
                <a:highlight>
                  <a:schemeClr val="accent2"/>
                </a:highlight>
              </a:rPr>
              <a:t>talks to its neighbors</a:t>
            </a:r>
            <a:r>
              <a:rPr lang="en-US" sz="3200">
                <a:solidFill>
                  <a:srgbClr val="0070C0"/>
                </a:solidFill>
                <a:highlight>
                  <a:schemeClr val="accent2"/>
                </a:highlight>
              </a:rPr>
              <a:t> </a:t>
            </a:r>
            <a:r>
              <a:rPr lang="en-US" sz="3200">
                <a:highlight>
                  <a:schemeClr val="accent2"/>
                </a:highlight>
              </a:rPr>
              <a:t>(sends Hello packets).</a:t>
            </a:r>
            <a:endParaRPr>
              <a:highlight>
                <a:schemeClr val="accent2"/>
              </a:highlight>
            </a:endParaRPr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creates a </a:t>
            </a:r>
            <a:r>
              <a:rPr b="1" lang="en-US" sz="3200">
                <a:solidFill>
                  <a:srgbClr val="0070C0"/>
                </a:solidFill>
              </a:rPr>
              <a:t>Link-State Packet (LSP)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describing its links.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</a:t>
            </a:r>
            <a:r>
              <a:rPr b="1" lang="en-US" sz="3200">
                <a:solidFill>
                  <a:srgbClr val="0070C0"/>
                </a:solidFill>
              </a:rPr>
              <a:t>floods its LSP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to all other routers.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Every router builds a </a:t>
            </a:r>
            <a:r>
              <a:rPr b="1" lang="en-US" sz="3200">
                <a:solidFill>
                  <a:srgbClr val="0070C0"/>
                </a:solidFill>
              </a:rPr>
              <a:t>complete network map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from all LSPs and runs Dijkstra to find the </a:t>
            </a:r>
            <a:r>
              <a:rPr b="1" lang="en-US" sz="3200">
                <a:solidFill>
                  <a:srgbClr val="7030A0"/>
                </a:solidFill>
              </a:rPr>
              <a:t>best paths</a:t>
            </a:r>
            <a:r>
              <a:rPr lang="en-US" sz="3200">
                <a:solidFill>
                  <a:srgbClr val="7030A0"/>
                </a:solidFill>
              </a:rPr>
              <a:t>.</a:t>
            </a:r>
            <a:endParaRPr sz="3200">
              <a:solidFill>
                <a:srgbClr val="7030A0"/>
              </a:solidFill>
            </a:endParaRPr>
          </a:p>
        </p:txBody>
      </p:sp>
      <p:sp>
        <p:nvSpPr>
          <p:cNvPr id="355" name="Google Shape;355;g3e6760abead_0_16"/>
          <p:cNvSpPr txBox="1"/>
          <p:nvPr>
            <p:ph idx="12" type="sldNum"/>
          </p:nvPr>
        </p:nvSpPr>
        <p:spPr>
          <a:xfrm>
            <a:off x="10952163" y="5883275"/>
            <a:ext cx="550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6"/>
          <p:cNvSpPr txBox="1"/>
          <p:nvPr>
            <p:ph idx="4294967295" type="title"/>
          </p:nvPr>
        </p:nvSpPr>
        <p:spPr>
          <a:xfrm>
            <a:off x="1752600" y="28319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Step 2: Hello Packets</a:t>
            </a:r>
            <a:endParaRPr/>
          </a:p>
        </p:txBody>
      </p:sp>
      <p:sp>
        <p:nvSpPr>
          <p:cNvPr id="361" name="Google Shape;361;p16"/>
          <p:cNvSpPr txBox="1"/>
          <p:nvPr>
            <p:ph idx="4294967295" type="body"/>
          </p:nvPr>
        </p:nvSpPr>
        <p:spPr>
          <a:xfrm>
            <a:off x="1523999" y="4485564"/>
            <a:ext cx="10310949" cy="2143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Tahoma"/>
              <a:buChar char="•"/>
            </a:pPr>
            <a:r>
              <a:rPr lang="en-US" sz="2400">
                <a:solidFill>
                  <a:srgbClr val="FF0000"/>
                </a:solidFill>
              </a:rPr>
              <a:t>Each router</a:t>
            </a:r>
            <a:r>
              <a:rPr lang="en-US" sz="2400"/>
              <a:t> is responsible for </a:t>
            </a:r>
            <a:r>
              <a:rPr lang="en-US" sz="2400">
                <a:solidFill>
                  <a:srgbClr val="FF0000"/>
                </a:solidFill>
              </a:rPr>
              <a:t>contacting its neighbors</a:t>
            </a:r>
            <a:r>
              <a:rPr lang="en-US" sz="2400"/>
              <a:t> on directly connected networks.</a:t>
            </a:r>
            <a:endParaRPr sz="1600"/>
          </a:p>
          <a:p>
            <a:pPr indent="-342900" lvl="1" marL="34290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400"/>
              <a:t>The router will not be aware of any neighbor routers on the link until it receives a </a:t>
            </a:r>
            <a:r>
              <a:rPr lang="en-US" sz="2400">
                <a:solidFill>
                  <a:srgbClr val="FF0000"/>
                </a:solidFill>
              </a:rPr>
              <a:t>Hello packet</a:t>
            </a:r>
            <a:r>
              <a:rPr lang="en-US" sz="2400"/>
              <a:t> from that neighbor.</a:t>
            </a:r>
            <a:endParaRPr sz="1600"/>
          </a:p>
          <a:p>
            <a:pPr indent="-342900" lvl="1" marL="34290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400"/>
              <a:t>At that time, it establishes an adjacency with the neighboring router.</a:t>
            </a:r>
            <a:endParaRPr sz="1600"/>
          </a:p>
        </p:txBody>
      </p:sp>
      <p:pic>
        <p:nvPicPr>
          <p:cNvPr descr="ls13.jpg" id="362" name="Google Shape;3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0" y="1431877"/>
            <a:ext cx="3756025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6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7"/>
          <p:cNvSpPr txBox="1"/>
          <p:nvPr>
            <p:ph idx="4294967295" type="title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Step 2: Hello Packets</a:t>
            </a:r>
            <a:endParaRPr/>
          </a:p>
        </p:txBody>
      </p:sp>
      <p:pic>
        <p:nvPicPr>
          <p:cNvPr descr="ls14.jpg" id="369" name="Google Shape;36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1219200"/>
            <a:ext cx="6311900" cy="541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0" name="Google Shape;370;p17"/>
          <p:cNvGrpSpPr/>
          <p:nvPr/>
        </p:nvGrpSpPr>
        <p:grpSpPr>
          <a:xfrm>
            <a:off x="2971800" y="1219200"/>
            <a:ext cx="6311900" cy="5410200"/>
            <a:chOff x="1447800" y="1219200"/>
            <a:chExt cx="6311900" cy="5410200"/>
          </a:xfrm>
        </p:grpSpPr>
        <p:pic>
          <p:nvPicPr>
            <p:cNvPr descr="ls15.jpg" id="371" name="Google Shape;371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47800" y="1219200"/>
              <a:ext cx="6311900" cy="54102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72" name="Google Shape;372;p17"/>
            <p:cNvCxnSpPr/>
            <p:nvPr/>
          </p:nvCxnSpPr>
          <p:spPr>
            <a:xfrm flipH="1" rot="10800000">
              <a:off x="4419600" y="3124200"/>
              <a:ext cx="685800" cy="3810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3" name="Google Shape;373;p17"/>
            <p:cNvCxnSpPr/>
            <p:nvPr/>
          </p:nvCxnSpPr>
          <p:spPr>
            <a:xfrm>
              <a:off x="4572000" y="4038600"/>
              <a:ext cx="7620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4" name="Google Shape;374;p17"/>
            <p:cNvCxnSpPr/>
            <p:nvPr/>
          </p:nvCxnSpPr>
          <p:spPr>
            <a:xfrm>
              <a:off x="4495800" y="4724400"/>
              <a:ext cx="609600" cy="3048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5" name="Google Shape;375;p17"/>
            <p:cNvCxnSpPr/>
            <p:nvPr/>
          </p:nvCxnSpPr>
          <p:spPr>
            <a:xfrm rot="10800000">
              <a:off x="2209800" y="4495800"/>
              <a:ext cx="6858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376" name="Google Shape;376;p17"/>
          <p:cNvGrpSpPr/>
          <p:nvPr/>
        </p:nvGrpSpPr>
        <p:grpSpPr>
          <a:xfrm>
            <a:off x="2971800" y="1219200"/>
            <a:ext cx="6311900" cy="5410200"/>
            <a:chOff x="1447800" y="1219200"/>
            <a:chExt cx="6311900" cy="5410200"/>
          </a:xfrm>
        </p:grpSpPr>
        <p:pic>
          <p:nvPicPr>
            <p:cNvPr descr="ls16.jpg" id="377" name="Google Shape;377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47800" y="1219200"/>
              <a:ext cx="6311900" cy="54102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78" name="Google Shape;378;p17"/>
            <p:cNvCxnSpPr/>
            <p:nvPr/>
          </p:nvCxnSpPr>
          <p:spPr>
            <a:xfrm flipH="1">
              <a:off x="5486400" y="2438400"/>
              <a:ext cx="762000" cy="4572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9" name="Google Shape;379;p17"/>
            <p:cNvCxnSpPr/>
            <p:nvPr/>
          </p:nvCxnSpPr>
          <p:spPr>
            <a:xfrm rot="10800000">
              <a:off x="5410200" y="4038600"/>
              <a:ext cx="9144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80" name="Google Shape;380;p17"/>
            <p:cNvCxnSpPr/>
            <p:nvPr/>
          </p:nvCxnSpPr>
          <p:spPr>
            <a:xfrm rot="10800000">
              <a:off x="5257800" y="5638800"/>
              <a:ext cx="838200" cy="4572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81" name="Google Shape;381;p17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2" name="Google Shape;382;p17"/>
          <p:cNvSpPr txBox="1"/>
          <p:nvPr/>
        </p:nvSpPr>
        <p:spPr>
          <a:xfrm>
            <a:off x="899275" y="3128175"/>
            <a:ext cx="1714500" cy="1551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Note that, This network did not send any “Hello” Packet to Router R1</a:t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383" name="Google Shape;383;p17"/>
          <p:cNvCxnSpPr/>
          <p:nvPr/>
        </p:nvCxnSpPr>
        <p:spPr>
          <a:xfrm>
            <a:off x="2613775" y="3816300"/>
            <a:ext cx="851400" cy="256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8"/>
          <p:cNvSpPr txBox="1"/>
          <p:nvPr>
            <p:ph idx="4294967295" type="title"/>
          </p:nvPr>
        </p:nvSpPr>
        <p:spPr>
          <a:xfrm>
            <a:off x="18288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Step 2: Hello Packets</a:t>
            </a:r>
            <a:endParaRPr/>
          </a:p>
        </p:txBody>
      </p:sp>
      <p:sp>
        <p:nvSpPr>
          <p:cNvPr id="389" name="Google Shape;389;p18"/>
          <p:cNvSpPr txBox="1"/>
          <p:nvPr>
            <p:ph idx="4294967295" type="body"/>
          </p:nvPr>
        </p:nvSpPr>
        <p:spPr>
          <a:xfrm>
            <a:off x="1257299" y="1616226"/>
            <a:ext cx="4232275" cy="47464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46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Tahoma"/>
              <a:buChar char="•"/>
            </a:pPr>
            <a:r>
              <a:rPr lang="en-US" sz="3100"/>
              <a:t>A</a:t>
            </a:r>
            <a:r>
              <a:rPr lang="en-US" sz="3100">
                <a:solidFill>
                  <a:srgbClr val="FFFF00"/>
                </a:solidFill>
              </a:rPr>
              <a:t> </a:t>
            </a:r>
            <a:r>
              <a:rPr lang="en-US" sz="3100">
                <a:solidFill>
                  <a:srgbClr val="FF0000"/>
                </a:solidFill>
              </a:rPr>
              <a:t>neighbor</a:t>
            </a:r>
            <a:r>
              <a:rPr lang="en-US" sz="3100"/>
              <a:t> is any other router that is enabled with the </a:t>
            </a:r>
            <a:r>
              <a:rPr lang="en-US" sz="3100">
                <a:solidFill>
                  <a:srgbClr val="FF0000"/>
                </a:solidFill>
              </a:rPr>
              <a:t>same link-state routing protocol</a:t>
            </a:r>
            <a:r>
              <a:rPr lang="en-US" sz="3100"/>
              <a:t>.</a:t>
            </a:r>
            <a:endParaRPr sz="2300"/>
          </a:p>
          <a:p>
            <a:pPr indent="-238" lvl="0" marL="214313" rtl="0" algn="l">
              <a:lnSpc>
                <a:spcPct val="100000"/>
              </a:lnSpc>
              <a:spcBef>
                <a:spcPts val="931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None/>
            </a:pPr>
            <a:r>
              <a:t/>
            </a:r>
            <a:endParaRPr sz="3000"/>
          </a:p>
          <a:p>
            <a:pPr indent="-214074" lvl="0" marL="214313" rtl="0" algn="l">
              <a:lnSpc>
                <a:spcPct val="100000"/>
              </a:lnSpc>
              <a:spcBef>
                <a:spcPts val="931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Char char="•"/>
            </a:pPr>
            <a:r>
              <a:rPr lang="en-US" sz="3000"/>
              <a:t>These small Hello packets </a:t>
            </a:r>
            <a:r>
              <a:rPr lang="en-US" sz="3000"/>
              <a:t>continuously</a:t>
            </a:r>
            <a:r>
              <a:rPr lang="en-US" sz="3000"/>
              <a:t> </a:t>
            </a:r>
            <a:r>
              <a:rPr lang="en-US" sz="3000"/>
              <a:t>exchanged </a:t>
            </a:r>
            <a:r>
              <a:rPr lang="en-US" sz="3000"/>
              <a:t>at fixed, regular intervals</a:t>
            </a:r>
            <a:r>
              <a:rPr lang="en-US" sz="3000"/>
              <a:t> to be between two adjacent neighbors.</a:t>
            </a:r>
            <a:endParaRPr sz="1900"/>
          </a:p>
          <a:p>
            <a:pPr indent="-238" lvl="0" marL="214313" rtl="0" algn="l">
              <a:lnSpc>
                <a:spcPct val="100000"/>
              </a:lnSpc>
              <a:spcBef>
                <a:spcPts val="931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None/>
            </a:pPr>
            <a:r>
              <a:t/>
            </a:r>
            <a:endParaRPr sz="3000"/>
          </a:p>
          <a:p>
            <a:pPr indent="-214074" lvl="0" marL="214313" rtl="0" algn="l">
              <a:lnSpc>
                <a:spcPct val="100000"/>
              </a:lnSpc>
              <a:spcBef>
                <a:spcPts val="931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Char char="•"/>
            </a:pPr>
            <a:r>
              <a:rPr lang="en-US" sz="3000"/>
              <a:t>These packets ensure neighbors are still active.</a:t>
            </a:r>
            <a:endParaRPr/>
          </a:p>
        </p:txBody>
      </p:sp>
      <p:pic>
        <p:nvPicPr>
          <p:cNvPr descr="ls17.jpg" id="390" name="Google Shape;3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9300" y="1790700"/>
            <a:ext cx="5334000" cy="457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1" name="Google Shape;391;p18"/>
          <p:cNvCxnSpPr/>
          <p:nvPr/>
        </p:nvCxnSpPr>
        <p:spPr>
          <a:xfrm flipH="1" rot="10800000">
            <a:off x="7810500" y="3438158"/>
            <a:ext cx="685800" cy="3810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2" name="Google Shape;392;p18"/>
          <p:cNvCxnSpPr/>
          <p:nvPr/>
        </p:nvCxnSpPr>
        <p:spPr>
          <a:xfrm>
            <a:off x="8115300" y="4053160"/>
            <a:ext cx="762000" cy="1588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3" name="Google Shape;393;p18"/>
          <p:cNvCxnSpPr/>
          <p:nvPr/>
        </p:nvCxnSpPr>
        <p:spPr>
          <a:xfrm>
            <a:off x="8039100" y="4479250"/>
            <a:ext cx="685800" cy="3810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94" name="Google Shape;394;p18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e6760abead_0_23"/>
          <p:cNvSpPr txBox="1"/>
          <p:nvPr>
            <p:ph idx="4294967295" type="title"/>
          </p:nvPr>
        </p:nvSpPr>
        <p:spPr>
          <a:xfrm>
            <a:off x="1800497" y="76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Link-State Routing Process</a:t>
            </a:r>
            <a:endParaRPr/>
          </a:p>
        </p:txBody>
      </p:sp>
      <p:sp>
        <p:nvSpPr>
          <p:cNvPr id="401" name="Google Shape;401;g3e6760abead_0_23"/>
          <p:cNvSpPr txBox="1"/>
          <p:nvPr>
            <p:ph idx="4294967295" type="body"/>
          </p:nvPr>
        </p:nvSpPr>
        <p:spPr>
          <a:xfrm>
            <a:off x="1323702" y="1219200"/>
            <a:ext cx="103413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r>
              <a:rPr b="1" lang="en-US" sz="3600">
                <a:solidFill>
                  <a:srgbClr val="7D28CD"/>
                </a:solidFill>
              </a:rPr>
              <a:t>5 Step Process :</a:t>
            </a:r>
            <a:endParaRPr b="1">
              <a:solidFill>
                <a:srgbClr val="7D28CD"/>
              </a:solidFill>
            </a:endParaRPr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learns its </a:t>
            </a:r>
            <a:r>
              <a:rPr b="1" lang="en-US" sz="3200">
                <a:solidFill>
                  <a:srgbClr val="0070C0"/>
                </a:solidFill>
              </a:rPr>
              <a:t>directly connected networks</a:t>
            </a:r>
            <a:r>
              <a:rPr lang="en-US" sz="3200">
                <a:solidFill>
                  <a:srgbClr val="0070C0"/>
                </a:solidFill>
              </a:rPr>
              <a:t>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</a:t>
            </a:r>
            <a:r>
              <a:rPr b="1" lang="en-US" sz="3200">
                <a:solidFill>
                  <a:srgbClr val="0070C0"/>
                </a:solidFill>
              </a:rPr>
              <a:t>talks to its neighbors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(sends Hello packets).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>
                <a:highlight>
                  <a:schemeClr val="accent2"/>
                </a:highlight>
              </a:rPr>
              <a:t>Each router creates a </a:t>
            </a:r>
            <a:r>
              <a:rPr b="1" lang="en-US" sz="3200">
                <a:solidFill>
                  <a:srgbClr val="0070C0"/>
                </a:solidFill>
                <a:highlight>
                  <a:schemeClr val="accent2"/>
                </a:highlight>
              </a:rPr>
              <a:t>Link-State Packet (LSP)</a:t>
            </a:r>
            <a:r>
              <a:rPr lang="en-US" sz="3200">
                <a:solidFill>
                  <a:srgbClr val="0070C0"/>
                </a:solidFill>
                <a:highlight>
                  <a:schemeClr val="accent2"/>
                </a:highlight>
              </a:rPr>
              <a:t> </a:t>
            </a:r>
            <a:r>
              <a:rPr lang="en-US" sz="3200">
                <a:highlight>
                  <a:schemeClr val="accent2"/>
                </a:highlight>
              </a:rPr>
              <a:t>describing its links.</a:t>
            </a:r>
            <a:endParaRPr>
              <a:highlight>
                <a:schemeClr val="accent2"/>
              </a:highlight>
            </a:endParaRPr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</a:t>
            </a:r>
            <a:r>
              <a:rPr b="1" lang="en-US" sz="3200">
                <a:solidFill>
                  <a:srgbClr val="0070C0"/>
                </a:solidFill>
              </a:rPr>
              <a:t>floods its LSP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to all other routers.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Every router builds a </a:t>
            </a:r>
            <a:r>
              <a:rPr b="1" lang="en-US" sz="3200">
                <a:solidFill>
                  <a:srgbClr val="0070C0"/>
                </a:solidFill>
              </a:rPr>
              <a:t>complete network map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from all LSPs and runs Dijkstra to find the </a:t>
            </a:r>
            <a:r>
              <a:rPr b="1" lang="en-US" sz="3200">
                <a:solidFill>
                  <a:srgbClr val="7030A0"/>
                </a:solidFill>
              </a:rPr>
              <a:t>best paths</a:t>
            </a:r>
            <a:r>
              <a:rPr lang="en-US" sz="3200">
                <a:solidFill>
                  <a:srgbClr val="7030A0"/>
                </a:solidFill>
              </a:rPr>
              <a:t>.</a:t>
            </a:r>
            <a:endParaRPr sz="3200">
              <a:solidFill>
                <a:srgbClr val="7030A0"/>
              </a:solidFill>
            </a:endParaRPr>
          </a:p>
        </p:txBody>
      </p:sp>
      <p:sp>
        <p:nvSpPr>
          <p:cNvPr id="402" name="Google Shape;402;g3e6760abead_0_23"/>
          <p:cNvSpPr txBox="1"/>
          <p:nvPr>
            <p:ph idx="12" type="sldNum"/>
          </p:nvPr>
        </p:nvSpPr>
        <p:spPr>
          <a:xfrm>
            <a:off x="10952163" y="5883275"/>
            <a:ext cx="550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9"/>
          <p:cNvSpPr txBox="1"/>
          <p:nvPr>
            <p:ph idx="4294967295" type="title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Step 3: Build the Link-State Packet </a:t>
            </a:r>
            <a:endParaRPr/>
          </a:p>
        </p:txBody>
      </p:sp>
      <p:sp>
        <p:nvSpPr>
          <p:cNvPr id="408" name="Google Shape;408;p19"/>
          <p:cNvSpPr txBox="1"/>
          <p:nvPr>
            <p:ph idx="4294967295" type="body"/>
          </p:nvPr>
        </p:nvSpPr>
        <p:spPr>
          <a:xfrm>
            <a:off x="2057400" y="4648200"/>
            <a:ext cx="88392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Tahoma"/>
              <a:buChar char="•"/>
            </a:pPr>
            <a:r>
              <a:rPr lang="en-US" sz="2000">
                <a:solidFill>
                  <a:srgbClr val="FF0000"/>
                </a:solidFill>
              </a:rPr>
              <a:t>Each router</a:t>
            </a:r>
            <a:r>
              <a:rPr lang="en-US" sz="2000"/>
              <a:t> builds a </a:t>
            </a:r>
            <a:r>
              <a:rPr lang="en-US" sz="2000">
                <a:solidFill>
                  <a:srgbClr val="FF0000"/>
                </a:solidFill>
              </a:rPr>
              <a:t>link-state packet (LSP)</a:t>
            </a:r>
            <a:r>
              <a:rPr b="1" i="1" lang="en-US" sz="2000"/>
              <a:t> </a:t>
            </a:r>
            <a:r>
              <a:rPr lang="en-US" sz="2000"/>
              <a:t>containing the state of each directly connected link.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000"/>
              <a:t>The</a:t>
            </a:r>
            <a:r>
              <a:rPr lang="en-US" sz="2000">
                <a:solidFill>
                  <a:srgbClr val="FF0000"/>
                </a:solidFill>
              </a:rPr>
              <a:t> LSP contains the link-state information</a:t>
            </a:r>
            <a:r>
              <a:rPr lang="en-US" sz="2000"/>
              <a:t> about the sending router’s links. 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000"/>
              <a:t>The router </a:t>
            </a:r>
            <a:r>
              <a:rPr lang="en-US" sz="2000">
                <a:solidFill>
                  <a:srgbClr val="FF0000"/>
                </a:solidFill>
              </a:rPr>
              <a:t>only sends LSPs</a:t>
            </a:r>
            <a:r>
              <a:rPr lang="en-US" sz="2000"/>
              <a:t> out interfaces where it has </a:t>
            </a:r>
            <a:r>
              <a:rPr lang="en-US" sz="2000">
                <a:solidFill>
                  <a:srgbClr val="FF0000"/>
                </a:solidFill>
              </a:rPr>
              <a:t>established adjacencies</a:t>
            </a:r>
            <a:r>
              <a:rPr lang="en-US" sz="2000"/>
              <a:t> with other routers.</a:t>
            </a:r>
            <a:endParaRPr/>
          </a:p>
        </p:txBody>
      </p:sp>
      <p:pic>
        <p:nvPicPr>
          <p:cNvPr descr="ls18.jpg" id="409" name="Google Shape;4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9636" y="1524000"/>
            <a:ext cx="647700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9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e6760abead_0_30"/>
          <p:cNvSpPr txBox="1"/>
          <p:nvPr>
            <p:ph idx="4294967295" type="title"/>
          </p:nvPr>
        </p:nvSpPr>
        <p:spPr>
          <a:xfrm>
            <a:off x="1800497" y="76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Link-State Routing Process</a:t>
            </a:r>
            <a:endParaRPr/>
          </a:p>
        </p:txBody>
      </p:sp>
      <p:sp>
        <p:nvSpPr>
          <p:cNvPr id="417" name="Google Shape;417;g3e6760abead_0_30"/>
          <p:cNvSpPr txBox="1"/>
          <p:nvPr>
            <p:ph idx="4294967295" type="body"/>
          </p:nvPr>
        </p:nvSpPr>
        <p:spPr>
          <a:xfrm>
            <a:off x="1323702" y="1219200"/>
            <a:ext cx="103413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r>
              <a:rPr b="1" lang="en-US" sz="3600">
                <a:solidFill>
                  <a:srgbClr val="7D28CD"/>
                </a:solidFill>
              </a:rPr>
              <a:t>5 Step Process :</a:t>
            </a:r>
            <a:endParaRPr b="1">
              <a:solidFill>
                <a:srgbClr val="7D28CD"/>
              </a:solidFill>
            </a:endParaRPr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learns its </a:t>
            </a:r>
            <a:r>
              <a:rPr b="1" lang="en-US" sz="3200">
                <a:solidFill>
                  <a:srgbClr val="0070C0"/>
                </a:solidFill>
              </a:rPr>
              <a:t>directly connected networks</a:t>
            </a:r>
            <a:r>
              <a:rPr lang="en-US" sz="3200">
                <a:solidFill>
                  <a:srgbClr val="0070C0"/>
                </a:solidFill>
              </a:rPr>
              <a:t>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</a:t>
            </a:r>
            <a:r>
              <a:rPr b="1" lang="en-US" sz="3200">
                <a:solidFill>
                  <a:srgbClr val="0070C0"/>
                </a:solidFill>
              </a:rPr>
              <a:t>talks to its neighbors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(sends Hello packets).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creates a </a:t>
            </a:r>
            <a:r>
              <a:rPr b="1" lang="en-US" sz="3200">
                <a:solidFill>
                  <a:srgbClr val="0070C0"/>
                </a:solidFill>
              </a:rPr>
              <a:t>Link-State Packet (LSP)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describing its links.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>
                <a:highlight>
                  <a:schemeClr val="accent2"/>
                </a:highlight>
              </a:rPr>
              <a:t>Each router </a:t>
            </a:r>
            <a:r>
              <a:rPr b="1" lang="en-US" sz="3200">
                <a:solidFill>
                  <a:srgbClr val="0070C0"/>
                </a:solidFill>
                <a:highlight>
                  <a:schemeClr val="accent2"/>
                </a:highlight>
              </a:rPr>
              <a:t>floods its LSP</a:t>
            </a:r>
            <a:r>
              <a:rPr lang="en-US" sz="3200">
                <a:solidFill>
                  <a:srgbClr val="0070C0"/>
                </a:solidFill>
                <a:highlight>
                  <a:schemeClr val="accent2"/>
                </a:highlight>
              </a:rPr>
              <a:t> </a:t>
            </a:r>
            <a:r>
              <a:rPr lang="en-US" sz="3200">
                <a:highlight>
                  <a:schemeClr val="accent2"/>
                </a:highlight>
              </a:rPr>
              <a:t>to all other routers.</a:t>
            </a:r>
            <a:endParaRPr>
              <a:highlight>
                <a:schemeClr val="accent2"/>
              </a:highlight>
            </a:endParaRPr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Every router builds a </a:t>
            </a:r>
            <a:r>
              <a:rPr b="1" lang="en-US" sz="3200">
                <a:solidFill>
                  <a:srgbClr val="0070C0"/>
                </a:solidFill>
              </a:rPr>
              <a:t>complete network map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from all LSPs and runs Dijkstra to find the </a:t>
            </a:r>
            <a:r>
              <a:rPr b="1" lang="en-US" sz="3200">
                <a:solidFill>
                  <a:srgbClr val="7030A0"/>
                </a:solidFill>
              </a:rPr>
              <a:t>best paths</a:t>
            </a:r>
            <a:r>
              <a:rPr lang="en-US" sz="3200">
                <a:solidFill>
                  <a:srgbClr val="7030A0"/>
                </a:solidFill>
              </a:rPr>
              <a:t>.</a:t>
            </a:r>
            <a:endParaRPr sz="3200">
              <a:solidFill>
                <a:srgbClr val="7030A0"/>
              </a:solidFill>
            </a:endParaRPr>
          </a:p>
        </p:txBody>
      </p:sp>
      <p:sp>
        <p:nvSpPr>
          <p:cNvPr id="418" name="Google Shape;418;g3e6760abead_0_30"/>
          <p:cNvSpPr txBox="1"/>
          <p:nvPr>
            <p:ph idx="12" type="sldNum"/>
          </p:nvPr>
        </p:nvSpPr>
        <p:spPr>
          <a:xfrm>
            <a:off x="10952163" y="5883275"/>
            <a:ext cx="550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0"/>
          <p:cNvSpPr txBox="1"/>
          <p:nvPr>
            <p:ph idx="4294967295" type="title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Step 4: Flooding Link-State Packets</a:t>
            </a:r>
            <a:endParaRPr/>
          </a:p>
        </p:txBody>
      </p:sp>
      <p:sp>
        <p:nvSpPr>
          <p:cNvPr id="424" name="Google Shape;424;p20"/>
          <p:cNvSpPr txBox="1"/>
          <p:nvPr>
            <p:ph idx="4294967295" type="body"/>
          </p:nvPr>
        </p:nvSpPr>
        <p:spPr>
          <a:xfrm>
            <a:off x="2209800" y="5302534"/>
            <a:ext cx="8839200" cy="132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Tahoma"/>
              <a:buChar char="•"/>
            </a:pPr>
            <a:r>
              <a:rPr lang="en-US" sz="1800">
                <a:solidFill>
                  <a:srgbClr val="FF0000"/>
                </a:solidFill>
              </a:rPr>
              <a:t>Each router</a:t>
            </a:r>
            <a:r>
              <a:rPr lang="en-US" sz="1800"/>
              <a:t> </a:t>
            </a:r>
            <a:r>
              <a:rPr lang="en-US" sz="1800">
                <a:solidFill>
                  <a:srgbClr val="FF0000"/>
                </a:solidFill>
              </a:rPr>
              <a:t>floods the LSP to all neighbors</a:t>
            </a:r>
            <a:r>
              <a:rPr lang="en-US" sz="1800"/>
              <a:t>, who then store all LSPs received in a database.</a:t>
            </a:r>
            <a:endParaRPr/>
          </a:p>
          <a:p>
            <a:pPr indent="-342900" lvl="2" marL="79692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Tahoma"/>
              <a:buChar char="•"/>
            </a:pPr>
            <a:r>
              <a:rPr lang="en-US" sz="1600"/>
              <a:t>Whenever a router receives an LSP from a neighboring router, it immediately sends that LSP out all other interfaces, </a:t>
            </a:r>
            <a:r>
              <a:rPr lang="en-US" sz="1600">
                <a:solidFill>
                  <a:srgbClr val="FF0000"/>
                </a:solidFill>
              </a:rPr>
              <a:t>except the interface that received the LSP. </a:t>
            </a:r>
            <a:endParaRPr/>
          </a:p>
        </p:txBody>
      </p:sp>
      <p:pic>
        <p:nvPicPr>
          <p:cNvPr descr="ls19.jpg" id="425" name="Google Shape;4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5600" y="1314734"/>
            <a:ext cx="6705600" cy="391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6" name="Google Shape;426;p20"/>
          <p:cNvGrpSpPr/>
          <p:nvPr/>
        </p:nvGrpSpPr>
        <p:grpSpPr>
          <a:xfrm>
            <a:off x="4331269" y="2014254"/>
            <a:ext cx="1752600" cy="2286000"/>
            <a:chOff x="2743200" y="1524000"/>
            <a:chExt cx="1752600" cy="2286000"/>
          </a:xfrm>
        </p:grpSpPr>
        <p:cxnSp>
          <p:nvCxnSpPr>
            <p:cNvPr id="427" name="Google Shape;427;p20"/>
            <p:cNvCxnSpPr/>
            <p:nvPr/>
          </p:nvCxnSpPr>
          <p:spPr>
            <a:xfrm flipH="1" rot="10800000">
              <a:off x="2743200" y="1524000"/>
              <a:ext cx="1752600" cy="9144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8" name="Google Shape;428;p20"/>
            <p:cNvCxnSpPr/>
            <p:nvPr/>
          </p:nvCxnSpPr>
          <p:spPr>
            <a:xfrm>
              <a:off x="2895600" y="2667000"/>
              <a:ext cx="1524000" cy="1588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9" name="Google Shape;429;p20"/>
            <p:cNvCxnSpPr/>
            <p:nvPr/>
          </p:nvCxnSpPr>
          <p:spPr>
            <a:xfrm>
              <a:off x="2743200" y="2895600"/>
              <a:ext cx="1676400" cy="9144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pic>
          <p:nvPicPr>
            <p:cNvPr descr="ls20.jpg" id="430" name="Google Shape;430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24200" y="21336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s20.jpg" id="431" name="Google Shape;431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24200" y="25908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s20.jpg" id="432" name="Google Shape;432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24200" y="30480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3" name="Google Shape;433;p20"/>
          <p:cNvSpPr txBox="1"/>
          <p:nvPr/>
        </p:nvSpPr>
        <p:spPr>
          <a:xfrm>
            <a:off x="7391400" y="1496704"/>
            <a:ext cx="2895600" cy="461963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Flooding of R1 LSP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4" name="Google Shape;434;p20"/>
          <p:cNvGrpSpPr/>
          <p:nvPr/>
        </p:nvGrpSpPr>
        <p:grpSpPr>
          <a:xfrm>
            <a:off x="1524000" y="1479266"/>
            <a:ext cx="3124200" cy="1677987"/>
            <a:chOff x="457200" y="990600"/>
            <a:chExt cx="3124200" cy="1677193"/>
          </a:xfrm>
        </p:grpSpPr>
        <p:cxnSp>
          <p:nvCxnSpPr>
            <p:cNvPr id="435" name="Google Shape;435;p20"/>
            <p:cNvCxnSpPr/>
            <p:nvPr/>
          </p:nvCxnSpPr>
          <p:spPr>
            <a:xfrm rot="5400000">
              <a:off x="1600453" y="2133058"/>
              <a:ext cx="1066295" cy="3175"/>
            </a:xfrm>
            <a:prstGeom prst="straightConnector1">
              <a:avLst/>
            </a:prstGeom>
            <a:noFill/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36" name="Google Shape;436;p20"/>
            <p:cNvSpPr txBox="1"/>
            <p:nvPr/>
          </p:nvSpPr>
          <p:spPr>
            <a:xfrm>
              <a:off x="457200" y="990600"/>
              <a:ext cx="3124200" cy="831456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No response to Hello – no LSP sent.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7" name="Google Shape;437;p20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1"/>
          <p:cNvSpPr txBox="1"/>
          <p:nvPr>
            <p:ph idx="4294967295" type="title"/>
          </p:nvPr>
        </p:nvSpPr>
        <p:spPr>
          <a:xfrm>
            <a:off x="1676400" y="242343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Step 4: Flooding Link-State Packets</a:t>
            </a:r>
            <a:endParaRPr/>
          </a:p>
        </p:txBody>
      </p:sp>
      <p:sp>
        <p:nvSpPr>
          <p:cNvPr id="443" name="Google Shape;443;p21"/>
          <p:cNvSpPr txBox="1"/>
          <p:nvPr>
            <p:ph idx="4294967295" type="body"/>
          </p:nvPr>
        </p:nvSpPr>
        <p:spPr>
          <a:xfrm>
            <a:off x="2286000" y="5038988"/>
            <a:ext cx="8763000" cy="1666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20980" lvl="0" marL="214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/>
              <a:t>Link-state routing protocols calculate the SPF algorithm </a:t>
            </a:r>
            <a:r>
              <a:rPr lang="en-US" sz="2400">
                <a:solidFill>
                  <a:srgbClr val="FF0000"/>
                </a:solidFill>
              </a:rPr>
              <a:t>after the flooding</a:t>
            </a:r>
            <a:r>
              <a:rPr lang="en-US" sz="2400">
                <a:solidFill>
                  <a:srgbClr val="FFFF00"/>
                </a:solidFill>
              </a:rPr>
              <a:t> </a:t>
            </a:r>
            <a:r>
              <a:rPr lang="en-US" sz="2400"/>
              <a:t>is complete. </a:t>
            </a:r>
            <a:endParaRPr/>
          </a:p>
          <a:p>
            <a:pPr indent="-220980" lvl="0" marL="214313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/>
              <a:t>As a result, link-state routing protocols </a:t>
            </a:r>
            <a:r>
              <a:rPr lang="en-US" sz="2400">
                <a:solidFill>
                  <a:srgbClr val="FF0000"/>
                </a:solidFill>
              </a:rPr>
              <a:t>reach convergence much faster</a:t>
            </a:r>
            <a:r>
              <a:rPr lang="en-US" sz="2400">
                <a:solidFill>
                  <a:srgbClr val="FFFF00"/>
                </a:solidFill>
              </a:rPr>
              <a:t> </a:t>
            </a:r>
            <a:r>
              <a:rPr lang="en-US" sz="2400"/>
              <a:t>than distance vector routing protocols.</a:t>
            </a:r>
            <a:endParaRPr/>
          </a:p>
        </p:txBody>
      </p:sp>
      <p:pic>
        <p:nvPicPr>
          <p:cNvPr descr="ls19.jpg" id="444" name="Google Shape;44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0731" y="1083150"/>
            <a:ext cx="6705600" cy="391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5" name="Google Shape;445;p21"/>
          <p:cNvGrpSpPr/>
          <p:nvPr/>
        </p:nvGrpSpPr>
        <p:grpSpPr>
          <a:xfrm>
            <a:off x="6019800" y="2971800"/>
            <a:ext cx="611188" cy="673100"/>
            <a:chOff x="4495800" y="2971800"/>
            <a:chExt cx="611188" cy="673100"/>
          </a:xfrm>
        </p:grpSpPr>
        <p:pic>
          <p:nvPicPr>
            <p:cNvPr descr="ls20.jpg" id="446" name="Google Shape;44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72000" y="29718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s20.jpg" id="447" name="Google Shape;447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72000" y="33528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48" name="Google Shape;448;p21"/>
            <p:cNvCxnSpPr/>
            <p:nvPr/>
          </p:nvCxnSpPr>
          <p:spPr>
            <a:xfrm rot="5400000">
              <a:off x="4801394" y="3275806"/>
              <a:ext cx="609600" cy="1588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449" name="Google Shape;449;p21"/>
            <p:cNvCxnSpPr/>
            <p:nvPr/>
          </p:nvCxnSpPr>
          <p:spPr>
            <a:xfrm rot="5400000">
              <a:off x="4191794" y="3275806"/>
              <a:ext cx="609600" cy="1588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450" name="Google Shape;450;p21"/>
          <p:cNvGrpSpPr/>
          <p:nvPr/>
        </p:nvGrpSpPr>
        <p:grpSpPr>
          <a:xfrm>
            <a:off x="4267200" y="1524000"/>
            <a:ext cx="1752600" cy="2286000"/>
            <a:chOff x="2743200" y="1524000"/>
            <a:chExt cx="1752600" cy="2286000"/>
          </a:xfrm>
        </p:grpSpPr>
        <p:cxnSp>
          <p:nvCxnSpPr>
            <p:cNvPr id="451" name="Google Shape;451;p21"/>
            <p:cNvCxnSpPr/>
            <p:nvPr/>
          </p:nvCxnSpPr>
          <p:spPr>
            <a:xfrm flipH="1" rot="10800000">
              <a:off x="2743200" y="1524000"/>
              <a:ext cx="1752600" cy="9144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52" name="Google Shape;452;p21"/>
            <p:cNvCxnSpPr/>
            <p:nvPr/>
          </p:nvCxnSpPr>
          <p:spPr>
            <a:xfrm>
              <a:off x="2895600" y="2667000"/>
              <a:ext cx="1524000" cy="1588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53" name="Google Shape;453;p21"/>
            <p:cNvCxnSpPr/>
            <p:nvPr/>
          </p:nvCxnSpPr>
          <p:spPr>
            <a:xfrm>
              <a:off x="2743200" y="2895600"/>
              <a:ext cx="1676400" cy="9144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pic>
          <p:nvPicPr>
            <p:cNvPr descr="ls20.jpg" id="454" name="Google Shape;454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24200" y="21336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s20.jpg" id="455" name="Google Shape;455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24200" y="25908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s20.jpg" id="456" name="Google Shape;45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24200" y="30480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57" name="Google Shape;457;p21"/>
          <p:cNvCxnSpPr/>
          <p:nvPr/>
        </p:nvCxnSpPr>
        <p:spPr>
          <a:xfrm>
            <a:off x="6705600" y="1600200"/>
            <a:ext cx="1676400" cy="9144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8" name="Google Shape;458;p21"/>
          <p:cNvCxnSpPr/>
          <p:nvPr/>
        </p:nvCxnSpPr>
        <p:spPr>
          <a:xfrm flipH="1" rot="10800000">
            <a:off x="6629400" y="2959100"/>
            <a:ext cx="1752600" cy="8509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ls20.jpg" id="459" name="Google Shape;45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1800" y="1752600"/>
            <a:ext cx="44450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s20.jpg" id="460" name="Google Shape;46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0" y="3124200"/>
            <a:ext cx="444500" cy="292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1" name="Google Shape;461;p21"/>
          <p:cNvCxnSpPr/>
          <p:nvPr/>
        </p:nvCxnSpPr>
        <p:spPr>
          <a:xfrm rot="10800000">
            <a:off x="4178300" y="2971800"/>
            <a:ext cx="1752600" cy="9906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2" name="Google Shape;462;p21"/>
          <p:cNvCxnSpPr/>
          <p:nvPr/>
        </p:nvCxnSpPr>
        <p:spPr>
          <a:xfrm rot="10800000">
            <a:off x="6540500" y="1816100"/>
            <a:ext cx="1587500" cy="803275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3" name="Google Shape;463;p21"/>
          <p:cNvCxnSpPr/>
          <p:nvPr/>
        </p:nvCxnSpPr>
        <p:spPr>
          <a:xfrm flipH="1">
            <a:off x="6629400" y="2819400"/>
            <a:ext cx="1600200" cy="7620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4" name="Google Shape;464;p21"/>
          <p:cNvCxnSpPr/>
          <p:nvPr/>
        </p:nvCxnSpPr>
        <p:spPr>
          <a:xfrm flipH="1">
            <a:off x="4648200" y="1816100"/>
            <a:ext cx="1447800" cy="6985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5" name="Google Shape;465;p21"/>
          <p:cNvCxnSpPr/>
          <p:nvPr/>
        </p:nvCxnSpPr>
        <p:spPr>
          <a:xfrm flipH="1">
            <a:off x="4432300" y="2806700"/>
            <a:ext cx="1535113" cy="127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6" name="Google Shape;466;p21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2"/>
          <p:cNvSpPr txBox="1"/>
          <p:nvPr>
            <p:ph idx="4294967295" type="title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Step 4: Flooding Link-State Packets</a:t>
            </a:r>
            <a:endParaRPr/>
          </a:p>
        </p:txBody>
      </p:sp>
      <p:sp>
        <p:nvSpPr>
          <p:cNvPr id="472" name="Google Shape;472;p22"/>
          <p:cNvSpPr txBox="1"/>
          <p:nvPr>
            <p:ph idx="4294967295" type="body"/>
          </p:nvPr>
        </p:nvSpPr>
        <p:spPr>
          <a:xfrm>
            <a:off x="1981200" y="4953000"/>
            <a:ext cx="88392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14313" lvl="0" marL="214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lang="en-US"/>
              <a:t>An </a:t>
            </a:r>
            <a:r>
              <a:rPr lang="en-US">
                <a:solidFill>
                  <a:srgbClr val="FF0000"/>
                </a:solidFill>
              </a:rPr>
              <a:t>LSP</a:t>
            </a:r>
            <a:r>
              <a:rPr lang="en-US"/>
              <a:t> needs to be sent only:</a:t>
            </a:r>
            <a:endParaRPr/>
          </a:p>
          <a:p>
            <a:pPr indent="-288925" lvl="1" marL="855663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000"/>
              <a:t>During </a:t>
            </a:r>
            <a:r>
              <a:rPr lang="en-US" sz="2000">
                <a:solidFill>
                  <a:srgbClr val="FF0000"/>
                </a:solidFill>
              </a:rPr>
              <a:t>initial startup</a:t>
            </a:r>
            <a:r>
              <a:rPr lang="en-US" sz="2000">
                <a:solidFill>
                  <a:srgbClr val="FFFF00"/>
                </a:solidFill>
              </a:rPr>
              <a:t> </a:t>
            </a:r>
            <a:r>
              <a:rPr lang="en-US" sz="2000"/>
              <a:t>of the router or routing protocol.</a:t>
            </a:r>
            <a:endParaRPr/>
          </a:p>
          <a:p>
            <a:pPr indent="-288925" lvl="1" marL="855663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000"/>
              <a:t>Whenever there is a </a:t>
            </a:r>
            <a:r>
              <a:rPr lang="en-US" sz="2000">
                <a:solidFill>
                  <a:srgbClr val="FF0000"/>
                </a:solidFill>
              </a:rPr>
              <a:t>change in the topology</a:t>
            </a:r>
            <a:r>
              <a:rPr lang="en-US" sz="2000"/>
              <a:t> (link going down or coming up) or a neighbor adjacency being established or broken.</a:t>
            </a:r>
            <a:endParaRPr/>
          </a:p>
        </p:txBody>
      </p:sp>
      <p:pic>
        <p:nvPicPr>
          <p:cNvPr descr="ls19.jpg" id="473" name="Google Shape;4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400" y="1144588"/>
            <a:ext cx="6705600" cy="391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4" name="Google Shape;474;p22"/>
          <p:cNvGrpSpPr/>
          <p:nvPr/>
        </p:nvGrpSpPr>
        <p:grpSpPr>
          <a:xfrm>
            <a:off x="4267200" y="1524000"/>
            <a:ext cx="1752600" cy="2286000"/>
            <a:chOff x="2743200" y="1524000"/>
            <a:chExt cx="1752600" cy="2286000"/>
          </a:xfrm>
        </p:grpSpPr>
        <p:cxnSp>
          <p:nvCxnSpPr>
            <p:cNvPr id="475" name="Google Shape;475;p22"/>
            <p:cNvCxnSpPr/>
            <p:nvPr/>
          </p:nvCxnSpPr>
          <p:spPr>
            <a:xfrm flipH="1" rot="10800000">
              <a:off x="2743200" y="1524000"/>
              <a:ext cx="1752600" cy="9144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76" name="Google Shape;476;p22"/>
            <p:cNvCxnSpPr/>
            <p:nvPr/>
          </p:nvCxnSpPr>
          <p:spPr>
            <a:xfrm>
              <a:off x="2895600" y="2667000"/>
              <a:ext cx="1524000" cy="1588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77" name="Google Shape;477;p22"/>
            <p:cNvCxnSpPr/>
            <p:nvPr/>
          </p:nvCxnSpPr>
          <p:spPr>
            <a:xfrm>
              <a:off x="2743200" y="2895600"/>
              <a:ext cx="1676400" cy="9144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pic>
          <p:nvPicPr>
            <p:cNvPr descr="ls20.jpg" id="478" name="Google Shape;478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24200" y="21336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s20.jpg" id="479" name="Google Shape;479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24200" y="25908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s20.jpg" id="480" name="Google Shape;48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24200" y="30480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81" name="Google Shape;481;p22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e6760abead_0_37"/>
          <p:cNvSpPr txBox="1"/>
          <p:nvPr>
            <p:ph idx="4294967295" type="title"/>
          </p:nvPr>
        </p:nvSpPr>
        <p:spPr>
          <a:xfrm>
            <a:off x="1800497" y="76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Link-State Routing Process</a:t>
            </a:r>
            <a:endParaRPr/>
          </a:p>
        </p:txBody>
      </p:sp>
      <p:sp>
        <p:nvSpPr>
          <p:cNvPr id="488" name="Google Shape;488;g3e6760abead_0_37"/>
          <p:cNvSpPr txBox="1"/>
          <p:nvPr>
            <p:ph idx="4294967295" type="body"/>
          </p:nvPr>
        </p:nvSpPr>
        <p:spPr>
          <a:xfrm>
            <a:off x="1323702" y="1219200"/>
            <a:ext cx="103413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r>
              <a:rPr b="1" lang="en-US" sz="3600">
                <a:solidFill>
                  <a:srgbClr val="7D28CD"/>
                </a:solidFill>
              </a:rPr>
              <a:t>5 Step Process :</a:t>
            </a:r>
            <a:endParaRPr b="1">
              <a:solidFill>
                <a:srgbClr val="7D28CD"/>
              </a:solidFill>
            </a:endParaRPr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learns its </a:t>
            </a:r>
            <a:r>
              <a:rPr b="1" lang="en-US" sz="3200">
                <a:solidFill>
                  <a:srgbClr val="0070C0"/>
                </a:solidFill>
              </a:rPr>
              <a:t>directly connected networks</a:t>
            </a:r>
            <a:r>
              <a:rPr lang="en-US" sz="3200">
                <a:solidFill>
                  <a:srgbClr val="0070C0"/>
                </a:solidFill>
              </a:rPr>
              <a:t>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</a:t>
            </a:r>
            <a:r>
              <a:rPr b="1" lang="en-US" sz="3200">
                <a:solidFill>
                  <a:srgbClr val="0070C0"/>
                </a:solidFill>
              </a:rPr>
              <a:t>talks to its neighbors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(sends Hello packets).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creates a </a:t>
            </a:r>
            <a:r>
              <a:rPr b="1" lang="en-US" sz="3200">
                <a:solidFill>
                  <a:srgbClr val="0070C0"/>
                </a:solidFill>
              </a:rPr>
              <a:t>Link-State Packet (LSP)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describing its links.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</a:t>
            </a:r>
            <a:r>
              <a:rPr b="1" lang="en-US" sz="3200">
                <a:solidFill>
                  <a:srgbClr val="0070C0"/>
                </a:solidFill>
              </a:rPr>
              <a:t>floods its LSP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to all other routers.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>
                <a:highlight>
                  <a:schemeClr val="accent2"/>
                </a:highlight>
              </a:rPr>
              <a:t>Every router builds a </a:t>
            </a:r>
            <a:r>
              <a:rPr b="1" lang="en-US" sz="3200">
                <a:solidFill>
                  <a:srgbClr val="0070C0"/>
                </a:solidFill>
                <a:highlight>
                  <a:schemeClr val="accent2"/>
                </a:highlight>
              </a:rPr>
              <a:t>complete network map</a:t>
            </a:r>
            <a:r>
              <a:rPr lang="en-US" sz="3200">
                <a:solidFill>
                  <a:srgbClr val="0070C0"/>
                </a:solidFill>
                <a:highlight>
                  <a:schemeClr val="accent2"/>
                </a:highlight>
              </a:rPr>
              <a:t> </a:t>
            </a:r>
            <a:r>
              <a:rPr lang="en-US" sz="3200">
                <a:highlight>
                  <a:schemeClr val="accent2"/>
                </a:highlight>
              </a:rPr>
              <a:t>from all LSPs and runs Dijkstra to find the </a:t>
            </a:r>
            <a:r>
              <a:rPr b="1" lang="en-US" sz="3200">
                <a:solidFill>
                  <a:srgbClr val="7030A0"/>
                </a:solidFill>
                <a:highlight>
                  <a:schemeClr val="accent2"/>
                </a:highlight>
              </a:rPr>
              <a:t>best paths</a:t>
            </a:r>
            <a:r>
              <a:rPr lang="en-US" sz="3200">
                <a:solidFill>
                  <a:srgbClr val="7030A0"/>
                </a:solidFill>
                <a:highlight>
                  <a:schemeClr val="accent2"/>
                </a:highlight>
              </a:rPr>
              <a:t>.</a:t>
            </a:r>
            <a:endParaRPr sz="3200">
              <a:solidFill>
                <a:srgbClr val="7030A0"/>
              </a:solidFill>
              <a:highlight>
                <a:schemeClr val="accent2"/>
              </a:highlight>
            </a:endParaRPr>
          </a:p>
        </p:txBody>
      </p:sp>
      <p:sp>
        <p:nvSpPr>
          <p:cNvPr id="489" name="Google Shape;489;g3e6760abead_0_37"/>
          <p:cNvSpPr txBox="1"/>
          <p:nvPr>
            <p:ph idx="12" type="sldNum"/>
          </p:nvPr>
        </p:nvSpPr>
        <p:spPr>
          <a:xfrm>
            <a:off x="10952163" y="5883275"/>
            <a:ext cx="550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3"/>
          <p:cNvSpPr txBox="1"/>
          <p:nvPr>
            <p:ph idx="4294967295" type="title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209"/>
              <a:buNone/>
            </a:pPr>
            <a:r>
              <a:rPr lang="en-US" sz="3600"/>
              <a:t>Step 5: Constructing a Link-State Database</a:t>
            </a:r>
            <a:endParaRPr/>
          </a:p>
        </p:txBody>
      </p:sp>
      <p:sp>
        <p:nvSpPr>
          <p:cNvPr id="495" name="Google Shape;495;p23"/>
          <p:cNvSpPr txBox="1"/>
          <p:nvPr>
            <p:ph idx="4294967295" type="body"/>
          </p:nvPr>
        </p:nvSpPr>
        <p:spPr>
          <a:xfrm>
            <a:off x="2514600" y="5245100"/>
            <a:ext cx="88392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Tahoma"/>
              <a:buChar char="•"/>
            </a:pPr>
            <a:r>
              <a:rPr lang="en-US" sz="2800"/>
              <a:t>Each router</a:t>
            </a:r>
            <a:r>
              <a:rPr lang="en-US" sz="2800">
                <a:solidFill>
                  <a:srgbClr val="FF0000"/>
                </a:solidFill>
              </a:rPr>
              <a:t> </a:t>
            </a:r>
            <a:r>
              <a:rPr lang="en-US" sz="2800"/>
              <a:t>uses the LSPs to </a:t>
            </a:r>
            <a:r>
              <a:rPr lang="en-US" sz="2800">
                <a:solidFill>
                  <a:srgbClr val="FF0000"/>
                </a:solidFill>
              </a:rPr>
              <a:t>construct a database</a:t>
            </a:r>
            <a:r>
              <a:rPr lang="en-US" sz="2800"/>
              <a:t> that is a </a:t>
            </a:r>
            <a:r>
              <a:rPr lang="en-US" sz="2800">
                <a:solidFill>
                  <a:srgbClr val="FF0000"/>
                </a:solidFill>
              </a:rPr>
              <a:t>complete map of the topology and computes the best path </a:t>
            </a:r>
            <a:r>
              <a:rPr lang="en-US" sz="2800"/>
              <a:t>to each destination network.</a:t>
            </a:r>
            <a:endParaRPr sz="2800">
              <a:solidFill>
                <a:srgbClr val="FFFF00"/>
              </a:solidFill>
            </a:endParaRPr>
          </a:p>
        </p:txBody>
      </p:sp>
      <p:pic>
        <p:nvPicPr>
          <p:cNvPr descr="ls19.jpg" id="496" name="Google Shape;49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400" y="1143000"/>
            <a:ext cx="6705600" cy="391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3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4"/>
          <p:cNvSpPr txBox="1"/>
          <p:nvPr>
            <p:ph idx="4294967295" type="title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R1: Building the SPF Tree</a:t>
            </a:r>
            <a:endParaRPr/>
          </a:p>
        </p:txBody>
      </p:sp>
      <p:pic>
        <p:nvPicPr>
          <p:cNvPr descr="ls22.jpg" id="503" name="Google Shape;50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1371600"/>
            <a:ext cx="84582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s23.jpg" id="504" name="Google Shape;50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5000" y="1371600"/>
            <a:ext cx="8451850" cy="5138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s24.jpg" id="505" name="Google Shape;50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05000" y="1371600"/>
            <a:ext cx="84582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s25.jpg" id="506" name="Google Shape;50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05000" y="1371600"/>
            <a:ext cx="84582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s26.jpg" id="507" name="Google Shape;507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05000" y="1371600"/>
            <a:ext cx="8458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24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5"/>
          <p:cNvSpPr txBox="1"/>
          <p:nvPr>
            <p:ph idx="4294967295" type="title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Step 5: Constructing a Link-State Database</a:t>
            </a:r>
            <a:endParaRPr/>
          </a:p>
        </p:txBody>
      </p:sp>
      <p:sp>
        <p:nvSpPr>
          <p:cNvPr id="514" name="Google Shape;514;p25"/>
          <p:cNvSpPr txBox="1"/>
          <p:nvPr>
            <p:ph idx="4294967295" type="body"/>
          </p:nvPr>
        </p:nvSpPr>
        <p:spPr>
          <a:xfrm>
            <a:off x="1981200" y="5867400"/>
            <a:ext cx="8839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175"/>
              <a:buFont typeface="Tahoma"/>
              <a:buChar char="•"/>
            </a:pPr>
            <a:r>
              <a:rPr lang="en-US"/>
              <a:t>As a result of the flooding process, router R1 has learned the link-state information for each router in its routing area.</a:t>
            </a:r>
            <a:endParaRPr/>
          </a:p>
        </p:txBody>
      </p:sp>
      <p:pic>
        <p:nvPicPr>
          <p:cNvPr descr="ls19.jpg" id="515" name="Google Shape;51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1910" y="2384675"/>
            <a:ext cx="3919538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s21.jpg" id="516" name="Google Shape;51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6536" y="1013075"/>
            <a:ext cx="48768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25"/>
          <p:cNvSpPr/>
          <p:nvPr/>
        </p:nvSpPr>
        <p:spPr>
          <a:xfrm>
            <a:off x="6529316" y="1165475"/>
            <a:ext cx="838200" cy="4724400"/>
          </a:xfrm>
          <a:prstGeom prst="rightBrace">
            <a:avLst>
              <a:gd fmla="val 65151" name="adj1"/>
              <a:gd fmla="val 50000" name="adj2"/>
            </a:avLst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5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6"/>
          <p:cNvSpPr txBox="1"/>
          <p:nvPr>
            <p:ph idx="4294967295" type="title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209"/>
              <a:buNone/>
            </a:pPr>
            <a:r>
              <a:rPr lang="en-US" sz="3600"/>
              <a:t>Step 5: Constructing a Link-State Database</a:t>
            </a:r>
            <a:endParaRPr/>
          </a:p>
        </p:txBody>
      </p:sp>
      <p:sp>
        <p:nvSpPr>
          <p:cNvPr id="524" name="Google Shape;524;p26"/>
          <p:cNvSpPr txBox="1"/>
          <p:nvPr>
            <p:ph idx="4294967295" type="body"/>
          </p:nvPr>
        </p:nvSpPr>
        <p:spPr>
          <a:xfrm>
            <a:off x="1981200" y="5316538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0980" lvl="0" marL="214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/>
              <a:t>With a complete link-state database, R1 can now use the database and the shortest path first (SPF) algorithm to calculate the preferred path or </a:t>
            </a:r>
            <a:r>
              <a:rPr lang="en-US" sz="2400">
                <a:solidFill>
                  <a:srgbClr val="FF0000"/>
                </a:solidFill>
              </a:rPr>
              <a:t>shortest path</a:t>
            </a:r>
            <a:r>
              <a:rPr lang="en-US" sz="2400">
                <a:solidFill>
                  <a:srgbClr val="FFFF00"/>
                </a:solidFill>
              </a:rPr>
              <a:t> </a:t>
            </a:r>
            <a:r>
              <a:rPr lang="en-US" sz="2400"/>
              <a:t>to each network.</a:t>
            </a:r>
            <a:endParaRPr/>
          </a:p>
        </p:txBody>
      </p:sp>
      <p:pic>
        <p:nvPicPr>
          <p:cNvPr descr="ls19.jpg" id="525" name="Google Shape;52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3775" y="1748725"/>
            <a:ext cx="5291138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s06.jpg" id="526" name="Google Shape;52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900" y="1168400"/>
            <a:ext cx="5626100" cy="210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6"/>
          <p:cNvSpPr txBox="1"/>
          <p:nvPr/>
        </p:nvSpPr>
        <p:spPr>
          <a:xfrm>
            <a:off x="1828800" y="3276600"/>
            <a:ext cx="3048000" cy="1938338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Each router</a:t>
            </a: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in the topology determines the shortest path </a:t>
            </a: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from its own perspective</a:t>
            </a: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6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7"/>
          <p:cNvSpPr txBox="1"/>
          <p:nvPr>
            <p:ph idx="4294967295" type="title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R1: Building the SPF Tree</a:t>
            </a:r>
            <a:endParaRPr/>
          </a:p>
        </p:txBody>
      </p:sp>
      <p:sp>
        <p:nvSpPr>
          <p:cNvPr id="534" name="Google Shape;534;p27"/>
          <p:cNvSpPr txBox="1"/>
          <p:nvPr>
            <p:ph idx="4294967295" type="body"/>
          </p:nvPr>
        </p:nvSpPr>
        <p:spPr>
          <a:xfrm>
            <a:off x="2209800" y="6025390"/>
            <a:ext cx="8839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Tahoma"/>
              <a:buChar char="•"/>
            </a:pPr>
            <a:r>
              <a:rPr lang="en-US" sz="2400"/>
              <a:t>All LSPs have been processed using the SPF algorithm and R1 has now constructed the complete SPF tree.</a:t>
            </a:r>
            <a:endParaRPr/>
          </a:p>
          <a:p>
            <a:pPr indent="-121920" lvl="1" marL="34290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Tahoma"/>
              <a:buNone/>
            </a:pPr>
            <a:r>
              <a:t/>
            </a:r>
            <a:endParaRPr sz="2400"/>
          </a:p>
        </p:txBody>
      </p:sp>
      <p:pic>
        <p:nvPicPr>
          <p:cNvPr descr="ls27.jpg" id="535" name="Google Shape;53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0596" y="1232563"/>
            <a:ext cx="6477000" cy="4679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6" name="Google Shape;536;p27"/>
          <p:cNvCxnSpPr/>
          <p:nvPr/>
        </p:nvCxnSpPr>
        <p:spPr>
          <a:xfrm flipH="1" rot="10800000">
            <a:off x="3559223" y="3603245"/>
            <a:ext cx="838200" cy="6858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7" name="Google Shape;537;p27"/>
          <p:cNvSpPr txBox="1"/>
          <p:nvPr/>
        </p:nvSpPr>
        <p:spPr>
          <a:xfrm>
            <a:off x="2562937" y="4058063"/>
            <a:ext cx="990600" cy="461963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7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8"/>
          <p:cNvSpPr txBox="1"/>
          <p:nvPr>
            <p:ph idx="4294967295" type="title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Generating a Routing Table</a:t>
            </a:r>
            <a:endParaRPr/>
          </a:p>
        </p:txBody>
      </p:sp>
      <p:pic>
        <p:nvPicPr>
          <p:cNvPr descr="ls28.jpg" id="544" name="Google Shape;54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2170" y="1066800"/>
            <a:ext cx="8970963" cy="5421313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28"/>
          <p:cNvSpPr/>
          <p:nvPr/>
        </p:nvSpPr>
        <p:spPr>
          <a:xfrm>
            <a:off x="2057400" y="3048000"/>
            <a:ext cx="4572000" cy="33528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8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s27.jpg" id="547" name="Google Shape;54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9800" y="2971800"/>
            <a:ext cx="4932362" cy="340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9"/>
          <p:cNvSpPr txBox="1"/>
          <p:nvPr>
            <p:ph type="title"/>
          </p:nvPr>
        </p:nvSpPr>
        <p:spPr>
          <a:xfrm>
            <a:off x="1484313" y="685800"/>
            <a:ext cx="10018712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/>
              <a:t>Building Routing Table</a:t>
            </a:r>
            <a:endParaRPr sz="4400"/>
          </a:p>
        </p:txBody>
      </p:sp>
      <p:sp>
        <p:nvSpPr>
          <p:cNvPr id="553" name="Google Shape;553;p29"/>
          <p:cNvSpPr txBox="1"/>
          <p:nvPr>
            <p:ph idx="1" type="body"/>
          </p:nvPr>
        </p:nvSpPr>
        <p:spPr>
          <a:xfrm>
            <a:off x="1484313" y="1676400"/>
            <a:ext cx="10018712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810" lvl="0" marL="214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Creation of the states of the links by each node, called the link state packets (LSP)</a:t>
            </a:r>
            <a:endParaRPr/>
          </a:p>
          <a:p>
            <a:pPr indent="-257810" lvl="0" marL="214313" rtl="0" algn="l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Dissemination of LSPs to every other routers, called flooding (efficiently)</a:t>
            </a:r>
            <a:endParaRPr/>
          </a:p>
          <a:p>
            <a:pPr indent="-257810" lvl="0" marL="214313" rtl="0" algn="l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 Constructing a Link-State Database using LSPs</a:t>
            </a:r>
            <a:endParaRPr sz="2800"/>
          </a:p>
          <a:p>
            <a:pPr indent="-257810" lvl="0" marL="214313" rtl="0" algn="l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Formation of a shortest path tree for each node</a:t>
            </a:r>
            <a:endParaRPr/>
          </a:p>
          <a:p>
            <a:pPr indent="-257810" lvl="0" marL="214313" rtl="0" algn="l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Calculation of a routing table based on the shortest path tree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  <p:sp>
        <p:nvSpPr>
          <p:cNvPr id="554" name="Google Shape;554;p29"/>
          <p:cNvSpPr txBox="1"/>
          <p:nvPr>
            <p:ph idx="12" type="sldNum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55" name="Google Shape;55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9400" y="228600"/>
            <a:ext cx="1246188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0"/>
          <p:cNvSpPr txBox="1"/>
          <p:nvPr>
            <p:ph type="title"/>
          </p:nvPr>
        </p:nvSpPr>
        <p:spPr>
          <a:xfrm>
            <a:off x="1484313" y="33564"/>
            <a:ext cx="100187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Advantages: Link-State Routing</a:t>
            </a:r>
            <a:endParaRPr sz="3600"/>
          </a:p>
        </p:txBody>
      </p:sp>
      <p:sp>
        <p:nvSpPr>
          <p:cNvPr id="561" name="Google Shape;561;p30"/>
          <p:cNvSpPr txBox="1"/>
          <p:nvPr>
            <p:ph idx="1" type="body"/>
          </p:nvPr>
        </p:nvSpPr>
        <p:spPr>
          <a:xfrm>
            <a:off x="1156448" y="947964"/>
            <a:ext cx="11035552" cy="5594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14313" lvl="0" marL="214313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b="1" lang="en-US" sz="3600">
                <a:solidFill>
                  <a:srgbClr val="7030A0"/>
                </a:solidFill>
              </a:rPr>
              <a:t>Fast Network Convergence</a:t>
            </a:r>
            <a:r>
              <a:rPr lang="en-US" sz="3200"/>
              <a:t>– </a:t>
            </a:r>
            <a:endParaRPr sz="3200"/>
          </a:p>
          <a:p>
            <a:pPr indent="-214312" lvl="1" marL="671513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When a router receives a new LSP, it quickly floods it to all other routers. </a:t>
            </a:r>
            <a:endParaRPr sz="2800"/>
          </a:p>
          <a:p>
            <a:pPr indent="-214312" lvl="1" marL="671513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Updates spread very fast across the network.</a:t>
            </a:r>
            <a:endParaRPr sz="2800"/>
          </a:p>
          <a:p>
            <a:pPr indent="-30163" lvl="0" marL="214313" rtl="0" algn="just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b="1" sz="3600"/>
          </a:p>
          <a:p>
            <a:pPr indent="-214313" lvl="0" marL="214313" rtl="0" algn="just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b="1" lang="en-US" sz="3600">
                <a:solidFill>
                  <a:srgbClr val="7030A0"/>
                </a:solidFill>
              </a:rPr>
              <a:t>Topological Map</a:t>
            </a:r>
            <a:r>
              <a:rPr lang="en-US" sz="3200">
                <a:solidFill>
                  <a:srgbClr val="7030A0"/>
                </a:solidFill>
              </a:rPr>
              <a:t>– </a:t>
            </a:r>
            <a:endParaRPr sz="3200">
              <a:solidFill>
                <a:srgbClr val="7030A0"/>
              </a:solidFill>
            </a:endParaRPr>
          </a:p>
          <a:p>
            <a:pPr indent="-214312" lvl="1" marL="671513" rtl="0" algn="just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Each router builds a complete </a:t>
            </a:r>
            <a:r>
              <a:rPr b="1" lang="en-US" sz="2800">
                <a:solidFill>
                  <a:srgbClr val="0070C0"/>
                </a:solidFill>
              </a:rPr>
              <a:t>map of the network</a:t>
            </a:r>
            <a:r>
              <a:rPr lang="en-US" sz="2800">
                <a:solidFill>
                  <a:srgbClr val="0070C0"/>
                </a:solidFill>
              </a:rPr>
              <a:t> </a:t>
            </a:r>
            <a:r>
              <a:rPr lang="en-US" sz="2800"/>
              <a:t>(SPF tree). </a:t>
            </a:r>
            <a:endParaRPr sz="2800"/>
          </a:p>
          <a:p>
            <a:pPr indent="-214312" lvl="1" marL="671513" rtl="0" algn="just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From this, it can calculate the </a:t>
            </a:r>
            <a:r>
              <a:rPr b="1" lang="en-US" sz="2800">
                <a:solidFill>
                  <a:srgbClr val="0070C0"/>
                </a:solidFill>
              </a:rPr>
              <a:t>shortest path</a:t>
            </a:r>
            <a:r>
              <a:rPr lang="en-US" sz="2800">
                <a:solidFill>
                  <a:srgbClr val="0070C0"/>
                </a:solidFill>
              </a:rPr>
              <a:t> </a:t>
            </a:r>
            <a:r>
              <a:rPr lang="en-US" sz="2800"/>
              <a:t>to every destination.</a:t>
            </a:r>
            <a:endParaRPr sz="2800"/>
          </a:p>
        </p:txBody>
      </p:sp>
      <p:sp>
        <p:nvSpPr>
          <p:cNvPr id="562" name="Google Shape;562;p30"/>
          <p:cNvSpPr txBox="1"/>
          <p:nvPr>
            <p:ph idx="12" type="sldNum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3" name="Google Shape;5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9400" y="228600"/>
            <a:ext cx="1246188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"/>
          <p:cNvSpPr txBox="1"/>
          <p:nvPr>
            <p:ph type="title"/>
          </p:nvPr>
        </p:nvSpPr>
        <p:spPr>
          <a:xfrm>
            <a:off x="1484313" y="342900"/>
            <a:ext cx="100187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Advantages: Link-State Routing</a:t>
            </a:r>
            <a:endParaRPr sz="3600"/>
          </a:p>
        </p:txBody>
      </p:sp>
      <p:sp>
        <p:nvSpPr>
          <p:cNvPr id="569" name="Google Shape;569;p6"/>
          <p:cNvSpPr txBox="1"/>
          <p:nvPr>
            <p:ph idx="1" type="body"/>
          </p:nvPr>
        </p:nvSpPr>
        <p:spPr>
          <a:xfrm>
            <a:off x="813082" y="887506"/>
            <a:ext cx="10139081" cy="5594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sz="2100"/>
          </a:p>
          <a:p>
            <a:pPr indent="-214313" lvl="0" marL="214313" rtl="0" algn="just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b="1" lang="en-US" sz="3600">
                <a:solidFill>
                  <a:srgbClr val="7030A0"/>
                </a:solidFill>
              </a:rPr>
              <a:t>Hierarchical Design</a:t>
            </a:r>
            <a:r>
              <a:rPr lang="en-US" sz="3200">
                <a:solidFill>
                  <a:srgbClr val="7030A0"/>
                </a:solidFill>
              </a:rPr>
              <a:t>–</a:t>
            </a:r>
            <a:endParaRPr/>
          </a:p>
          <a:p>
            <a:pPr indent="-214312" lvl="1" marL="671513" rtl="0" algn="just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Large networks can be divided into </a:t>
            </a:r>
            <a:r>
              <a:rPr b="1" lang="en-US" sz="2800">
                <a:solidFill>
                  <a:srgbClr val="0070C0"/>
                </a:solidFill>
              </a:rPr>
              <a:t>areas</a:t>
            </a:r>
            <a:r>
              <a:rPr lang="en-US" sz="2800">
                <a:solidFill>
                  <a:srgbClr val="0070C0"/>
                </a:solidFill>
              </a:rPr>
              <a:t>. </a:t>
            </a:r>
            <a:endParaRPr sz="2800">
              <a:solidFill>
                <a:srgbClr val="0070C0"/>
              </a:solidFill>
            </a:endParaRPr>
          </a:p>
          <a:p>
            <a:pPr indent="-214312" lvl="1" marL="671513" rtl="0" algn="just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This helps in </a:t>
            </a:r>
            <a:r>
              <a:rPr b="1" lang="en-US" sz="2800">
                <a:solidFill>
                  <a:srgbClr val="0070C0"/>
                </a:solidFill>
              </a:rPr>
              <a:t>summarizing routes</a:t>
            </a:r>
            <a:r>
              <a:rPr lang="en-US" sz="2800">
                <a:solidFill>
                  <a:srgbClr val="0070C0"/>
                </a:solidFill>
              </a:rPr>
              <a:t> </a:t>
            </a:r>
            <a:r>
              <a:rPr lang="en-US" sz="2800"/>
              <a:t>and makes the network easier to manage.</a:t>
            </a:r>
            <a:endParaRPr sz="2800"/>
          </a:p>
          <a:p>
            <a:pPr indent="-214313" lvl="0" marL="214313" rtl="0" algn="just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b="1" lang="en-US" sz="3600">
                <a:solidFill>
                  <a:srgbClr val="7030A0"/>
                </a:solidFill>
              </a:rPr>
              <a:t>Event-driven Updates</a:t>
            </a:r>
            <a:r>
              <a:rPr lang="en-US" sz="3200">
                <a:solidFill>
                  <a:srgbClr val="7030A0"/>
                </a:solidFill>
              </a:rPr>
              <a:t>– </a:t>
            </a:r>
            <a:endParaRPr sz="3200">
              <a:solidFill>
                <a:srgbClr val="7030A0"/>
              </a:solidFill>
            </a:endParaRPr>
          </a:p>
          <a:p>
            <a:pPr indent="-214312" lvl="1" marL="671513" rtl="0" algn="just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After the first flooding, updates are sent </a:t>
            </a:r>
            <a:r>
              <a:rPr b="1" lang="en-US" sz="2800">
                <a:solidFill>
                  <a:srgbClr val="0070C0"/>
                </a:solidFill>
              </a:rPr>
              <a:t>only when something changes</a:t>
            </a:r>
            <a:r>
              <a:rPr lang="en-US" sz="2800"/>
              <a:t> (like a link goes down). </a:t>
            </a:r>
            <a:endParaRPr sz="2800"/>
          </a:p>
          <a:p>
            <a:pPr indent="-214312" lvl="1" marL="671513" rtl="0" algn="just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Only the changed info is shared, not the whole table.</a:t>
            </a:r>
            <a:endParaRPr sz="2800"/>
          </a:p>
        </p:txBody>
      </p:sp>
      <p:sp>
        <p:nvSpPr>
          <p:cNvPr id="570" name="Google Shape;570;p6"/>
          <p:cNvSpPr txBox="1"/>
          <p:nvPr>
            <p:ph idx="12" type="sldNum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1" name="Google Shape;57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9400" y="228600"/>
            <a:ext cx="1246188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w OSPF Protocol Works &amp; Basic Concepts: OSPF Neighbor, Topology ..." id="572" name="Google Shape;57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85494" y="3754718"/>
            <a:ext cx="4417531" cy="2726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1"/>
          <p:cNvSpPr txBox="1"/>
          <p:nvPr>
            <p:ph type="title"/>
          </p:nvPr>
        </p:nvSpPr>
        <p:spPr>
          <a:xfrm>
            <a:off x="1389016" y="214919"/>
            <a:ext cx="1001871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Comparison</a:t>
            </a:r>
            <a:endParaRPr sz="4000"/>
          </a:p>
        </p:txBody>
      </p:sp>
      <p:graphicFrame>
        <p:nvGraphicFramePr>
          <p:cNvPr id="578" name="Google Shape;578;p31"/>
          <p:cNvGraphicFramePr/>
          <p:nvPr/>
        </p:nvGraphicFramePr>
        <p:xfrm>
          <a:off x="1297148" y="1360714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{539604D0-21B5-454D-88FE-13AC82E181FC}</a:tableStyleId>
              </a:tblPr>
              <a:tblGrid>
                <a:gridCol w="2267975"/>
                <a:gridCol w="3946000"/>
                <a:gridCol w="3626200"/>
              </a:tblGrid>
              <a:tr h="585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cap="none" strike="noStrike"/>
                        <a:t> 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7030A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Distance Vector</a:t>
                      </a:r>
                      <a:endParaRPr sz="1800" u="none" cap="none" strike="noStrike">
                        <a:solidFill>
                          <a:srgbClr val="7030A0"/>
                        </a:solidFill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70C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Link State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0" marB="0" marR="68575" marL="68575"/>
                </a:tc>
              </a:tr>
              <a:tr h="991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cap="none" strike="noStrike"/>
                        <a:t>Network view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7030A0"/>
                          </a:solidFill>
                        </a:rPr>
                        <a:t>Topology knowledge from the neighbor point of view </a:t>
                      </a:r>
                      <a:endParaRPr sz="2400" u="none" cap="none" strike="noStrike">
                        <a:solidFill>
                          <a:srgbClr val="7030A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70C0"/>
                          </a:solidFill>
                        </a:rPr>
                        <a:t>Common and complete knowledge of the network topology</a:t>
                      </a:r>
                      <a:endParaRPr sz="24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702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cap="none" strike="noStrike"/>
                        <a:t>Best Path Calculation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7030A0"/>
                          </a:solidFill>
                        </a:rPr>
                        <a:t>Based on fewest number of hops </a:t>
                      </a:r>
                      <a:endParaRPr sz="2400" u="none" cap="none" strike="noStrike">
                        <a:solidFill>
                          <a:srgbClr val="7030A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70C0"/>
                          </a:solidFill>
                        </a:rPr>
                        <a:t>Based on the link cost</a:t>
                      </a:r>
                      <a:endParaRPr sz="24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9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cap="none" strike="noStrike"/>
                        <a:t>Updates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7030A0"/>
                          </a:solidFill>
                        </a:rPr>
                        <a:t>Full routing table </a:t>
                      </a:r>
                      <a:endParaRPr sz="2400" u="none" cap="none" strike="noStrike">
                        <a:solidFill>
                          <a:srgbClr val="7030A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70C0"/>
                          </a:solidFill>
                        </a:rPr>
                        <a:t>Link State Updates</a:t>
                      </a:r>
                      <a:endParaRPr sz="24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9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cap="none" strike="noStrike"/>
                        <a:t>Algorithm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7030A0"/>
                          </a:solidFill>
                        </a:rPr>
                        <a:t>Bellman-Ford </a:t>
                      </a:r>
                      <a:endParaRPr sz="2400" u="none" cap="none" strike="noStrike">
                        <a:solidFill>
                          <a:srgbClr val="7030A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70C0"/>
                          </a:solidFill>
                        </a:rPr>
                        <a:t>Dijsktra</a:t>
                      </a:r>
                      <a:endParaRPr sz="24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9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cap="none" strike="noStrike"/>
                        <a:t>CPU and Memory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7030A0"/>
                          </a:solidFill>
                        </a:rPr>
                        <a:t>Low utilization </a:t>
                      </a:r>
                      <a:endParaRPr sz="2400" u="none" cap="none" strike="noStrike">
                        <a:solidFill>
                          <a:srgbClr val="7030A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70C0"/>
                          </a:solidFill>
                        </a:rPr>
                        <a:t>Intensive</a:t>
                      </a:r>
                      <a:endParaRPr sz="24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8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cap="none" strike="noStrike"/>
                        <a:t>hierarchical Structure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7030A0"/>
                          </a:solidFill>
                        </a:rPr>
                        <a:t>No </a:t>
                      </a:r>
                      <a:endParaRPr sz="2400" u="none" cap="none" strike="noStrike">
                        <a:solidFill>
                          <a:srgbClr val="7030A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70C0"/>
                          </a:solidFill>
                        </a:rPr>
                        <a:t>Yes</a:t>
                      </a:r>
                      <a:endParaRPr sz="24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9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cap="none" strike="noStrike"/>
                        <a:t>Convergence time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7030A0"/>
                          </a:solidFill>
                        </a:rPr>
                        <a:t>Moderate </a:t>
                      </a:r>
                      <a:endParaRPr sz="2400" u="none" cap="none" strike="noStrike">
                        <a:solidFill>
                          <a:srgbClr val="7030A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70C0"/>
                          </a:solidFill>
                        </a:rPr>
                        <a:t>Fast</a:t>
                      </a:r>
                      <a:endParaRPr sz="24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579" name="Google Shape;579;p31"/>
          <p:cNvSpPr txBox="1"/>
          <p:nvPr>
            <p:ph idx="12" type="sldNum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0" name="Google Shape;58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4238" y="228600"/>
            <a:ext cx="1246188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2"/>
          <p:cNvSpPr txBox="1"/>
          <p:nvPr>
            <p:ph type="ctrTitle"/>
          </p:nvPr>
        </p:nvSpPr>
        <p:spPr>
          <a:xfrm>
            <a:off x="2928402" y="1380070"/>
            <a:ext cx="8574623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emeCSE421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2011-10-16T10:21:50Z</dcterms:created>
  <dc:creator>Sadia</dc:creator>
</cp:coreProperties>
</file>