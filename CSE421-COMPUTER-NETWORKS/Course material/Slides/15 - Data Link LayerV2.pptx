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12192000"/>
  <p:notesSz cx="6858000" cy="9144000"/>
  <p:embeddedFontLst>
    <p:embeddedFont>
      <p:font typeface="Corbel"/>
      <p:regular r:id="rId52"/>
      <p:bold r:id="rId53"/>
      <p:italic r:id="rId54"/>
      <p:boldItalic r:id="rId55"/>
    </p:embeddedFont>
    <p:embeddedFont>
      <p:font typeface="Tahoma"/>
      <p:regular r:id="rId56"/>
      <p:bold r:id="rId57"/>
    </p:embeddedFont>
    <p:embeddedFont>
      <p:font typeface="Gill Sans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jN4b/Ts6HQhr72KeMxPuq9u/bt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7CF967-B244-43A2-91D2-C89B5AC27FE7}">
  <a:tblStyle styleId="{3C7CF967-B244-43A2-91D2-C89B5AC27FE7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Corbel-bold.fntdata"/><Relationship Id="rId52" Type="http://schemas.openxmlformats.org/officeDocument/2006/relationships/font" Target="fonts/Corbel-regular.fntdata"/><Relationship Id="rId11" Type="http://schemas.openxmlformats.org/officeDocument/2006/relationships/slide" Target="slides/slide6.xml"/><Relationship Id="rId55" Type="http://schemas.openxmlformats.org/officeDocument/2006/relationships/font" Target="fonts/Corbel-boldItalic.fntdata"/><Relationship Id="rId10" Type="http://schemas.openxmlformats.org/officeDocument/2006/relationships/slide" Target="slides/slide5.xml"/><Relationship Id="rId54" Type="http://schemas.openxmlformats.org/officeDocument/2006/relationships/font" Target="fonts/Corbel-italic.fntdata"/><Relationship Id="rId13" Type="http://schemas.openxmlformats.org/officeDocument/2006/relationships/slide" Target="slides/slide8.xml"/><Relationship Id="rId57" Type="http://schemas.openxmlformats.org/officeDocument/2006/relationships/font" Target="fonts/Tahoma-bold.fntdata"/><Relationship Id="rId12" Type="http://schemas.openxmlformats.org/officeDocument/2006/relationships/slide" Target="slides/slide7.xml"/><Relationship Id="rId56" Type="http://schemas.openxmlformats.org/officeDocument/2006/relationships/font" Target="fonts/Tahoma-regular.fntdata"/><Relationship Id="rId15" Type="http://schemas.openxmlformats.org/officeDocument/2006/relationships/slide" Target="slides/slide10.xml"/><Relationship Id="rId59" Type="http://schemas.openxmlformats.org/officeDocument/2006/relationships/font" Target="fonts/GillSans-bold.fntdata"/><Relationship Id="rId14" Type="http://schemas.openxmlformats.org/officeDocument/2006/relationships/slide" Target="slides/slide9.xml"/><Relationship Id="rId58" Type="http://schemas.openxmlformats.org/officeDocument/2006/relationships/font" Target="fonts/GillSans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e7a6e53de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e7a6e53de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e7a6e53ded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0" name="Google Shape;64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1" name="Google Shape;64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0" name="Google Shape;72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1" name="Google Shape;80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2" name="Google Shape;80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5" name="Google Shape;90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6" name="Google Shape;90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4" name="Google Shape;101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5" name="Google Shape;101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8" name="Google Shape;112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9" name="Google Shape;112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2" name="Google Shape;123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3" name="Google Shape;123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0" name="Google Shape;124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1" name="Google Shape;124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8" name="Google Shape;124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9" name="Google Shape;125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0" name="Google Shape;126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1" name="Google Shape;127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2" name="Google Shape;127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0" name="Google Shape;135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1" name="Google Shape;135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8" name="Google Shape;135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9" name="Google Shape;135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6" name="Google Shape;144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7" name="Google Shape;144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5" name="Google Shape;153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6" name="Google Shape;153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2" name="Google Shape;160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3" name="Google Shape;160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9" name="Google Shape;166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0" name="Google Shape;167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3" name="Google Shape;182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4" name="Google Shape;182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4" name="Google Shape;189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5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55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55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55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55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55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55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5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5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7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2" name="Google Shape;42;p57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3" name="Google Shape;43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8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8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9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9"/>
          <p:cNvSpPr txBox="1"/>
          <p:nvPr>
            <p:ph idx="1" type="body"/>
          </p:nvPr>
        </p:nvSpPr>
        <p:spPr>
          <a:xfrm>
            <a:off x="1484308" y="1114426"/>
            <a:ext cx="10018713" cy="3721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5" name="Google Shape;55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0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1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1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6" name="Google Shape;66;p61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7" name="Google Shape;67;p61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61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2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2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62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6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3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3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3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6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4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4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6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5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6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6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66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7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7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8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68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9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9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69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0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0"/>
          <p:cNvSpPr txBox="1"/>
          <p:nvPr>
            <p:ph idx="1" type="body"/>
          </p:nvPr>
        </p:nvSpPr>
        <p:spPr>
          <a:xfrm rot="5400000">
            <a:off x="4632675" y="-2033941"/>
            <a:ext cx="3721979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1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1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4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5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5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5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5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5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5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54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4"/>
          <p:cNvSpPr txBox="1"/>
          <p:nvPr>
            <p:ph idx="1" type="body"/>
          </p:nvPr>
        </p:nvSpPr>
        <p:spPr>
          <a:xfrm>
            <a:off x="1484308" y="1114426"/>
            <a:ext cx="10018713" cy="3721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8641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4958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300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12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94335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7592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6.jp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15.png"/><Relationship Id="rId9" Type="http://schemas.openxmlformats.org/officeDocument/2006/relationships/image" Target="../media/image12.jp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7.jp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34.png"/><Relationship Id="rId6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Relationship Id="rId4" Type="http://schemas.openxmlformats.org/officeDocument/2006/relationships/image" Target="../media/image33.png"/><Relationship Id="rId5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Relationship Id="rId4" Type="http://schemas.openxmlformats.org/officeDocument/2006/relationships/image" Target="../media/image2.png"/><Relationship Id="rId5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4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Relationship Id="rId4" Type="http://schemas.openxmlformats.org/officeDocument/2006/relationships/image" Target="../media/image35.png"/><Relationship Id="rId5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Relationship Id="rId4" Type="http://schemas.openxmlformats.org/officeDocument/2006/relationships/image" Target="../media/image35.png"/><Relationship Id="rId5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Relationship Id="rId4" Type="http://schemas.openxmlformats.org/officeDocument/2006/relationships/image" Target="../media/image35.png"/><Relationship Id="rId5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0.png"/><Relationship Id="rId4" Type="http://schemas.openxmlformats.org/officeDocument/2006/relationships/image" Target="../media/image35.png"/><Relationship Id="rId5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Data Link Layer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15 | CSE421 –Computer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/>
          <p:nvPr/>
        </p:nvSpPr>
        <p:spPr>
          <a:xfrm>
            <a:off x="8710638" y="3671886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3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Computer Networking: A Top 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endParaRPr b="0" i="0" sz="2000" u="none" cap="none" strike="noStrike">
              <a:solidFill>
                <a:srgbClr val="008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2473835" y="6096495"/>
            <a:ext cx="5378450" cy="61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All material copyright 1996-2016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J.F Kurose and K.W. Ross, 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2352" y="6282464"/>
            <a:ext cx="187325" cy="18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rose7e_cover_small.jpg" id="157" name="Google Shape;15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0638" y="325439"/>
            <a:ext cx="3087687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"/>
          <p:cNvSpPr/>
          <p:nvPr/>
        </p:nvSpPr>
        <p:spPr>
          <a:xfrm>
            <a:off x="8710638" y="4630736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r>
              <a:rPr b="0" baseline="3000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 edition </a:t>
            </a:r>
            <a:b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Jim Kurose, Keith Ross</a:t>
            </a:r>
            <a:b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Pearson/Addison Wesley</a:t>
            </a:r>
            <a:b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April 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1451658" y="715964"/>
            <a:ext cx="6400627" cy="167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Based on Chapter 6</a:t>
            </a:r>
            <a:br>
              <a:rPr b="0" i="0" lang="en-US" sz="48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The Link Layer and 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160" name="Google Shape;16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6438" y="2389189"/>
            <a:ext cx="4790122" cy="44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"/>
          <p:cNvSpPr txBox="1"/>
          <p:nvPr/>
        </p:nvSpPr>
        <p:spPr>
          <a:xfrm>
            <a:off x="1451658" y="4989093"/>
            <a:ext cx="6952934" cy="86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47" lvl="0" marL="28575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The slides are adapted from Kurose and Ross, Computer Networks 7th edition, Kurose and Ross.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2"/>
          <p:cNvSpPr txBox="1"/>
          <p:nvPr>
            <p:ph idx="12" type="sldNum"/>
          </p:nvPr>
        </p:nvSpPr>
        <p:spPr>
          <a:xfrm>
            <a:off x="11121673" y="616743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idx="1" type="body"/>
          </p:nvPr>
        </p:nvSpPr>
        <p:spPr>
          <a:xfrm>
            <a:off x="2863223" y="3940595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lang="en-US" sz="3600">
                <a:solidFill>
                  <a:srgbClr val="0070C0"/>
                </a:solidFill>
              </a:rPr>
              <a:t>Introduction to Link Layer</a:t>
            </a:r>
            <a:endParaRPr/>
          </a:p>
        </p:txBody>
      </p:sp>
      <p:grpSp>
        <p:nvGrpSpPr>
          <p:cNvPr id="168" name="Google Shape;168;p4"/>
          <p:cNvGrpSpPr/>
          <p:nvPr/>
        </p:nvGrpSpPr>
        <p:grpSpPr>
          <a:xfrm>
            <a:off x="2368694" y="1848562"/>
            <a:ext cx="2854469" cy="3789219"/>
            <a:chOff x="567" y="1933"/>
            <a:chExt cx="1270" cy="1920"/>
          </a:xfrm>
        </p:grpSpPr>
        <p:sp>
          <p:nvSpPr>
            <p:cNvPr id="169" name="Google Shape;169;p4"/>
            <p:cNvSpPr/>
            <p:nvPr/>
          </p:nvSpPr>
          <p:spPr>
            <a:xfrm>
              <a:off x="567" y="2205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567" y="2478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567" y="2750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567" y="3022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45882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567" y="3294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567" y="3566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4980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567" y="1933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567" y="1933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567" y="2205"/>
              <a:ext cx="127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Presentation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"/>
            <p:cNvSpPr txBox="1"/>
            <p:nvPr/>
          </p:nvSpPr>
          <p:spPr>
            <a:xfrm>
              <a:off x="567" y="2478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Session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"/>
            <p:cNvSpPr txBox="1"/>
            <p:nvPr/>
          </p:nvSpPr>
          <p:spPr>
            <a:xfrm>
              <a:off x="567" y="2750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567" y="3021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"/>
            <p:cNvSpPr txBox="1"/>
            <p:nvPr/>
          </p:nvSpPr>
          <p:spPr>
            <a:xfrm>
              <a:off x="567" y="3293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"/>
            <p:cNvSpPr txBox="1"/>
            <p:nvPr/>
          </p:nvSpPr>
          <p:spPr>
            <a:xfrm>
              <a:off x="567" y="3565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89" name="Google Shape;18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"/>
          <p:cNvSpPr txBox="1"/>
          <p:nvPr>
            <p:ph idx="1" type="body"/>
          </p:nvPr>
        </p:nvSpPr>
        <p:spPr>
          <a:xfrm>
            <a:off x="2045825" y="613725"/>
            <a:ext cx="9516300" cy="52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380"/>
              <a:buFont typeface="Noto Sans Symbols"/>
              <a:buNone/>
            </a:pPr>
            <a:r>
              <a:rPr i="1" lang="en-US" sz="4000">
                <a:solidFill>
                  <a:srgbClr val="990033"/>
                </a:solidFill>
                <a:latin typeface="Gill Sans"/>
                <a:ea typeface="Gill Sans"/>
                <a:cs typeface="Gill Sans"/>
                <a:sym typeface="Gill Sans"/>
              </a:rPr>
              <a:t>Objectives:</a:t>
            </a:r>
            <a:r>
              <a:rPr i="1" lang="en-US" sz="40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32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U</a:t>
            </a: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nderstand principles behind link layer services:</a:t>
            </a:r>
            <a:endParaRPr sz="1400"/>
          </a:p>
          <a:p>
            <a:pPr indent="-269240" lvl="1" marL="7429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424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error detection, correction </a:t>
            </a:r>
            <a:r>
              <a:rPr lang="en-US" sz="2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(done in CSE320)</a:t>
            </a:r>
            <a:endParaRPr sz="1200"/>
          </a:p>
          <a:p>
            <a:pPr indent="-269240" lvl="1" marL="7429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424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sharing a broadcast channel: multiple access </a:t>
            </a:r>
            <a:r>
              <a:rPr lang="en-US" sz="2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(done in CSE320)</a:t>
            </a:r>
            <a:endParaRPr sz="1200"/>
          </a:p>
          <a:p>
            <a:pPr indent="-269240" lvl="1" marL="7429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424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Framing - link layer addressing</a:t>
            </a:r>
            <a:endParaRPr sz="1200"/>
          </a:p>
          <a:p>
            <a:pPr indent="-269240" lvl="1" marL="7429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424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 sz="1200"/>
          </a:p>
          <a:p>
            <a:pPr indent="-269240" lvl="1" marL="7429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424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 sz="2000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Link Layer Terminology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1410700" y="1066800"/>
            <a:ext cx="5591400" cy="3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6289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14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Nodes : </a:t>
            </a: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hosts and routers</a:t>
            </a:r>
            <a:endParaRPr b="0" i="0" sz="2700" u="none" cap="none" strike="noStrike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6289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186C3"/>
              </a:buClr>
              <a:buSzPts val="414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Links: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890" lvl="1" marL="7429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FF9300"/>
              </a:buClr>
              <a:buSzPts val="414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wired links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890" lvl="1" marL="7429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FF9300"/>
              </a:buClr>
              <a:buSzPts val="414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links</a:t>
            </a:r>
            <a:endParaRPr b="1" i="0" sz="27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6289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186C3"/>
              </a:buClr>
              <a:buSzPts val="414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Frame : </a:t>
            </a:r>
            <a:r>
              <a:rPr b="0" i="0" lang="en-US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layer-2 packet</a:t>
            </a:r>
            <a:endParaRPr b="0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56472" y="5055545"/>
            <a:ext cx="6315000" cy="1505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</a:t>
            </a:r>
            <a:r>
              <a:rPr b="0" i="0" lang="en-US" sz="27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data-link layer </a:t>
            </a:r>
            <a:r>
              <a:rPr b="0" i="0" lang="en-US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is responsible for transferring a datagram from one node to its directly connected (</a:t>
            </a:r>
            <a:r>
              <a:rPr b="0" i="0" lang="en-US" sz="27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physically adjacent</a:t>
            </a:r>
            <a:r>
              <a:rPr b="0" i="0" lang="en-US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) node over a link.</a:t>
            </a:r>
            <a:endParaRPr b="0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0" name="Google Shape;2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0815" y="196207"/>
            <a:ext cx="4829508" cy="6307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201" name="Google Shape;2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4309" y="951325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9488103" y="1057544"/>
            <a:ext cx="2457599" cy="133005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9215631" y="5077009"/>
            <a:ext cx="2071206" cy="133005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>
            <p:ph type="title"/>
          </p:nvPr>
        </p:nvSpPr>
        <p:spPr>
          <a:xfrm>
            <a:off x="2056823" y="94907"/>
            <a:ext cx="7772400" cy="898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layer: context</a:t>
            </a:r>
            <a:endParaRPr/>
          </a:p>
        </p:txBody>
      </p:sp>
      <p:sp>
        <p:nvSpPr>
          <p:cNvPr id="211" name="Google Shape;211;p6"/>
          <p:cNvSpPr txBox="1"/>
          <p:nvPr>
            <p:ph idx="1" type="body"/>
          </p:nvPr>
        </p:nvSpPr>
        <p:spPr>
          <a:xfrm>
            <a:off x="1221515" y="467383"/>
            <a:ext cx="5475949" cy="621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As data moves through a network, it can travel over many types of links.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e.g., </a:t>
            </a: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Ethernet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on first link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frame relay on intermediate links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8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802.11 on last link</a:t>
            </a:r>
            <a:endParaRPr>
              <a:solidFill>
                <a:srgbClr val="7D28C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Each link uses its own rules (protocols) to send the data</a:t>
            </a:r>
            <a:r>
              <a:rPr lang="en-US" sz="3200"/>
              <a:t>.</a:t>
            </a:r>
            <a:endParaRPr/>
          </a:p>
        </p:txBody>
      </p:sp>
      <p:pic>
        <p:nvPicPr>
          <p:cNvPr id="212" name="Google Shape;2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626" y="1121826"/>
            <a:ext cx="5736374" cy="260331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 txBox="1"/>
          <p:nvPr/>
        </p:nvSpPr>
        <p:spPr>
          <a:xfrm>
            <a:off x="11028219" y="1828800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8825345" y="1395271"/>
            <a:ext cx="31034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WAN Protocol : Frame Relay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7595850" y="2064131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8634941" y="2546964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802.11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217" name="Google Shape;2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816" y="868170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10"/>
          <p:cNvSpPr txBox="1"/>
          <p:nvPr>
            <p:ph idx="2" type="body"/>
          </p:nvPr>
        </p:nvSpPr>
        <p:spPr>
          <a:xfrm>
            <a:off x="1054900" y="1215053"/>
            <a:ext cx="5127424" cy="52404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i="1" lang="en-US" sz="22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Transportation analogy: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trip from Home to Cox’s Bazaar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Uber Car :  Home to Dhaka Airport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Plane: Dhaka to Chittagong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Bus: Chittagong to Cox’s Bazaar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tourist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datagram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transport segment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communication link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transportation mode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 layer protocol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travel agent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routing algorithm</a:t>
            </a:r>
            <a:endParaRPr/>
          </a:p>
          <a:p>
            <a:pPr indent="-11541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20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Vector linear illustration with a cab driving from airport building to the  home. Concept for transfer and taxi service. Car, house and airport  terminal outline icons. Stylish flyer or banner. Stock Vector |" id="225" name="Google Shape;225;p10"/>
          <p:cNvSpPr txBox="1"/>
          <p:nvPr>
            <p:ph type="title"/>
          </p:nvPr>
        </p:nvSpPr>
        <p:spPr>
          <a:xfrm>
            <a:off x="1484313" y="411163"/>
            <a:ext cx="1001871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Analogy</a:t>
            </a:r>
            <a:endParaRPr/>
          </a:p>
        </p:txBody>
      </p:sp>
      <p:sp>
        <p:nvSpPr>
          <p:cNvPr descr="Car icon | Premium Vector" id="226" name="Google Shape;226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10"/>
          <p:cNvGrpSpPr/>
          <p:nvPr/>
        </p:nvGrpSpPr>
        <p:grpSpPr>
          <a:xfrm>
            <a:off x="6387551" y="1716399"/>
            <a:ext cx="3151195" cy="1694040"/>
            <a:chOff x="6387551" y="1716399"/>
            <a:chExt cx="3151195" cy="1694040"/>
          </a:xfrm>
        </p:grpSpPr>
        <p:pic>
          <p:nvPicPr>
            <p:cNvPr descr="Car icon | Premium Vector" id="228" name="Google Shape;22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43415" y="1716399"/>
              <a:ext cx="901755" cy="901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ouse building home - Real estate &amp; Building Icons" id="229" name="Google Shape;22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87551" y="1735175"/>
              <a:ext cx="864205" cy="864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irport - Free transport icons" id="230" name="Google Shape;23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53350" y="2325043"/>
              <a:ext cx="1085396" cy="108539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1" name="Google Shape;231;p10"/>
            <p:cNvCxnSpPr>
              <a:stCxn id="229" idx="3"/>
              <a:endCxn id="230" idx="1"/>
            </p:cNvCxnSpPr>
            <p:nvPr/>
          </p:nvCxnSpPr>
          <p:spPr>
            <a:xfrm>
              <a:off x="7251756" y="2167278"/>
              <a:ext cx="1201500" cy="7005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2" name="Google Shape;232;p10"/>
          <p:cNvGrpSpPr/>
          <p:nvPr/>
        </p:nvGrpSpPr>
        <p:grpSpPr>
          <a:xfrm>
            <a:off x="8996048" y="2985584"/>
            <a:ext cx="1798357" cy="2245840"/>
            <a:chOff x="8996048" y="2985584"/>
            <a:chExt cx="1798357" cy="2245840"/>
          </a:xfrm>
        </p:grpSpPr>
        <p:pic>
          <p:nvPicPr>
            <p:cNvPr descr="Plane - Free transport icons" id="233" name="Google Shape;233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68235" y="2985584"/>
              <a:ext cx="849710" cy="849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ngladesh chittagong skyline Stock Vector Images - Alamy" id="234" name="Google Shape;234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96048" y="4240944"/>
              <a:ext cx="1798357" cy="99048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5" name="Google Shape;235;p10"/>
            <p:cNvCxnSpPr>
              <a:stCxn id="230" idx="2"/>
              <a:endCxn id="234" idx="0"/>
            </p:cNvCxnSpPr>
            <p:nvPr/>
          </p:nvCxnSpPr>
          <p:spPr>
            <a:xfrm>
              <a:off x="8996048" y="3410439"/>
              <a:ext cx="899100" cy="8304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6" name="Google Shape;236;p10"/>
          <p:cNvGrpSpPr/>
          <p:nvPr/>
        </p:nvGrpSpPr>
        <p:grpSpPr>
          <a:xfrm>
            <a:off x="6721059" y="5231513"/>
            <a:ext cx="3174153" cy="1446377"/>
            <a:chOff x="6721059" y="5231515"/>
            <a:chExt cx="3174153" cy="1446377"/>
          </a:xfrm>
        </p:grpSpPr>
        <p:pic>
          <p:nvPicPr>
            <p:cNvPr descr="Bus - Free transport icons" id="237" name="Google Shape;237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859091" y="5637074"/>
              <a:ext cx="1009144" cy="1009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x bazar - Fridge Magnet : Hat Bakso | Rokomari.com" id="238" name="Google Shape;238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721059" y="5509538"/>
              <a:ext cx="1168353" cy="116835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9" name="Google Shape;239;p10"/>
            <p:cNvCxnSpPr>
              <a:stCxn id="238" idx="3"/>
              <a:endCxn id="234" idx="2"/>
            </p:cNvCxnSpPr>
            <p:nvPr/>
          </p:nvCxnSpPr>
          <p:spPr>
            <a:xfrm flipH="1" rot="10800000">
              <a:off x="7889412" y="5231515"/>
              <a:ext cx="2005800" cy="8622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Person - Free travel icons" id="240" name="Google Shape;240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35094" y="1437892"/>
            <a:ext cx="439256" cy="4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 - Free travel icons" id="241" name="Google Shape;241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73462" y="2850490"/>
            <a:ext cx="439256" cy="4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 - Free travel icons" id="242" name="Google Shape;242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77416" y="5442941"/>
            <a:ext cx="439256" cy="43925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 rot="2450467">
            <a:off x="7373529" y="2541582"/>
            <a:ext cx="229963" cy="419929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 rot="2450467">
            <a:off x="8674277" y="3774423"/>
            <a:ext cx="239999" cy="44183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 flipH="1" rot="8126559">
            <a:off x="8229824" y="5249665"/>
            <a:ext cx="240517" cy="4601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avel agent - Free travel icons" id="246" name="Google Shape;246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34770" y="656819"/>
            <a:ext cx="1116467" cy="1116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52" name="Google Shape;2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462" y="965098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 txBox="1"/>
          <p:nvPr>
            <p:ph type="title"/>
          </p:nvPr>
        </p:nvSpPr>
        <p:spPr>
          <a:xfrm>
            <a:off x="2008186" y="49162"/>
            <a:ext cx="61769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functions/services</a:t>
            </a:r>
            <a:endParaRPr/>
          </a:p>
        </p:txBody>
      </p:sp>
      <p:sp>
        <p:nvSpPr>
          <p:cNvPr id="254" name="Google Shape;254;p7"/>
          <p:cNvSpPr txBox="1"/>
          <p:nvPr>
            <p:ph idx="1" type="body"/>
          </p:nvPr>
        </p:nvSpPr>
        <p:spPr>
          <a:xfrm>
            <a:off x="884497" y="1192162"/>
            <a:ext cx="6770337" cy="5102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3050" lvl="0" marL="28575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908"/>
              <a:buChar char="•"/>
            </a:pPr>
            <a:r>
              <a:rPr i="1"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Framing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28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Breaks data into frames (with header + trailer).</a:t>
            </a:r>
            <a:endParaRPr sz="2200"/>
          </a:p>
          <a:p>
            <a:pPr indent="-2730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28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“MAC” addresses used in frame headers to identify source, destination devices. </a:t>
            </a:r>
            <a:endParaRPr sz="2200"/>
          </a:p>
          <a:p>
            <a:pPr indent="-64769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200"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0" marL="2857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860"/>
              <a:buChar char="•"/>
            </a:pPr>
            <a:r>
              <a:rPr i="1"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 access:</a:t>
            </a:r>
            <a:endParaRPr sz="2600"/>
          </a:p>
          <a:p>
            <a:pPr indent="-2730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28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Decides how to send a frame to the link</a:t>
            </a:r>
            <a:endParaRPr sz="2200"/>
          </a:p>
          <a:p>
            <a:pPr indent="-2730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28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Manages sharing if many devices use the same channel. </a:t>
            </a:r>
            <a:endParaRPr sz="2200"/>
          </a:p>
          <a:p>
            <a:pPr indent="-2730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28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Prevents or controls collisions in multi-user networks.</a:t>
            </a:r>
            <a:endParaRPr sz="2200"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28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Sets rules for sending data on the link.</a:t>
            </a:r>
            <a:endParaRPr i="1" sz="26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5" name="Google Shape;255;p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raming in Data Link Layer - GeeksforGeeks" id="256" name="Google Shape;2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5592" y="1051617"/>
            <a:ext cx="3204925" cy="247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4825" y="3929302"/>
            <a:ext cx="4440175" cy="24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63" name="Google Shape;2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462" y="965098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2"/>
          <p:cNvSpPr txBox="1"/>
          <p:nvPr>
            <p:ph type="title"/>
          </p:nvPr>
        </p:nvSpPr>
        <p:spPr>
          <a:xfrm>
            <a:off x="2008186" y="49162"/>
            <a:ext cx="61769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functions/services</a:t>
            </a:r>
            <a:endParaRPr/>
          </a:p>
        </p:txBody>
      </p:sp>
      <p:sp>
        <p:nvSpPr>
          <p:cNvPr id="265" name="Google Shape;265;p32"/>
          <p:cNvSpPr txBox="1"/>
          <p:nvPr>
            <p:ph idx="1" type="body"/>
          </p:nvPr>
        </p:nvSpPr>
        <p:spPr>
          <a:xfrm>
            <a:off x="772400" y="1286050"/>
            <a:ext cx="105234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66700" lvl="0" marL="285750" rtl="0" algn="l">
              <a:lnSpc>
                <a:spcPct val="75000"/>
              </a:lnSpc>
              <a:spcBef>
                <a:spcPts val="1034"/>
              </a:spcBef>
              <a:spcAft>
                <a:spcPts val="0"/>
              </a:spcAft>
              <a:buSzPts val="3760"/>
              <a:buChar char="•"/>
            </a:pPr>
            <a:r>
              <a:rPr i="1" lang="en-US" sz="25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Reliable delivery between adjacent nodes</a:t>
            </a:r>
            <a:endParaRPr sz="2500"/>
          </a:p>
          <a:p>
            <a:pPr indent="-26670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180"/>
              <a:buChar char="•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Makes sure frames are delivered correctly to the next device.</a:t>
            </a:r>
            <a:endParaRPr sz="2100"/>
          </a:p>
          <a:p>
            <a:pPr indent="-26670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180"/>
              <a:buChar char="•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On "lossy" links like Wi-Fi, it is much faster for a router to catch a corrupted frame and fix it in microseconds.</a:t>
            </a:r>
            <a:endParaRPr i="1" sz="21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972"/>
              </a:spcBef>
              <a:spcAft>
                <a:spcPts val="0"/>
              </a:spcAft>
              <a:buNone/>
            </a:pPr>
            <a:r>
              <a:rPr i="1" lang="en-US" sz="2100" u="sng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i="1" lang="en-US" sz="2100" u="sng">
                <a:latin typeface="Gill Sans"/>
                <a:ea typeface="Gill Sans"/>
                <a:cs typeface="Gill Sans"/>
                <a:sym typeface="Gill Sans"/>
              </a:rPr>
              <a:t> why both link-level(Layer 2) and end to end(Layer 4) reliability needed ?</a:t>
            </a:r>
            <a:endParaRPr i="1" sz="2500" u="sng"/>
          </a:p>
        </p:txBody>
      </p:sp>
      <p:sp>
        <p:nvSpPr>
          <p:cNvPr id="266" name="Google Shape;266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772400" y="3825275"/>
            <a:ext cx="105234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0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66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Flow control</a:t>
            </a:r>
            <a:r>
              <a:rPr b="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60350" lvl="1" marL="742950" marR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Clr>
                <a:srgbClr val="FFC000"/>
              </a:buClr>
              <a:buSzPts val="308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Manages the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speed of data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between sender and receiver.</a:t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91770" lvl="1" marL="742950" marR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2000"/>
              <a:buFont typeface="Gill Sans"/>
              <a:buChar char="•"/>
            </a:pPr>
            <a:r>
              <a:rPr b="1" lang="en-US" sz="2000">
                <a:latin typeface="Gill Sans"/>
                <a:ea typeface="Gill Sans"/>
                <a:cs typeface="Gill Sans"/>
                <a:sym typeface="Gill Sans"/>
              </a:rPr>
              <a:t>Link-Layer (L2):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 Manages speed between directly connected neighbors (e.g., laptop to router) so the immediate receiver’s interface isn't overwhelmed.</a:t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  <a:p>
            <a:pPr indent="-191770" lvl="1" marL="742950" marR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2000"/>
              <a:buFont typeface="Gill Sans"/>
              <a:buChar char="•"/>
            </a:pPr>
            <a:r>
              <a:rPr b="1" lang="en-US" sz="2000">
                <a:latin typeface="Gill Sans"/>
                <a:ea typeface="Gill Sans"/>
                <a:cs typeface="Gill Sans"/>
                <a:sym typeface="Gill Sans"/>
              </a:rPr>
              <a:t>Transport-Layer (L4/TCP):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 Manages speed between the original sender and final destination (e.g., server to phone) to ensure the destination's application memory can keep up.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73" name="Google Shape;2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4713" y="1028700"/>
            <a:ext cx="5942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8"/>
          <p:cNvSpPr txBox="1"/>
          <p:nvPr>
            <p:ph idx="1" type="body"/>
          </p:nvPr>
        </p:nvSpPr>
        <p:spPr>
          <a:xfrm>
            <a:off x="1021977" y="1371600"/>
            <a:ext cx="8746403" cy="4788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60"/>
              <a:buChar char="•"/>
            </a:pPr>
            <a:r>
              <a:rPr i="1" lang="en-US" sz="23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Error detection</a:t>
            </a:r>
            <a:r>
              <a:rPr lang="en-US" sz="23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endParaRPr sz="2300"/>
          </a:p>
          <a:p>
            <a:pPr indent="-254000" lvl="1" marL="742950" rtl="0" algn="l">
              <a:lnSpc>
                <a:spcPct val="90000"/>
              </a:lnSpc>
              <a:spcBef>
                <a:spcPts val="1008"/>
              </a:spcBef>
              <a:spcAft>
                <a:spcPts val="0"/>
              </a:spcAft>
              <a:buSzPts val="2980"/>
              <a:buChar char="•"/>
            </a:pPr>
            <a:r>
              <a:rPr lang="en-US" sz="1900">
                <a:latin typeface="Gill Sans"/>
                <a:ea typeface="Gill Sans"/>
                <a:cs typeface="Gill Sans"/>
                <a:sym typeface="Gill Sans"/>
              </a:rPr>
              <a:t>errors caused by signal attenuation, noise. </a:t>
            </a:r>
            <a:endParaRPr sz="1900"/>
          </a:p>
          <a:p>
            <a:pPr indent="-254000" lvl="1" marL="742950" rtl="0" algn="l">
              <a:lnSpc>
                <a:spcPct val="90000"/>
              </a:lnSpc>
              <a:spcBef>
                <a:spcPts val="1008"/>
              </a:spcBef>
              <a:spcAft>
                <a:spcPts val="0"/>
              </a:spcAft>
              <a:buSzPts val="2980"/>
              <a:buChar char="•"/>
            </a:pPr>
            <a:r>
              <a:rPr lang="en-US" sz="1900">
                <a:latin typeface="Gill Sans"/>
                <a:ea typeface="Gill Sans"/>
                <a:cs typeface="Gill Sans"/>
                <a:sym typeface="Gill Sans"/>
              </a:rPr>
              <a:t>receiver detects presence of errors: </a:t>
            </a:r>
            <a:endParaRPr sz="1900"/>
          </a:p>
          <a:p>
            <a:pPr indent="-254000" lvl="2" marL="1200150" rtl="0" algn="l">
              <a:lnSpc>
                <a:spcPct val="90000"/>
              </a:lnSpc>
              <a:spcBef>
                <a:spcPts val="940"/>
              </a:spcBef>
              <a:spcAft>
                <a:spcPts val="0"/>
              </a:spcAft>
              <a:buSzPts val="2400"/>
              <a:buChar char="•"/>
            </a:pPr>
            <a:r>
              <a:rPr lang="en-US" sz="1500">
                <a:latin typeface="Gill Sans"/>
                <a:ea typeface="Gill Sans"/>
                <a:cs typeface="Gill Sans"/>
                <a:sym typeface="Gill Sans"/>
              </a:rPr>
              <a:t>signals sender for retransmission or drops frame </a:t>
            </a:r>
            <a:endParaRPr sz="1500"/>
          </a:p>
          <a:p>
            <a:pPr indent="-254000" lvl="0" marL="285750" rtl="0" algn="l">
              <a:lnSpc>
                <a:spcPct val="90000"/>
              </a:lnSpc>
              <a:spcBef>
                <a:spcPts val="1076"/>
              </a:spcBef>
              <a:spcAft>
                <a:spcPts val="0"/>
              </a:spcAft>
              <a:buSzPts val="3560"/>
              <a:buChar char="•"/>
            </a:pPr>
            <a:r>
              <a:rPr i="1" lang="en-US" sz="23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Error correction:</a:t>
            </a:r>
            <a:r>
              <a:rPr lang="en-US" sz="23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300"/>
          </a:p>
          <a:p>
            <a:pPr indent="-254000" lvl="1" marL="742950" rtl="0" algn="l">
              <a:lnSpc>
                <a:spcPct val="90000"/>
              </a:lnSpc>
              <a:spcBef>
                <a:spcPts val="1008"/>
              </a:spcBef>
              <a:spcAft>
                <a:spcPts val="0"/>
              </a:spcAft>
              <a:buSzPts val="2980"/>
              <a:buChar char="•"/>
            </a:pPr>
            <a:r>
              <a:rPr lang="en-US" sz="1900">
                <a:latin typeface="Gill Sans"/>
                <a:ea typeface="Gill Sans"/>
                <a:cs typeface="Gill Sans"/>
                <a:sym typeface="Gill Sans"/>
              </a:rPr>
              <a:t>receiver identifies </a:t>
            </a:r>
            <a:r>
              <a:rPr i="1" lang="en-US" sz="19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and corrects</a:t>
            </a:r>
            <a:r>
              <a:rPr lang="en-US" sz="1900">
                <a:latin typeface="Gill Sans"/>
                <a:ea typeface="Gill Sans"/>
                <a:cs typeface="Gill Sans"/>
                <a:sym typeface="Gill Sans"/>
              </a:rPr>
              <a:t> bit error(s) without resorting to retransmission (there are various protocols)</a:t>
            </a:r>
            <a:endParaRPr sz="1900"/>
          </a:p>
          <a:p>
            <a:pPr indent="-254000" lvl="0" marL="285750" rtl="0" algn="l">
              <a:lnSpc>
                <a:spcPct val="90000"/>
              </a:lnSpc>
              <a:spcBef>
                <a:spcPts val="1076"/>
              </a:spcBef>
              <a:spcAft>
                <a:spcPts val="0"/>
              </a:spcAft>
              <a:buSzPts val="3560"/>
              <a:buChar char="•"/>
            </a:pPr>
            <a:r>
              <a:rPr i="1" lang="en-US" sz="23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Full Duplex and Half Duplex:</a:t>
            </a:r>
            <a:r>
              <a:rPr lang="en-US" sz="23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300"/>
          </a:p>
          <a:p>
            <a:pPr indent="-254000" lvl="1" marL="742950" rtl="0" algn="l">
              <a:lnSpc>
                <a:spcPct val="90000"/>
              </a:lnSpc>
              <a:spcBef>
                <a:spcPts val="1008"/>
              </a:spcBef>
              <a:spcAft>
                <a:spcPts val="0"/>
              </a:spcAft>
              <a:buSzPts val="2980"/>
              <a:buChar char="•"/>
            </a:pPr>
            <a:r>
              <a:rPr lang="en-US" sz="1900"/>
              <a:t>Both devices can send and receive </a:t>
            </a:r>
            <a:r>
              <a:rPr b="1" lang="en-US" sz="1900"/>
              <a:t>at the same time</a:t>
            </a:r>
            <a:r>
              <a:rPr lang="en-US" sz="1900"/>
              <a:t> </a:t>
            </a:r>
            <a:endParaRPr sz="1900"/>
          </a:p>
          <a:p>
            <a:pPr indent="-254000" lvl="1" marL="742950" rtl="0" algn="l">
              <a:lnSpc>
                <a:spcPct val="90000"/>
              </a:lnSpc>
              <a:spcBef>
                <a:spcPts val="1008"/>
              </a:spcBef>
              <a:spcAft>
                <a:spcPts val="0"/>
              </a:spcAft>
              <a:buSzPts val="2980"/>
              <a:buChar char="•"/>
            </a:pPr>
            <a:r>
              <a:rPr lang="en-US" sz="1900"/>
              <a:t>Both devices can send and receive, but </a:t>
            </a:r>
            <a:r>
              <a:rPr b="1" lang="en-US" sz="1900"/>
              <a:t>only one at a time</a:t>
            </a:r>
            <a:endParaRPr i="1" sz="19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5" name="Google Shape;275;p8"/>
          <p:cNvSpPr txBox="1"/>
          <p:nvPr>
            <p:ph type="title"/>
          </p:nvPr>
        </p:nvSpPr>
        <p:spPr>
          <a:xfrm>
            <a:off x="2057401" y="228600"/>
            <a:ext cx="617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services (more)</a:t>
            </a:r>
            <a:endParaRPr/>
          </a:p>
        </p:txBody>
      </p:sp>
      <p:sp>
        <p:nvSpPr>
          <p:cNvPr id="276" name="Google Shape;276;p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Half-Duplex vs Full-Duplex: What are ..." id="277" name="Google Shape;277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lf-Duplex vs Full-Duplex: What are the Differences?" id="278" name="Google Shape;2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8004" y="1278922"/>
            <a:ext cx="4005902" cy="268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"/>
          <p:cNvSpPr/>
          <p:nvPr/>
        </p:nvSpPr>
        <p:spPr>
          <a:xfrm>
            <a:off x="7180264" y="2616200"/>
            <a:ext cx="2308225" cy="3028950"/>
          </a:xfrm>
          <a:custGeom>
            <a:rect b="b" l="l" r="r" t="t"/>
            <a:pathLst>
              <a:path extrusionOk="0" h="1908" w="1454">
                <a:moveTo>
                  <a:pt x="0" y="1728"/>
                </a:moveTo>
                <a:cubicBezTo>
                  <a:pt x="15" y="1684"/>
                  <a:pt x="4" y="1697"/>
                  <a:pt x="20" y="1681"/>
                </a:cubicBezTo>
                <a:lnTo>
                  <a:pt x="281" y="0"/>
                </a:lnTo>
                <a:lnTo>
                  <a:pt x="1246" y="301"/>
                </a:lnTo>
                <a:lnTo>
                  <a:pt x="1454" y="1493"/>
                </a:lnTo>
                <a:lnTo>
                  <a:pt x="248" y="1908"/>
                </a:lnTo>
                <a:lnTo>
                  <a:pt x="0" y="1728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50000">
                <a:schemeClr val="lt1"/>
              </a:gs>
              <a:gs pos="100000">
                <a:srgbClr val="000099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underline_base" id="285" name="Google Shape;2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364" y="887414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 txBox="1"/>
          <p:nvPr>
            <p:ph type="title"/>
          </p:nvPr>
        </p:nvSpPr>
        <p:spPr>
          <a:xfrm>
            <a:off x="1908176" y="100013"/>
            <a:ext cx="825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Where is the link layer implemented?</a:t>
            </a:r>
            <a:endParaRPr/>
          </a:p>
        </p:txBody>
      </p:sp>
      <p:sp>
        <p:nvSpPr>
          <p:cNvPr id="287" name="Google Shape;287;p9"/>
          <p:cNvSpPr txBox="1"/>
          <p:nvPr>
            <p:ph idx="1" type="body"/>
          </p:nvPr>
        </p:nvSpPr>
        <p:spPr>
          <a:xfrm>
            <a:off x="1349777" y="1099417"/>
            <a:ext cx="4496592" cy="556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603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0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Link layer runs in the </a:t>
            </a:r>
            <a:r>
              <a:rPr lang="en-US" sz="20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adaptor (NIC)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 or chipset</a:t>
            </a:r>
            <a:endParaRPr sz="1400"/>
          </a:p>
          <a:p>
            <a:pPr indent="-2603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0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Ethernet card</a:t>
            </a:r>
            <a:endParaRPr sz="1200"/>
          </a:p>
          <a:p>
            <a:pPr indent="-2603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0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802.11 (WiFi card)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603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0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Provides both link-layer and physical-layer functions</a:t>
            </a:r>
            <a:endParaRPr sz="1400"/>
          </a:p>
          <a:p>
            <a:pPr indent="-2603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0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Connects the computer to the network (via system bus)</a:t>
            </a:r>
            <a:endParaRPr sz="1400"/>
          </a:p>
          <a:p>
            <a:pPr indent="-2603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0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Combination of hardware, software, firmware</a:t>
            </a:r>
            <a:endParaRPr sz="1400"/>
          </a:p>
          <a:p>
            <a:pPr indent="-2603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0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Every device has one</a:t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7653339" y="2614614"/>
            <a:ext cx="1836737" cy="24018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8102600" y="4552951"/>
            <a:ext cx="666750" cy="2825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102601" y="3965576"/>
            <a:ext cx="657225" cy="5191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7904506" y="4562476"/>
            <a:ext cx="10454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8154989" y="3484564"/>
            <a:ext cx="200025" cy="460375"/>
          </a:xfrm>
          <a:custGeom>
            <a:rect b="b" l="l" r="r" t="t"/>
            <a:pathLst>
              <a:path extrusionOk="0" h="478" w="361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93" name="Google Shape;293;p9"/>
          <p:cNvCxnSpPr/>
          <p:nvPr/>
        </p:nvCxnSpPr>
        <p:spPr>
          <a:xfrm>
            <a:off x="8020050" y="3657600"/>
            <a:ext cx="1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9"/>
          <p:cNvCxnSpPr/>
          <p:nvPr/>
        </p:nvCxnSpPr>
        <p:spPr>
          <a:xfrm rot="10800000">
            <a:off x="8415338" y="3665539"/>
            <a:ext cx="0" cy="3000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9"/>
          <p:cNvSpPr/>
          <p:nvPr/>
        </p:nvSpPr>
        <p:spPr>
          <a:xfrm>
            <a:off x="7908926" y="2967038"/>
            <a:ext cx="657225" cy="519112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8728076" y="2968626"/>
            <a:ext cx="657225" cy="5191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9"/>
          <p:cNvCxnSpPr/>
          <p:nvPr/>
        </p:nvCxnSpPr>
        <p:spPr>
          <a:xfrm rot="10800000">
            <a:off x="8212139" y="3487738"/>
            <a:ext cx="1587" cy="1698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9"/>
          <p:cNvCxnSpPr/>
          <p:nvPr/>
        </p:nvCxnSpPr>
        <p:spPr>
          <a:xfrm rot="10800000">
            <a:off x="9085264" y="3489325"/>
            <a:ext cx="1587" cy="171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9"/>
          <p:cNvSpPr txBox="1"/>
          <p:nvPr/>
        </p:nvSpPr>
        <p:spPr>
          <a:xfrm>
            <a:off x="9532939" y="3786189"/>
            <a:ext cx="8867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(e.g., PCI)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9"/>
          <p:cNvCxnSpPr/>
          <p:nvPr/>
        </p:nvCxnSpPr>
        <p:spPr>
          <a:xfrm flipH="1">
            <a:off x="8415338" y="4273551"/>
            <a:ext cx="12700" cy="3397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1" name="Google Shape;301;p9"/>
          <p:cNvCxnSpPr/>
          <p:nvPr/>
        </p:nvCxnSpPr>
        <p:spPr>
          <a:xfrm>
            <a:off x="8413750" y="4806951"/>
            <a:ext cx="0" cy="36671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2" name="Google Shape;302;p9"/>
          <p:cNvCxnSpPr/>
          <p:nvPr/>
        </p:nvCxnSpPr>
        <p:spPr>
          <a:xfrm rot="10800000">
            <a:off x="9210675" y="3662364"/>
            <a:ext cx="382588" cy="268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9"/>
          <p:cNvSpPr txBox="1"/>
          <p:nvPr/>
        </p:nvSpPr>
        <p:spPr>
          <a:xfrm>
            <a:off x="8820151" y="5356225"/>
            <a:ext cx="12731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9"/>
          <p:cNvCxnSpPr/>
          <p:nvPr/>
        </p:nvCxnSpPr>
        <p:spPr>
          <a:xfrm rot="10800000">
            <a:off x="9028113" y="4679950"/>
            <a:ext cx="271462" cy="7508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9"/>
          <p:cNvSpPr/>
          <p:nvPr/>
        </p:nvSpPr>
        <p:spPr>
          <a:xfrm>
            <a:off x="7875588" y="3854451"/>
            <a:ext cx="1122362" cy="10826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06" name="Google Shape;306;p9"/>
          <p:cNvGrpSpPr/>
          <p:nvPr/>
        </p:nvGrpSpPr>
        <p:grpSpPr>
          <a:xfrm>
            <a:off x="6611939" y="2743200"/>
            <a:ext cx="1470025" cy="2065338"/>
            <a:chOff x="2689" y="1728"/>
            <a:chExt cx="926" cy="1301"/>
          </a:xfrm>
        </p:grpSpPr>
        <p:sp>
          <p:nvSpPr>
            <p:cNvPr id="307" name="Google Shape;307;p9"/>
            <p:cNvSpPr/>
            <p:nvPr/>
          </p:nvSpPr>
          <p:spPr>
            <a:xfrm>
              <a:off x="3225" y="2509"/>
              <a:ext cx="390" cy="520"/>
            </a:xfrm>
            <a:custGeom>
              <a:rect b="b" l="l" r="r" t="t"/>
              <a:pathLst>
                <a:path extrusionOk="0" h="520" w="390">
                  <a:moveTo>
                    <a:pt x="390" y="0"/>
                  </a:moveTo>
                  <a:lnTo>
                    <a:pt x="0" y="221"/>
                  </a:lnTo>
                  <a:lnTo>
                    <a:pt x="3" y="433"/>
                  </a:lnTo>
                  <a:lnTo>
                    <a:pt x="388" y="520"/>
                  </a:lnTo>
                  <a:lnTo>
                    <a:pt x="390" y="0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3222" y="1767"/>
              <a:ext cx="275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2737" y="1775"/>
              <a:ext cx="489" cy="5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0" name="Google Shape;310;p9"/>
            <p:cNvSpPr txBox="1"/>
            <p:nvPr/>
          </p:nvSpPr>
          <p:spPr>
            <a:xfrm>
              <a:off x="2689" y="1728"/>
              <a:ext cx="577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9"/>
            <p:cNvCxnSpPr/>
            <p:nvPr/>
          </p:nvCxnSpPr>
          <p:spPr>
            <a:xfrm>
              <a:off x="2737" y="18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2" name="Google Shape;312;p9"/>
            <p:cNvCxnSpPr/>
            <p:nvPr/>
          </p:nvCxnSpPr>
          <p:spPr>
            <a:xfrm>
              <a:off x="2737" y="199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3" name="Google Shape;313;p9"/>
            <p:cNvCxnSpPr/>
            <p:nvPr/>
          </p:nvCxnSpPr>
          <p:spPr>
            <a:xfrm>
              <a:off x="2735" y="20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4" name="Google Shape;314;p9"/>
            <p:cNvCxnSpPr/>
            <p:nvPr/>
          </p:nvCxnSpPr>
          <p:spPr>
            <a:xfrm>
              <a:off x="2738" y="2206"/>
              <a:ext cx="484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5" name="Google Shape;315;p9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16" name="Google Shape;316;p9"/>
            <p:cNvCxnSpPr/>
            <p:nvPr/>
          </p:nvCxnSpPr>
          <p:spPr>
            <a:xfrm>
              <a:off x="2738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9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18" name="Google Shape;318;p9"/>
            <p:cNvSpPr/>
            <p:nvPr/>
          </p:nvSpPr>
          <p:spPr>
            <a:xfrm>
              <a:off x="2737" y="2415"/>
              <a:ext cx="489" cy="52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9" name="Google Shape;319;p9"/>
            <p:cNvSpPr txBox="1"/>
            <p:nvPr/>
          </p:nvSpPr>
          <p:spPr>
            <a:xfrm>
              <a:off x="2745" y="2345"/>
              <a:ext cx="462" cy="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0" name="Google Shape;320;p9"/>
            <p:cNvCxnSpPr/>
            <p:nvPr/>
          </p:nvCxnSpPr>
          <p:spPr>
            <a:xfrm>
              <a:off x="2737" y="252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1" name="Google Shape;321;p9"/>
            <p:cNvCxnSpPr/>
            <p:nvPr/>
          </p:nvCxnSpPr>
          <p:spPr>
            <a:xfrm>
              <a:off x="2737" y="2632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2" name="Google Shape;322;p9"/>
            <p:cNvCxnSpPr/>
            <p:nvPr/>
          </p:nvCxnSpPr>
          <p:spPr>
            <a:xfrm>
              <a:off x="2735" y="272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3" name="Google Shape;323;p9"/>
            <p:cNvCxnSpPr/>
            <p:nvPr/>
          </p:nvCxnSpPr>
          <p:spPr>
            <a:xfrm>
              <a:off x="2733" y="283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4" name="Google Shape;324;p9"/>
            <p:cNvSpPr/>
            <p:nvPr/>
          </p:nvSpPr>
          <p:spPr>
            <a:xfrm>
              <a:off x="2719" y="2390"/>
              <a:ext cx="518" cy="2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25" name="Google Shape;325;p9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26" name="Google Shape;326;p9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27" name="Google Shape;327;p9"/>
            <p:cNvSpPr/>
            <p:nvPr/>
          </p:nvSpPr>
          <p:spPr>
            <a:xfrm>
              <a:off x="2736" y="1778"/>
              <a:ext cx="490" cy="431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2733" y="2721"/>
              <a:ext cx="489" cy="219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7301" y="1122363"/>
            <a:ext cx="1350963" cy="1350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0" y="1317626"/>
            <a:ext cx="1143000" cy="117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9"/>
          <p:cNvGrpSpPr/>
          <p:nvPr/>
        </p:nvGrpSpPr>
        <p:grpSpPr>
          <a:xfrm>
            <a:off x="6586538" y="5251451"/>
            <a:ext cx="1109662" cy="1095375"/>
            <a:chOff x="-44" y="1473"/>
            <a:chExt cx="981" cy="1105"/>
          </a:xfrm>
        </p:grpSpPr>
        <p:pic>
          <p:nvPicPr>
            <p:cNvPr descr="desktop_computer_stylized_medium" id="332" name="Google Shape;332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34" name="Google Shape;334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340" name="Google Shape;3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1"/>
          <p:cNvSpPr txBox="1"/>
          <p:nvPr>
            <p:ph idx="1" type="body"/>
          </p:nvPr>
        </p:nvSpPr>
        <p:spPr>
          <a:xfrm>
            <a:off x="2057401" y="1371600"/>
            <a:ext cx="8471409" cy="48550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0"/>
              <a:buFont typeface="Noto Sans Symbols"/>
              <a:buNone/>
            </a:pPr>
            <a:r>
              <a:rPr i="1" lang="en-US" sz="4400">
                <a:solidFill>
                  <a:srgbClr val="990033"/>
                </a:solidFill>
                <a:latin typeface="Gill Sans"/>
                <a:ea typeface="Gill Sans"/>
                <a:cs typeface="Gill Sans"/>
                <a:sym typeface="Gill Sans"/>
              </a:rPr>
              <a:t>Our objectives</a:t>
            </a:r>
            <a:endParaRPr i="1" sz="44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Link Layer Addressing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127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127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Types of MAC Addresses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ARP within LAN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096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LAN Switch</a:t>
            </a:r>
            <a:endParaRPr/>
          </a:p>
          <a:p>
            <a:pPr indent="-85946" lvl="0" marL="285750" rtl="0" algn="l">
              <a:lnSpc>
                <a:spcPct val="100000"/>
              </a:lnSpc>
              <a:spcBef>
                <a:spcPts val="1034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2" name="Google Shape;342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33"/>
          <p:cNvSpPr txBox="1"/>
          <p:nvPr>
            <p:ph idx="1" type="body"/>
          </p:nvPr>
        </p:nvSpPr>
        <p:spPr>
          <a:xfrm>
            <a:off x="1484322" y="1227814"/>
            <a:ext cx="10018800" cy="56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57810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 </a:t>
            </a:r>
            <a:r>
              <a:rPr b="1" lang="en-US" sz="2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MAC address (Media Access Control address)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is a unique identifier assigned to a network interface card (NIC) or adaptor.</a:t>
            </a:r>
            <a:endParaRPr b="1" sz="2800">
              <a:latin typeface="Gill Sans"/>
              <a:ea typeface="Gill Sans"/>
              <a:cs typeface="Gill Sans"/>
              <a:sym typeface="Gill Sans"/>
            </a:endParaRPr>
          </a:p>
          <a:p>
            <a:pPr indent="-257810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Layer: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Works at the </a:t>
            </a:r>
            <a:r>
              <a:rPr b="1" lang="en-US" sz="2800">
                <a:latin typeface="Gill Sans"/>
                <a:ea typeface="Gill Sans"/>
                <a:cs typeface="Gill Sans"/>
                <a:sym typeface="Gill Sans"/>
              </a:rPr>
              <a:t>Data-Link Layer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(Layer 2 of the OSI model).</a:t>
            </a:r>
            <a:endParaRPr/>
          </a:p>
          <a:p>
            <a:pPr indent="-257810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Purpose:</a:t>
            </a:r>
            <a:r>
              <a:rPr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Used for hop to hop communication</a:t>
            </a:r>
            <a:endParaRPr/>
          </a:p>
          <a:p>
            <a:pPr indent="-257810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Uniqueness: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Each device’s NIC has a unique MAC address worldwide.</a:t>
            </a:r>
            <a:endParaRPr/>
          </a:p>
          <a:p>
            <a:pPr indent="-257810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Format:</a:t>
            </a:r>
            <a:r>
              <a:rPr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48 bits (6 bytes), usually written as 6 pairs of hex numbers separated by colons or hyphens.</a:t>
            </a:r>
            <a:endParaRPr/>
          </a:p>
          <a:p>
            <a:pPr indent="-220980" lvl="1" marL="7429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: </a:t>
            </a:r>
            <a:r>
              <a:rPr lang="en-US" sz="2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1A:2F:BB:76:09:AD</a:t>
            </a:r>
            <a:endParaRPr/>
          </a:p>
        </p:txBody>
      </p:sp>
      <p:sp>
        <p:nvSpPr>
          <p:cNvPr id="349" name="Google Shape;349;p33"/>
          <p:cNvSpPr txBox="1"/>
          <p:nvPr>
            <p:ph type="title"/>
          </p:nvPr>
        </p:nvSpPr>
        <p:spPr>
          <a:xfrm>
            <a:off x="1484274" y="292646"/>
            <a:ext cx="100188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50" name="Google Shape;3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156" y="2972739"/>
            <a:ext cx="1350963" cy="1350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"/>
          <p:cNvSpPr txBox="1"/>
          <p:nvPr>
            <p:ph type="title"/>
          </p:nvPr>
        </p:nvSpPr>
        <p:spPr>
          <a:xfrm>
            <a:off x="1484311" y="63871"/>
            <a:ext cx="100188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 Address vs 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57" name="Google Shape;3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9" name="Google Shape;3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4930" y="1131100"/>
            <a:ext cx="10250045" cy="49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1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079" y="2121071"/>
            <a:ext cx="4514944" cy="107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02" y="1743809"/>
            <a:ext cx="5496201" cy="462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9977" y="4271162"/>
            <a:ext cx="4493046" cy="156816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5"/>
          <p:cNvSpPr/>
          <p:nvPr/>
        </p:nvSpPr>
        <p:spPr>
          <a:xfrm>
            <a:off x="1203174" y="1306565"/>
            <a:ext cx="10479024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48 bits MAC address (for most LANs) burned in NIC ROM, also sometimes software settable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7313950" y="3370217"/>
            <a:ext cx="37446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hexadecimal (base 16) notation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(each “numeral” represents 4 bits)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70" name="Google Shape;37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7210697" y="2121071"/>
            <a:ext cx="378823" cy="55681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73" name="Google Shape;373;p15"/>
          <p:cNvGrpSpPr/>
          <p:nvPr/>
        </p:nvGrpSpPr>
        <p:grpSpPr>
          <a:xfrm>
            <a:off x="7589520" y="1510058"/>
            <a:ext cx="1569405" cy="757130"/>
            <a:chOff x="7589520" y="1510058"/>
            <a:chExt cx="1569405" cy="757130"/>
          </a:xfrm>
        </p:grpSpPr>
        <p:sp>
          <p:nvSpPr>
            <p:cNvPr id="374" name="Google Shape;374;p15"/>
            <p:cNvSpPr txBox="1"/>
            <p:nvPr/>
          </p:nvSpPr>
          <p:spPr>
            <a:xfrm>
              <a:off x="8029556" y="1510058"/>
              <a:ext cx="1129369" cy="584775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0000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5" name="Google Shape;375;p15"/>
            <p:cNvCxnSpPr/>
            <p:nvPr/>
          </p:nvCxnSpPr>
          <p:spPr>
            <a:xfrm flipH="1">
              <a:off x="7589520" y="2063695"/>
              <a:ext cx="407851" cy="203493"/>
            </a:xfrm>
            <a:prstGeom prst="straightConnector1">
              <a:avLst/>
            </a:prstGeom>
            <a:noFill/>
            <a:ln cap="flat" cmpd="sng" w="4445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76" name="Google Shape;376;p15"/>
          <p:cNvSpPr/>
          <p:nvPr/>
        </p:nvSpPr>
        <p:spPr>
          <a:xfrm>
            <a:off x="9228697" y="2143715"/>
            <a:ext cx="378823" cy="55681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77" name="Google Shape;377;p15"/>
          <p:cNvGrpSpPr/>
          <p:nvPr/>
        </p:nvGrpSpPr>
        <p:grpSpPr>
          <a:xfrm>
            <a:off x="9607520" y="1532702"/>
            <a:ext cx="1569405" cy="757130"/>
            <a:chOff x="7589520" y="1510058"/>
            <a:chExt cx="1569405" cy="757130"/>
          </a:xfrm>
        </p:grpSpPr>
        <p:sp>
          <p:nvSpPr>
            <p:cNvPr id="378" name="Google Shape;378;p15"/>
            <p:cNvSpPr txBox="1"/>
            <p:nvPr/>
          </p:nvSpPr>
          <p:spPr>
            <a:xfrm>
              <a:off x="8029556" y="1510058"/>
              <a:ext cx="1129369" cy="584775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1100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9" name="Google Shape;379;p15"/>
            <p:cNvCxnSpPr/>
            <p:nvPr/>
          </p:nvCxnSpPr>
          <p:spPr>
            <a:xfrm flipH="1">
              <a:off x="7589520" y="2063695"/>
              <a:ext cx="407851" cy="203493"/>
            </a:xfrm>
            <a:prstGeom prst="straightConnector1">
              <a:avLst/>
            </a:prstGeom>
            <a:noFill/>
            <a:ln cap="flat" cmpd="sng" w="4445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5" name="Google Shape;38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2825" y="1690150"/>
            <a:ext cx="6045949" cy="334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4"/>
          <p:cNvSpPr txBox="1"/>
          <p:nvPr>
            <p:ph idx="1" type="body"/>
          </p:nvPr>
        </p:nvSpPr>
        <p:spPr>
          <a:xfrm>
            <a:off x="952725" y="1307150"/>
            <a:ext cx="4747800" cy="53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60"/>
              <a:buChar char="•"/>
            </a:pPr>
            <a:r>
              <a:rPr b="1" lang="en-US" sz="19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Unicast vs. Multicast Bit (Last bit of the first byte)</a:t>
            </a:r>
            <a:endParaRPr sz="1300"/>
          </a:p>
          <a:p>
            <a:pPr indent="-25400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60"/>
              <a:buChar char="•"/>
            </a:pP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This bit decides </a:t>
            </a:r>
            <a:r>
              <a:rPr b="1" lang="en-US" sz="1700">
                <a:latin typeface="Gill Sans"/>
                <a:ea typeface="Gill Sans"/>
                <a:cs typeface="Gill Sans"/>
                <a:sym typeface="Gill Sans"/>
              </a:rPr>
              <a:t>who the MAC address is meant for</a:t>
            </a: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sz="1100"/>
          </a:p>
          <a:p>
            <a:pPr indent="-2794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25400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60"/>
              <a:buChar char="•"/>
            </a:pPr>
            <a:r>
              <a:rPr lang="en-US" sz="1900">
                <a:latin typeface="Gill Sans"/>
                <a:ea typeface="Gill Sans"/>
                <a:cs typeface="Gill Sans"/>
                <a:sym typeface="Gill Sans"/>
              </a:rPr>
              <a:t>If the </a:t>
            </a:r>
            <a:r>
              <a:rPr b="1" lang="en-US" sz="19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last bit of the first byte = 0</a:t>
            </a:r>
            <a:r>
              <a:rPr lang="en-US" sz="19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1900">
                <a:latin typeface="Gill Sans"/>
                <a:ea typeface="Gill Sans"/>
                <a:cs typeface="Gill Sans"/>
                <a:sym typeface="Gill Sans"/>
              </a:rPr>
              <a:t>the MAC address is </a:t>
            </a:r>
            <a:r>
              <a:rPr b="1" lang="en-US" sz="19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unicast</a:t>
            </a:r>
            <a:r>
              <a:rPr lang="en-US" sz="1900"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-25400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60"/>
              <a:buChar char="•"/>
            </a:pP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Means: the address belongs to one single device.</a:t>
            </a:r>
            <a:endParaRPr sz="1100"/>
          </a:p>
          <a:p>
            <a:pPr indent="-25400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3560"/>
              <a:buChar char="•"/>
            </a:pPr>
            <a:r>
              <a:rPr lang="en-US" sz="1900">
                <a:latin typeface="Gill Sans"/>
                <a:ea typeface="Gill Sans"/>
                <a:cs typeface="Gill Sans"/>
                <a:sym typeface="Gill Sans"/>
              </a:rPr>
              <a:t>If the </a:t>
            </a:r>
            <a:r>
              <a:rPr b="1" lang="en-US" sz="19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last bit of the first byte = 1</a:t>
            </a:r>
            <a:r>
              <a:rPr lang="en-US" sz="19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19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multicast.</a:t>
            </a:r>
            <a:r>
              <a:rPr lang="en-US" sz="19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-25400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3560"/>
              <a:buChar char="•"/>
            </a:pP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Means: the frame is delivered to a group of devices. </a:t>
            </a:r>
            <a:endParaRPr sz="33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7" name="Google Shape;387;p34"/>
          <p:cNvSpPr txBox="1"/>
          <p:nvPr/>
        </p:nvSpPr>
        <p:spPr>
          <a:xfrm>
            <a:off x="1484310" y="90534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88" name="Google Shape;38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6148" y="730107"/>
            <a:ext cx="5942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4" name="Google Shape;3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45" y="986271"/>
            <a:ext cx="5448300" cy="186721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5"/>
          <p:cNvSpPr txBox="1"/>
          <p:nvPr>
            <p:ph idx="1" type="body"/>
          </p:nvPr>
        </p:nvSpPr>
        <p:spPr>
          <a:xfrm>
            <a:off x="1119471" y="3015762"/>
            <a:ext cx="10499874" cy="377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4130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60"/>
              <a:buChar char="•"/>
            </a:pPr>
            <a:r>
              <a:rPr b="1" lang="en-US" sz="17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Globally Unique vs. Locally Administered (Second-last bit of the first byte)</a:t>
            </a:r>
            <a:endParaRPr sz="1100"/>
          </a:p>
          <a:p>
            <a:pPr indent="-24130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60"/>
              <a:buChar char="•"/>
            </a:pP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This bit decides </a:t>
            </a:r>
            <a:r>
              <a:rPr b="1" lang="en-US" sz="1700">
                <a:latin typeface="Gill Sans"/>
                <a:ea typeface="Gill Sans"/>
                <a:cs typeface="Gill Sans"/>
                <a:sym typeface="Gill Sans"/>
              </a:rPr>
              <a:t>who gave the address</a:t>
            </a: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sz="900"/>
          </a:p>
          <a:p>
            <a:pPr indent="-2794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24130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60"/>
              <a:buChar char="•"/>
            </a:pP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If </a:t>
            </a:r>
            <a:r>
              <a:rPr b="1" lang="en-US" sz="17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the bit = 0</a:t>
            </a: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17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assigned by the manufacturer</a:t>
            </a: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sz="1100"/>
          </a:p>
          <a:p>
            <a:pPr indent="-24130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60"/>
              <a:buChar char="•"/>
            </a:pPr>
            <a:r>
              <a:rPr lang="en-US" sz="1500">
                <a:latin typeface="Gill Sans"/>
                <a:ea typeface="Gill Sans"/>
                <a:cs typeface="Gill Sans"/>
                <a:sym typeface="Gill Sans"/>
              </a:rPr>
              <a:t>The MAC address is guaranteed to be </a:t>
            </a:r>
            <a:r>
              <a:rPr b="1" lang="en-US" sz="15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Globally Unique</a:t>
            </a:r>
            <a:r>
              <a:rPr lang="en-US" sz="1500"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 sz="900"/>
          </a:p>
          <a:p>
            <a:pPr indent="-24130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3360"/>
              <a:buChar char="•"/>
            </a:pP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If </a:t>
            </a:r>
            <a:r>
              <a:rPr b="1" lang="en-US" sz="17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the bit = 1</a:t>
            </a: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17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changed manually</a:t>
            </a:r>
            <a:r>
              <a:rPr lang="en-US" sz="17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1700">
                <a:latin typeface="Gill Sans"/>
                <a:ea typeface="Gill Sans"/>
                <a:cs typeface="Gill Sans"/>
                <a:sym typeface="Gill Sans"/>
              </a:rPr>
              <a:t>(by an admin or software).</a:t>
            </a:r>
            <a:endParaRPr sz="1100"/>
          </a:p>
          <a:p>
            <a:pPr indent="-24130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3360"/>
              <a:buChar char="•"/>
            </a:pPr>
            <a:r>
              <a:rPr lang="en-US" sz="1500">
                <a:latin typeface="Gill Sans"/>
                <a:ea typeface="Gill Sans"/>
                <a:cs typeface="Gill Sans"/>
                <a:sym typeface="Gill Sans"/>
              </a:rPr>
              <a:t>Used when you want to override the default.</a:t>
            </a:r>
            <a:endParaRPr sz="900"/>
          </a:p>
          <a:p>
            <a:pPr indent="-24130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3360"/>
              <a:buChar char="•"/>
            </a:pPr>
            <a:r>
              <a:rPr lang="en-US" sz="1500">
                <a:latin typeface="Gill Sans"/>
                <a:ea typeface="Gill Sans"/>
                <a:cs typeface="Gill Sans"/>
                <a:sym typeface="Gill Sans"/>
              </a:rPr>
              <a:t>This new address is not unique worldwide but works inside the local network.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6" name="Google Shape;396;p35"/>
          <p:cNvSpPr txBox="1"/>
          <p:nvPr/>
        </p:nvSpPr>
        <p:spPr>
          <a:xfrm>
            <a:off x="1484310" y="90534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97" name="Google Shape;39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6148" y="730107"/>
            <a:ext cx="5942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403" name="Google Shape;4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4502" y="1151388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4"/>
          <p:cNvSpPr txBox="1"/>
          <p:nvPr>
            <p:ph type="title"/>
          </p:nvPr>
        </p:nvSpPr>
        <p:spPr>
          <a:xfrm>
            <a:off x="2482082" y="9490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or LAN  or Physical or Ethernet addresses (more)</a:t>
            </a:r>
            <a:endParaRPr/>
          </a:p>
        </p:txBody>
      </p:sp>
      <p:sp>
        <p:nvSpPr>
          <p:cNvPr id="405" name="Google Shape;405;p14"/>
          <p:cNvSpPr txBox="1"/>
          <p:nvPr>
            <p:ph idx="1" type="body"/>
          </p:nvPr>
        </p:nvSpPr>
        <p:spPr>
          <a:xfrm>
            <a:off x="1608999" y="1568010"/>
            <a:ext cx="10018713" cy="5195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48 bits MAC address (for most LANs) burned in NIC ROM, also sometimes software settable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 allocation administered by IEEE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Manufacturer buys portion of MAC address space (to assure uniqueness)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Analogy: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address: like </a:t>
            </a:r>
            <a:r>
              <a:rPr lang="en-US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National ID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 address: like </a:t>
            </a:r>
            <a:r>
              <a:rPr lang="en-US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Postal Address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3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6" name="Google Shape;406;p1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Types of 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412" name="Google Shape;4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16"/>
          <p:cNvGrpSpPr/>
          <p:nvPr/>
        </p:nvGrpSpPr>
        <p:grpSpPr>
          <a:xfrm>
            <a:off x="3555082" y="1150287"/>
            <a:ext cx="5081844" cy="5418667"/>
            <a:chOff x="1523079" y="-1"/>
            <a:chExt cx="5081841" cy="5418667"/>
          </a:xfrm>
        </p:grpSpPr>
        <p:sp>
          <p:nvSpPr>
            <p:cNvPr id="414" name="Google Shape;414;p16"/>
            <p:cNvSpPr/>
            <p:nvPr/>
          </p:nvSpPr>
          <p:spPr>
            <a:xfrm>
              <a:off x="2552625" y="2709333"/>
              <a:ext cx="675382" cy="128693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6"/>
            <p:cNvSpPr txBox="1"/>
            <p:nvPr/>
          </p:nvSpPr>
          <p:spPr>
            <a:xfrm>
              <a:off x="2853982" y="3316465"/>
              <a:ext cx="72669" cy="726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2552625" y="2663613"/>
              <a:ext cx="675382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6"/>
            <p:cNvSpPr txBox="1"/>
            <p:nvPr/>
          </p:nvSpPr>
          <p:spPr>
            <a:xfrm>
              <a:off x="2873432" y="2692448"/>
              <a:ext cx="33769" cy="33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2552625" y="1422400"/>
              <a:ext cx="675382" cy="1286933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6"/>
            <p:cNvSpPr txBox="1"/>
            <p:nvPr/>
          </p:nvSpPr>
          <p:spPr>
            <a:xfrm>
              <a:off x="2853982" y="2029532"/>
              <a:ext cx="72669" cy="726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0" name="Google Shape;420;p16"/>
            <p:cNvSpPr/>
            <p:nvPr/>
          </p:nvSpPr>
          <p:spPr>
            <a:xfrm rot="-5400000">
              <a:off x="-671481" y="2194560"/>
              <a:ext cx="5418667" cy="1029546"/>
            </a:xfrm>
            <a:prstGeom prst="rect">
              <a:avLst/>
            </a:prstGeom>
            <a:solidFill>
              <a:srgbClr val="2FACE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6"/>
            <p:cNvSpPr txBox="1"/>
            <p:nvPr/>
          </p:nvSpPr>
          <p:spPr>
            <a:xfrm rot="-5400000">
              <a:off x="-671481" y="2194560"/>
              <a:ext cx="5418667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275" lIns="41275" spcFirstLastPara="1" rIns="41275" wrap="square" tIns="41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500"/>
                <a:buFont typeface="Corbel"/>
                <a:buNone/>
              </a:pPr>
              <a:r>
                <a:rPr b="0" i="0" lang="en-US" sz="65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MAC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6"/>
            <p:cNvSpPr/>
            <p:nvPr/>
          </p:nvSpPr>
          <p:spPr>
            <a:xfrm>
              <a:off x="3228008" y="907626"/>
              <a:ext cx="3376913" cy="1029546"/>
            </a:xfrm>
            <a:prstGeom prst="rect">
              <a:avLst/>
            </a:prstGeom>
            <a:solidFill>
              <a:srgbClr val="FFFF00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6"/>
            <p:cNvSpPr txBox="1"/>
            <p:nvPr/>
          </p:nvSpPr>
          <p:spPr>
            <a:xfrm>
              <a:off x="3228008" y="907626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Unicast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3228008" y="2194560"/>
              <a:ext cx="3376913" cy="1029546"/>
            </a:xfrm>
            <a:prstGeom prst="rect">
              <a:avLst/>
            </a:prstGeom>
            <a:solidFill>
              <a:srgbClr val="EDC38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6"/>
            <p:cNvSpPr txBox="1"/>
            <p:nvPr/>
          </p:nvSpPr>
          <p:spPr>
            <a:xfrm>
              <a:off x="3228008" y="2194560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Multicast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3228008" y="3481493"/>
              <a:ext cx="3376913" cy="1029546"/>
            </a:xfrm>
            <a:prstGeom prst="rect">
              <a:avLst/>
            </a:prstGeom>
            <a:solidFill>
              <a:srgbClr val="B1DB93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6"/>
            <p:cNvSpPr txBox="1"/>
            <p:nvPr/>
          </p:nvSpPr>
          <p:spPr>
            <a:xfrm>
              <a:off x="3228008" y="3481493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Broadcast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MAC Addresses</a:t>
            </a:r>
            <a:endParaRPr/>
          </a:p>
        </p:txBody>
      </p:sp>
      <p:sp>
        <p:nvSpPr>
          <p:cNvPr id="434" name="Google Shape;434;p17"/>
          <p:cNvSpPr txBox="1"/>
          <p:nvPr>
            <p:ph idx="1" type="body"/>
          </p:nvPr>
        </p:nvSpPr>
        <p:spPr>
          <a:xfrm>
            <a:off x="1484300" y="1114426"/>
            <a:ext cx="105915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413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60"/>
              <a:buChar char="•"/>
            </a:pPr>
            <a:r>
              <a:rPr lang="en-US" sz="2100">
                <a:solidFill>
                  <a:srgbClr val="000000"/>
                </a:solidFill>
              </a:rPr>
              <a:t>The unique address used when a frame is sent from a single transmitting device to a single destination device.</a:t>
            </a:r>
            <a:endParaRPr sz="2100"/>
          </a:p>
        </p:txBody>
      </p:sp>
      <p:pic>
        <p:nvPicPr>
          <p:cNvPr id="435" name="Google Shape;4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2685" y="2126176"/>
            <a:ext cx="6781629" cy="45065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436" name="Google Shape;4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"/>
          <p:cNvSpPr txBox="1"/>
          <p:nvPr>
            <p:ph idx="1" type="body"/>
          </p:nvPr>
        </p:nvSpPr>
        <p:spPr>
          <a:xfrm>
            <a:off x="1513336" y="1114427"/>
            <a:ext cx="10018713" cy="1454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solidFill>
                  <a:srgbClr val="000000"/>
                </a:solidFill>
              </a:rPr>
              <a:t>“ 01-00-5E” in an IPv4 multicast packet 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/>
          </a:p>
        </p:txBody>
      </p:sp>
      <p:pic>
        <p:nvPicPr>
          <p:cNvPr id="443" name="Google Shape;4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8341" y="2032347"/>
            <a:ext cx="6739041" cy="463515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8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MAC Addresses</a:t>
            </a:r>
            <a:endParaRPr/>
          </a:p>
        </p:txBody>
      </p:sp>
      <p:pic>
        <p:nvPicPr>
          <p:cNvPr descr="underline_base" id="445" name="Google Shape;4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9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 MAC Address</a:t>
            </a:r>
            <a:endParaRPr/>
          </a:p>
        </p:txBody>
      </p:sp>
      <p:sp>
        <p:nvSpPr>
          <p:cNvPr id="452" name="Google Shape;452;p19"/>
          <p:cNvSpPr txBox="1"/>
          <p:nvPr>
            <p:ph idx="1" type="body"/>
          </p:nvPr>
        </p:nvSpPr>
        <p:spPr>
          <a:xfrm>
            <a:off x="1484308" y="1332140"/>
            <a:ext cx="10018713" cy="101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4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000000"/>
                </a:solidFill>
              </a:rPr>
              <a:t>A destination MAC address of FF-FF-FF-FF-FF-FF</a:t>
            </a:r>
            <a:endParaRPr/>
          </a:p>
          <a:p>
            <a:pPr indent="-285747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000000"/>
                </a:solidFill>
              </a:rPr>
              <a:t>To be processed by all devices in the network</a:t>
            </a:r>
            <a:endParaRPr/>
          </a:p>
          <a:p>
            <a:pPr indent="-47274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pic>
        <p:nvPicPr>
          <p:cNvPr descr="underline_base" id="453" name="Google Shape;4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8450" y="2272950"/>
            <a:ext cx="7039626" cy="43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"/>
          <p:cNvSpPr txBox="1"/>
          <p:nvPr>
            <p:ph type="title"/>
          </p:nvPr>
        </p:nvSpPr>
        <p:spPr>
          <a:xfrm>
            <a:off x="1466600" y="6351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LAN addresses </a:t>
            </a:r>
            <a:endParaRPr/>
          </a:p>
        </p:txBody>
      </p:sp>
      <p:sp>
        <p:nvSpPr>
          <p:cNvPr id="462" name="Google Shape;462;p20"/>
          <p:cNvSpPr txBox="1"/>
          <p:nvPr/>
        </p:nvSpPr>
        <p:spPr>
          <a:xfrm>
            <a:off x="2109803" y="1309700"/>
            <a:ext cx="893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adapter on LAN has unique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LAN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address (M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 addr)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"/>
          <p:cNvSpPr txBox="1"/>
          <p:nvPr/>
        </p:nvSpPr>
        <p:spPr>
          <a:xfrm>
            <a:off x="8442325" y="3890963"/>
            <a:ext cx="958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3676650" y="3262313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65" name="Google Shape;465;p20"/>
          <p:cNvCxnSpPr/>
          <p:nvPr/>
        </p:nvCxnSpPr>
        <p:spPr>
          <a:xfrm>
            <a:off x="2824163" y="3940175"/>
            <a:ext cx="90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20"/>
          <p:cNvCxnSpPr/>
          <p:nvPr/>
        </p:nvCxnSpPr>
        <p:spPr>
          <a:xfrm>
            <a:off x="4833938" y="2808289"/>
            <a:ext cx="0" cy="6556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20"/>
          <p:cNvCxnSpPr/>
          <p:nvPr/>
        </p:nvCxnSpPr>
        <p:spPr>
          <a:xfrm rot="10800000">
            <a:off x="5697539" y="4108450"/>
            <a:ext cx="7969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20"/>
          <p:cNvCxnSpPr/>
          <p:nvPr/>
        </p:nvCxnSpPr>
        <p:spPr>
          <a:xfrm rot="10800000">
            <a:off x="4795838" y="5113338"/>
            <a:ext cx="0" cy="438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20"/>
          <p:cNvSpPr txBox="1"/>
          <p:nvPr/>
        </p:nvSpPr>
        <p:spPr>
          <a:xfrm>
            <a:off x="5154614" y="2513013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20"/>
          <p:cNvCxnSpPr/>
          <p:nvPr/>
        </p:nvCxnSpPr>
        <p:spPr>
          <a:xfrm rot="10800000">
            <a:off x="4973639" y="2652713"/>
            <a:ext cx="257175" cy="1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1" name="Google Shape;471;p20"/>
          <p:cNvCxnSpPr/>
          <p:nvPr/>
        </p:nvCxnSpPr>
        <p:spPr>
          <a:xfrm rot="10800000">
            <a:off x="6523038" y="4289426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2" name="Google Shape;472;p20"/>
          <p:cNvSpPr txBox="1"/>
          <p:nvPr/>
        </p:nvSpPr>
        <p:spPr>
          <a:xfrm>
            <a:off x="6003925" y="4662488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20"/>
          <p:cNvCxnSpPr/>
          <p:nvPr/>
        </p:nvCxnSpPr>
        <p:spPr>
          <a:xfrm rot="10800000">
            <a:off x="4899026" y="5667375"/>
            <a:ext cx="3603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4" name="Google Shape;474;p20"/>
          <p:cNvSpPr txBox="1"/>
          <p:nvPr/>
        </p:nvSpPr>
        <p:spPr>
          <a:xfrm>
            <a:off x="5321301" y="5551488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20"/>
          <p:cNvCxnSpPr/>
          <p:nvPr/>
        </p:nvCxnSpPr>
        <p:spPr>
          <a:xfrm rot="10800000">
            <a:off x="2760663" y="4095751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6" name="Google Shape;476;p20"/>
          <p:cNvSpPr txBox="1"/>
          <p:nvPr/>
        </p:nvSpPr>
        <p:spPr>
          <a:xfrm>
            <a:off x="1843088" y="4470400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0"/>
          <p:cNvSpPr txBox="1"/>
          <p:nvPr/>
        </p:nvSpPr>
        <p:spPr>
          <a:xfrm>
            <a:off x="4160838" y="3621089"/>
            <a:ext cx="1085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(wired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wireless)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8251825" y="3941764"/>
            <a:ext cx="160338" cy="255587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79" name="Google Shape;479;p20"/>
          <p:cNvGrpSpPr/>
          <p:nvPr/>
        </p:nvGrpSpPr>
        <p:grpSpPr>
          <a:xfrm>
            <a:off x="1947864" y="3562351"/>
            <a:ext cx="922337" cy="658813"/>
            <a:chOff x="267" y="2244"/>
            <a:chExt cx="581" cy="415"/>
          </a:xfrm>
        </p:grpSpPr>
        <p:sp>
          <p:nvSpPr>
            <p:cNvPr id="480" name="Google Shape;480;p20"/>
            <p:cNvSpPr/>
            <p:nvPr/>
          </p:nvSpPr>
          <p:spPr>
            <a:xfrm rot="-5400000">
              <a:off x="717" y="2400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481" name="Google Shape;481;p20"/>
            <p:cNvGrpSpPr/>
            <p:nvPr/>
          </p:nvGrpSpPr>
          <p:grpSpPr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482" name="Google Shape;482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3" name="Google Shape;483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484" name="Google Shape;484;p20"/>
          <p:cNvGrpSpPr/>
          <p:nvPr/>
        </p:nvGrpSpPr>
        <p:grpSpPr>
          <a:xfrm>
            <a:off x="4268788" y="5559425"/>
            <a:ext cx="812800" cy="833438"/>
            <a:chOff x="1729" y="3502"/>
            <a:chExt cx="512" cy="525"/>
          </a:xfrm>
        </p:grpSpPr>
        <p:sp>
          <p:nvSpPr>
            <p:cNvPr id="485" name="Google Shape;485;p20"/>
            <p:cNvSpPr/>
            <p:nvPr/>
          </p:nvSpPr>
          <p:spPr>
            <a:xfrm>
              <a:off x="2021" y="3502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486" name="Google Shape;486;p20"/>
            <p:cNvGrpSpPr/>
            <p:nvPr/>
          </p:nvGrpSpPr>
          <p:grpSpPr>
            <a:xfrm>
              <a:off x="1729" y="3612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487" name="Google Shape;487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8" name="Google Shape;488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489" name="Google Shape;489;p20"/>
          <p:cNvGrpSpPr/>
          <p:nvPr/>
        </p:nvGrpSpPr>
        <p:grpSpPr>
          <a:xfrm>
            <a:off x="4294188" y="2025650"/>
            <a:ext cx="812800" cy="776288"/>
            <a:chOff x="1745" y="1276"/>
            <a:chExt cx="512" cy="489"/>
          </a:xfrm>
        </p:grpSpPr>
        <p:sp>
          <p:nvSpPr>
            <p:cNvPr id="490" name="Google Shape;490;p20"/>
            <p:cNvSpPr/>
            <p:nvPr/>
          </p:nvSpPr>
          <p:spPr>
            <a:xfrm>
              <a:off x="2039" y="1604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491" name="Google Shape;491;p20"/>
            <p:cNvGrpSpPr/>
            <p:nvPr/>
          </p:nvGrpSpPr>
          <p:grpSpPr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492" name="Google Shape;492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3" name="Google Shape;493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494" name="Google Shape;494;p20"/>
          <p:cNvGrpSpPr/>
          <p:nvPr/>
        </p:nvGrpSpPr>
        <p:grpSpPr>
          <a:xfrm>
            <a:off x="6392863" y="3836988"/>
            <a:ext cx="812800" cy="658812"/>
            <a:chOff x="3067" y="2417"/>
            <a:chExt cx="512" cy="415"/>
          </a:xfrm>
        </p:grpSpPr>
        <p:sp>
          <p:nvSpPr>
            <p:cNvPr id="495" name="Google Shape;495;p20"/>
            <p:cNvSpPr/>
            <p:nvPr/>
          </p:nvSpPr>
          <p:spPr>
            <a:xfrm rot="-5400000">
              <a:off x="3162" y="2514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496" name="Google Shape;496;p20"/>
            <p:cNvGrpSpPr/>
            <p:nvPr/>
          </p:nvGrpSpPr>
          <p:grpSpPr>
            <a:xfrm>
              <a:off x="3067" y="2417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497" name="Google Shape;497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8" name="Google Shape;498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pic>
        <p:nvPicPr>
          <p:cNvPr descr="underline_base" id="499" name="Google Shape;4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188" y="953224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7a6e53ded_0_10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7" name="Google Shape;507;g3e7a6e53ded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500" y="326175"/>
            <a:ext cx="10900249" cy="631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513" name="Google Shape;5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1"/>
          <p:cNvSpPr txBox="1"/>
          <p:nvPr>
            <p:ph type="title"/>
          </p:nvPr>
        </p:nvSpPr>
        <p:spPr>
          <a:xfrm>
            <a:off x="2025650" y="241300"/>
            <a:ext cx="81915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ARP: Address resolution protocol</a:t>
            </a:r>
            <a:endParaRPr/>
          </a:p>
        </p:txBody>
      </p:sp>
      <p:sp>
        <p:nvSpPr>
          <p:cNvPr id="515" name="Google Shape;515;p21"/>
          <p:cNvSpPr txBox="1"/>
          <p:nvPr>
            <p:ph idx="1" type="body"/>
          </p:nvPr>
        </p:nvSpPr>
        <p:spPr>
          <a:xfrm>
            <a:off x="7061199" y="1298575"/>
            <a:ext cx="4789475" cy="5318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i="1" lang="en-US" sz="3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ARP table</a:t>
            </a:r>
            <a:endParaRPr sz="3400"/>
          </a:p>
          <a:p>
            <a:pPr indent="-3238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408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IP</a:t>
            </a:r>
            <a:endParaRPr sz="3000"/>
          </a:p>
          <a:p>
            <a:pPr indent="-3238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408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sz="3000"/>
          </a:p>
          <a:p>
            <a:pPr indent="-3238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408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TTL (Time To Live) Or Age</a:t>
            </a:r>
            <a:endParaRPr sz="3000"/>
          </a:p>
          <a:p>
            <a:pPr indent="-323850" lvl="2" marL="12001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50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time after which address mapping will be forgotten (typically 20 min)</a:t>
            </a:r>
            <a:endParaRPr sz="2600"/>
          </a:p>
        </p:txBody>
      </p:sp>
      <p:grpSp>
        <p:nvGrpSpPr>
          <p:cNvPr id="516" name="Google Shape;516;p21"/>
          <p:cNvGrpSpPr/>
          <p:nvPr/>
        </p:nvGrpSpPr>
        <p:grpSpPr>
          <a:xfrm>
            <a:off x="1930399" y="1298575"/>
            <a:ext cx="4789475" cy="1277938"/>
            <a:chOff x="145" y="937"/>
            <a:chExt cx="2612" cy="805"/>
          </a:xfrm>
        </p:grpSpPr>
        <p:sp>
          <p:nvSpPr>
            <p:cNvPr id="517" name="Google Shape;517;p21"/>
            <p:cNvSpPr txBox="1"/>
            <p:nvPr/>
          </p:nvSpPr>
          <p:spPr>
            <a:xfrm>
              <a:off x="232" y="947"/>
              <a:ext cx="2525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Question: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how to determine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interface’s MAC address, knowing its IP address?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145" y="937"/>
              <a:ext cx="2609" cy="805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19" name="Google Shape;519;p21"/>
          <p:cNvSpPr/>
          <p:nvPr/>
        </p:nvSpPr>
        <p:spPr>
          <a:xfrm>
            <a:off x="3324226" y="3944939"/>
            <a:ext cx="1393825" cy="1525587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20" name="Google Shape;520;p21"/>
          <p:cNvCxnSpPr/>
          <p:nvPr/>
        </p:nvCxnSpPr>
        <p:spPr>
          <a:xfrm>
            <a:off x="2881313" y="4449763"/>
            <a:ext cx="4762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21"/>
          <p:cNvCxnSpPr/>
          <p:nvPr/>
        </p:nvCxnSpPr>
        <p:spPr>
          <a:xfrm>
            <a:off x="4111625" y="3606800"/>
            <a:ext cx="0" cy="4889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p21"/>
          <p:cNvCxnSpPr/>
          <p:nvPr/>
        </p:nvCxnSpPr>
        <p:spPr>
          <a:xfrm rot="10800000">
            <a:off x="4700589" y="4575175"/>
            <a:ext cx="4476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p21"/>
          <p:cNvCxnSpPr/>
          <p:nvPr/>
        </p:nvCxnSpPr>
        <p:spPr>
          <a:xfrm rot="10800000">
            <a:off x="4086225" y="5322889"/>
            <a:ext cx="0" cy="327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1"/>
          <p:cNvSpPr txBox="1"/>
          <p:nvPr/>
        </p:nvSpPr>
        <p:spPr>
          <a:xfrm>
            <a:off x="4330701" y="3386138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5" name="Google Shape;525;p21"/>
          <p:cNvCxnSpPr/>
          <p:nvPr/>
        </p:nvCxnSpPr>
        <p:spPr>
          <a:xfrm rot="10800000">
            <a:off x="4202114" y="3538538"/>
            <a:ext cx="2047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6" name="Google Shape;526;p21"/>
          <p:cNvCxnSpPr/>
          <p:nvPr/>
        </p:nvCxnSpPr>
        <p:spPr>
          <a:xfrm rot="10800000">
            <a:off x="5157788" y="4651376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7" name="Google Shape;527;p21"/>
          <p:cNvSpPr txBox="1"/>
          <p:nvPr/>
        </p:nvSpPr>
        <p:spPr>
          <a:xfrm>
            <a:off x="4711700" y="4953000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" name="Google Shape;528;p21"/>
          <p:cNvCxnSpPr/>
          <p:nvPr/>
        </p:nvCxnSpPr>
        <p:spPr>
          <a:xfrm rot="10800000">
            <a:off x="4156076" y="5735638"/>
            <a:ext cx="2460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9" name="Google Shape;529;p21"/>
          <p:cNvSpPr txBox="1"/>
          <p:nvPr/>
        </p:nvSpPr>
        <p:spPr>
          <a:xfrm>
            <a:off x="4340226" y="5578475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0" name="Google Shape;530;p21"/>
          <p:cNvCxnSpPr/>
          <p:nvPr/>
        </p:nvCxnSpPr>
        <p:spPr>
          <a:xfrm rot="10800000">
            <a:off x="2844800" y="4552950"/>
            <a:ext cx="0" cy="3317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1" name="Google Shape;531;p21"/>
          <p:cNvSpPr txBox="1"/>
          <p:nvPr/>
        </p:nvSpPr>
        <p:spPr>
          <a:xfrm>
            <a:off x="1690688" y="4811713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1"/>
          <p:cNvSpPr txBox="1"/>
          <p:nvPr/>
        </p:nvSpPr>
        <p:spPr>
          <a:xfrm>
            <a:off x="3536950" y="4430713"/>
            <a:ext cx="819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1"/>
          <p:cNvSpPr txBox="1"/>
          <p:nvPr/>
        </p:nvSpPr>
        <p:spPr>
          <a:xfrm>
            <a:off x="1887538" y="366553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4" name="Google Shape;534;p21"/>
          <p:cNvCxnSpPr/>
          <p:nvPr/>
        </p:nvCxnSpPr>
        <p:spPr>
          <a:xfrm>
            <a:off x="2533650" y="3921126"/>
            <a:ext cx="0" cy="246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5" name="Google Shape;535;p21"/>
          <p:cNvSpPr txBox="1"/>
          <p:nvPr/>
        </p:nvSpPr>
        <p:spPr>
          <a:xfrm>
            <a:off x="4468813" y="298767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137.196.7.78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6" name="Google Shape;536;p21"/>
          <p:cNvCxnSpPr/>
          <p:nvPr/>
        </p:nvCxnSpPr>
        <p:spPr>
          <a:xfrm rot="10800000">
            <a:off x="4298950" y="3125788"/>
            <a:ext cx="2349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7" name="Google Shape;537;p21"/>
          <p:cNvCxnSpPr/>
          <p:nvPr/>
        </p:nvCxnSpPr>
        <p:spPr>
          <a:xfrm>
            <a:off x="5478463" y="4121151"/>
            <a:ext cx="0" cy="246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8" name="Google Shape;538;p21"/>
          <p:cNvSpPr txBox="1"/>
          <p:nvPr/>
        </p:nvSpPr>
        <p:spPr>
          <a:xfrm>
            <a:off x="4868863" y="388778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21"/>
          <p:cNvCxnSpPr/>
          <p:nvPr/>
        </p:nvCxnSpPr>
        <p:spPr>
          <a:xfrm>
            <a:off x="3660776" y="6002338"/>
            <a:ext cx="231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0" name="Google Shape;540;p21"/>
          <p:cNvSpPr txBox="1"/>
          <p:nvPr/>
        </p:nvSpPr>
        <p:spPr>
          <a:xfrm>
            <a:off x="2479676" y="5848350"/>
            <a:ext cx="12176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1"/>
          <p:cNvSpPr/>
          <p:nvPr/>
        </p:nvSpPr>
        <p:spPr>
          <a:xfrm rot="-5400000">
            <a:off x="5183982" y="4482307"/>
            <a:ext cx="127000" cy="1952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42" name="Google Shape;542;p21"/>
          <p:cNvGrpSpPr/>
          <p:nvPr/>
        </p:nvGrpSpPr>
        <p:grpSpPr>
          <a:xfrm>
            <a:off x="5086350" y="4357688"/>
            <a:ext cx="598488" cy="520700"/>
            <a:chOff x="-44" y="1473"/>
            <a:chExt cx="981" cy="1105"/>
          </a:xfrm>
        </p:grpSpPr>
        <p:pic>
          <p:nvPicPr>
            <p:cNvPr descr="desktop_computer_stylized_medium" id="543" name="Google Shape;54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545" name="Google Shape;545;p21"/>
          <p:cNvGrpSpPr/>
          <p:nvPr/>
        </p:nvGrpSpPr>
        <p:grpSpPr>
          <a:xfrm>
            <a:off x="2181226" y="4160838"/>
            <a:ext cx="709613" cy="520700"/>
            <a:chOff x="267" y="2244"/>
            <a:chExt cx="581" cy="415"/>
          </a:xfrm>
        </p:grpSpPr>
        <p:sp>
          <p:nvSpPr>
            <p:cNvPr id="546" name="Google Shape;546;p21"/>
            <p:cNvSpPr/>
            <p:nvPr/>
          </p:nvSpPr>
          <p:spPr>
            <a:xfrm rot="-5400000">
              <a:off x="717" y="2400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47" name="Google Shape;547;p21"/>
            <p:cNvGrpSpPr/>
            <p:nvPr/>
          </p:nvGrpSpPr>
          <p:grpSpPr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48" name="Google Shape;548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9" name="Google Shape;549;p2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50" name="Google Shape;550;p21"/>
          <p:cNvGrpSpPr/>
          <p:nvPr/>
        </p:nvGrpSpPr>
        <p:grpSpPr>
          <a:xfrm>
            <a:off x="3681414" y="3048000"/>
            <a:ext cx="631825" cy="554038"/>
            <a:chOff x="1745" y="1276"/>
            <a:chExt cx="512" cy="489"/>
          </a:xfrm>
        </p:grpSpPr>
        <p:sp>
          <p:nvSpPr>
            <p:cNvPr id="551" name="Google Shape;551;p21"/>
            <p:cNvSpPr/>
            <p:nvPr/>
          </p:nvSpPr>
          <p:spPr>
            <a:xfrm>
              <a:off x="2040" y="1604"/>
              <a:ext cx="100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52" name="Google Shape;552;p21"/>
            <p:cNvGrpSpPr/>
            <p:nvPr/>
          </p:nvGrpSpPr>
          <p:grpSpPr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53" name="Google Shape;553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4" name="Google Shape;554;p2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555" name="Google Shape;555;p21"/>
          <p:cNvSpPr/>
          <p:nvPr/>
        </p:nvSpPr>
        <p:spPr>
          <a:xfrm>
            <a:off x="4025901" y="5645151"/>
            <a:ext cx="123825" cy="1825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56" name="Google Shape;556;p21"/>
          <p:cNvGrpSpPr/>
          <p:nvPr/>
        </p:nvGrpSpPr>
        <p:grpSpPr>
          <a:xfrm>
            <a:off x="3690938" y="5784850"/>
            <a:ext cx="584200" cy="469900"/>
            <a:chOff x="-44" y="1473"/>
            <a:chExt cx="981" cy="1105"/>
          </a:xfrm>
        </p:grpSpPr>
        <p:pic>
          <p:nvPicPr>
            <p:cNvPr descr="desktop_computer_stylized_medium" id="557" name="Google Shape;557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59" name="Google Shape;559;p2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2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ARP Tables</a:t>
            </a:r>
            <a:endParaRPr/>
          </a:p>
        </p:txBody>
      </p:sp>
      <p:pic>
        <p:nvPicPr>
          <p:cNvPr id="565" name="Google Shape;5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6538" y="1097699"/>
            <a:ext cx="6672720" cy="2782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03271"/>
            <a:ext cx="10668000" cy="170576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2"/>
          <p:cNvSpPr txBox="1"/>
          <p:nvPr/>
        </p:nvSpPr>
        <p:spPr>
          <a:xfrm>
            <a:off x="3933372" y="3880051"/>
            <a:ext cx="19449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Host or 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2"/>
          <p:cNvSpPr txBox="1"/>
          <p:nvPr/>
        </p:nvSpPr>
        <p:spPr>
          <a:xfrm>
            <a:off x="4020457" y="6139183"/>
            <a:ext cx="19449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569" name="Google Shape;56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576" name="Google Shape;5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3"/>
          <p:cNvSpPr txBox="1"/>
          <p:nvPr>
            <p:ph type="title"/>
          </p:nvPr>
        </p:nvSpPr>
        <p:spPr>
          <a:xfrm>
            <a:off x="2025650" y="241300"/>
            <a:ext cx="81915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ARP: address resolution protocol</a:t>
            </a:r>
            <a:endParaRPr/>
          </a:p>
        </p:txBody>
      </p:sp>
      <p:cxnSp>
        <p:nvCxnSpPr>
          <p:cNvPr id="578" name="Google Shape;578;p23"/>
          <p:cNvCxnSpPr/>
          <p:nvPr/>
        </p:nvCxnSpPr>
        <p:spPr>
          <a:xfrm>
            <a:off x="3897936" y="5134567"/>
            <a:ext cx="346334" cy="800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9" name="Google Shape;579;p23"/>
          <p:cNvSpPr/>
          <p:nvPr/>
        </p:nvSpPr>
        <p:spPr>
          <a:xfrm rot="-5400000">
            <a:off x="5821580" y="3442722"/>
            <a:ext cx="127000" cy="1952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4455394" y="4813878"/>
            <a:ext cx="123825" cy="1825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81" name="Google Shape;581;p23"/>
          <p:cNvGrpSpPr/>
          <p:nvPr/>
        </p:nvGrpSpPr>
        <p:grpSpPr>
          <a:xfrm>
            <a:off x="1565996" y="1689100"/>
            <a:ext cx="5804621" cy="3870325"/>
            <a:chOff x="1690688" y="2987675"/>
            <a:chExt cx="4760912" cy="3267075"/>
          </a:xfrm>
        </p:grpSpPr>
        <p:cxnSp>
          <p:nvCxnSpPr>
            <p:cNvPr id="582" name="Google Shape;582;p23"/>
            <p:cNvCxnSpPr/>
            <p:nvPr/>
          </p:nvCxnSpPr>
          <p:spPr>
            <a:xfrm>
              <a:off x="2881313" y="4449763"/>
              <a:ext cx="4762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3" name="Google Shape;583;p23"/>
            <p:cNvCxnSpPr/>
            <p:nvPr/>
          </p:nvCxnSpPr>
          <p:spPr>
            <a:xfrm rot="10800000">
              <a:off x="4700589" y="4575175"/>
              <a:ext cx="4476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23"/>
            <p:cNvCxnSpPr/>
            <p:nvPr/>
          </p:nvCxnSpPr>
          <p:spPr>
            <a:xfrm rot="10800000">
              <a:off x="4086225" y="5322889"/>
              <a:ext cx="0" cy="327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85" name="Google Shape;585;p23"/>
            <p:cNvGrpSpPr/>
            <p:nvPr/>
          </p:nvGrpSpPr>
          <p:grpSpPr>
            <a:xfrm>
              <a:off x="1690688" y="2987675"/>
              <a:ext cx="4760912" cy="3267075"/>
              <a:chOff x="1690688" y="2987675"/>
              <a:chExt cx="4760912" cy="3267075"/>
            </a:xfrm>
          </p:grpSpPr>
          <p:cxnSp>
            <p:nvCxnSpPr>
              <p:cNvPr id="586" name="Google Shape;586;p23"/>
              <p:cNvCxnSpPr/>
              <p:nvPr/>
            </p:nvCxnSpPr>
            <p:spPr>
              <a:xfrm rot="10800000">
                <a:off x="4202114" y="3538538"/>
                <a:ext cx="20478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87" name="Google Shape;587;p23"/>
              <p:cNvCxnSpPr/>
              <p:nvPr/>
            </p:nvCxnSpPr>
            <p:spPr>
              <a:xfrm rot="10800000">
                <a:off x="5157788" y="4651376"/>
                <a:ext cx="0" cy="373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88" name="Google Shape;588;p23"/>
              <p:cNvCxnSpPr/>
              <p:nvPr/>
            </p:nvCxnSpPr>
            <p:spPr>
              <a:xfrm rot="10800000">
                <a:off x="4156076" y="5735638"/>
                <a:ext cx="246063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89" name="Google Shape;589;p23"/>
              <p:cNvCxnSpPr/>
              <p:nvPr/>
            </p:nvCxnSpPr>
            <p:spPr>
              <a:xfrm rot="10800000">
                <a:off x="2844800" y="4552950"/>
                <a:ext cx="0" cy="331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90" name="Google Shape;590;p23"/>
              <p:cNvCxnSpPr/>
              <p:nvPr/>
            </p:nvCxnSpPr>
            <p:spPr>
              <a:xfrm>
                <a:off x="2533650" y="3921126"/>
                <a:ext cx="0" cy="246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91" name="Google Shape;591;p23"/>
              <p:cNvCxnSpPr/>
              <p:nvPr/>
            </p:nvCxnSpPr>
            <p:spPr>
              <a:xfrm rot="10800000">
                <a:off x="4298950" y="3125788"/>
                <a:ext cx="2349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92" name="Google Shape;592;p23"/>
              <p:cNvCxnSpPr/>
              <p:nvPr/>
            </p:nvCxnSpPr>
            <p:spPr>
              <a:xfrm>
                <a:off x="5478463" y="4121151"/>
                <a:ext cx="0" cy="246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grpSp>
            <p:nvGrpSpPr>
              <p:cNvPr id="593" name="Google Shape;593;p23"/>
              <p:cNvGrpSpPr/>
              <p:nvPr/>
            </p:nvGrpSpPr>
            <p:grpSpPr>
              <a:xfrm>
                <a:off x="1690688" y="2987675"/>
                <a:ext cx="4760912" cy="3267075"/>
                <a:chOff x="1690688" y="2987675"/>
                <a:chExt cx="4760912" cy="3267075"/>
              </a:xfrm>
            </p:grpSpPr>
            <p:sp>
              <p:nvSpPr>
                <p:cNvPr id="594" name="Google Shape;594;p23"/>
                <p:cNvSpPr/>
                <p:nvPr/>
              </p:nvSpPr>
              <p:spPr>
                <a:xfrm>
                  <a:off x="3324226" y="3944939"/>
                  <a:ext cx="1393825" cy="1525587"/>
                </a:xfrm>
                <a:custGeom>
                  <a:rect b="b" l="l" r="r" t="t"/>
                  <a:pathLst>
                    <a:path extrusionOk="0" h="1255" w="1292">
                      <a:moveTo>
                        <a:pt x="239" y="7"/>
                      </a:moveTo>
                      <a:cubicBezTo>
                        <a:pt x="120" y="14"/>
                        <a:pt x="70" y="71"/>
                        <a:pt x="35" y="157"/>
                      </a:cubicBezTo>
                      <a:cubicBezTo>
                        <a:pt x="0" y="243"/>
                        <a:pt x="26" y="411"/>
                        <a:pt x="29" y="523"/>
                      </a:cubicBezTo>
                      <a:cubicBezTo>
                        <a:pt x="32" y="635"/>
                        <a:pt x="17" y="771"/>
                        <a:pt x="53" y="829"/>
                      </a:cubicBezTo>
                      <a:cubicBezTo>
                        <a:pt x="89" y="887"/>
                        <a:pt x="146" y="821"/>
                        <a:pt x="245" y="871"/>
                      </a:cubicBezTo>
                      <a:cubicBezTo>
                        <a:pt x="344" y="921"/>
                        <a:pt x="522" y="1068"/>
                        <a:pt x="647" y="1129"/>
                      </a:cubicBezTo>
                      <a:cubicBezTo>
                        <a:pt x="772" y="1190"/>
                        <a:pt x="903" y="1255"/>
                        <a:pt x="995" y="1237"/>
                      </a:cubicBezTo>
                      <a:cubicBezTo>
                        <a:pt x="1087" y="1219"/>
                        <a:pt x="1153" y="1153"/>
                        <a:pt x="1199" y="1021"/>
                      </a:cubicBezTo>
                      <a:cubicBezTo>
                        <a:pt x="1245" y="889"/>
                        <a:pt x="1270" y="580"/>
                        <a:pt x="1271" y="445"/>
                      </a:cubicBezTo>
                      <a:cubicBezTo>
                        <a:pt x="1272" y="310"/>
                        <a:pt x="1292" y="266"/>
                        <a:pt x="1205" y="211"/>
                      </a:cubicBezTo>
                      <a:cubicBezTo>
                        <a:pt x="1118" y="156"/>
                        <a:pt x="908" y="150"/>
                        <a:pt x="749" y="115"/>
                      </a:cubicBezTo>
                      <a:cubicBezTo>
                        <a:pt x="590" y="80"/>
                        <a:pt x="358" y="0"/>
                        <a:pt x="239" y="7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cxnSp>
              <p:nvCxnSpPr>
                <p:cNvPr id="595" name="Google Shape;595;p23"/>
                <p:cNvCxnSpPr/>
                <p:nvPr/>
              </p:nvCxnSpPr>
              <p:spPr>
                <a:xfrm>
                  <a:off x="4111625" y="3606800"/>
                  <a:ext cx="0" cy="4889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96" name="Google Shape;596;p23"/>
                <p:cNvSpPr txBox="1"/>
                <p:nvPr/>
              </p:nvSpPr>
              <p:spPr>
                <a:xfrm>
                  <a:off x="4330701" y="3386138"/>
                  <a:ext cx="178117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1A-2F-BB-76-09-AD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7" name="Google Shape;597;p23"/>
                <p:cNvSpPr txBox="1"/>
                <p:nvPr/>
              </p:nvSpPr>
              <p:spPr>
                <a:xfrm>
                  <a:off x="4711700" y="4953000"/>
                  <a:ext cx="17399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58-23-D7-FA-20-B0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8" name="Google Shape;598;p23"/>
                <p:cNvSpPr txBox="1"/>
                <p:nvPr/>
              </p:nvSpPr>
              <p:spPr>
                <a:xfrm>
                  <a:off x="4340226" y="5578475"/>
                  <a:ext cx="174942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0C-C4-11-6F-E3-98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9" name="Google Shape;599;p23"/>
                <p:cNvSpPr txBox="1"/>
                <p:nvPr/>
              </p:nvSpPr>
              <p:spPr>
                <a:xfrm>
                  <a:off x="1690688" y="4811713"/>
                  <a:ext cx="16891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71-65-F7-2B-08-53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0" name="Google Shape;600;p23"/>
                <p:cNvSpPr txBox="1"/>
                <p:nvPr/>
              </p:nvSpPr>
              <p:spPr>
                <a:xfrm>
                  <a:off x="1887538" y="3665538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137.196.7.23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1" name="Google Shape;601;p23"/>
                <p:cNvSpPr txBox="1"/>
                <p:nvPr/>
              </p:nvSpPr>
              <p:spPr>
                <a:xfrm>
                  <a:off x="4468813" y="2987675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137.196.7.78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2" name="Google Shape;602;p23"/>
                <p:cNvSpPr txBox="1"/>
                <p:nvPr/>
              </p:nvSpPr>
              <p:spPr>
                <a:xfrm>
                  <a:off x="4868863" y="3887788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137.196.7.14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3" name="Google Shape;603;p23"/>
                <p:cNvSpPr txBox="1"/>
                <p:nvPr/>
              </p:nvSpPr>
              <p:spPr>
                <a:xfrm>
                  <a:off x="2631672" y="5814759"/>
                  <a:ext cx="1217613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137.196.7.88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04" name="Google Shape;604;p23"/>
                <p:cNvGrpSpPr/>
                <p:nvPr/>
              </p:nvGrpSpPr>
              <p:grpSpPr>
                <a:xfrm>
                  <a:off x="5086350" y="4357688"/>
                  <a:ext cx="598488" cy="520700"/>
                  <a:chOff x="-44" y="1473"/>
                  <a:chExt cx="981" cy="1105"/>
                </a:xfrm>
              </p:grpSpPr>
              <p:pic>
                <p:nvPicPr>
                  <p:cNvPr descr="desktop_computer_stylized_medium" id="605" name="Google Shape;605;p23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06" name="Google Shape;606;p2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grpSp>
              <p:nvGrpSpPr>
                <p:cNvPr id="607" name="Google Shape;607;p23"/>
                <p:cNvGrpSpPr/>
                <p:nvPr/>
              </p:nvGrpSpPr>
              <p:grpSpPr>
                <a:xfrm>
                  <a:off x="2181226" y="4160838"/>
                  <a:ext cx="709613" cy="520700"/>
                  <a:chOff x="267" y="2244"/>
                  <a:chExt cx="581" cy="415"/>
                </a:xfrm>
              </p:grpSpPr>
              <p:sp>
                <p:nvSpPr>
                  <p:cNvPr id="608" name="Google Shape;608;p23"/>
                  <p:cNvSpPr/>
                  <p:nvPr/>
                </p:nvSpPr>
                <p:spPr>
                  <a:xfrm rot="-5400000">
                    <a:off x="717" y="2400"/>
                    <a:ext cx="101" cy="161"/>
                  </a:xfrm>
                  <a:prstGeom prst="rect">
                    <a:avLst/>
                  </a:prstGeom>
                  <a:gradFill>
                    <a:gsLst>
                      <a:gs pos="0">
                        <a:srgbClr val="008000"/>
                      </a:gs>
                      <a:gs pos="50000">
                        <a:schemeClr val="lt1"/>
                      </a:gs>
                      <a:gs pos="100000">
                        <a:srgbClr val="008000"/>
                      </a:gs>
                    </a:gsLst>
                    <a:lin ang="0" scaled="0"/>
                  </a:gradFill>
                  <a:ln cap="flat" cmpd="sng" w="9525">
                    <a:solidFill>
                      <a:srgbClr val="008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grpSp>
                <p:nvGrpSpPr>
                  <p:cNvPr id="609" name="Google Shape;609;p23"/>
                  <p:cNvGrpSpPr/>
                  <p:nvPr/>
                </p:nvGrpSpPr>
                <p:grpSpPr>
                  <a:xfrm>
                    <a:off x="267" y="2244"/>
                    <a:ext cx="512" cy="415"/>
                    <a:chOff x="-44" y="1473"/>
                    <a:chExt cx="981" cy="1105"/>
                  </a:xfrm>
                </p:grpSpPr>
                <p:pic>
                  <p:nvPicPr>
                    <p:cNvPr descr="desktop_computer_stylized_medium" id="610" name="Google Shape;610;p23"/>
                    <p:cNvPicPr preferRelativeResize="0"/>
                    <p:nvPr/>
                  </p:nvPicPr>
                  <p:blipFill rotWithShape="1">
                    <a:blip r:embed="rId5">
                      <a:alphaModFix/>
                    </a:blip>
                    <a:srcRect b="0" l="0" r="0" t="0"/>
                    <a:stretch/>
                  </p:blipFill>
                  <p:spPr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611" name="Google Shape;611;p23"/>
                    <p:cNvSpPr/>
                    <p:nvPr/>
                  </p:nvSpPr>
                  <p:spPr>
                    <a:xfrm flipH="1">
                      <a:off x="374" y="1579"/>
                      <a:ext cx="477" cy="506"/>
                    </a:xfrm>
                    <a:custGeom>
                      <a:rect b="b" l="l" r="r" t="t"/>
                      <a:pathLst>
                        <a:path extrusionOk="0" h="368" w="356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0099"/>
                        </a:gs>
                        <a:gs pos="100000">
                          <a:schemeClr val="lt1"/>
                        </a:gs>
                      </a:gsLst>
                      <a:lin ang="27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</p:grpSp>
            <p:grpSp>
              <p:nvGrpSpPr>
                <p:cNvPr id="612" name="Google Shape;612;p23"/>
                <p:cNvGrpSpPr/>
                <p:nvPr/>
              </p:nvGrpSpPr>
              <p:grpSpPr>
                <a:xfrm>
                  <a:off x="3681414" y="3048000"/>
                  <a:ext cx="631825" cy="554038"/>
                  <a:chOff x="1745" y="1276"/>
                  <a:chExt cx="512" cy="489"/>
                </a:xfrm>
              </p:grpSpPr>
              <p:sp>
                <p:nvSpPr>
                  <p:cNvPr id="613" name="Google Shape;613;p23"/>
                  <p:cNvSpPr/>
                  <p:nvPr/>
                </p:nvSpPr>
                <p:spPr>
                  <a:xfrm>
                    <a:off x="2040" y="1604"/>
                    <a:ext cx="100" cy="161"/>
                  </a:xfrm>
                  <a:prstGeom prst="rect">
                    <a:avLst/>
                  </a:prstGeom>
                  <a:gradFill>
                    <a:gsLst>
                      <a:gs pos="0">
                        <a:srgbClr val="008000"/>
                      </a:gs>
                      <a:gs pos="50000">
                        <a:schemeClr val="lt1"/>
                      </a:gs>
                      <a:gs pos="100000">
                        <a:srgbClr val="008000"/>
                      </a:gs>
                    </a:gsLst>
                    <a:lin ang="0" scaled="0"/>
                  </a:gradFill>
                  <a:ln cap="flat" cmpd="sng" w="9525">
                    <a:solidFill>
                      <a:srgbClr val="008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grpSp>
                <p:nvGrpSpPr>
                  <p:cNvPr id="614" name="Google Shape;614;p23"/>
                  <p:cNvGrpSpPr/>
                  <p:nvPr/>
                </p:nvGrpSpPr>
                <p:grpSpPr>
                  <a:xfrm>
                    <a:off x="1745" y="1276"/>
                    <a:ext cx="512" cy="415"/>
                    <a:chOff x="-44" y="1473"/>
                    <a:chExt cx="981" cy="1105"/>
                  </a:xfrm>
                </p:grpSpPr>
                <p:pic>
                  <p:nvPicPr>
                    <p:cNvPr descr="desktop_computer_stylized_medium" id="615" name="Google Shape;615;p23"/>
                    <p:cNvPicPr preferRelativeResize="0"/>
                    <p:nvPr/>
                  </p:nvPicPr>
                  <p:blipFill rotWithShape="1">
                    <a:blip r:embed="rId5">
                      <a:alphaModFix/>
                    </a:blip>
                    <a:srcRect b="0" l="0" r="0" t="0"/>
                    <a:stretch/>
                  </p:blipFill>
                  <p:spPr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616" name="Google Shape;616;p23"/>
                    <p:cNvSpPr/>
                    <p:nvPr/>
                  </p:nvSpPr>
                  <p:spPr>
                    <a:xfrm flipH="1">
                      <a:off x="374" y="1579"/>
                      <a:ext cx="477" cy="506"/>
                    </a:xfrm>
                    <a:custGeom>
                      <a:rect b="b" l="l" r="r" t="t"/>
                      <a:pathLst>
                        <a:path extrusionOk="0" h="368" w="356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0099"/>
                        </a:gs>
                        <a:gs pos="100000">
                          <a:schemeClr val="lt1"/>
                        </a:gs>
                      </a:gsLst>
                      <a:lin ang="27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</p:grpSp>
            <p:grpSp>
              <p:nvGrpSpPr>
                <p:cNvPr id="617" name="Google Shape;617;p23"/>
                <p:cNvGrpSpPr/>
                <p:nvPr/>
              </p:nvGrpSpPr>
              <p:grpSpPr>
                <a:xfrm>
                  <a:off x="3690938" y="5784850"/>
                  <a:ext cx="584200" cy="469900"/>
                  <a:chOff x="-44" y="1473"/>
                  <a:chExt cx="981" cy="1105"/>
                </a:xfrm>
              </p:grpSpPr>
              <p:pic>
                <p:nvPicPr>
                  <p:cNvPr descr="desktop_computer_stylized_medium" id="618" name="Google Shape;618;p23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19" name="Google Shape;619;p2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</p:grpSp>
        </p:grpSp>
      </p:grpSp>
      <p:sp>
        <p:nvSpPr>
          <p:cNvPr id="620" name="Google Shape;620;p23"/>
          <p:cNvSpPr txBox="1"/>
          <p:nvPr/>
        </p:nvSpPr>
        <p:spPr>
          <a:xfrm>
            <a:off x="3937008" y="3327288"/>
            <a:ext cx="819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3"/>
          <p:cNvSpPr/>
          <p:nvPr/>
        </p:nvSpPr>
        <p:spPr>
          <a:xfrm>
            <a:off x="2507906" y="3092043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2" name="Google Shape;622;p23"/>
          <p:cNvSpPr/>
          <p:nvPr/>
        </p:nvSpPr>
        <p:spPr>
          <a:xfrm>
            <a:off x="5998974" y="3341317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623" name="Google Shape;623;p23"/>
          <p:cNvGraphicFramePr/>
          <p:nvPr/>
        </p:nvGraphicFramePr>
        <p:xfrm>
          <a:off x="1590195" y="6041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{3C7CF967-B244-43A2-91D2-C89B5AC27FE7}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71-65-F7-2B-08-53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137.196.7.14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137.196.7.23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ARP Request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4" name="Google Shape;624;p23"/>
          <p:cNvGraphicFramePr/>
          <p:nvPr/>
        </p:nvGraphicFramePr>
        <p:xfrm>
          <a:off x="1590195" y="55537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{3C7CF967-B244-43A2-91D2-C89B5AC27FE7}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71-65-F7-2B-08-53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58-23-D7-FA-20-B0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137.196.7.23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137.196.7.14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ARP Reply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5" name="Google Shape;625;p23"/>
          <p:cNvGraphicFramePr/>
          <p:nvPr/>
        </p:nvGraphicFramePr>
        <p:xfrm>
          <a:off x="1617905" y="6403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{3C7CF967-B244-43A2-91D2-C89B5AC27FE7}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Dest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Source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A93023"/>
                          </a:solidFill>
                        </a:rPr>
                        <a:t>ARP Req/Reply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26" name="Google Shape;626;p23"/>
          <p:cNvSpPr/>
          <p:nvPr/>
        </p:nvSpPr>
        <p:spPr>
          <a:xfrm>
            <a:off x="2590439" y="274320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3"/>
          <p:cNvSpPr/>
          <p:nvPr/>
        </p:nvSpPr>
        <p:spPr>
          <a:xfrm>
            <a:off x="1666267" y="6067100"/>
            <a:ext cx="1789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FF-FF-FF-FF-FF-FF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4041904" y="339342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3"/>
          <p:cNvSpPr/>
          <p:nvPr/>
        </p:nvSpPr>
        <p:spPr>
          <a:xfrm>
            <a:off x="4153784" y="3436187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3"/>
          <p:cNvSpPr/>
          <p:nvPr/>
        </p:nvSpPr>
        <p:spPr>
          <a:xfrm>
            <a:off x="4235161" y="3462177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3"/>
          <p:cNvSpPr txBox="1"/>
          <p:nvPr/>
        </p:nvSpPr>
        <p:spPr>
          <a:xfrm>
            <a:off x="3875887" y="1661241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3"/>
          <p:cNvSpPr txBox="1"/>
          <p:nvPr/>
        </p:nvSpPr>
        <p:spPr>
          <a:xfrm>
            <a:off x="4718556" y="5042695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3"/>
          <p:cNvSpPr txBox="1"/>
          <p:nvPr/>
        </p:nvSpPr>
        <p:spPr>
          <a:xfrm>
            <a:off x="6572119" y="3199765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✔️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3"/>
          <p:cNvSpPr/>
          <p:nvPr/>
        </p:nvSpPr>
        <p:spPr>
          <a:xfrm>
            <a:off x="5508648" y="3138054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7664055" y="1820864"/>
            <a:ext cx="40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A wants to send datagram to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7" name="Google Shape;637;p23"/>
          <p:cNvSpPr txBox="1"/>
          <p:nvPr>
            <p:ph idx="4294967295" type="body"/>
          </p:nvPr>
        </p:nvSpPr>
        <p:spPr>
          <a:xfrm>
            <a:off x="7717025" y="2282525"/>
            <a:ext cx="39612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9560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60"/>
              <a:buChar char="•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A caches (saves) IP-to-MAC address pair in its ARP table</a:t>
            </a:r>
            <a:r>
              <a:rPr lang="en-US" sz="33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300"/>
          </a:p>
          <a:p>
            <a:pPr indent="-251460" lvl="0" marL="231775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39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N</a:t>
            </a: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odes create their ARP tables independently </a:t>
            </a:r>
            <a:r>
              <a:rPr i="1" lang="en-US" sz="2000">
                <a:latin typeface="Gill Sans"/>
                <a:ea typeface="Gill Sans"/>
                <a:cs typeface="Gill Sans"/>
                <a:sym typeface="Gill Sans"/>
              </a:rPr>
              <a:t>without intervention from net administrator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5"/>
          <p:cNvSpPr txBox="1"/>
          <p:nvPr>
            <p:ph idx="1" type="body"/>
          </p:nvPr>
        </p:nvSpPr>
        <p:spPr>
          <a:xfrm>
            <a:off x="1876425" y="1057274"/>
            <a:ext cx="8675688" cy="2155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-111125" lvl="0" marL="111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lang="en-US" sz="4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Send datagram from A to B via R</a:t>
            </a:r>
            <a:endParaRPr/>
          </a:p>
          <a:p>
            <a:pPr indent="-230188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focus on addressing – at IP (datagram) and MAC layer (frame)</a:t>
            </a:r>
            <a:endParaRPr/>
          </a:p>
          <a:p>
            <a:pPr indent="-230188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assume A knows B’s IP address</a:t>
            </a:r>
            <a:endParaRPr/>
          </a:p>
          <a:p>
            <a:pPr indent="-230188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What will be the destination MAC Address?</a:t>
            </a:r>
            <a:endParaRPr/>
          </a:p>
        </p:txBody>
      </p:sp>
      <p:sp>
        <p:nvSpPr>
          <p:cNvPr id="644" name="Google Shape;644;p25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645" name="Google Shape;645;p25"/>
          <p:cNvGrpSpPr/>
          <p:nvPr/>
        </p:nvGrpSpPr>
        <p:grpSpPr>
          <a:xfrm>
            <a:off x="2096332" y="3451226"/>
            <a:ext cx="9721319" cy="2482851"/>
            <a:chOff x="709613" y="3962400"/>
            <a:chExt cx="8842386" cy="2482851"/>
          </a:xfrm>
        </p:grpSpPr>
        <p:grpSp>
          <p:nvGrpSpPr>
            <p:cNvPr id="646" name="Google Shape;646;p25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647" name="Google Shape;647;p25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648" name="Google Shape;648;p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49" name="Google Shape;649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650" name="Google Shape;650;p25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651" name="Google Shape;651;p25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652" name="Google Shape;652;p25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653" name="Google Shape;653;p25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654" name="Google Shape;654;p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55" name="Google Shape;655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656" name="Google Shape;656;p25"/>
            <p:cNvSpPr txBox="1"/>
            <p:nvPr/>
          </p:nvSpPr>
          <p:spPr>
            <a:xfrm>
              <a:off x="4224338" y="4381500"/>
              <a:ext cx="3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7" name="Google Shape;657;p25"/>
            <p:cNvSpPr txBox="1"/>
            <p:nvPr/>
          </p:nvSpPr>
          <p:spPr>
            <a:xfrm>
              <a:off x="3868738" y="5378450"/>
              <a:ext cx="1543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5"/>
            <p:cNvSpPr txBox="1"/>
            <p:nvPr/>
          </p:nvSpPr>
          <p:spPr>
            <a:xfrm>
              <a:off x="4016375" y="5205413"/>
              <a:ext cx="1322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9" name="Google Shape;659;p25"/>
            <p:cNvGrpSpPr/>
            <p:nvPr/>
          </p:nvGrpSpPr>
          <p:grpSpPr>
            <a:xfrm>
              <a:off x="3044825" y="5794375"/>
              <a:ext cx="1435100" cy="650876"/>
              <a:chOff x="1934" y="2405"/>
              <a:chExt cx="904" cy="410"/>
            </a:xfrm>
          </p:grpSpPr>
          <p:sp>
            <p:nvSpPr>
              <p:cNvPr id="660" name="Google Shape;660;p25"/>
              <p:cNvSpPr txBox="1"/>
              <p:nvPr/>
            </p:nvSpPr>
            <p:spPr>
              <a:xfrm>
                <a:off x="1934" y="2405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25"/>
              <p:cNvSpPr txBox="1"/>
              <p:nvPr/>
            </p:nvSpPr>
            <p:spPr>
              <a:xfrm>
                <a:off x="1938" y="2515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2" name="Google Shape;662;p25"/>
            <p:cNvSpPr txBox="1"/>
            <p:nvPr/>
          </p:nvSpPr>
          <p:spPr>
            <a:xfrm>
              <a:off x="952500" y="6037263"/>
              <a:ext cx="1627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5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25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25"/>
            <p:cNvSpPr txBox="1"/>
            <p:nvPr/>
          </p:nvSpPr>
          <p:spPr>
            <a:xfrm>
              <a:off x="730250" y="4927600"/>
              <a:ext cx="15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25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667" name="Google Shape;667;p25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8" name="Google Shape;668;p25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9" name="Google Shape;669;p25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25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71" name="Google Shape;671;p25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72" name="Google Shape;672;p25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73" name="Google Shape;673;p25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74" name="Google Shape;674;p25"/>
            <p:cNvSpPr txBox="1"/>
            <p:nvPr/>
          </p:nvSpPr>
          <p:spPr>
            <a:xfrm>
              <a:off x="719138" y="4156075"/>
              <a:ext cx="39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5" name="Google Shape;675;p25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76" name="Google Shape;676;p25"/>
            <p:cNvGrpSpPr/>
            <p:nvPr/>
          </p:nvGrpSpPr>
          <p:grpSpPr>
            <a:xfrm>
              <a:off x="7923222" y="4529771"/>
              <a:ext cx="1628777" cy="770672"/>
              <a:chOff x="4698" y="2588"/>
              <a:chExt cx="1026" cy="485"/>
            </a:xfrm>
          </p:grpSpPr>
          <p:sp>
            <p:nvSpPr>
              <p:cNvPr id="677" name="Google Shape;677;p25"/>
              <p:cNvSpPr txBox="1"/>
              <p:nvPr/>
            </p:nvSpPr>
            <p:spPr>
              <a:xfrm>
                <a:off x="4824" y="2588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rm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25"/>
              <p:cNvSpPr txBox="1"/>
              <p:nvPr/>
            </p:nvSpPr>
            <p:spPr>
              <a:xfrm>
                <a:off x="4698" y="2773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rm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79" name="Google Shape;679;p25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25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81" name="Google Shape;681;p25"/>
            <p:cNvSpPr txBox="1"/>
            <p:nvPr/>
          </p:nvSpPr>
          <p:spPr>
            <a:xfrm>
              <a:off x="7073900" y="5811838"/>
              <a:ext cx="1322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25"/>
            <p:cNvSpPr txBox="1"/>
            <p:nvPr/>
          </p:nvSpPr>
          <p:spPr>
            <a:xfrm>
              <a:off x="7077075" y="5986463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3" name="Google Shape;683;p25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4" name="Google Shape;684;p25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685" name="Google Shape;685;p25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6" name="Google Shape;686;p25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7" name="Google Shape;687;p25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688" name="Google Shape;688;p25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689" name="Google Shape;689;p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90" name="Google Shape;690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691" name="Google Shape;691;p25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692" name="Google Shape;692;p25"/>
            <p:cNvGrpSpPr/>
            <p:nvPr/>
          </p:nvGrpSpPr>
          <p:grpSpPr>
            <a:xfrm>
              <a:off x="3757611" y="4714240"/>
              <a:ext cx="1292225" cy="426719"/>
              <a:chOff x="4011622" y="3379152"/>
              <a:chExt cx="1262683" cy="390207"/>
            </a:xfrm>
          </p:grpSpPr>
          <p:sp>
            <p:nvSpPr>
              <p:cNvPr id="693" name="Google Shape;693;p25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694" name="Google Shape;694;p25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695" name="Google Shape;695;p25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96" name="Google Shape;696;p25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97" name="Google Shape;697;p25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698" name="Google Shape;698;p25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699" name="Google Shape;699;p25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700" name="Google Shape;700;p25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701" name="Google Shape;701;p25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02" name="Google Shape;702;p25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03" name="Google Shape;703;p25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04" name="Google Shape;704;p25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705" name="Google Shape;705;p25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06" name="Google Shape;706;p25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707" name="Google Shape;707;p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08" name="Google Shape;708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pic>
        <p:nvPicPr>
          <p:cNvPr descr="underline_base" id="709" name="Google Shape;70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0" name="Google Shape;710;p25"/>
          <p:cNvGraphicFramePr/>
          <p:nvPr/>
        </p:nvGraphicFramePr>
        <p:xfrm>
          <a:off x="1894997" y="5888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{3C7CF967-B244-43A2-91D2-C89B5AC27FE7}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222.222.222.222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111.111.111.111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 to B Packet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1" name="Google Shape;711;p25"/>
          <p:cNvGraphicFramePr/>
          <p:nvPr/>
        </p:nvGraphicFramePr>
        <p:xfrm>
          <a:off x="1904805" y="63057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{3C7CF967-B244-43A2-91D2-C89B5AC27FE7}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Dest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Source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A93023"/>
                          </a:solidFill>
                        </a:rPr>
                        <a:t>Packet Type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12" name="Google Shape;712;p25"/>
          <p:cNvSpPr/>
          <p:nvPr/>
        </p:nvSpPr>
        <p:spPr>
          <a:xfrm>
            <a:off x="3795629" y="5927979"/>
            <a:ext cx="17443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2496343" y="5913564"/>
            <a:ext cx="5116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5"/>
          <p:cNvSpPr/>
          <p:nvPr/>
        </p:nvSpPr>
        <p:spPr>
          <a:xfrm>
            <a:off x="3795625" y="3179775"/>
            <a:ext cx="5454300" cy="672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1125" lvl="0" marL="111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Gill Sans"/>
              <a:buNone/>
            </a:pPr>
            <a:r>
              <a:rPr lang="en-US" sz="20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Default Gateway (</a:t>
            </a:r>
            <a:r>
              <a:rPr lang="en-US" sz="20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 R) MAC Address (The interface on the router facing Host 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1802328" y="5889140"/>
            <a:ext cx="215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E6-E9-00-17-BB-4B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716" name="Google Shape;716;p25"/>
          <p:cNvSpPr/>
          <p:nvPr/>
        </p:nvSpPr>
        <p:spPr>
          <a:xfrm>
            <a:off x="4949825" y="4178027"/>
            <a:ext cx="617638" cy="51565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6"/>
          <p:cNvSpPr txBox="1"/>
          <p:nvPr>
            <p:ph idx="1" type="body"/>
          </p:nvPr>
        </p:nvSpPr>
        <p:spPr>
          <a:xfrm>
            <a:off x="1876425" y="1057275"/>
            <a:ext cx="9972600" cy="16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1305" lvl="1" marL="457200" rtl="0" algn="l">
              <a:lnSpc>
                <a:spcPct val="90000"/>
              </a:lnSpc>
              <a:spcBef>
                <a:spcPts val="1220"/>
              </a:spcBef>
              <a:spcAft>
                <a:spcPts val="0"/>
              </a:spcAft>
              <a:buSzPts val="4430"/>
              <a:buFont typeface="Noto Sans Symbols"/>
              <a:buChar char="▪"/>
            </a:pPr>
            <a:r>
              <a:rPr lang="en-US" sz="2900"/>
              <a:t>How does A know about Default Gateway information ? </a:t>
            </a:r>
            <a:endParaRPr sz="1540"/>
          </a:p>
          <a:p>
            <a:pPr indent="-281305" lvl="1" marL="457200" rtl="0" algn="l">
              <a:lnSpc>
                <a:spcPct val="90000"/>
              </a:lnSpc>
              <a:spcBef>
                <a:spcPts val="1220"/>
              </a:spcBef>
              <a:spcAft>
                <a:spcPts val="0"/>
              </a:spcAft>
              <a:buSzPts val="4430"/>
              <a:buFont typeface="Noto Sans Symbols"/>
              <a:buChar char="▪"/>
            </a:pPr>
            <a:r>
              <a:rPr lang="en-US" sz="2900"/>
              <a:t>How does</a:t>
            </a:r>
            <a:r>
              <a:rPr lang="en-US" sz="2900"/>
              <a:t> A know </a:t>
            </a:r>
            <a:r>
              <a:rPr lang="en-US" sz="2900"/>
              <a:t>Default Gateway’s </a:t>
            </a:r>
            <a:r>
              <a:rPr lang="en-US" sz="2900"/>
              <a:t> MAC address?</a:t>
            </a:r>
            <a:endParaRPr sz="1540"/>
          </a:p>
        </p:txBody>
      </p:sp>
      <p:sp>
        <p:nvSpPr>
          <p:cNvPr id="723" name="Google Shape;723;p26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724" name="Google Shape;724;p26"/>
          <p:cNvGrpSpPr/>
          <p:nvPr/>
        </p:nvGrpSpPr>
        <p:grpSpPr>
          <a:xfrm>
            <a:off x="1298526" y="3962400"/>
            <a:ext cx="9011641" cy="2482851"/>
            <a:chOff x="709613" y="3962400"/>
            <a:chExt cx="8093077" cy="2482851"/>
          </a:xfrm>
        </p:grpSpPr>
        <p:grpSp>
          <p:nvGrpSpPr>
            <p:cNvPr id="725" name="Google Shape;725;p26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726" name="Google Shape;726;p2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27" name="Google Shape;727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28" name="Google Shape;728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29" name="Google Shape;729;p26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30" name="Google Shape;730;p26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731" name="Google Shape;731;p26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32" name="Google Shape;732;p2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733" name="Google Shape;733;p2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34" name="Google Shape;734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735" name="Google Shape;735;p26"/>
            <p:cNvSpPr txBox="1"/>
            <p:nvPr/>
          </p:nvSpPr>
          <p:spPr>
            <a:xfrm>
              <a:off x="4224338" y="4381500"/>
              <a:ext cx="3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36" name="Google Shape;736;p26"/>
            <p:cNvSpPr txBox="1"/>
            <p:nvPr/>
          </p:nvSpPr>
          <p:spPr>
            <a:xfrm>
              <a:off x="3868738" y="5378450"/>
              <a:ext cx="1543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26"/>
            <p:cNvSpPr txBox="1"/>
            <p:nvPr/>
          </p:nvSpPr>
          <p:spPr>
            <a:xfrm>
              <a:off x="4016375" y="5205413"/>
              <a:ext cx="1322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8" name="Google Shape;738;p26"/>
            <p:cNvGrpSpPr/>
            <p:nvPr/>
          </p:nvGrpSpPr>
          <p:grpSpPr>
            <a:xfrm>
              <a:off x="3044825" y="5794375"/>
              <a:ext cx="1435100" cy="650876"/>
              <a:chOff x="1934" y="2405"/>
              <a:chExt cx="904" cy="410"/>
            </a:xfrm>
          </p:grpSpPr>
          <p:sp>
            <p:nvSpPr>
              <p:cNvPr id="739" name="Google Shape;739;p26"/>
              <p:cNvSpPr txBox="1"/>
              <p:nvPr/>
            </p:nvSpPr>
            <p:spPr>
              <a:xfrm>
                <a:off x="1934" y="2405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6"/>
              <p:cNvSpPr txBox="1"/>
              <p:nvPr/>
            </p:nvSpPr>
            <p:spPr>
              <a:xfrm>
                <a:off x="1938" y="2515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1" name="Google Shape;741;p26"/>
            <p:cNvSpPr txBox="1"/>
            <p:nvPr/>
          </p:nvSpPr>
          <p:spPr>
            <a:xfrm>
              <a:off x="952500" y="6037263"/>
              <a:ext cx="1627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26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26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26"/>
            <p:cNvSpPr txBox="1"/>
            <p:nvPr/>
          </p:nvSpPr>
          <p:spPr>
            <a:xfrm>
              <a:off x="730250" y="4927600"/>
              <a:ext cx="15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746" name="Google Shape;746;p26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7" name="Google Shape;747;p26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8" name="Google Shape;748;p26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9" name="Google Shape;749;p26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50" name="Google Shape;750;p26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51" name="Google Shape;751;p26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52" name="Google Shape;752;p26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53" name="Google Shape;753;p26"/>
            <p:cNvSpPr txBox="1"/>
            <p:nvPr/>
          </p:nvSpPr>
          <p:spPr>
            <a:xfrm>
              <a:off x="719138" y="4156075"/>
              <a:ext cx="39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4" name="Google Shape;754;p26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55" name="Google Shape;755;p26"/>
            <p:cNvGrpSpPr/>
            <p:nvPr/>
          </p:nvGrpSpPr>
          <p:grpSpPr>
            <a:xfrm>
              <a:off x="7372352" y="4845050"/>
              <a:ext cx="1430338" cy="663575"/>
              <a:chOff x="4351" y="2786"/>
              <a:chExt cx="901" cy="418"/>
            </a:xfrm>
          </p:grpSpPr>
          <p:sp>
            <p:nvSpPr>
              <p:cNvPr id="756" name="Google Shape;756;p26"/>
              <p:cNvSpPr txBox="1"/>
              <p:nvPr/>
            </p:nvSpPr>
            <p:spPr>
              <a:xfrm>
                <a:off x="4352" y="2786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26"/>
              <p:cNvSpPr txBox="1"/>
              <p:nvPr/>
            </p:nvSpPr>
            <p:spPr>
              <a:xfrm>
                <a:off x="4351" y="2904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58" name="Google Shape;758;p26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9" name="Google Shape;759;p26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60" name="Google Shape;760;p26"/>
            <p:cNvSpPr txBox="1"/>
            <p:nvPr/>
          </p:nvSpPr>
          <p:spPr>
            <a:xfrm>
              <a:off x="7073900" y="5811838"/>
              <a:ext cx="1322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6"/>
            <p:cNvSpPr txBox="1"/>
            <p:nvPr/>
          </p:nvSpPr>
          <p:spPr>
            <a:xfrm>
              <a:off x="7077075" y="5986463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2" name="Google Shape;762;p26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3" name="Google Shape;763;p26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764" name="Google Shape;764;p26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65" name="Google Shape;765;p26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6" name="Google Shape;766;p26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767" name="Google Shape;767;p2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68" name="Google Shape;768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69" name="Google Shape;769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70" name="Google Shape;770;p26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71" name="Google Shape;771;p26"/>
            <p:cNvGrpSpPr/>
            <p:nvPr/>
          </p:nvGrpSpPr>
          <p:grpSpPr>
            <a:xfrm>
              <a:off x="3757611" y="4714240"/>
              <a:ext cx="1292225" cy="426719"/>
              <a:chOff x="4011622" y="3379152"/>
              <a:chExt cx="1262683" cy="390207"/>
            </a:xfrm>
          </p:grpSpPr>
          <p:sp>
            <p:nvSpPr>
              <p:cNvPr id="772" name="Google Shape;772;p26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73" name="Google Shape;773;p26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774" name="Google Shape;774;p26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5" name="Google Shape;775;p26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6" name="Google Shape;776;p26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77" name="Google Shape;777;p26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778" name="Google Shape;778;p26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779" name="Google Shape;779;p26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780" name="Google Shape;780;p26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1" name="Google Shape;781;p26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2" name="Google Shape;782;p26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83" name="Google Shape;783;p26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784" name="Google Shape;784;p26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85" name="Google Shape;785;p2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786" name="Google Shape;786;p2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87" name="Google Shape;787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pic>
        <p:nvPicPr>
          <p:cNvPr descr="underline_base" id="788" name="Google Shape;78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26"/>
          <p:cNvSpPr txBox="1"/>
          <p:nvPr>
            <p:ph idx="12" type="sldNum"/>
          </p:nvPr>
        </p:nvSpPr>
        <p:spPr>
          <a:xfrm>
            <a:off x="9980155" y="6522366"/>
            <a:ext cx="548655" cy="272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6-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0" name="Google Shape;790;p26"/>
          <p:cNvSpPr txBox="1"/>
          <p:nvPr>
            <p:ph idx="11" type="ftr"/>
          </p:nvPr>
        </p:nvSpPr>
        <p:spPr>
          <a:xfrm>
            <a:off x="7899497" y="6521552"/>
            <a:ext cx="2177473" cy="241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 Layer and LANs</a:t>
            </a:r>
            <a:endParaRPr/>
          </a:p>
        </p:txBody>
      </p:sp>
      <p:pic>
        <p:nvPicPr>
          <p:cNvPr id="791" name="Google Shape;79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7528" y="3143975"/>
            <a:ext cx="5091584" cy="3284266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26"/>
          <p:cNvSpPr/>
          <p:nvPr/>
        </p:nvSpPr>
        <p:spPr>
          <a:xfrm>
            <a:off x="9259094" y="5993199"/>
            <a:ext cx="1976942" cy="435042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3" name="Google Shape;793;p26"/>
          <p:cNvSpPr/>
          <p:nvPr/>
        </p:nvSpPr>
        <p:spPr>
          <a:xfrm>
            <a:off x="2876898" y="3850958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6"/>
          <p:cNvSpPr/>
          <p:nvPr/>
        </p:nvSpPr>
        <p:spPr>
          <a:xfrm>
            <a:off x="4110229" y="4710300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6"/>
          <p:cNvSpPr/>
          <p:nvPr/>
        </p:nvSpPr>
        <p:spPr>
          <a:xfrm>
            <a:off x="4178837" y="4725152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6"/>
          <p:cNvSpPr/>
          <p:nvPr/>
        </p:nvSpPr>
        <p:spPr>
          <a:xfrm>
            <a:off x="5508648" y="4689789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7" name="Google Shape;797;p26"/>
          <p:cNvGraphicFramePr/>
          <p:nvPr/>
        </p:nvGraphicFramePr>
        <p:xfrm>
          <a:off x="2024064" y="63462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{3C7CF967-B244-43A2-91D2-C89B5AC27FE7}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74-29-9C-E8-FF-55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222.222.222.222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111.111.111.111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 to B Packet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sp>
        <p:nvSpPr>
          <p:cNvPr id="798" name="Google Shape;798;p26"/>
          <p:cNvSpPr/>
          <p:nvPr/>
        </p:nvSpPr>
        <p:spPr>
          <a:xfrm>
            <a:off x="2047822" y="6385434"/>
            <a:ext cx="18069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E6-E9-00-17-BB-4B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4" name="Google Shape;804;p27"/>
          <p:cNvGrpSpPr/>
          <p:nvPr/>
        </p:nvGrpSpPr>
        <p:grpSpPr>
          <a:xfrm>
            <a:off x="1692439" y="3962382"/>
            <a:ext cx="9203072" cy="2497420"/>
            <a:chOff x="709613" y="3962400"/>
            <a:chExt cx="8661715" cy="2497420"/>
          </a:xfrm>
        </p:grpSpPr>
        <p:grpSp>
          <p:nvGrpSpPr>
            <p:cNvPr id="805" name="Google Shape;805;p27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806" name="Google Shape;806;p2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807" name="Google Shape;807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08" name="Google Shape;808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809" name="Google Shape;809;p27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10" name="Google Shape;810;p27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811" name="Google Shape;811;p27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12" name="Google Shape;812;p2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13" name="Google Shape;813;p2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14" name="Google Shape;814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815" name="Google Shape;815;p27"/>
            <p:cNvSpPr txBox="1"/>
            <p:nvPr/>
          </p:nvSpPr>
          <p:spPr>
            <a:xfrm>
              <a:off x="4224338" y="4381500"/>
              <a:ext cx="3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16" name="Google Shape;816;p27"/>
            <p:cNvSpPr txBox="1"/>
            <p:nvPr/>
          </p:nvSpPr>
          <p:spPr>
            <a:xfrm>
              <a:off x="3868738" y="5378450"/>
              <a:ext cx="1543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7"/>
            <p:cNvSpPr txBox="1"/>
            <p:nvPr/>
          </p:nvSpPr>
          <p:spPr>
            <a:xfrm>
              <a:off x="4586300" y="5701650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8" name="Google Shape;818;p27"/>
            <p:cNvGrpSpPr/>
            <p:nvPr/>
          </p:nvGrpSpPr>
          <p:grpSpPr>
            <a:xfrm>
              <a:off x="2852730" y="5794375"/>
              <a:ext cx="1905001" cy="665445"/>
              <a:chOff x="1813" y="2405"/>
              <a:chExt cx="1200" cy="419"/>
            </a:xfrm>
          </p:grpSpPr>
          <p:sp>
            <p:nvSpPr>
              <p:cNvPr id="819" name="Google Shape;819;p27"/>
              <p:cNvSpPr txBox="1"/>
              <p:nvPr/>
            </p:nvSpPr>
            <p:spPr>
              <a:xfrm>
                <a:off x="1934" y="2405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27"/>
              <p:cNvSpPr txBox="1"/>
              <p:nvPr/>
            </p:nvSpPr>
            <p:spPr>
              <a:xfrm>
                <a:off x="1813" y="2524"/>
                <a:ext cx="12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1" name="Google Shape;821;p27"/>
            <p:cNvSpPr txBox="1"/>
            <p:nvPr/>
          </p:nvSpPr>
          <p:spPr>
            <a:xfrm>
              <a:off x="952500" y="6037263"/>
              <a:ext cx="1627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7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7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7"/>
            <p:cNvSpPr txBox="1"/>
            <p:nvPr/>
          </p:nvSpPr>
          <p:spPr>
            <a:xfrm>
              <a:off x="730250" y="4927600"/>
              <a:ext cx="15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7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826" name="Google Shape;826;p27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7" name="Google Shape;827;p27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8" name="Google Shape;828;p27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9" name="Google Shape;829;p27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0" name="Google Shape;830;p27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1" name="Google Shape;831;p27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832" name="Google Shape;832;p27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33" name="Google Shape;833;p27"/>
            <p:cNvSpPr txBox="1"/>
            <p:nvPr/>
          </p:nvSpPr>
          <p:spPr>
            <a:xfrm>
              <a:off x="719138" y="4156075"/>
              <a:ext cx="39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4" name="Google Shape;834;p27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35" name="Google Shape;835;p27"/>
            <p:cNvGrpSpPr/>
            <p:nvPr/>
          </p:nvGrpSpPr>
          <p:grpSpPr>
            <a:xfrm>
              <a:off x="7373951" y="4845050"/>
              <a:ext cx="1997377" cy="743264"/>
              <a:chOff x="4352" y="2786"/>
              <a:chExt cx="1258" cy="468"/>
            </a:xfrm>
          </p:grpSpPr>
          <p:sp>
            <p:nvSpPr>
              <p:cNvPr id="836" name="Google Shape;836;p27"/>
              <p:cNvSpPr txBox="1"/>
              <p:nvPr/>
            </p:nvSpPr>
            <p:spPr>
              <a:xfrm>
                <a:off x="4352" y="2786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27"/>
              <p:cNvSpPr txBox="1"/>
              <p:nvPr/>
            </p:nvSpPr>
            <p:spPr>
              <a:xfrm>
                <a:off x="4710" y="2954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38" name="Google Shape;838;p27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9" name="Google Shape;839;p27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40" name="Google Shape;840;p27"/>
            <p:cNvSpPr txBox="1"/>
            <p:nvPr/>
          </p:nvSpPr>
          <p:spPr>
            <a:xfrm>
              <a:off x="7073900" y="5811850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7"/>
            <p:cNvSpPr txBox="1"/>
            <p:nvPr/>
          </p:nvSpPr>
          <p:spPr>
            <a:xfrm>
              <a:off x="7740213" y="6165188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2" name="Google Shape;842;p27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3" name="Google Shape;843;p27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844" name="Google Shape;844;p27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5" name="Google Shape;845;p27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6" name="Google Shape;846;p27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847" name="Google Shape;847;p2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848" name="Google Shape;848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49" name="Google Shape;849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850" name="Google Shape;850;p27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51" name="Google Shape;851;p27"/>
            <p:cNvGrpSpPr/>
            <p:nvPr/>
          </p:nvGrpSpPr>
          <p:grpSpPr>
            <a:xfrm>
              <a:off x="3757611" y="4714240"/>
              <a:ext cx="1292225" cy="426719"/>
              <a:chOff x="4011622" y="3379152"/>
              <a:chExt cx="1262683" cy="390207"/>
            </a:xfrm>
          </p:grpSpPr>
          <p:sp>
            <p:nvSpPr>
              <p:cNvPr id="852" name="Google Shape;852;p27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53" name="Google Shape;853;p27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854" name="Google Shape;854;p27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55" name="Google Shape;855;p27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56" name="Google Shape;856;p27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857" name="Google Shape;857;p27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858" name="Google Shape;858;p27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859" name="Google Shape;859;p27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860" name="Google Shape;860;p27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1" name="Google Shape;861;p27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62" name="Google Shape;862;p27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63" name="Google Shape;863;p27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864" name="Google Shape;864;p27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65" name="Google Shape;865;p2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66" name="Google Shape;866;p2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67" name="Google Shape;867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868" name="Google Shape;868;p27"/>
          <p:cNvSpPr/>
          <p:nvPr/>
        </p:nvSpPr>
        <p:spPr>
          <a:xfrm>
            <a:off x="3911601" y="3086101"/>
            <a:ext cx="314325" cy="792163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69" name="Google Shape;869;p27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870" name="Google Shape;870;p27"/>
          <p:cNvGrpSpPr/>
          <p:nvPr/>
        </p:nvGrpSpPr>
        <p:grpSpPr>
          <a:xfrm>
            <a:off x="2058988" y="2686050"/>
            <a:ext cx="976312" cy="1460500"/>
            <a:chOff x="337" y="1692"/>
            <a:chExt cx="615" cy="920"/>
          </a:xfrm>
        </p:grpSpPr>
        <p:sp>
          <p:nvSpPr>
            <p:cNvPr id="871" name="Google Shape;871;p27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73" name="Google Shape;873;p27"/>
            <p:cNvSpPr txBox="1"/>
            <p:nvPr/>
          </p:nvSpPr>
          <p:spPr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4" name="Google Shape;874;p27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5" name="Google Shape;875;p27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6" name="Google Shape;876;p27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7" name="Google Shape;877;p27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78" name="Google Shape;878;p27"/>
          <p:cNvGrpSpPr/>
          <p:nvPr/>
        </p:nvGrpSpPr>
        <p:grpSpPr>
          <a:xfrm>
            <a:off x="3471863" y="2637624"/>
            <a:ext cx="2398736" cy="765976"/>
            <a:chOff x="1231" y="1661"/>
            <a:chExt cx="1511" cy="483"/>
          </a:xfrm>
        </p:grpSpPr>
        <p:grpSp>
          <p:nvGrpSpPr>
            <p:cNvPr id="879" name="Google Shape;879;p27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880" name="Google Shape;880;p27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881" name="Google Shape;881;p27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2" name="Google Shape;882;p27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83" name="Google Shape;883;p27"/>
            <p:cNvSpPr txBox="1"/>
            <p:nvPr/>
          </p:nvSpPr>
          <p:spPr>
            <a:xfrm>
              <a:off x="1242" y="1661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</a:rPr>
                <a:t>   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4" name="Google Shape;884;p27"/>
          <p:cNvGrpSpPr/>
          <p:nvPr/>
        </p:nvGrpSpPr>
        <p:grpSpPr>
          <a:xfrm>
            <a:off x="3551238" y="2903538"/>
            <a:ext cx="146050" cy="385762"/>
            <a:chOff x="1272" y="1762"/>
            <a:chExt cx="92" cy="243"/>
          </a:xfrm>
        </p:grpSpPr>
        <p:cxnSp>
          <p:nvCxnSpPr>
            <p:cNvPr id="885" name="Google Shape;885;p27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86" name="Google Shape;886;p27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887" name="Google Shape;887;p27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creates IP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27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creates link-layer frame with R's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89" name="Google Shape;889;p27"/>
          <p:cNvGrpSpPr/>
          <p:nvPr/>
        </p:nvGrpSpPr>
        <p:grpSpPr>
          <a:xfrm>
            <a:off x="3001963" y="2244725"/>
            <a:ext cx="2443162" cy="1519238"/>
            <a:chOff x="931" y="1414"/>
            <a:chExt cx="1539" cy="957"/>
          </a:xfrm>
        </p:grpSpPr>
        <p:sp>
          <p:nvSpPr>
            <p:cNvPr id="890" name="Google Shape;890;p27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1" name="Google Shape;891;p27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892" name="Google Shape;892;p27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893" name="Google Shape;893;p27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894" name="Google Shape;894;p27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5" name="Google Shape;895;p27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" name="Google Shape;896;p27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7" name="Google Shape;897;p27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898" name="Google Shape;898;p27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899" name="Google Shape;899;p27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00" name="Google Shape;900;p27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01" name="Google Shape;901;p27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descr="underline_base" id="902" name="Google Shape;90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8" name="Google Shape;908;p28"/>
          <p:cNvGrpSpPr/>
          <p:nvPr/>
        </p:nvGrpSpPr>
        <p:grpSpPr>
          <a:xfrm>
            <a:off x="1611276" y="4007526"/>
            <a:ext cx="9823377" cy="2482851"/>
            <a:chOff x="709613" y="3962400"/>
            <a:chExt cx="8093077" cy="2482851"/>
          </a:xfrm>
        </p:grpSpPr>
        <p:grpSp>
          <p:nvGrpSpPr>
            <p:cNvPr id="909" name="Google Shape;909;p28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910" name="Google Shape;910;p2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911" name="Google Shape;911;p2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12" name="Google Shape;912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913" name="Google Shape;913;p28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14" name="Google Shape;914;p28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915" name="Google Shape;915;p28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16" name="Google Shape;916;p2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917" name="Google Shape;917;p2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18" name="Google Shape;918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919" name="Google Shape;919;p28"/>
            <p:cNvSpPr txBox="1"/>
            <p:nvPr/>
          </p:nvSpPr>
          <p:spPr>
            <a:xfrm>
              <a:off x="4224338" y="4381500"/>
              <a:ext cx="3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20" name="Google Shape;920;p28"/>
            <p:cNvSpPr txBox="1"/>
            <p:nvPr/>
          </p:nvSpPr>
          <p:spPr>
            <a:xfrm>
              <a:off x="3868738" y="5378450"/>
              <a:ext cx="1543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8"/>
            <p:cNvSpPr txBox="1"/>
            <p:nvPr/>
          </p:nvSpPr>
          <p:spPr>
            <a:xfrm>
              <a:off x="4016375" y="5205413"/>
              <a:ext cx="1322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2" name="Google Shape;922;p28"/>
            <p:cNvGrpSpPr/>
            <p:nvPr/>
          </p:nvGrpSpPr>
          <p:grpSpPr>
            <a:xfrm>
              <a:off x="3044825" y="5794375"/>
              <a:ext cx="1435100" cy="650876"/>
              <a:chOff x="1934" y="2405"/>
              <a:chExt cx="904" cy="410"/>
            </a:xfrm>
          </p:grpSpPr>
          <p:sp>
            <p:nvSpPr>
              <p:cNvPr id="923" name="Google Shape;923;p28"/>
              <p:cNvSpPr txBox="1"/>
              <p:nvPr/>
            </p:nvSpPr>
            <p:spPr>
              <a:xfrm>
                <a:off x="1934" y="2405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28"/>
              <p:cNvSpPr txBox="1"/>
              <p:nvPr/>
            </p:nvSpPr>
            <p:spPr>
              <a:xfrm>
                <a:off x="1938" y="2515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" name="Google Shape;925;p28"/>
            <p:cNvSpPr txBox="1"/>
            <p:nvPr/>
          </p:nvSpPr>
          <p:spPr>
            <a:xfrm>
              <a:off x="952500" y="6037263"/>
              <a:ext cx="1627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8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8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8"/>
            <p:cNvSpPr txBox="1"/>
            <p:nvPr/>
          </p:nvSpPr>
          <p:spPr>
            <a:xfrm>
              <a:off x="730250" y="4927600"/>
              <a:ext cx="15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8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930" name="Google Shape;930;p28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1" name="Google Shape;931;p28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2" name="Google Shape;932;p28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3" name="Google Shape;933;p28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4" name="Google Shape;934;p28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5" name="Google Shape;935;p28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36" name="Google Shape;936;p28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37" name="Google Shape;937;p28"/>
            <p:cNvSpPr txBox="1"/>
            <p:nvPr/>
          </p:nvSpPr>
          <p:spPr>
            <a:xfrm>
              <a:off x="719138" y="4156075"/>
              <a:ext cx="39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8" name="Google Shape;938;p28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39" name="Google Shape;939;p28"/>
            <p:cNvGrpSpPr/>
            <p:nvPr/>
          </p:nvGrpSpPr>
          <p:grpSpPr>
            <a:xfrm>
              <a:off x="7372352" y="4845050"/>
              <a:ext cx="1430338" cy="663575"/>
              <a:chOff x="4351" y="2786"/>
              <a:chExt cx="901" cy="418"/>
            </a:xfrm>
          </p:grpSpPr>
          <p:sp>
            <p:nvSpPr>
              <p:cNvPr id="940" name="Google Shape;940;p28"/>
              <p:cNvSpPr txBox="1"/>
              <p:nvPr/>
            </p:nvSpPr>
            <p:spPr>
              <a:xfrm>
                <a:off x="4352" y="2786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28"/>
              <p:cNvSpPr txBox="1"/>
              <p:nvPr/>
            </p:nvSpPr>
            <p:spPr>
              <a:xfrm>
                <a:off x="4351" y="2904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42" name="Google Shape;942;p28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3" name="Google Shape;943;p28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44" name="Google Shape;944;p28"/>
            <p:cNvSpPr txBox="1"/>
            <p:nvPr/>
          </p:nvSpPr>
          <p:spPr>
            <a:xfrm>
              <a:off x="7073900" y="5811838"/>
              <a:ext cx="1322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8"/>
            <p:cNvSpPr txBox="1"/>
            <p:nvPr/>
          </p:nvSpPr>
          <p:spPr>
            <a:xfrm>
              <a:off x="7077075" y="5986463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6" name="Google Shape;946;p28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7" name="Google Shape;947;p28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948" name="Google Shape;948;p28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49" name="Google Shape;949;p28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0" name="Google Shape;950;p28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951" name="Google Shape;951;p2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952" name="Google Shape;952;p2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53" name="Google Shape;953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954" name="Google Shape;954;p28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55" name="Google Shape;955;p28"/>
            <p:cNvGrpSpPr/>
            <p:nvPr/>
          </p:nvGrpSpPr>
          <p:grpSpPr>
            <a:xfrm>
              <a:off x="3757611" y="4714240"/>
              <a:ext cx="1292225" cy="426719"/>
              <a:chOff x="4011622" y="3379152"/>
              <a:chExt cx="1262683" cy="390207"/>
            </a:xfrm>
          </p:grpSpPr>
          <p:sp>
            <p:nvSpPr>
              <p:cNvPr id="956" name="Google Shape;956;p28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57" name="Google Shape;957;p28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958" name="Google Shape;958;p28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59" name="Google Shape;959;p28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60" name="Google Shape;960;p28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61" name="Google Shape;961;p28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962" name="Google Shape;962;p28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963" name="Google Shape;963;p28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964" name="Google Shape;964;p28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65" name="Google Shape;965;p28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966" name="Google Shape;966;p28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67" name="Google Shape;967;p28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968" name="Google Shape;968;p28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69" name="Google Shape;969;p2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970" name="Google Shape;970;p2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71" name="Google Shape;971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972" name="Google Shape;972;p28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973" name="Google Shape;973;p28"/>
          <p:cNvGrpSpPr/>
          <p:nvPr/>
        </p:nvGrpSpPr>
        <p:grpSpPr>
          <a:xfrm>
            <a:off x="2058988" y="2686050"/>
            <a:ext cx="976312" cy="1460500"/>
            <a:chOff x="337" y="1692"/>
            <a:chExt cx="615" cy="920"/>
          </a:xfrm>
        </p:grpSpPr>
        <p:sp>
          <p:nvSpPr>
            <p:cNvPr id="974" name="Google Shape;974;p28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5" name="Google Shape;975;p28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6" name="Google Shape;976;p28"/>
            <p:cNvSpPr txBox="1"/>
            <p:nvPr/>
          </p:nvSpPr>
          <p:spPr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7" name="Google Shape;977;p28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8" name="Google Shape;978;p28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9" name="Google Shape;979;p28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0" name="Google Shape;980;p28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81" name="Google Shape;981;p28"/>
          <p:cNvSpPr/>
          <p:nvPr/>
        </p:nvSpPr>
        <p:spPr>
          <a:xfrm>
            <a:off x="2230438" y="10842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frame sent from A to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2" name="Google Shape;982;p28"/>
          <p:cNvGrpSpPr/>
          <p:nvPr/>
        </p:nvGrpSpPr>
        <p:grpSpPr>
          <a:xfrm>
            <a:off x="4237038" y="3265489"/>
            <a:ext cx="1096962" cy="244475"/>
            <a:chOff x="1231" y="1990"/>
            <a:chExt cx="691" cy="154"/>
          </a:xfrm>
        </p:grpSpPr>
        <p:sp>
          <p:nvSpPr>
            <p:cNvPr id="983" name="Google Shape;983;p28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984" name="Google Shape;984;p28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5" name="Google Shape;985;p28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86" name="Google Shape;986;p28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987" name="Google Shape;987;p28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88" name="Google Shape;988;p28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89" name="Google Shape;989;p28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0" name="Google Shape;990;p28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1" name="Google Shape;991;p28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92" name="Google Shape;992;p28"/>
          <p:cNvSpPr/>
          <p:nvPr/>
        </p:nvSpPr>
        <p:spPr>
          <a:xfrm>
            <a:off x="2233613" y="14398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frame received at R, datagram removed, passed up to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3" name="Google Shape;993;p28"/>
          <p:cNvGrpSpPr/>
          <p:nvPr/>
        </p:nvGrpSpPr>
        <p:grpSpPr>
          <a:xfrm>
            <a:off x="3001963" y="2244725"/>
            <a:ext cx="2797190" cy="1519238"/>
            <a:chOff x="931" y="1414"/>
            <a:chExt cx="1762" cy="957"/>
          </a:xfrm>
        </p:grpSpPr>
        <p:sp>
          <p:nvSpPr>
            <p:cNvPr id="994" name="Google Shape;994;p28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MAC dest: 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5" name="Google Shape;995;p28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996" name="Google Shape;996;p28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997" name="Google Shape;997;p28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998" name="Google Shape;998;p28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9" name="Google Shape;999;p28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0" name="Google Shape;1000;p28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1" name="Google Shape;1001;p28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002" name="Google Shape;1002;p28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03" name="Google Shape;1003;p28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04" name="Google Shape;1004;p28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05" name="Google Shape;1005;p28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06" name="Google Shape;1006;p28"/>
            <p:cNvSpPr txBox="1"/>
            <p:nvPr/>
          </p:nvSpPr>
          <p:spPr>
            <a:xfrm>
              <a:off x="1193" y="1665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</a:t>
              </a:r>
              <a:r>
                <a:rPr lang="en-US" sz="1200">
                  <a:solidFill>
                    <a:schemeClr val="dk1"/>
                  </a:solidFill>
                </a:rPr>
                <a:t> 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7" name="Google Shape;1007;p28"/>
          <p:cNvGrpSpPr/>
          <p:nvPr/>
        </p:nvGrpSpPr>
        <p:grpSpPr>
          <a:xfrm>
            <a:off x="4191001" y="2435225"/>
            <a:ext cx="2381251" cy="979488"/>
            <a:chOff x="4493" y="1480"/>
            <a:chExt cx="1500" cy="617"/>
          </a:xfrm>
        </p:grpSpPr>
        <p:cxnSp>
          <p:nvCxnSpPr>
            <p:cNvPr id="1008" name="Google Shape;1008;p28"/>
            <p:cNvCxnSpPr/>
            <p:nvPr/>
          </p:nvCxnSpPr>
          <p:spPr>
            <a:xfrm rot="10800000">
              <a:off x="4576" y="1627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09" name="Google Shape;1009;p28"/>
            <p:cNvCxnSpPr/>
            <p:nvPr/>
          </p:nvCxnSpPr>
          <p:spPr>
            <a:xfrm>
              <a:off x="4668" y="1739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10" name="Google Shape;1010;p28"/>
            <p:cNvSpPr txBox="1"/>
            <p:nvPr/>
          </p:nvSpPr>
          <p:spPr>
            <a:xfrm>
              <a:off x="4493" y="148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011" name="Google Shape;101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7" name="Google Shape;1017;p29"/>
          <p:cNvGrpSpPr/>
          <p:nvPr/>
        </p:nvGrpSpPr>
        <p:grpSpPr>
          <a:xfrm>
            <a:off x="1669233" y="3962400"/>
            <a:ext cx="8647453" cy="2482851"/>
            <a:chOff x="709613" y="3962400"/>
            <a:chExt cx="8093077" cy="2482851"/>
          </a:xfrm>
        </p:grpSpPr>
        <p:grpSp>
          <p:nvGrpSpPr>
            <p:cNvPr id="1018" name="Google Shape;1018;p29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019" name="Google Shape;1019;p29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020" name="Google Shape;1020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21" name="Google Shape;1021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022" name="Google Shape;1022;p29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023" name="Google Shape;1023;p29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1024" name="Google Shape;1024;p29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025" name="Google Shape;1025;p29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026" name="Google Shape;1026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27" name="Google Shape;1027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1028" name="Google Shape;1028;p29"/>
            <p:cNvSpPr txBox="1"/>
            <p:nvPr/>
          </p:nvSpPr>
          <p:spPr>
            <a:xfrm>
              <a:off x="4224338" y="4381500"/>
              <a:ext cx="3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29" name="Google Shape;1029;p29"/>
            <p:cNvSpPr txBox="1"/>
            <p:nvPr/>
          </p:nvSpPr>
          <p:spPr>
            <a:xfrm>
              <a:off x="3868738" y="5378450"/>
              <a:ext cx="1543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29"/>
            <p:cNvSpPr txBox="1"/>
            <p:nvPr/>
          </p:nvSpPr>
          <p:spPr>
            <a:xfrm>
              <a:off x="4016375" y="5205413"/>
              <a:ext cx="1322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1" name="Google Shape;1031;p29"/>
            <p:cNvGrpSpPr/>
            <p:nvPr/>
          </p:nvGrpSpPr>
          <p:grpSpPr>
            <a:xfrm>
              <a:off x="3044825" y="5794375"/>
              <a:ext cx="1435100" cy="650876"/>
              <a:chOff x="1934" y="2405"/>
              <a:chExt cx="904" cy="410"/>
            </a:xfrm>
          </p:grpSpPr>
          <p:sp>
            <p:nvSpPr>
              <p:cNvPr id="1032" name="Google Shape;1032;p29"/>
              <p:cNvSpPr txBox="1"/>
              <p:nvPr/>
            </p:nvSpPr>
            <p:spPr>
              <a:xfrm>
                <a:off x="1934" y="2405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29"/>
              <p:cNvSpPr txBox="1"/>
              <p:nvPr/>
            </p:nvSpPr>
            <p:spPr>
              <a:xfrm>
                <a:off x="1938" y="2515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4" name="Google Shape;1034;p29"/>
            <p:cNvSpPr txBox="1"/>
            <p:nvPr/>
          </p:nvSpPr>
          <p:spPr>
            <a:xfrm>
              <a:off x="952500" y="6037263"/>
              <a:ext cx="1627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29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29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29"/>
            <p:cNvSpPr txBox="1"/>
            <p:nvPr/>
          </p:nvSpPr>
          <p:spPr>
            <a:xfrm>
              <a:off x="730250" y="4927600"/>
              <a:ext cx="150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29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039" name="Google Shape;1039;p29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0" name="Google Shape;1040;p29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1" name="Google Shape;1041;p29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2" name="Google Shape;1042;p29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43" name="Google Shape;1043;p29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44" name="Google Shape;1044;p29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45" name="Google Shape;1045;p29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46" name="Google Shape;1046;p29"/>
            <p:cNvSpPr txBox="1"/>
            <p:nvPr/>
          </p:nvSpPr>
          <p:spPr>
            <a:xfrm>
              <a:off x="719138" y="4156075"/>
              <a:ext cx="39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7" name="Google Shape;1047;p29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48" name="Google Shape;1048;p29"/>
            <p:cNvGrpSpPr/>
            <p:nvPr/>
          </p:nvGrpSpPr>
          <p:grpSpPr>
            <a:xfrm>
              <a:off x="7372352" y="4845050"/>
              <a:ext cx="1430338" cy="663575"/>
              <a:chOff x="4351" y="2786"/>
              <a:chExt cx="901" cy="418"/>
            </a:xfrm>
          </p:grpSpPr>
          <p:sp>
            <p:nvSpPr>
              <p:cNvPr id="1049" name="Google Shape;1049;p29"/>
              <p:cNvSpPr txBox="1"/>
              <p:nvPr/>
            </p:nvSpPr>
            <p:spPr>
              <a:xfrm>
                <a:off x="4352" y="2786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29"/>
              <p:cNvSpPr txBox="1"/>
              <p:nvPr/>
            </p:nvSpPr>
            <p:spPr>
              <a:xfrm>
                <a:off x="4351" y="2904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51" name="Google Shape;1051;p29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2" name="Google Shape;1052;p29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53" name="Google Shape;1053;p29"/>
            <p:cNvSpPr txBox="1"/>
            <p:nvPr/>
          </p:nvSpPr>
          <p:spPr>
            <a:xfrm>
              <a:off x="7073900" y="5811838"/>
              <a:ext cx="1322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9"/>
            <p:cNvSpPr txBox="1"/>
            <p:nvPr/>
          </p:nvSpPr>
          <p:spPr>
            <a:xfrm>
              <a:off x="7077075" y="5986463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5" name="Google Shape;1055;p29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6" name="Google Shape;1056;p29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057" name="Google Shape;1057;p29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58" name="Google Shape;1058;p29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9" name="Google Shape;1059;p29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060" name="Google Shape;1060;p29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061" name="Google Shape;1061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62" name="Google Shape;1062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063" name="Google Shape;1063;p29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064" name="Google Shape;1064;p29"/>
            <p:cNvGrpSpPr/>
            <p:nvPr/>
          </p:nvGrpSpPr>
          <p:grpSpPr>
            <a:xfrm>
              <a:off x="3757611" y="4714240"/>
              <a:ext cx="1292225" cy="426719"/>
              <a:chOff x="4011622" y="3379152"/>
              <a:chExt cx="1262683" cy="390207"/>
            </a:xfrm>
          </p:grpSpPr>
          <p:sp>
            <p:nvSpPr>
              <p:cNvPr id="1065" name="Google Shape;1065;p29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066" name="Google Shape;1066;p29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067" name="Google Shape;1067;p29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68" name="Google Shape;1068;p29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69" name="Google Shape;1069;p29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070" name="Google Shape;1070;p29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071" name="Google Shape;1071;p29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1073" name="Google Shape;1073;p29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74" name="Google Shape;1074;p29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075" name="Google Shape;1075;p29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076" name="Google Shape;1076;p29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1077" name="Google Shape;1077;p29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078" name="Google Shape;1078;p29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079" name="Google Shape;1079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80" name="Google Shape;1080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081" name="Google Shape;1081;p29"/>
          <p:cNvSpPr/>
          <p:nvPr/>
        </p:nvSpPr>
        <p:spPr>
          <a:xfrm>
            <a:off x="7234239" y="3144838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2" name="Google Shape;1082;p29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1083" name="Google Shape;1083;p29"/>
          <p:cNvGrpSpPr/>
          <p:nvPr/>
        </p:nvGrpSpPr>
        <p:grpSpPr>
          <a:xfrm>
            <a:off x="6740526" y="2701926"/>
            <a:ext cx="2381251" cy="760413"/>
            <a:chOff x="1197" y="1665"/>
            <a:chExt cx="1500" cy="479"/>
          </a:xfrm>
        </p:grpSpPr>
        <p:grpSp>
          <p:nvGrpSpPr>
            <p:cNvPr id="1084" name="Google Shape;1084;p29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085" name="Google Shape;1085;p29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086" name="Google Shape;1086;p29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7" name="Google Shape;1087;p29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088" name="Google Shape;1088;p29"/>
            <p:cNvSpPr txBox="1"/>
            <p:nvPr/>
          </p:nvSpPr>
          <p:spPr>
            <a:xfrm>
              <a:off x="1197" y="1665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9" name="Google Shape;1089;p29"/>
          <p:cNvGrpSpPr/>
          <p:nvPr/>
        </p:nvGrpSpPr>
        <p:grpSpPr>
          <a:xfrm>
            <a:off x="6864350" y="2952751"/>
            <a:ext cx="146050" cy="385763"/>
            <a:chOff x="1272" y="1762"/>
            <a:chExt cx="92" cy="243"/>
          </a:xfrm>
        </p:grpSpPr>
        <p:cxnSp>
          <p:nvCxnSpPr>
            <p:cNvPr id="1090" name="Google Shape;1090;p29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91" name="Google Shape;1091;p29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092" name="Google Shape;1092;p29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29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94" name="Google Shape;1094;p29"/>
          <p:cNvGrpSpPr/>
          <p:nvPr/>
        </p:nvGrpSpPr>
        <p:grpSpPr>
          <a:xfrm>
            <a:off x="6315075" y="2293939"/>
            <a:ext cx="2428876" cy="1519237"/>
            <a:chOff x="931" y="1414"/>
            <a:chExt cx="1530" cy="957"/>
          </a:xfrm>
        </p:grpSpPr>
        <p:sp>
          <p:nvSpPr>
            <p:cNvPr id="1095" name="Google Shape;1095;p29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6" name="Google Shape;1096;p29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097" name="Google Shape;1097;p29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098" name="Google Shape;1098;p29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099" name="Google Shape;1099;p29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0" name="Google Shape;1100;p29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1" name="Google Shape;1101;p29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2" name="Google Shape;1102;p29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103" name="Google Shape;1103;p29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04" name="Google Shape;1104;p29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05" name="Google Shape;1105;p29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06" name="Google Shape;1106;p29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107" name="Google Shape;1107;p29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1108" name="Google Shape;1108;p29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9" name="Google Shape;1109;p29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10" name="Google Shape;1110;p29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1" name="Google Shape;1111;p29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2" name="Google Shape;1112;p29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13" name="Google Shape;1113;p29"/>
          <p:cNvGrpSpPr/>
          <p:nvPr/>
        </p:nvGrpSpPr>
        <p:grpSpPr>
          <a:xfrm>
            <a:off x="9585325" y="2478088"/>
            <a:ext cx="928688" cy="1954212"/>
            <a:chOff x="250" y="1380"/>
            <a:chExt cx="585" cy="1231"/>
          </a:xfrm>
        </p:grpSpPr>
        <p:sp>
          <p:nvSpPr>
            <p:cNvPr id="1114" name="Google Shape;1114;p29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15" name="Google Shape;1115;p29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16" name="Google Shape;1116;p29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7" name="Google Shape;1117;p29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8" name="Google Shape;1118;p29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9" name="Google Shape;1119;p29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0" name="Google Shape;1120;p29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121" name="Google Shape;112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29"/>
          <p:cNvSpPr/>
          <p:nvPr/>
        </p:nvSpPr>
        <p:spPr>
          <a:xfrm>
            <a:off x="6274029" y="4765288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29"/>
          <p:cNvSpPr/>
          <p:nvPr/>
        </p:nvSpPr>
        <p:spPr>
          <a:xfrm>
            <a:off x="7754108" y="4900024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9"/>
          <p:cNvSpPr/>
          <p:nvPr/>
        </p:nvSpPr>
        <p:spPr>
          <a:xfrm>
            <a:off x="9152388" y="4183064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29"/>
          <p:cNvSpPr/>
          <p:nvPr/>
        </p:nvSpPr>
        <p:spPr>
          <a:xfrm>
            <a:off x="7806773" y="497990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1" name="Google Shape;1131;p31"/>
          <p:cNvGrpSpPr/>
          <p:nvPr/>
        </p:nvGrpSpPr>
        <p:grpSpPr>
          <a:xfrm>
            <a:off x="8331368" y="5191274"/>
            <a:ext cx="766122" cy="600059"/>
            <a:chOff x="7179310" y="4033520"/>
            <a:chExt cx="1009650" cy="855028"/>
          </a:xfrm>
        </p:grpSpPr>
        <p:grpSp>
          <p:nvGrpSpPr>
            <p:cNvPr id="1132" name="Google Shape;1132;p31"/>
            <p:cNvGrpSpPr/>
            <p:nvPr/>
          </p:nvGrpSpPr>
          <p:grpSpPr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1133" name="Google Shape;1133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4" name="Google Shape;1134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1135" name="Google Shape;1135;p31"/>
            <p:cNvSpPr/>
            <p:nvPr/>
          </p:nvSpPr>
          <p:spPr>
            <a:xfrm rot="-5400000">
              <a:off x="7439378" y="4308711"/>
              <a:ext cx="126671" cy="196070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136" name="Google Shape;1136;p31"/>
          <p:cNvGrpSpPr/>
          <p:nvPr/>
        </p:nvGrpSpPr>
        <p:grpSpPr>
          <a:xfrm>
            <a:off x="1939144" y="3799298"/>
            <a:ext cx="1106408" cy="762037"/>
            <a:chOff x="1046480" y="3962400"/>
            <a:chExt cx="1026163" cy="761428"/>
          </a:xfrm>
        </p:grpSpPr>
        <p:sp>
          <p:nvSpPr>
            <p:cNvPr id="1137" name="Google Shape;1137;p31"/>
            <p:cNvSpPr/>
            <p:nvPr/>
          </p:nvSpPr>
          <p:spPr>
            <a:xfrm rot="-5400000">
              <a:off x="1893411" y="4300306"/>
              <a:ext cx="111042" cy="24742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138" name="Google Shape;1138;p31"/>
            <p:cNvGrpSpPr/>
            <p:nvPr/>
          </p:nvGrpSpPr>
          <p:grpSpPr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1139" name="Google Shape;1139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40" name="Google Shape;1140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1141" name="Google Shape;1141;p31"/>
          <p:cNvSpPr txBox="1"/>
          <p:nvPr/>
        </p:nvSpPr>
        <p:spPr>
          <a:xfrm>
            <a:off x="5362491" y="4218218"/>
            <a:ext cx="40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42" name="Google Shape;1142;p31"/>
          <p:cNvSpPr txBox="1"/>
          <p:nvPr/>
        </p:nvSpPr>
        <p:spPr>
          <a:xfrm>
            <a:off x="4979452" y="5215171"/>
            <a:ext cx="166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1A-23-F9-CD-06-9B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1"/>
          <p:cNvSpPr txBox="1"/>
          <p:nvPr/>
        </p:nvSpPr>
        <p:spPr>
          <a:xfrm>
            <a:off x="5138481" y="5042135"/>
            <a:ext cx="142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222.222.222.220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4" name="Google Shape;1144;p31"/>
          <p:cNvGrpSpPr/>
          <p:nvPr/>
        </p:nvGrpSpPr>
        <p:grpSpPr>
          <a:xfrm>
            <a:off x="4091969" y="5631098"/>
            <a:ext cx="1545830" cy="650878"/>
            <a:chOff x="1934" y="2405"/>
            <a:chExt cx="904" cy="410"/>
          </a:xfrm>
        </p:grpSpPr>
        <p:sp>
          <p:nvSpPr>
            <p:cNvPr id="1145" name="Google Shape;1145;p31"/>
            <p:cNvSpPr txBox="1"/>
            <p:nvPr/>
          </p:nvSpPr>
          <p:spPr>
            <a:xfrm>
              <a:off x="1934" y="2405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31"/>
            <p:cNvSpPr txBox="1"/>
            <p:nvPr/>
          </p:nvSpPr>
          <p:spPr>
            <a:xfrm>
              <a:off x="1938" y="2515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7" name="Google Shape;1147;p31"/>
          <p:cNvSpPr txBox="1"/>
          <p:nvPr/>
        </p:nvSpPr>
        <p:spPr>
          <a:xfrm>
            <a:off x="1838203" y="5873987"/>
            <a:ext cx="175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CC-49-DE-D0-AB-7D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1"/>
          <p:cNvSpPr txBox="1"/>
          <p:nvPr/>
        </p:nvSpPr>
        <p:spPr>
          <a:xfrm>
            <a:off x="1827943" y="5691424"/>
            <a:ext cx="135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111.111.111.112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1"/>
          <p:cNvSpPr txBox="1"/>
          <p:nvPr/>
        </p:nvSpPr>
        <p:spPr>
          <a:xfrm>
            <a:off x="1576575" y="4578583"/>
            <a:ext cx="133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111.111.111.111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1"/>
          <p:cNvSpPr txBox="1"/>
          <p:nvPr/>
        </p:nvSpPr>
        <p:spPr>
          <a:xfrm>
            <a:off x="1598806" y="4764320"/>
            <a:ext cx="1626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1"/>
          <p:cNvSpPr/>
          <p:nvPr/>
        </p:nvSpPr>
        <p:spPr>
          <a:xfrm>
            <a:off x="3360093" y="4273782"/>
            <a:ext cx="904585" cy="106997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152" name="Google Shape;1152;p31"/>
          <p:cNvCxnSpPr/>
          <p:nvPr/>
        </p:nvCxnSpPr>
        <p:spPr>
          <a:xfrm>
            <a:off x="3033486" y="4253143"/>
            <a:ext cx="471900" cy="23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3" name="Google Shape;1153;p31"/>
          <p:cNvCxnSpPr/>
          <p:nvPr/>
        </p:nvCxnSpPr>
        <p:spPr>
          <a:xfrm flipH="1" rot="10800000">
            <a:off x="3166866" y="5197698"/>
            <a:ext cx="249600" cy="25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4" name="Google Shape;1154;p31"/>
          <p:cNvCxnSpPr/>
          <p:nvPr/>
        </p:nvCxnSpPr>
        <p:spPr>
          <a:xfrm>
            <a:off x="4242447" y="4791309"/>
            <a:ext cx="629400" cy="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5" name="Google Shape;1155;p31"/>
          <p:cNvCxnSpPr/>
          <p:nvPr/>
        </p:nvCxnSpPr>
        <p:spPr>
          <a:xfrm rot="10800000">
            <a:off x="3076235" y="5548562"/>
            <a:ext cx="0" cy="16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6" name="Google Shape;1156;p31"/>
          <p:cNvCxnSpPr/>
          <p:nvPr/>
        </p:nvCxnSpPr>
        <p:spPr>
          <a:xfrm rot="10800000">
            <a:off x="2941146" y="4326234"/>
            <a:ext cx="0" cy="39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7" name="Google Shape;1157;p31"/>
          <p:cNvCxnSpPr/>
          <p:nvPr/>
        </p:nvCxnSpPr>
        <p:spPr>
          <a:xfrm>
            <a:off x="4964062" y="4857984"/>
            <a:ext cx="0" cy="75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58" name="Google Shape;1158;p31"/>
          <p:cNvCxnSpPr/>
          <p:nvPr/>
        </p:nvCxnSpPr>
        <p:spPr>
          <a:xfrm rot="10800000">
            <a:off x="6128594" y="4848321"/>
            <a:ext cx="5100" cy="22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9" name="Google Shape;1159;p31"/>
          <p:cNvSpPr txBox="1"/>
          <p:nvPr/>
        </p:nvSpPr>
        <p:spPr>
          <a:xfrm>
            <a:off x="1586836" y="3992793"/>
            <a:ext cx="4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0" name="Google Shape;1160;p31"/>
          <p:cNvCxnSpPr/>
          <p:nvPr/>
        </p:nvCxnSpPr>
        <p:spPr>
          <a:xfrm>
            <a:off x="6246555" y="4757970"/>
            <a:ext cx="129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61" name="Google Shape;1161;p31"/>
          <p:cNvGrpSpPr/>
          <p:nvPr/>
        </p:nvGrpSpPr>
        <p:grpSpPr>
          <a:xfrm>
            <a:off x="8753400" y="4681769"/>
            <a:ext cx="2051987" cy="663581"/>
            <a:chOff x="4351" y="2786"/>
            <a:chExt cx="1200" cy="418"/>
          </a:xfrm>
        </p:grpSpPr>
        <p:sp>
          <p:nvSpPr>
            <p:cNvPr id="1162" name="Google Shape;1162;p31"/>
            <p:cNvSpPr txBox="1"/>
            <p:nvPr/>
          </p:nvSpPr>
          <p:spPr>
            <a:xfrm>
              <a:off x="4352" y="278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31"/>
            <p:cNvSpPr txBox="1"/>
            <p:nvPr/>
          </p:nvSpPr>
          <p:spPr>
            <a:xfrm>
              <a:off x="4351" y="290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64" name="Google Shape;1164;p31"/>
          <p:cNvCxnSpPr/>
          <p:nvPr/>
        </p:nvCxnSpPr>
        <p:spPr>
          <a:xfrm flipH="1" rot="10800000">
            <a:off x="8291700" y="4253244"/>
            <a:ext cx="485700" cy="31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5" name="Google Shape;1165;p31"/>
          <p:cNvCxnSpPr/>
          <p:nvPr/>
        </p:nvCxnSpPr>
        <p:spPr>
          <a:xfrm rot="10800000">
            <a:off x="8857676" y="4329483"/>
            <a:ext cx="12000" cy="38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6" name="Google Shape;1166;p31"/>
          <p:cNvSpPr txBox="1"/>
          <p:nvPr/>
        </p:nvSpPr>
        <p:spPr>
          <a:xfrm>
            <a:off x="8431919" y="5648561"/>
            <a:ext cx="142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222.222.222.221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1"/>
          <p:cNvSpPr txBox="1"/>
          <p:nvPr/>
        </p:nvSpPr>
        <p:spPr>
          <a:xfrm>
            <a:off x="8435340" y="5823187"/>
            <a:ext cx="161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88-B2-2F-54-1A-0F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8" name="Google Shape;1168;p31"/>
          <p:cNvCxnSpPr/>
          <p:nvPr/>
        </p:nvCxnSpPr>
        <p:spPr>
          <a:xfrm rot="10800000">
            <a:off x="8216458" y="5150111"/>
            <a:ext cx="273600" cy="25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9" name="Google Shape;1169;p31"/>
          <p:cNvCxnSpPr/>
          <p:nvPr/>
        </p:nvCxnSpPr>
        <p:spPr>
          <a:xfrm flipH="1">
            <a:off x="8577298" y="5491398"/>
            <a:ext cx="5100" cy="2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170" name="Google Shape;1170;p31"/>
          <p:cNvSpPr/>
          <p:nvPr/>
        </p:nvSpPr>
        <p:spPr>
          <a:xfrm>
            <a:off x="7494846" y="4276957"/>
            <a:ext cx="824216" cy="1081091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71" name="Google Shape;1171;p31"/>
          <p:cNvSpPr txBox="1"/>
          <p:nvPr/>
        </p:nvSpPr>
        <p:spPr>
          <a:xfrm>
            <a:off x="9760580" y="3910243"/>
            <a:ext cx="3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2" name="Google Shape;1172;p31"/>
          <p:cNvGrpSpPr/>
          <p:nvPr/>
        </p:nvGrpSpPr>
        <p:grpSpPr>
          <a:xfrm>
            <a:off x="8545079" y="3870602"/>
            <a:ext cx="1087595" cy="854087"/>
            <a:chOff x="7179310" y="4033520"/>
            <a:chExt cx="1009650" cy="855028"/>
          </a:xfrm>
        </p:grpSpPr>
        <p:grpSp>
          <p:nvGrpSpPr>
            <p:cNvPr id="1173" name="Google Shape;1173;p31"/>
            <p:cNvGrpSpPr/>
            <p:nvPr/>
          </p:nvGrpSpPr>
          <p:grpSpPr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1174" name="Google Shape;1174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5" name="Google Shape;1175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1176" name="Google Shape;1176;p31"/>
            <p:cNvSpPr/>
            <p:nvPr/>
          </p:nvSpPr>
          <p:spPr>
            <a:xfrm rot="-5400000">
              <a:off x="7438796" y="4309366"/>
              <a:ext cx="127142" cy="195263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177" name="Google Shape;1177;p31"/>
          <p:cNvGrpSpPr/>
          <p:nvPr/>
        </p:nvGrpSpPr>
        <p:grpSpPr>
          <a:xfrm>
            <a:off x="4859757" y="4551519"/>
            <a:ext cx="1391929" cy="425443"/>
            <a:chOff x="4011931" y="3379152"/>
            <a:chExt cx="1262063" cy="390207"/>
          </a:xfrm>
        </p:grpSpPr>
        <p:sp>
          <p:nvSpPr>
            <p:cNvPr id="1178" name="Google Shape;1178;p31"/>
            <p:cNvSpPr/>
            <p:nvPr/>
          </p:nvSpPr>
          <p:spPr>
            <a:xfrm rot="-5400000">
              <a:off x="5112252" y="3476577"/>
              <a:ext cx="128128" cy="195356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179" name="Google Shape;1179;p31"/>
            <p:cNvGrpSpPr/>
            <p:nvPr/>
          </p:nvGrpSpPr>
          <p:grpSpPr>
            <a:xfrm>
              <a:off x="4197985" y="3379152"/>
              <a:ext cx="892175" cy="390207"/>
              <a:chOff x="4650" y="1129"/>
              <a:chExt cx="246" cy="95"/>
            </a:xfrm>
          </p:grpSpPr>
          <p:sp>
            <p:nvSpPr>
              <p:cNvPr id="1180" name="Google Shape;1180;p31"/>
              <p:cNvSpPr/>
              <p:nvPr/>
            </p:nvSpPr>
            <p:spPr>
              <a:xfrm>
                <a:off x="4651" y="1171"/>
                <a:ext cx="244" cy="53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1" name="Google Shape;1181;p31"/>
              <p:cNvSpPr/>
              <p:nvPr/>
            </p:nvSpPr>
            <p:spPr>
              <a:xfrm>
                <a:off x="4651" y="1165"/>
                <a:ext cx="245" cy="33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2" name="Google Shape;1182;p31"/>
              <p:cNvSpPr/>
              <p:nvPr/>
            </p:nvSpPr>
            <p:spPr>
              <a:xfrm>
                <a:off x="4650" y="1129"/>
                <a:ext cx="244" cy="62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183" name="Google Shape;1183;p31"/>
              <p:cNvGrpSpPr/>
              <p:nvPr/>
            </p:nvGrpSpPr>
            <p:grpSpPr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84" name="Google Shape;1184;p3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5" name="Google Shape;1185;p3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cxnSp>
            <p:nvCxnSpPr>
              <p:cNvPr id="1186" name="Google Shape;1186;p31"/>
              <p:cNvCxnSpPr/>
              <p:nvPr/>
            </p:nvCxnSpPr>
            <p:spPr>
              <a:xfrm>
                <a:off x="4651" y="1158"/>
                <a:ext cx="0" cy="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7" name="Google Shape;1187;p31"/>
              <p:cNvCxnSpPr/>
              <p:nvPr/>
            </p:nvCxnSpPr>
            <p:spPr>
              <a:xfrm>
                <a:off x="4894" y="1160"/>
                <a:ext cx="0" cy="4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188" name="Google Shape;1188;p31"/>
            <p:cNvSpPr/>
            <p:nvPr/>
          </p:nvSpPr>
          <p:spPr>
            <a:xfrm rot="-5400000">
              <a:off x="4046274" y="3486041"/>
              <a:ext cx="126671" cy="195356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189" name="Google Shape;1189;p31"/>
          <p:cNvGrpSpPr/>
          <p:nvPr/>
        </p:nvGrpSpPr>
        <p:grpSpPr>
          <a:xfrm>
            <a:off x="2409294" y="5150168"/>
            <a:ext cx="755769" cy="517543"/>
            <a:chOff x="1046480" y="3962400"/>
            <a:chExt cx="1026163" cy="761428"/>
          </a:xfrm>
        </p:grpSpPr>
        <p:sp>
          <p:nvSpPr>
            <p:cNvPr id="1190" name="Google Shape;1190;p31"/>
            <p:cNvSpPr/>
            <p:nvPr/>
          </p:nvSpPr>
          <p:spPr>
            <a:xfrm rot="-5400000">
              <a:off x="1893548" y="4299487"/>
              <a:ext cx="109776" cy="248414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191" name="Google Shape;1191;p31"/>
            <p:cNvGrpSpPr/>
            <p:nvPr/>
          </p:nvGrpSpPr>
          <p:grpSpPr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1192" name="Google Shape;1192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3" name="Google Shape;1193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1194" name="Google Shape;1194;p31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sp>
        <p:nvSpPr>
          <p:cNvPr id="1195" name="Google Shape;1195;p31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1"/>
          <p:cNvSpPr/>
          <p:nvPr/>
        </p:nvSpPr>
        <p:spPr>
          <a:xfrm>
            <a:off x="2224995" y="1405165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97" name="Google Shape;1197;p31"/>
          <p:cNvSpPr/>
          <p:nvPr/>
        </p:nvSpPr>
        <p:spPr>
          <a:xfrm>
            <a:off x="8225746" y="2733901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198" name="Google Shape;1198;p31"/>
          <p:cNvGrpSpPr/>
          <p:nvPr/>
        </p:nvGrpSpPr>
        <p:grpSpPr>
          <a:xfrm>
            <a:off x="7732025" y="2291001"/>
            <a:ext cx="2381251" cy="760401"/>
            <a:chOff x="1197" y="1665"/>
            <a:chExt cx="1500" cy="479"/>
          </a:xfrm>
        </p:grpSpPr>
        <p:grpSp>
          <p:nvGrpSpPr>
            <p:cNvPr id="1199" name="Google Shape;1199;p31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200" name="Google Shape;1200;p31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201" name="Google Shape;1201;p31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2" name="Google Shape;1202;p31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203" name="Google Shape;1203;p31"/>
            <p:cNvSpPr txBox="1"/>
            <p:nvPr/>
          </p:nvSpPr>
          <p:spPr>
            <a:xfrm>
              <a:off x="1197" y="1665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4" name="Google Shape;1204;p31"/>
          <p:cNvGrpSpPr/>
          <p:nvPr/>
        </p:nvGrpSpPr>
        <p:grpSpPr>
          <a:xfrm>
            <a:off x="7855857" y="2541814"/>
            <a:ext cx="146050" cy="385763"/>
            <a:chOff x="1272" y="1762"/>
            <a:chExt cx="92" cy="243"/>
          </a:xfrm>
        </p:grpSpPr>
        <p:cxnSp>
          <p:nvCxnSpPr>
            <p:cNvPr id="1205" name="Google Shape;1205;p31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06" name="Google Shape;1206;p31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207" name="Google Shape;1207;p31"/>
          <p:cNvGrpSpPr/>
          <p:nvPr/>
        </p:nvGrpSpPr>
        <p:grpSpPr>
          <a:xfrm>
            <a:off x="7306582" y="1883002"/>
            <a:ext cx="2428876" cy="1519237"/>
            <a:chOff x="931" y="1414"/>
            <a:chExt cx="1530" cy="957"/>
          </a:xfrm>
        </p:grpSpPr>
        <p:sp>
          <p:nvSpPr>
            <p:cNvPr id="1208" name="Google Shape;1208;p31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9" name="Google Shape;1209;p31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210" name="Google Shape;1210;p31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211" name="Google Shape;1211;p31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212" name="Google Shape;1212;p31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3" name="Google Shape;1213;p31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4" name="Google Shape;1214;p31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5" name="Google Shape;1215;p31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216" name="Google Shape;1216;p31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217" name="Google Shape;1217;p31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218" name="Google Shape;1218;p31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219" name="Google Shape;1219;p31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220" name="Google Shape;1220;p31"/>
          <p:cNvGrpSpPr/>
          <p:nvPr/>
        </p:nvGrpSpPr>
        <p:grpSpPr>
          <a:xfrm>
            <a:off x="9495532" y="2314800"/>
            <a:ext cx="1000344" cy="1954218"/>
            <a:chOff x="250" y="1380"/>
            <a:chExt cx="585" cy="1231"/>
          </a:xfrm>
        </p:grpSpPr>
        <p:sp>
          <p:nvSpPr>
            <p:cNvPr id="1221" name="Google Shape;1221;p31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2" name="Google Shape;1222;p31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3" name="Google Shape;1223;p31"/>
            <p:cNvSpPr txBox="1"/>
            <p:nvPr/>
          </p:nvSpPr>
          <p:spPr>
            <a:xfrm>
              <a:off x="413" y="1380"/>
              <a:ext cx="3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4" name="Google Shape;1224;p31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5" name="Google Shape;1225;p31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6" name="Google Shape;1226;p31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7" name="Google Shape;1227;p31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228" name="Google Shape;122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83431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31"/>
          <p:cNvSpPr txBox="1"/>
          <p:nvPr/>
        </p:nvSpPr>
        <p:spPr>
          <a:xfrm>
            <a:off x="1863827" y="6271334"/>
            <a:ext cx="4507165" cy="444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235" name="Google Shape;123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42"/>
          <p:cNvSpPr txBox="1"/>
          <p:nvPr>
            <p:ph idx="1" type="body"/>
          </p:nvPr>
        </p:nvSpPr>
        <p:spPr>
          <a:xfrm>
            <a:off x="2057400" y="1371600"/>
            <a:ext cx="9445623" cy="4796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14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 b="1" sz="34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3055" lvl="1" marL="74295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Characteristics of a switch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Role of switch in a LAN</a:t>
            </a:r>
            <a:endParaRPr/>
          </a:p>
        </p:txBody>
      </p:sp>
      <p:sp>
        <p:nvSpPr>
          <p:cNvPr id="1237" name="Google Shape;1237;p42"/>
          <p:cNvSpPr txBox="1"/>
          <p:nvPr/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3"/>
          <p:cNvSpPr txBox="1"/>
          <p:nvPr>
            <p:ph type="title"/>
          </p:nvPr>
        </p:nvSpPr>
        <p:spPr>
          <a:xfrm>
            <a:off x="20701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/>
          </a:p>
        </p:txBody>
      </p:sp>
      <p:sp>
        <p:nvSpPr>
          <p:cNvPr id="1244" name="Google Shape;1244;p43"/>
          <p:cNvSpPr txBox="1"/>
          <p:nvPr>
            <p:ph idx="1" type="body"/>
          </p:nvPr>
        </p:nvSpPr>
        <p:spPr>
          <a:xfrm>
            <a:off x="1503408" y="1061749"/>
            <a:ext cx="9926592" cy="5691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66414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link-layer device: takes an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active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role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store, forward frames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examine incoming frame’s MAC address </a:t>
            </a:r>
            <a:r>
              <a:rPr lang="en-US" sz="2800"/>
              <a:t>in each frame to decide where it should go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uses CSMA/CD when sending on a shared segment.</a:t>
            </a:r>
            <a:endParaRPr/>
          </a:p>
          <a:p>
            <a:pPr indent="-266414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transparent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hosts are unaware of presence of switches</a:t>
            </a:r>
            <a:endParaRPr/>
          </a:p>
          <a:p>
            <a:pPr indent="-266414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plug-and-play, self-learning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switches do not need to be configured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1245" name="Google Shape;124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8481" y="888711"/>
            <a:ext cx="3656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36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 forwarding table</a:t>
            </a:r>
            <a:endParaRPr/>
          </a:p>
        </p:txBody>
      </p:sp>
      <p:sp>
        <p:nvSpPr>
          <p:cNvPr id="1251" name="Google Shape;1251;p3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2" name="Google Shape;125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372" y="1314041"/>
            <a:ext cx="6511651" cy="3702095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36"/>
          <p:cNvSpPr txBox="1"/>
          <p:nvPr>
            <p:ph idx="1" type="body"/>
          </p:nvPr>
        </p:nvSpPr>
        <p:spPr>
          <a:xfrm>
            <a:off x="849576" y="1314041"/>
            <a:ext cx="3892241" cy="2029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i="1" lang="en-US" u="sng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how does switch know PC3 reachable via interface 8, Pc2 reachable via interface 2?</a:t>
            </a:r>
            <a:endParaRPr/>
          </a:p>
        </p:txBody>
      </p:sp>
      <p:pic>
        <p:nvPicPr>
          <p:cNvPr descr="underline_base" id="1254" name="Google Shape;125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9626" y="898525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36"/>
          <p:cNvSpPr txBox="1"/>
          <p:nvPr/>
        </p:nvSpPr>
        <p:spPr>
          <a:xfrm>
            <a:off x="288865" y="3451704"/>
            <a:ext cx="4705729" cy="2780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switch has a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 table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entry: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 of host, interface to reach host, time stamp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6" name="Google Shape;1256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2122" y="5275501"/>
            <a:ext cx="4441772" cy="1183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4"/>
          <p:cNvSpPr txBox="1"/>
          <p:nvPr>
            <p:ph type="title"/>
          </p:nvPr>
        </p:nvSpPr>
        <p:spPr>
          <a:xfrm>
            <a:off x="1812926" y="136525"/>
            <a:ext cx="84693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/>
          </a:p>
        </p:txBody>
      </p:sp>
      <p:sp>
        <p:nvSpPr>
          <p:cNvPr id="1263" name="Google Shape;1263;p44"/>
          <p:cNvSpPr txBox="1"/>
          <p:nvPr>
            <p:ph idx="1" type="body"/>
          </p:nvPr>
        </p:nvSpPr>
        <p:spPr>
          <a:xfrm>
            <a:off x="1475262" y="1213934"/>
            <a:ext cx="5163596" cy="170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hosts have dedicated, direct connection to switch</a:t>
            </a:r>
            <a:endParaRPr sz="3200"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switches buffer packets</a:t>
            </a:r>
            <a:endParaRPr sz="3200"/>
          </a:p>
        </p:txBody>
      </p:sp>
      <p:pic>
        <p:nvPicPr>
          <p:cNvPr descr="underline_base" id="1264" name="Google Shape;126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8" y="962025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44"/>
          <p:cNvSpPr txBox="1"/>
          <p:nvPr/>
        </p:nvSpPr>
        <p:spPr>
          <a:xfrm>
            <a:off x="1244951" y="3222898"/>
            <a:ext cx="5040313" cy="1138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 are entries created, maintained in switch table?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6" name="Google Shape;126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7532" y="1658481"/>
            <a:ext cx="5281609" cy="300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5264" y="5215272"/>
            <a:ext cx="5205181" cy="138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44"/>
          <p:cNvSpPr txBox="1"/>
          <p:nvPr/>
        </p:nvSpPr>
        <p:spPr>
          <a:xfrm>
            <a:off x="1622786" y="4358896"/>
            <a:ext cx="3189075" cy="170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Manual?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Dynamic?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4" name="Google Shape;1274;p46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275" name="Google Shape;1275;p46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46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46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46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46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46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1" name="Google Shape;1281;p46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2" name="Google Shape;1282;p46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3" name="Google Shape;1283;p46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4" name="Google Shape;1284;p46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85" name="Google Shape;1285;p46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286" name="Google Shape;1286;p46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87" name="Google Shape;1287;p4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288" name="Google Shape;1288;p4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89" name="Google Shape;1289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290" name="Google Shape;1290;p46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291" name="Google Shape;1291;p4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292" name="Google Shape;1292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93" name="Google Shape;1293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294" name="Google Shape;1294;p46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5" name="Google Shape;1295;p46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96" name="Google Shape;1296;p46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297" name="Google Shape;1297;p4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8" name="Google Shape;1298;p4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299" name="Google Shape;1299;p46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300" name="Google Shape;1300;p46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01" name="Google Shape;1301;p46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302" name="Google Shape;1302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03" name="Google Shape;1303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304" name="Google Shape;1304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05" name="Google Shape;1305;p46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306" name="Google Shape;1306;p46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07" name="Google Shape;1307;p4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308" name="Google Shape;1308;p4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09" name="Google Shape;1309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310" name="Google Shape;1310;p46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311" name="Google Shape;1311;p4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312" name="Google Shape;1312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13" name="Google Shape;1313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314" name="Google Shape;1314;p46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15" name="Google Shape;1315;p46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6" name="Google Shape;1316;p46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7" name="Google Shape;1317;p46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46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46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46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46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46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3" name="Google Shape;1323;p46"/>
          <p:cNvSpPr txBox="1"/>
          <p:nvPr>
            <p:ph type="title"/>
          </p:nvPr>
        </p:nvSpPr>
        <p:spPr>
          <a:xfrm>
            <a:off x="1981200" y="873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Switch: self-learning</a:t>
            </a:r>
            <a:endParaRPr/>
          </a:p>
        </p:txBody>
      </p:sp>
      <p:sp>
        <p:nvSpPr>
          <p:cNvPr id="1324" name="Google Shape;1324;p46"/>
          <p:cNvSpPr txBox="1"/>
          <p:nvPr>
            <p:ph idx="1" type="body"/>
          </p:nvPr>
        </p:nvSpPr>
        <p:spPr>
          <a:xfrm>
            <a:off x="673923" y="999730"/>
            <a:ext cx="4538635" cy="5169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7810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The table is empty initially</a:t>
            </a:r>
            <a:endParaRPr sz="3200"/>
          </a:p>
          <a:p>
            <a:pPr indent="-257810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4060"/>
              <a:buChar char="•"/>
            </a:pPr>
            <a:r>
              <a:rPr lang="en-US"/>
              <a:t>When it receives a frame, it looks at the </a:t>
            </a:r>
            <a:r>
              <a:rPr b="1" lang="en-US">
                <a:solidFill>
                  <a:srgbClr val="7030A0"/>
                </a:solidFill>
              </a:rPr>
              <a:t>source MAC address</a:t>
            </a:r>
            <a:r>
              <a:rPr lang="en-US">
                <a:solidFill>
                  <a:srgbClr val="7030A0"/>
                </a:solidFill>
              </a:rPr>
              <a:t>.</a:t>
            </a:r>
            <a:endParaRPr>
              <a:solidFill>
                <a:srgbClr val="7030A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57810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4060"/>
              <a:buChar char="•"/>
            </a:pPr>
            <a:r>
              <a:rPr lang="en-US"/>
              <a:t>It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learns </a:t>
            </a:r>
            <a:r>
              <a:rPr lang="en-US"/>
              <a:t>: </a:t>
            </a:r>
            <a:r>
              <a:rPr i="1" lang="en-US"/>
              <a:t>“This MAC address is reachable through this port.”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31775" lvl="1" marL="6889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Saves this info in its </a:t>
            </a:r>
            <a:r>
              <a:rPr b="1" lang="en-US"/>
              <a:t>switching table</a:t>
            </a:r>
            <a:r>
              <a:rPr lang="en-US"/>
              <a:t> for future use. </a:t>
            </a:r>
            <a:endParaRPr/>
          </a:p>
        </p:txBody>
      </p:sp>
      <p:grpSp>
        <p:nvGrpSpPr>
          <p:cNvPr id="1325" name="Google Shape;1325;p46"/>
          <p:cNvGrpSpPr/>
          <p:nvPr/>
        </p:nvGrpSpPr>
        <p:grpSpPr>
          <a:xfrm>
            <a:off x="8302625" y="1223964"/>
            <a:ext cx="1428750" cy="369887"/>
            <a:chOff x="1750" y="3514"/>
            <a:chExt cx="900" cy="233"/>
          </a:xfrm>
        </p:grpSpPr>
        <p:sp>
          <p:nvSpPr>
            <p:cNvPr id="1326" name="Google Shape;1326;p46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46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8" name="Google Shape;1328;p46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9" name="Google Shape;1329;p46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30" name="Google Shape;1330;p46"/>
          <p:cNvGrpSpPr/>
          <p:nvPr/>
        </p:nvGrpSpPr>
        <p:grpSpPr>
          <a:xfrm>
            <a:off x="8518526" y="525464"/>
            <a:ext cx="1918697" cy="714375"/>
            <a:chOff x="4406" y="331"/>
            <a:chExt cx="914" cy="450"/>
          </a:xfrm>
        </p:grpSpPr>
        <p:cxnSp>
          <p:nvCxnSpPr>
            <p:cNvPr id="1331" name="Google Shape;1331;p46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32" name="Google Shape;1332;p46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333" name="Google Shape;1333;p46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46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5" name="Google Shape;1335;p46"/>
          <p:cNvGrpSpPr/>
          <p:nvPr/>
        </p:nvGrpSpPr>
        <p:grpSpPr>
          <a:xfrm>
            <a:off x="4904582" y="5043488"/>
            <a:ext cx="3017838" cy="1444625"/>
            <a:chOff x="3441" y="3154"/>
            <a:chExt cx="1901" cy="910"/>
          </a:xfrm>
        </p:grpSpPr>
        <p:sp>
          <p:nvSpPr>
            <p:cNvPr id="1336" name="Google Shape;1336;p46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46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8" name="Google Shape;1338;p46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9" name="Google Shape;1339;p46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0" name="Google Shape;1340;p46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1" name="Google Shape;1341;p46"/>
          <p:cNvSpPr txBox="1"/>
          <p:nvPr/>
        </p:nvSpPr>
        <p:spPr>
          <a:xfrm>
            <a:off x="7988301" y="5326063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2" name="Google Shape;1342;p46"/>
          <p:cNvGrpSpPr/>
          <p:nvPr/>
        </p:nvGrpSpPr>
        <p:grpSpPr>
          <a:xfrm>
            <a:off x="5295900" y="5370514"/>
            <a:ext cx="2471738" cy="376237"/>
            <a:chOff x="2376" y="3383"/>
            <a:chExt cx="1557" cy="237"/>
          </a:xfrm>
        </p:grpSpPr>
        <p:sp>
          <p:nvSpPr>
            <p:cNvPr id="1343" name="Google Shape;1343;p46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46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46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346" name="Google Shape;1346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5801" y="898525"/>
            <a:ext cx="50276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46"/>
          <p:cNvSpPr/>
          <p:nvPr/>
        </p:nvSpPr>
        <p:spPr>
          <a:xfrm>
            <a:off x="8597900" y="1605690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47"/>
          <p:cNvSpPr txBox="1"/>
          <p:nvPr>
            <p:ph type="title"/>
          </p:nvPr>
        </p:nvSpPr>
        <p:spPr>
          <a:xfrm>
            <a:off x="2033588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Switch: frame filtering/forwarding</a:t>
            </a:r>
            <a:endParaRPr/>
          </a:p>
        </p:txBody>
      </p:sp>
      <p:pic>
        <p:nvPicPr>
          <p:cNvPr descr="underline_base" id="1354" name="Google Shape;135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513" y="841375"/>
            <a:ext cx="6856412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950" y="1143000"/>
            <a:ext cx="10323291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" name="Google Shape;1361;p48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362" name="Google Shape;1362;p48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48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48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48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48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48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8" name="Google Shape;1368;p48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9" name="Google Shape;1369;p48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0" name="Google Shape;1370;p48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1" name="Google Shape;1371;p48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72" name="Google Shape;1372;p48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373" name="Google Shape;1373;p48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74" name="Google Shape;1374;p4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375" name="Google Shape;1375;p4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76" name="Google Shape;1376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377" name="Google Shape;1377;p48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378" name="Google Shape;1378;p4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379" name="Google Shape;1379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80" name="Google Shape;1380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381" name="Google Shape;1381;p48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2" name="Google Shape;1382;p48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3" name="Google Shape;1383;p48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384" name="Google Shape;1384;p4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5" name="Google Shape;1385;p4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386" name="Google Shape;1386;p48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387" name="Google Shape;1387;p48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88" name="Google Shape;1388;p48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389" name="Google Shape;1389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90" name="Google Shape;1390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391" name="Google Shape;1391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92" name="Google Shape;1392;p48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393" name="Google Shape;1393;p48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94" name="Google Shape;1394;p4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395" name="Google Shape;1395;p4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96" name="Google Shape;1396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397" name="Google Shape;1397;p48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398" name="Google Shape;1398;p4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399" name="Google Shape;1399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00" name="Google Shape;1400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401" name="Google Shape;1401;p48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02" name="Google Shape;1402;p48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3" name="Google Shape;1403;p48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4" name="Google Shape;1404;p48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48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48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48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48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48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0" name="Google Shape;1410;p48"/>
          <p:cNvSpPr txBox="1"/>
          <p:nvPr>
            <p:ph type="title"/>
          </p:nvPr>
        </p:nvSpPr>
        <p:spPr>
          <a:xfrm>
            <a:off x="1711326" y="141288"/>
            <a:ext cx="75088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Self-learning, forwarding: example</a:t>
            </a:r>
            <a:endParaRPr/>
          </a:p>
        </p:txBody>
      </p:sp>
      <p:grpSp>
        <p:nvGrpSpPr>
          <p:cNvPr id="1411" name="Google Shape;1411;p48"/>
          <p:cNvGrpSpPr/>
          <p:nvPr/>
        </p:nvGrpSpPr>
        <p:grpSpPr>
          <a:xfrm>
            <a:off x="8302625" y="1223964"/>
            <a:ext cx="1428750" cy="369887"/>
            <a:chOff x="1750" y="3514"/>
            <a:chExt cx="900" cy="233"/>
          </a:xfrm>
        </p:grpSpPr>
        <p:sp>
          <p:nvSpPr>
            <p:cNvPr id="1412" name="Google Shape;1412;p48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48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4" name="Google Shape;1414;p48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5" name="Google Shape;1415;p48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16" name="Google Shape;1416;p48"/>
          <p:cNvGrpSpPr/>
          <p:nvPr/>
        </p:nvGrpSpPr>
        <p:grpSpPr>
          <a:xfrm>
            <a:off x="8518526" y="525464"/>
            <a:ext cx="1761943" cy="714375"/>
            <a:chOff x="4406" y="331"/>
            <a:chExt cx="914" cy="450"/>
          </a:xfrm>
        </p:grpSpPr>
        <p:cxnSp>
          <p:nvCxnSpPr>
            <p:cNvPr id="1417" name="Google Shape;1417;p48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418" name="Google Shape;1418;p48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419" name="Google Shape;1419;p48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48"/>
            <p:cNvSpPr txBox="1"/>
            <p:nvPr/>
          </p:nvSpPr>
          <p:spPr>
            <a:xfrm>
              <a:off x="4658" y="516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1" name="Google Shape;1421;p48"/>
          <p:cNvGrpSpPr/>
          <p:nvPr/>
        </p:nvGrpSpPr>
        <p:grpSpPr>
          <a:xfrm>
            <a:off x="4860925" y="4937126"/>
            <a:ext cx="3017838" cy="1444625"/>
            <a:chOff x="3441" y="3154"/>
            <a:chExt cx="1901" cy="910"/>
          </a:xfrm>
        </p:grpSpPr>
        <p:sp>
          <p:nvSpPr>
            <p:cNvPr id="1422" name="Google Shape;1422;p48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48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4" name="Google Shape;1424;p48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5" name="Google Shape;1425;p48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6" name="Google Shape;1426;p48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27" name="Google Shape;1427;p48"/>
          <p:cNvGrpSpPr/>
          <p:nvPr/>
        </p:nvGrpSpPr>
        <p:grpSpPr>
          <a:xfrm>
            <a:off x="5295900" y="5370514"/>
            <a:ext cx="2471738" cy="376237"/>
            <a:chOff x="2376" y="3383"/>
            <a:chExt cx="1557" cy="237"/>
          </a:xfrm>
        </p:grpSpPr>
        <p:sp>
          <p:nvSpPr>
            <p:cNvPr id="1428" name="Google Shape;1428;p48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48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48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1" name="Google Shape;1431;p48"/>
          <p:cNvSpPr txBox="1"/>
          <p:nvPr>
            <p:ph idx="1" type="body"/>
          </p:nvPr>
        </p:nvSpPr>
        <p:spPr>
          <a:xfrm>
            <a:off x="1315742" y="1391326"/>
            <a:ext cx="4553937" cy="912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frame destination, A’, location unknown:</a:t>
            </a:r>
            <a:endParaRPr i="1" sz="36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2" name="Google Shape;1432;p48"/>
          <p:cNvSpPr txBox="1"/>
          <p:nvPr/>
        </p:nvSpPr>
        <p:spPr>
          <a:xfrm>
            <a:off x="2496184" y="2553492"/>
            <a:ext cx="1892935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40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flood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3" name="Google Shape;1433;p48"/>
          <p:cNvGrpSpPr/>
          <p:nvPr/>
        </p:nvGrpSpPr>
        <p:grpSpPr>
          <a:xfrm>
            <a:off x="9004301" y="4716464"/>
            <a:ext cx="2471738" cy="377825"/>
            <a:chOff x="2376" y="3383"/>
            <a:chExt cx="1557" cy="238"/>
          </a:xfrm>
        </p:grpSpPr>
        <p:sp>
          <p:nvSpPr>
            <p:cNvPr id="1434" name="Google Shape;1434;p48"/>
            <p:cNvSpPr txBox="1"/>
            <p:nvPr/>
          </p:nvSpPr>
          <p:spPr>
            <a:xfrm>
              <a:off x="2376" y="3388"/>
              <a:ext cx="28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48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48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437" name="Google Shape;1437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1976" y="919956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38" name="Google Shape;1438;p48"/>
          <p:cNvSpPr/>
          <p:nvPr/>
        </p:nvSpPr>
        <p:spPr>
          <a:xfrm>
            <a:off x="8050214" y="1658907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48"/>
          <p:cNvSpPr/>
          <p:nvPr/>
        </p:nvSpPr>
        <p:spPr>
          <a:xfrm>
            <a:off x="7524750" y="28021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48"/>
          <p:cNvSpPr/>
          <p:nvPr/>
        </p:nvSpPr>
        <p:spPr>
          <a:xfrm>
            <a:off x="7677150" y="29545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48"/>
          <p:cNvSpPr/>
          <p:nvPr/>
        </p:nvSpPr>
        <p:spPr>
          <a:xfrm>
            <a:off x="7829550" y="31069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48"/>
          <p:cNvSpPr/>
          <p:nvPr/>
        </p:nvSpPr>
        <p:spPr>
          <a:xfrm>
            <a:off x="7733144" y="2970575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48"/>
          <p:cNvSpPr/>
          <p:nvPr/>
        </p:nvSpPr>
        <p:spPr>
          <a:xfrm>
            <a:off x="7786437" y="2983916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9" name="Google Shape;1449;p37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450" name="Google Shape;1450;p37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37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37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37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37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37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6" name="Google Shape;1456;p37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7" name="Google Shape;1457;p37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8" name="Google Shape;1458;p37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9" name="Google Shape;1459;p37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60" name="Google Shape;1460;p37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461" name="Google Shape;1461;p37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62" name="Google Shape;1462;p3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463" name="Google Shape;1463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64" name="Google Shape;1464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465" name="Google Shape;1465;p37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466" name="Google Shape;1466;p3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467" name="Google Shape;1467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68" name="Google Shape;1468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469" name="Google Shape;1469;p37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0" name="Google Shape;1470;p37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1" name="Google Shape;1471;p37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472" name="Google Shape;1472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3" name="Google Shape;1473;p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474" name="Google Shape;1474;p37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475" name="Google Shape;1475;p37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76" name="Google Shape;1476;p37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477" name="Google Shape;1477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78" name="Google Shape;1478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479" name="Google Shape;1479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0" name="Google Shape;1480;p37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481" name="Google Shape;1481;p37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82" name="Google Shape;1482;p3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483" name="Google Shape;1483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84" name="Google Shape;1484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485" name="Google Shape;1485;p37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486" name="Google Shape;1486;p3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487" name="Google Shape;1487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88" name="Google Shape;1488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489" name="Google Shape;1489;p37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90" name="Google Shape;1490;p37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1" name="Google Shape;1491;p37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92" name="Google Shape;1492;p37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37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37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37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37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37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8" name="Google Shape;1498;p37"/>
          <p:cNvSpPr txBox="1"/>
          <p:nvPr>
            <p:ph type="title"/>
          </p:nvPr>
        </p:nvSpPr>
        <p:spPr>
          <a:xfrm>
            <a:off x="1711326" y="141288"/>
            <a:ext cx="75088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Self-learning, forwarding: example</a:t>
            </a:r>
            <a:endParaRPr/>
          </a:p>
        </p:txBody>
      </p:sp>
      <p:grpSp>
        <p:nvGrpSpPr>
          <p:cNvPr id="1499" name="Google Shape;1499;p37"/>
          <p:cNvGrpSpPr/>
          <p:nvPr/>
        </p:nvGrpSpPr>
        <p:grpSpPr>
          <a:xfrm>
            <a:off x="8800286" y="4632247"/>
            <a:ext cx="1428750" cy="369887"/>
            <a:chOff x="1750" y="3514"/>
            <a:chExt cx="900" cy="233"/>
          </a:xfrm>
        </p:grpSpPr>
        <p:sp>
          <p:nvSpPr>
            <p:cNvPr id="1500" name="Google Shape;1500;p3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37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2" name="Google Shape;1502;p3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3" name="Google Shape;1503;p3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04" name="Google Shape;1504;p37"/>
          <p:cNvGrpSpPr/>
          <p:nvPr/>
        </p:nvGrpSpPr>
        <p:grpSpPr>
          <a:xfrm>
            <a:off x="8949738" y="3868290"/>
            <a:ext cx="1761943" cy="714375"/>
            <a:chOff x="4406" y="331"/>
            <a:chExt cx="914" cy="450"/>
          </a:xfrm>
        </p:grpSpPr>
        <p:cxnSp>
          <p:nvCxnSpPr>
            <p:cNvPr id="1505" name="Google Shape;1505;p37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506" name="Google Shape;1506;p37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507" name="Google Shape;1507;p37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37"/>
            <p:cNvSpPr txBox="1"/>
            <p:nvPr/>
          </p:nvSpPr>
          <p:spPr>
            <a:xfrm>
              <a:off x="4658" y="516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9" name="Google Shape;1509;p37"/>
          <p:cNvGrpSpPr/>
          <p:nvPr/>
        </p:nvGrpSpPr>
        <p:grpSpPr>
          <a:xfrm>
            <a:off x="6607248" y="5278071"/>
            <a:ext cx="3017838" cy="1444625"/>
            <a:chOff x="3441" y="3154"/>
            <a:chExt cx="1901" cy="910"/>
          </a:xfrm>
        </p:grpSpPr>
        <p:sp>
          <p:nvSpPr>
            <p:cNvPr id="1510" name="Google Shape;1510;p37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37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2" name="Google Shape;1512;p37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3" name="Google Shape;1513;p37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4" name="Google Shape;1514;p37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15" name="Google Shape;1515;p37"/>
          <p:cNvGrpSpPr/>
          <p:nvPr/>
        </p:nvGrpSpPr>
        <p:grpSpPr>
          <a:xfrm>
            <a:off x="6926643" y="5712145"/>
            <a:ext cx="2471738" cy="376237"/>
            <a:chOff x="2376" y="3383"/>
            <a:chExt cx="1557" cy="237"/>
          </a:xfrm>
        </p:grpSpPr>
        <p:sp>
          <p:nvSpPr>
            <p:cNvPr id="1516" name="Google Shape;1516;p37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37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3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9" name="Google Shape;1519;p37"/>
          <p:cNvSpPr txBox="1"/>
          <p:nvPr>
            <p:ph idx="1" type="body"/>
          </p:nvPr>
        </p:nvSpPr>
        <p:spPr>
          <a:xfrm>
            <a:off x="1130805" y="1273393"/>
            <a:ext cx="4994853" cy="912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A’ now wants to reply</a:t>
            </a:r>
            <a:endParaRPr i="1" sz="3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0" name="Google Shape;1520;p37"/>
          <p:cNvSpPr txBox="1"/>
          <p:nvPr/>
        </p:nvSpPr>
        <p:spPr>
          <a:xfrm>
            <a:off x="2471884" y="3051355"/>
            <a:ext cx="189293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36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learns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1" name="Google Shape;1521;p37"/>
          <p:cNvGrpSpPr/>
          <p:nvPr/>
        </p:nvGrpSpPr>
        <p:grpSpPr>
          <a:xfrm>
            <a:off x="6894515" y="6137384"/>
            <a:ext cx="2471738" cy="377825"/>
            <a:chOff x="2376" y="3383"/>
            <a:chExt cx="1557" cy="238"/>
          </a:xfrm>
        </p:grpSpPr>
        <p:sp>
          <p:nvSpPr>
            <p:cNvPr id="1522" name="Google Shape;1522;p37"/>
            <p:cNvSpPr txBox="1"/>
            <p:nvPr/>
          </p:nvSpPr>
          <p:spPr>
            <a:xfrm>
              <a:off x="2376" y="3388"/>
              <a:ext cx="28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37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3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525" name="Google Shape;1525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1976" y="919956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37"/>
          <p:cNvSpPr/>
          <p:nvPr/>
        </p:nvSpPr>
        <p:spPr>
          <a:xfrm rot="176823">
            <a:off x="7749381" y="4010602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37"/>
          <p:cNvSpPr txBox="1"/>
          <p:nvPr/>
        </p:nvSpPr>
        <p:spPr>
          <a:xfrm>
            <a:off x="1043965" y="2001266"/>
            <a:ext cx="4994853" cy="13626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Switch looks at source MAC Address :</a:t>
            </a:r>
            <a:endParaRPr b="0" i="1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8" name="Google Shape;1528;p37"/>
          <p:cNvSpPr txBox="1"/>
          <p:nvPr/>
        </p:nvSpPr>
        <p:spPr>
          <a:xfrm>
            <a:off x="822755" y="3777527"/>
            <a:ext cx="5712931" cy="1082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Switch looks at destination MAC Address : ?</a:t>
            </a:r>
            <a:endParaRPr b="0" i="1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9" name="Google Shape;1529;p37"/>
          <p:cNvSpPr/>
          <p:nvPr/>
        </p:nvSpPr>
        <p:spPr>
          <a:xfrm>
            <a:off x="865980" y="4771717"/>
            <a:ext cx="5524502" cy="64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destination A location is known</a:t>
            </a:r>
            <a:endParaRPr b="0" i="0" sz="28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0" name="Google Shape;1530;p37"/>
          <p:cNvSpPr/>
          <p:nvPr/>
        </p:nvSpPr>
        <p:spPr>
          <a:xfrm>
            <a:off x="291468" y="5523676"/>
            <a:ext cx="6592235" cy="756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          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selectively sends/forwards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37"/>
          <p:cNvSpPr/>
          <p:nvPr/>
        </p:nvSpPr>
        <p:spPr>
          <a:xfrm>
            <a:off x="8087709" y="5681297"/>
            <a:ext cx="423259" cy="385763"/>
          </a:xfrm>
          <a:prstGeom prst="ellipse">
            <a:avLst/>
          </a:prstGeom>
          <a:noFill/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37"/>
          <p:cNvSpPr/>
          <p:nvPr/>
        </p:nvSpPr>
        <p:spPr>
          <a:xfrm rot="176823">
            <a:off x="7770777" y="2805033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49"/>
          <p:cNvSpPr txBox="1"/>
          <p:nvPr>
            <p:ph type="title"/>
          </p:nvPr>
        </p:nvSpPr>
        <p:spPr>
          <a:xfrm>
            <a:off x="20701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Interconnecting switches</a:t>
            </a:r>
            <a:endParaRPr/>
          </a:p>
        </p:txBody>
      </p:sp>
      <p:sp>
        <p:nvSpPr>
          <p:cNvPr id="1539" name="Google Shape;1539;p49"/>
          <p:cNvSpPr txBox="1"/>
          <p:nvPr>
            <p:ph idx="1" type="body"/>
          </p:nvPr>
        </p:nvSpPr>
        <p:spPr>
          <a:xfrm>
            <a:off x="2222500" y="1320801"/>
            <a:ext cx="7881938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self-learning switches can be connected together:</a:t>
            </a:r>
            <a:endParaRPr/>
          </a:p>
        </p:txBody>
      </p:sp>
      <p:sp>
        <p:nvSpPr>
          <p:cNvPr id="1540" name="Google Shape;1540;p49"/>
          <p:cNvSpPr/>
          <p:nvPr/>
        </p:nvSpPr>
        <p:spPr>
          <a:xfrm>
            <a:off x="2214564" y="4535488"/>
            <a:ext cx="788193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sending from A to G - how does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know to forward frame destined to G via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and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self learning! (works exactly the same as in single-switch case!)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1" name="Google Shape;1541;p49"/>
          <p:cNvGrpSpPr/>
          <p:nvPr/>
        </p:nvGrpSpPr>
        <p:grpSpPr>
          <a:xfrm>
            <a:off x="2482851" y="2444750"/>
            <a:ext cx="2047875" cy="1358900"/>
            <a:chOff x="958850" y="2444750"/>
            <a:chExt cx="2048416" cy="1358710"/>
          </a:xfrm>
        </p:grpSpPr>
        <p:cxnSp>
          <p:nvCxnSpPr>
            <p:cNvPr id="1542" name="Google Shape;1542;p49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3" name="Google Shape;1543;p49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4" name="Google Shape;1544;p49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5" name="Google Shape;1545;p49"/>
            <p:cNvSpPr txBox="1"/>
            <p:nvPr/>
          </p:nvSpPr>
          <p:spPr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49"/>
            <p:cNvSpPr txBox="1"/>
            <p:nvPr/>
          </p:nvSpPr>
          <p:spPr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49"/>
            <p:cNvSpPr txBox="1"/>
            <p:nvPr/>
          </p:nvSpPr>
          <p:spPr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49"/>
            <p:cNvSpPr txBox="1"/>
            <p:nvPr/>
          </p:nvSpPr>
          <p:spPr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9" name="Google Shape;1549;p49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50" name="Google Shape;1550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1" name="Google Shape;1551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552" name="Google Shape;1552;p49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53" name="Google Shape;1553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4" name="Google Shape;1554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555" name="Google Shape;1555;p49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56" name="Google Shape;1556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7" name="Google Shape;1557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558" name="Google Shape;1558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9" name="Google Shape;1559;p49"/>
          <p:cNvGrpSpPr/>
          <p:nvPr/>
        </p:nvGrpSpPr>
        <p:grpSpPr>
          <a:xfrm>
            <a:off x="3903663" y="1984375"/>
            <a:ext cx="4856162" cy="2044700"/>
            <a:chOff x="2379663" y="1984375"/>
            <a:chExt cx="4855711" cy="2044145"/>
          </a:xfrm>
        </p:grpSpPr>
        <p:cxnSp>
          <p:nvCxnSpPr>
            <p:cNvPr id="1560" name="Google Shape;1560;p49"/>
            <p:cNvCxnSpPr/>
            <p:nvPr/>
          </p:nvCxnSpPr>
          <p:spPr>
            <a:xfrm flipH="1">
              <a:off x="3635258" y="3068344"/>
              <a:ext cx="346043" cy="2158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49"/>
            <p:cNvCxnSpPr/>
            <p:nvPr/>
          </p:nvCxnSpPr>
          <p:spPr>
            <a:xfrm flipH="1">
              <a:off x="3949554" y="3087389"/>
              <a:ext cx="125401" cy="58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2" name="Google Shape;1562;p49"/>
            <p:cNvCxnSpPr/>
            <p:nvPr/>
          </p:nvCxnSpPr>
          <p:spPr>
            <a:xfrm>
              <a:off x="4254326" y="3030254"/>
              <a:ext cx="230167" cy="3618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3" name="Google Shape;1563;p49"/>
            <p:cNvCxnSpPr/>
            <p:nvPr/>
          </p:nvCxnSpPr>
          <p:spPr>
            <a:xfrm flipH="1">
              <a:off x="5532145" y="3106433"/>
              <a:ext cx="428585" cy="2444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4" name="Google Shape;1564;p49"/>
            <p:cNvCxnSpPr/>
            <p:nvPr/>
          </p:nvCxnSpPr>
          <p:spPr>
            <a:xfrm flipH="1">
              <a:off x="6035335" y="3077866"/>
              <a:ext cx="9524" cy="4697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5" name="Google Shape;1565;p49"/>
            <p:cNvCxnSpPr/>
            <p:nvPr/>
          </p:nvCxnSpPr>
          <p:spPr>
            <a:xfrm flipH="1">
              <a:off x="2379663" y="2355749"/>
              <a:ext cx="1517509" cy="5364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6" name="Google Shape;1566;p49"/>
            <p:cNvCxnSpPr/>
            <p:nvPr/>
          </p:nvCxnSpPr>
          <p:spPr>
            <a:xfrm>
              <a:off x="4200356" y="2322421"/>
              <a:ext cx="0" cy="599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7" name="Google Shape;1567;p49"/>
            <p:cNvCxnSpPr/>
            <p:nvPr/>
          </p:nvCxnSpPr>
          <p:spPr>
            <a:xfrm rot="10800000">
              <a:off x="4449571" y="2306551"/>
              <a:ext cx="1406394" cy="6840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8" name="Google Shape;1568;p49"/>
            <p:cNvCxnSpPr/>
            <p:nvPr/>
          </p:nvCxnSpPr>
          <p:spPr>
            <a:xfrm>
              <a:off x="6411539" y="3131826"/>
              <a:ext cx="285723" cy="1587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9" name="Google Shape;1569;p49"/>
            <p:cNvSpPr txBox="1"/>
            <p:nvPr/>
          </p:nvSpPr>
          <p:spPr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49"/>
            <p:cNvSpPr txBox="1"/>
            <p:nvPr/>
          </p:nvSpPr>
          <p:spPr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49"/>
            <p:cNvSpPr txBox="1"/>
            <p:nvPr/>
          </p:nvSpPr>
          <p:spPr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49"/>
            <p:cNvSpPr txBox="1"/>
            <p:nvPr/>
          </p:nvSpPr>
          <p:spPr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49"/>
            <p:cNvSpPr txBox="1"/>
            <p:nvPr/>
          </p:nvSpPr>
          <p:spPr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49"/>
            <p:cNvSpPr txBox="1"/>
            <p:nvPr/>
          </p:nvSpPr>
          <p:spPr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49"/>
            <p:cNvSpPr txBox="1"/>
            <p:nvPr/>
          </p:nvSpPr>
          <p:spPr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49"/>
            <p:cNvSpPr txBox="1"/>
            <p:nvPr/>
          </p:nvSpPr>
          <p:spPr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49"/>
            <p:cNvSpPr txBox="1"/>
            <p:nvPr/>
          </p:nvSpPr>
          <p:spPr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8" name="Google Shape;1578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79" name="Google Shape;1579;p49"/>
            <p:cNvGrpSpPr/>
            <p:nvPr/>
          </p:nvGrpSpPr>
          <p:grpSpPr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80" name="Google Shape;1580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81" name="Google Shape;1581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582" name="Google Shape;1582;p49"/>
            <p:cNvGrpSpPr/>
            <p:nvPr/>
          </p:nvGrpSpPr>
          <p:grpSpPr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83" name="Google Shape;1583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84" name="Google Shape;1584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585" name="Google Shape;1585;p49"/>
            <p:cNvGrpSpPr/>
            <p:nvPr/>
          </p:nvGrpSpPr>
          <p:grpSpPr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86" name="Google Shape;1586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87" name="Google Shape;1587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588" name="Google Shape;1588;p49"/>
            <p:cNvGrpSpPr/>
            <p:nvPr/>
          </p:nvGrpSpPr>
          <p:grpSpPr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89" name="Google Shape;1589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90" name="Google Shape;1590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591" name="Google Shape;1591;p49"/>
            <p:cNvGrpSpPr/>
            <p:nvPr/>
          </p:nvGrpSpPr>
          <p:grpSpPr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92" name="Google Shape;1592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93" name="Google Shape;1593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594" name="Google Shape;1594;p49"/>
            <p:cNvGrpSpPr/>
            <p:nvPr/>
          </p:nvGrpSpPr>
          <p:grpSpPr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95" name="Google Shape;1595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96" name="Google Shape;1596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597" name="Google Shape;1597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8" name="Google Shape;1598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599" name="Google Shape;1599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9951" y="798514"/>
            <a:ext cx="5484813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50"/>
          <p:cNvSpPr txBox="1"/>
          <p:nvPr>
            <p:ph type="title"/>
          </p:nvPr>
        </p:nvSpPr>
        <p:spPr>
          <a:xfrm>
            <a:off x="20193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Self-learning multi-switch (excercise)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06" name="Google Shape;1606;p50"/>
          <p:cNvSpPr txBox="1"/>
          <p:nvPr>
            <p:ph idx="1" type="body"/>
          </p:nvPr>
        </p:nvSpPr>
        <p:spPr>
          <a:xfrm>
            <a:off x="2074863" y="1139825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Suppose C sends frame to I, I responds to C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07" name="Google Shape;1607;p50"/>
          <p:cNvSpPr/>
          <p:nvPr/>
        </p:nvSpPr>
        <p:spPr>
          <a:xfrm>
            <a:off x="2238375" y="4664075"/>
            <a:ext cx="7772400" cy="184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show switch tables and packet forwarding in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8" name="Google Shape;1608;p50"/>
          <p:cNvGrpSpPr/>
          <p:nvPr/>
        </p:nvGrpSpPr>
        <p:grpSpPr>
          <a:xfrm>
            <a:off x="2482851" y="2444750"/>
            <a:ext cx="2047875" cy="1358900"/>
            <a:chOff x="958850" y="2444750"/>
            <a:chExt cx="2048416" cy="1358710"/>
          </a:xfrm>
        </p:grpSpPr>
        <p:cxnSp>
          <p:nvCxnSpPr>
            <p:cNvPr id="1609" name="Google Shape;1609;p50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0" name="Google Shape;1610;p50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1" name="Google Shape;1611;p50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2" name="Google Shape;1612;p50"/>
            <p:cNvSpPr txBox="1"/>
            <p:nvPr/>
          </p:nvSpPr>
          <p:spPr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50"/>
            <p:cNvSpPr txBox="1"/>
            <p:nvPr/>
          </p:nvSpPr>
          <p:spPr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50"/>
            <p:cNvSpPr txBox="1"/>
            <p:nvPr/>
          </p:nvSpPr>
          <p:spPr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50"/>
            <p:cNvSpPr txBox="1"/>
            <p:nvPr/>
          </p:nvSpPr>
          <p:spPr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16" name="Google Shape;1616;p50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17" name="Google Shape;1617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18" name="Google Shape;1618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19" name="Google Shape;1619;p50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20" name="Google Shape;1620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21" name="Google Shape;1621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22" name="Google Shape;1622;p50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23" name="Google Shape;1623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24" name="Google Shape;1624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625" name="Google Shape;1625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6" name="Google Shape;1626;p50"/>
          <p:cNvGrpSpPr/>
          <p:nvPr/>
        </p:nvGrpSpPr>
        <p:grpSpPr>
          <a:xfrm>
            <a:off x="3903663" y="1984375"/>
            <a:ext cx="4856162" cy="2044700"/>
            <a:chOff x="2379663" y="1984375"/>
            <a:chExt cx="4855711" cy="2044145"/>
          </a:xfrm>
        </p:grpSpPr>
        <p:cxnSp>
          <p:nvCxnSpPr>
            <p:cNvPr id="1627" name="Google Shape;1627;p50"/>
            <p:cNvCxnSpPr/>
            <p:nvPr/>
          </p:nvCxnSpPr>
          <p:spPr>
            <a:xfrm flipH="1">
              <a:off x="3635258" y="3068344"/>
              <a:ext cx="346043" cy="2158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8" name="Google Shape;1628;p50"/>
            <p:cNvCxnSpPr/>
            <p:nvPr/>
          </p:nvCxnSpPr>
          <p:spPr>
            <a:xfrm flipH="1">
              <a:off x="3949554" y="3087389"/>
              <a:ext cx="125401" cy="58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9" name="Google Shape;1629;p50"/>
            <p:cNvCxnSpPr/>
            <p:nvPr/>
          </p:nvCxnSpPr>
          <p:spPr>
            <a:xfrm>
              <a:off x="4254326" y="3030254"/>
              <a:ext cx="230167" cy="3618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0" name="Google Shape;1630;p50"/>
            <p:cNvCxnSpPr/>
            <p:nvPr/>
          </p:nvCxnSpPr>
          <p:spPr>
            <a:xfrm flipH="1">
              <a:off x="5532145" y="3106433"/>
              <a:ext cx="428585" cy="2444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1" name="Google Shape;1631;p50"/>
            <p:cNvCxnSpPr/>
            <p:nvPr/>
          </p:nvCxnSpPr>
          <p:spPr>
            <a:xfrm flipH="1">
              <a:off x="6035335" y="3077866"/>
              <a:ext cx="9524" cy="4697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2" name="Google Shape;1632;p50"/>
            <p:cNvCxnSpPr/>
            <p:nvPr/>
          </p:nvCxnSpPr>
          <p:spPr>
            <a:xfrm flipH="1">
              <a:off x="2379663" y="2355749"/>
              <a:ext cx="1517509" cy="5364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3" name="Google Shape;1633;p50"/>
            <p:cNvCxnSpPr/>
            <p:nvPr/>
          </p:nvCxnSpPr>
          <p:spPr>
            <a:xfrm>
              <a:off x="4200356" y="2322421"/>
              <a:ext cx="0" cy="599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4" name="Google Shape;1634;p50"/>
            <p:cNvCxnSpPr/>
            <p:nvPr/>
          </p:nvCxnSpPr>
          <p:spPr>
            <a:xfrm rot="10800000">
              <a:off x="4449571" y="2306551"/>
              <a:ext cx="1406394" cy="6840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5" name="Google Shape;1635;p50"/>
            <p:cNvCxnSpPr/>
            <p:nvPr/>
          </p:nvCxnSpPr>
          <p:spPr>
            <a:xfrm>
              <a:off x="6411539" y="3131826"/>
              <a:ext cx="285723" cy="1587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6" name="Google Shape;1636;p50"/>
            <p:cNvSpPr txBox="1"/>
            <p:nvPr/>
          </p:nvSpPr>
          <p:spPr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50"/>
            <p:cNvSpPr txBox="1"/>
            <p:nvPr/>
          </p:nvSpPr>
          <p:spPr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50"/>
            <p:cNvSpPr txBox="1"/>
            <p:nvPr/>
          </p:nvSpPr>
          <p:spPr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50"/>
            <p:cNvSpPr txBox="1"/>
            <p:nvPr/>
          </p:nvSpPr>
          <p:spPr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50"/>
            <p:cNvSpPr txBox="1"/>
            <p:nvPr/>
          </p:nvSpPr>
          <p:spPr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50"/>
            <p:cNvSpPr txBox="1"/>
            <p:nvPr/>
          </p:nvSpPr>
          <p:spPr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50"/>
            <p:cNvSpPr txBox="1"/>
            <p:nvPr/>
          </p:nvSpPr>
          <p:spPr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50"/>
            <p:cNvSpPr txBox="1"/>
            <p:nvPr/>
          </p:nvSpPr>
          <p:spPr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50"/>
            <p:cNvSpPr txBox="1"/>
            <p:nvPr/>
          </p:nvSpPr>
          <p:spPr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5" name="Google Shape;1645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46" name="Google Shape;1646;p50"/>
            <p:cNvGrpSpPr/>
            <p:nvPr/>
          </p:nvGrpSpPr>
          <p:grpSpPr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47" name="Google Shape;1647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48" name="Google Shape;1648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49" name="Google Shape;1649;p50"/>
            <p:cNvGrpSpPr/>
            <p:nvPr/>
          </p:nvGrpSpPr>
          <p:grpSpPr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50" name="Google Shape;1650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1" name="Google Shape;1651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52" name="Google Shape;1652;p50"/>
            <p:cNvGrpSpPr/>
            <p:nvPr/>
          </p:nvGrpSpPr>
          <p:grpSpPr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53" name="Google Shape;1653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4" name="Google Shape;1654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55" name="Google Shape;1655;p50"/>
            <p:cNvGrpSpPr/>
            <p:nvPr/>
          </p:nvGrpSpPr>
          <p:grpSpPr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56" name="Google Shape;1656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7" name="Google Shape;1657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58" name="Google Shape;1658;p50"/>
            <p:cNvGrpSpPr/>
            <p:nvPr/>
          </p:nvGrpSpPr>
          <p:grpSpPr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59" name="Google Shape;1659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0" name="Google Shape;1660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61" name="Google Shape;1661;p50"/>
            <p:cNvGrpSpPr/>
            <p:nvPr/>
          </p:nvGrpSpPr>
          <p:grpSpPr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62" name="Google Shape;1662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3" name="Google Shape;1663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664" name="Google Shape;1664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5" name="Google Shape;1665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666" name="Google Shape;1666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5176" y="792164"/>
            <a:ext cx="7313613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51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Institutional network</a:t>
            </a:r>
            <a:endParaRPr/>
          </a:p>
        </p:txBody>
      </p:sp>
      <p:sp>
        <p:nvSpPr>
          <p:cNvPr id="1673" name="Google Shape;1673;p51"/>
          <p:cNvSpPr/>
          <p:nvPr/>
        </p:nvSpPr>
        <p:spPr>
          <a:xfrm rot="5400000">
            <a:off x="3703638" y="244476"/>
            <a:ext cx="4321175" cy="7473950"/>
          </a:xfrm>
          <a:custGeom>
            <a:rect b="b" l="l" r="r" t="t"/>
            <a:pathLst>
              <a:path extrusionOk="0" h="9831" w="10000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674" name="Google Shape;1674;p51"/>
          <p:cNvCxnSpPr/>
          <p:nvPr/>
        </p:nvCxnSpPr>
        <p:spPr>
          <a:xfrm flipH="1">
            <a:off x="3675064" y="3387725"/>
            <a:ext cx="2047875" cy="1416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5" name="Google Shape;1675;p51"/>
          <p:cNvCxnSpPr/>
          <p:nvPr/>
        </p:nvCxnSpPr>
        <p:spPr>
          <a:xfrm>
            <a:off x="5915025" y="3375025"/>
            <a:ext cx="0" cy="14668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6" name="Google Shape;1676;p51"/>
          <p:cNvCxnSpPr/>
          <p:nvPr/>
        </p:nvCxnSpPr>
        <p:spPr>
          <a:xfrm rot="10800000">
            <a:off x="6108700" y="3309939"/>
            <a:ext cx="1841500" cy="1622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7" name="Google Shape;1677;p51"/>
          <p:cNvCxnSpPr/>
          <p:nvPr/>
        </p:nvCxnSpPr>
        <p:spPr>
          <a:xfrm flipH="1" rot="10800000">
            <a:off x="6211888" y="2692401"/>
            <a:ext cx="1223962" cy="4238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8" name="Google Shape;1678;p51"/>
          <p:cNvCxnSpPr/>
          <p:nvPr/>
        </p:nvCxnSpPr>
        <p:spPr>
          <a:xfrm flipH="1" rot="10800000">
            <a:off x="6005514" y="2370139"/>
            <a:ext cx="669925" cy="758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9" name="Google Shape;1679;p51"/>
          <p:cNvCxnSpPr/>
          <p:nvPr/>
        </p:nvCxnSpPr>
        <p:spPr>
          <a:xfrm>
            <a:off x="4911726" y="2524126"/>
            <a:ext cx="862013" cy="644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0" name="Google Shape;1680;p51"/>
          <p:cNvCxnSpPr/>
          <p:nvPr/>
        </p:nvCxnSpPr>
        <p:spPr>
          <a:xfrm rot="10800000">
            <a:off x="3519488" y="2420938"/>
            <a:ext cx="85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1" name="Google Shape;1681;p51"/>
          <p:cNvSpPr txBox="1"/>
          <p:nvPr/>
        </p:nvSpPr>
        <p:spPr>
          <a:xfrm>
            <a:off x="2268538" y="2041526"/>
            <a:ext cx="12620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external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51"/>
          <p:cNvSpPr txBox="1"/>
          <p:nvPr/>
        </p:nvSpPr>
        <p:spPr>
          <a:xfrm>
            <a:off x="4240213" y="2608264"/>
            <a:ext cx="787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51"/>
          <p:cNvSpPr txBox="1"/>
          <p:nvPr/>
        </p:nvSpPr>
        <p:spPr>
          <a:xfrm>
            <a:off x="7959725" y="3516314"/>
            <a:ext cx="14732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51"/>
          <p:cNvSpPr txBox="1"/>
          <p:nvPr/>
        </p:nvSpPr>
        <p:spPr>
          <a:xfrm>
            <a:off x="6956425" y="1835151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51"/>
          <p:cNvSpPr txBox="1"/>
          <p:nvPr/>
        </p:nvSpPr>
        <p:spPr>
          <a:xfrm>
            <a:off x="7754939" y="2505076"/>
            <a:ext cx="13620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6" name="Google Shape;1686;p51"/>
          <p:cNvCxnSpPr/>
          <p:nvPr/>
        </p:nvCxnSpPr>
        <p:spPr>
          <a:xfrm rot="10800000">
            <a:off x="2989264" y="4754563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7" name="Google Shape;1687;p51"/>
          <p:cNvCxnSpPr/>
          <p:nvPr/>
        </p:nvCxnSpPr>
        <p:spPr>
          <a:xfrm flipH="1">
            <a:off x="3376613" y="4802189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8" name="Google Shape;1688;p51"/>
          <p:cNvCxnSpPr/>
          <p:nvPr/>
        </p:nvCxnSpPr>
        <p:spPr>
          <a:xfrm>
            <a:off x="3795714" y="4830764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89" name="Google Shape;1689;p51"/>
          <p:cNvGrpSpPr/>
          <p:nvPr/>
        </p:nvGrpSpPr>
        <p:grpSpPr>
          <a:xfrm>
            <a:off x="2533651" y="4557713"/>
            <a:ext cx="568325" cy="481012"/>
            <a:chOff x="-44" y="1473"/>
            <a:chExt cx="981" cy="1105"/>
          </a:xfrm>
        </p:grpSpPr>
        <p:pic>
          <p:nvPicPr>
            <p:cNvPr descr="desktop_computer_stylized_medium" id="1690" name="Google Shape;1690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1" name="Google Shape;1691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692" name="Google Shape;1692;p51"/>
          <p:cNvGrpSpPr/>
          <p:nvPr/>
        </p:nvGrpSpPr>
        <p:grpSpPr>
          <a:xfrm>
            <a:off x="2940051" y="5014913"/>
            <a:ext cx="568325" cy="481012"/>
            <a:chOff x="-44" y="1473"/>
            <a:chExt cx="981" cy="1105"/>
          </a:xfrm>
        </p:grpSpPr>
        <p:pic>
          <p:nvPicPr>
            <p:cNvPr descr="desktop_computer_stylized_medium" id="1693" name="Google Shape;1693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4" name="Google Shape;1694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695" name="Google Shape;1695;p51"/>
          <p:cNvGrpSpPr/>
          <p:nvPr/>
        </p:nvGrpSpPr>
        <p:grpSpPr>
          <a:xfrm>
            <a:off x="3468689" y="5046663"/>
            <a:ext cx="568325" cy="481012"/>
            <a:chOff x="-44" y="1473"/>
            <a:chExt cx="981" cy="1105"/>
          </a:xfrm>
        </p:grpSpPr>
        <p:pic>
          <p:nvPicPr>
            <p:cNvPr descr="desktop_computer_stylized_medium" id="1696" name="Google Shape;1696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7" name="Google Shape;1697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698" name="Google Shape;1698;p51"/>
          <p:cNvCxnSpPr/>
          <p:nvPr/>
        </p:nvCxnSpPr>
        <p:spPr>
          <a:xfrm>
            <a:off x="4014789" y="476091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9" name="Google Shape;1699;p51"/>
          <p:cNvCxnSpPr/>
          <p:nvPr/>
        </p:nvCxnSpPr>
        <p:spPr>
          <a:xfrm flipH="1">
            <a:off x="4246563" y="5256214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0" name="Google Shape;1700;p51"/>
          <p:cNvCxnSpPr/>
          <p:nvPr/>
        </p:nvCxnSpPr>
        <p:spPr>
          <a:xfrm>
            <a:off x="4651376" y="526732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1" name="Google Shape;1701;p51"/>
          <p:cNvCxnSpPr/>
          <p:nvPr/>
        </p:nvCxnSpPr>
        <p:spPr>
          <a:xfrm rot="10800000">
            <a:off x="4549776" y="5148263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02" name="Google Shape;1702;p51"/>
          <p:cNvGrpSpPr/>
          <p:nvPr/>
        </p:nvGrpSpPr>
        <p:grpSpPr>
          <a:xfrm>
            <a:off x="3873501" y="5419726"/>
            <a:ext cx="568325" cy="481013"/>
            <a:chOff x="-44" y="1473"/>
            <a:chExt cx="981" cy="1105"/>
          </a:xfrm>
        </p:grpSpPr>
        <p:pic>
          <p:nvPicPr>
            <p:cNvPr descr="desktop_computer_stylized_medium" id="1703" name="Google Shape;1703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4" name="Google Shape;1704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705" name="Google Shape;1705;p51"/>
          <p:cNvGrpSpPr/>
          <p:nvPr/>
        </p:nvGrpSpPr>
        <p:grpSpPr>
          <a:xfrm>
            <a:off x="4330701" y="5487988"/>
            <a:ext cx="568325" cy="481012"/>
            <a:chOff x="-44" y="1473"/>
            <a:chExt cx="981" cy="1105"/>
          </a:xfrm>
        </p:grpSpPr>
        <p:pic>
          <p:nvPicPr>
            <p:cNvPr descr="desktop_computer_stylized_medium" id="1706" name="Google Shape;1706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7" name="Google Shape;1707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708" name="Google Shape;170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1063" y="4602164"/>
            <a:ext cx="677862" cy="3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9" name="Google Shape;170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1951" y="5018089"/>
            <a:ext cx="677863" cy="30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0" name="Google Shape;1710;p51"/>
          <p:cNvGrpSpPr/>
          <p:nvPr/>
        </p:nvGrpSpPr>
        <p:grpSpPr>
          <a:xfrm>
            <a:off x="4756151" y="4946651"/>
            <a:ext cx="568325" cy="481013"/>
            <a:chOff x="-44" y="1473"/>
            <a:chExt cx="981" cy="1105"/>
          </a:xfrm>
        </p:grpSpPr>
        <p:pic>
          <p:nvPicPr>
            <p:cNvPr descr="desktop_computer_stylized_medium" id="1711" name="Google Shape;171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2" name="Google Shape;1712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713" name="Google Shape;1713;p51"/>
          <p:cNvCxnSpPr/>
          <p:nvPr/>
        </p:nvCxnSpPr>
        <p:spPr>
          <a:xfrm rot="10800000">
            <a:off x="7208839" y="5022850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4" name="Google Shape;1714;p51"/>
          <p:cNvCxnSpPr/>
          <p:nvPr/>
        </p:nvCxnSpPr>
        <p:spPr>
          <a:xfrm flipH="1">
            <a:off x="7596188" y="5070476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5" name="Google Shape;1715;p51"/>
          <p:cNvCxnSpPr/>
          <p:nvPr/>
        </p:nvCxnSpPr>
        <p:spPr>
          <a:xfrm>
            <a:off x="8015289" y="5099051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16" name="Google Shape;1716;p51"/>
          <p:cNvGrpSpPr/>
          <p:nvPr/>
        </p:nvGrpSpPr>
        <p:grpSpPr>
          <a:xfrm>
            <a:off x="6900864" y="4837113"/>
            <a:ext cx="568325" cy="481012"/>
            <a:chOff x="-44" y="1473"/>
            <a:chExt cx="981" cy="1105"/>
          </a:xfrm>
        </p:grpSpPr>
        <p:pic>
          <p:nvPicPr>
            <p:cNvPr descr="desktop_computer_stylized_medium" id="1717" name="Google Shape;1717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8" name="Google Shape;1718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719" name="Google Shape;1719;p51"/>
          <p:cNvGrpSpPr/>
          <p:nvPr/>
        </p:nvGrpSpPr>
        <p:grpSpPr>
          <a:xfrm>
            <a:off x="7159626" y="5283201"/>
            <a:ext cx="569913" cy="481013"/>
            <a:chOff x="-44" y="1473"/>
            <a:chExt cx="981" cy="1105"/>
          </a:xfrm>
        </p:grpSpPr>
        <p:pic>
          <p:nvPicPr>
            <p:cNvPr descr="desktop_computer_stylized_medium" id="1720" name="Google Shape;1720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1" name="Google Shape;1721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722" name="Google Shape;1722;p51"/>
          <p:cNvGrpSpPr/>
          <p:nvPr/>
        </p:nvGrpSpPr>
        <p:grpSpPr>
          <a:xfrm>
            <a:off x="7688264" y="5313363"/>
            <a:ext cx="568325" cy="482600"/>
            <a:chOff x="-44" y="1473"/>
            <a:chExt cx="981" cy="1105"/>
          </a:xfrm>
        </p:grpSpPr>
        <p:pic>
          <p:nvPicPr>
            <p:cNvPr descr="desktop_computer_stylized_medium" id="1723" name="Google Shape;1723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4" name="Google Shape;1724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725" name="Google Shape;1725;p51"/>
          <p:cNvCxnSpPr/>
          <p:nvPr/>
        </p:nvCxnSpPr>
        <p:spPr>
          <a:xfrm rot="10800000">
            <a:off x="6183314" y="5068889"/>
            <a:ext cx="606425" cy="3127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6" name="Google Shape;1726;p51"/>
          <p:cNvCxnSpPr/>
          <p:nvPr/>
        </p:nvCxnSpPr>
        <p:spPr>
          <a:xfrm flipH="1">
            <a:off x="5719763" y="5022851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7" name="Google Shape;1727;p51"/>
          <p:cNvCxnSpPr/>
          <p:nvPr/>
        </p:nvCxnSpPr>
        <p:spPr>
          <a:xfrm>
            <a:off x="6138864" y="505142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28" name="Google Shape;1728;p51"/>
          <p:cNvGrpSpPr/>
          <p:nvPr/>
        </p:nvGrpSpPr>
        <p:grpSpPr>
          <a:xfrm>
            <a:off x="6327776" y="5230813"/>
            <a:ext cx="569913" cy="481012"/>
            <a:chOff x="-44" y="1473"/>
            <a:chExt cx="981" cy="1105"/>
          </a:xfrm>
        </p:grpSpPr>
        <p:pic>
          <p:nvPicPr>
            <p:cNvPr descr="desktop_computer_stylized_medium" id="1729" name="Google Shape;1729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0" name="Google Shape;1730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731" name="Google Shape;1731;p51"/>
          <p:cNvGrpSpPr/>
          <p:nvPr/>
        </p:nvGrpSpPr>
        <p:grpSpPr>
          <a:xfrm>
            <a:off x="5283201" y="5235575"/>
            <a:ext cx="569913" cy="482600"/>
            <a:chOff x="-44" y="1473"/>
            <a:chExt cx="981" cy="1105"/>
          </a:xfrm>
        </p:grpSpPr>
        <p:pic>
          <p:nvPicPr>
            <p:cNvPr descr="desktop_computer_stylized_medium" id="1732" name="Google Shape;1732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3" name="Google Shape;1733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734" name="Google Shape;1734;p51"/>
          <p:cNvGrpSpPr/>
          <p:nvPr/>
        </p:nvGrpSpPr>
        <p:grpSpPr>
          <a:xfrm>
            <a:off x="5811838" y="5267326"/>
            <a:ext cx="569912" cy="481013"/>
            <a:chOff x="-44" y="1473"/>
            <a:chExt cx="981" cy="1105"/>
          </a:xfrm>
        </p:grpSpPr>
        <p:pic>
          <p:nvPicPr>
            <p:cNvPr descr="desktop_computer_stylized_medium" id="1735" name="Google Shape;1735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6" name="Google Shape;1736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737" name="Google Shape;173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4213" y="4822826"/>
            <a:ext cx="677862" cy="301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8" name="Google Shape;1738;p51"/>
          <p:cNvCxnSpPr/>
          <p:nvPr/>
        </p:nvCxnSpPr>
        <p:spPr>
          <a:xfrm rot="10800000">
            <a:off x="8043864" y="5100638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39" name="Google Shape;173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638" y="4870451"/>
            <a:ext cx="677862" cy="30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0" name="Google Shape;1740;p51"/>
          <p:cNvGrpSpPr/>
          <p:nvPr/>
        </p:nvGrpSpPr>
        <p:grpSpPr>
          <a:xfrm>
            <a:off x="8208963" y="4884738"/>
            <a:ext cx="569912" cy="481012"/>
            <a:chOff x="-44" y="1473"/>
            <a:chExt cx="981" cy="1105"/>
          </a:xfrm>
        </p:grpSpPr>
        <p:pic>
          <p:nvPicPr>
            <p:cNvPr descr="desktop_computer_stylized_medium" id="1741" name="Google Shape;174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2" name="Google Shape;1742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743" name="Google Shape;174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3062289"/>
            <a:ext cx="935038" cy="415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4" name="Google Shape;1744;p51"/>
          <p:cNvGrpSpPr/>
          <p:nvPr/>
        </p:nvGrpSpPr>
        <p:grpSpPr>
          <a:xfrm>
            <a:off x="6664326" y="2111375"/>
            <a:ext cx="366713" cy="579438"/>
            <a:chOff x="4140" y="429"/>
            <a:chExt cx="1425" cy="2396"/>
          </a:xfrm>
        </p:grpSpPr>
        <p:sp>
          <p:nvSpPr>
            <p:cNvPr id="1745" name="Google Shape;1745;p5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46" name="Google Shape;1746;p51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5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48" name="Google Shape;1748;p5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49" name="Google Shape;1749;p51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0" name="Google Shape;1750;p51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751" name="Google Shape;1751;p51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2" name="Google Shape;1752;p51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3" name="Google Shape;1753;p51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4" name="Google Shape;1754;p51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755" name="Google Shape;1755;p51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6" name="Google Shape;1756;p51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7" name="Google Shape;1757;p51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51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9" name="Google Shape;1759;p51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760" name="Google Shape;1760;p51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51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62" name="Google Shape;1762;p5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763" name="Google Shape;1763;p51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764" name="Google Shape;1764;p51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5" name="Google Shape;1765;p51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66" name="Google Shape;1766;p5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5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68" name="Google Shape;1768;p5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69" name="Google Shape;1769;p51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5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71" name="Google Shape;1771;p51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51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51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51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51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51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7" name="Google Shape;1777;p51"/>
          <p:cNvGrpSpPr/>
          <p:nvPr/>
        </p:nvGrpSpPr>
        <p:grpSpPr>
          <a:xfrm>
            <a:off x="7269163" y="2620964"/>
            <a:ext cx="366712" cy="579437"/>
            <a:chOff x="4140" y="429"/>
            <a:chExt cx="1425" cy="2396"/>
          </a:xfrm>
        </p:grpSpPr>
        <p:sp>
          <p:nvSpPr>
            <p:cNvPr id="1778" name="Google Shape;1778;p5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79" name="Google Shape;1779;p51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5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81" name="Google Shape;1781;p5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82" name="Google Shape;1782;p51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83" name="Google Shape;1783;p51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784" name="Google Shape;1784;p51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5" name="Google Shape;1785;p51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86" name="Google Shape;1786;p51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87" name="Google Shape;1787;p51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788" name="Google Shape;1788;p51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9" name="Google Shape;1789;p51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0" name="Google Shape;1790;p51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51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92" name="Google Shape;1792;p51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793" name="Google Shape;1793;p51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51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5" name="Google Shape;1795;p5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796" name="Google Shape;1796;p51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797" name="Google Shape;1797;p51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51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9" name="Google Shape;1799;p5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5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01" name="Google Shape;1801;p5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02" name="Google Shape;1802;p51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5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04" name="Google Shape;1804;p51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51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51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51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51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51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810" name="Google Shape;181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1063" y="1039814"/>
            <a:ext cx="50276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1" name="Google Shape;1811;p51"/>
          <p:cNvGrpSpPr/>
          <p:nvPr/>
        </p:nvGrpSpPr>
        <p:grpSpPr>
          <a:xfrm>
            <a:off x="4275485" y="2148330"/>
            <a:ext cx="880316" cy="510540"/>
            <a:chOff x="1871277" y="1576300"/>
            <a:chExt cx="1128371" cy="437861"/>
          </a:xfrm>
        </p:grpSpPr>
        <p:sp>
          <p:nvSpPr>
            <p:cNvPr id="1812" name="Google Shape;1812;p51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3" name="Google Shape;1813;p51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4" name="Google Shape;1814;p51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5" name="Google Shape;1815;p51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B1DB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6" name="Google Shape;1816;p51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7" name="Google Shape;1817;p51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8" name="Google Shape;1818;p51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819" name="Google Shape;1819;p51"/>
            <p:cNvCxnSpPr>
              <a:endCxn id="1814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  <p:cxnSp>
          <p:nvCxnSpPr>
            <p:cNvPr id="1820" name="Google Shape;1820;p51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52"/>
          <p:cNvSpPr txBox="1"/>
          <p:nvPr>
            <p:ph type="title"/>
          </p:nvPr>
        </p:nvSpPr>
        <p:spPr>
          <a:xfrm>
            <a:off x="1939925" y="39688"/>
            <a:ext cx="45608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Switches vs. routers</a:t>
            </a:r>
            <a:endParaRPr/>
          </a:p>
        </p:txBody>
      </p:sp>
      <p:sp>
        <p:nvSpPr>
          <p:cNvPr id="1827" name="Google Shape;1827;p52"/>
          <p:cNvSpPr txBox="1"/>
          <p:nvPr>
            <p:ph idx="1" type="body"/>
          </p:nvPr>
        </p:nvSpPr>
        <p:spPr>
          <a:xfrm>
            <a:off x="1966913" y="1341439"/>
            <a:ext cx="3967162" cy="4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both are store-and-forward: 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network-layer devices (examine network-layer headers)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switches</a:t>
            </a:r>
            <a:r>
              <a:rPr i="1" lang="en-US" sz="2400"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link-layer devices (examine link-layer headers)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i="1" sz="24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both have forwarding tables:</a:t>
            </a:r>
            <a:endParaRPr/>
          </a:p>
          <a:p>
            <a:pPr indent="-231775" lvl="0" marL="231775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compute tables using routing algorithms, IP addresses</a:t>
            </a:r>
            <a:endParaRPr/>
          </a:p>
          <a:p>
            <a:pPr indent="-231775" lvl="0" marL="231775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switches: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learn forwarding table using flooding, learning, MAC addresses </a:t>
            </a:r>
            <a:endParaRPr/>
          </a:p>
        </p:txBody>
      </p:sp>
      <p:sp>
        <p:nvSpPr>
          <p:cNvPr id="1828" name="Google Shape;1828;p52"/>
          <p:cNvSpPr/>
          <p:nvPr/>
        </p:nvSpPr>
        <p:spPr>
          <a:xfrm flipH="1">
            <a:off x="8067676" y="2103439"/>
            <a:ext cx="638175" cy="852487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29" name="Google Shape;1829;p52"/>
          <p:cNvSpPr/>
          <p:nvPr/>
        </p:nvSpPr>
        <p:spPr>
          <a:xfrm>
            <a:off x="8054976" y="844551"/>
            <a:ext cx="360363" cy="1577975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30" name="Google Shape;1830;p52"/>
          <p:cNvSpPr/>
          <p:nvPr/>
        </p:nvSpPr>
        <p:spPr>
          <a:xfrm>
            <a:off x="6831014" y="850901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52"/>
          <p:cNvSpPr/>
          <p:nvPr/>
        </p:nvSpPr>
        <p:spPr>
          <a:xfrm>
            <a:off x="6783389" y="922338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2" name="Google Shape;1832;p52"/>
          <p:cNvCxnSpPr/>
          <p:nvPr/>
        </p:nvCxnSpPr>
        <p:spPr>
          <a:xfrm>
            <a:off x="6783388" y="12398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3" name="Google Shape;1833;p52"/>
          <p:cNvSpPr txBox="1"/>
          <p:nvPr/>
        </p:nvSpPr>
        <p:spPr>
          <a:xfrm>
            <a:off x="6740526" y="889000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4" name="Google Shape;1834;p52"/>
          <p:cNvCxnSpPr/>
          <p:nvPr/>
        </p:nvCxnSpPr>
        <p:spPr>
          <a:xfrm>
            <a:off x="6791325" y="15605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5" name="Google Shape;1835;p52"/>
          <p:cNvCxnSpPr/>
          <p:nvPr/>
        </p:nvCxnSpPr>
        <p:spPr>
          <a:xfrm>
            <a:off x="6796088" y="184150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6" name="Google Shape;1836;p52"/>
          <p:cNvCxnSpPr/>
          <p:nvPr/>
        </p:nvCxnSpPr>
        <p:spPr>
          <a:xfrm>
            <a:off x="6796088" y="211772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37" name="Google Shape;1837;p52"/>
          <p:cNvGrpSpPr/>
          <p:nvPr/>
        </p:nvGrpSpPr>
        <p:grpSpPr>
          <a:xfrm>
            <a:off x="8240714" y="3525838"/>
            <a:ext cx="1387475" cy="1035050"/>
            <a:chOff x="3601" y="168"/>
            <a:chExt cx="874" cy="652"/>
          </a:xfrm>
        </p:grpSpPr>
        <p:sp>
          <p:nvSpPr>
            <p:cNvPr id="1838" name="Google Shape;1838;p52"/>
            <p:cNvSpPr/>
            <p:nvPr/>
          </p:nvSpPr>
          <p:spPr>
            <a:xfrm>
              <a:off x="3658" y="168"/>
              <a:ext cx="817" cy="5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52"/>
            <p:cNvSpPr/>
            <p:nvPr/>
          </p:nvSpPr>
          <p:spPr>
            <a:xfrm>
              <a:off x="3628" y="213"/>
              <a:ext cx="802" cy="59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0" name="Google Shape;1840;p52"/>
            <p:cNvCxnSpPr/>
            <p:nvPr/>
          </p:nvCxnSpPr>
          <p:spPr>
            <a:xfrm>
              <a:off x="3628" y="413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41" name="Google Shape;1841;p52"/>
            <p:cNvSpPr txBox="1"/>
            <p:nvPr/>
          </p:nvSpPr>
          <p:spPr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2" name="Google Shape;1842;p52"/>
            <p:cNvCxnSpPr/>
            <p:nvPr/>
          </p:nvCxnSpPr>
          <p:spPr>
            <a:xfrm>
              <a:off x="3633" y="615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43" name="Google Shape;1843;p52"/>
          <p:cNvGrpSpPr/>
          <p:nvPr/>
        </p:nvGrpSpPr>
        <p:grpSpPr>
          <a:xfrm>
            <a:off x="8578851" y="2100264"/>
            <a:ext cx="1387475" cy="733425"/>
            <a:chOff x="4696" y="597"/>
            <a:chExt cx="874" cy="462"/>
          </a:xfrm>
        </p:grpSpPr>
        <p:sp>
          <p:nvSpPr>
            <p:cNvPr id="1844" name="Google Shape;1844;p52"/>
            <p:cNvSpPr/>
            <p:nvPr/>
          </p:nvSpPr>
          <p:spPr>
            <a:xfrm>
              <a:off x="4753" y="597"/>
              <a:ext cx="817" cy="4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52"/>
            <p:cNvSpPr/>
            <p:nvPr/>
          </p:nvSpPr>
          <p:spPr>
            <a:xfrm>
              <a:off x="4723" y="642"/>
              <a:ext cx="802" cy="413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6" name="Google Shape;1846;p52"/>
            <p:cNvCxnSpPr/>
            <p:nvPr/>
          </p:nvCxnSpPr>
          <p:spPr>
            <a:xfrm>
              <a:off x="4723" y="842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47" name="Google Shape;1847;p52"/>
            <p:cNvSpPr txBox="1"/>
            <p:nvPr/>
          </p:nvSpPr>
          <p:spPr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8" name="Google Shape;1848;p52"/>
          <p:cNvSpPr txBox="1"/>
          <p:nvPr/>
        </p:nvSpPr>
        <p:spPr>
          <a:xfrm>
            <a:off x="7378700" y="3003550"/>
            <a:ext cx="9032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9" name="Google Shape;1849;p52"/>
          <p:cNvGrpSpPr/>
          <p:nvPr/>
        </p:nvGrpSpPr>
        <p:grpSpPr>
          <a:xfrm>
            <a:off x="5932489" y="1562100"/>
            <a:ext cx="962025" cy="304800"/>
            <a:chOff x="1070" y="918"/>
            <a:chExt cx="606" cy="192"/>
          </a:xfrm>
        </p:grpSpPr>
        <p:sp>
          <p:nvSpPr>
            <p:cNvPr id="1850" name="Google Shape;1850;p52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52"/>
            <p:cNvSpPr txBox="1"/>
            <p:nvPr/>
          </p:nvSpPr>
          <p:spPr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2" name="Google Shape;1852;p52"/>
          <p:cNvSpPr/>
          <p:nvPr/>
        </p:nvSpPr>
        <p:spPr>
          <a:xfrm>
            <a:off x="6732589" y="4594226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52"/>
          <p:cNvSpPr/>
          <p:nvPr/>
        </p:nvSpPr>
        <p:spPr>
          <a:xfrm>
            <a:off x="6684964" y="4665663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4" name="Google Shape;1854;p52"/>
          <p:cNvCxnSpPr/>
          <p:nvPr/>
        </p:nvCxnSpPr>
        <p:spPr>
          <a:xfrm>
            <a:off x="6684963" y="49831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5" name="Google Shape;1855;p52"/>
          <p:cNvSpPr txBox="1"/>
          <p:nvPr/>
        </p:nvSpPr>
        <p:spPr>
          <a:xfrm>
            <a:off x="6642101" y="4632325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6" name="Google Shape;1856;p52"/>
          <p:cNvCxnSpPr/>
          <p:nvPr/>
        </p:nvCxnSpPr>
        <p:spPr>
          <a:xfrm>
            <a:off x="6692900" y="53038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7" name="Google Shape;1857;p52"/>
          <p:cNvCxnSpPr/>
          <p:nvPr/>
        </p:nvCxnSpPr>
        <p:spPr>
          <a:xfrm>
            <a:off x="6697663" y="558482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8" name="Google Shape;1858;p52"/>
          <p:cNvCxnSpPr/>
          <p:nvPr/>
        </p:nvCxnSpPr>
        <p:spPr>
          <a:xfrm>
            <a:off x="6697663" y="586105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9" name="Google Shape;1859;p52"/>
          <p:cNvSpPr/>
          <p:nvPr/>
        </p:nvSpPr>
        <p:spPr>
          <a:xfrm>
            <a:off x="7996238" y="4600576"/>
            <a:ext cx="381000" cy="1857375"/>
          </a:xfrm>
          <a:custGeom>
            <a:rect b="b" l="l" r="r" t="t"/>
            <a:pathLst>
              <a:path extrusionOk="0" h="1170" w="24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860" name="Google Shape;1860;p52"/>
          <p:cNvGrpSpPr/>
          <p:nvPr/>
        </p:nvGrpSpPr>
        <p:grpSpPr>
          <a:xfrm>
            <a:off x="5818189" y="1814514"/>
            <a:ext cx="1095375" cy="338137"/>
            <a:chOff x="998" y="1077"/>
            <a:chExt cx="690" cy="213"/>
          </a:xfrm>
        </p:grpSpPr>
        <p:sp>
          <p:nvSpPr>
            <p:cNvPr id="1861" name="Google Shape;1861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3" name="Google Shape;1863;p52"/>
          <p:cNvSpPr/>
          <p:nvPr/>
        </p:nvSpPr>
        <p:spPr>
          <a:xfrm>
            <a:off x="6805614" y="723900"/>
            <a:ext cx="2924175" cy="5314950"/>
          </a:xfrm>
          <a:custGeom>
            <a:rect b="b" l="l" r="r" t="t"/>
            <a:pathLst>
              <a:path extrusionOk="0" h="3348" w="1842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864" name="Google Shape;1864;p52"/>
          <p:cNvGrpSpPr/>
          <p:nvPr/>
        </p:nvGrpSpPr>
        <p:grpSpPr>
          <a:xfrm>
            <a:off x="9590089" y="2166939"/>
            <a:ext cx="1095375" cy="338137"/>
            <a:chOff x="998" y="1077"/>
            <a:chExt cx="690" cy="213"/>
          </a:xfrm>
        </p:grpSpPr>
        <p:sp>
          <p:nvSpPr>
            <p:cNvPr id="1865" name="Google Shape;1865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7" name="Google Shape;1867;p52"/>
          <p:cNvGrpSpPr/>
          <p:nvPr/>
        </p:nvGrpSpPr>
        <p:grpSpPr>
          <a:xfrm>
            <a:off x="9266239" y="3919539"/>
            <a:ext cx="1095375" cy="338137"/>
            <a:chOff x="998" y="1077"/>
            <a:chExt cx="690" cy="213"/>
          </a:xfrm>
        </p:grpSpPr>
        <p:sp>
          <p:nvSpPr>
            <p:cNvPr id="1868" name="Google Shape;1868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0" name="Google Shape;1870;p52"/>
          <p:cNvGrpSpPr/>
          <p:nvPr/>
        </p:nvGrpSpPr>
        <p:grpSpPr>
          <a:xfrm>
            <a:off x="9332914" y="3638550"/>
            <a:ext cx="962025" cy="304800"/>
            <a:chOff x="1070" y="918"/>
            <a:chExt cx="606" cy="192"/>
          </a:xfrm>
        </p:grpSpPr>
        <p:sp>
          <p:nvSpPr>
            <p:cNvPr id="1871" name="Google Shape;1871;p52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52"/>
            <p:cNvSpPr txBox="1"/>
            <p:nvPr/>
          </p:nvSpPr>
          <p:spPr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3" name="Google Shape;1873;p52"/>
          <p:cNvSpPr/>
          <p:nvPr/>
        </p:nvSpPr>
        <p:spPr>
          <a:xfrm>
            <a:off x="7948613" y="3533776"/>
            <a:ext cx="361950" cy="923925"/>
          </a:xfrm>
          <a:custGeom>
            <a:rect b="b" l="l" r="r" t="t"/>
            <a:pathLst>
              <a:path extrusionOk="0" h="582" w="228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000099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874" name="Google Shape;1874;p52"/>
          <p:cNvGrpSpPr/>
          <p:nvPr/>
        </p:nvGrpSpPr>
        <p:grpSpPr>
          <a:xfrm>
            <a:off x="8005763" y="1347789"/>
            <a:ext cx="762000" cy="693737"/>
            <a:chOff x="-44" y="1473"/>
            <a:chExt cx="981" cy="1105"/>
          </a:xfrm>
        </p:grpSpPr>
        <p:pic>
          <p:nvPicPr>
            <p:cNvPr descr="desktop_computer_stylized_medium" id="1875" name="Google Shape;1875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6" name="Google Shape;1876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77" name="Google Shape;1877;p52"/>
          <p:cNvGrpSpPr/>
          <p:nvPr/>
        </p:nvGrpSpPr>
        <p:grpSpPr>
          <a:xfrm>
            <a:off x="7985125" y="6002339"/>
            <a:ext cx="762000" cy="693737"/>
            <a:chOff x="-44" y="1473"/>
            <a:chExt cx="981" cy="1105"/>
          </a:xfrm>
        </p:grpSpPr>
        <p:pic>
          <p:nvPicPr>
            <p:cNvPr descr="desktop_computer_stylized_medium" id="1878" name="Google Shape;1878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9" name="Google Shape;1879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880" name="Google Shape;188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7464" y="2671764"/>
            <a:ext cx="877887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1881" name="Google Shape;1881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5488" y="847725"/>
            <a:ext cx="4113212" cy="17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2" name="Google Shape;1882;p52"/>
          <p:cNvGrpSpPr/>
          <p:nvPr/>
        </p:nvGrpSpPr>
        <p:grpSpPr>
          <a:xfrm>
            <a:off x="7331755" y="3834927"/>
            <a:ext cx="781085" cy="431171"/>
            <a:chOff x="1871277" y="1576300"/>
            <a:chExt cx="1128371" cy="437861"/>
          </a:xfrm>
        </p:grpSpPr>
        <p:sp>
          <p:nvSpPr>
            <p:cNvPr id="1883" name="Google Shape;1883;p5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4" name="Google Shape;1884;p52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5" name="Google Shape;1885;p5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6" name="Google Shape;1886;p52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B1DB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7" name="Google Shape;1887;p5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8" name="Google Shape;1888;p5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9" name="Google Shape;1889;p5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890" name="Google Shape;1890;p52"/>
            <p:cNvCxnSpPr>
              <a:endCxn id="1885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  <p:cxnSp>
          <p:nvCxnSpPr>
            <p:cNvPr id="1891" name="Google Shape;1891;p5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5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END!</a:t>
            </a:r>
            <a:endParaRPr/>
          </a:p>
        </p:txBody>
      </p:sp>
      <p:sp>
        <p:nvSpPr>
          <p:cNvPr id="1897" name="Google Shape;1897;p5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