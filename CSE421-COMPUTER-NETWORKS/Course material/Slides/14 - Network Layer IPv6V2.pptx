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embeddedFontLst>
    <p:embeddedFont>
      <p:font typeface="Corbel"/>
      <p:regular r:id="rId44"/>
      <p:bold r:id="rId45"/>
      <p:italic r:id="rId46"/>
      <p:boldItalic r:id="rId47"/>
    </p:embeddedFont>
    <p:embeddedFont>
      <p:font typeface="Tahoma"/>
      <p:regular r:id="rId48"/>
      <p:bold r:id="rId49"/>
    </p:embeddedFont>
    <p:embeddedFont>
      <p:font typeface="Helvetica Neue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gl3fCWEaHZbLMjJ2SUSKnc5hC7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49AEBE-E305-4459-AA5F-5C9D43B5CEBB}">
  <a:tblStyle styleId="{8049AEBE-E305-4459-AA5F-5C9D43B5CEB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Corbel-regular.fntdata"/><Relationship Id="rId43" Type="http://schemas.openxmlformats.org/officeDocument/2006/relationships/slide" Target="slides/slide37.xml"/><Relationship Id="rId46" Type="http://schemas.openxmlformats.org/officeDocument/2006/relationships/font" Target="fonts/Corbel-italic.fntdata"/><Relationship Id="rId45" Type="http://schemas.openxmlformats.org/officeDocument/2006/relationships/font" Target="fonts/Corbel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Tahoma-regular.fntdata"/><Relationship Id="rId47" Type="http://schemas.openxmlformats.org/officeDocument/2006/relationships/font" Target="fonts/Corbel-boldItalic.fntdata"/><Relationship Id="rId49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bold.fntdata"/><Relationship Id="rId50" Type="http://schemas.openxmlformats.org/officeDocument/2006/relationships/font" Target="fonts/HelveticaNeue-regular.fntdata"/><Relationship Id="rId53" Type="http://schemas.openxmlformats.org/officeDocument/2006/relationships/font" Target="fonts/HelveticaNeue-boldItalic.fntdata"/><Relationship Id="rId52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54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3049588" y="631825"/>
            <a:ext cx="3078162" cy="173196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455613" y="2513013"/>
            <a:ext cx="5946775" cy="5483225"/>
          </a:xfrm>
          <a:prstGeom prst="rect">
            <a:avLst/>
          </a:prstGeom>
          <a:noFill/>
          <a:ln>
            <a:noFill/>
          </a:ln>
        </p:spPr>
        <p:txBody>
          <a:bodyPr anchorCtr="0" anchor="t" bIns="42950" lIns="85925" spcFirstLastPara="1" rIns="85925" wrap="square" tIns="42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6ff68be46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e6ff68be46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6ff68be46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7" name="Google Shape;407;g3e6ff68be46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e6ff68be46_0_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e6ff68be46_0_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g3e6ff68be46_0_4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6ff68be46_0_5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g3e6ff68be46_0_5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6ff68be46_0_5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g3e6ff68be46_0_5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5" name="Google Shape;46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4" name="Google Shape;51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4" name="Google Shape;54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3" name="Google Shape;55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7" name="Google Shape;57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3" name="Google Shape;59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0" name="Google Shape;60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8" name="Google Shape;60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8:notes"/>
          <p:cNvSpPr txBox="1"/>
          <p:nvPr/>
        </p:nvSpPr>
        <p:spPr>
          <a:xfrm>
            <a:off x="919163" y="685800"/>
            <a:ext cx="5018087" cy="3429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8:notes"/>
          <p:cNvSpPr txBox="1"/>
          <p:nvPr>
            <p:ph idx="1" type="body"/>
          </p:nvPr>
        </p:nvSpPr>
        <p:spPr>
          <a:xfrm>
            <a:off x="915988" y="4343400"/>
            <a:ext cx="5026025" cy="4119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IETF Transition mechanisms come under V6ops charter (was NGTrans working group until feb03)‏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http://www.ietf.org/html.charters/v6ops-charter.html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This should be a big topic, but I keep shortening it: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Summary is: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IPv6 traffic generally has to traverse IPv4 world or talk to IPv4 devices.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options: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Encapsulate it in IPv4 packets and route between two known end points.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Use tunnels such as 6to4 or Teredo for endpoints OR use compatible addresses OR mapped addresses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RFC1933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Transition Mechanisms for IPv6 Hosts and Routers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Rfc2766 NAT-pt </a:t>
            </a: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Network Address Translation - Protocol Translation (NAT-PT)‏</a:t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Courier New"/>
                <a:ea typeface="Courier New"/>
                <a:cs typeface="Courier New"/>
                <a:sym typeface="Courier New"/>
              </a:rPr>
              <a:t>NOTE: [should make this a slide]: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Dual stack node (host and router) does not mean having both IPv4 and IPv6 applications.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DNS name resolution doesn’t specify (IPv4/v6) version of peer application!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Dns lookup of ip6streamer.example.org  may return IPv4 OR IPv6 OR BOTH v4&amp;v6 addresses.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400"/>
              <a:buNone/>
            </a:pPr>
            <a:r>
              <a:rPr lang="en-US" sz="1000">
                <a:latin typeface="Times"/>
                <a:ea typeface="Times"/>
                <a:cs typeface="Times"/>
                <a:sym typeface="Times"/>
              </a:rPr>
              <a:t>Can have various versions of an application. [e.g.: ssh tries IPv6 first and then if that times out drops back to IPv4).</a:t>
            </a:r>
            <a:endParaRPr/>
          </a:p>
        </p:txBody>
      </p:sp>
      <p:sp>
        <p:nvSpPr>
          <p:cNvPr id="616" name="Google Shape;61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e6ff68be46_0_6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3e6ff68be46_0_6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e6ff68be46_0_6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0" name="Google Shape;64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8" name="Google Shape;64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0" name="Google Shape;66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0" name="Google Shape;68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8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8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8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8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8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8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8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8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9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1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1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4" name="Google Shape;44;p71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5" name="Google Shape;45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0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2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2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6" name="Google Shape;56;p72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0" name="Google Shape;60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4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74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74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74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6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6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9" name="Google Shape;79;p76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0" name="Google Shape;80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7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7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7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7" name="Google Shape;87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8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8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78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4" name="Google Shape;94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9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79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0" name="Google Shape;100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0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80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80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0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1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81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p8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8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2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2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3" name="Google Shape;123;p82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8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8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3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83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0" name="Google Shape;130;p83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1" name="Google Shape;131;p8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8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4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4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8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5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85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43" name="Google Shape;143;p8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8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8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g3e6ff68be46_0_543"/>
          <p:cNvGrpSpPr/>
          <p:nvPr/>
        </p:nvGrpSpPr>
        <p:grpSpPr>
          <a:xfrm>
            <a:off x="546100" y="-4763"/>
            <a:ext cx="5014913" cy="6862763"/>
            <a:chOff x="2928938" y="-4763"/>
            <a:chExt cx="5014913" cy="6862763"/>
          </a:xfrm>
        </p:grpSpPr>
        <p:sp>
          <p:nvSpPr>
            <p:cNvPr id="161" name="Google Shape;161;g3e6ff68be46_0_543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2" name="Google Shape;162;g3e6ff68be46_0_543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63" name="Google Shape;163;g3e6ff68be46_0_543"/>
            <p:cNvSpPr/>
            <p:nvPr/>
          </p:nvSpPr>
          <p:spPr>
            <a:xfrm>
              <a:off x="2928938" y="2582862"/>
              <a:ext cx="2693988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64" name="Google Shape;164;g3e6ff68be46_0_543"/>
            <p:cNvSpPr/>
            <p:nvPr/>
          </p:nvSpPr>
          <p:spPr>
            <a:xfrm>
              <a:off x="3371850" y="2692400"/>
              <a:ext cx="3332163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65" name="Google Shape;165;g3e6ff68be46_0_543"/>
            <p:cNvSpPr/>
            <p:nvPr/>
          </p:nvSpPr>
          <p:spPr>
            <a:xfrm>
              <a:off x="3367088" y="2687637"/>
              <a:ext cx="4576763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6" name="Google Shape;166;g3e6ff68be46_0_543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67" name="Google Shape;167;g3e6ff68be46_0_543"/>
          <p:cNvSpPr txBox="1"/>
          <p:nvPr>
            <p:ph type="ctrTitle"/>
          </p:nvPr>
        </p:nvSpPr>
        <p:spPr>
          <a:xfrm>
            <a:off x="2928401" y="1380068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g3e6ff68be46_0_543"/>
          <p:cNvSpPr txBox="1"/>
          <p:nvPr>
            <p:ph idx="1" type="subTitle"/>
          </p:nvPr>
        </p:nvSpPr>
        <p:spPr>
          <a:xfrm>
            <a:off x="4515377" y="3996267"/>
            <a:ext cx="6987600" cy="13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9" name="Google Shape;169;g3e6ff68be46_0_54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g3e6ff68be46_0_543"/>
          <p:cNvSpPr txBox="1"/>
          <p:nvPr>
            <p:ph idx="11" type="ftr"/>
          </p:nvPr>
        </p:nvSpPr>
        <p:spPr>
          <a:xfrm>
            <a:off x="5332412" y="5883275"/>
            <a:ext cx="4323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g3e6ff68be46_0_54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ff68be46_0_556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g3e6ff68be46_0_556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75" name="Google Shape;175;g3e6ff68be46_0_55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g3e6ff68be46_0_55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g3e6ff68be46_0_556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6ff68be46_0_562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g3e6ff68be46_0_562"/>
          <p:cNvSpPr txBox="1"/>
          <p:nvPr>
            <p:ph idx="1" type="body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81" name="Google Shape;181;g3e6ff68be46_0_562"/>
          <p:cNvSpPr txBox="1"/>
          <p:nvPr>
            <p:ph idx="2" type="body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6ff68be46_0_566"/>
          <p:cNvSpPr txBox="1"/>
          <p:nvPr>
            <p:ph type="title"/>
          </p:nvPr>
        </p:nvSpPr>
        <p:spPr>
          <a:xfrm>
            <a:off x="2572279" y="2666999"/>
            <a:ext cx="8930700" cy="2110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g3e6ff68be46_0_566"/>
          <p:cNvSpPr txBox="1"/>
          <p:nvPr>
            <p:ph idx="1" type="body"/>
          </p:nvPr>
        </p:nvSpPr>
        <p:spPr>
          <a:xfrm>
            <a:off x="2572278" y="4777381"/>
            <a:ext cx="8930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g3e6ff68be46_0_566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g3e6ff68be46_0_566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g3e6ff68be46_0_566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6ff68be46_0_572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g3e6ff68be46_0_572"/>
          <p:cNvSpPr txBox="1"/>
          <p:nvPr>
            <p:ph idx="1" type="body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91" name="Google Shape;191;g3e6ff68be46_0_572"/>
          <p:cNvSpPr txBox="1"/>
          <p:nvPr>
            <p:ph idx="2" type="body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92" name="Google Shape;192;g3e6ff68be46_0_572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g3e6ff68be46_0_572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g3e6ff68be46_0_572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6ff68be46_0_579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g3e6ff68be46_0_579"/>
          <p:cNvSpPr txBox="1"/>
          <p:nvPr>
            <p:ph idx="1" type="body"/>
          </p:nvPr>
        </p:nvSpPr>
        <p:spPr>
          <a:xfrm>
            <a:off x="1772179" y="2658533"/>
            <a:ext cx="46071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198" name="Google Shape;198;g3e6ff68be46_0_579"/>
          <p:cNvSpPr txBox="1"/>
          <p:nvPr>
            <p:ph idx="2" type="body"/>
          </p:nvPr>
        </p:nvSpPr>
        <p:spPr>
          <a:xfrm>
            <a:off x="1484311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199" name="Google Shape;199;g3e6ff68be46_0_579"/>
          <p:cNvSpPr txBox="1"/>
          <p:nvPr>
            <p:ph idx="3" type="body"/>
          </p:nvPr>
        </p:nvSpPr>
        <p:spPr>
          <a:xfrm>
            <a:off x="6880487" y="2667000"/>
            <a:ext cx="4622400" cy="57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200" name="Google Shape;200;g3e6ff68be46_0_579"/>
          <p:cNvSpPr txBox="1"/>
          <p:nvPr>
            <p:ph idx="4" type="body"/>
          </p:nvPr>
        </p:nvSpPr>
        <p:spPr>
          <a:xfrm>
            <a:off x="6607967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2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9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9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9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9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201" name="Google Shape;201;g3e6ff68be46_0_579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g3e6ff68be46_0_579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g3e6ff68be46_0_57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6ff68be46_0_588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g3e6ff68be46_0_588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g3e6ff68be46_0_588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g3e6ff68be46_0_58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6ff68be46_0_59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g3e6ff68be46_0_593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g3e6ff68be46_0_59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6ff68be46_0_597"/>
          <p:cNvSpPr txBox="1"/>
          <p:nvPr>
            <p:ph type="title"/>
          </p:nvPr>
        </p:nvSpPr>
        <p:spPr>
          <a:xfrm>
            <a:off x="1484312" y="1600200"/>
            <a:ext cx="3549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g3e6ff68be46_0_597"/>
          <p:cNvSpPr txBox="1"/>
          <p:nvPr>
            <p:ph idx="1" type="body"/>
          </p:nvPr>
        </p:nvSpPr>
        <p:spPr>
          <a:xfrm>
            <a:off x="5262033" y="685799"/>
            <a:ext cx="62409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2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216" name="Google Shape;216;g3e6ff68be46_0_597"/>
          <p:cNvSpPr txBox="1"/>
          <p:nvPr>
            <p:ph idx="2" type="body"/>
          </p:nvPr>
        </p:nvSpPr>
        <p:spPr>
          <a:xfrm>
            <a:off x="1484312" y="2971800"/>
            <a:ext cx="3549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17" name="Google Shape;217;g3e6ff68be46_0_597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g3e6ff68be46_0_597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g3e6ff68be46_0_597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6ff68be46_0_604"/>
          <p:cNvSpPr txBox="1"/>
          <p:nvPr>
            <p:ph type="title"/>
          </p:nvPr>
        </p:nvSpPr>
        <p:spPr>
          <a:xfrm>
            <a:off x="1482724" y="1752599"/>
            <a:ext cx="5426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g3e6ff68be46_0_604"/>
          <p:cNvSpPr/>
          <p:nvPr>
            <p:ph idx="2" type="pic"/>
          </p:nvPr>
        </p:nvSpPr>
        <p:spPr>
          <a:xfrm>
            <a:off x="7594682" y="914400"/>
            <a:ext cx="3281100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g3e6ff68be46_0_604"/>
          <p:cNvSpPr txBox="1"/>
          <p:nvPr>
            <p:ph idx="1" type="body"/>
          </p:nvPr>
        </p:nvSpPr>
        <p:spPr>
          <a:xfrm>
            <a:off x="1482724" y="3124199"/>
            <a:ext cx="5426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24" name="Google Shape;224;g3e6ff68be46_0_604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g3e6ff68be46_0_604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g3e6ff68be46_0_60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6ff68be46_0_611"/>
          <p:cNvSpPr txBox="1"/>
          <p:nvPr>
            <p:ph type="title"/>
          </p:nvPr>
        </p:nvSpPr>
        <p:spPr>
          <a:xfrm>
            <a:off x="1484311" y="4732865"/>
            <a:ext cx="100188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g3e6ff68be46_0_611"/>
          <p:cNvSpPr/>
          <p:nvPr>
            <p:ph idx="2" type="pic"/>
          </p:nvPr>
        </p:nvSpPr>
        <p:spPr>
          <a:xfrm>
            <a:off x="2386012" y="932112"/>
            <a:ext cx="8226000" cy="3165000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6ff68be46_0_611"/>
          <p:cNvSpPr txBox="1"/>
          <p:nvPr>
            <p:ph idx="1" type="body"/>
          </p:nvPr>
        </p:nvSpPr>
        <p:spPr>
          <a:xfrm>
            <a:off x="1484311" y="5299603"/>
            <a:ext cx="100188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231" name="Google Shape;231;g3e6ff68be46_0_611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g3e6ff68be46_0_611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g3e6ff68be46_0_61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6ff68be46_0_618"/>
          <p:cNvSpPr txBox="1"/>
          <p:nvPr>
            <p:ph type="title"/>
          </p:nvPr>
        </p:nvSpPr>
        <p:spPr>
          <a:xfrm>
            <a:off x="1484312" y="685800"/>
            <a:ext cx="100188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g3e6ff68be46_0_618"/>
          <p:cNvSpPr txBox="1"/>
          <p:nvPr>
            <p:ph idx="1" type="body"/>
          </p:nvPr>
        </p:nvSpPr>
        <p:spPr>
          <a:xfrm>
            <a:off x="1484312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7" name="Google Shape;237;g3e6ff68be46_0_618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g3e6ff68be46_0_618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g3e6ff68be46_0_61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6ff68be46_0_624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e6ff68be46_0_624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e6ff68be46_0_624"/>
          <p:cNvSpPr txBox="1"/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g3e6ff68be46_0_624"/>
          <p:cNvSpPr txBox="1"/>
          <p:nvPr>
            <p:ph idx="1" type="body"/>
          </p:nvPr>
        </p:nvSpPr>
        <p:spPr>
          <a:xfrm>
            <a:off x="2436811" y="3428999"/>
            <a:ext cx="8532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45" name="Google Shape;245;g3e6ff68be46_0_624"/>
          <p:cNvSpPr txBox="1"/>
          <p:nvPr>
            <p:ph idx="2" type="body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6" name="Google Shape;246;g3e6ff68be46_0_624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g3e6ff68be46_0_624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g3e6ff68be46_0_624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6ff68be46_0_633"/>
          <p:cNvSpPr txBox="1"/>
          <p:nvPr>
            <p:ph type="title"/>
          </p:nvPr>
        </p:nvSpPr>
        <p:spPr>
          <a:xfrm>
            <a:off x="1484313" y="3308581"/>
            <a:ext cx="1001880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3e6ff68be46_0_633"/>
          <p:cNvSpPr txBox="1"/>
          <p:nvPr>
            <p:ph idx="1" type="body"/>
          </p:nvPr>
        </p:nvSpPr>
        <p:spPr>
          <a:xfrm>
            <a:off x="1484312" y="4777381"/>
            <a:ext cx="100188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2" name="Google Shape;252;g3e6ff68be46_0_633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g3e6ff68be46_0_633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g3e6ff68be46_0_633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6ff68be46_0_639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3e6ff68be46_0_639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e6ff68be46_0_639"/>
          <p:cNvSpPr txBox="1"/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g3e6ff68be46_0_639"/>
          <p:cNvSpPr txBox="1"/>
          <p:nvPr>
            <p:ph idx="1" type="body"/>
          </p:nvPr>
        </p:nvSpPr>
        <p:spPr>
          <a:xfrm>
            <a:off x="1484313" y="3886200"/>
            <a:ext cx="100188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0" name="Google Shape;260;g3e6ff68be46_0_639"/>
          <p:cNvSpPr txBox="1"/>
          <p:nvPr>
            <p:ph idx="2" type="body"/>
          </p:nvPr>
        </p:nvSpPr>
        <p:spPr>
          <a:xfrm>
            <a:off x="1484312" y="4775200"/>
            <a:ext cx="100188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1" name="Google Shape;261;g3e6ff68be46_0_639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g3e6ff68be46_0_639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g3e6ff68be46_0_639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6ff68be46_0_648"/>
          <p:cNvSpPr txBox="1"/>
          <p:nvPr>
            <p:ph type="title"/>
          </p:nvPr>
        </p:nvSpPr>
        <p:spPr>
          <a:xfrm>
            <a:off x="1484313" y="685800"/>
            <a:ext cx="10018800" cy="27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g3e6ff68be46_0_648"/>
          <p:cNvSpPr txBox="1"/>
          <p:nvPr>
            <p:ph idx="1" type="body"/>
          </p:nvPr>
        </p:nvSpPr>
        <p:spPr>
          <a:xfrm>
            <a:off x="1484312" y="3505200"/>
            <a:ext cx="10018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67" name="Google Shape;267;g3e6ff68be46_0_648"/>
          <p:cNvSpPr txBox="1"/>
          <p:nvPr>
            <p:ph idx="2" type="body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8" name="Google Shape;268;g3e6ff68be46_0_648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g3e6ff68be46_0_648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g3e6ff68be46_0_648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6ff68be46_0_655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g3e6ff68be46_0_655"/>
          <p:cNvSpPr txBox="1"/>
          <p:nvPr>
            <p:ph idx="1" type="body"/>
          </p:nvPr>
        </p:nvSpPr>
        <p:spPr>
          <a:xfrm rot="5400000">
            <a:off x="4931523" y="-780301"/>
            <a:ext cx="3124200" cy="10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74" name="Google Shape;274;g3e6ff68be46_0_655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g3e6ff68be46_0_655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g3e6ff68be46_0_655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6ff68be46_0_661"/>
          <p:cNvSpPr txBox="1"/>
          <p:nvPr>
            <p:ph type="title"/>
          </p:nvPr>
        </p:nvSpPr>
        <p:spPr>
          <a:xfrm rot="5400000">
            <a:off x="8065175" y="2353351"/>
            <a:ext cx="5105400" cy="177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g3e6ff68be46_0_661"/>
          <p:cNvSpPr txBox="1"/>
          <p:nvPr>
            <p:ph idx="1" type="body"/>
          </p:nvPr>
        </p:nvSpPr>
        <p:spPr>
          <a:xfrm rot="5400000">
            <a:off x="2941554" y="-771300"/>
            <a:ext cx="5105400" cy="8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5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5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280" name="Google Shape;280;g3e6ff68be46_0_661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g3e6ff68be46_0_661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g3e6ff68be46_0_66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6.xml"/><Relationship Id="rId6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7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7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7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7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7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7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7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67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3e6ff68be46_0_53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8" name="Google Shape;148;g3e6ff68be46_0_530"/>
            <p:cNvSpPr/>
            <p:nvPr/>
          </p:nvSpPr>
          <p:spPr>
            <a:xfrm>
              <a:off x="1627188" y="0"/>
              <a:ext cx="1122362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9" name="Google Shape;149;g3e6ff68be46_0_530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0" name="Google Shape;150;g3e6ff68be46_0_530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51" name="Google Shape;151;g3e6ff68be46_0_530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2" name="Google Shape;152;g3e6ff68be46_0_530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53" name="Google Shape;153;g3e6ff68be46_0_530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4" name="Google Shape;154;g3e6ff68be46_0_53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g3e6ff68be46_0_530"/>
          <p:cNvSpPr txBox="1"/>
          <p:nvPr>
            <p:ph idx="1" type="body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2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5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5" lvl="5" marL="2743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5" lvl="6" marL="3200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5" lvl="7" marL="3657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5" lvl="8" marL="4114800" marR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6" name="Google Shape;156;g3e6ff68be46_0_530"/>
          <p:cNvSpPr txBox="1"/>
          <p:nvPr>
            <p:ph idx="10" type="dt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7" name="Google Shape;157;g3e6ff68be46_0_530"/>
          <p:cNvSpPr txBox="1"/>
          <p:nvPr>
            <p:ph idx="11" type="ftr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8" name="Google Shape;158;g3e6ff68be46_0_53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jpg"/><Relationship Id="rId4" Type="http://schemas.openxmlformats.org/officeDocument/2006/relationships/image" Target="../media/image20.jpg"/><Relationship Id="rId5" Type="http://schemas.openxmlformats.org/officeDocument/2006/relationships/image" Target="../media/image2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 sz="4000">
                <a:latin typeface="Tahoma"/>
                <a:ea typeface="Tahoma"/>
                <a:cs typeface="Tahoma"/>
                <a:sym typeface="Tahoma"/>
              </a:rPr>
              <a:t>Internet Protocol, Version 6 (IPv6)</a:t>
            </a:r>
            <a:endParaRPr sz="4000"/>
          </a:p>
        </p:txBody>
      </p:sp>
      <p:sp>
        <p:nvSpPr>
          <p:cNvPr id="288" name="Google Shape;28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14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"/>
          <p:cNvSpPr txBox="1"/>
          <p:nvPr>
            <p:ph type="title"/>
          </p:nvPr>
        </p:nvSpPr>
        <p:spPr>
          <a:xfrm>
            <a:off x="1484311" y="68580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</a:t>
            </a:r>
            <a:endParaRPr/>
          </a:p>
        </p:txBody>
      </p:sp>
      <p:sp>
        <p:nvSpPr>
          <p:cNvPr id="295" name="Google Shape;295;p2"/>
          <p:cNvSpPr txBox="1"/>
          <p:nvPr>
            <p:ph idx="1" type="body"/>
          </p:nvPr>
        </p:nvSpPr>
        <p:spPr>
          <a:xfrm>
            <a:off x="1484310" y="1854559"/>
            <a:ext cx="10018713" cy="39366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Initial motivation:</a:t>
            </a:r>
            <a:r>
              <a:rPr i="1" lang="en-US" sz="3200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32-bit address space soon to be completely allocated.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990099"/>
                </a:solidFill>
              </a:rPr>
              <a:t>Additional motivation: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Simpler header format helps speed processing/forwarding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header changes to facilitate QoS </a:t>
            </a:r>
            <a:endParaRPr/>
          </a:p>
          <a:p>
            <a:pPr indent="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None/>
            </a:pPr>
            <a:r>
              <a:t/>
            </a:r>
            <a:endParaRPr sz="3200"/>
          </a:p>
        </p:txBody>
      </p:sp>
      <p:sp>
        <p:nvSpPr>
          <p:cNvPr id="296" name="Google Shape;296;p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302" name="Google Shape;302;p5"/>
          <p:cNvSpPr txBox="1"/>
          <p:nvPr>
            <p:ph idx="1" type="body"/>
          </p:nvPr>
        </p:nvSpPr>
        <p:spPr>
          <a:xfrm>
            <a:off x="1484310" y="1661375"/>
            <a:ext cx="10018713" cy="412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7030A0"/>
                </a:solidFill>
              </a:rPr>
              <a:t>Address Availability: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IPv4:      </a:t>
            </a:r>
            <a:r>
              <a:rPr lang="en-US" sz="3200"/>
              <a:t>4 octets   -  32 bits</a:t>
            </a:r>
            <a:endParaRPr/>
          </a:p>
          <a:p>
            <a:pPr indent="-285888" lvl="2" marL="1200150" rtl="0" algn="l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2^32   </a:t>
            </a:r>
            <a:r>
              <a:rPr lang="en-US" sz="2900">
                <a:solidFill>
                  <a:srgbClr val="C00000"/>
                </a:solidFill>
              </a:rPr>
              <a:t>or   4,294,467,295   </a:t>
            </a:r>
            <a:r>
              <a:rPr lang="en-US" sz="2900"/>
              <a:t>IP Addresses.</a:t>
            </a:r>
            <a:endParaRPr/>
          </a:p>
          <a:p>
            <a:pPr indent="-230044" lvl="2" marL="1200150" rtl="0" algn="l">
              <a:lnSpc>
                <a:spcPct val="100000"/>
              </a:lnSpc>
              <a:spcBef>
                <a:spcPts val="721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1100"/>
          </a:p>
          <a:p>
            <a:pPr indent="-123697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3200">
              <a:solidFill>
                <a:srgbClr val="C0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solidFill>
                  <a:srgbClr val="C00000"/>
                </a:solidFill>
              </a:rPr>
              <a:t>IPv6:</a:t>
            </a:r>
            <a:r>
              <a:rPr lang="en-US" sz="3200"/>
              <a:t>    16 octets   -   128 bits</a:t>
            </a:r>
            <a:endParaRPr/>
          </a:p>
          <a:p>
            <a:pPr indent="-285888" lvl="2" marL="1200150" rtl="0" algn="l">
              <a:lnSpc>
                <a:spcPct val="100000"/>
              </a:lnSpc>
              <a:spcBef>
                <a:spcPts val="919"/>
              </a:spcBef>
              <a:spcAft>
                <a:spcPts val="0"/>
              </a:spcAft>
              <a:buSzPct val="145000"/>
              <a:buChar char="•"/>
            </a:pPr>
            <a:r>
              <a:rPr lang="en-US" sz="2900"/>
              <a:t>3.4 x 10^38  or</a:t>
            </a:r>
            <a:endParaRPr sz="2900">
              <a:solidFill>
                <a:srgbClr val="FFFF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>
                <a:solidFill>
                  <a:srgbClr val="C00000"/>
                </a:solidFill>
              </a:rPr>
              <a:t>340,282,366,920,938,463,463,374,607,431,768,211,456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rPr lang="en-US" sz="3200"/>
              <a:t>			 (340 undecillion)</a:t>
            </a:r>
            <a:r>
              <a:rPr lang="en-US" sz="3200">
                <a:solidFill>
                  <a:srgbClr val="FFFF00"/>
                </a:solidFill>
              </a:rPr>
              <a:t> </a:t>
            </a:r>
            <a:r>
              <a:rPr lang="en-US" sz="3200"/>
              <a:t>IP Addresses.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721"/>
              </a:spcBef>
              <a:spcAft>
                <a:spcPts val="0"/>
              </a:spcAft>
              <a:buSzPct val="145000"/>
              <a:buFont typeface="Corbel"/>
              <a:buNone/>
            </a:pPr>
            <a:r>
              <a:t/>
            </a:r>
            <a:endParaRPr sz="1100"/>
          </a:p>
          <a:p>
            <a:pPr indent="-285750" lvl="1" marL="742950" rtl="0" algn="l">
              <a:lnSpc>
                <a:spcPct val="100000"/>
              </a:lnSpc>
              <a:spcBef>
                <a:spcPts val="952"/>
              </a:spcBef>
              <a:spcAft>
                <a:spcPts val="0"/>
              </a:spcAft>
              <a:buSzPct val="145000"/>
              <a:buChar char="•"/>
            </a:pPr>
            <a:r>
              <a:rPr i="1" lang="en-US" sz="3200">
                <a:solidFill>
                  <a:srgbClr val="C00000"/>
                </a:solidFill>
              </a:rPr>
              <a:t>Every atom of every person on Earth </a:t>
            </a:r>
            <a:r>
              <a:rPr i="1" lang="en-US" sz="3200"/>
              <a:t>could be assigned </a:t>
            </a:r>
            <a:r>
              <a:rPr i="1" lang="en-US" sz="3200">
                <a:solidFill>
                  <a:srgbClr val="990099"/>
                </a:solidFill>
              </a:rPr>
              <a:t>7</a:t>
            </a:r>
            <a:r>
              <a:rPr i="1" lang="en-US" sz="3200">
                <a:solidFill>
                  <a:srgbClr val="FFFF00"/>
                </a:solidFill>
              </a:rPr>
              <a:t> </a:t>
            </a:r>
            <a:r>
              <a:rPr i="1" lang="en-US" sz="3200">
                <a:solidFill>
                  <a:srgbClr val="990099"/>
                </a:solidFill>
              </a:rPr>
              <a:t>unique addresses with </a:t>
            </a:r>
            <a:r>
              <a:rPr i="1" lang="en-US" sz="3200"/>
              <a:t>some to spare</a:t>
            </a:r>
            <a:r>
              <a:rPr i="1" lang="en-US" sz="3200">
                <a:solidFill>
                  <a:srgbClr val="66FF66"/>
                </a:solidFill>
              </a:rPr>
              <a:t> </a:t>
            </a:r>
            <a:r>
              <a:rPr i="1" lang="en-US" sz="3200"/>
              <a:t>(assuming</a:t>
            </a:r>
            <a:br>
              <a:rPr i="1" lang="en-US" sz="2900"/>
            </a:br>
            <a:r>
              <a:rPr i="1" lang="en-US" sz="2900"/>
              <a:t>7 × 10</a:t>
            </a:r>
            <a:r>
              <a:rPr baseline="30000" i="1" lang="en-US" sz="2900"/>
              <a:t>27</a:t>
            </a:r>
            <a:r>
              <a:rPr i="1" lang="en-US" sz="2900"/>
              <a:t> atoms per human x 6.5 Billion)</a:t>
            </a:r>
            <a:r>
              <a:rPr lang="en-US" sz="2900"/>
              <a:t>.</a:t>
            </a:r>
            <a:endParaRPr i="1" sz="2900"/>
          </a:p>
          <a:p>
            <a:pPr indent="0" lvl="0" marL="0" rtl="0" algn="l">
              <a:lnSpc>
                <a:spcPct val="100000"/>
              </a:lnSpc>
              <a:spcBef>
                <a:spcPts val="86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03" name="Google Shape;303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6"/>
          <p:cNvSpPr txBox="1"/>
          <p:nvPr>
            <p:ph type="title"/>
          </p:nvPr>
        </p:nvSpPr>
        <p:spPr>
          <a:xfrm>
            <a:off x="1484311" y="685801"/>
            <a:ext cx="10018713" cy="705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 </a:t>
            </a:r>
            <a:endParaRPr/>
          </a:p>
        </p:txBody>
      </p:sp>
      <p:sp>
        <p:nvSpPr>
          <p:cNvPr id="310" name="Google Shape;310;p6"/>
          <p:cNvSpPr txBox="1"/>
          <p:nvPr>
            <p:ph idx="1" type="body"/>
          </p:nvPr>
        </p:nvSpPr>
        <p:spPr>
          <a:xfrm>
            <a:off x="1484312" y="1648497"/>
            <a:ext cx="4895055" cy="4142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10"/>
              <a:buChar char="•"/>
            </a:pPr>
            <a:r>
              <a:rPr lang="en-US">
                <a:solidFill>
                  <a:srgbClr val="7030A0"/>
                </a:solidFill>
              </a:rPr>
              <a:t>IPv6 Features: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fixed-length 40 byte header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no fragmentation allowed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  <p:sp>
        <p:nvSpPr>
          <p:cNvPr id="311" name="Google Shape;311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ps50.jpg" id="312" name="Google Shape;3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4750" y="3006144"/>
            <a:ext cx="4068763" cy="266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ps51.jpg" id="313" name="Google Shape;313;p6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9805" y="1648497"/>
            <a:ext cx="3679564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"/>
          <p:cNvSpPr txBox="1"/>
          <p:nvPr>
            <p:ph type="title"/>
          </p:nvPr>
        </p:nvSpPr>
        <p:spPr>
          <a:xfrm>
            <a:off x="1832041" y="258512"/>
            <a:ext cx="10018713" cy="1130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Datagram</a:t>
            </a:r>
            <a:endParaRPr/>
          </a:p>
        </p:txBody>
      </p:sp>
      <p:pic>
        <p:nvPicPr>
          <p:cNvPr id="319" name="Google Shape;319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5470" y="2060619"/>
            <a:ext cx="6722772" cy="3601792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  <p:sp>
        <p:nvSpPr>
          <p:cNvPr id="320" name="Google Shape;320;p7"/>
          <p:cNvSpPr/>
          <p:nvPr/>
        </p:nvSpPr>
        <p:spPr>
          <a:xfrm>
            <a:off x="2395470" y="1388634"/>
            <a:ext cx="19613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rPr>
              <a:t>40 Octets, 8 fields</a:t>
            </a:r>
            <a:endParaRPr b="0" i="0" sz="1800" u="none" cap="none" strike="noStrike">
              <a:solidFill>
                <a:schemeClr val="dk2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1" name="Google Shape;321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1"/>
          <p:cNvSpPr/>
          <p:nvPr/>
        </p:nvSpPr>
        <p:spPr>
          <a:xfrm rot="-5400000">
            <a:off x="4007644" y="-354012"/>
            <a:ext cx="4306888" cy="8364538"/>
          </a:xfrm>
          <a:prstGeom prst="rect">
            <a:avLst/>
          </a:prstGeom>
          <a:gradFill>
            <a:gsLst>
              <a:gs pos="0">
                <a:srgbClr val="278EC3"/>
              </a:gs>
              <a:gs pos="50000">
                <a:schemeClr val="accent1"/>
              </a:gs>
              <a:gs pos="100000">
                <a:srgbClr val="278EC3"/>
              </a:gs>
            </a:gsLst>
            <a:lin ang="2700000" scaled="0"/>
          </a:gradFill>
          <a:ln cap="flat" cmpd="sng" w="1270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 txBox="1"/>
          <p:nvPr/>
        </p:nvSpPr>
        <p:spPr>
          <a:xfrm>
            <a:off x="1978800" y="1674825"/>
            <a:ext cx="8364538" cy="430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2209800" y="2112964"/>
            <a:ext cx="7772400" cy="3602037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11"/>
          <p:cNvCxnSpPr/>
          <p:nvPr/>
        </p:nvCxnSpPr>
        <p:spPr>
          <a:xfrm>
            <a:off x="2209800" y="2819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1"/>
          <p:cNvSpPr/>
          <p:nvPr/>
        </p:nvSpPr>
        <p:spPr>
          <a:xfrm>
            <a:off x="22098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9601200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11"/>
          <p:cNvCxnSpPr/>
          <p:nvPr/>
        </p:nvCxnSpPr>
        <p:spPr>
          <a:xfrm>
            <a:off x="3352800" y="2057400"/>
            <a:ext cx="0" cy="7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1"/>
          <p:cNvCxnSpPr/>
          <p:nvPr/>
        </p:nvCxnSpPr>
        <p:spPr>
          <a:xfrm>
            <a:off x="2209800" y="34290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1"/>
          <p:cNvCxnSpPr/>
          <p:nvPr/>
        </p:nvCxnSpPr>
        <p:spPr>
          <a:xfrm>
            <a:off x="6019800" y="2057400"/>
            <a:ext cx="0" cy="190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1"/>
          <p:cNvCxnSpPr/>
          <p:nvPr/>
        </p:nvCxnSpPr>
        <p:spPr>
          <a:xfrm>
            <a:off x="7086600" y="2819400"/>
            <a:ext cx="0" cy="609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1"/>
          <p:cNvCxnSpPr/>
          <p:nvPr/>
        </p:nvCxnSpPr>
        <p:spPr>
          <a:xfrm>
            <a:off x="2209800" y="44958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1"/>
          <p:cNvSpPr/>
          <p:nvPr/>
        </p:nvSpPr>
        <p:spPr>
          <a:xfrm>
            <a:off x="2514600" y="2286001"/>
            <a:ext cx="6159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581400" y="2286001"/>
            <a:ext cx="552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IHL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7216775" y="2286001"/>
            <a:ext cx="15557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Length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2590800" y="2971801"/>
            <a:ext cx="29273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Identifier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172200" y="2971801"/>
            <a:ext cx="781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7467600" y="2971801"/>
            <a:ext cx="22034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Fragment Offset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4873625" y="4049713"/>
            <a:ext cx="2590800" cy="3667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Source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654550" y="4629151"/>
            <a:ext cx="306070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32 bit Destination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32766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191000" y="1676401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688263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5722938" y="1676401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4419600" y="2286001"/>
            <a:ext cx="15938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 Type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11"/>
          <p:cNvCxnSpPr/>
          <p:nvPr/>
        </p:nvCxnSpPr>
        <p:spPr>
          <a:xfrm>
            <a:off x="2209800" y="5105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1"/>
          <p:cNvSpPr/>
          <p:nvPr/>
        </p:nvSpPr>
        <p:spPr>
          <a:xfrm>
            <a:off x="2819400" y="5181601"/>
            <a:ext cx="65849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Options and Padding	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11"/>
          <p:cNvCxnSpPr/>
          <p:nvPr/>
        </p:nvCxnSpPr>
        <p:spPr>
          <a:xfrm>
            <a:off x="2209800" y="3962400"/>
            <a:ext cx="7772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11"/>
          <p:cNvCxnSpPr/>
          <p:nvPr/>
        </p:nvCxnSpPr>
        <p:spPr>
          <a:xfrm>
            <a:off x="4343400" y="3429000"/>
            <a:ext cx="0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11"/>
          <p:cNvSpPr/>
          <p:nvPr/>
        </p:nvSpPr>
        <p:spPr>
          <a:xfrm>
            <a:off x="2746376" y="3486151"/>
            <a:ext cx="1514475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 to 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781800" y="3505201"/>
            <a:ext cx="2559050" cy="366713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Header Checksum   </a:t>
            </a:r>
            <a:endParaRPr b="1" i="0" sz="2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710113" y="3486151"/>
            <a:ext cx="1111250" cy="3667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11"/>
          <p:cNvCxnSpPr/>
          <p:nvPr/>
        </p:nvCxnSpPr>
        <p:spPr>
          <a:xfrm>
            <a:off x="4343400" y="2057400"/>
            <a:ext cx="0" cy="76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1"/>
          <p:cNvSpPr txBox="1"/>
          <p:nvPr>
            <p:ph type="title"/>
          </p:nvPr>
        </p:nvSpPr>
        <p:spPr>
          <a:xfrm>
            <a:off x="1905001" y="304800"/>
            <a:ext cx="8570913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IPv4 Header</a:t>
            </a:r>
            <a:r>
              <a:rPr lang="en-US" sz="3600"/>
              <a:t> </a:t>
            </a:r>
            <a:br>
              <a:rPr lang="en-US" sz="3600"/>
            </a:br>
            <a:endParaRPr b="1" sz="2000">
              <a:solidFill>
                <a:schemeClr val="lt2"/>
              </a:solidFill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2109934" y="6119141"/>
            <a:ext cx="8224837" cy="381000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8925" lvl="0" marL="288925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5C5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DDDDDD"/>
                </a:solidFill>
                <a:latin typeface="Arial"/>
                <a:ea typeface="Arial"/>
                <a:cs typeface="Arial"/>
                <a:sym typeface="Arial"/>
              </a:rPr>
              <a:t>shaded fields are absent from IPv6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2"/>
          <p:cNvSpPr txBox="1"/>
          <p:nvPr>
            <p:ph type="title"/>
          </p:nvPr>
        </p:nvSpPr>
        <p:spPr>
          <a:xfrm>
            <a:off x="1484311" y="685801"/>
            <a:ext cx="10018713" cy="936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Header Changes between IPv4 and IPv6</a:t>
            </a:r>
            <a:endParaRPr/>
          </a:p>
        </p:txBody>
      </p:sp>
      <p:sp>
        <p:nvSpPr>
          <p:cNvPr id="368" name="Google Shape;368;p12"/>
          <p:cNvSpPr txBox="1"/>
          <p:nvPr>
            <p:ph idx="1" type="body"/>
          </p:nvPr>
        </p:nvSpPr>
        <p:spPr>
          <a:xfrm>
            <a:off x="1484310" y="1622739"/>
            <a:ext cx="10018713" cy="4168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252603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chemeClr val="dk2"/>
                </a:solidFill>
              </a:rPr>
              <a:t>Revised</a:t>
            </a:r>
            <a:endParaRPr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Time to Live (Hop Limit)</a:t>
            </a:r>
            <a:endParaRPr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Addresses increased from 32 bits to 128 bits</a:t>
            </a:r>
            <a:endParaRPr sz="3000"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Protocol (Next Header)</a:t>
            </a:r>
            <a:endParaRPr sz="3000"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Precedence &amp; TOS (Traffic Class)</a:t>
            </a:r>
            <a:endParaRPr sz="3000"/>
          </a:p>
          <a:p>
            <a:pPr indent="-252603" lvl="0" marL="2857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chemeClr val="dk2"/>
                </a:solidFill>
              </a:rPr>
              <a:t>Extended</a:t>
            </a:r>
            <a:endParaRPr/>
          </a:p>
          <a:p>
            <a:pPr indent="-254317" lvl="1" marL="74295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990099"/>
              </a:buClr>
              <a:buSzPct val="110000"/>
              <a:buFont typeface="Corbel"/>
              <a:buChar char="•"/>
            </a:pPr>
            <a:r>
              <a:rPr lang="en-US" sz="3000"/>
              <a:t> Flow Label field added (Recommended read: Page 676 of Forouzan’s Book)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 txBox="1"/>
          <p:nvPr>
            <p:ph type="title"/>
          </p:nvPr>
        </p:nvSpPr>
        <p:spPr>
          <a:xfrm>
            <a:off x="1484311" y="685801"/>
            <a:ext cx="10018713" cy="79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sp>
        <p:nvSpPr>
          <p:cNvPr id="375" name="Google Shape;375;p10"/>
          <p:cNvSpPr txBox="1"/>
          <p:nvPr>
            <p:ph idx="1" type="body"/>
          </p:nvPr>
        </p:nvSpPr>
        <p:spPr>
          <a:xfrm>
            <a:off x="1484310" y="1557002"/>
            <a:ext cx="10018713" cy="4310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38138" lvl="0" marL="33813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Basic header simplified for ease of processing</a:t>
            </a:r>
            <a:endParaRPr/>
          </a:p>
          <a:p>
            <a:pPr indent="-181610" lvl="0" marL="33813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  <a:p>
            <a:pPr indent="-338138" lvl="0" marL="33813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Additional information carried in extension headers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Hop-by-hop options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Routing header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Fragment header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Destination options header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Authentication header (AH)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‏</a:t>
            </a:r>
            <a:endParaRPr sz="1800"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Encrypted security payload (ESP) header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000"/>
          </a:p>
          <a:p>
            <a:pPr indent="-338138" lvl="0" marL="33813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2000"/>
              <a:t>Next Header field says what type of header follows</a:t>
            </a:r>
            <a:endParaRPr/>
          </a:p>
          <a:p>
            <a:pPr indent="-280988" lvl="1" marL="738188" rtl="0" algn="l">
              <a:lnSpc>
                <a:spcPct val="100000"/>
              </a:lnSpc>
              <a:spcBef>
                <a:spcPts val="1075"/>
              </a:spcBef>
              <a:spcAft>
                <a:spcPts val="0"/>
              </a:spcAft>
              <a:buSzPct val="145000"/>
              <a:buChar char="•"/>
            </a:pPr>
            <a:r>
              <a:rPr lang="en-US" sz="1800"/>
              <a:t>E.g. Fragment Header, TCP, ICMP,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7" name="Google Shape;377;p10"/>
          <p:cNvPicPr preferRelativeResize="0"/>
          <p:nvPr/>
        </p:nvPicPr>
        <p:blipFill rotWithShape="1">
          <a:blip r:embed="rId3">
            <a:alphaModFix/>
          </a:blip>
          <a:srcRect b="7655" l="3842" r="4445" t="50683"/>
          <a:stretch/>
        </p:blipFill>
        <p:spPr>
          <a:xfrm>
            <a:off x="6686970" y="4234304"/>
            <a:ext cx="5550287" cy="155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8075" y="2057975"/>
            <a:ext cx="5124400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9"/>
          <p:cNvSpPr txBox="1"/>
          <p:nvPr>
            <p:ph type="title"/>
          </p:nvPr>
        </p:nvSpPr>
        <p:spPr>
          <a:xfrm>
            <a:off x="1562887" y="270558"/>
            <a:ext cx="10018800" cy="7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Extension Headers</a:t>
            </a:r>
            <a:endParaRPr/>
          </a:p>
        </p:txBody>
      </p:sp>
      <p:pic>
        <p:nvPicPr>
          <p:cNvPr id="384" name="Google Shape;384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2338" y="932781"/>
            <a:ext cx="4369500" cy="1006500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1960"/>
              </a:srgbClr>
            </a:outerShdw>
          </a:effectLst>
        </p:spPr>
      </p:pic>
      <p:sp>
        <p:nvSpPr>
          <p:cNvPr id="385" name="Google Shape;385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://www.cisco.com/en/US/technologies/tk648/tk872/images/technologies_white_paper0900aecd8054d37d-04.jpg" id="386" name="Google Shape;38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2281" y="2324595"/>
            <a:ext cx="5745769" cy="420902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387" name="Google Shape;38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897" y="3917647"/>
            <a:ext cx="4879201" cy="3008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3025" y="1122850"/>
            <a:ext cx="2778825" cy="2815750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6ff68be46_0_1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4" name="Google Shape;394;g3e6ff68be46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025" y="646658"/>
            <a:ext cx="10199382" cy="5329117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e6ff68be46_0_1"/>
          <p:cNvSpPr txBox="1"/>
          <p:nvPr/>
        </p:nvSpPr>
        <p:spPr>
          <a:xfrm>
            <a:off x="9685700" y="6339100"/>
            <a:ext cx="2038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Credit: Gemini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5"/>
          <p:cNvSpPr txBox="1"/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401" name="Google Shape;401;p15"/>
          <p:cNvSpPr txBox="1"/>
          <p:nvPr>
            <p:ph idx="1" type="body"/>
          </p:nvPr>
        </p:nvSpPr>
        <p:spPr>
          <a:xfrm>
            <a:off x="1484310" y="1725769"/>
            <a:ext cx="10018713" cy="4288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648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128 bits</a:t>
            </a:r>
            <a:endParaRPr/>
          </a:p>
          <a:p>
            <a:pPr indent="-264847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given below is a </a:t>
            </a:r>
            <a:r>
              <a:rPr lang="en-US" sz="2800">
                <a:highlight>
                  <a:schemeClr val="accent1"/>
                </a:highlight>
              </a:rPr>
              <a:t>128 bit IPv6 address</a:t>
            </a:r>
            <a:r>
              <a:rPr lang="en-US" sz="2800"/>
              <a:t> represented in binary format and divided into </a:t>
            </a:r>
            <a:r>
              <a:rPr lang="en-US" sz="2800">
                <a:highlight>
                  <a:srgbClr val="FFD966"/>
                </a:highlight>
              </a:rPr>
              <a:t>eight 16-bits blocks</a:t>
            </a:r>
            <a:endParaRPr sz="2800">
              <a:highlight>
                <a:srgbClr val="FFD966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t/>
            </a:r>
            <a:endParaRPr sz="2800">
              <a:highlight>
                <a:srgbClr val="FFD966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None/>
            </a:pPr>
            <a:r>
              <a:t/>
            </a:r>
            <a:endParaRPr sz="2800">
              <a:highlight>
                <a:srgbClr val="FFD966"/>
              </a:highlight>
            </a:endParaRPr>
          </a:p>
          <a:p>
            <a:pPr indent="-264847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Char char="•"/>
            </a:pPr>
            <a:r>
              <a:rPr lang="en-US" sz="2800"/>
              <a:t>Each block is then converted into Hexadecimal and separated by ‘:’ symbol</a:t>
            </a:r>
            <a:endParaRPr sz="2800"/>
          </a:p>
          <a:p>
            <a:pPr indent="-264847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56756"/>
              <a:buFont typeface="Arial"/>
              <a:buChar char="•"/>
            </a:pPr>
            <a:r>
              <a:rPr lang="en-US" sz="2800"/>
              <a:t>Called </a:t>
            </a:r>
            <a:r>
              <a:rPr b="1" lang="en-US" sz="2800"/>
              <a:t>string notation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56756"/>
              <a:buNone/>
            </a:pPr>
            <a:r>
              <a:t/>
            </a:r>
            <a:endParaRPr/>
          </a:p>
        </p:txBody>
      </p:sp>
      <p:sp>
        <p:nvSpPr>
          <p:cNvPr id="402" name="Google Shape;402;p1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3" name="Google Shape;4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751" y="3596140"/>
            <a:ext cx="11286404" cy="73147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  <p:pic>
        <p:nvPicPr>
          <p:cNvPr id="404" name="Google Shape;4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053" y="5614706"/>
            <a:ext cx="11790947" cy="49465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3921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6ff68be46_0_158"/>
          <p:cNvSpPr txBox="1"/>
          <p:nvPr>
            <p:ph type="title"/>
          </p:nvPr>
        </p:nvSpPr>
        <p:spPr>
          <a:xfrm>
            <a:off x="1484311" y="685800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410" name="Google Shape;410;g3e6ff68be46_0_158"/>
          <p:cNvSpPr txBox="1"/>
          <p:nvPr>
            <p:ph idx="1" type="body"/>
          </p:nvPr>
        </p:nvSpPr>
        <p:spPr>
          <a:xfrm>
            <a:off x="1308820" y="1611689"/>
            <a:ext cx="100188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660066"/>
                </a:solidFill>
              </a:rPr>
              <a:t>IPv6 Representation – Rule 1: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400">
                <a:solidFill>
                  <a:srgbClr val="7D28CD"/>
                </a:solidFill>
              </a:rPr>
              <a:t>The leading zeros </a:t>
            </a:r>
            <a:r>
              <a:rPr lang="en-US" sz="2400"/>
              <a:t>in any 16-bit segment </a:t>
            </a:r>
            <a:r>
              <a:rPr lang="en-US" sz="2400">
                <a:solidFill>
                  <a:srgbClr val="7D28CD"/>
                </a:solidFill>
              </a:rPr>
              <a:t>do not have </a:t>
            </a:r>
            <a:r>
              <a:rPr lang="en-US" sz="2400"/>
              <a:t>to be written.  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If any 16-bit segment has </a:t>
            </a:r>
            <a:r>
              <a:rPr lang="en-US" sz="2400">
                <a:solidFill>
                  <a:srgbClr val="660066"/>
                </a:solidFill>
              </a:rPr>
              <a:t>fewer than four hexadecimal digits, </a:t>
            </a:r>
            <a:r>
              <a:rPr lang="en-US" sz="2400"/>
              <a:t>it is assumed that the missing digits are leading zeros.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411" name="Google Shape;411;g3e6ff68be46_0_158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2" name="Google Shape;412;g3e6ff68be46_0_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5015" y="4020364"/>
            <a:ext cx="8461980" cy="2780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g3e6ff68be46_0_158"/>
          <p:cNvCxnSpPr/>
          <p:nvPr/>
        </p:nvCxnSpPr>
        <p:spPr>
          <a:xfrm>
            <a:off x="1929403" y="4368085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cxnSp>
        <p:nvCxnSpPr>
          <p:cNvPr id="414" name="Google Shape;414;g3e6ff68be46_0_158"/>
          <p:cNvCxnSpPr/>
          <p:nvPr/>
        </p:nvCxnSpPr>
        <p:spPr>
          <a:xfrm>
            <a:off x="1929403" y="5359758"/>
            <a:ext cx="85344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76470"/>
              </a:srgbClr>
            </a:outerShdw>
          </a:effectLst>
        </p:spPr>
      </p:cxnSp>
      <p:sp>
        <p:nvSpPr>
          <p:cNvPr id="415" name="Google Shape;415;g3e6ff68be46_0_158"/>
          <p:cNvSpPr txBox="1"/>
          <p:nvPr/>
        </p:nvSpPr>
        <p:spPr>
          <a:xfrm>
            <a:off x="9538300" y="4368063"/>
            <a:ext cx="78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130B</a:t>
            </a:r>
            <a:endParaRPr b="1" i="0" sz="1800" u="none" cap="none" strike="noStrike">
              <a:solidFill>
                <a:srgbClr val="000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6ff68be46_0_486"/>
          <p:cNvSpPr txBox="1"/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422" name="Google Shape;422;g3e6ff68be46_0_486"/>
          <p:cNvSpPr txBox="1"/>
          <p:nvPr>
            <p:ph idx="1" type="body"/>
          </p:nvPr>
        </p:nvSpPr>
        <p:spPr>
          <a:xfrm>
            <a:off x="1676400" y="108165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IPv6 Representation – Rule 2: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000000"/>
                </a:solidFill>
              </a:rPr>
              <a:t>Any single, </a:t>
            </a:r>
            <a:r>
              <a:rPr lang="en-US" sz="2400">
                <a:solidFill>
                  <a:srgbClr val="000000"/>
                </a:solidFill>
                <a:highlight>
                  <a:schemeClr val="accent2"/>
                </a:highlight>
              </a:rPr>
              <a:t>contiguous string of one or more 16-bit segments consisting of all zeroes </a:t>
            </a:r>
            <a:r>
              <a:rPr lang="en-US" sz="2400">
                <a:solidFill>
                  <a:srgbClr val="000000"/>
                </a:solidFill>
              </a:rPr>
              <a:t>can be represented once with a double colon.</a:t>
            </a:r>
            <a:endParaRPr sz="2400">
              <a:solidFill>
                <a:srgbClr val="000000"/>
              </a:solidFill>
            </a:endParaRPr>
          </a:p>
          <a:p>
            <a:pPr indent="-21717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 sz="2400">
                <a:solidFill>
                  <a:srgbClr val="000000"/>
                </a:solidFill>
              </a:rPr>
              <a:t>you can only use the double colon (::) once per address.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graphicFrame>
        <p:nvGraphicFramePr>
          <p:cNvPr id="423" name="Google Shape;423;g3e6ff68be46_0_486"/>
          <p:cNvGraphicFramePr/>
          <p:nvPr/>
        </p:nvGraphicFramePr>
        <p:xfrm>
          <a:off x="25146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{8049AEBE-E305-4459-AA5F-5C9D43B5CEBB}</a:tableStyleId>
              </a:tblPr>
              <a:tblGrid>
                <a:gridCol w="3657600"/>
                <a:gridCol w="609600"/>
                <a:gridCol w="2971800"/>
              </a:tblGrid>
              <a:tr h="7509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1080:0:0:0:8:800:200C:417A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1080::8:800:200C:417A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FF01:0:0:0:0:0:0:101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FF01::101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4930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::1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25475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0:0:0:0:0:0:0:0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en-US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 sz="14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424" name="Google Shape;424;g3e6ff68be46_0_486"/>
          <p:cNvGrpSpPr/>
          <p:nvPr/>
        </p:nvGrpSpPr>
        <p:grpSpPr>
          <a:xfrm>
            <a:off x="3276600" y="3429000"/>
            <a:ext cx="4343400" cy="304800"/>
            <a:chOff x="1676400" y="2743200"/>
            <a:chExt cx="4343400" cy="304800"/>
          </a:xfrm>
        </p:grpSpPr>
        <p:sp>
          <p:nvSpPr>
            <p:cNvPr id="425" name="Google Shape;425;g3e6ff68be46_0_486"/>
            <p:cNvSpPr/>
            <p:nvPr/>
          </p:nvSpPr>
          <p:spPr>
            <a:xfrm>
              <a:off x="1676400" y="2743200"/>
              <a:ext cx="762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g3e6ff68be46_0_486"/>
            <p:cNvSpPr/>
            <p:nvPr/>
          </p:nvSpPr>
          <p:spPr>
            <a:xfrm>
              <a:off x="5791200" y="2743200"/>
              <a:ext cx="2286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" name="Google Shape;427;g3e6ff68be46_0_486"/>
          <p:cNvSpPr/>
          <p:nvPr/>
        </p:nvSpPr>
        <p:spPr>
          <a:xfrm>
            <a:off x="6781800" y="33528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8" name="Google Shape;428;g3e6ff68be46_0_486"/>
          <p:cNvGrpSpPr/>
          <p:nvPr/>
        </p:nvGrpSpPr>
        <p:grpSpPr>
          <a:xfrm>
            <a:off x="4191000" y="4114800"/>
            <a:ext cx="3505200" cy="304800"/>
            <a:chOff x="2590800" y="3429000"/>
            <a:chExt cx="3505200" cy="304800"/>
          </a:xfrm>
        </p:grpSpPr>
        <p:sp>
          <p:nvSpPr>
            <p:cNvPr id="429" name="Google Shape;429;g3e6ff68be46_0_486"/>
            <p:cNvSpPr/>
            <p:nvPr/>
          </p:nvSpPr>
          <p:spPr>
            <a:xfrm>
              <a:off x="2590800" y="3429000"/>
              <a:ext cx="1524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g3e6ff68be46_0_486"/>
            <p:cNvSpPr/>
            <p:nvPr/>
          </p:nvSpPr>
          <p:spPr>
            <a:xfrm>
              <a:off x="57912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1" name="Google Shape;431;g3e6ff68be46_0_486"/>
          <p:cNvSpPr/>
          <p:nvPr/>
        </p:nvSpPr>
        <p:spPr>
          <a:xfrm>
            <a:off x="6629400" y="40386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g3e6ff68be46_0_486"/>
          <p:cNvGrpSpPr/>
          <p:nvPr/>
        </p:nvGrpSpPr>
        <p:grpSpPr>
          <a:xfrm>
            <a:off x="4267200" y="4800600"/>
            <a:ext cx="2971800" cy="304800"/>
            <a:chOff x="2590800" y="3429000"/>
            <a:chExt cx="2971800" cy="304800"/>
          </a:xfrm>
        </p:grpSpPr>
        <p:sp>
          <p:nvSpPr>
            <p:cNvPr id="433" name="Google Shape;433;g3e6ff68be46_0_486"/>
            <p:cNvSpPr/>
            <p:nvPr/>
          </p:nvSpPr>
          <p:spPr>
            <a:xfrm>
              <a:off x="2590800" y="3429000"/>
              <a:ext cx="1828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g3e6ff68be46_0_486"/>
            <p:cNvSpPr/>
            <p:nvPr/>
          </p:nvSpPr>
          <p:spPr>
            <a:xfrm>
              <a:off x="5105400" y="3429000"/>
              <a:ext cx="4572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g3e6ff68be46_0_486"/>
          <p:cNvSpPr/>
          <p:nvPr/>
        </p:nvSpPr>
        <p:spPr>
          <a:xfrm>
            <a:off x="6629400" y="47244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6" name="Google Shape;436;g3e6ff68be46_0_486"/>
          <p:cNvGrpSpPr/>
          <p:nvPr/>
        </p:nvGrpSpPr>
        <p:grpSpPr>
          <a:xfrm>
            <a:off x="4267200" y="5486400"/>
            <a:ext cx="2819400" cy="304800"/>
            <a:chOff x="2590800" y="3429000"/>
            <a:chExt cx="2819400" cy="304800"/>
          </a:xfrm>
        </p:grpSpPr>
        <p:sp>
          <p:nvSpPr>
            <p:cNvPr id="437" name="Google Shape;437;g3e6ff68be46_0_486"/>
            <p:cNvSpPr/>
            <p:nvPr/>
          </p:nvSpPr>
          <p:spPr>
            <a:xfrm>
              <a:off x="2590800" y="3429000"/>
              <a:ext cx="19050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g3e6ff68be46_0_486"/>
            <p:cNvSpPr/>
            <p:nvPr/>
          </p:nvSpPr>
          <p:spPr>
            <a:xfrm>
              <a:off x="5105400" y="3429000"/>
              <a:ext cx="304800" cy="3048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63500" rotWithShape="0" algn="tl" dir="2700000" dist="38100">
                <a:srgbClr val="000000">
                  <a:alpha val="3843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9" name="Google Shape;439;g3e6ff68be46_0_486"/>
          <p:cNvSpPr/>
          <p:nvPr/>
        </p:nvSpPr>
        <p:spPr>
          <a:xfrm>
            <a:off x="6553200" y="5410200"/>
            <a:ext cx="2971800" cy="4572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g3e6ff68be46_0_486"/>
          <p:cNvSpPr txBox="1"/>
          <p:nvPr/>
        </p:nvSpPr>
        <p:spPr>
          <a:xfrm>
            <a:off x="11183677" y="5887792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6ff68be46_0_510"/>
          <p:cNvSpPr txBox="1"/>
          <p:nvPr>
            <p:ph type="title"/>
          </p:nvPr>
        </p:nvSpPr>
        <p:spPr>
          <a:xfrm>
            <a:off x="1676400" y="609601"/>
            <a:ext cx="1063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446" name="Google Shape;446;g3e6ff68be46_0_510"/>
          <p:cNvSpPr txBox="1"/>
          <p:nvPr>
            <p:ph idx="1" type="body"/>
          </p:nvPr>
        </p:nvSpPr>
        <p:spPr>
          <a:xfrm>
            <a:off x="1726425" y="1182255"/>
            <a:ext cx="95337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SzPts val="1160"/>
              <a:buFont typeface="Tahoma"/>
              <a:buNone/>
            </a:pPr>
            <a:r>
              <a:rPr b="1" lang="en-US" sz="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ts val="4060"/>
              <a:buFont typeface="Tahoma"/>
              <a:buNone/>
            </a:pPr>
            <a:r>
              <a:rPr lang="en-US" sz="2800">
                <a:solidFill>
                  <a:schemeClr val="dk2"/>
                </a:solidFill>
              </a:rPr>
              <a:t>Example:</a:t>
            </a:r>
            <a:r>
              <a:rPr b="1" lang="en-US" sz="2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1843::22::fa</a:t>
            </a:r>
            <a:endParaRPr b="1" sz="2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Tahoma"/>
              <a:buNone/>
            </a:pPr>
            <a:r>
              <a:rPr b="1" i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i="1" sz="700">
              <a:solidFill>
                <a:schemeClr val="dk2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chemeClr val="dk2"/>
                </a:solidFill>
              </a:rPr>
              <a:t>Illegal because the length of the two all-zero strings is ambiguous.</a:t>
            </a:r>
            <a:endParaRPr/>
          </a:p>
          <a:p>
            <a:pPr indent="-226176" lvl="1" marL="742950" rtl="0" algn="l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None/>
            </a:pPr>
            <a:r>
              <a:t/>
            </a:r>
            <a:endParaRPr b="1" sz="7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b="1" lang="en-US" sz="7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b="1" lang="en-US" sz="2400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b="1" lang="en-US" sz="24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g3e6ff68be46_0_510"/>
          <p:cNvSpPr txBox="1"/>
          <p:nvPr/>
        </p:nvSpPr>
        <p:spPr>
          <a:xfrm>
            <a:off x="6021525" y="4728727"/>
            <a:ext cx="4587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highlight>
                  <a:schemeClr val="lt2"/>
                </a:highlight>
                <a:latin typeface="Arial"/>
                <a:ea typeface="Arial"/>
                <a:cs typeface="Arial"/>
                <a:sym typeface="Arial"/>
              </a:rPr>
              <a:t>or</a:t>
            </a:r>
            <a:endParaRPr b="0" i="0" sz="1400" u="none" cap="none" strike="noStrike">
              <a:solidFill>
                <a:schemeClr val="dk2"/>
              </a:solidFill>
              <a:highlight>
                <a:schemeClr val="lt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e6ff68be46_0_510"/>
          <p:cNvSpPr txBox="1"/>
          <p:nvPr/>
        </p:nvSpPr>
        <p:spPr>
          <a:xfrm>
            <a:off x="11260183" y="5887792"/>
            <a:ext cx="474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g3e6ff68be46_0_5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6105" y="1741307"/>
            <a:ext cx="42291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e6ff68be46_0_5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2922" y="4097914"/>
            <a:ext cx="101727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e6ff68be46_0_5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8451" y="3613178"/>
            <a:ext cx="1084407" cy="48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g3e6ff68be46_0_5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31033" y="3744081"/>
            <a:ext cx="718843" cy="3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e6ff68be46_0_5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29520" y="1948473"/>
            <a:ext cx="1162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g3e6ff68be46_0_5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00589" y="3792187"/>
            <a:ext cx="1274479" cy="3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e6ff68be46_0_517"/>
          <p:cNvSpPr txBox="1"/>
          <p:nvPr/>
        </p:nvSpPr>
        <p:spPr>
          <a:xfrm>
            <a:off x="1409872" y="259329"/>
            <a:ext cx="10018800" cy="9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Representing IPv6 addresses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0" name="Google Shape;460;g3e6ff68be46_0_517"/>
          <p:cNvSpPr/>
          <p:nvPr/>
        </p:nvSpPr>
        <p:spPr>
          <a:xfrm>
            <a:off x="2716069" y="5943453"/>
            <a:ext cx="794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831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highlight>
                  <a:schemeClr val="accent2"/>
                </a:highlight>
                <a:latin typeface="Corbel"/>
                <a:ea typeface="Corbel"/>
                <a:cs typeface="Corbel"/>
                <a:sym typeface="Corbel"/>
              </a:rPr>
              <a:t>No Subnet masks in dotted decimal format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in IPv6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1" name="Google Shape;461;g3e6ff68be46_0_517"/>
          <p:cNvSpPr/>
          <p:nvPr/>
        </p:nvSpPr>
        <p:spPr>
          <a:xfrm>
            <a:off x="6157235" y="2143201"/>
            <a:ext cx="244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831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IPv4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2" name="Google Shape;462;g3e6ff68be46_0_517"/>
          <p:cNvSpPr/>
          <p:nvPr/>
        </p:nvSpPr>
        <p:spPr>
          <a:xfrm>
            <a:off x="4813344" y="5424991"/>
            <a:ext cx="24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831" lvl="0" marL="34131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0"/>
          <p:cNvSpPr txBox="1"/>
          <p:nvPr>
            <p:ph type="title"/>
          </p:nvPr>
        </p:nvSpPr>
        <p:spPr>
          <a:xfrm>
            <a:off x="1981200" y="1524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</a:t>
            </a:r>
            <a:endParaRPr/>
          </a:p>
        </p:txBody>
      </p:sp>
      <p:sp>
        <p:nvSpPr>
          <p:cNvPr id="468" name="Google Shape;468;p20"/>
          <p:cNvSpPr txBox="1"/>
          <p:nvPr>
            <p:ph idx="1" type="body"/>
          </p:nvPr>
        </p:nvSpPr>
        <p:spPr>
          <a:xfrm>
            <a:off x="1981200" y="1371600"/>
            <a:ext cx="8229600" cy="3276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unicast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specified 1 computer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multicast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communicate group of computers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/>
              <a:t>anycast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send group address that can receive multiple computers, but receive 1 computer</a:t>
            </a:r>
            <a:endParaRPr/>
          </a:p>
          <a:p>
            <a:pPr indent="-64769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400"/>
          </a:p>
        </p:txBody>
      </p:sp>
      <p:cxnSp>
        <p:nvCxnSpPr>
          <p:cNvPr id="469" name="Google Shape;469;p20"/>
          <p:cNvCxnSpPr/>
          <p:nvPr/>
        </p:nvCxnSpPr>
        <p:spPr>
          <a:xfrm>
            <a:off x="2895600" y="5257800"/>
            <a:ext cx="60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70" name="Google Shape;470;p20"/>
          <p:cNvGrpSpPr/>
          <p:nvPr/>
        </p:nvGrpSpPr>
        <p:grpSpPr>
          <a:xfrm>
            <a:off x="2286000" y="4953000"/>
            <a:ext cx="762000" cy="457200"/>
            <a:chOff x="528" y="2928"/>
            <a:chExt cx="480" cy="288"/>
          </a:xfrm>
        </p:grpSpPr>
        <p:sp>
          <p:nvSpPr>
            <p:cNvPr id="471" name="Google Shape;471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20"/>
          <p:cNvGrpSpPr/>
          <p:nvPr/>
        </p:nvGrpSpPr>
        <p:grpSpPr>
          <a:xfrm>
            <a:off x="5867400" y="4648200"/>
            <a:ext cx="762000" cy="457200"/>
            <a:chOff x="528" y="2928"/>
            <a:chExt cx="480" cy="288"/>
          </a:xfrm>
        </p:grpSpPr>
        <p:sp>
          <p:nvSpPr>
            <p:cNvPr id="474" name="Google Shape;474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5" name="Google Shape;475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20"/>
          <p:cNvGrpSpPr/>
          <p:nvPr/>
        </p:nvGrpSpPr>
        <p:grpSpPr>
          <a:xfrm>
            <a:off x="5867400" y="5105400"/>
            <a:ext cx="762000" cy="457200"/>
            <a:chOff x="528" y="2928"/>
            <a:chExt cx="480" cy="288"/>
          </a:xfrm>
        </p:grpSpPr>
        <p:sp>
          <p:nvSpPr>
            <p:cNvPr id="477" name="Google Shape;477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8" name="Google Shape;478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9" name="Google Shape;479;p20"/>
          <p:cNvGrpSpPr/>
          <p:nvPr/>
        </p:nvGrpSpPr>
        <p:grpSpPr>
          <a:xfrm>
            <a:off x="3505200" y="4953000"/>
            <a:ext cx="762000" cy="457200"/>
            <a:chOff x="528" y="2928"/>
            <a:chExt cx="480" cy="288"/>
          </a:xfrm>
        </p:grpSpPr>
        <p:sp>
          <p:nvSpPr>
            <p:cNvPr id="480" name="Google Shape;480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20"/>
          <p:cNvGrpSpPr/>
          <p:nvPr/>
        </p:nvGrpSpPr>
        <p:grpSpPr>
          <a:xfrm>
            <a:off x="4495800" y="4953000"/>
            <a:ext cx="762000" cy="457200"/>
            <a:chOff x="528" y="2928"/>
            <a:chExt cx="480" cy="288"/>
          </a:xfrm>
        </p:grpSpPr>
        <p:sp>
          <p:nvSpPr>
            <p:cNvPr id="483" name="Google Shape;483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4" name="Google Shape;484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20"/>
          <p:cNvGrpSpPr/>
          <p:nvPr/>
        </p:nvGrpSpPr>
        <p:grpSpPr>
          <a:xfrm>
            <a:off x="5867400" y="5638800"/>
            <a:ext cx="762000" cy="457200"/>
            <a:chOff x="528" y="2928"/>
            <a:chExt cx="480" cy="288"/>
          </a:xfrm>
        </p:grpSpPr>
        <p:sp>
          <p:nvSpPr>
            <p:cNvPr id="486" name="Google Shape;486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8" name="Google Shape;488;p20"/>
          <p:cNvCxnSpPr/>
          <p:nvPr/>
        </p:nvCxnSpPr>
        <p:spPr>
          <a:xfrm flipH="1" rot="10800000">
            <a:off x="5410200" y="50292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9" name="Google Shape;489;p20"/>
          <p:cNvCxnSpPr/>
          <p:nvPr/>
        </p:nvCxnSpPr>
        <p:spPr>
          <a:xfrm>
            <a:off x="5410200" y="5181600"/>
            <a:ext cx="4572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0" name="Google Shape;490;p20"/>
          <p:cNvCxnSpPr/>
          <p:nvPr/>
        </p:nvCxnSpPr>
        <p:spPr>
          <a:xfrm>
            <a:off x="5410200" y="51816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1" name="Google Shape;491;p20"/>
          <p:cNvCxnSpPr/>
          <p:nvPr/>
        </p:nvCxnSpPr>
        <p:spPr>
          <a:xfrm>
            <a:off x="5105400" y="518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92" name="Google Shape;492;p20"/>
          <p:cNvGrpSpPr/>
          <p:nvPr/>
        </p:nvGrpSpPr>
        <p:grpSpPr>
          <a:xfrm>
            <a:off x="8382000" y="4648200"/>
            <a:ext cx="762000" cy="457200"/>
            <a:chOff x="528" y="2928"/>
            <a:chExt cx="480" cy="288"/>
          </a:xfrm>
        </p:grpSpPr>
        <p:sp>
          <p:nvSpPr>
            <p:cNvPr id="493" name="Google Shape;493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4" name="Google Shape;494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5" name="Google Shape;495;p20"/>
          <p:cNvGrpSpPr/>
          <p:nvPr/>
        </p:nvGrpSpPr>
        <p:grpSpPr>
          <a:xfrm>
            <a:off x="8382000" y="5105400"/>
            <a:ext cx="762000" cy="457200"/>
            <a:chOff x="528" y="2928"/>
            <a:chExt cx="480" cy="288"/>
          </a:xfrm>
        </p:grpSpPr>
        <p:sp>
          <p:nvSpPr>
            <p:cNvPr id="496" name="Google Shape;496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7" name="Google Shape;497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20"/>
          <p:cNvGrpSpPr/>
          <p:nvPr/>
        </p:nvGrpSpPr>
        <p:grpSpPr>
          <a:xfrm>
            <a:off x="7010400" y="4953000"/>
            <a:ext cx="762000" cy="457200"/>
            <a:chOff x="528" y="2928"/>
            <a:chExt cx="480" cy="288"/>
          </a:xfrm>
        </p:grpSpPr>
        <p:sp>
          <p:nvSpPr>
            <p:cNvPr id="499" name="Google Shape;499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0" name="Google Shape;500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20"/>
          <p:cNvGrpSpPr/>
          <p:nvPr/>
        </p:nvGrpSpPr>
        <p:grpSpPr>
          <a:xfrm>
            <a:off x="8382000" y="5638800"/>
            <a:ext cx="762000" cy="457200"/>
            <a:chOff x="528" y="2928"/>
            <a:chExt cx="480" cy="288"/>
          </a:xfrm>
        </p:grpSpPr>
        <p:sp>
          <p:nvSpPr>
            <p:cNvPr id="502" name="Google Shape;502;p20"/>
            <p:cNvSpPr/>
            <p:nvPr/>
          </p:nvSpPr>
          <p:spPr>
            <a:xfrm>
              <a:off x="528" y="2976"/>
              <a:ext cx="384" cy="24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20"/>
            <p:cNvSpPr txBox="1"/>
            <p:nvPr/>
          </p:nvSpPr>
          <p:spPr>
            <a:xfrm>
              <a:off x="624" y="2928"/>
              <a:ext cx="384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4" name="Google Shape;504;p20"/>
          <p:cNvCxnSpPr/>
          <p:nvPr/>
        </p:nvCxnSpPr>
        <p:spPr>
          <a:xfrm flipH="1" rot="10800000">
            <a:off x="7924800" y="4876800"/>
            <a:ext cx="533400" cy="304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505" name="Google Shape;505;p20"/>
          <p:cNvCxnSpPr/>
          <p:nvPr/>
        </p:nvCxnSpPr>
        <p:spPr>
          <a:xfrm>
            <a:off x="7924800" y="5181600"/>
            <a:ext cx="4572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6" name="Google Shape;506;p20"/>
          <p:cNvCxnSpPr/>
          <p:nvPr/>
        </p:nvCxnSpPr>
        <p:spPr>
          <a:xfrm>
            <a:off x="7620000" y="5181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7" name="Google Shape;507;p20"/>
          <p:cNvCxnSpPr/>
          <p:nvPr/>
        </p:nvCxnSpPr>
        <p:spPr>
          <a:xfrm rot="10800000">
            <a:off x="7924800" y="5181600"/>
            <a:ext cx="457200" cy="609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8" name="Google Shape;508;p20"/>
          <p:cNvSpPr txBox="1"/>
          <p:nvPr/>
        </p:nvSpPr>
        <p:spPr>
          <a:xfrm>
            <a:off x="2362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0"/>
          <p:cNvSpPr txBox="1"/>
          <p:nvPr/>
        </p:nvSpPr>
        <p:spPr>
          <a:xfrm>
            <a:off x="70866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0"/>
          <p:cNvSpPr txBox="1"/>
          <p:nvPr/>
        </p:nvSpPr>
        <p:spPr>
          <a:xfrm>
            <a:off x="472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Types of IPv6 addresses </a:t>
            </a:r>
            <a:endParaRPr/>
          </a:p>
        </p:txBody>
      </p:sp>
      <p:sp>
        <p:nvSpPr>
          <p:cNvPr id="517" name="Google Shape;517;p21"/>
          <p:cNvSpPr txBox="1"/>
          <p:nvPr>
            <p:ph idx="1" type="body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Unlike IPv4, there is</a:t>
            </a:r>
            <a:r>
              <a:rPr lang="en-US" sz="4000">
                <a:solidFill>
                  <a:srgbClr val="FFFF00"/>
                </a:solidFill>
              </a:rPr>
              <a:t> </a:t>
            </a:r>
            <a:r>
              <a:rPr lang="en-US" sz="4000">
                <a:solidFill>
                  <a:srgbClr val="7030A0"/>
                </a:solidFill>
              </a:rPr>
              <a:t>no broadcast address.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5800"/>
              <a:buChar char="•"/>
            </a:pPr>
            <a:r>
              <a:rPr lang="en-US" sz="4000"/>
              <a:t>There is an </a:t>
            </a:r>
            <a:r>
              <a:rPr lang="en-US" sz="4000">
                <a:solidFill>
                  <a:srgbClr val="7030A0"/>
                </a:solidFill>
              </a:rPr>
              <a:t>“all nodes multicast” </a:t>
            </a:r>
            <a:r>
              <a:rPr lang="en-US" sz="4000"/>
              <a:t>which serves the same purpose.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"/>
          <p:cNvSpPr txBox="1"/>
          <p:nvPr>
            <p:ph type="title"/>
          </p:nvPr>
        </p:nvSpPr>
        <p:spPr>
          <a:xfrm>
            <a:off x="1484311" y="685800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Global Addresses</a:t>
            </a:r>
            <a:endParaRPr/>
          </a:p>
        </p:txBody>
      </p:sp>
      <p:sp>
        <p:nvSpPr>
          <p:cNvPr id="524" name="Google Shape;524;p22"/>
          <p:cNvSpPr txBox="1"/>
          <p:nvPr>
            <p:ph idx="1" type="body"/>
          </p:nvPr>
        </p:nvSpPr>
        <p:spPr>
          <a:xfrm>
            <a:off x="1484310" y="1803043"/>
            <a:ext cx="10018713" cy="3988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These are assigned by the IANA and used on </a:t>
            </a:r>
            <a:r>
              <a:rPr lang="en-US" sz="3200">
                <a:solidFill>
                  <a:srgbClr val="7030A0"/>
                </a:solidFill>
              </a:rPr>
              <a:t>public networks</a:t>
            </a:r>
            <a:r>
              <a:rPr lang="en-US" sz="3200">
                <a:solidFill>
                  <a:srgbClr val="000000"/>
                </a:solidFill>
              </a:rPr>
              <a:t>. 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They are equivalent to IPv4 global (sometimes called public) addresses.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solidFill>
                  <a:srgbClr val="000000"/>
                </a:solidFill>
              </a:rPr>
              <a:t>Typically they start at </a:t>
            </a:r>
            <a:r>
              <a:rPr lang="en-US" sz="3200"/>
              <a:t>2000::/3</a:t>
            </a:r>
            <a:endParaRPr sz="3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25" name="Google Shape;525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3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addresses </a:t>
            </a:r>
            <a:endParaRPr/>
          </a:p>
        </p:txBody>
      </p:sp>
      <p:sp>
        <p:nvSpPr>
          <p:cNvPr id="531" name="Google Shape;531;p23"/>
          <p:cNvSpPr txBox="1"/>
          <p:nvPr>
            <p:ph idx="1" type="body"/>
          </p:nvPr>
        </p:nvSpPr>
        <p:spPr>
          <a:xfrm>
            <a:off x="1484310" y="1906073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1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Noto Sans Symbols"/>
              <a:buChar char="■"/>
            </a:pPr>
            <a:r>
              <a:rPr lang="en-US" sz="3200"/>
              <a:t>A </a:t>
            </a:r>
            <a:r>
              <a:rPr lang="en-US" sz="3200">
                <a:solidFill>
                  <a:srgbClr val="7030A0"/>
                </a:solidFill>
              </a:rPr>
              <a:t>unicast address </a:t>
            </a:r>
            <a:r>
              <a:rPr lang="en-US" sz="3200"/>
              <a:t>is an address that identifies a </a:t>
            </a:r>
            <a:r>
              <a:rPr lang="en-US" sz="3200">
                <a:solidFill>
                  <a:srgbClr val="7030A0"/>
                </a:solidFill>
              </a:rPr>
              <a:t>single device</a:t>
            </a:r>
            <a:r>
              <a:rPr lang="en-US" sz="3200"/>
              <a:t>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Types of Unicast Addresses: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32" name="Google Shape;532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3" name="Google Shape;5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546" y="3873906"/>
            <a:ext cx="10162229" cy="21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23"/>
          <p:cNvSpPr txBox="1"/>
          <p:nvPr/>
        </p:nvSpPr>
        <p:spPr>
          <a:xfrm>
            <a:off x="8805275" y="4948975"/>
            <a:ext cx="1239600" cy="4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(Private address)</a:t>
            </a:r>
            <a:endParaRPr sz="11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"/>
          <p:cNvSpPr txBox="1"/>
          <p:nvPr>
            <p:ph type="title"/>
          </p:nvPr>
        </p:nvSpPr>
        <p:spPr>
          <a:xfrm>
            <a:off x="1484310" y="505496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Scope of IPv6 Unicast Addresses</a:t>
            </a:r>
            <a:endParaRPr/>
          </a:p>
        </p:txBody>
      </p:sp>
      <p:pic>
        <p:nvPicPr>
          <p:cNvPr id="540" name="Google Shape;540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5446" y="1982519"/>
            <a:ext cx="6297955" cy="3884612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ps53.jpg" id="546" name="Google Shape;54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6750" y="1026575"/>
            <a:ext cx="88138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4"/>
          <p:cNvSpPr txBox="1"/>
          <p:nvPr>
            <p:ph idx="1" type="body"/>
          </p:nvPr>
        </p:nvSpPr>
        <p:spPr>
          <a:xfrm>
            <a:off x="1752600" y="2651617"/>
            <a:ext cx="89916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host portion of the address is called the </a:t>
            </a:r>
            <a:r>
              <a:rPr lang="en-US">
                <a:solidFill>
                  <a:srgbClr val="7030A0"/>
                </a:solidFill>
              </a:rPr>
              <a:t>Interface ID.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/>
              <a:t>Can contain: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The interface’s </a:t>
            </a:r>
            <a:r>
              <a:rPr lang="en-US" sz="2800">
                <a:solidFill>
                  <a:srgbClr val="7030A0"/>
                </a:solidFill>
              </a:rPr>
              <a:t>48-bit</a:t>
            </a:r>
            <a:r>
              <a:rPr lang="en-US" sz="2800"/>
              <a:t> MAC Address..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A manually configured address.</a:t>
            </a:r>
            <a:endParaRPr i="1" sz="2800">
              <a:solidFill>
                <a:srgbClr val="66FF66"/>
              </a:solidFill>
            </a:endParaRPr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i="1">
              <a:solidFill>
                <a:srgbClr val="66FF66"/>
              </a:solidFill>
            </a:endParaRPr>
          </a:p>
          <a:p>
            <a:pPr indent="-10160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6342175" y="1557572"/>
            <a:ext cx="4343400" cy="457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4"/>
          <p:cNvSpPr txBox="1"/>
          <p:nvPr/>
        </p:nvSpPr>
        <p:spPr>
          <a:xfrm>
            <a:off x="1181175" y="112466"/>
            <a:ext cx="82296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Unicast Global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2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0"/>
          <p:cNvSpPr txBox="1"/>
          <p:nvPr>
            <p:ph type="title"/>
          </p:nvPr>
        </p:nvSpPr>
        <p:spPr>
          <a:xfrm>
            <a:off x="1484311" y="685800"/>
            <a:ext cx="10018713" cy="975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Unique Local Unicast Address</a:t>
            </a:r>
            <a:endParaRPr/>
          </a:p>
        </p:txBody>
      </p:sp>
      <p:sp>
        <p:nvSpPr>
          <p:cNvPr id="556" name="Google Shape;556;p3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7" name="Google Shape;557;p30"/>
          <p:cNvSpPr txBox="1"/>
          <p:nvPr>
            <p:ph idx="1" type="body"/>
          </p:nvPr>
        </p:nvSpPr>
        <p:spPr>
          <a:xfrm>
            <a:off x="1484313" y="1906588"/>
            <a:ext cx="10018712" cy="3884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FC00::/7</a:t>
            </a:r>
            <a:endParaRPr>
              <a:solidFill>
                <a:srgbClr val="7030A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Globally unique, but </a:t>
            </a:r>
            <a:r>
              <a:rPr lang="en-US"/>
              <a:t>should be used in local communication</a:t>
            </a:r>
            <a:r>
              <a:rPr lang="en-US"/>
              <a:t>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They are designed to prevent address conflicts (like when two companies merge), they are strictly not routable on the public internet</a:t>
            </a:r>
            <a:endParaRPr/>
          </a:p>
        </p:txBody>
      </p:sp>
      <p:pic>
        <p:nvPicPr>
          <p:cNvPr id="558" name="Google Shape;5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4939" y="4509219"/>
            <a:ext cx="8002117" cy="1105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1"/>
          <p:cNvSpPr txBox="1"/>
          <p:nvPr>
            <p:ph type="title"/>
          </p:nvPr>
        </p:nvSpPr>
        <p:spPr>
          <a:xfrm>
            <a:off x="1484311" y="685800"/>
            <a:ext cx="10018713" cy="833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Local Unicast Address</a:t>
            </a:r>
            <a:endParaRPr/>
          </a:p>
        </p:txBody>
      </p:sp>
      <p:sp>
        <p:nvSpPr>
          <p:cNvPr id="564" name="Google Shape;564;p31"/>
          <p:cNvSpPr txBox="1"/>
          <p:nvPr>
            <p:ph idx="1" type="body"/>
          </p:nvPr>
        </p:nvSpPr>
        <p:spPr>
          <a:xfrm>
            <a:off x="1484310" y="1661375"/>
            <a:ext cx="10018713" cy="38851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7030A0"/>
                </a:solidFill>
              </a:rPr>
              <a:t>FE80::/10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These addresses refer </a:t>
            </a:r>
            <a:r>
              <a:rPr lang="en-US">
                <a:solidFill>
                  <a:srgbClr val="7030A0"/>
                </a:solidFill>
              </a:rPr>
              <a:t>only to a particular physical network.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solidFill>
                  <a:srgbClr val="7030A0"/>
                </a:solidFill>
              </a:rPr>
              <a:t>Routers do not forward </a:t>
            </a:r>
            <a:r>
              <a:rPr lang="en-US"/>
              <a:t>datagrams using link-local addresses.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They are only for </a:t>
            </a:r>
            <a:r>
              <a:rPr lang="en-US">
                <a:solidFill>
                  <a:srgbClr val="7030A0"/>
                </a:solidFill>
              </a:rPr>
              <a:t>local communication </a:t>
            </a:r>
            <a:r>
              <a:rPr lang="en-US"/>
              <a:t>on a particular physical </a:t>
            </a:r>
            <a:r>
              <a:rPr lang="en-US">
                <a:solidFill>
                  <a:srgbClr val="7030A0"/>
                </a:solidFill>
              </a:rPr>
              <a:t>network segment</a:t>
            </a:r>
            <a:r>
              <a:rPr lang="en-US"/>
              <a:t>.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Automatic address configuration.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Neighbor discovery.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/>
              <a:t>Router discovery. etc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sp>
        <p:nvSpPr>
          <p:cNvPr id="565" name="Google Shape;565;p3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6" name="Google Shape;5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1153" y="5103372"/>
            <a:ext cx="8776693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3"/>
          <p:cNvSpPr txBox="1"/>
          <p:nvPr>
            <p:ph type="title"/>
          </p:nvPr>
        </p:nvSpPr>
        <p:spPr>
          <a:xfrm>
            <a:off x="1664615" y="441101"/>
            <a:ext cx="10018713" cy="859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572" name="Google Shape;572;p33"/>
          <p:cNvSpPr txBox="1"/>
          <p:nvPr>
            <p:ph idx="1" type="body"/>
          </p:nvPr>
        </p:nvSpPr>
        <p:spPr>
          <a:xfrm>
            <a:off x="1938338" y="1545465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Consisting of all addresses that begin with “</a:t>
            </a:r>
            <a:r>
              <a:rPr lang="en-US">
                <a:solidFill>
                  <a:srgbClr val="7030A0"/>
                </a:solidFill>
              </a:rPr>
              <a:t>1111 1111</a:t>
            </a:r>
            <a:r>
              <a:rPr lang="en-US"/>
              <a:t>” i.e “</a:t>
            </a:r>
            <a:r>
              <a:rPr lang="en-US">
                <a:solidFill>
                  <a:srgbClr val="7030A0"/>
                </a:solidFill>
              </a:rPr>
              <a:t>FF</a:t>
            </a:r>
            <a:r>
              <a:rPr lang="en-US"/>
              <a:t>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</p:txBody>
      </p:sp>
      <p:pic>
        <p:nvPicPr>
          <p:cNvPr id="573" name="Google Shape;57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517048"/>
            <a:ext cx="7077075" cy="2976563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33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4"/>
          <p:cNvSpPr txBox="1"/>
          <p:nvPr>
            <p:ph type="title"/>
          </p:nvPr>
        </p:nvSpPr>
        <p:spPr>
          <a:xfrm>
            <a:off x="1690373" y="394936"/>
            <a:ext cx="10018713" cy="8854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Addresses</a:t>
            </a:r>
            <a:endParaRPr/>
          </a:p>
        </p:txBody>
      </p:sp>
      <p:sp>
        <p:nvSpPr>
          <p:cNvPr id="580" name="Google Shape;580;p34"/>
          <p:cNvSpPr txBox="1"/>
          <p:nvPr>
            <p:ph idx="1" type="body"/>
          </p:nvPr>
        </p:nvSpPr>
        <p:spPr>
          <a:xfrm>
            <a:off x="1484310" y="1571223"/>
            <a:ext cx="10018713" cy="4219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Multicast addresses are used to send data to a number of devices on an internetwork simultaneously.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multicast address can be specified for a variety of </a:t>
            </a:r>
            <a:r>
              <a:rPr lang="en-US">
                <a:solidFill>
                  <a:srgbClr val="7030A0"/>
                </a:solidFill>
              </a:rPr>
              <a:t>different </a:t>
            </a:r>
            <a:r>
              <a:rPr i="1" lang="en-US">
                <a:solidFill>
                  <a:srgbClr val="7030A0"/>
                </a:solidFill>
              </a:rPr>
              <a:t>scopes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Scope</a:t>
            </a:r>
            <a:r>
              <a:rPr lang="en-US"/>
              <a:t> limits how far the multicast packet is allowed to travel.</a:t>
            </a:r>
            <a:endParaRPr/>
          </a:p>
        </p:txBody>
      </p:sp>
      <p:pic>
        <p:nvPicPr>
          <p:cNvPr id="581" name="Google Shape;5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7467" y="3804649"/>
            <a:ext cx="7725853" cy="1695687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34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6"/>
          <p:cNvSpPr txBox="1"/>
          <p:nvPr>
            <p:ph type="title"/>
          </p:nvPr>
        </p:nvSpPr>
        <p:spPr>
          <a:xfrm>
            <a:off x="1484311" y="685801"/>
            <a:ext cx="10018713" cy="8467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588" name="Google Shape;588;p36"/>
          <p:cNvSpPr txBox="1"/>
          <p:nvPr>
            <p:ph idx="1" type="body"/>
          </p:nvPr>
        </p:nvSpPr>
        <p:spPr>
          <a:xfrm>
            <a:off x="1484311" y="1629179"/>
            <a:ext cx="10018713" cy="425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Suppose, </a:t>
            </a:r>
            <a:r>
              <a:rPr lang="en-US" sz="2800"/>
              <a:t>we need a service that is provided by a number of different servers but don't really care which one provides it.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In routing, anycast allows datagrams to be sent to </a:t>
            </a:r>
            <a:r>
              <a:rPr lang="en-US" sz="2800">
                <a:solidFill>
                  <a:srgbClr val="7030A0"/>
                </a:solidFill>
              </a:rPr>
              <a:t>whichever router in a group of equivalent routers is closest</a:t>
            </a:r>
            <a:endParaRPr sz="2800">
              <a:solidFill>
                <a:srgbClr val="7030A0"/>
              </a:solidFill>
            </a:endParaRPr>
          </a:p>
          <a:p>
            <a:pPr indent="-205740" lvl="0" marL="285750" rtl="0" algn="l">
              <a:lnSpc>
                <a:spcPct val="90000"/>
              </a:lnSpc>
              <a:spcBef>
                <a:spcPts val="1160"/>
              </a:spcBef>
              <a:spcAft>
                <a:spcPts val="0"/>
              </a:spcAft>
              <a:buClr>
                <a:srgbClr val="7030A0"/>
              </a:buClr>
              <a:buSzPts val="2800"/>
              <a:buChar char="•"/>
            </a:pPr>
            <a:r>
              <a:rPr lang="en-US" sz="2800">
                <a:solidFill>
                  <a:srgbClr val="7030A0"/>
                </a:solidFill>
              </a:rPr>
              <a:t>Ex: </a:t>
            </a:r>
            <a:r>
              <a:rPr lang="en-US" sz="2800"/>
              <a:t>When we send DNS request we do not bother which server responds to our request. So anycast is used to forward the request to the nearest server.</a:t>
            </a:r>
            <a:endParaRPr sz="2800"/>
          </a:p>
        </p:txBody>
      </p:sp>
      <p:sp>
        <p:nvSpPr>
          <p:cNvPr id="589" name="Google Shape;589;p36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36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590" name="Google Shape;59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75" y="4686000"/>
            <a:ext cx="3334225" cy="202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7"/>
          <p:cNvSpPr txBox="1"/>
          <p:nvPr>
            <p:ph type="title"/>
          </p:nvPr>
        </p:nvSpPr>
        <p:spPr>
          <a:xfrm>
            <a:off x="1484311" y="685800"/>
            <a:ext cx="10018713" cy="1104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Anycast Addresses</a:t>
            </a:r>
            <a:endParaRPr/>
          </a:p>
        </p:txBody>
      </p:sp>
      <p:sp>
        <p:nvSpPr>
          <p:cNvPr id="596" name="Google Shape;596;p37"/>
          <p:cNvSpPr txBox="1"/>
          <p:nvPr>
            <p:ph idx="1" type="body"/>
          </p:nvPr>
        </p:nvSpPr>
        <p:spPr>
          <a:xfrm>
            <a:off x="1484311" y="1790163"/>
            <a:ext cx="10018713" cy="409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There is no special anycast addressing scheme: </a:t>
            </a:r>
            <a:r>
              <a:rPr lang="en-US" sz="3600">
                <a:solidFill>
                  <a:srgbClr val="7030A0"/>
                </a:solidFill>
              </a:rPr>
              <a:t>anycast addresses are the same as unicast addresses. 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/>
              <a:t>An anycast address is created “automatically” when a unicast address is assigned to more than one interface.</a:t>
            </a:r>
            <a:endParaRPr sz="3600"/>
          </a:p>
        </p:txBody>
      </p:sp>
      <p:sp>
        <p:nvSpPr>
          <p:cNvPr id="597" name="Google Shape;597;p37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37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9"/>
          <p:cNvSpPr txBox="1"/>
          <p:nvPr>
            <p:ph type="title"/>
          </p:nvPr>
        </p:nvSpPr>
        <p:spPr>
          <a:xfrm>
            <a:off x="1432794" y="466010"/>
            <a:ext cx="10018713" cy="949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603" name="Google Shape;603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2" y="1955386"/>
            <a:ext cx="6123943" cy="318209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9"/>
          <p:cNvSpPr txBox="1"/>
          <p:nvPr>
            <p:ph idx="2" type="body"/>
          </p:nvPr>
        </p:nvSpPr>
        <p:spPr>
          <a:xfrm>
            <a:off x="6493667" y="1558344"/>
            <a:ext cx="4895056" cy="4224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b="1" lang="en-US" sz="2600"/>
              <a:t>Unspecified Address: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::/128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a host, it refers to the host itself, and is used when a device does not know its own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For addressing purposes within a software. 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b="1" lang="en-US" sz="2600"/>
              <a:t>Loopback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::1/128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loopback  (same as 127.0.0.1 in many IPv4 implementations)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964"/>
              </a:spcBef>
              <a:spcAft>
                <a:spcPts val="0"/>
              </a:spcAft>
              <a:buSzPct val="145000"/>
              <a:buChar char="•"/>
            </a:pPr>
            <a:r>
              <a:rPr lang="en-US" sz="2600"/>
              <a:t>In IPv6 there is just one address, not a whole block, for this function.</a:t>
            </a:r>
            <a:endParaRPr/>
          </a:p>
          <a:p>
            <a:pPr indent="-169735" lvl="0" marL="285750" rtl="0" algn="l">
              <a:lnSpc>
                <a:spcPct val="100000"/>
              </a:lnSpc>
              <a:spcBef>
                <a:spcPts val="852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605" name="Google Shape;605;p2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57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rbel"/>
              <a:buNone/>
            </a:pPr>
            <a:r>
              <a:rPr lang="en-US" sz="5400"/>
              <a:t>Transition from IPv4 to IPv6</a:t>
            </a:r>
            <a:endParaRPr/>
          </a:p>
        </p:txBody>
      </p:sp>
      <p:sp>
        <p:nvSpPr>
          <p:cNvPr id="611" name="Google Shape;611;p57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8"/>
          <p:cNvSpPr txBox="1"/>
          <p:nvPr>
            <p:ph type="title"/>
          </p:nvPr>
        </p:nvSpPr>
        <p:spPr>
          <a:xfrm>
            <a:off x="1981200" y="457200"/>
            <a:ext cx="8231188" cy="13731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to IPv6 Transition</a:t>
            </a:r>
            <a:endParaRPr/>
          </a:p>
        </p:txBody>
      </p:sp>
      <p:sp>
        <p:nvSpPr>
          <p:cNvPr id="619" name="Google Shape;619;p58"/>
          <p:cNvSpPr txBox="1"/>
          <p:nvPr>
            <p:ph idx="1" type="body"/>
          </p:nvPr>
        </p:nvSpPr>
        <p:spPr>
          <a:xfrm>
            <a:off x="1981200" y="1981200"/>
            <a:ext cx="8231188" cy="3887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1313" lvl="0" marL="34131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lang="en-US">
                <a:solidFill>
                  <a:schemeClr val="accent6"/>
                </a:solidFill>
              </a:rPr>
              <a:t>Strategies and mechanisms:</a:t>
            </a:r>
            <a:endParaRPr/>
          </a:p>
          <a:p>
            <a:pPr indent="-341313" lvl="0" marL="34131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IPv4 to IPv6 transition is gradual</a:t>
            </a:r>
            <a:endParaRPr/>
          </a:p>
          <a:p>
            <a:pPr indent="-341313" lvl="0" marL="34131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devices need to communicate to IPv4</a:t>
            </a:r>
            <a:endParaRPr/>
          </a:p>
          <a:p>
            <a:pPr indent="-341313" lvl="0" marL="34131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IPv6 needs to communicate over IPv4 links</a:t>
            </a:r>
            <a:endParaRPr/>
          </a:p>
        </p:txBody>
      </p:sp>
      <p:sp>
        <p:nvSpPr>
          <p:cNvPr id="620" name="Google Shape;620;p58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58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9"/>
          <p:cNvSpPr txBox="1"/>
          <p:nvPr>
            <p:ph type="title"/>
          </p:nvPr>
        </p:nvSpPr>
        <p:spPr>
          <a:xfrm>
            <a:off x="1565276" y="188711"/>
            <a:ext cx="8229600" cy="974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Transition Techniques</a:t>
            </a:r>
            <a:endParaRPr/>
          </a:p>
        </p:txBody>
      </p:sp>
      <p:sp>
        <p:nvSpPr>
          <p:cNvPr id="626" name="Google Shape;626;p59"/>
          <p:cNvSpPr txBox="1"/>
          <p:nvPr>
            <p:ph idx="1" type="body"/>
          </p:nvPr>
        </p:nvSpPr>
        <p:spPr>
          <a:xfrm>
            <a:off x="1565276" y="1027090"/>
            <a:ext cx="35814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2800">
                <a:solidFill>
                  <a:srgbClr val="7030A0"/>
                </a:solidFill>
              </a:rPr>
              <a:t>Three categories</a:t>
            </a:r>
            <a:r>
              <a:rPr lang="en-US" sz="2800"/>
              <a:t>: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Dual-stack techniques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Tunneling Techniques</a:t>
            </a:r>
            <a:endParaRPr/>
          </a:p>
          <a:p>
            <a:pPr indent="-517525" lvl="0" marL="574675" rtl="0" algn="l">
              <a:lnSpc>
                <a:spcPct val="90000"/>
              </a:lnSpc>
              <a:spcBef>
                <a:spcPts val="2280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1186C3"/>
                </a:solidFill>
              </a:rPr>
              <a:t>Translation techniques</a:t>
            </a:r>
            <a:endParaRPr/>
          </a:p>
        </p:txBody>
      </p:sp>
      <p:pic>
        <p:nvPicPr>
          <p:cNvPr descr="http://www.tutorialspoint.com/ipv6/images/dual_stack_router.jpg" id="627" name="Google Shape;6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6176" y="831358"/>
            <a:ext cx="4254500" cy="205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utorialspoint.com/ipv6/images/tunneling.jpg" id="628" name="Google Shape;62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6676" y="3014864"/>
            <a:ext cx="53340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utorialspoint.com/ipv6/images/nat.jpg" id="629" name="Google Shape;629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6301" y="4197776"/>
            <a:ext cx="45243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59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59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e6ff68be46_0_669"/>
          <p:cNvSpPr txBox="1"/>
          <p:nvPr>
            <p:ph idx="12" type="sldNum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7" name="Google Shape;637;g3e6ff68be46_0_6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8500" y="725725"/>
            <a:ext cx="8633900" cy="50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60"/>
          <p:cNvSpPr txBox="1"/>
          <p:nvPr>
            <p:ph idx="1" type="body"/>
          </p:nvPr>
        </p:nvSpPr>
        <p:spPr>
          <a:xfrm>
            <a:off x="1828800" y="1371601"/>
            <a:ext cx="8229600" cy="2440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Method in which a node has implementation and connectivity to </a:t>
            </a:r>
            <a:r>
              <a:rPr lang="en-US">
                <a:solidFill>
                  <a:srgbClr val="7030A0"/>
                </a:solidFill>
              </a:rPr>
              <a:t>both an IPv4 and IPv6 </a:t>
            </a:r>
            <a:r>
              <a:rPr lang="en-US"/>
              <a:t>network.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</a:t>
            </a:r>
            <a:r>
              <a:rPr lang="en-US">
                <a:solidFill>
                  <a:srgbClr val="FFFF00"/>
                </a:solidFill>
              </a:rPr>
              <a:t> </a:t>
            </a:r>
            <a:r>
              <a:rPr lang="en-US">
                <a:solidFill>
                  <a:srgbClr val="7030A0"/>
                </a:solidFill>
              </a:rPr>
              <a:t>recommended</a:t>
            </a:r>
            <a:r>
              <a:rPr lang="en-US"/>
              <a:t> option.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Involves running IPv4 and IPv6 at the same time</a:t>
            </a:r>
            <a:r>
              <a:rPr lang="en-US">
                <a:solidFill>
                  <a:srgbClr val="FFFF00"/>
                </a:solidFill>
              </a:rPr>
              <a:t>.</a:t>
            </a:r>
            <a:endParaRPr/>
          </a:p>
        </p:txBody>
      </p:sp>
      <p:sp>
        <p:nvSpPr>
          <p:cNvPr id="643" name="Google Shape;643;p60"/>
          <p:cNvSpPr txBox="1"/>
          <p:nvPr>
            <p:ph type="title"/>
          </p:nvPr>
        </p:nvSpPr>
        <p:spPr>
          <a:xfrm>
            <a:off x="1981200" y="304800"/>
            <a:ext cx="8231188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Dual Stack</a:t>
            </a:r>
            <a:endParaRPr/>
          </a:p>
        </p:txBody>
      </p:sp>
      <p:sp>
        <p:nvSpPr>
          <p:cNvPr id="644" name="Google Shape;644;p60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60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45" name="Google Shape;64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2636" y="3812152"/>
            <a:ext cx="5943599" cy="2869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3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651" name="Google Shape;651;p63"/>
          <p:cNvSpPr txBox="1"/>
          <p:nvPr>
            <p:ph idx="1" type="body"/>
          </p:nvPr>
        </p:nvSpPr>
        <p:spPr>
          <a:xfrm>
            <a:off x="1752600" y="4297364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is an integration method where an </a:t>
            </a:r>
            <a:r>
              <a:rPr lang="en-US" sz="2800">
                <a:solidFill>
                  <a:srgbClr val="7030A0"/>
                </a:solidFill>
              </a:rPr>
              <a:t>IPv6 packet is encapsulated within another protocol.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/>
              <a:t>Tunneling encapsulates the IPv6 packet in the IPv4 packet. </a:t>
            </a:r>
            <a:endParaRPr/>
          </a:p>
        </p:txBody>
      </p:sp>
      <p:pic>
        <p:nvPicPr>
          <p:cNvPr descr="ips66.jpg" id="652" name="Google Shape;6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3" name="Google Shape;653;p63"/>
          <p:cNvCxnSpPr/>
          <p:nvPr/>
        </p:nvCxnSpPr>
        <p:spPr>
          <a:xfrm flipH="1" rot="-5400000">
            <a:off x="3314700" y="1866900"/>
            <a:ext cx="1752600" cy="1676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654" name="Google Shape;654;p63"/>
          <p:cNvCxnSpPr/>
          <p:nvPr/>
        </p:nvCxnSpPr>
        <p:spPr>
          <a:xfrm>
            <a:off x="5181600" y="3581400"/>
            <a:ext cx="1524000" cy="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655" name="Google Shape;655;p63"/>
          <p:cNvCxnSpPr/>
          <p:nvPr/>
        </p:nvCxnSpPr>
        <p:spPr>
          <a:xfrm rot="-5400000">
            <a:off x="6667500" y="2019300"/>
            <a:ext cx="1828800" cy="1295400"/>
          </a:xfrm>
          <a:prstGeom prst="straightConnector1">
            <a:avLst/>
          </a:prstGeom>
          <a:noFill/>
          <a:ln cap="flat" cmpd="sng" w="508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cxnSp>
        <p:nvCxnSpPr>
          <p:cNvPr id="656" name="Google Shape;656;p63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cap="flat" cmpd="sng" w="50800">
            <a:solidFill>
              <a:srgbClr val="00206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sp>
        <p:nvSpPr>
          <p:cNvPr id="657" name="Google Shape;657;p63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63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4"/>
          <p:cNvSpPr txBox="1"/>
          <p:nvPr>
            <p:ph type="title"/>
          </p:nvPr>
        </p:nvSpPr>
        <p:spPr>
          <a:xfrm>
            <a:off x="203200" y="152400"/>
            <a:ext cx="1178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Tunneling</a:t>
            </a:r>
            <a:endParaRPr/>
          </a:p>
        </p:txBody>
      </p:sp>
      <p:sp>
        <p:nvSpPr>
          <p:cNvPr id="663" name="Google Shape;663;p64"/>
          <p:cNvSpPr txBox="1"/>
          <p:nvPr>
            <p:ph idx="1" type="body"/>
          </p:nvPr>
        </p:nvSpPr>
        <p:spPr>
          <a:xfrm>
            <a:off x="1676400" y="4343400"/>
            <a:ext cx="87630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60347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356"/>
              <a:buChar char="•"/>
            </a:pPr>
            <a:r>
              <a:rPr lang="en-US" sz="2190"/>
              <a:t>When IPv4 is used to encapsulate the IPv6 packet:</a:t>
            </a:r>
            <a:endParaRPr sz="1820"/>
          </a:p>
          <a:p>
            <a:pPr indent="-2603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819"/>
              <a:buChar char="•"/>
            </a:pPr>
            <a:r>
              <a:rPr lang="en-US" sz="1820"/>
              <a:t>Protocol type of </a:t>
            </a:r>
            <a:r>
              <a:rPr lang="en-US" sz="1820">
                <a:solidFill>
                  <a:srgbClr val="7030A0"/>
                </a:solidFill>
              </a:rPr>
              <a:t>41.</a:t>
            </a:r>
            <a:endParaRPr sz="1450"/>
          </a:p>
          <a:p>
            <a:pPr indent="-2603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819"/>
              <a:buChar char="•"/>
            </a:pPr>
            <a:r>
              <a:rPr lang="en-US" sz="1820">
                <a:solidFill>
                  <a:srgbClr val="7030A0"/>
                </a:solidFill>
              </a:rPr>
              <a:t>20-byte IPv4 header </a:t>
            </a:r>
            <a:r>
              <a:rPr lang="en-US" sz="1820"/>
              <a:t>with no options.</a:t>
            </a:r>
            <a:endParaRPr sz="1450"/>
          </a:p>
          <a:p>
            <a:pPr indent="-2603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819"/>
              <a:buChar char="•"/>
            </a:pPr>
            <a:r>
              <a:rPr lang="en-US" sz="1820"/>
              <a:t>IPv6 header and payload.</a:t>
            </a:r>
            <a:endParaRPr sz="1450"/>
          </a:p>
          <a:p>
            <a:pPr indent="-2603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2819"/>
              <a:buChar char="•"/>
            </a:pPr>
            <a:r>
              <a:rPr lang="en-US" sz="1820"/>
              <a:t>Requires </a:t>
            </a:r>
            <a:r>
              <a:rPr lang="en-US" sz="1820">
                <a:solidFill>
                  <a:srgbClr val="7030A0"/>
                </a:solidFill>
              </a:rPr>
              <a:t>dual stacked </a:t>
            </a:r>
            <a:r>
              <a:rPr lang="en-US" sz="1820"/>
              <a:t>routers.</a:t>
            </a:r>
            <a:endParaRPr sz="1450"/>
          </a:p>
        </p:txBody>
      </p:sp>
      <p:pic>
        <p:nvPicPr>
          <p:cNvPr descr="ips66.jpg" id="664" name="Google Shape;66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1295401"/>
            <a:ext cx="8686800" cy="30019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5" name="Google Shape;665;p64"/>
          <p:cNvCxnSpPr/>
          <p:nvPr/>
        </p:nvCxnSpPr>
        <p:spPr>
          <a:xfrm>
            <a:off x="5410200" y="1905000"/>
            <a:ext cx="1295400" cy="0"/>
          </a:xfrm>
          <a:prstGeom prst="straightConnector1">
            <a:avLst/>
          </a:prstGeom>
          <a:noFill/>
          <a:ln cap="flat" cmpd="sng" w="50800">
            <a:solidFill>
              <a:srgbClr val="002060"/>
            </a:solidFill>
            <a:prstDash val="solid"/>
            <a:round/>
            <a:headEnd len="med" w="med" type="triangle"/>
            <a:tailEnd len="med" w="med" type="triangle"/>
          </a:ln>
          <a:effectLst>
            <a:outerShdw blurRad="63500" rotWithShape="0" algn="tl" dir="2700000" dist="38100">
              <a:srgbClr val="000000">
                <a:alpha val="76862"/>
              </a:srgbClr>
            </a:outerShdw>
          </a:effectLst>
        </p:spPr>
      </p:cxnSp>
      <p:sp>
        <p:nvSpPr>
          <p:cNvPr id="666" name="Google Shape;666;p64"/>
          <p:cNvSpPr/>
          <p:nvPr/>
        </p:nvSpPr>
        <p:spPr>
          <a:xfrm>
            <a:off x="3962400" y="3733800"/>
            <a:ext cx="3962400" cy="533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tl" dir="2700000" dist="38100">
              <a:srgbClr val="000000">
                <a:alpha val="3882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4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64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5"/>
          <p:cNvSpPr txBox="1"/>
          <p:nvPr>
            <p:ph type="title"/>
          </p:nvPr>
        </p:nvSpPr>
        <p:spPr>
          <a:xfrm>
            <a:off x="1587500" y="672922"/>
            <a:ext cx="10018713" cy="782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br>
              <a:rPr lang="en-US"/>
            </a:br>
            <a:r>
              <a:rPr lang="en-US">
                <a:solidFill>
                  <a:srgbClr val="000000"/>
                </a:solidFill>
              </a:rPr>
              <a:t>NAT Protocol Translation</a:t>
            </a:r>
            <a:br>
              <a:rPr lang="en-US"/>
            </a:br>
            <a:endParaRPr/>
          </a:p>
        </p:txBody>
      </p:sp>
      <p:sp>
        <p:nvSpPr>
          <p:cNvPr id="673" name="Google Shape;673;p65"/>
          <p:cNvSpPr txBox="1"/>
          <p:nvPr>
            <p:ph idx="1" type="body"/>
          </p:nvPr>
        </p:nvSpPr>
        <p:spPr>
          <a:xfrm>
            <a:off x="1587500" y="1612184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Important method of transition to IPv6 by means of a NAT-PT (Network Address Translation – Protocol Translation) enabled device.</a:t>
            </a:r>
            <a:endParaRPr/>
          </a:p>
        </p:txBody>
      </p:sp>
      <p:sp>
        <p:nvSpPr>
          <p:cNvPr descr="File:6to4.svg" id="674" name="Google Shape;674;p65"/>
          <p:cNvSpPr/>
          <p:nvPr/>
        </p:nvSpPr>
        <p:spPr>
          <a:xfrm>
            <a:off x="1587500" y="-136525"/>
            <a:ext cx="7620000" cy="5038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5" name="Google Shape;67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1650" y="2645586"/>
            <a:ext cx="6126481" cy="230362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65"/>
          <p:cNvSpPr/>
          <p:nvPr/>
        </p:nvSpPr>
        <p:spPr>
          <a:xfrm>
            <a:off x="1942448" y="5145133"/>
            <a:ext cx="84528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When the IPv4 host sends a request packet to the IPv6 server, the NAT-PT device/router strips down the IPv4 packet, removes IPv4 header, and adds IPv6 header and passes it through the Internet. When a response from the IPv6 server comes for the IPv4 host, the router does vice versa.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65"/>
          <p:cNvSpPr txBox="1"/>
          <p:nvPr/>
        </p:nvSpPr>
        <p:spPr>
          <a:xfrm>
            <a:off x="11183677" y="5887792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65</a:t>
            </a:r>
            <a:endParaRPr b="0" i="0" sz="1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66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2020-08-26T05:29:28Z</dcterms:created>
  <dc:creator>Mehnaz</dc:creator>
</cp:coreProperties>
</file>