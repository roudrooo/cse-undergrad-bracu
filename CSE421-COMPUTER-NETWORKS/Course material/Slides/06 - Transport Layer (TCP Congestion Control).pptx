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9144000"/>
  <p:embeddedFontLst>
    <p:embeddedFont>
      <p:font typeface="Corbel"/>
      <p:regular r:id="rId47"/>
      <p:bold r:id="rId48"/>
      <p:italic r:id="rId49"/>
      <p:boldItalic r:id="rId50"/>
    </p:embeddedFont>
    <p:embeddedFont>
      <p:font typeface="Tahoma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jfySJDxlkCfH+hnwqm+HeGHFIl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rbel-bold.fntdata"/><Relationship Id="rId47" Type="http://schemas.openxmlformats.org/officeDocument/2006/relationships/font" Target="fonts/Corbel-regular.fntdata"/><Relationship Id="rId49" Type="http://schemas.openxmlformats.org/officeDocument/2006/relationships/font" Target="fonts/Corbel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Tahoma-regular.fntdata"/><Relationship Id="rId50" Type="http://schemas.openxmlformats.org/officeDocument/2006/relationships/font" Target="fonts/Corbel-boldItalic.fntdata"/><Relationship Id="rId53" Type="http://customschemas.google.com/relationships/presentationmetadata" Target="metadata"/><Relationship Id="rId52" Type="http://schemas.openxmlformats.org/officeDocument/2006/relationships/font" Target="fonts/Tahom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150d89a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ce150d89a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e150d89ad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ce150d89ad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ce150d89a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e150d89ad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ce150d89ad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5de9f434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c5de9f434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5de9f4346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c5de9f4346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5de9f434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c5de9f4346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5de9f434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c5de9f434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5de9f4346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g3c5de9f4346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g3c5de9f434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0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geeksforgeeks.org/computer-networks/what-is-ecnexplicit-congestion-notification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ctrTitle"/>
          </p:nvPr>
        </p:nvSpPr>
        <p:spPr>
          <a:xfrm>
            <a:off x="3107201" y="132394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(TCP Congestion Control)</a:t>
            </a:r>
            <a:endParaRPr/>
          </a:p>
        </p:txBody>
      </p:sp>
      <p:sp>
        <p:nvSpPr>
          <p:cNvPr id="139" name="Google Shape;139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6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0" name="Google Shape;1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e150d89ad_0_0"/>
          <p:cNvSpPr txBox="1"/>
          <p:nvPr>
            <p:ph type="title"/>
          </p:nvPr>
        </p:nvSpPr>
        <p:spPr>
          <a:xfrm>
            <a:off x="1924103" y="292025"/>
            <a:ext cx="7366500" cy="15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/>
              <a:t>Subnet</a:t>
            </a:r>
            <a:endParaRPr/>
          </a:p>
        </p:txBody>
      </p:sp>
      <p:sp>
        <p:nvSpPr>
          <p:cNvPr id="146" name="Google Shape;146;g3ce150d89ad_0_0"/>
          <p:cNvSpPr txBox="1"/>
          <p:nvPr>
            <p:ph idx="1" type="body"/>
          </p:nvPr>
        </p:nvSpPr>
        <p:spPr>
          <a:xfrm>
            <a:off x="1183100" y="1475425"/>
            <a:ext cx="10018800" cy="22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/>
              <a:t>A subnet, or subnetwork, is a logical subdivision of an IP network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</a:pPr>
            <a:r>
              <a:rPr lang="en-US"/>
              <a:t>Divides a large network into smaller and secure segments</a:t>
            </a:r>
            <a:endParaRPr/>
          </a:p>
        </p:txBody>
      </p:sp>
      <p:pic>
        <p:nvPicPr>
          <p:cNvPr id="147" name="Google Shape;147;g3ce150d89a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100" y="3707725"/>
            <a:ext cx="4367870" cy="237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ce150d89ad_0_0"/>
          <p:cNvSpPr txBox="1"/>
          <p:nvPr>
            <p:ph idx="1" type="body"/>
          </p:nvPr>
        </p:nvSpPr>
        <p:spPr>
          <a:xfrm>
            <a:off x="6096000" y="3707725"/>
            <a:ext cx="5874900" cy="30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Each IP address has  two parts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Network and host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 create a subnet, a </a:t>
            </a:r>
            <a:r>
              <a:rPr b="1" lang="en-US" sz="1800"/>
              <a:t>subnet mask</a:t>
            </a:r>
            <a:r>
              <a:rPr lang="en-US" sz="1800"/>
              <a:t> is used.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This is a </a:t>
            </a:r>
            <a:r>
              <a:rPr b="1" lang="en-US" sz="1800"/>
              <a:t>32-bit number </a:t>
            </a:r>
            <a:r>
              <a:rPr lang="en-US" sz="1800"/>
              <a:t>(like 255.255.255.0)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that tells a router which part of the IP address is for the network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which part is for the individual device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When devices are in the same subnet, they can communicate directly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if they are in different subnets, their data must pass through a router</a:t>
            </a:r>
            <a:endParaRPr sz="1800"/>
          </a:p>
        </p:txBody>
      </p:sp>
      <p:sp>
        <p:nvSpPr>
          <p:cNvPr id="149" name="Google Shape;149;g3ce150d89ad_0_0"/>
          <p:cNvSpPr txBox="1"/>
          <p:nvPr/>
        </p:nvSpPr>
        <p:spPr>
          <a:xfrm>
            <a:off x="6317775" y="3150975"/>
            <a:ext cx="3023700" cy="417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How Subnet is created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905000" y="137160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Congestion occurs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load on the network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&gt;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capacity of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2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1828800" y="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1281437" y="3230549"/>
            <a:ext cx="5305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sent to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6586925" y="2963864"/>
            <a:ext cx="5487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a network can handle.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2590800" y="2057400"/>
            <a:ext cx="10668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7924800" y="2133600"/>
            <a:ext cx="16764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2" name="Google Shape;1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577" y="3905250"/>
            <a:ext cx="6709851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"/>
          <p:cNvSpPr txBox="1"/>
          <p:nvPr/>
        </p:nvSpPr>
        <p:spPr>
          <a:xfrm>
            <a:off x="7924800" y="5296500"/>
            <a:ext cx="1262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151700" y="3657600"/>
            <a:ext cx="4494600" cy="11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Store packets when a</a:t>
            </a:r>
            <a:r>
              <a:rPr b="1"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rrival rate &gt; processing rate</a:t>
            </a:r>
            <a:endParaRPr b="1" sz="1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 the buffer fills up, </a:t>
            </a:r>
            <a:r>
              <a:rPr b="1"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new incoming packets are dropped.</a:t>
            </a:r>
            <a:endParaRPr b="1" sz="1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65" name="Google Shape;165;p2"/>
          <p:cNvCxnSpPr>
            <a:stCxn id="164" idx="3"/>
          </p:cNvCxnSpPr>
          <p:nvPr/>
        </p:nvCxnSpPr>
        <p:spPr>
          <a:xfrm>
            <a:off x="4646300" y="4229100"/>
            <a:ext cx="405600" cy="48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" name="Google Shape;166;p2"/>
          <p:cNvSpPr txBox="1"/>
          <p:nvPr/>
        </p:nvSpPr>
        <p:spPr>
          <a:xfrm>
            <a:off x="93775" y="5034300"/>
            <a:ext cx="3880800" cy="150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Departure rate &lt; processing rate</a:t>
            </a:r>
            <a:r>
              <a:rPr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1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 the buffer becomes full, </a:t>
            </a:r>
            <a:r>
              <a:rPr b="1"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waiting packets are dropped.</a:t>
            </a:r>
            <a:endParaRPr b="1" sz="1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67" name="Google Shape;167;p2"/>
          <p:cNvCxnSpPr>
            <a:stCxn id="166" idx="3"/>
          </p:cNvCxnSpPr>
          <p:nvPr/>
        </p:nvCxnSpPr>
        <p:spPr>
          <a:xfrm flipH="1" rot="10800000">
            <a:off x="3974575" y="4647900"/>
            <a:ext cx="1019400" cy="1137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3"/>
          <p:cNvCxnSpPr/>
          <p:nvPr/>
        </p:nvCxnSpPr>
        <p:spPr>
          <a:xfrm>
            <a:off x="1676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3"/>
          <p:cNvSpPr txBox="1"/>
          <p:nvPr/>
        </p:nvSpPr>
        <p:spPr>
          <a:xfrm>
            <a:off x="1828800" y="481025"/>
            <a:ext cx="6536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Queues in a</a:t>
            </a:r>
            <a:r>
              <a:rPr lang="en-US" sz="44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714500"/>
            <a:ext cx="7761288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/>
          <p:nvPr/>
        </p:nvSpPr>
        <p:spPr>
          <a:xfrm>
            <a:off x="2057400" y="4350217"/>
            <a:ext cx="82296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arrival rate &gt; the  packet processing rate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input queues becomes longer and longer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departure rate &lt; the  packet processing rate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output queues becomes longer and longer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g3ce150d89ad_0_17"/>
          <p:cNvCxnSpPr/>
          <p:nvPr/>
        </p:nvCxnSpPr>
        <p:spPr>
          <a:xfrm>
            <a:off x="1676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g3ce150d89ad_0_17"/>
          <p:cNvSpPr txBox="1"/>
          <p:nvPr/>
        </p:nvSpPr>
        <p:spPr>
          <a:xfrm>
            <a:off x="1828800" y="481025"/>
            <a:ext cx="6536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Congestion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ce150d89ad_0_17"/>
          <p:cNvSpPr/>
          <p:nvPr/>
        </p:nvSpPr>
        <p:spPr>
          <a:xfrm>
            <a:off x="1622900" y="1798000"/>
            <a:ext cx="8664000" cy="44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Congestion occurs at the </a:t>
            </a:r>
            <a:r>
              <a:rPr b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Network Layer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(within the routers)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Controlled primarily at the </a:t>
            </a:r>
            <a:r>
              <a:rPr b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Transport Layer</a:t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Network Layer (the road) is where the traffic jam happens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Transport Layer (the driver) is the one who has to decide to slow down.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05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/>
              <a:t>Congestion Control Vs Flow Control</a:t>
            </a:r>
            <a:endParaRPr/>
          </a:p>
        </p:txBody>
      </p:sp>
      <p:sp>
        <p:nvSpPr>
          <p:cNvPr id="190" name="Google Shape;190;p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chemeClr val="accent1"/>
                </a:solidFill>
              </a:rPr>
              <a:t>Congestion control </a:t>
            </a:r>
            <a:r>
              <a:rPr lang="en-US"/>
              <a:t>try to make sure subnet can carry oﬀered traﬃc, a global issue involving all the hosts and routers.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It can be open-loop based or involving feedback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chemeClr val="accent1"/>
                </a:solidFill>
              </a:rPr>
              <a:t>Flow control </a:t>
            </a:r>
            <a:r>
              <a:rPr lang="en-US"/>
              <a:t>is related to point-to-point traﬃc between given sender and receiver.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it always involves direct feedback from receiver to sender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7" name="Google Shape;197;p4"/>
          <p:cNvGraphicFramePr/>
          <p:nvPr/>
        </p:nvGraphicFramePr>
        <p:xfrm>
          <a:off x="3829050" y="1438275"/>
          <a:ext cx="4324350" cy="3371850"/>
        </p:xfrm>
        <a:graphic>
          <a:graphicData uri="http://schemas.openxmlformats.org/presentationml/2006/ole">
            <mc:AlternateContent>
              <mc:Choice Requires="v">
                <p:oleObj r:id="rId4" imgH="3371850" imgW="4324350" progId="Paint.Picture" spid="_x0000_s1">
                  <p:embed/>
                </p:oleObj>
              </mc:Choice>
              <mc:Fallback>
                <p:oleObj r:id="rId5" imgH="3371850" imgW="4324350" progId="Paint.Picture">
                  <p:embed/>
                  <p:pic>
                    <p:nvPicPr>
                      <p:cNvPr id="197" name="Google Shape;197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29050" y="1438275"/>
                        <a:ext cx="4324350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" name="Google Shape;198;p4"/>
          <p:cNvSpPr/>
          <p:nvPr/>
        </p:nvSpPr>
        <p:spPr>
          <a:xfrm>
            <a:off x="82175" y="1566300"/>
            <a:ext cx="3684000" cy="220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Delay has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negative effect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on the load consequently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congestion.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8585175" y="570050"/>
            <a:ext cx="3359400" cy="38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●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 the start 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○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Load is low, 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○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Delay is very low and relatively flat.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●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 load increases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○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curve stays fairly stable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○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Because the routers' buffers are mostly empty 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○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can handle incoming packets immediately.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●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 we move closer to the </a:t>
            </a:r>
            <a:r>
              <a:rPr b="1"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Capacity line</a:t>
            </a:r>
            <a:endParaRPr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○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delay starts to curve upward. 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Char char="○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is because packets are starting to wait in the "Output Queues"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742500" y="5250175"/>
            <a:ext cx="1784100" cy="111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rbel"/>
                <a:ea typeface="Corbel"/>
                <a:cs typeface="Corbel"/>
                <a:sym typeface="Corbel"/>
              </a:rPr>
              <a:t>Delay Occurs</a:t>
            </a:r>
            <a:endParaRPr sz="20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188625" y="5250175"/>
            <a:ext cx="1784100" cy="111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rbel"/>
                <a:ea typeface="Corbel"/>
                <a:cs typeface="Corbel"/>
                <a:sym typeface="Corbel"/>
              </a:rPr>
              <a:t>The ACK can not reach the source </a:t>
            </a:r>
            <a:endParaRPr sz="20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5566025" y="5250175"/>
            <a:ext cx="1784100" cy="111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rbel"/>
                <a:ea typeface="Corbel"/>
                <a:cs typeface="Corbel"/>
                <a:sym typeface="Corbel"/>
              </a:rPr>
              <a:t>The ACK can not reach the source </a:t>
            </a:r>
            <a:endParaRPr sz="20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7886125" y="5250175"/>
            <a:ext cx="1784100" cy="111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rbel"/>
                <a:ea typeface="Corbel"/>
                <a:cs typeface="Corbel"/>
                <a:sym typeface="Corbel"/>
              </a:rPr>
              <a:t>Source retransmits</a:t>
            </a:r>
            <a:endParaRPr sz="20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10206225" y="5250175"/>
            <a:ext cx="1784100" cy="111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rbel"/>
                <a:ea typeface="Corbel"/>
                <a:cs typeface="Corbel"/>
                <a:sym typeface="Corbel"/>
              </a:rPr>
              <a:t>Congestion worsens.</a:t>
            </a:r>
            <a:endParaRPr sz="2000"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05" name="Google Shape;205;p4"/>
          <p:cNvCxnSpPr>
            <a:stCxn id="200" idx="3"/>
            <a:endCxn id="201" idx="1"/>
          </p:cNvCxnSpPr>
          <p:nvPr/>
        </p:nvCxnSpPr>
        <p:spPr>
          <a:xfrm>
            <a:off x="2526600" y="5806225"/>
            <a:ext cx="6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4"/>
          <p:cNvCxnSpPr/>
          <p:nvPr/>
        </p:nvCxnSpPr>
        <p:spPr>
          <a:xfrm>
            <a:off x="4972725" y="5806225"/>
            <a:ext cx="5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4"/>
          <p:cNvCxnSpPr>
            <a:stCxn id="203" idx="3"/>
            <a:endCxn id="204" idx="1"/>
          </p:cNvCxnSpPr>
          <p:nvPr/>
        </p:nvCxnSpPr>
        <p:spPr>
          <a:xfrm>
            <a:off x="9670225" y="5806225"/>
            <a:ext cx="53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4"/>
          <p:cNvCxnSpPr>
            <a:stCxn id="202" idx="3"/>
          </p:cNvCxnSpPr>
          <p:nvPr/>
        </p:nvCxnSpPr>
        <p:spPr>
          <a:xfrm>
            <a:off x="7350125" y="5806225"/>
            <a:ext cx="53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5"/>
          <p:cNvGraphicFramePr/>
          <p:nvPr/>
        </p:nvGraphicFramePr>
        <p:xfrm>
          <a:off x="994450" y="1424650"/>
          <a:ext cx="4838700" cy="3754438"/>
        </p:xfrm>
        <a:graphic>
          <a:graphicData uri="http://schemas.openxmlformats.org/presentationml/2006/ole">
            <mc:AlternateContent>
              <mc:Choice Requires="v">
                <p:oleObj r:id="rId4" imgH="3754438" imgW="4838700" progId="Paint.Picture" spid="_x0000_s1">
                  <p:embed/>
                </p:oleObj>
              </mc:Choice>
              <mc:Fallback>
                <p:oleObj r:id="rId5" imgH="3754438" imgW="4838700" progId="Paint.Picture">
                  <p:embed/>
                  <p:pic>
                    <p:nvPicPr>
                      <p:cNvPr id="213" name="Google Shape;213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94450" y="1424650"/>
                        <a:ext cx="4838700" cy="375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" name="Google Shape;214;p5"/>
          <p:cNvSpPr/>
          <p:nvPr/>
        </p:nvSpPr>
        <p:spPr>
          <a:xfrm>
            <a:off x="6096000" y="1591600"/>
            <a:ext cx="59067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does the throughput sharply decline after the load reaches capacity instead of remaining constant?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66975" y="3800725"/>
            <a:ext cx="5764751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 txBox="1"/>
          <p:nvPr>
            <p:ph type="title"/>
          </p:nvPr>
        </p:nvSpPr>
        <p:spPr>
          <a:xfrm>
            <a:off x="1484310" y="1905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Congestion Control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1752599" y="1600201"/>
            <a:ext cx="975042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What is Congestion Control?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mechanisms and techniques to control the congestion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keep the load below the capacity.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752600" y="4143375"/>
            <a:ext cx="9750422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Two categories of Congestion Control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Open Loop  (Prevention)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Closed Loop ( Removal)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828801"/>
            <a:ext cx="79248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Control Categories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ctrTitle"/>
          </p:nvPr>
        </p:nvSpPr>
        <p:spPr>
          <a:xfrm>
            <a:off x="3425822" y="1550894"/>
            <a:ext cx="8077200" cy="244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1360475" y="123825"/>
            <a:ext cx="100860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700"/>
              <a:t>Open Loop Congestion Control</a:t>
            </a:r>
            <a:endParaRPr b="1" sz="4700"/>
          </a:p>
        </p:txBody>
      </p:sp>
      <p:sp>
        <p:nvSpPr>
          <p:cNvPr id="242" name="Google Shape;242;p19"/>
          <p:cNvSpPr/>
          <p:nvPr/>
        </p:nvSpPr>
        <p:spPr>
          <a:xfrm>
            <a:off x="1752600" y="1447800"/>
            <a:ext cx="9839400" cy="4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Proactive method</a:t>
            </a:r>
            <a:endParaRPr b="0" i="0" sz="2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Prevent congestion from occurring in the first place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816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▪"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Good network design and strict rules are introduced.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31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do not monitor the network's current state to make changes.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e150d89ad_0_42"/>
          <p:cNvSpPr txBox="1"/>
          <p:nvPr>
            <p:ph type="title"/>
          </p:nvPr>
        </p:nvSpPr>
        <p:spPr>
          <a:xfrm>
            <a:off x="1360486" y="123825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48" name="Google Shape;248;g3ce150d89ad_0_42"/>
          <p:cNvSpPr/>
          <p:nvPr/>
        </p:nvSpPr>
        <p:spPr>
          <a:xfrm>
            <a:off x="1752599" y="1447800"/>
            <a:ext cx="98394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Retransmission /Window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9276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Retransmission in general increases congestion. (Example-later)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9276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Go-Back N ARQ window vs Selective Repeat window.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ce150d89ad_0_42"/>
          <p:cNvSpPr/>
          <p:nvPr/>
        </p:nvSpPr>
        <p:spPr>
          <a:xfrm>
            <a:off x="1752600" y="4114800"/>
            <a:ext cx="98394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Acknowledgement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006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a receiver sends an ACK for every single packet, it adds traffic and results in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congestion.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4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protocol can be designed to reduce the number of acknowledgements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148431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1752600" y="1447800"/>
            <a:ext cx="98394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Discarding Policy:</a:t>
            </a:r>
            <a:endParaRPr b="0" i="0" sz="24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196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good policy by routers may prevent congestion and at the same time may not harm the integrity of the transmission.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196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▪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ex: Routers can choose to discard less important packets (like low-priority video data) to keep high-priority data (like routing info) moving.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1752600" y="3779820"/>
            <a:ext cx="9750300" cy="29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207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Admission Policy: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9276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Check resource requirement before sending packet.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9276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"gatekeeper" approach. If the network is already busy, it simply refuses to let new connections start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Closed Loop</a:t>
            </a:r>
            <a:endParaRPr/>
          </a:p>
        </p:txBody>
      </p:sp>
      <p:sp>
        <p:nvSpPr>
          <p:cNvPr id="262" name="Google Shape;262;p2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950" y="1828800"/>
            <a:ext cx="85280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/>
          <p:nvPr/>
        </p:nvSpPr>
        <p:spPr>
          <a:xfrm>
            <a:off x="1758950" y="375000"/>
            <a:ext cx="5085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Backpressure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2057400" y="3886200"/>
            <a:ext cx="882015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Hop by hop congestion control.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node stops receiving data from upstream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Upstream nodes may get congested, they in turn reject data from their upstream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in Virtual Circuits.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 rot="2700000">
            <a:off x="6915551" y="317440"/>
            <a:ext cx="1248609" cy="190452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50" lIns="85050" spcFirstLastPara="1" rIns="85050" wrap="square" tIns="85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2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2" name="Google Shape;272;p22"/>
          <p:cNvSpPr/>
          <p:nvPr/>
        </p:nvSpPr>
        <p:spPr>
          <a:xfrm rot="-2533314">
            <a:off x="6937708" y="998161"/>
            <a:ext cx="1317403" cy="438354"/>
          </a:xfrm>
          <a:prstGeom prst="rect">
            <a:avLst/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50" lIns="85050" spcFirstLastPara="1" rIns="85050" wrap="square" tIns="85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2">
                <a:latin typeface="Corbel"/>
                <a:ea typeface="Corbel"/>
                <a:cs typeface="Corbel"/>
                <a:sym typeface="Corbel"/>
              </a:rPr>
              <a:t>buffers are full, congestion</a:t>
            </a:r>
            <a:endParaRPr sz="1302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975" y="1194750"/>
            <a:ext cx="8528048" cy="233838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Choke packet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250225" y="408855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a router to source directly.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Immediate nodes are not warned.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ICMP-source quench message. Immediate routers take no action.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6125" y="3860025"/>
            <a:ext cx="5252299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 txBox="1"/>
          <p:nvPr>
            <p:ph type="title"/>
          </p:nvPr>
        </p:nvSpPr>
        <p:spPr>
          <a:xfrm>
            <a:off x="1495900" y="361425"/>
            <a:ext cx="100188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Implicit Signaling</a:t>
            </a:r>
            <a:endParaRPr/>
          </a:p>
        </p:txBody>
      </p:sp>
      <p:sp>
        <p:nvSpPr>
          <p:cNvPr id="287" name="Google Shape;287;p24"/>
          <p:cNvSpPr txBox="1"/>
          <p:nvPr>
            <p:ph idx="1" type="body"/>
          </p:nvPr>
        </p:nvSpPr>
        <p:spPr>
          <a:xfrm>
            <a:off x="904675" y="1531550"/>
            <a:ext cx="10970400" cy="50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10000"/>
          </a:bodyPr>
          <a:lstStyle/>
          <a:p>
            <a:pPr indent="-357044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1562"/>
              <a:buChar char="•"/>
            </a:pPr>
            <a:r>
              <a:rPr b="1" lang="en-US" sz="3200"/>
              <a:t>No communication between the congested node or nodes and the source</a:t>
            </a:r>
            <a:r>
              <a:rPr lang="en-US" sz="3200"/>
              <a:t>.</a:t>
            </a:r>
            <a:endParaRPr/>
          </a:p>
          <a:p>
            <a:pPr indent="-357044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1562"/>
              <a:buChar char="•"/>
            </a:pPr>
            <a:r>
              <a:rPr lang="en-US" sz="3200"/>
              <a:t>Source </a:t>
            </a:r>
            <a:r>
              <a:rPr b="1" lang="en-US" sz="3200"/>
              <a:t>guesses</a:t>
            </a:r>
            <a:r>
              <a:rPr lang="en-US" sz="3200"/>
              <a:t> congestion by:</a:t>
            </a:r>
            <a:endParaRPr/>
          </a:p>
          <a:p>
            <a:pPr indent="-357044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214"/>
              <a:buChar char="▪"/>
            </a:pPr>
            <a:r>
              <a:rPr i="1" lang="en-US" sz="2800" u="sng"/>
              <a:t>No acknowledgement for sent packets</a:t>
            </a:r>
            <a:endParaRPr i="1" sz="2800" u="sng"/>
          </a:p>
          <a:p>
            <a:pPr indent="-366394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If the timer runs out (Timeout) and no ACK has arrived, the sender assumes the packet was dropped. </a:t>
            </a:r>
            <a:endParaRPr sz="2800"/>
          </a:p>
          <a:p>
            <a:pPr indent="-366394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In modern networks, the most common reason for a dropped packet is that a router's buffer was full. Therefore, </a:t>
            </a:r>
            <a:endParaRPr sz="2800"/>
          </a:p>
          <a:p>
            <a:pPr indent="-366394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No ACK = Congestion.</a:t>
            </a:r>
            <a:endParaRPr sz="2800"/>
          </a:p>
          <a:p>
            <a:pPr indent="-357044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214"/>
              <a:buChar char="▪"/>
            </a:pPr>
            <a:r>
              <a:rPr i="1" lang="en-US" sz="2800" u="sng"/>
              <a:t>Delayed acknowledgements (Increased RTT)</a:t>
            </a:r>
            <a:endParaRPr i="1" sz="2800" u="sng"/>
          </a:p>
          <a:p>
            <a:pPr indent="-366394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The sender tracks the Round Trip Time (RTT)</a:t>
            </a:r>
            <a:endParaRPr sz="2800"/>
          </a:p>
          <a:p>
            <a:pPr indent="-366394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As routers become busy, packets sit in queues longer. If the RTT starts climbing (e.g., from 20ms to 200ms)</a:t>
            </a:r>
            <a:endParaRPr sz="2800"/>
          </a:p>
          <a:p>
            <a:pPr indent="-366394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The sender knows the "pipes" are getting full and slows down before packets actually start dropping.</a:t>
            </a:r>
            <a:endParaRPr sz="3200"/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>
            <p:ph type="title"/>
          </p:nvPr>
        </p:nvSpPr>
        <p:spPr>
          <a:xfrm>
            <a:off x="1484263" y="373025"/>
            <a:ext cx="10018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Explicit Signaling</a:t>
            </a:r>
            <a:endParaRPr/>
          </a:p>
        </p:txBody>
      </p:sp>
      <p:sp>
        <p:nvSpPr>
          <p:cNvPr id="293" name="Google Shape;293;p25"/>
          <p:cNvSpPr txBox="1"/>
          <p:nvPr>
            <p:ph idx="1" type="body"/>
          </p:nvPr>
        </p:nvSpPr>
        <p:spPr>
          <a:xfrm>
            <a:off x="1658060" y="20761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The node experiencing congestion sends signal to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Not a separate packet like the “choke”packet.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Signal included in the data packet itself.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Can be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Backward Signaling-Source warned, slows data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Forward Signaling-Receiver warned, slows acks.  </a:t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7693175" y="5783075"/>
            <a:ext cx="3243600" cy="40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Read more at : </a:t>
            </a:r>
            <a:r>
              <a:rPr lang="en-US" u="sng">
                <a:solidFill>
                  <a:schemeClr val="hlink"/>
                </a:solidFill>
                <a:latin typeface="Corbel"/>
                <a:ea typeface="Corbel"/>
                <a:cs typeface="Corbel"/>
                <a:sym typeface="Corbel"/>
                <a:hlinkClick r:id="rId3"/>
              </a:rPr>
              <a:t>ECN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Congestion Control in TCP</a:t>
            </a:r>
            <a:endParaRPr/>
          </a:p>
        </p:txBody>
      </p:sp>
      <p:sp>
        <p:nvSpPr>
          <p:cNvPr id="300" name="Google Shape;300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3239" y="1123950"/>
            <a:ext cx="8613775" cy="271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1653988" y="165847"/>
            <a:ext cx="955189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Sender Window (Review)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1905000" y="4419600"/>
            <a:ext cx="8458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Sender Window Size is dictated by the receiver window.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sender window size is determined by the available buffer space in the receiver (rwnd).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/>
        </p:nvSpPr>
        <p:spPr>
          <a:xfrm>
            <a:off x="1618129" y="219635"/>
            <a:ext cx="98208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Receiver Window (Review)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076325"/>
            <a:ext cx="7824788" cy="525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Normal Flow Control (Review)</a:t>
            </a:r>
            <a:endParaRPr/>
          </a:p>
        </p:txBody>
      </p:sp>
      <p:pic>
        <p:nvPicPr>
          <p:cNvPr id="321" name="Google Shape;3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219201"/>
            <a:ext cx="5791200" cy="5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Window</a:t>
            </a:r>
            <a:endParaRPr/>
          </a:p>
        </p:txBody>
      </p:sp>
      <p:sp>
        <p:nvSpPr>
          <p:cNvPr id="327" name="Google Shape;327;p46"/>
          <p:cNvSpPr txBox="1"/>
          <p:nvPr>
            <p:ph idx="1" type="body"/>
          </p:nvPr>
        </p:nvSpPr>
        <p:spPr>
          <a:xfrm>
            <a:off x="1484310" y="199072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Today, TCP protocols include that the sender’s window size is not only determined by the receiver but also by congestion in the network.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Windows Size of TCP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Minimum of rwnd and cwnd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Where rwnd is the receiver advertised window size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And cwnd is the networks congestion window size</a:t>
            </a:r>
            <a:endParaRPr/>
          </a:p>
        </p:txBody>
      </p:sp>
      <p:sp>
        <p:nvSpPr>
          <p:cNvPr id="328" name="Google Shape;328;p46"/>
          <p:cNvSpPr/>
          <p:nvPr/>
        </p:nvSpPr>
        <p:spPr>
          <a:xfrm>
            <a:off x="2113867" y="5239543"/>
            <a:ext cx="8001000" cy="519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Actual window size = minimum of (rwnd,cwnd)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6"/>
          <p:cNvSpPr/>
          <p:nvPr/>
        </p:nvSpPr>
        <p:spPr>
          <a:xfrm>
            <a:off x="1993625" y="6084250"/>
            <a:ext cx="8190300" cy="519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Congestion Window (cwnd) in TCP is a </a:t>
            </a:r>
            <a:r>
              <a:rPr b="1" lang="en-US" u="sng">
                <a:latin typeface="Corbel"/>
                <a:ea typeface="Corbel"/>
                <a:cs typeface="Corbel"/>
                <a:sym typeface="Corbel"/>
              </a:rPr>
              <a:t>sender-side state variable</a:t>
            </a:r>
            <a:endParaRPr b="1" u="sng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It dictates how much data can be transmitted before receiving an ACK, calculated as 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5de9f4346_0_0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RWND and CWND</a:t>
            </a:r>
            <a:endParaRPr/>
          </a:p>
        </p:txBody>
      </p:sp>
      <p:pic>
        <p:nvPicPr>
          <p:cNvPr id="335" name="Google Shape;335;g3c5de9f434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775" y="2267525"/>
            <a:ext cx="8537351" cy="3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341" name="Google Shape;341;p4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TCP does congestion control in </a:t>
            </a:r>
            <a:r>
              <a:rPr lang="en-US" sz="4000">
                <a:solidFill>
                  <a:schemeClr val="accent1"/>
                </a:solidFill>
              </a:rPr>
              <a:t>three phases: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Slow Start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Avoidance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Detection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5de9f4346_0_8"/>
          <p:cNvSpPr txBox="1"/>
          <p:nvPr>
            <p:ph type="title"/>
          </p:nvPr>
        </p:nvSpPr>
        <p:spPr>
          <a:xfrm>
            <a:off x="1484300" y="199250"/>
            <a:ext cx="100188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Congestion Principles</a:t>
            </a:r>
            <a:endParaRPr/>
          </a:p>
        </p:txBody>
      </p:sp>
      <p:sp>
        <p:nvSpPr>
          <p:cNvPr id="347" name="Google Shape;347;g3c5de9f4346_0_8"/>
          <p:cNvSpPr txBox="1"/>
          <p:nvPr>
            <p:ph idx="1" type="body"/>
          </p:nvPr>
        </p:nvSpPr>
        <p:spPr>
          <a:xfrm>
            <a:off x="1124775" y="1380950"/>
            <a:ext cx="10889400" cy="53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If we get the ACK of a sent Segment within the RTO,</a:t>
            </a:r>
            <a:endParaRPr sz="40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 means the network is not congested. </a:t>
            </a:r>
            <a:endParaRPr sz="40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So, we send data at a higher rate, i.e (</a:t>
            </a:r>
            <a:r>
              <a:rPr b="1" lang="en-US" sz="4000"/>
              <a:t>increase the CWND</a:t>
            </a:r>
            <a:r>
              <a:rPr lang="en-US" sz="4000"/>
              <a:t>)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5de9f4346_0_13"/>
          <p:cNvSpPr txBox="1"/>
          <p:nvPr>
            <p:ph type="title"/>
          </p:nvPr>
        </p:nvSpPr>
        <p:spPr>
          <a:xfrm>
            <a:off x="1484300" y="199250"/>
            <a:ext cx="100188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Congestion Principles</a:t>
            </a:r>
            <a:endParaRPr/>
          </a:p>
        </p:txBody>
      </p:sp>
      <p:sp>
        <p:nvSpPr>
          <p:cNvPr id="353" name="Google Shape;353;g3c5de9f4346_0_13"/>
          <p:cNvSpPr txBox="1"/>
          <p:nvPr>
            <p:ph idx="1" type="body"/>
          </p:nvPr>
        </p:nvSpPr>
        <p:spPr>
          <a:xfrm>
            <a:off x="1124775" y="1380950"/>
            <a:ext cx="10889400" cy="53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Lost Segment     indicates    Congestion</a:t>
            </a:r>
            <a:endParaRPr sz="4000"/>
          </a:p>
          <a:p>
            <a:pPr indent="-482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Lost Segment can be identified in two ways</a:t>
            </a:r>
            <a:endParaRPr sz="4000"/>
          </a:p>
          <a:p>
            <a:pPr indent="-4826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Time out (Major congestion)</a:t>
            </a:r>
            <a:endParaRPr sz="4000"/>
          </a:p>
          <a:p>
            <a:pPr indent="-4826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3 Duplicate ACK (Minor Congestion)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4000" u="sng">
                <a:highlight>
                  <a:srgbClr val="FF9900"/>
                </a:highlight>
              </a:rPr>
              <a:t>What happens after Congestion is detected ?</a:t>
            </a:r>
            <a:endParaRPr sz="4000" u="sng">
              <a:highlight>
                <a:srgbClr val="FF9900"/>
              </a:highlight>
            </a:endParaRPr>
          </a:p>
          <a:p>
            <a:pPr indent="-482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Send data at a lower rate i.e (</a:t>
            </a:r>
            <a:r>
              <a:rPr b="1" lang="en-US" sz="4000"/>
              <a:t>reduce the CWND</a:t>
            </a:r>
            <a:r>
              <a:rPr lang="en-US" sz="4000"/>
              <a:t>)</a:t>
            </a:r>
            <a:endParaRPr sz="40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5de9f4346_0_18"/>
          <p:cNvSpPr txBox="1"/>
          <p:nvPr>
            <p:ph type="title"/>
          </p:nvPr>
        </p:nvSpPr>
        <p:spPr>
          <a:xfrm>
            <a:off x="1484300" y="199250"/>
            <a:ext cx="100188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Congestion Overall Strategy</a:t>
            </a:r>
            <a:endParaRPr/>
          </a:p>
        </p:txBody>
      </p:sp>
      <p:sp>
        <p:nvSpPr>
          <p:cNvPr id="359" name="Google Shape;359;g3c5de9f4346_0_18"/>
          <p:cNvSpPr txBox="1"/>
          <p:nvPr>
            <p:ph idx="1" type="body"/>
          </p:nvPr>
        </p:nvSpPr>
        <p:spPr>
          <a:xfrm>
            <a:off x="1124775" y="1380950"/>
            <a:ext cx="10889400" cy="53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82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Increase Transmission rate in response to arriving ACKs until a loss event occurs</a:t>
            </a:r>
            <a:endParaRPr sz="40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482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If loss event occurs, decrease the transmission rate.</a:t>
            </a:r>
            <a:endParaRPr sz="40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9"/>
          <p:cNvSpPr txBox="1"/>
          <p:nvPr>
            <p:ph type="title"/>
          </p:nvPr>
        </p:nvSpPr>
        <p:spPr>
          <a:xfrm>
            <a:off x="1484300" y="685800"/>
            <a:ext cx="10018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Slow Start</a:t>
            </a:r>
            <a:endParaRPr/>
          </a:p>
        </p:txBody>
      </p:sp>
      <p:sp>
        <p:nvSpPr>
          <p:cNvPr id="365" name="Google Shape;365;p49"/>
          <p:cNvSpPr txBox="1"/>
          <p:nvPr>
            <p:ph idx="1" type="body"/>
          </p:nvPr>
        </p:nvSpPr>
        <p:spPr>
          <a:xfrm>
            <a:off x="2057400" y="1600200"/>
            <a:ext cx="7772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i="1" lang="en-US"/>
              <a:t>cwnd</a:t>
            </a:r>
            <a:r>
              <a:rPr lang="en-US"/>
              <a:t> starts with one maximum segment size(MSS).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determined during connection establishment.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increases exponentially after each acknowledgement.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sp>
        <p:nvSpPr>
          <p:cNvPr id="366" name="Google Shape;366;p49"/>
          <p:cNvSpPr/>
          <p:nvPr/>
        </p:nvSpPr>
        <p:spPr>
          <a:xfrm>
            <a:off x="1877775" y="4786775"/>
            <a:ext cx="8977800" cy="1575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rbel"/>
                <a:ea typeface="Corbel"/>
                <a:cs typeface="Corbel"/>
                <a:sym typeface="Corbel"/>
              </a:rPr>
              <a:t>TCP Maximum Segment Size (MSS) defines the </a:t>
            </a:r>
            <a:r>
              <a:rPr b="1" lang="en-US" sz="1700">
                <a:latin typeface="Corbel"/>
                <a:ea typeface="Corbel"/>
                <a:cs typeface="Corbel"/>
                <a:sym typeface="Corbel"/>
              </a:rPr>
              <a:t>largest amount of data, in bytes, that a device can receive in a single TCP segment</a:t>
            </a:r>
            <a:r>
              <a:rPr lang="en-US" sz="1700">
                <a:latin typeface="Corbel"/>
                <a:ea typeface="Corbel"/>
                <a:cs typeface="Corbel"/>
                <a:sym typeface="Corbel"/>
              </a:rPr>
              <a:t>, excluding the TCP and IP headers</a:t>
            </a:r>
            <a:endParaRPr sz="17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rbel"/>
                <a:ea typeface="Corbel"/>
                <a:cs typeface="Corbel"/>
                <a:sym typeface="Corbel"/>
              </a:rPr>
              <a:t>It is negotiated during the TCP three-way handshake (SYN packets) to ensure data fits within the network's Maximum Transmission Unit (MTU)</a:t>
            </a:r>
            <a:endParaRPr sz="17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Google Shape;372;p52"/>
          <p:cNvCxnSpPr/>
          <p:nvPr/>
        </p:nvCxnSpPr>
        <p:spPr>
          <a:xfrm>
            <a:off x="1905000" y="40386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52"/>
          <p:cNvCxnSpPr/>
          <p:nvPr/>
        </p:nvCxnSpPr>
        <p:spPr>
          <a:xfrm>
            <a:off x="1905000" y="6248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52"/>
          <p:cNvSpPr/>
          <p:nvPr/>
        </p:nvSpPr>
        <p:spPr>
          <a:xfrm>
            <a:off x="1981200" y="4112449"/>
            <a:ext cx="8077200" cy="206210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slow-start algorithm, the size of the congestion window increases exponentially until it reaches a threshold.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2"/>
          <p:cNvSpPr txBox="1"/>
          <p:nvPr/>
        </p:nvSpPr>
        <p:spPr>
          <a:xfrm>
            <a:off x="2057400" y="1447800"/>
            <a:ext cx="8798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Assumptions: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73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○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rwnd&gt;cwnd , so sender window=cwnd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73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○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is acknowledged individually.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2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1" y="1600200"/>
            <a:ext cx="61499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0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0"/>
          <p:cNvSpPr/>
          <p:nvPr/>
        </p:nvSpPr>
        <p:spPr>
          <a:xfrm>
            <a:off x="8881400" y="4355900"/>
            <a:ext cx="2917500" cy="111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In TCP congestion control: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A round = sending all segments allowed by cwnd.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5" name="Google Shape;385;p50"/>
          <p:cNvSpPr/>
          <p:nvPr/>
        </p:nvSpPr>
        <p:spPr>
          <a:xfrm>
            <a:off x="8881400" y="2006050"/>
            <a:ext cx="3225600" cy="15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latin typeface="Corbel"/>
                <a:ea typeface="Corbel"/>
                <a:cs typeface="Corbel"/>
                <a:sym typeface="Corbel"/>
              </a:rPr>
              <a:t>Assumptions:</a:t>
            </a:r>
            <a:r>
              <a:rPr lang="en-US">
                <a:latin typeface="Corbel"/>
                <a:ea typeface="Corbel"/>
                <a:cs typeface="Corbel"/>
                <a:sym typeface="Corbel"/>
              </a:rPr>
              <a:t> 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each segment is of the same size 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carries MSS bytes. 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Ignore the delayed-ACK policy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each segment is acknowledged individually. 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1" name="Google Shape;391;p53"/>
          <p:cNvCxnSpPr/>
          <p:nvPr/>
        </p:nvCxnSpPr>
        <p:spPr>
          <a:xfrm>
            <a:off x="2428875" y="4449762"/>
            <a:ext cx="84582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53"/>
          <p:cNvCxnSpPr/>
          <p:nvPr/>
        </p:nvCxnSpPr>
        <p:spPr>
          <a:xfrm>
            <a:off x="2352675" y="6583362"/>
            <a:ext cx="85344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53"/>
          <p:cNvSpPr/>
          <p:nvPr/>
        </p:nvSpPr>
        <p:spPr>
          <a:xfrm>
            <a:off x="2314575" y="4627562"/>
            <a:ext cx="8610600" cy="1816100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Sender keeps track of a variable named </a:t>
            </a:r>
            <a:r>
              <a:rPr b="1" i="1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window reaches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next phase starts.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implementation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65,535 bytes.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990600"/>
            <a:ext cx="6324600" cy="333533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3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" name="Google Shape;401;p54"/>
          <p:cNvCxnSpPr/>
          <p:nvPr/>
        </p:nvCxnSpPr>
        <p:spPr>
          <a:xfrm>
            <a:off x="1981200" y="22860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54"/>
          <p:cNvCxnSpPr/>
          <p:nvPr/>
        </p:nvCxnSpPr>
        <p:spPr>
          <a:xfrm>
            <a:off x="1982788" y="4495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54"/>
          <p:cNvSpPr/>
          <p:nvPr/>
        </p:nvSpPr>
        <p:spPr>
          <a:xfrm>
            <a:off x="2019300" y="2378076"/>
            <a:ext cx="8077200" cy="206216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algorithm, the size of the congestion window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increases additively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until 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congestion is detected.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14" y="1476376"/>
            <a:ext cx="5856287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5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7" name="Google Shape;417;g3c5de9f4346_0_25"/>
          <p:cNvCxnSpPr/>
          <p:nvPr/>
        </p:nvCxnSpPr>
        <p:spPr>
          <a:xfrm>
            <a:off x="2428875" y="4449762"/>
            <a:ext cx="8458200" cy="459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g3c5de9f4346_0_25"/>
          <p:cNvCxnSpPr/>
          <p:nvPr/>
        </p:nvCxnSpPr>
        <p:spPr>
          <a:xfrm>
            <a:off x="2352675" y="6583362"/>
            <a:ext cx="8534400" cy="459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g3c5de9f4346_0_25"/>
          <p:cNvSpPr/>
          <p:nvPr/>
        </p:nvSpPr>
        <p:spPr>
          <a:xfrm>
            <a:off x="2314575" y="4627562"/>
            <a:ext cx="8610600" cy="1816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In the CA phase we also </a:t>
            </a:r>
            <a:r>
              <a:rPr lang="en-US" sz="1900">
                <a:solidFill>
                  <a:schemeClr val="dk1"/>
                </a:solidFill>
              </a:rPr>
              <a:t>increase</a:t>
            </a:r>
            <a:r>
              <a:rPr lang="en-US" sz="1900">
                <a:solidFill>
                  <a:schemeClr val="dk1"/>
                </a:solidFill>
              </a:rPr>
              <a:t> the CWND. This may lead to congestion in the network. This leads us to congestion Detection phase. Congestion Detection have two categories: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Detection by </a:t>
            </a:r>
            <a:r>
              <a:rPr lang="en-US" sz="1900">
                <a:solidFill>
                  <a:schemeClr val="dk1"/>
                </a:solidFill>
                <a:highlight>
                  <a:srgbClr val="FFFF00"/>
                </a:highlight>
              </a:rPr>
              <a:t>Time-out</a:t>
            </a:r>
            <a:endParaRPr sz="1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Detection by </a:t>
            </a:r>
            <a:r>
              <a:rPr lang="en-US" sz="1900">
                <a:solidFill>
                  <a:schemeClr val="dk1"/>
                </a:solidFill>
                <a:highlight>
                  <a:srgbClr val="FFFF00"/>
                </a:highlight>
              </a:rPr>
              <a:t>3-Duplicate ACKs</a:t>
            </a:r>
            <a:endParaRPr sz="1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420" name="Google Shape;420;g3c5de9f4346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990600"/>
            <a:ext cx="6324599" cy="333533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c5de9f4346_0_25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u="sng">
                <a:solidFill>
                  <a:schemeClr val="accent1"/>
                </a:solidFill>
              </a:rPr>
              <a:t>Congestion Avoidance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4"/>
          <p:cNvSpPr/>
          <p:nvPr/>
        </p:nvSpPr>
        <p:spPr>
          <a:xfrm>
            <a:off x="2230125" y="5474200"/>
            <a:ext cx="8343900" cy="100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 If Time-out</a:t>
            </a:r>
            <a:r>
              <a:rPr b="1" lang="en-US" sz="2000">
                <a:solidFill>
                  <a:schemeClr val="dk1"/>
                </a:solidFill>
              </a:rPr>
              <a:t>,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new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slow</a:t>
            </a:r>
            <a:r>
              <a:rPr b="1" lang="en-US" sz="2000">
                <a:solidFill>
                  <a:srgbClr val="0070C0"/>
                </a:solidFill>
              </a:rPr>
              <a:t>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start phase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detection is by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three ACKs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starts.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990600"/>
            <a:ext cx="7273549" cy="383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"/>
          <p:cNvSpPr txBox="1"/>
          <p:nvPr/>
        </p:nvSpPr>
        <p:spPr>
          <a:xfrm>
            <a:off x="1905000" y="20955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"/>
          <p:cNvSpPr txBox="1"/>
          <p:nvPr/>
        </p:nvSpPr>
        <p:spPr>
          <a:xfrm>
            <a:off x="1819275" y="1628774"/>
            <a:ext cx="10018713" cy="4524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-367459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detected by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time-out (severe congestion)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59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starts new slow start phase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59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 = max(2, floor(cwnd/2))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59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cwnd=1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367459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detected by three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ACKs (less severe congestion)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59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starts new congestion avoidance phase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59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 = max(2, floor(cwnd/2))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59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5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cwnd= ssthresh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7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200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5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Policy: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150" y="1700213"/>
            <a:ext cx="8401050" cy="437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6" y="1524000"/>
            <a:ext cx="8378825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77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456" name="Google Shape;456;p10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