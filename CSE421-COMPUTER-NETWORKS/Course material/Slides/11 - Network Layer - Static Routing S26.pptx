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Corbel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iiucaL7TsVnsyT3mpZj6CwL7Wo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937C81-6E53-425A-8205-272748B9C3C6}">
  <a:tblStyle styleId="{C3937C81-6E53-425A-8205-272748B9C3C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EAF9"/>
          </a:solidFill>
        </a:fill>
      </a:tcStyle>
    </a:wholeTbl>
    <a:band1H>
      <a:tcTxStyle b="off" i="off"/>
      <a:tcStyle>
        <a:fill>
          <a:solidFill>
            <a:srgbClr val="E0D2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0D2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  <a:tblStyle styleId="{EF2A1A65-979F-462C-B0FD-D918E03A7B0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CF4E8"/>
          </a:solidFill>
        </a:fill>
      </a:tcStyle>
    </a:wholeTbl>
    <a:band1H>
      <a:tcTxStyle b="off" i="off"/>
      <a:tcStyle>
        <a:fill>
          <a:solidFill>
            <a:srgbClr val="D7E9C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7E9C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2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2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orbel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orbel-italic.fntdata"/><Relationship Id="rId14" Type="http://schemas.openxmlformats.org/officeDocument/2006/relationships/font" Target="fonts/Corbel-bold.fntdata"/><Relationship Id="rId17" Type="http://customschemas.google.com/relationships/presentationmetadata" Target="metadata"/><Relationship Id="rId16" Type="http://schemas.openxmlformats.org/officeDocument/2006/relationships/font" Target="fonts/Corbel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54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4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54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None/>
            </a:pPr>
            <a:r>
              <a:rPr lang="en-US"/>
              <a:t>If there is no dynamic routing protocols</a:t>
            </a:r>
            <a:endParaRPr/>
          </a:p>
        </p:txBody>
      </p:sp>
      <p:sp>
        <p:nvSpPr>
          <p:cNvPr id="156" name="Google Shape;15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56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6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2" name="Google Shape;192;p56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Advantage of static routing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most secure way of routing, since no information is shared with other routers.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puts no overhead on resources such as CPU or memory.</a:t>
            </a:r>
            <a:endParaRPr/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routing algorithm or update mechanisms are required. Therefore, extra resources (CPU and memory) are not required.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easy to implement.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57:notes"/>
          <p:cNvSpPr txBox="1"/>
          <p:nvPr/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fld id="{00000000-1234-1234-1234-123412341234}" type="slidenum"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7:notes"/>
          <p:cNvSpPr/>
          <p:nvPr>
            <p:ph idx="2" type="sldImg"/>
          </p:nvPr>
        </p:nvSpPr>
        <p:spPr>
          <a:xfrm>
            <a:off x="-16386175" y="-11798300"/>
            <a:ext cx="20975638" cy="117998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p57:notes"/>
          <p:cNvSpPr txBox="1"/>
          <p:nvPr>
            <p:ph idx="1" type="body"/>
          </p:nvPr>
        </p:nvSpPr>
        <p:spPr>
          <a:xfrm>
            <a:off x="-11798300" y="-11798300"/>
            <a:ext cx="11799888" cy="1179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6.1.1.2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3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3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8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9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9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3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0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40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4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4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4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4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4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4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0" name="Google Shape;70;p44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5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8" name="Google Shape;78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6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6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6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5" name="Google Shape;85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7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7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1" name="Google Shape;91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8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99" name="Google Shape;99;p48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9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9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0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4" name="Google Shape;114;p50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1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51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1" name="Google Shape;121;p51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2" name="Google Shape;122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2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8" name="Google Shape;128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3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3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4" name="Google Shape;134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3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IPv4 Static Routing</a:t>
            </a:r>
            <a:endParaRPr/>
          </a:p>
        </p:txBody>
      </p:sp>
      <p:sp>
        <p:nvSpPr>
          <p:cNvPr id="143" name="Google Shape;143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11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4" name="Google Shape;14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4"/>
          <p:cNvSpPr txBox="1"/>
          <p:nvPr/>
        </p:nvSpPr>
        <p:spPr>
          <a:xfrm>
            <a:off x="1624987" y="1283677"/>
            <a:ext cx="9954482" cy="4333754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-341313" lvl="0" marL="460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 router can learn about remote networks in one of two ways:</a:t>
            </a:r>
            <a:endParaRPr b="0" i="0" sz="18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Manually</a:t>
            </a:r>
            <a:r>
              <a:rPr b="0" i="0" lang="en-US" sz="3600" u="none" cap="none" strike="noStrike">
                <a:solidFill>
                  <a:schemeClr val="accent4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Remote networks are manually entered into the route table using static routes.</a:t>
            </a:r>
            <a:endParaRPr b="0" i="0" sz="18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1313" lvl="0" marL="460375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708CA1"/>
              </a:buClr>
              <a:buSzPts val="28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Dynamically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- Remote networks are automatically learned using a dynamic routing protocol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Learning About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5"/>
          <p:cNvSpPr txBox="1"/>
          <p:nvPr>
            <p:ph idx="1" type="body"/>
          </p:nvPr>
        </p:nvSpPr>
        <p:spPr>
          <a:xfrm>
            <a:off x="1369216" y="1339361"/>
            <a:ext cx="10248900" cy="4393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Manually configured route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Used to reach networks not directly connected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Does not update automatically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None/>
            </a:pPr>
            <a:r>
              <a:t/>
            </a:r>
            <a:endParaRPr sz="3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800"/>
              <a:buFont typeface="Corbel"/>
              <a:buChar char="•"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Changes must be applied manually</a:t>
            </a:r>
            <a:endParaRPr/>
          </a:p>
        </p:txBody>
      </p:sp>
      <p:sp>
        <p:nvSpPr>
          <p:cNvPr id="159" name="Google Shape;159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3"/>
          <p:cNvGrpSpPr/>
          <p:nvPr/>
        </p:nvGrpSpPr>
        <p:grpSpPr>
          <a:xfrm>
            <a:off x="1086826" y="1230349"/>
            <a:ext cx="10245722" cy="5081954"/>
            <a:chOff x="1086826" y="1230349"/>
            <a:chExt cx="10245722" cy="5081954"/>
          </a:xfrm>
        </p:grpSpPr>
        <p:pic>
          <p:nvPicPr>
            <p:cNvPr id="165" name="Google Shape;165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6826" y="1230349"/>
              <a:ext cx="10245722" cy="50819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3"/>
            <p:cNvSpPr txBox="1"/>
            <p:nvPr/>
          </p:nvSpPr>
          <p:spPr>
            <a:xfrm>
              <a:off x="7703403" y="1451597"/>
              <a:ext cx="168946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220.20.20.0/30</a:t>
              </a:r>
              <a:endPara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Routing</a:t>
            </a:r>
            <a:endParaRPr/>
          </a:p>
        </p:txBody>
      </p:sp>
      <p:pic>
        <p:nvPicPr>
          <p:cNvPr id="168" name="Google Shape;1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9" name="Google Shape;169;p3"/>
          <p:cNvGraphicFramePr/>
          <p:nvPr/>
        </p:nvGraphicFramePr>
        <p:xfrm>
          <a:off x="1501011" y="9985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{C3937C81-6E53-425A-8205-272748B9C3C6}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192.168.10.0/24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192.168.11.0/24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70" name="Google Shape;170;p3"/>
          <p:cNvGraphicFramePr/>
          <p:nvPr/>
        </p:nvGraphicFramePr>
        <p:xfrm>
          <a:off x="5112114" y="1338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{EF2A1A65-979F-462C-B0FD-D918E03A7B08}</a:tableStyleId>
              </a:tblPr>
              <a:tblGrid>
                <a:gridCol w="1404025"/>
                <a:gridCol w="661200"/>
              </a:tblGrid>
              <a:tr h="331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Network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Exit Int</a:t>
                      </a:r>
                      <a:endParaRPr b="1" sz="100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10.1.1.0/24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10.1.2.0/24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G0/1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209.165.200.224/30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S0/0/0</a:t>
                      </a:r>
                      <a:endParaRPr b="1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220.20.20.0/30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/>
                        <a:t>G0/2</a:t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  <a:tr h="33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sz="105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pSp>
        <p:nvGrpSpPr>
          <p:cNvPr id="171" name="Google Shape;171;p3"/>
          <p:cNvGrpSpPr/>
          <p:nvPr/>
        </p:nvGrpSpPr>
        <p:grpSpPr>
          <a:xfrm>
            <a:off x="3598902" y="1351349"/>
            <a:ext cx="1485250" cy="877603"/>
            <a:chOff x="3598902" y="1351349"/>
            <a:chExt cx="1485250" cy="877603"/>
          </a:xfrm>
        </p:grpSpPr>
        <p:sp>
          <p:nvSpPr>
            <p:cNvPr id="172" name="Google Shape;172;p3"/>
            <p:cNvSpPr txBox="1"/>
            <p:nvPr/>
          </p:nvSpPr>
          <p:spPr>
            <a:xfrm>
              <a:off x="3815741" y="1586174"/>
              <a:ext cx="12684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Directly connected </a:t>
              </a:r>
              <a:endParaRPr b="1" i="0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3598902" y="1351349"/>
              <a:ext cx="232996" cy="87760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28575">
              <a:solidFill>
                <a:srgbClr val="7030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"/>
          <p:cNvSpPr txBox="1"/>
          <p:nvPr/>
        </p:nvSpPr>
        <p:spPr>
          <a:xfrm>
            <a:off x="7437128" y="2060936"/>
            <a:ext cx="126841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Directly connected 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7169948" y="1683210"/>
            <a:ext cx="287460" cy="115498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210600" y="4651483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6619443" y="3554589"/>
            <a:ext cx="81768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G0/2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987589" y="698010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Table of R1</a:t>
            </a:r>
            <a:endParaRPr b="1" i="0" sz="12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5632008" y="1036945"/>
            <a:ext cx="12684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Table of R2</a:t>
            </a:r>
            <a:endParaRPr b="1" i="0" sz="12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1653309" y="2352856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10.1.1.0/24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2891266" y="2334005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1669502" y="2670542"/>
            <a:ext cx="101372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10.1.2.0/24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2891266" y="2685931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 txBox="1"/>
          <p:nvPr/>
        </p:nvSpPr>
        <p:spPr>
          <a:xfrm>
            <a:off x="5224783" y="3041713"/>
            <a:ext cx="130210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192.168.10.0/24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 txBox="1"/>
          <p:nvPr/>
        </p:nvSpPr>
        <p:spPr>
          <a:xfrm>
            <a:off x="6554849" y="3030020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"/>
          <p:cNvSpPr txBox="1"/>
          <p:nvPr/>
        </p:nvSpPr>
        <p:spPr>
          <a:xfrm>
            <a:off x="5228062" y="3350992"/>
            <a:ext cx="1298825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192.168.11.0/24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6554849" y="3292979"/>
            <a:ext cx="650442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S0/0/0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6"/>
          <p:cNvSpPr txBox="1"/>
          <p:nvPr/>
        </p:nvSpPr>
        <p:spPr>
          <a:xfrm>
            <a:off x="1484310" y="1332346"/>
            <a:ext cx="10449072" cy="307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Simple and predictable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More secure (not advertised)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4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 CPU/memory usage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5" name="Google Shape;195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Static Route Advantages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7"/>
          <p:cNvSpPr txBox="1"/>
          <p:nvPr/>
        </p:nvSpPr>
        <p:spPr>
          <a:xfrm>
            <a:off x="1605665" y="1490065"/>
            <a:ext cx="9384288" cy="467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1025" lIns="82075" spcFirstLastPara="1" rIns="82075" wrap="square" tIns="41025">
            <a:noAutofit/>
          </a:bodyPr>
          <a:lstStyle/>
          <a:p>
            <a:pPr indent="50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Time-consuming to configure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50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Not scalable for large networks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50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automatic failover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50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5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Requires full network knowledge</a:t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7"/>
          <p:cNvSpPr txBox="1"/>
          <p:nvPr/>
        </p:nvSpPr>
        <p:spPr>
          <a:xfrm>
            <a:off x="1086643" y="449941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Static Route Disadvantages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209" name="Google Shape;2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