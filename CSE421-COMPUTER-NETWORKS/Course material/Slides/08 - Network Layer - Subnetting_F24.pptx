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Corbel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ZoIuEZadC905zaDBig0mRRiFk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14F8C7-0A2A-4799-B335-4629E07355DC}">
  <a:tblStyle styleId="{E314F8C7-0A2A-4799-B335-4629E07355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rbel-bold.fntdata"/><Relationship Id="rId23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boldItalic.fntdata"/><Relationship Id="rId25" Type="http://schemas.openxmlformats.org/officeDocument/2006/relationships/font" Target="fonts/Corbel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Subnets are designed by accepting bits from the IP address's host part and using these bits to assign a number of smaller sub-networks inside the original network.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Allows an organization to add sub-networks without the need to acquire a new network number via the Internet service provider (ISP).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52592c32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dd52592c32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d52592c32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dd52592c3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3fa41cc16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63fa41cc16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4f5b0be5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d4f5b0be5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ipcisco.com/lesson/subnetting-example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Subnetting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8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366050" y="1743150"/>
            <a:ext cx="100188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IPv4 Exhaustion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Solution to the depletion of IPv4 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Types of Subnetting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Examples </a:t>
            </a:r>
            <a:endParaRPr sz="32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 Exhaustion</a:t>
            </a:r>
            <a:endParaRPr/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799" y="1642975"/>
            <a:ext cx="5567226" cy="49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8375" y="1992800"/>
            <a:ext cx="3207625" cy="21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170" name="Google Shape;170;p4"/>
          <p:cNvSpPr txBox="1"/>
          <p:nvPr>
            <p:ph idx="1" type="body"/>
          </p:nvPr>
        </p:nvSpPr>
        <p:spPr>
          <a:xfrm>
            <a:off x="1484300" y="1066800"/>
            <a:ext cx="10018800" cy="3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Long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Change to IP version 6.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Plenty of addresses using a different scheme</a:t>
            </a:r>
            <a:endParaRPr sz="2300"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Short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Subnetting </a:t>
            </a:r>
            <a:r>
              <a:rPr lang="en-US" sz="2300"/>
              <a:t> to avoid wasting addresses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private addresses </a:t>
            </a:r>
            <a:r>
              <a:rPr lang="en-US" sz="2300"/>
              <a:t>locally and </a:t>
            </a:r>
            <a:r>
              <a:rPr b="1" lang="en-US" sz="2300"/>
              <a:t>NAT</a:t>
            </a:r>
            <a:r>
              <a:rPr lang="en-US" sz="2300"/>
              <a:t> for internet access – lets many host share a few public addresses</a:t>
            </a:r>
            <a:endParaRPr sz="230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3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7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342" y="4623296"/>
            <a:ext cx="4390025" cy="18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78" name="Google Shape;178;p5"/>
          <p:cNvSpPr txBox="1"/>
          <p:nvPr>
            <p:ph idx="1" type="body"/>
          </p:nvPr>
        </p:nvSpPr>
        <p:spPr>
          <a:xfrm>
            <a:off x="1591838" y="1304557"/>
            <a:ext cx="10018800" cy="2186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Partition a single physical network into more than one smaller logical sub-networks (subnets).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D28CD"/>
                </a:solidFill>
              </a:rPr>
              <a:t>Borrow bits </a:t>
            </a:r>
            <a:r>
              <a:rPr lang="en-US"/>
              <a:t>from </a:t>
            </a:r>
            <a:r>
              <a:rPr b="1" lang="en-US">
                <a:solidFill>
                  <a:srgbClr val="7D28CD"/>
                </a:solidFill>
              </a:rPr>
              <a:t>the IP address's host part </a:t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 these bits to create a number of smaller sub-networks inside the original network. 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737" y="3728671"/>
            <a:ext cx="7238551" cy="20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1484310" y="1673470"/>
            <a:ext cx="10018713" cy="1966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Two methods of subnetting</a:t>
            </a: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Fixed Length Subnet Masking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Variable Length Masking</a:t>
            </a:r>
            <a:endParaRPr sz="3200"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Fixed length subnetting</a:t>
            </a:r>
            <a:endParaRPr/>
          </a:p>
        </p:txBody>
      </p:sp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1484300" y="1066800"/>
            <a:ext cx="100188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599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need for the organization? </a:t>
            </a:r>
            <a:endParaRPr/>
          </a:p>
          <a:p>
            <a:pPr indent="-228599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have?</a:t>
            </a:r>
            <a:endParaRPr/>
          </a:p>
          <a:p>
            <a:pPr indent="-228599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bits do you have for hosts? </a:t>
            </a:r>
            <a:endParaRPr/>
          </a:p>
          <a:p>
            <a:pPr indent="-228599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host bits do you need to borrow to create the number of sub networks that you need? </a:t>
            </a:r>
            <a:endParaRPr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697"/>
              <a:buNone/>
            </a:pPr>
            <a:r>
              <a:t/>
            </a:r>
            <a:endParaRPr sz="1860"/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939" y="3023400"/>
            <a:ext cx="7222917" cy="36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2704658" y="3087476"/>
            <a:ext cx="156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Banani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909762" y="4819085"/>
            <a:ext cx="15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Khulna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3591166" y="5814600"/>
            <a:ext cx="181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Motijheel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9055325" y="1369625"/>
            <a:ext cx="2335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200.20.20.0/24</a:t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340050" y="3128700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267550" y="287175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61308" y="3087476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535150" y="4875057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285660" y="2958974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587708" y="5091052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665656" y="4025609"/>
            <a:ext cx="2335200" cy="1066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498394" y="347550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9907300" y="112790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483575" y="16948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8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3571550" y="24957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9419250" y="6026325"/>
            <a:ext cx="2335200" cy="554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latin typeface="Corbel"/>
                <a:ea typeface="Corbel"/>
                <a:cs typeface="Corbel"/>
                <a:sym typeface="Corbel"/>
                <a:hlinkClick r:id="rId5"/>
              </a:rPr>
              <a:t>Example link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Fixed Length Subnetting: Example</a:t>
            </a:r>
            <a:endParaRPr/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sm01.jpg" id="218" name="Google Shape;2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6315" y="1066799"/>
            <a:ext cx="6045200" cy="5494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1992315" y="32003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192.168.80.0/27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7097715" y="18287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192.168.80.32/27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2830515" y="54863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192.168.80.64/27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7326315" y="54101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192.168.80.96/27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7402515" y="37337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192.168.80.128/27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287715" y="25145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192.168.80.160/27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268915" y="11429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192.168.80.192/27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269290" y="1219199"/>
            <a:ext cx="2438400" cy="400050"/>
          </a:xfrm>
          <a:prstGeom prst="rect">
            <a:avLst/>
          </a:prstGeom>
          <a:solidFill>
            <a:srgbClr val="A26818"/>
          </a:solidFill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52592c32_0_2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Lots of Waste!</a:t>
            </a:r>
            <a:endParaRPr/>
          </a:p>
        </p:txBody>
      </p:sp>
      <p:sp>
        <p:nvSpPr>
          <p:cNvPr id="232" name="Google Shape;232;g3dd52592c32_0_2"/>
          <p:cNvSpPr txBox="1"/>
          <p:nvPr>
            <p:ph idx="1" type="body"/>
          </p:nvPr>
        </p:nvSpPr>
        <p:spPr>
          <a:xfrm>
            <a:off x="1484300" y="1066800"/>
            <a:ext cx="10018800" cy="5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Problem of Fixed Subnetting:</a:t>
            </a:r>
            <a:endParaRPr sz="2700"/>
          </a:p>
          <a:p>
            <a:pPr indent="-2730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700"/>
              <a:buChar char="•"/>
            </a:pPr>
            <a:r>
              <a:rPr lang="en-US" sz="1800"/>
              <a:t>Waste IPv4 addresses.</a:t>
            </a:r>
            <a:endParaRPr sz="1500"/>
          </a:p>
          <a:p>
            <a:pPr indent="-2730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700"/>
              <a:buChar char="•"/>
            </a:pPr>
            <a:r>
              <a:rPr lang="en-US" sz="1800"/>
              <a:t>Every subnet must be the exact same size, it often leads to significant IP address wastage.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For example: 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 have </a:t>
            </a:r>
            <a:r>
              <a:rPr lang="en-US" sz="1800" u="sng"/>
              <a:t>two departments</a:t>
            </a:r>
            <a:r>
              <a:rPr lang="en-US" sz="1800"/>
              <a:t> in my company, one </a:t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has 50 hosts and the other has 12 hosts.</a:t>
            </a:r>
            <a:endParaRPr sz="1800"/>
          </a:p>
          <a:p>
            <a:pPr indent="-342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So </a:t>
            </a:r>
            <a:r>
              <a:rPr lang="en-US" sz="1800" u="sng"/>
              <a:t>I need two subnets</a:t>
            </a:r>
            <a:r>
              <a:rPr lang="en-US" sz="1800"/>
              <a:t> and a </a:t>
            </a:r>
            <a:r>
              <a:rPr lang="en-US" sz="1800" u="sng"/>
              <a:t>single bit</a:t>
            </a:r>
            <a:r>
              <a:rPr lang="en-US" sz="1800"/>
              <a:t> from the </a:t>
            </a:r>
            <a:endParaRPr sz="1800"/>
          </a:p>
          <a:p>
            <a:pPr indent="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host part is enough.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Now, The IP address looks like: 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Subnet 1 : </a:t>
            </a:r>
            <a:r>
              <a:rPr lang="en-US" sz="2300">
                <a:highlight>
                  <a:schemeClr val="accent3"/>
                </a:highlight>
              </a:rPr>
              <a:t>100 . 100 . 0 </a:t>
            </a:r>
            <a:r>
              <a:rPr lang="en-US" sz="2300"/>
              <a:t>. </a:t>
            </a:r>
            <a:r>
              <a:rPr lang="en-US" sz="2300">
                <a:highlight>
                  <a:schemeClr val="accent1"/>
                </a:highlight>
              </a:rPr>
              <a:t>0</a:t>
            </a:r>
            <a:r>
              <a:rPr lang="en-US" sz="2300">
                <a:highlight>
                  <a:schemeClr val="accent2"/>
                </a:highlight>
              </a:rPr>
              <a:t>0000000</a:t>
            </a:r>
            <a:r>
              <a:rPr lang="en-US" sz="2300"/>
              <a:t>  / 25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Subnet 2 : </a:t>
            </a:r>
            <a:r>
              <a:rPr lang="en-US" sz="2300">
                <a:highlight>
                  <a:schemeClr val="accent3"/>
                </a:highlight>
              </a:rPr>
              <a:t>100 . 100 . 0 </a:t>
            </a:r>
            <a:r>
              <a:rPr lang="en-US" sz="2300"/>
              <a:t>. </a:t>
            </a:r>
            <a:r>
              <a:rPr lang="en-US" sz="2300">
                <a:highlight>
                  <a:schemeClr val="accent1"/>
                </a:highlight>
              </a:rPr>
              <a:t>1</a:t>
            </a:r>
            <a:r>
              <a:rPr lang="en-US" sz="2300">
                <a:highlight>
                  <a:schemeClr val="accent2"/>
                </a:highlight>
              </a:rPr>
              <a:t>0000000</a:t>
            </a:r>
            <a:r>
              <a:rPr lang="en-US" sz="2300"/>
              <a:t>  / 25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highlight>
                <a:schemeClr val="accent2"/>
              </a:highlight>
            </a:endParaRPr>
          </a:p>
          <a:p>
            <a:pPr indent="0" lvl="1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/>
          </a:p>
        </p:txBody>
      </p:sp>
      <p:pic>
        <p:nvPicPr>
          <p:cNvPr id="233" name="Google Shape;233;g3dd52592c32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d52592c3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9102" y="3219638"/>
            <a:ext cx="3544959" cy="3333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g3dd52592c32_0_2"/>
          <p:cNvCxnSpPr/>
          <p:nvPr/>
        </p:nvCxnSpPr>
        <p:spPr>
          <a:xfrm>
            <a:off x="6268350" y="6049500"/>
            <a:ext cx="4297800" cy="451800"/>
          </a:xfrm>
          <a:prstGeom prst="bentConnector3">
            <a:avLst>
              <a:gd fmla="val 4204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g3dd52592c32_0_2"/>
          <p:cNvCxnSpPr/>
          <p:nvPr/>
        </p:nvCxnSpPr>
        <p:spPr>
          <a:xfrm>
            <a:off x="6268350" y="5562950"/>
            <a:ext cx="2814900" cy="7530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d52592c32_0_14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Lots of Waste!</a:t>
            </a:r>
            <a:endParaRPr/>
          </a:p>
        </p:txBody>
      </p:sp>
      <p:sp>
        <p:nvSpPr>
          <p:cNvPr id="242" name="Google Shape;242;g3dd52592c32_0_14"/>
          <p:cNvSpPr txBox="1"/>
          <p:nvPr>
            <p:ph idx="1" type="body"/>
          </p:nvPr>
        </p:nvSpPr>
        <p:spPr>
          <a:xfrm>
            <a:off x="1484300" y="1066800"/>
            <a:ext cx="10018800" cy="5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Problem of Fixed Subnetting: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Now, The IP address looks like: 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Subnet 1 : </a:t>
            </a:r>
            <a:r>
              <a:rPr lang="en-US" sz="2300">
                <a:highlight>
                  <a:schemeClr val="accent3"/>
                </a:highlight>
              </a:rPr>
              <a:t>100 . 100 . 0 </a:t>
            </a:r>
            <a:r>
              <a:rPr lang="en-US" sz="2300"/>
              <a:t>. </a:t>
            </a:r>
            <a:r>
              <a:rPr lang="en-US" sz="2300">
                <a:highlight>
                  <a:schemeClr val="accent1"/>
                </a:highlight>
              </a:rPr>
              <a:t>0</a:t>
            </a:r>
            <a:r>
              <a:rPr lang="en-US" sz="2300">
                <a:highlight>
                  <a:schemeClr val="accent2"/>
                </a:highlight>
              </a:rPr>
              <a:t>0000000</a:t>
            </a:r>
            <a:r>
              <a:rPr lang="en-US" sz="2300"/>
              <a:t>  / 25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Subnet 2 : </a:t>
            </a:r>
            <a:r>
              <a:rPr lang="en-US" sz="2300">
                <a:highlight>
                  <a:schemeClr val="accent3"/>
                </a:highlight>
              </a:rPr>
              <a:t>100 . 100 . 0 </a:t>
            </a:r>
            <a:r>
              <a:rPr lang="en-US" sz="2300"/>
              <a:t>. </a:t>
            </a:r>
            <a:r>
              <a:rPr lang="en-US" sz="2300">
                <a:highlight>
                  <a:schemeClr val="accent1"/>
                </a:highlight>
              </a:rPr>
              <a:t>1</a:t>
            </a:r>
            <a:r>
              <a:rPr lang="en-US" sz="2300">
                <a:highlight>
                  <a:schemeClr val="accent2"/>
                </a:highlight>
              </a:rPr>
              <a:t>0000000</a:t>
            </a:r>
            <a:r>
              <a:rPr lang="en-US" sz="2300"/>
              <a:t>  / 25</a:t>
            </a:r>
            <a:endParaRPr sz="2300"/>
          </a:p>
          <a:p>
            <a:pPr indent="0" lvl="1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>
              <a:highlight>
                <a:schemeClr val="accent2"/>
              </a:highlight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Each subnet can have 2</a:t>
            </a:r>
            <a:r>
              <a:rPr baseline="30000" lang="en-US" sz="2300"/>
              <a:t>7 </a:t>
            </a:r>
            <a:r>
              <a:rPr lang="en-US" sz="2300"/>
              <a:t>=128 addresses.</a:t>
            </a:r>
            <a:endParaRPr sz="2300"/>
          </a:p>
          <a:p>
            <a:pPr indent="-374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Usable addresses = 128-2 = 126  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For Subnet 1, wastage of ip = 126 - 50 = 76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/>
              <a:t>For Subnet 2, wastage of ip = 126 - 12 = 114. 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43" name="Google Shape;243;g3dd52592c32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dd52592c32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7902" y="1192363"/>
            <a:ext cx="3544959" cy="333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Lots of Waste!</a:t>
            </a:r>
            <a:endParaRPr/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2811852" y="2289163"/>
            <a:ext cx="6966300" cy="20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378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Solutions:</a:t>
            </a:r>
            <a:endParaRPr b="0" i="0" sz="27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Variable Length Subnet Masking (VLSM)</a:t>
            </a:r>
            <a:endParaRPr b="1" i="0" sz="23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 subnets as per specific host requirements.</a:t>
            </a:r>
            <a:endParaRPr b="0" i="0" sz="21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</a:t>
            </a:r>
            <a:endParaRPr/>
          </a:p>
        </p:txBody>
      </p:sp>
      <p:sp>
        <p:nvSpPr>
          <p:cNvPr id="257" name="Google Shape;257;p9"/>
          <p:cNvSpPr txBox="1"/>
          <p:nvPr>
            <p:ph idx="1" type="body"/>
          </p:nvPr>
        </p:nvSpPr>
        <p:spPr>
          <a:xfrm>
            <a:off x="1484263" y="1342700"/>
            <a:ext cx="100188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0"/>
              <a:buChar char="•"/>
            </a:pPr>
            <a:r>
              <a:rPr lang="en-US" sz="2500"/>
              <a:t>Also known as </a:t>
            </a:r>
            <a:r>
              <a:rPr b="1" lang="en-US" sz="2500"/>
              <a:t>“Variable Length Subnet Masking”</a:t>
            </a:r>
            <a:endParaRPr sz="25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500"/>
          </a:p>
        </p:txBody>
      </p:sp>
      <p:pic>
        <p:nvPicPr>
          <p:cNvPr id="258" name="Google Shape;2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1691225" y="2108700"/>
            <a:ext cx="8891400" cy="23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1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 a block of IP satisfying only that particular LAN.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256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1024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1842600" y="4867600"/>
            <a:ext cx="90849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Always satisfy the requirements of your biggest LAN and then work your way down to the smallest LAN.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63fa41cc16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63fa41cc16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6596" y="1066799"/>
            <a:ext cx="6778808" cy="2001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63fa41cc16_1_12"/>
          <p:cNvSpPr txBox="1"/>
          <p:nvPr/>
        </p:nvSpPr>
        <p:spPr>
          <a:xfrm>
            <a:off x="3914741" y="3377950"/>
            <a:ext cx="17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63fa41cc16_1_12"/>
          <p:cNvSpPr txBox="1"/>
          <p:nvPr/>
        </p:nvSpPr>
        <p:spPr>
          <a:xfrm>
            <a:off x="3914741" y="3964582"/>
            <a:ext cx="17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192.168.16.0/25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3fa41cc16_1_12"/>
          <p:cNvSpPr txBox="1"/>
          <p:nvPr/>
        </p:nvSpPr>
        <p:spPr>
          <a:xfrm>
            <a:off x="3914741" y="4657687"/>
            <a:ext cx="19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192.168.16.128/26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3fa41cc16_1_12"/>
          <p:cNvSpPr txBox="1"/>
          <p:nvPr/>
        </p:nvSpPr>
        <p:spPr>
          <a:xfrm>
            <a:off x="6189841" y="3964582"/>
            <a:ext cx="192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192.168.16.12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/25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3fa41cc16_1_12"/>
          <p:cNvSpPr txBox="1"/>
          <p:nvPr/>
        </p:nvSpPr>
        <p:spPr>
          <a:xfrm>
            <a:off x="3914741" y="6014311"/>
            <a:ext cx="19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192.168.16.224/30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63fa41cc16_1_12"/>
          <p:cNvSpPr txBox="1"/>
          <p:nvPr/>
        </p:nvSpPr>
        <p:spPr>
          <a:xfrm>
            <a:off x="6189841" y="4654036"/>
            <a:ext cx="19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192.168.16.19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1/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63fa41cc16_1_12"/>
          <p:cNvSpPr txBox="1"/>
          <p:nvPr/>
        </p:nvSpPr>
        <p:spPr>
          <a:xfrm>
            <a:off x="3914741" y="5335999"/>
            <a:ext cx="19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192.168.16.192/27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63fa41cc16_1_12"/>
          <p:cNvSpPr txBox="1"/>
          <p:nvPr/>
        </p:nvSpPr>
        <p:spPr>
          <a:xfrm>
            <a:off x="6189841" y="5335999"/>
            <a:ext cx="19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63fa41cc16_1_12"/>
          <p:cNvSpPr txBox="1"/>
          <p:nvPr/>
        </p:nvSpPr>
        <p:spPr>
          <a:xfrm>
            <a:off x="6192962" y="6014311"/>
            <a:ext cx="19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/30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63fa41cc16_1_12"/>
          <p:cNvSpPr txBox="1"/>
          <p:nvPr/>
        </p:nvSpPr>
        <p:spPr>
          <a:xfrm>
            <a:off x="6189841" y="3002941"/>
            <a:ext cx="2363100" cy="369300"/>
          </a:xfrm>
          <a:prstGeom prst="rect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Given network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g363fa41cc16_1_12"/>
          <p:cNvCxnSpPr>
            <a:stCxn id="276" idx="1"/>
          </p:cNvCxnSpPr>
          <p:nvPr/>
        </p:nvCxnSpPr>
        <p:spPr>
          <a:xfrm flipH="1">
            <a:off x="5546641" y="3187591"/>
            <a:ext cx="643200" cy="269100"/>
          </a:xfrm>
          <a:prstGeom prst="straightConnector1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g363fa41cc16_1_12"/>
          <p:cNvCxnSpPr>
            <a:stCxn id="267" idx="2"/>
            <a:endCxn id="268" idx="0"/>
          </p:cNvCxnSpPr>
          <p:nvPr/>
        </p:nvCxnSpPr>
        <p:spPr>
          <a:xfrm>
            <a:off x="4766141" y="3747250"/>
            <a:ext cx="0" cy="2172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g363fa41cc16_1_12"/>
          <p:cNvCxnSpPr>
            <a:stCxn id="267" idx="2"/>
            <a:endCxn id="270" idx="0"/>
          </p:cNvCxnSpPr>
          <p:nvPr/>
        </p:nvCxnSpPr>
        <p:spPr>
          <a:xfrm flipH="1" rot="-5400000">
            <a:off x="5850791" y="2662600"/>
            <a:ext cx="217200" cy="2386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g363fa41cc16_1_12"/>
          <p:cNvCxnSpPr>
            <a:stCxn id="270" idx="2"/>
            <a:endCxn id="269" idx="0"/>
          </p:cNvCxnSpPr>
          <p:nvPr/>
        </p:nvCxnSpPr>
        <p:spPr>
          <a:xfrm rot="5400000">
            <a:off x="5853991" y="3359032"/>
            <a:ext cx="323700" cy="227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g363fa41cc16_1_12"/>
          <p:cNvCxnSpPr/>
          <p:nvPr/>
        </p:nvCxnSpPr>
        <p:spPr>
          <a:xfrm flipH="1">
            <a:off x="4872185" y="5023368"/>
            <a:ext cx="2276700" cy="31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g363fa41cc16_1_12"/>
          <p:cNvCxnSpPr/>
          <p:nvPr/>
        </p:nvCxnSpPr>
        <p:spPr>
          <a:xfrm flipH="1">
            <a:off x="4864826" y="5705331"/>
            <a:ext cx="2283000" cy="309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g363fa41cc16_1_12"/>
          <p:cNvCxnSpPr>
            <a:stCxn id="270" idx="2"/>
            <a:endCxn id="272" idx="0"/>
          </p:cNvCxnSpPr>
          <p:nvPr/>
        </p:nvCxnSpPr>
        <p:spPr>
          <a:xfrm>
            <a:off x="7152541" y="4333882"/>
            <a:ext cx="3300" cy="3201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g363fa41cc16_1_12"/>
          <p:cNvCxnSpPr>
            <a:stCxn id="272" idx="2"/>
            <a:endCxn id="274" idx="0"/>
          </p:cNvCxnSpPr>
          <p:nvPr/>
        </p:nvCxnSpPr>
        <p:spPr>
          <a:xfrm flipH="1">
            <a:off x="7154941" y="5023336"/>
            <a:ext cx="900" cy="3126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g363fa41cc16_1_12"/>
          <p:cNvCxnSpPr>
            <a:stCxn id="274" idx="2"/>
            <a:endCxn id="275" idx="0"/>
          </p:cNvCxnSpPr>
          <p:nvPr/>
        </p:nvCxnSpPr>
        <p:spPr>
          <a:xfrm flipH="1">
            <a:off x="7150591" y="5705299"/>
            <a:ext cx="4200" cy="3090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g363fa41cc16_1_12"/>
          <p:cNvCxnSpPr>
            <a:endCxn id="268" idx="1"/>
          </p:cNvCxnSpPr>
          <p:nvPr/>
        </p:nvCxnSpPr>
        <p:spPr>
          <a:xfrm flipH="1" rot="-5400000">
            <a:off x="2290391" y="2524882"/>
            <a:ext cx="2386500" cy="862200"/>
          </a:xfrm>
          <a:prstGeom prst="bentConnector2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g363fa41cc16_1_12"/>
          <p:cNvCxnSpPr/>
          <p:nvPr/>
        </p:nvCxnSpPr>
        <p:spPr>
          <a:xfrm flipH="1" rot="-5400000">
            <a:off x="2070392" y="3006253"/>
            <a:ext cx="2828100" cy="870300"/>
          </a:xfrm>
          <a:prstGeom prst="bentConnector3">
            <a:avLst>
              <a:gd fmla="val 99967" name="adj1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g363fa41cc16_1_12"/>
          <p:cNvCxnSpPr/>
          <p:nvPr/>
        </p:nvCxnSpPr>
        <p:spPr>
          <a:xfrm flipH="1" rot="-5400000">
            <a:off x="1858436" y="3502159"/>
            <a:ext cx="3249600" cy="872700"/>
          </a:xfrm>
          <a:prstGeom prst="bentConnector3">
            <a:avLst>
              <a:gd fmla="val 100308" name="adj1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g363fa41cc16_1_12"/>
          <p:cNvCxnSpPr>
            <a:endCxn id="271" idx="1"/>
          </p:cNvCxnSpPr>
          <p:nvPr/>
        </p:nvCxnSpPr>
        <p:spPr>
          <a:xfrm flipH="1" rot="-5400000">
            <a:off x="1674941" y="3959161"/>
            <a:ext cx="3611700" cy="867900"/>
          </a:xfrm>
          <a:prstGeom prst="bentConnector2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363fa41cc16_1_12"/>
          <p:cNvCxnSpPr>
            <a:endCxn id="275" idx="2"/>
          </p:cNvCxnSpPr>
          <p:nvPr/>
        </p:nvCxnSpPr>
        <p:spPr>
          <a:xfrm>
            <a:off x="2932112" y="2929411"/>
            <a:ext cx="4218600" cy="3454200"/>
          </a:xfrm>
          <a:prstGeom prst="bentConnector4">
            <a:avLst>
              <a:gd fmla="val 38651" name="adj1"/>
              <a:gd fmla="val 106618" name="adj2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g363fa41cc16_1_12"/>
          <p:cNvSpPr txBox="1"/>
          <p:nvPr/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VLSM Example 1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2</a:t>
            </a:r>
            <a:endParaRPr/>
          </a:p>
        </p:txBody>
      </p:sp>
      <p:pic>
        <p:nvPicPr>
          <p:cNvPr id="297" name="Google Shape;2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8"/>
          <p:cNvSpPr txBox="1"/>
          <p:nvPr/>
        </p:nvSpPr>
        <p:spPr>
          <a:xfrm>
            <a:off x="10633869" y="2650928"/>
            <a:ext cx="86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10682393" y="3061678"/>
            <a:ext cx="9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 WANs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9953243" y="3472422"/>
            <a:ext cx="209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 Switched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100" y="1219200"/>
            <a:ext cx="8265575" cy="46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 txBox="1"/>
          <p:nvPr>
            <p:ph type="title"/>
          </p:nvPr>
        </p:nvSpPr>
        <p:spPr>
          <a:xfrm>
            <a:off x="1264503" y="140677"/>
            <a:ext cx="10018713" cy="7737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VLSM Example 2</a:t>
            </a:r>
            <a:endParaRPr/>
          </a:p>
        </p:txBody>
      </p:sp>
      <p:pic>
        <p:nvPicPr>
          <p:cNvPr id="307" name="Google Shape;3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675" y="1018950"/>
            <a:ext cx="8783324" cy="54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1507050" y="1427300"/>
            <a:ext cx="1448100" cy="1517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507050" y="5136125"/>
            <a:ext cx="1448100" cy="1517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439350" y="3226475"/>
            <a:ext cx="1448100" cy="1517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9364925" y="5035450"/>
            <a:ext cx="1448100" cy="1517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9168000" y="3116250"/>
            <a:ext cx="12201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accent3"/>
                </a:highlight>
                <a:latin typeface="Corbel"/>
                <a:ea typeface="Corbel"/>
                <a:cs typeface="Corbel"/>
                <a:sym typeface="Corbel"/>
              </a:rPr>
              <a:t>4 LAN’s</a:t>
            </a:r>
            <a:endParaRPr sz="2400">
              <a:solidFill>
                <a:schemeClr val="dk1"/>
              </a:solidFill>
              <a:highlight>
                <a:schemeClr val="accent3"/>
              </a:highlight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684950" y="1393475"/>
            <a:ext cx="1112100" cy="51834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428525" y="1311850"/>
            <a:ext cx="1112100" cy="51834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5" name="Google Shape;315;p10"/>
          <p:cNvSpPr/>
          <p:nvPr/>
        </p:nvSpPr>
        <p:spPr>
          <a:xfrm rot="-5400000">
            <a:off x="5603988" y="3100475"/>
            <a:ext cx="1112100" cy="5183400"/>
          </a:xfrm>
          <a:prstGeom prst="ellipse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9257075" y="3848450"/>
            <a:ext cx="13323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accent1"/>
                </a:highlight>
                <a:latin typeface="Corbel"/>
                <a:ea typeface="Corbel"/>
                <a:cs typeface="Corbel"/>
                <a:sym typeface="Corbel"/>
              </a:rPr>
              <a:t>3 WAN’s</a:t>
            </a:r>
            <a:endParaRPr sz="2400">
              <a:solidFill>
                <a:schemeClr val="dk1"/>
              </a:solidFill>
              <a:highlight>
                <a:schemeClr val="accent1"/>
              </a:highlight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7" name="Google Shape;317;p10"/>
          <p:cNvSpPr/>
          <p:nvPr/>
        </p:nvSpPr>
        <p:spPr>
          <a:xfrm rot="-10658057">
            <a:off x="3220180" y="1406363"/>
            <a:ext cx="5378184" cy="5648424"/>
          </a:xfrm>
          <a:prstGeom prst="rtTriangle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9065525" y="1624200"/>
            <a:ext cx="15240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00FF"/>
                </a:highlight>
                <a:latin typeface="Corbel"/>
                <a:ea typeface="Corbel"/>
                <a:cs typeface="Corbel"/>
                <a:sym typeface="Corbel"/>
              </a:rPr>
              <a:t>1 Switched Netowrk</a:t>
            </a:r>
            <a:endParaRPr sz="2400">
              <a:solidFill>
                <a:schemeClr val="dk1"/>
              </a:solidFill>
              <a:highlight>
                <a:srgbClr val="FF00FF"/>
              </a:highlight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4f5b0be55_0_11"/>
          <p:cNvSpPr txBox="1"/>
          <p:nvPr>
            <p:ph type="title"/>
          </p:nvPr>
        </p:nvSpPr>
        <p:spPr>
          <a:xfrm>
            <a:off x="1264210" y="1052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2- Solution</a:t>
            </a:r>
            <a:endParaRPr/>
          </a:p>
        </p:txBody>
      </p:sp>
      <p:graphicFrame>
        <p:nvGraphicFramePr>
          <p:cNvPr id="324" name="Google Shape;324;g3d4f5b0be55_0_11"/>
          <p:cNvGraphicFramePr/>
          <p:nvPr/>
        </p:nvGraphicFramePr>
        <p:xfrm>
          <a:off x="1350175" y="84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{E314F8C7-0A2A-4799-B335-4629E07355DC}</a:tableStyleId>
              </a:tblPr>
              <a:tblGrid>
                <a:gridCol w="1469575"/>
                <a:gridCol w="1469575"/>
                <a:gridCol w="1469575"/>
                <a:gridCol w="1469575"/>
                <a:gridCol w="1469575"/>
                <a:gridCol w="1469575"/>
                <a:gridCol w="146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Subnet Name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Needed Hosts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Block Size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Mask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Network Address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Range of Usable IPs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Broadcast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>
                          <a:solidFill>
                            <a:schemeClr val="dk1"/>
                          </a:solidFill>
                        </a:rPr>
                        <a:t>Address</a:t>
                      </a:r>
                      <a:endParaRPr b="1" sz="155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Switch 0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950+2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1024 (10 bits)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/22  (32-10)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13.65.136.0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13.65.136.1 - 13.65.139.254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13.65.139.255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Switch 2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500+2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512  (9 bits)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/23   (32-9)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13.65.140.0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13.65.140.1 - 13.65.141.254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13.65.141.255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Switch 3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120+2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128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/25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13.65.142.0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13.65.142.1 - 13.65.142.126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13.65.142.127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Switch 1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90+2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128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/25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13.65.142.128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13.65.142.129 - 13.65.142.254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13.65.142.255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Switch 4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3+2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/29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13.65.143.0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13.65.143.1 - 13.65.143.6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13.65.143.7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WAN (B1-B2)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4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/30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13.65.143.8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13.65.143.9 - 13.65.143.10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13.65.143.11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WAN (B2-B4)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4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/30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13.65.143.12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13.65.143.13 - 13.65.143.14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13.65.143.15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WAN (B3-B4)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4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/30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13.65.143.16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13.65.143.17 - 13.65.143.18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152400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</a:rPr>
                        <a:t>13.65.143.19</a:t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</a:txBody>
                  <a:tcPr marT="114300" marB="11430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/>
          <p:nvPr>
            <p:ph type="title"/>
          </p:nvPr>
        </p:nvSpPr>
        <p:spPr>
          <a:xfrm>
            <a:off x="1346360" y="1665470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30" name="Google Shape;3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