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orbel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jJ5EzAHUCbmDVU1zeIVuMmDKJK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DC64EA-426C-4432-AED1-C371FD3EF7DF}">
  <a:tblStyle styleId="{BFDC64EA-426C-4432-AED1-C371FD3EF7D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12AA4780-323D-454E-A0E3-57E323FE112B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Corbel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d1ab28f6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3dd1ab28f6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d1ab28f6f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3dd1ab28f6f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dd1ab28f6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2" name="Google Shape;382;g3dd1ab28f6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dd1ab28f6f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g3dd1ab28f6f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It allows applications to communicate with each other within the same host without requiring physical network hardware or connectivity.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loopback address is often used for troubleshooting network issues, testing server applications, or ensuring that network software is functioning as expected locally.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/>
              <a:t>Characteristics</a:t>
            </a:r>
            <a:r>
              <a:rPr lang="en-US"/>
              <a:t>: Packets sent to a loopback address never leave the host device; they are routed internally, ensuring no external network traffic is involved.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48bd25098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g2f48bd25098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48bd25098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g2f48bd25098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f48bd2509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2f48bd2509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just for the students</a:t>
            </a:r>
            <a:endParaRPr/>
          </a:p>
        </p:txBody>
      </p:sp>
      <p:sp>
        <p:nvSpPr>
          <p:cNvPr id="538" name="Google Shape;538;g2f48bd2509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f48bd25098_0_4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g2f48bd25098_0_4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2f48bd25098_0_4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2f48bd25098_0_4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2f48bd25098_0_4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f48bd25098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g2f48bd25098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9" name="Google Shape;58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3" name="Google Shape;60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f48bd25098_0_623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f48bd25098_0_623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4" name="Google Shape;44;g2f48bd25098_0_623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3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4" name="Google Shape;54;p34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5" name="Google Shape;55;p3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35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35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3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38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9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9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0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0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2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42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4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3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3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4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4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44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5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5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45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46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7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7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0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2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Relationship Id="rId4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 Addressing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7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53" name="Google Shape;1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1484310" y="1713347"/>
            <a:ext cx="10018713" cy="339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0661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IPv4 Address</a:t>
            </a:r>
            <a:endParaRPr sz="3600"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Subnet/Prefix Mask</a:t>
            </a:r>
            <a:endParaRPr sz="3200"/>
          </a:p>
          <a:p>
            <a:pPr indent="-30661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Types of IPv4 Address</a:t>
            </a:r>
            <a:endParaRPr sz="3600"/>
          </a:p>
          <a:p>
            <a:pPr indent="-30661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IPv6 Address</a:t>
            </a:r>
            <a:endParaRPr/>
          </a:p>
          <a:p>
            <a:pPr indent="-272542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 sz="3200"/>
          </a:p>
        </p:txBody>
      </p:sp>
      <p:pic>
        <p:nvPicPr>
          <p:cNvPr id="160" name="Google Shape;1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>
            <p:ph type="title"/>
          </p:nvPr>
        </p:nvSpPr>
        <p:spPr>
          <a:xfrm>
            <a:off x="1308819" y="1066799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IPv4</a:t>
            </a:r>
            <a:endParaRPr/>
          </a:p>
        </p:txBody>
      </p:sp>
      <p:pic>
        <p:nvPicPr>
          <p:cNvPr id="166" name="Google Shape;1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sp>
        <p:nvSpPr>
          <p:cNvPr id="172" name="Google Shape;172;p4"/>
          <p:cNvSpPr txBox="1"/>
          <p:nvPr>
            <p:ph idx="1" type="body"/>
          </p:nvPr>
        </p:nvSpPr>
        <p:spPr>
          <a:xfrm>
            <a:off x="1484309" y="1196110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device on a network must be uniquely identified at the Network layer.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 IPv4, a 32 bit source and destination address is contained in each packet.</a:t>
            </a:r>
            <a:endParaRPr/>
          </a:p>
        </p:txBody>
      </p:sp>
      <p:pic>
        <p:nvPicPr>
          <p:cNvPr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v408" id="174" name="Google Shape;1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866" y="2516677"/>
            <a:ext cx="6557316" cy="381696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1484310" y="4108350"/>
            <a:ext cx="5979000" cy="633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8052275" y="3635175"/>
            <a:ext cx="36366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For the transport layer, we’ve  headers like TCP header and UDP header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Similarly for the network layer we also have </a:t>
            </a:r>
            <a:r>
              <a:rPr lang="en-US">
                <a:solidFill>
                  <a:schemeClr val="dk1"/>
                </a:solidFill>
                <a:highlight>
                  <a:schemeClr val="accent2"/>
                </a:highlight>
                <a:latin typeface="Corbel"/>
                <a:ea typeface="Corbel"/>
                <a:cs typeface="Corbel"/>
                <a:sym typeface="Corbel"/>
              </a:rPr>
              <a:t>IP header</a:t>
            </a:r>
            <a:endParaRPr>
              <a:solidFill>
                <a:schemeClr val="dk1"/>
              </a:solidFill>
              <a:highlight>
                <a:schemeClr val="accent2"/>
              </a:highlight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This is a IPV4 header example</a:t>
            </a:r>
            <a:endParaRPr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Addressing Structure</a:t>
            </a:r>
            <a:endParaRPr/>
          </a:p>
        </p:txBody>
      </p:sp>
      <p:pic>
        <p:nvPicPr>
          <p:cNvPr id="182" name="Google Shape;1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1366" y="1474695"/>
            <a:ext cx="6324600" cy="473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pic>
        <p:nvPicPr>
          <p:cNvPr id="189" name="Google Shape;18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597" y="2825799"/>
            <a:ext cx="7958138" cy="255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6"/>
          <p:cNvCxnSpPr>
            <a:stCxn id="192" idx="2"/>
          </p:cNvCxnSpPr>
          <p:nvPr/>
        </p:nvCxnSpPr>
        <p:spPr>
          <a:xfrm flipH="1">
            <a:off x="4639129" y="2203079"/>
            <a:ext cx="18882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2" name="Google Shape;192;p6"/>
          <p:cNvSpPr txBox="1"/>
          <p:nvPr/>
        </p:nvSpPr>
        <p:spPr>
          <a:xfrm>
            <a:off x="5617464" y="1833747"/>
            <a:ext cx="1819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Dotted decimals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6"/>
          <p:cNvCxnSpPr>
            <a:stCxn id="192" idx="2"/>
          </p:cNvCxnSpPr>
          <p:nvPr/>
        </p:nvCxnSpPr>
        <p:spPr>
          <a:xfrm flipH="1">
            <a:off x="6320029" y="2203079"/>
            <a:ext cx="207300" cy="1367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6"/>
          <p:cNvCxnSpPr>
            <a:stCxn id="192" idx="2"/>
            <a:endCxn id="195" idx="3"/>
          </p:cNvCxnSpPr>
          <p:nvPr/>
        </p:nvCxnSpPr>
        <p:spPr>
          <a:xfrm>
            <a:off x="6527329" y="2203079"/>
            <a:ext cx="1487100" cy="1383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5" name="Google Shape;195;p6"/>
          <p:cNvSpPr/>
          <p:nvPr/>
        </p:nvSpPr>
        <p:spPr>
          <a:xfrm>
            <a:off x="3180229" y="3234021"/>
            <a:ext cx="4834218" cy="70550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092824" y="2886638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Network part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074956" y="3235799"/>
            <a:ext cx="1520781" cy="705508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8581913" y="2886638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Host part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931459" y="4047569"/>
            <a:ext cx="289111" cy="36933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2085640" y="4023807"/>
            <a:ext cx="845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227294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8296397" y="406055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613420" y="4054293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916995" y="4061017"/>
            <a:ext cx="1149724" cy="34557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9423196" y="4045544"/>
            <a:ext cx="22707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Divided into 4 Octets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Binary to decimal and Vice Versa</a:t>
            </a:r>
            <a:endParaRPr/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4546" y="1333547"/>
            <a:ext cx="6821635" cy="5039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and Hosts</a:t>
            </a:r>
            <a:endParaRPr/>
          </a:p>
        </p:txBody>
      </p:sp>
      <p:sp>
        <p:nvSpPr>
          <p:cNvPr id="218" name="Google Shape;218;p8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To identify a path or "route" through a network, the address must be composed of two parts: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FF0000"/>
                </a:solidFill>
              </a:rPr>
              <a:t>Network</a:t>
            </a:r>
            <a:r>
              <a:rPr b="1" lang="en-US"/>
              <a:t> </a:t>
            </a:r>
            <a:r>
              <a:rPr lang="en-US"/>
              <a:t>portion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rgbClr val="5E9934"/>
                </a:solidFill>
              </a:rPr>
              <a:t>Host</a:t>
            </a:r>
            <a:r>
              <a:rPr lang="en-US"/>
              <a:t> portion</a:t>
            </a:r>
            <a:endParaRPr/>
          </a:p>
        </p:txBody>
      </p:sp>
      <p:pic>
        <p:nvPicPr>
          <p:cNvPr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r05" id="220" name="Google Shape;22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9224" y="3097068"/>
            <a:ext cx="60198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6757612" y="4547842"/>
            <a:ext cx="685800" cy="369300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6150775" y="3556667"/>
            <a:ext cx="685800" cy="369300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6287037" y="5209842"/>
            <a:ext cx="609600" cy="369300"/>
          </a:xfrm>
          <a:prstGeom prst="rect">
            <a:avLst/>
          </a:prstGeom>
          <a:solidFill>
            <a:srgbClr val="FFFF99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8136437" y="3925967"/>
            <a:ext cx="685800" cy="369300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9111587" y="3244055"/>
            <a:ext cx="609600" cy="369300"/>
          </a:xfrm>
          <a:prstGeom prst="rect">
            <a:avLst/>
          </a:prstGeom>
          <a:solidFill>
            <a:srgbClr val="FF99CC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8531062" y="5209555"/>
            <a:ext cx="762000" cy="369300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9073487" y="6127317"/>
            <a:ext cx="685800" cy="369300"/>
          </a:xfrm>
          <a:prstGeom prst="rect">
            <a:avLst/>
          </a:prstGeom>
          <a:solidFill>
            <a:srgbClr val="99CCFF"/>
          </a:solidFill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233" name="Google Shape;233;p9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Network Portion:</a:t>
            </a:r>
            <a:endParaRPr b="1"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Some portion of the high-order bits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network  can be defined as a group of hosts that have identical bit patterns in the network address portion of their addresses.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6055" y="3249044"/>
            <a:ext cx="8035223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6" name="Google Shape;236;p9"/>
          <p:cNvGraphicFramePr/>
          <p:nvPr/>
        </p:nvGraphicFramePr>
        <p:xfrm>
          <a:off x="2401118" y="4689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3435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9"/>
          <p:cNvSpPr/>
          <p:nvPr/>
        </p:nvSpPr>
        <p:spPr>
          <a:xfrm>
            <a:off x="4737825" y="3674675"/>
            <a:ext cx="4299300" cy="382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243" name="Google Shape;243;p1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5E9934"/>
                </a:solidFill>
              </a:rPr>
              <a:t>Host Portion:</a:t>
            </a:r>
            <a:endParaRPr b="1">
              <a:solidFill>
                <a:srgbClr val="5E9934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variable number of least significant bits that are called the </a:t>
            </a:r>
            <a:r>
              <a:rPr b="1" lang="en-US"/>
              <a:t>host portion </a:t>
            </a:r>
            <a:r>
              <a:rPr lang="en-US"/>
              <a:t>of the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/>
              <a:t>number of bits </a:t>
            </a:r>
            <a:r>
              <a:rPr lang="en-US"/>
              <a:t>used in this </a:t>
            </a:r>
            <a:r>
              <a:rPr b="1" lang="en-US"/>
              <a:t>host portion </a:t>
            </a:r>
            <a:r>
              <a:rPr lang="en-US"/>
              <a:t>determines the </a:t>
            </a:r>
            <a:r>
              <a:rPr b="1" lang="en-US"/>
              <a:t>number of hosts </a:t>
            </a:r>
            <a:r>
              <a:rPr lang="en-US"/>
              <a:t>that we can have within the network.</a:t>
            </a:r>
            <a:endParaRPr/>
          </a:p>
        </p:txBody>
      </p:sp>
      <p:pic>
        <p:nvPicPr>
          <p:cNvPr id="244" name="Google Shape;2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3630" y="3543824"/>
            <a:ext cx="8035223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6" name="Google Shape;246;p10"/>
          <p:cNvGraphicFramePr/>
          <p:nvPr/>
        </p:nvGraphicFramePr>
        <p:xfrm>
          <a:off x="2583618" y="4897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749425"/>
                <a:gridCol w="1604950"/>
                <a:gridCol w="1531950"/>
                <a:gridCol w="1384300"/>
                <a:gridCol w="1385875"/>
              </a:tblGrid>
              <a:tr h="431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3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cap="none" strike="noStrike"/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cap="none" strike="noStrike">
                        <a:solidFill>
                          <a:srgbClr val="5E9934"/>
                        </a:solidFill>
                      </a:endParaRPr>
                    </a:p>
                  </a:txBody>
                  <a:tcPr marT="45725" marB="45725" marR="45725" marL="457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10"/>
          <p:cNvSpPr/>
          <p:nvPr/>
        </p:nvSpPr>
        <p:spPr>
          <a:xfrm>
            <a:off x="9139675" y="3988727"/>
            <a:ext cx="1479300" cy="39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Prefix Mask</a:t>
            </a:r>
            <a:endParaRPr/>
          </a:p>
        </p:txBody>
      </p:sp>
      <p:sp>
        <p:nvSpPr>
          <p:cNvPr id="253" name="Google Shape;253;p11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How do we or devices identify the network part or the host part?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Answer:</a:t>
            </a:r>
            <a:r>
              <a:rPr lang="en-US"/>
              <a:t> Using the </a:t>
            </a:r>
            <a:r>
              <a:rPr b="1" lang="en-US"/>
              <a:t>“Prefix Mask”.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0000"/>
                </a:solidFill>
              </a:rPr>
              <a:t>192.168.10</a:t>
            </a:r>
            <a:r>
              <a:rPr lang="en-US"/>
              <a:t>.</a:t>
            </a:r>
            <a:r>
              <a:rPr b="1" lang="en-US">
                <a:solidFill>
                  <a:srgbClr val="00B050"/>
                </a:solidFill>
              </a:rPr>
              <a:t>2</a:t>
            </a:r>
            <a:r>
              <a:rPr lang="en-US"/>
              <a:t>/24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Means that the </a:t>
            </a:r>
            <a:r>
              <a:rPr b="1" lang="en-US">
                <a:solidFill>
                  <a:srgbClr val="FF0000"/>
                </a:solidFill>
              </a:rPr>
              <a:t>first 24 bits </a:t>
            </a:r>
            <a:r>
              <a:rPr lang="en-US"/>
              <a:t>are the network portion.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b="1" lang="en-US">
                <a:solidFill>
                  <a:srgbClr val="00B050"/>
                </a:solidFill>
              </a:rPr>
              <a:t>last 8 bits </a:t>
            </a:r>
            <a:r>
              <a:rPr lang="en-US"/>
              <a:t>are the host portion.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Subnet Mask</a:t>
            </a:r>
            <a:r>
              <a:rPr lang="en-US"/>
              <a:t>; the other form of </a:t>
            </a:r>
            <a:r>
              <a:rPr b="1" lang="en-US"/>
              <a:t>“Prefix Mask”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length of </a:t>
            </a:r>
            <a:r>
              <a:rPr b="1" lang="en-US">
                <a:solidFill>
                  <a:srgbClr val="FF0000"/>
                </a:solidFill>
              </a:rPr>
              <a:t>/24 </a:t>
            </a:r>
            <a:r>
              <a:rPr lang="en-US"/>
              <a:t>means a subnet mask of </a:t>
            </a:r>
            <a:r>
              <a:rPr b="1" lang="en-US">
                <a:solidFill>
                  <a:srgbClr val="FF0000"/>
                </a:solidFill>
              </a:rPr>
              <a:t>255.255.255.0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1223" y="2373311"/>
            <a:ext cx="2971800" cy="333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1"/>
          <p:cNvSpPr/>
          <p:nvPr/>
        </p:nvSpPr>
        <p:spPr>
          <a:xfrm>
            <a:off x="8645523" y="3809129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9979023" y="3821110"/>
            <a:ext cx="1219200" cy="152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615449" y="2611050"/>
            <a:ext cx="471900" cy="4497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 txBox="1"/>
          <p:nvPr>
            <p:ph type="title"/>
          </p:nvPr>
        </p:nvSpPr>
        <p:spPr>
          <a:xfrm>
            <a:off x="1154197" y="16274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 Mask</a:t>
            </a:r>
            <a:endParaRPr/>
          </a:p>
        </p:txBody>
      </p:sp>
      <p:sp>
        <p:nvSpPr>
          <p:cNvPr id="264" name="Google Shape;264;p12"/>
          <p:cNvSpPr txBox="1"/>
          <p:nvPr>
            <p:ph idx="1" type="body"/>
          </p:nvPr>
        </p:nvSpPr>
        <p:spPr>
          <a:xfrm>
            <a:off x="933169" y="795170"/>
            <a:ext cx="10707600" cy="5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Prefix Mask and the Subnet Mask are different ways of representing the </a:t>
            </a:r>
            <a:r>
              <a:rPr b="1" lang="en-US">
                <a:solidFill>
                  <a:srgbClr val="7D28CD"/>
                </a:solidFill>
              </a:rPr>
              <a:t>same information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1186C3"/>
                </a:solidFill>
              </a:rPr>
              <a:t>Conversion: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Subnet mask has the </a:t>
            </a:r>
            <a:r>
              <a:rPr b="1" lang="en-US"/>
              <a:t>same format </a:t>
            </a:r>
            <a:r>
              <a:rPr lang="en-US"/>
              <a:t>as an IP address. Hence, it has </a:t>
            </a:r>
            <a:r>
              <a:rPr b="1" lang="en-US"/>
              <a:t>32 bits divided into 8 bits (octets)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mask of </a:t>
            </a:r>
            <a:r>
              <a:rPr b="1" lang="en-US"/>
              <a:t>/24 </a:t>
            </a:r>
            <a:r>
              <a:rPr lang="en-US"/>
              <a:t>means, </a:t>
            </a:r>
            <a:r>
              <a:rPr lang="en-US">
                <a:solidFill>
                  <a:srgbClr val="FF0000"/>
                </a:solidFill>
              </a:rPr>
              <a:t>the </a:t>
            </a:r>
            <a:r>
              <a:rPr b="1" lang="en-US">
                <a:solidFill>
                  <a:srgbClr val="FF0000"/>
                </a:solidFill>
              </a:rPr>
              <a:t>first (MSB) 24 bits </a:t>
            </a:r>
            <a:r>
              <a:rPr lang="en-US"/>
              <a:t>of subnet mask would be </a:t>
            </a:r>
            <a:r>
              <a:rPr b="1" lang="en-US" sz="2400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and the rest will be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b="1" lang="en-US" sz="2400">
                <a:solidFill>
                  <a:srgbClr val="5E9934"/>
                </a:solidFill>
              </a:rPr>
              <a:t>0</a:t>
            </a:r>
            <a:endParaRPr b="1" sz="2400">
              <a:solidFill>
                <a:srgbClr val="5E993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5E9934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E9934"/>
              </a:solidFill>
            </a:endParaRPr>
          </a:p>
        </p:txBody>
      </p:sp>
      <p:pic>
        <p:nvPicPr>
          <p:cNvPr id="265" name="Google Shape;2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 txBox="1"/>
          <p:nvPr/>
        </p:nvSpPr>
        <p:spPr>
          <a:xfrm>
            <a:off x="4757650" y="3952325"/>
            <a:ext cx="7358100" cy="102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Decimal: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255       .      255      .      255  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         </a:t>
            </a:r>
            <a:r>
              <a:rPr b="1" i="0" lang="en-US" sz="24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1" i="0" sz="2400" u="none" cap="none" strike="noStrik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Binary: </a:t>
            </a:r>
            <a:r>
              <a:rPr lang="en-US" sz="2800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11111111.11111111.11111111.</a:t>
            </a:r>
            <a:r>
              <a:rPr lang="en-US" sz="2800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00000000</a:t>
            </a:r>
            <a:endParaRPr b="1" sz="2400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797775" y="4411300"/>
            <a:ext cx="8684700" cy="2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67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8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6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17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/24     </a:t>
            </a: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lang="en-US" sz="17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255.255.255.0</a:t>
            </a:r>
            <a:r>
              <a:rPr b="1" i="0" lang="en-US" sz="17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1" i="0" sz="17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67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6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17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/16    </a:t>
            </a: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lang="en-US" sz="1700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255.255.0.0</a:t>
            </a:r>
            <a:endParaRPr b="1" sz="1700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670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6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b="1" i="0" lang="en-US" sz="17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/8     </a:t>
            </a: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b="1"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255.0.0.0</a:t>
            </a:r>
            <a:endParaRPr b="1" sz="17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4158869" y="5205695"/>
            <a:ext cx="425629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274" name="Google Shape;274;p13"/>
          <p:cNvSpPr txBox="1"/>
          <p:nvPr>
            <p:ph idx="1" type="body"/>
          </p:nvPr>
        </p:nvSpPr>
        <p:spPr>
          <a:xfrm>
            <a:off x="1472716" y="1066800"/>
            <a:ext cx="10018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69176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5E9934"/>
                </a:solidFill>
              </a:rPr>
              <a:t>subnet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4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12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16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 / 23</a:t>
            </a:r>
            <a:endParaRPr/>
          </a:p>
          <a:p>
            <a:pPr indent="-269176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b="1" lang="en-US">
                <a:solidFill>
                  <a:srgbClr val="0070C0"/>
                </a:solidFill>
              </a:rPr>
              <a:t>prefix mask </a:t>
            </a:r>
            <a:r>
              <a:rPr lang="en-US"/>
              <a:t>of the following?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255.255.224.0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255.255.255.192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255.255.255.252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255.254.0.0 </a:t>
            </a:r>
            <a:endParaRPr/>
          </a:p>
          <a:p>
            <a:pPr indent="-271938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IP Address:  </a:t>
            </a:r>
            <a:r>
              <a:rPr lang="en-US"/>
              <a:t>10.24.36.2; </a:t>
            </a:r>
            <a:r>
              <a:rPr b="1" lang="en-US"/>
              <a:t>Subnet Mask: </a:t>
            </a:r>
            <a:r>
              <a:rPr lang="en-US"/>
              <a:t>255.255.240.0 </a:t>
            </a:r>
            <a:endParaRPr/>
          </a:p>
        </p:txBody>
      </p:sp>
      <p:pic>
        <p:nvPicPr>
          <p:cNvPr id="275" name="Google Shape;2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ANDing the Binaries</a:t>
            </a:r>
            <a:endParaRPr/>
          </a:p>
        </p:txBody>
      </p:sp>
      <p:sp>
        <p:nvSpPr>
          <p:cNvPr id="281" name="Google Shape;281;p14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Inside data network devices, digital logic is applied for their interpretation of the addresses.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AND is used in determining the network address.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0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1 =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1 = 0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282" name="Google Shape;2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3" name="Google Shape;283;p14"/>
          <p:cNvGraphicFramePr/>
          <p:nvPr/>
        </p:nvGraphicFramePr>
        <p:xfrm>
          <a:off x="1566582" y="4377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{12AA4780-323D-454E-A0E3-57E323FE112B}</a:tableStyleId>
              </a:tblPr>
              <a:tblGrid>
                <a:gridCol w="1896025"/>
                <a:gridCol w="1781725"/>
                <a:gridCol w="5463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Decimal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Binary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IP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135.15.2.1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10000111 00001111 00000010 00000001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Subnet Mask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11111111 11111111 00000000 00000000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Network Address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135.15.0.0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en-US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10000111 00001111 00000000 00000000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84" name="Google Shape;284;p14"/>
          <p:cNvSpPr/>
          <p:nvPr/>
        </p:nvSpPr>
        <p:spPr>
          <a:xfrm>
            <a:off x="5533469" y="5567082"/>
            <a:ext cx="4820770" cy="217393"/>
          </a:xfrm>
          <a:prstGeom prst="rect">
            <a:avLst/>
          </a:prstGeom>
          <a:solidFill>
            <a:srgbClr val="CDE3F8"/>
          </a:solidFill>
          <a:ln cap="rnd" cmpd="sng" w="15875">
            <a:solidFill>
              <a:srgbClr val="CDE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But Why AND?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558201" y="1611746"/>
            <a:ext cx="10018713" cy="2646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Routers</a:t>
            </a:r>
            <a:r>
              <a:rPr lang="en-US"/>
              <a:t> use the </a:t>
            </a:r>
            <a:r>
              <a:rPr b="1" lang="en-US"/>
              <a:t>ANDing</a:t>
            </a:r>
            <a:r>
              <a:rPr lang="en-US"/>
              <a:t> process to determine the route a packet will take.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number of the </a:t>
            </a:r>
            <a:r>
              <a:rPr b="1" lang="en-US"/>
              <a:t>destination IPv4 address </a:t>
            </a:r>
            <a:r>
              <a:rPr lang="en-US"/>
              <a:t>is used to find the network in the routing table.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router then determines the best path for the frame.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IPv4 Addresses</a:t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/>
          <p:nvPr/>
        </p:nvSpPr>
        <p:spPr>
          <a:xfrm>
            <a:off x="3519053" y="3315853"/>
            <a:ext cx="2863273" cy="88669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164837" y="4975966"/>
            <a:ext cx="2863273" cy="886691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7282871" y="3135808"/>
            <a:ext cx="3490479" cy="886691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Broadcast  Address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306" name="Google Shape;306;p18"/>
          <p:cNvSpPr txBox="1"/>
          <p:nvPr>
            <p:ph idx="1" type="body"/>
          </p:nvPr>
        </p:nvSpPr>
        <p:spPr>
          <a:xfrm>
            <a:off x="957837" y="1179110"/>
            <a:ext cx="7474963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781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0070C0"/>
                </a:solidFill>
              </a:rPr>
              <a:t>Network Address</a:t>
            </a:r>
            <a:endParaRPr b="1" sz="2800">
              <a:solidFill>
                <a:srgbClr val="0070C0"/>
              </a:solidFill>
            </a:endParaRPr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hosts in the network will have the same network bits.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 sz="2400"/>
          </a:p>
          <a:p>
            <a:pPr indent="-258126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b="1" lang="en-US" sz="2400">
                <a:solidFill>
                  <a:srgbClr val="FF0000"/>
                </a:solidFill>
              </a:rPr>
              <a:t>zero</a:t>
            </a:r>
            <a:r>
              <a:rPr lang="en-US" sz="2400"/>
              <a:t>.</a:t>
            </a:r>
            <a:endParaRPr sz="2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07" name="Google Shape;30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8" name="Google Shape;308;p18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{BFDC64EA-426C-4432-AED1-C371FD3EF7DF}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18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0" name="Google Shape;310;p18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9079027" y="1823499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p18"/>
          <p:cNvCxnSpPr/>
          <p:nvPr/>
        </p:nvCxnSpPr>
        <p:spPr>
          <a:xfrm>
            <a:off x="9798940" y="2285164"/>
            <a:ext cx="453424" cy="615054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d1ab28f6f_0_0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 (Example)</a:t>
            </a:r>
            <a:endParaRPr/>
          </a:p>
        </p:txBody>
      </p:sp>
      <p:sp>
        <p:nvSpPr>
          <p:cNvPr id="322" name="Google Shape;322;g3dd1ab28f6f_0_0"/>
          <p:cNvSpPr txBox="1"/>
          <p:nvPr>
            <p:ph idx="1" type="body"/>
          </p:nvPr>
        </p:nvSpPr>
        <p:spPr>
          <a:xfrm>
            <a:off x="2584700" y="1066800"/>
            <a:ext cx="78180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For an IP address: </a:t>
            </a:r>
            <a:endParaRPr/>
          </a:p>
          <a:p>
            <a:pPr indent="457200" lvl="0" marL="1828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162.120.184.35 / 12</a:t>
            </a:r>
            <a:endParaRPr/>
          </a:p>
          <a:p>
            <a:pPr indent="-394335" lvl="0" marL="13716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is the Subnet mask ? </a:t>
            </a:r>
            <a:endParaRPr/>
          </a:p>
          <a:p>
            <a:pPr indent="-394335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is the network address ?</a:t>
            </a:r>
            <a:endParaRPr/>
          </a:p>
        </p:txBody>
      </p:sp>
      <p:pic>
        <p:nvPicPr>
          <p:cNvPr id="323" name="Google Shape;323;g3dd1ab28f6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dd1ab28f6f_0_0"/>
          <p:cNvSpPr txBox="1"/>
          <p:nvPr>
            <p:ph idx="1" type="body"/>
          </p:nvPr>
        </p:nvSpPr>
        <p:spPr>
          <a:xfrm>
            <a:off x="2094325" y="3543800"/>
            <a:ext cx="9827100" cy="3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81905" lvl="0" marL="4572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08750"/>
              <a:buChar char="•"/>
            </a:pPr>
            <a:r>
              <a:rPr b="1" lang="en-US"/>
              <a:t>Solution</a:t>
            </a:r>
            <a:r>
              <a:rPr lang="en-US"/>
              <a:t>: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IP address = 10100010 . 01111000 . 10111000 . 00100011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Prefix mask is : 12, means first 12 bits of the subnet mask is 1, all other bits are 0.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b="1" lang="en-US" u="sng"/>
              <a:t>Subnet mask:</a:t>
            </a:r>
            <a:r>
              <a:rPr lang="en-US"/>
              <a:t>       11111111 . 11110000 . 00000000 . 00000000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					=	255      .    240         .         0            .		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lang="en-US" u="sng"/>
              <a:t>Network Address:</a:t>
            </a:r>
            <a:r>
              <a:rPr lang="en-US"/>
              <a:t>   Bit by bit Logical AND of IP address and Subnet mask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					= 162 . 112 . 0 . 0</a:t>
            </a:r>
            <a:endParaRPr/>
          </a:p>
        </p:txBody>
      </p:sp>
      <p:cxnSp>
        <p:nvCxnSpPr>
          <p:cNvPr id="325" name="Google Shape;325;g3dd1ab28f6f_0_0"/>
          <p:cNvCxnSpPr/>
          <p:nvPr/>
        </p:nvCxnSpPr>
        <p:spPr>
          <a:xfrm flipH="1">
            <a:off x="4600175" y="2018100"/>
            <a:ext cx="625500" cy="2038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g3dd1ab28f6f_0_0"/>
          <p:cNvCxnSpPr/>
          <p:nvPr/>
        </p:nvCxnSpPr>
        <p:spPr>
          <a:xfrm>
            <a:off x="5760375" y="1961975"/>
            <a:ext cx="79200" cy="211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7" name="Google Shape;327;g3dd1ab28f6f_0_0"/>
          <p:cNvCxnSpPr/>
          <p:nvPr/>
        </p:nvCxnSpPr>
        <p:spPr>
          <a:xfrm>
            <a:off x="6144475" y="1972650"/>
            <a:ext cx="957900" cy="2061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8" name="Google Shape;328;g3dd1ab28f6f_0_0"/>
          <p:cNvCxnSpPr/>
          <p:nvPr/>
        </p:nvCxnSpPr>
        <p:spPr>
          <a:xfrm>
            <a:off x="6679075" y="2018100"/>
            <a:ext cx="1686000" cy="2027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3" name="Google Shape;333;p27"/>
          <p:cNvGraphicFramePr/>
          <p:nvPr/>
        </p:nvGraphicFramePr>
        <p:xfrm>
          <a:off x="891769" y="5787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{BFDC64EA-426C-4432-AED1-C371FD3EF7DF}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00000011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2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335" name="Google Shape;335;p27"/>
          <p:cNvSpPr txBox="1"/>
          <p:nvPr>
            <p:ph idx="1" type="body"/>
          </p:nvPr>
        </p:nvSpPr>
        <p:spPr>
          <a:xfrm>
            <a:off x="957825" y="1179098"/>
            <a:ext cx="7715100" cy="25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76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60"/>
              <a:buChar char="•"/>
            </a:pPr>
            <a:r>
              <a:rPr b="1" lang="en-US" sz="2500">
                <a:solidFill>
                  <a:srgbClr val="0070C0"/>
                </a:solidFill>
              </a:rPr>
              <a:t>Host Address</a:t>
            </a:r>
            <a:endParaRPr b="1" sz="2500">
              <a:solidFill>
                <a:srgbClr val="0070C0"/>
              </a:solidFill>
            </a:endParaRPr>
          </a:p>
          <a:p>
            <a:pPr indent="-239076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745"/>
              <a:buChar char="•"/>
            </a:pPr>
            <a:r>
              <a:rPr lang="en-US" sz="1800"/>
              <a:t>The unique address assigned to each device on the network.</a:t>
            </a:r>
            <a:endParaRPr sz="1700"/>
          </a:p>
          <a:p>
            <a:pPr indent="-239076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745"/>
              <a:buChar char="•"/>
            </a:pPr>
            <a:r>
              <a:rPr lang="en-US" sz="1800"/>
              <a:t>For a network of 10.0.0.0/24</a:t>
            </a:r>
            <a:endParaRPr sz="1800"/>
          </a:p>
          <a:p>
            <a:pPr indent="-241839" lvl="2" marL="120015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2745"/>
              <a:buChar char="•"/>
            </a:pPr>
            <a:r>
              <a:rPr lang="en-US"/>
              <a:t>Addresses </a:t>
            </a:r>
            <a:r>
              <a:rPr b="1" lang="en-US"/>
              <a:t>10.0.0.1</a:t>
            </a:r>
            <a:r>
              <a:rPr lang="en-US"/>
              <a:t>  through  </a:t>
            </a:r>
            <a:r>
              <a:rPr b="1" lang="en-US"/>
              <a:t>10.0.0.254</a:t>
            </a:r>
            <a:r>
              <a:rPr lang="en-US"/>
              <a:t> are </a:t>
            </a:r>
            <a:endParaRPr/>
          </a:p>
          <a:p>
            <a:pPr indent="-241839" lvl="2" marL="120015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2745"/>
              <a:buChar char="•"/>
            </a:pPr>
            <a:r>
              <a:rPr lang="en-US"/>
              <a:t>All host bits in this address will </a:t>
            </a:r>
            <a:r>
              <a:rPr b="1" lang="en-US">
                <a:solidFill>
                  <a:srgbClr val="FF0000"/>
                </a:solidFill>
              </a:rPr>
              <a:t>vary</a:t>
            </a:r>
            <a:r>
              <a:rPr lang="en-US"/>
              <a:t>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100"/>
          </a:p>
        </p:txBody>
      </p:sp>
      <p:pic>
        <p:nvPicPr>
          <p:cNvPr id="336" name="Google Shape;3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7" name="Google Shape;337;p27"/>
          <p:cNvGraphicFramePr/>
          <p:nvPr/>
        </p:nvGraphicFramePr>
        <p:xfrm>
          <a:off x="785091" y="39832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{BFDC64EA-426C-4432-AED1-C371FD3EF7DF}</a:tableStyleId>
              </a:tblPr>
              <a:tblGrid>
                <a:gridCol w="1287550"/>
                <a:gridCol w="1287550"/>
                <a:gridCol w="1287550"/>
                <a:gridCol w="1287550"/>
                <a:gridCol w="1287550"/>
              </a:tblGrid>
              <a:tr h="32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56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338" name="Google Shape;338;p27"/>
          <p:cNvSpPr/>
          <p:nvPr/>
        </p:nvSpPr>
        <p:spPr>
          <a:xfrm>
            <a:off x="6005675" y="4045375"/>
            <a:ext cx="1278300" cy="274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9" name="Google Shape;339;p27"/>
          <p:cNvSpPr/>
          <p:nvPr/>
        </p:nvSpPr>
        <p:spPr>
          <a:xfrm rot="-5400000">
            <a:off x="3702868" y="3333052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2950884" y="5098392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 rot="-5400000">
            <a:off x="6419273" y="4435460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5961641" y="5190990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4929725" y="2940300"/>
            <a:ext cx="1075800" cy="312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8839606" y="1767268"/>
            <a:ext cx="20933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6" name="Google Shape;346;p27"/>
          <p:cNvCxnSpPr/>
          <p:nvPr/>
        </p:nvCxnSpPr>
        <p:spPr>
          <a:xfrm flipH="1">
            <a:off x="9013610" y="2228933"/>
            <a:ext cx="564499" cy="190378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27"/>
          <p:cNvCxnSpPr>
            <a:stCxn id="344" idx="2"/>
          </p:cNvCxnSpPr>
          <p:nvPr/>
        </p:nvCxnSpPr>
        <p:spPr>
          <a:xfrm>
            <a:off x="9886259" y="2228933"/>
            <a:ext cx="550800" cy="24918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" name="Google Shape;348;p27"/>
          <p:cNvCxnSpPr>
            <a:stCxn id="349" idx="1"/>
          </p:cNvCxnSpPr>
          <p:nvPr/>
        </p:nvCxnSpPr>
        <p:spPr>
          <a:xfrm flipH="1">
            <a:off x="6061000" y="2523013"/>
            <a:ext cx="7512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9" name="Google Shape;349;p27"/>
          <p:cNvSpPr txBox="1"/>
          <p:nvPr/>
        </p:nvSpPr>
        <p:spPr>
          <a:xfrm>
            <a:off x="6812200" y="2315263"/>
            <a:ext cx="2027400" cy="41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Why 254, why not 255 ?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7731500" y="5787438"/>
            <a:ext cx="4309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dd1ab28f6f_0_45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356" name="Google Shape;356;g3dd1ab28f6f_0_45"/>
          <p:cNvSpPr txBox="1"/>
          <p:nvPr>
            <p:ph idx="1" type="body"/>
          </p:nvPr>
        </p:nvSpPr>
        <p:spPr>
          <a:xfrm>
            <a:off x="957825" y="1179102"/>
            <a:ext cx="10395900" cy="4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76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60"/>
              <a:buChar char="•"/>
            </a:pPr>
            <a:r>
              <a:rPr b="1" lang="en-US" sz="2500">
                <a:solidFill>
                  <a:srgbClr val="0070C0"/>
                </a:solidFill>
              </a:rPr>
              <a:t>Host Address</a:t>
            </a:r>
            <a:endParaRPr b="1" sz="2500">
              <a:solidFill>
                <a:srgbClr val="0070C0"/>
              </a:solidFill>
            </a:endParaRPr>
          </a:p>
          <a:p>
            <a:pPr indent="-239076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745"/>
              <a:buChar char="•"/>
            </a:pPr>
            <a:r>
              <a:rPr lang="en-US" sz="1800"/>
              <a:t>The unique address assigned to each device on the network.</a:t>
            </a:r>
            <a:endParaRPr sz="1700"/>
          </a:p>
          <a:p>
            <a:pPr indent="-239076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745"/>
              <a:buChar char="•"/>
            </a:pPr>
            <a:r>
              <a:rPr lang="en-US" sz="1800"/>
              <a:t>For a network of 10.0.0.0/24</a:t>
            </a:r>
            <a:endParaRPr sz="1800"/>
          </a:p>
          <a:p>
            <a:pPr indent="-241838" lvl="2" marL="120015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2745"/>
              <a:buChar char="•"/>
            </a:pPr>
            <a:r>
              <a:rPr lang="en-US"/>
              <a:t>Addresses </a:t>
            </a:r>
            <a:r>
              <a:rPr b="1" lang="en-US"/>
              <a:t>10.0.0.1</a:t>
            </a:r>
            <a:r>
              <a:rPr lang="en-US"/>
              <a:t>  through  </a:t>
            </a:r>
            <a:r>
              <a:rPr b="1" lang="en-US"/>
              <a:t>10.0.0.254</a:t>
            </a:r>
            <a:r>
              <a:rPr lang="en-US"/>
              <a:t> are </a:t>
            </a:r>
            <a:endParaRPr/>
          </a:p>
          <a:p>
            <a:pPr indent="-241838" lvl="2" marL="1200150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SzPts val="2745"/>
              <a:buChar char="•"/>
            </a:pPr>
            <a:r>
              <a:rPr lang="en-US"/>
              <a:t>All host bits in this address will </a:t>
            </a:r>
            <a:r>
              <a:rPr b="1" lang="en-US">
                <a:solidFill>
                  <a:srgbClr val="FF0000"/>
                </a:solidFill>
              </a:rPr>
              <a:t>vary</a:t>
            </a:r>
            <a:r>
              <a:rPr lang="en-US"/>
              <a:t>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100"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100"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100"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rPr lang="en-US" sz="2100"/>
              <a:t>							        </a:t>
            </a:r>
            <a:r>
              <a:rPr lang="en-US" sz="3100">
                <a:solidFill>
                  <a:schemeClr val="accent4"/>
                </a:solidFill>
                <a:highlight>
                  <a:srgbClr val="5E9934"/>
                </a:highlight>
              </a:rPr>
              <a:t>BROADCAST ADDRESS</a:t>
            </a:r>
            <a:endParaRPr sz="3100">
              <a:solidFill>
                <a:schemeClr val="accent4"/>
              </a:solidFill>
              <a:highlight>
                <a:srgbClr val="5E9934"/>
              </a:highlight>
            </a:endParaRPr>
          </a:p>
        </p:txBody>
      </p:sp>
      <p:pic>
        <p:nvPicPr>
          <p:cNvPr id="357" name="Google Shape;357;g3dd1ab28f6f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g3dd1ab28f6f_0_45"/>
          <p:cNvSpPr/>
          <p:nvPr/>
        </p:nvSpPr>
        <p:spPr>
          <a:xfrm>
            <a:off x="4929725" y="2940300"/>
            <a:ext cx="1075800" cy="312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59" name="Google Shape;359;g3dd1ab28f6f_0_45"/>
          <p:cNvCxnSpPr>
            <a:stCxn id="360" idx="1"/>
          </p:cNvCxnSpPr>
          <p:nvPr/>
        </p:nvCxnSpPr>
        <p:spPr>
          <a:xfrm flipH="1">
            <a:off x="6061000" y="2523013"/>
            <a:ext cx="751200" cy="34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0" name="Google Shape;360;g3dd1ab28f6f_0_45"/>
          <p:cNvSpPr txBox="1"/>
          <p:nvPr/>
        </p:nvSpPr>
        <p:spPr>
          <a:xfrm>
            <a:off x="6812200" y="2315263"/>
            <a:ext cx="2027400" cy="41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Why 254, why not 255 ?</a:t>
            </a:r>
            <a:endParaRPr sz="15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366" name="Google Shape;366;p26"/>
          <p:cNvSpPr txBox="1"/>
          <p:nvPr>
            <p:ph idx="1" type="body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18046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800">
                <a:solidFill>
                  <a:srgbClr val="0070C0"/>
                </a:solidFill>
              </a:rPr>
              <a:t>Broadcast Address</a:t>
            </a:r>
            <a:endParaRPr b="1" sz="2800">
              <a:solidFill>
                <a:srgbClr val="0070C0"/>
              </a:solidFill>
            </a:endParaRPr>
          </a:p>
          <a:p>
            <a:pPr indent="-19183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Used to send message to </a:t>
            </a:r>
            <a:r>
              <a:rPr lang="en-US" sz="2400">
                <a:highlight>
                  <a:schemeClr val="accent2"/>
                </a:highlight>
              </a:rPr>
              <a:t>all hosts in the network </a:t>
            </a:r>
            <a:r>
              <a:rPr lang="en-US" sz="2400"/>
              <a:t>using one single address</a:t>
            </a:r>
            <a:endParaRPr sz="2400"/>
          </a:p>
          <a:p>
            <a:pPr indent="-19183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400"/>
              <a:t>Cannot be assigned to a device.</a:t>
            </a:r>
            <a:endParaRPr/>
          </a:p>
          <a:p>
            <a:pPr indent="-191832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highlight>
                  <a:srgbClr val="B6D7A8"/>
                </a:highlight>
              </a:rPr>
              <a:t>All host bits in this address will be </a:t>
            </a:r>
            <a:r>
              <a:rPr b="1" lang="en-US" sz="2400">
                <a:solidFill>
                  <a:srgbClr val="FF0000"/>
                </a:solidFill>
                <a:highlight>
                  <a:srgbClr val="B6D7A8"/>
                </a:highlight>
              </a:rPr>
              <a:t>one</a:t>
            </a:r>
            <a:r>
              <a:rPr lang="en-US" sz="2400">
                <a:highlight>
                  <a:srgbClr val="B6D7A8"/>
                </a:highlight>
              </a:rPr>
              <a:t>.</a:t>
            </a:r>
            <a:endParaRPr sz="2400">
              <a:highlight>
                <a:srgbClr val="B6D7A8"/>
              </a:highlight>
            </a:endParaRPr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id="367" name="Google Shape;3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8" name="Google Shape;368;p26"/>
          <p:cNvGraphicFramePr/>
          <p:nvPr/>
        </p:nvGraphicFramePr>
        <p:xfrm>
          <a:off x="738910" y="4017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{BFDC64EA-426C-4432-AED1-C371FD3EF7DF}</a:tableStyleId>
              </a:tblPr>
              <a:tblGrid>
                <a:gridCol w="1221650"/>
                <a:gridCol w="1221650"/>
                <a:gridCol w="1221650"/>
                <a:gridCol w="1221650"/>
                <a:gridCol w="1221650"/>
              </a:tblGrid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b="1" sz="18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endParaRPr b="1" sz="1800" u="none" cap="none" strike="noStrik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5E9934"/>
                    </a:solidFill>
                  </a:tcPr>
                </a:tc>
              </a:tr>
              <a:tr h="346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IP Address in </a:t>
                      </a:r>
                      <a:r>
                        <a:rPr b="1" lang="en-US" sz="1400" u="none" cap="none" strike="noStrike">
                          <a:solidFill>
                            <a:srgbClr val="FF0000"/>
                          </a:solidFill>
                        </a:rPr>
                        <a:t>Binary</a:t>
                      </a:r>
                      <a:endParaRPr b="1" sz="14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b="1"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11111111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26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0" name="Google Shape;370;p26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b="1" i="0" sz="2400" u="none" cap="none" strike="noStrik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7D2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b="1" i="0" sz="2400" u="none" cap="none" strike="noStrik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8639349" y="1340792"/>
            <a:ext cx="32515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Broadcast Address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10.0.0.0/24 network is 10.0.0.255/24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26"/>
          <p:cNvCxnSpPr/>
          <p:nvPr/>
        </p:nvCxnSpPr>
        <p:spPr>
          <a:xfrm flipH="1">
            <a:off x="8924485" y="2401455"/>
            <a:ext cx="753974" cy="1939636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" name="Google Shape;377;p26"/>
          <p:cNvCxnSpPr/>
          <p:nvPr/>
        </p:nvCxnSpPr>
        <p:spPr>
          <a:xfrm>
            <a:off x="9678460" y="2401455"/>
            <a:ext cx="0" cy="23183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8" name="Google Shape;378;p26"/>
          <p:cNvCxnSpPr/>
          <p:nvPr/>
        </p:nvCxnSpPr>
        <p:spPr>
          <a:xfrm>
            <a:off x="9678460" y="2401455"/>
            <a:ext cx="753976" cy="2419927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" name="Google Shape;379;p26"/>
          <p:cNvCxnSpPr/>
          <p:nvPr/>
        </p:nvCxnSpPr>
        <p:spPr>
          <a:xfrm>
            <a:off x="9678460" y="2401455"/>
            <a:ext cx="1269195" cy="173126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d1ab28f6f_0_23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 (Example)</a:t>
            </a:r>
            <a:endParaRPr/>
          </a:p>
        </p:txBody>
      </p:sp>
      <p:pic>
        <p:nvPicPr>
          <p:cNvPr id="385" name="Google Shape;385;g3dd1ab28f6f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dd1ab28f6f_0_23"/>
          <p:cNvSpPr txBox="1"/>
          <p:nvPr>
            <p:ph idx="1" type="body"/>
          </p:nvPr>
        </p:nvSpPr>
        <p:spPr>
          <a:xfrm>
            <a:off x="2584700" y="1066800"/>
            <a:ext cx="7818000" cy="1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For an IP address: </a:t>
            </a:r>
            <a:endParaRPr/>
          </a:p>
          <a:p>
            <a:pPr indent="457200" lvl="0" marL="18288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162.120.184.35 / 12</a:t>
            </a:r>
            <a:endParaRPr/>
          </a:p>
          <a:p>
            <a:pPr indent="-394335" lvl="0" marL="13716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610"/>
              <a:buChar char="•"/>
            </a:pPr>
            <a:r>
              <a:rPr lang="en-US"/>
              <a:t>What is the Broadcast Address?</a:t>
            </a:r>
            <a:endParaRPr/>
          </a:p>
        </p:txBody>
      </p:sp>
      <p:sp>
        <p:nvSpPr>
          <p:cNvPr id="387" name="Google Shape;387;g3dd1ab28f6f_0_23"/>
          <p:cNvSpPr txBox="1"/>
          <p:nvPr>
            <p:ph idx="1" type="body"/>
          </p:nvPr>
        </p:nvSpPr>
        <p:spPr>
          <a:xfrm>
            <a:off x="1484300" y="3709875"/>
            <a:ext cx="10240200" cy="28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610"/>
              <a:buChar char="•"/>
            </a:pPr>
            <a:r>
              <a:rPr b="1" lang="en-US" u="sng"/>
              <a:t>Solution:</a:t>
            </a:r>
            <a:r>
              <a:rPr lang="en-US"/>
              <a:t>   For,    </a:t>
            </a:r>
            <a:r>
              <a:rPr lang="en-US"/>
              <a:t>162.120.184.35 / 12 , First 12 bits are for network bits and later 20 bits are host bits. So, for broadcast </a:t>
            </a:r>
            <a:r>
              <a:rPr lang="en-US">
                <a:highlight>
                  <a:schemeClr val="accent2"/>
                </a:highlight>
              </a:rPr>
              <a:t>all the host bits will be 1.</a:t>
            </a:r>
            <a:endParaRPr>
              <a:highlight>
                <a:schemeClr val="accent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                        Ip =          </a:t>
            </a:r>
            <a:r>
              <a:rPr lang="en-US">
                <a:highlight>
                  <a:schemeClr val="accent4"/>
                </a:highlight>
              </a:rPr>
              <a:t>10100010 . 0111</a:t>
            </a:r>
            <a:r>
              <a:rPr lang="en-US">
                <a:highlight>
                  <a:schemeClr val="accent2"/>
                </a:highlight>
              </a:rPr>
              <a:t>1000 . 10111000 . 00100011</a:t>
            </a:r>
            <a:endParaRPr>
              <a:highlight>
                <a:schemeClr val="accent2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/>
              <a:t>     </a:t>
            </a:r>
            <a:endParaRPr/>
          </a:p>
        </p:txBody>
      </p:sp>
      <p:sp>
        <p:nvSpPr>
          <p:cNvPr id="388" name="Google Shape;388;g3dd1ab28f6f_0_23"/>
          <p:cNvSpPr txBox="1"/>
          <p:nvPr/>
        </p:nvSpPr>
        <p:spPr>
          <a:xfrm>
            <a:off x="2039950" y="5759875"/>
            <a:ext cx="85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Broadcast IP =   </a:t>
            </a:r>
            <a:r>
              <a:rPr lang="en-US" sz="2400">
                <a:solidFill>
                  <a:schemeClr val="dk1"/>
                </a:solidFill>
                <a:highlight>
                  <a:schemeClr val="accent4"/>
                </a:highlight>
                <a:latin typeface="Corbel"/>
                <a:ea typeface="Corbel"/>
                <a:cs typeface="Corbel"/>
                <a:sym typeface="Corbel"/>
              </a:rPr>
              <a:t>10100010 . 0111</a:t>
            </a:r>
            <a:r>
              <a:rPr lang="en-US" sz="2400">
                <a:solidFill>
                  <a:schemeClr val="dk1"/>
                </a:solidFill>
                <a:highlight>
                  <a:schemeClr val="accent2"/>
                </a:highlight>
                <a:latin typeface="Corbel"/>
                <a:ea typeface="Corbel"/>
                <a:cs typeface="Corbel"/>
                <a:sym typeface="Corbel"/>
              </a:rPr>
              <a:t>1111 . 11111111 . 11111111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                         =           162      .          127    .      255      .      255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Prefix</a:t>
            </a:r>
            <a:endParaRPr/>
          </a:p>
        </p:txBody>
      </p:sp>
      <p:sp>
        <p:nvSpPr>
          <p:cNvPr id="394" name="Google Shape;394;p20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prefix is not always /24.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95" name="Google Shape;3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864" y="1715031"/>
            <a:ext cx="10214665" cy="463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 txBox="1"/>
          <p:nvPr>
            <p:ph type="title"/>
          </p:nvPr>
        </p:nvSpPr>
        <p:spPr>
          <a:xfrm>
            <a:off x="1253401" y="1175141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Types of IPv4 Addresses</a:t>
            </a:r>
            <a:endParaRPr/>
          </a:p>
        </p:txBody>
      </p:sp>
      <p:pic>
        <p:nvPicPr>
          <p:cNvPr id="402" name="Google Shape;4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408" name="Google Shape;4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cast-Broadcast-Multicast-Anycast | NetworkByte" id="409" name="Google Shape;4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5905" y="1392194"/>
            <a:ext cx="9111933" cy="459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</a:t>
            </a:r>
            <a:endParaRPr/>
          </a:p>
        </p:txBody>
      </p:sp>
      <p:pic>
        <p:nvPicPr>
          <p:cNvPr id="415" name="Google Shape;4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6" name="Google Shape;416;p23"/>
          <p:cNvGraphicFramePr/>
          <p:nvPr/>
        </p:nvGraphicFramePr>
        <p:xfrm>
          <a:off x="6203663" y="55537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172.16.4.253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" name="Google Shape;417;p23"/>
          <p:cNvGraphicFramePr/>
          <p:nvPr/>
        </p:nvGraphicFramePr>
        <p:xfrm>
          <a:off x="6203662" y="6122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pic>
        <p:nvPicPr>
          <p:cNvPr id="418" name="Google Shape;4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66" y="1256143"/>
            <a:ext cx="4970958" cy="417656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3"/>
          <p:cNvSpPr/>
          <p:nvPr/>
        </p:nvSpPr>
        <p:spPr>
          <a:xfrm>
            <a:off x="6838032" y="400725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3"/>
          <p:cNvSpPr txBox="1"/>
          <p:nvPr>
            <p:ph idx="1" type="body"/>
          </p:nvPr>
        </p:nvSpPr>
        <p:spPr>
          <a:xfrm>
            <a:off x="1053465" y="1475265"/>
            <a:ext cx="4645372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/>
              <a:t>Unicast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one host.</a:t>
            </a:r>
            <a:endParaRPr sz="2400"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Individual IPv4 addresses 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426" name="Google Shape;426;p24"/>
          <p:cNvSpPr txBox="1"/>
          <p:nvPr>
            <p:ph idx="1" type="body"/>
          </p:nvPr>
        </p:nvSpPr>
        <p:spPr>
          <a:xfrm>
            <a:off x="6601281" y="1506658"/>
            <a:ext cx="5516827" cy="3480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Limited Broadcast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all hosts on the </a:t>
            </a:r>
            <a:r>
              <a:rPr lang="en-US" sz="2400">
                <a:highlight>
                  <a:schemeClr val="accent2"/>
                </a:highlight>
              </a:rPr>
              <a:t>same physical/local network</a:t>
            </a:r>
            <a:r>
              <a:rPr lang="en-US" sz="2400"/>
              <a:t> or subnet.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0070C0"/>
                </a:solidFill>
              </a:rPr>
              <a:t>255.255.255.255</a:t>
            </a:r>
            <a:r>
              <a:rPr lang="en-US" sz="2400">
                <a:solidFill>
                  <a:srgbClr val="0070C0"/>
                </a:solidFill>
              </a:rPr>
              <a:t> </a:t>
            </a:r>
            <a:endParaRPr/>
          </a:p>
          <a:p>
            <a:pPr indent="-285750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Never forwarded by routers!</a:t>
            </a:r>
            <a:endParaRPr/>
          </a:p>
        </p:txBody>
      </p:sp>
      <p:pic>
        <p:nvPicPr>
          <p:cNvPr id="427" name="Google Shape;4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980" y="1748703"/>
            <a:ext cx="4772019" cy="3848532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24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4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4"/>
          <p:cNvSpPr/>
          <p:nvPr/>
        </p:nvSpPr>
        <p:spPr>
          <a:xfrm>
            <a:off x="3409334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3" name="Google Shape;433;p24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255.255.255.255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Google Shape;434;p24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435" name="Google Shape;435;p24"/>
          <p:cNvSpPr/>
          <p:nvPr/>
        </p:nvSpPr>
        <p:spPr>
          <a:xfrm>
            <a:off x="3597082" y="3213223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4"/>
          <p:cNvSpPr/>
          <p:nvPr/>
        </p:nvSpPr>
        <p:spPr>
          <a:xfrm>
            <a:off x="3023391" y="2464879"/>
            <a:ext cx="688254" cy="480291"/>
          </a:xfrm>
          <a:prstGeom prst="mathMultiply">
            <a:avLst>
              <a:gd fmla="val 23520" name="adj1"/>
            </a:avLst>
          </a:prstGeom>
          <a:solidFill>
            <a:srgbClr val="A93023"/>
          </a:solidFill>
          <a:ln cap="flat" cmpd="sng" w="25400">
            <a:solidFill>
              <a:srgbClr val="A93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25525" y="5690375"/>
            <a:ext cx="43209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Note the destination Address</a:t>
            </a:r>
            <a:endParaRPr b="1" sz="240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931" y="1879601"/>
            <a:ext cx="7763452" cy="376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" name="Google Shape;443;p28"/>
          <p:cNvGraphicFramePr/>
          <p:nvPr/>
        </p:nvGraphicFramePr>
        <p:xfrm>
          <a:off x="1235507" y="57980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4" name="Google Shape;444;p28"/>
          <p:cNvGraphicFramePr/>
          <p:nvPr/>
        </p:nvGraphicFramePr>
        <p:xfrm>
          <a:off x="1235507" y="62848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445" name="Google Shape;445;p28"/>
          <p:cNvSpPr/>
          <p:nvPr/>
        </p:nvSpPr>
        <p:spPr>
          <a:xfrm>
            <a:off x="1121930" y="3760788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1333465" y="5809545"/>
            <a:ext cx="152980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200.20.10.255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4941455" y="3389745"/>
            <a:ext cx="3943927" cy="180109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2742912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6913418" y="2370907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6531154" y="3156529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6683554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6943363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7249876" y="3185126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8"/>
          <p:cNvSpPr txBox="1"/>
          <p:nvPr>
            <p:ph idx="1" type="body"/>
          </p:nvPr>
        </p:nvSpPr>
        <p:spPr>
          <a:xfrm>
            <a:off x="8885375" y="1561800"/>
            <a:ext cx="3093300" cy="42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49916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/>
              <a:t>Directed Broadcast</a:t>
            </a:r>
            <a:endParaRPr/>
          </a:p>
          <a:p>
            <a:pPr indent="-24991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A message to all hosts on a </a:t>
            </a:r>
            <a:r>
              <a:rPr b="1" lang="en-US" sz="2400">
                <a:highlight>
                  <a:schemeClr val="accent2"/>
                </a:highlight>
              </a:rPr>
              <a:t>different network or subnet.</a:t>
            </a:r>
            <a:endParaRPr b="1">
              <a:highlight>
                <a:schemeClr val="accent2"/>
              </a:highlight>
            </a:endParaRPr>
          </a:p>
          <a:p>
            <a:pPr indent="-24991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b="1" lang="en-US" sz="2400">
                <a:solidFill>
                  <a:srgbClr val="0070C0"/>
                </a:solidFill>
              </a:rPr>
              <a:t>broadcast address of a network </a:t>
            </a:r>
            <a:endParaRPr/>
          </a:p>
          <a:p>
            <a:pPr indent="-249916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Example : 200.20.10.255</a:t>
            </a:r>
            <a:endParaRPr/>
          </a:p>
          <a:p>
            <a:pPr indent="-64769" lvl="1" marL="7429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 sz="2400"/>
          </a:p>
        </p:txBody>
      </p:sp>
      <p:sp>
        <p:nvSpPr>
          <p:cNvPr id="455" name="Google Shape;455;p28"/>
          <p:cNvSpPr txBox="1"/>
          <p:nvPr>
            <p:ph type="title"/>
          </p:nvPr>
        </p:nvSpPr>
        <p:spPr>
          <a:xfrm>
            <a:off x="1521797" y="185108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456" name="Google Shape;456;p28"/>
          <p:cNvSpPr txBox="1"/>
          <p:nvPr/>
        </p:nvSpPr>
        <p:spPr>
          <a:xfrm>
            <a:off x="7523025" y="5887300"/>
            <a:ext cx="43209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Note the destination Address</a:t>
            </a:r>
            <a:endParaRPr b="1" sz="240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</a:t>
            </a:r>
            <a:endParaRPr/>
          </a:p>
        </p:txBody>
      </p:sp>
      <p:pic>
        <p:nvPicPr>
          <p:cNvPr id="462" name="Google Shape;46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8"/>
          <p:cNvSpPr txBox="1"/>
          <p:nvPr/>
        </p:nvSpPr>
        <p:spPr>
          <a:xfrm>
            <a:off x="1821476" y="1136925"/>
            <a:ext cx="9798900" cy="51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Multicast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message addressed to a group of hosts.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Analogy: </a:t>
            </a:r>
            <a:endParaRPr sz="240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sz="2400" u="sng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 person (host)  must have a unique name (</a:t>
            </a: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IP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 can also  join a club (</a:t>
            </a: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Multicast Group IP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).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So, the host that joined the group actually listens to two ip addresses. 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the </a:t>
            </a: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destination ip = unicast ip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only the host listens the message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2209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the </a:t>
            </a: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destination ip = group ip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, the hosts in the group listens the message.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g3dd1ab28f6f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422" y="1283763"/>
            <a:ext cx="50673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dd1ab28f6f_0_74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</a:t>
            </a:r>
            <a:endParaRPr/>
          </a:p>
        </p:txBody>
      </p:sp>
      <p:pic>
        <p:nvPicPr>
          <p:cNvPr id="470" name="Google Shape;470;g3dd1ab28f6f_0_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g3dd1ab28f6f_0_74"/>
          <p:cNvSpPr/>
          <p:nvPr/>
        </p:nvSpPr>
        <p:spPr>
          <a:xfrm>
            <a:off x="1103289" y="4395180"/>
            <a:ext cx="579600" cy="2637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dd1ab28f6f_0_74"/>
          <p:cNvSpPr/>
          <p:nvPr/>
        </p:nvSpPr>
        <p:spPr>
          <a:xfrm>
            <a:off x="2963245" y="3213223"/>
            <a:ext cx="579600" cy="2637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g3dd1ab28f6f_0_74"/>
          <p:cNvSpPr/>
          <p:nvPr/>
        </p:nvSpPr>
        <p:spPr>
          <a:xfrm>
            <a:off x="3131990" y="3213223"/>
            <a:ext cx="579600" cy="2637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g3dd1ab28f6f_0_74"/>
          <p:cNvGraphicFramePr/>
          <p:nvPr/>
        </p:nvGraphicFramePr>
        <p:xfrm>
          <a:off x="745980" y="5865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224.10.10.5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5" name="Google Shape;475;g3dd1ab28f6f_0_74"/>
          <p:cNvGraphicFramePr/>
          <p:nvPr/>
        </p:nvGraphicFramePr>
        <p:xfrm>
          <a:off x="745980" y="63521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g3dd1ab28f6f_0_74"/>
          <p:cNvSpPr txBox="1"/>
          <p:nvPr/>
        </p:nvSpPr>
        <p:spPr>
          <a:xfrm>
            <a:off x="5771786" y="1286601"/>
            <a:ext cx="6339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3603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24286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Multicast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316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20833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message addressed to a group of hosts.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4316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ct val="120833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group ip addresses must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start within this range of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224 - 239.</a:t>
            </a:r>
            <a:endParaRPr b="1" i="0" sz="24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1971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Char char="•"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Multicast Group IP range: </a:t>
            </a:r>
            <a:endParaRPr b="1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                           224.0.0.0    to     239.255.255.255.</a:t>
            </a:r>
            <a:endParaRPr b="1" sz="24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g3dd1ab28f6f_0_74"/>
          <p:cNvSpPr/>
          <p:nvPr/>
        </p:nvSpPr>
        <p:spPr>
          <a:xfrm>
            <a:off x="6096000" y="3819363"/>
            <a:ext cx="6096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 of Multicast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Video and audio broadcasts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Distribution of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News feeds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Loopback </a:t>
            </a:r>
            <a:endParaRPr/>
          </a:p>
        </p:txBody>
      </p:sp>
      <p:sp>
        <p:nvSpPr>
          <p:cNvPr id="483" name="Google Shape;483;p49"/>
          <p:cNvSpPr txBox="1"/>
          <p:nvPr>
            <p:ph idx="1" type="body"/>
          </p:nvPr>
        </p:nvSpPr>
        <p:spPr>
          <a:xfrm>
            <a:off x="939675" y="1593275"/>
            <a:ext cx="5954100" cy="5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70C0"/>
                </a:solidFill>
              </a:rPr>
              <a:t>Loopback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A special IP address that a device uses to send data to itself</a:t>
            </a:r>
            <a:endParaRPr sz="2400"/>
          </a:p>
          <a:p>
            <a:pPr indent="-2540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traffic is sent to this address, it never leaves the host  and never touches the  physical network hardware like the switch.</a:t>
            </a:r>
            <a:endParaRPr sz="2400"/>
          </a:p>
          <a:p>
            <a:pPr indent="-412750" lvl="1" marL="91440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Testing and Troubleshooting purpose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900"/>
              <a:buChar char="•"/>
            </a:pPr>
            <a:r>
              <a:rPr b="1" lang="en-US" sz="2400"/>
              <a:t>Loopback Range: </a:t>
            </a:r>
            <a:endParaRPr b="1" sz="24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7D28CD"/>
                </a:solidFill>
              </a:rPr>
              <a:t>127.0.0.0 to 127.255.255.255</a:t>
            </a:r>
            <a:endParaRPr/>
          </a:p>
        </p:txBody>
      </p:sp>
      <p:pic>
        <p:nvPicPr>
          <p:cNvPr id="484" name="Google Shape;48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702" y="1521257"/>
            <a:ext cx="497205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9"/>
          <p:cNvSpPr/>
          <p:nvPr/>
        </p:nvSpPr>
        <p:spPr>
          <a:xfrm>
            <a:off x="7116163" y="4208594"/>
            <a:ext cx="579655" cy="263766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b="1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7" name="Google Shape;487;p49"/>
          <p:cNvGraphicFramePr/>
          <p:nvPr/>
        </p:nvGraphicFramePr>
        <p:xfrm>
          <a:off x="6537180" y="5905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127.0.0.1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8" name="Google Shape;488;p49"/>
          <p:cNvGraphicFramePr/>
          <p:nvPr/>
        </p:nvGraphicFramePr>
        <p:xfrm>
          <a:off x="6537180" y="6392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1186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9"/>
          <p:cNvSpPr txBox="1"/>
          <p:nvPr>
            <p:ph type="title"/>
          </p:nvPr>
        </p:nvSpPr>
        <p:spPr>
          <a:xfrm>
            <a:off x="1493546" y="1276741"/>
            <a:ext cx="10018713" cy="275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IPv6 Address</a:t>
            </a:r>
            <a:endParaRPr/>
          </a:p>
        </p:txBody>
      </p:sp>
      <p:pic>
        <p:nvPicPr>
          <p:cNvPr id="494" name="Google Shape;49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f48bd25098_0_144"/>
          <p:cNvSpPr txBox="1"/>
          <p:nvPr>
            <p:ph type="title"/>
          </p:nvPr>
        </p:nvSpPr>
        <p:spPr>
          <a:xfrm>
            <a:off x="1536437" y="277307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500" name="Google Shape;500;g2f48bd25098_0_144"/>
          <p:cNvSpPr txBox="1"/>
          <p:nvPr>
            <p:ph idx="1" type="body"/>
          </p:nvPr>
        </p:nvSpPr>
        <p:spPr>
          <a:xfrm>
            <a:off x="1536437" y="1358979"/>
            <a:ext cx="10018800" cy="1349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4"/>
              <a:buChar char="•"/>
            </a:pPr>
            <a:r>
              <a:rPr b="1" lang="en-US" sz="2800">
                <a:solidFill>
                  <a:srgbClr val="7030A0"/>
                </a:solidFill>
              </a:rPr>
              <a:t>Address Availability:</a:t>
            </a:r>
            <a:endParaRPr b="1"/>
          </a:p>
          <a:p>
            <a:pPr indent="-292354" lvl="1" marL="74295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SzPts val="3004"/>
              <a:buChar char="•"/>
            </a:pPr>
            <a:r>
              <a:rPr lang="en-US" sz="2800">
                <a:solidFill>
                  <a:srgbClr val="C00000"/>
                </a:solidFill>
              </a:rPr>
              <a:t>IPv4:   </a:t>
            </a:r>
            <a:r>
              <a:rPr b="1" lang="en-US" sz="2800">
                <a:solidFill>
                  <a:srgbClr val="0070C0"/>
                </a:solidFill>
              </a:rPr>
              <a:t>32 bits </a:t>
            </a:r>
            <a:r>
              <a:rPr lang="en-US" sz="2800"/>
              <a:t>- </a:t>
            </a:r>
            <a:r>
              <a:rPr lang="en-US" sz="2800">
                <a:solidFill>
                  <a:srgbClr val="000000"/>
                </a:solidFill>
              </a:rPr>
              <a:t>4 octets   </a:t>
            </a:r>
            <a:endParaRPr/>
          </a:p>
          <a:p>
            <a:pPr indent="-296588" lvl="2" marL="120015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SzPts val="2797"/>
              <a:buChar char="•"/>
            </a:pPr>
            <a:r>
              <a:rPr lang="en-US" sz="2800"/>
              <a:t>2^32   </a:t>
            </a:r>
            <a:r>
              <a:rPr lang="en-US" sz="2800">
                <a:solidFill>
                  <a:srgbClr val="C00000"/>
                </a:solidFill>
              </a:rPr>
              <a:t>or   4,294,467,295   </a:t>
            </a:r>
            <a:r>
              <a:rPr lang="en-US" sz="2800"/>
              <a:t>IP Addresses.</a:t>
            </a:r>
            <a:endParaRPr sz="28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653"/>
              <a:buNone/>
            </a:pPr>
            <a:r>
              <a:t/>
            </a:r>
            <a:endParaRPr sz="1940"/>
          </a:p>
        </p:txBody>
      </p:sp>
      <p:sp>
        <p:nvSpPr>
          <p:cNvPr id="501" name="Google Shape;501;g2f48bd25098_0_144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g2f48bd25098_0_144"/>
          <p:cNvSpPr/>
          <p:nvPr/>
        </p:nvSpPr>
        <p:spPr>
          <a:xfrm>
            <a:off x="1536437" y="2965949"/>
            <a:ext cx="10123055" cy="254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2354" lvl="1" marL="74295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004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IPv6: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b="1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128 bits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- 16 octets   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2^32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6588" lvl="2" marL="1200150" marR="0" rtl="0" algn="l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3.4 x 10^38  or </a:t>
            </a:r>
            <a:endParaRPr b="0" i="0" sz="2800" u="none" cap="none" strike="noStrik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340,282,366,920,938,463,463,374,607,431,768,211,456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			 (340 undecillion)</a:t>
            </a:r>
            <a:r>
              <a:rPr b="0" i="0" lang="en-US" sz="2800" u="none" cap="none" strike="noStrik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Addresses.</a:t>
            </a:r>
            <a:endParaRPr b="0" i="0" sz="20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72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3" name="Google Shape;503;g2f48bd25098_0_144"/>
          <p:cNvSpPr/>
          <p:nvPr/>
        </p:nvSpPr>
        <p:spPr>
          <a:xfrm>
            <a:off x="1627505" y="5470144"/>
            <a:ext cx="10031987" cy="1046440"/>
          </a:xfrm>
          <a:prstGeom prst="rect">
            <a:avLst/>
          </a:prstGeom>
          <a:solidFill>
            <a:srgbClr val="0B598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99"/>
                </a:solidFill>
                <a:latin typeface="Corbel"/>
                <a:ea typeface="Corbel"/>
                <a:cs typeface="Corbel"/>
                <a:sym typeface="Corbel"/>
              </a:rPr>
              <a:t>Every grain of sand on every beach on Earth could be assigned over a million unique IPv6 addresses</a:t>
            </a:r>
            <a:r>
              <a:rPr b="1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with plenty to spare (assuming approximately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7.5 x 10^18 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grains of sand globally and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2^128</a:t>
            </a: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IPv6 addresses).</a:t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Running out of IPv4 Addresses? Here are ..." id="504" name="Google Shape;504;g2f48bd25098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8448" y="1574858"/>
            <a:ext cx="2600325" cy="17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f48bd25098_0_287"/>
          <p:cNvSpPr txBox="1"/>
          <p:nvPr>
            <p:ph type="title"/>
          </p:nvPr>
        </p:nvSpPr>
        <p:spPr>
          <a:xfrm>
            <a:off x="1484311" y="685800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510" name="Google Shape;510;g2f48bd25098_0_287"/>
          <p:cNvSpPr txBox="1"/>
          <p:nvPr>
            <p:ph idx="1" type="body"/>
          </p:nvPr>
        </p:nvSpPr>
        <p:spPr>
          <a:xfrm>
            <a:off x="1484310" y="1725769"/>
            <a:ext cx="10018800" cy="2061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8702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128 bits</a:t>
            </a:r>
            <a:endParaRPr/>
          </a:p>
          <a:p>
            <a:pPr indent="-278702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None/>
            </a:pPr>
            <a:r>
              <a:t/>
            </a:r>
            <a:endParaRPr sz="3200"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62"/>
              <a:buNone/>
            </a:pPr>
            <a:r>
              <a:t/>
            </a:r>
            <a:endParaRPr/>
          </a:p>
        </p:txBody>
      </p:sp>
      <p:sp>
        <p:nvSpPr>
          <p:cNvPr id="511" name="Google Shape;511;g2f48bd25098_0_287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g2f48bd25098_0_287"/>
          <p:cNvSpPr/>
          <p:nvPr/>
        </p:nvSpPr>
        <p:spPr>
          <a:xfrm>
            <a:off x="1484309" y="4356910"/>
            <a:ext cx="9513455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0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4 bits is converted into a Hexadecimal digit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870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contains 4 Hexadecimal digits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8702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is separated by ‘:’ symbol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g2f48bd25098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751" y="3250911"/>
            <a:ext cx="10634572" cy="8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Google Shape;5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223" y="3447159"/>
            <a:ext cx="9549534" cy="59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7293" y="1505313"/>
            <a:ext cx="10758486" cy="810153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0"/>
          <p:cNvSpPr txBox="1"/>
          <p:nvPr/>
        </p:nvSpPr>
        <p:spPr>
          <a:xfrm>
            <a:off x="1327293" y="399472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1249750" y="4427063"/>
            <a:ext cx="378501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8702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Called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string notation</a:t>
            </a:r>
            <a:endParaRPr b="0" i="0" sz="2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2" name="Google Shape;522;p50"/>
          <p:cNvSpPr/>
          <p:nvPr/>
        </p:nvSpPr>
        <p:spPr>
          <a:xfrm>
            <a:off x="1410049" y="1515724"/>
            <a:ext cx="683491" cy="374020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p50"/>
          <p:cNvCxnSpPr>
            <a:stCxn id="522" idx="4"/>
          </p:cNvCxnSpPr>
          <p:nvPr/>
        </p:nvCxnSpPr>
        <p:spPr>
          <a:xfrm flipH="1">
            <a:off x="1410095" y="1889744"/>
            <a:ext cx="341700" cy="5604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4" name="Google Shape;524;p50"/>
          <p:cNvSpPr txBox="1"/>
          <p:nvPr/>
        </p:nvSpPr>
        <p:spPr>
          <a:xfrm>
            <a:off x="1421925" y="2410691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5" name="Google Shape;525;p50"/>
          <p:cNvSpPr/>
          <p:nvPr/>
        </p:nvSpPr>
        <p:spPr>
          <a:xfrm>
            <a:off x="2026457" y="1568498"/>
            <a:ext cx="683491" cy="264878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50"/>
          <p:cNvCxnSpPr>
            <a:stCxn id="525" idx="4"/>
          </p:cNvCxnSpPr>
          <p:nvPr/>
        </p:nvCxnSpPr>
        <p:spPr>
          <a:xfrm flipH="1">
            <a:off x="2026503" y="1833376"/>
            <a:ext cx="341700" cy="6696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7" name="Google Shape;527;p50"/>
          <p:cNvSpPr txBox="1"/>
          <p:nvPr/>
        </p:nvSpPr>
        <p:spPr>
          <a:xfrm>
            <a:off x="2052742" y="2498794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8" name="Google Shape;528;p50"/>
          <p:cNvSpPr/>
          <p:nvPr/>
        </p:nvSpPr>
        <p:spPr>
          <a:xfrm>
            <a:off x="2726602" y="1575030"/>
            <a:ext cx="671510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50"/>
          <p:cNvCxnSpPr>
            <a:stCxn id="528" idx="4"/>
          </p:cNvCxnSpPr>
          <p:nvPr/>
        </p:nvCxnSpPr>
        <p:spPr>
          <a:xfrm flipH="1">
            <a:off x="2726657" y="1864826"/>
            <a:ext cx="335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0" name="Google Shape;530;p50"/>
          <p:cNvSpPr txBox="1"/>
          <p:nvPr/>
        </p:nvSpPr>
        <p:spPr>
          <a:xfrm>
            <a:off x="2695541" y="2473876"/>
            <a:ext cx="3820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3348024" y="1575030"/>
            <a:ext cx="683491" cy="289796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50"/>
          <p:cNvCxnSpPr>
            <a:stCxn id="531" idx="4"/>
          </p:cNvCxnSpPr>
          <p:nvPr/>
        </p:nvCxnSpPr>
        <p:spPr>
          <a:xfrm flipH="1">
            <a:off x="3348070" y="1864826"/>
            <a:ext cx="341700" cy="644700"/>
          </a:xfrm>
          <a:prstGeom prst="straightConnector1">
            <a:avLst/>
          </a:prstGeom>
          <a:noFill/>
          <a:ln cap="flat" cmpd="sng" w="28575">
            <a:solidFill>
              <a:srgbClr val="1186C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3" name="Google Shape;533;p50"/>
          <p:cNvSpPr txBox="1"/>
          <p:nvPr/>
        </p:nvSpPr>
        <p:spPr>
          <a:xfrm>
            <a:off x="3300893" y="2473876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32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1340621" y="3526344"/>
            <a:ext cx="1100998" cy="406875"/>
          </a:xfrm>
          <a:prstGeom prst="ellipse">
            <a:avLst/>
          </a:prstGeom>
          <a:noFill/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f48bd25098_0_0"/>
          <p:cNvSpPr txBox="1"/>
          <p:nvPr>
            <p:ph type="title"/>
          </p:nvPr>
        </p:nvSpPr>
        <p:spPr>
          <a:xfrm>
            <a:off x="1484156" y="196273"/>
            <a:ext cx="100188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541" name="Google Shape;541;g2f48bd25098_0_0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v6 Address Types, Notation, and Structure Explained" id="542" name="Google Shape;542;g2f48bd2509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065" y="1491173"/>
            <a:ext cx="8886825" cy="474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f48bd25098_0_432"/>
          <p:cNvSpPr txBox="1"/>
          <p:nvPr>
            <p:ph type="title"/>
          </p:nvPr>
        </p:nvSpPr>
        <p:spPr>
          <a:xfrm>
            <a:off x="1484311" y="685800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548" name="Google Shape;548;g2f48bd25098_0_432"/>
          <p:cNvSpPr txBox="1"/>
          <p:nvPr>
            <p:ph idx="1" type="body"/>
          </p:nvPr>
        </p:nvSpPr>
        <p:spPr>
          <a:xfrm>
            <a:off x="1308820" y="1611689"/>
            <a:ext cx="100188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660066"/>
                </a:solidFill>
              </a:rPr>
              <a:t>IPv6 Representation – Rule 1: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7D28CD"/>
                </a:solidFill>
              </a:rPr>
              <a:t>The leading zeros </a:t>
            </a:r>
            <a:r>
              <a:rPr lang="en-US" sz="2400"/>
              <a:t>in any 16-bit segment </a:t>
            </a:r>
            <a:r>
              <a:rPr lang="en-US" sz="2400">
                <a:solidFill>
                  <a:srgbClr val="7D28CD"/>
                </a:solidFill>
              </a:rPr>
              <a:t>do not have </a:t>
            </a:r>
            <a:r>
              <a:rPr lang="en-US" sz="2400"/>
              <a:t>to be written.  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49" name="Google Shape;549;g2f48bd25098_0_432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0" name="Google Shape;550;g2f48bd25098_0_4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015" y="4020364"/>
            <a:ext cx="8461980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1" name="Google Shape;551;g2f48bd25098_0_432"/>
          <p:cNvCxnSpPr/>
          <p:nvPr/>
        </p:nvCxnSpPr>
        <p:spPr>
          <a:xfrm>
            <a:off x="1929403" y="4368085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cxnSp>
        <p:nvCxnSpPr>
          <p:cNvPr id="552" name="Google Shape;552;g2f48bd25098_0_432"/>
          <p:cNvCxnSpPr/>
          <p:nvPr/>
        </p:nvCxnSpPr>
        <p:spPr>
          <a:xfrm>
            <a:off x="1929403" y="5359758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sp>
        <p:nvSpPr>
          <p:cNvPr id="553" name="Google Shape;553;g2f48bd25098_0_432"/>
          <p:cNvSpPr txBox="1"/>
          <p:nvPr/>
        </p:nvSpPr>
        <p:spPr>
          <a:xfrm>
            <a:off x="9538300" y="4368063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b="1" i="0" sz="1800" u="none" cap="none" strike="noStrike">
              <a:solidFill>
                <a:srgbClr val="000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f48bd25098_0_442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560" name="Google Shape;560;g2f48bd25098_0_442"/>
          <p:cNvSpPr txBox="1"/>
          <p:nvPr>
            <p:ph idx="1" type="body"/>
          </p:nvPr>
        </p:nvSpPr>
        <p:spPr>
          <a:xfrm>
            <a:off x="1676400" y="108165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IPv6 Representation – Rule 2: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</a:t>
            </a:r>
            <a:r>
              <a:rPr lang="en-US" sz="2400">
                <a:solidFill>
                  <a:srgbClr val="000000"/>
                </a:solidFill>
                <a:highlight>
                  <a:schemeClr val="accent2"/>
                </a:highlight>
              </a:rPr>
              <a:t>contiguous string of one or more 16-bit segments consisting of all zeroes </a:t>
            </a:r>
            <a:r>
              <a:rPr lang="en-US" sz="2400">
                <a:solidFill>
                  <a:srgbClr val="000000"/>
                </a:solidFill>
              </a:rPr>
              <a:t>can be represented once with a double colon.</a:t>
            </a:r>
            <a:endParaRPr sz="2400">
              <a:solidFill>
                <a:srgbClr val="000000"/>
              </a:solidFill>
            </a:endParaRPr>
          </a:p>
          <a:p>
            <a:pPr indent="-21717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you can only use the double colon (::) once per address.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561" name="Google Shape;561;g2f48bd25098_0_442"/>
          <p:cNvGraphicFramePr/>
          <p:nvPr/>
        </p:nvGraphicFramePr>
        <p:xfrm>
          <a:off x="25146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{BFDC64EA-426C-4432-AED1-C371FD3EF7DF}</a:tableStyleId>
              </a:tblPr>
              <a:tblGrid>
                <a:gridCol w="3657600"/>
                <a:gridCol w="609600"/>
                <a:gridCol w="2971800"/>
              </a:tblGrid>
              <a:tr h="75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562" name="Google Shape;562;g2f48bd25098_0_442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563" name="Google Shape;563;g2f48bd25098_0_442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g2f48bd25098_0_442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5" name="Google Shape;565;g2f48bd25098_0_442"/>
          <p:cNvSpPr/>
          <p:nvPr/>
        </p:nvSpPr>
        <p:spPr>
          <a:xfrm>
            <a:off x="6781800" y="33528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6" name="Google Shape;566;g2f48bd25098_0_442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567" name="Google Shape;567;g2f48bd25098_0_442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2f48bd25098_0_442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9" name="Google Shape;569;g2f48bd25098_0_442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0" name="Google Shape;570;g2f48bd25098_0_442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571" name="Google Shape;571;g2f48bd25098_0_442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g2f48bd25098_0_442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g2f48bd25098_0_442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g2f48bd25098_0_442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575" name="Google Shape;575;g2f48bd25098_0_442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g2f48bd25098_0_442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g2f48bd25098_0_442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g2f48bd25098_0_442"/>
          <p:cNvSpPr txBox="1"/>
          <p:nvPr/>
        </p:nvSpPr>
        <p:spPr>
          <a:xfrm>
            <a:off x="11183677" y="5887792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f48bd25098_0_778"/>
          <p:cNvSpPr txBox="1"/>
          <p:nvPr>
            <p:ph type="title"/>
          </p:nvPr>
        </p:nvSpPr>
        <p:spPr>
          <a:xfrm>
            <a:off x="1676400" y="609601"/>
            <a:ext cx="106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584" name="Google Shape;584;g2f48bd25098_0_778"/>
          <p:cNvSpPr txBox="1"/>
          <p:nvPr>
            <p:ph idx="1" type="body"/>
          </p:nvPr>
        </p:nvSpPr>
        <p:spPr>
          <a:xfrm>
            <a:off x="1726425" y="1182255"/>
            <a:ext cx="9533758" cy="5307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SzPts val="1160"/>
              <a:buFont typeface="Tahoma"/>
              <a:buNone/>
            </a:pPr>
            <a:r>
              <a:rPr b="1" lang="en-US" sz="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ts val="406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1843::22::fa</a:t>
            </a:r>
            <a:endParaRPr b="1"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Tahoma"/>
              <a:buNone/>
            </a:pPr>
            <a:r>
              <a:rPr b="1" i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7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indent="-226175" lvl="1" marL="7429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5" name="Google Shape;585;g2f48bd25098_0_778"/>
          <p:cNvSpPr txBox="1"/>
          <p:nvPr/>
        </p:nvSpPr>
        <p:spPr>
          <a:xfrm>
            <a:off x="6021525" y="4728727"/>
            <a:ext cx="4587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chemeClr val="dk2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2f48bd25098_0_778"/>
          <p:cNvSpPr txBox="1"/>
          <p:nvPr/>
        </p:nvSpPr>
        <p:spPr>
          <a:xfrm>
            <a:off x="11260183" y="5887792"/>
            <a:ext cx="47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105" y="1741307"/>
            <a:ext cx="4229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922" y="4097914"/>
            <a:ext cx="101727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8451" y="3613178"/>
            <a:ext cx="1084407" cy="48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033" y="3744081"/>
            <a:ext cx="718843" cy="3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9520" y="1948473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0589" y="3792187"/>
            <a:ext cx="1274479" cy="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1"/>
          <p:cNvSpPr txBox="1"/>
          <p:nvPr/>
        </p:nvSpPr>
        <p:spPr>
          <a:xfrm>
            <a:off x="1409872" y="259329"/>
            <a:ext cx="10018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Representing IPv6 addresses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8" name="Google Shape;598;p51"/>
          <p:cNvSpPr/>
          <p:nvPr/>
        </p:nvSpPr>
        <p:spPr>
          <a:xfrm>
            <a:off x="2716069" y="5943453"/>
            <a:ext cx="79451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chemeClr val="accent2"/>
                </a:highlight>
                <a:latin typeface="Corbel"/>
                <a:ea typeface="Corbel"/>
                <a:cs typeface="Corbel"/>
                <a:sym typeface="Corbel"/>
              </a:rPr>
              <a:t>No Subnet masks in dotted decimal format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IPv6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9" name="Google Shape;599;p51"/>
          <p:cNvSpPr/>
          <p:nvPr/>
        </p:nvSpPr>
        <p:spPr>
          <a:xfrm>
            <a:off x="6157235" y="2143201"/>
            <a:ext cx="24484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IPv4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0" name="Google Shape;600;p51"/>
          <p:cNvSpPr/>
          <p:nvPr/>
        </p:nvSpPr>
        <p:spPr>
          <a:xfrm>
            <a:off x="4813344" y="5424991"/>
            <a:ext cx="245003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831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2"/>
          <p:cNvSpPr txBox="1"/>
          <p:nvPr>
            <p:ph type="title"/>
          </p:nvPr>
        </p:nvSpPr>
        <p:spPr>
          <a:xfrm>
            <a:off x="1419656" y="1590777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606" name="Google Shape;60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