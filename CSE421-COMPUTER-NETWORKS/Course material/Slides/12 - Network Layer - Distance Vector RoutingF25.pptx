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Arimo"/>
      <p:regular r:id="rId42"/>
      <p:bold r:id="rId43"/>
      <p:italic r:id="rId44"/>
      <p:boldItalic r:id="rId45"/>
    </p:embeddedFont>
    <p:embeddedFont>
      <p:font typeface="Corbel"/>
      <p:regular r:id="rId46"/>
      <p:bold r:id="rId47"/>
      <p:italic r:id="rId48"/>
      <p:boldItalic r:id="rId49"/>
    </p:embeddedFont>
    <p:embeddedFont>
      <p:font typeface="Tahoma"/>
      <p:regular r:id="rId50"/>
      <p:bold r:id="rId51"/>
    </p:embeddedFont>
    <p:embeddedFont>
      <p:font typeface="Lustria"/>
      <p:regular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hnwXWV4Us5020O5LCQB5IQR//5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61B43A-811D-4AEE-932D-338BD3491CE6}">
  <a:tblStyle styleId="{5061B43A-811D-4AEE-932D-338BD3491CE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Arimo-regular.fntdata"/><Relationship Id="rId41" Type="http://schemas.openxmlformats.org/officeDocument/2006/relationships/slide" Target="slides/slide35.xml"/><Relationship Id="rId44" Type="http://schemas.openxmlformats.org/officeDocument/2006/relationships/font" Target="fonts/Arimo-italic.fntdata"/><Relationship Id="rId43" Type="http://schemas.openxmlformats.org/officeDocument/2006/relationships/font" Target="fonts/Arimo-bold.fntdata"/><Relationship Id="rId46" Type="http://schemas.openxmlformats.org/officeDocument/2006/relationships/font" Target="fonts/Corbel-regular.fntdata"/><Relationship Id="rId45" Type="http://schemas.openxmlformats.org/officeDocument/2006/relationships/font" Target="fonts/Arim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orbel-italic.fntdata"/><Relationship Id="rId47" Type="http://schemas.openxmlformats.org/officeDocument/2006/relationships/font" Target="fonts/Corbel-bold.fntdata"/><Relationship Id="rId49" Type="http://schemas.openxmlformats.org/officeDocument/2006/relationships/font" Target="fonts/Corbel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Tahoma-bold.fntdata"/><Relationship Id="rId50" Type="http://schemas.openxmlformats.org/officeDocument/2006/relationships/font" Target="fonts/Tahoma-regular.fntdata"/><Relationship Id="rId53" Type="http://customschemas.google.com/relationships/presentationmetadata" Target="metadata"/><Relationship Id="rId52" Type="http://schemas.openxmlformats.org/officeDocument/2006/relationships/font" Target="fonts/Lustria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643ac904d_0_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g3e643ac904d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g3e643ac904d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3" marL="16922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0000"/>
                </a:solidFill>
              </a:rPr>
              <a:t>Inefficient:</a:t>
            </a:r>
            <a:r>
              <a:rPr lang="en-US"/>
              <a:t>   Updates consume bandwidth and router CPU resources.</a:t>
            </a:r>
            <a:endParaRPr/>
          </a:p>
          <a:p>
            <a:pPr indent="-381000" lvl="3" marL="16922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Periodic updates are </a:t>
            </a:r>
            <a:r>
              <a:rPr lang="en-US">
                <a:solidFill>
                  <a:srgbClr val="FF0000"/>
                </a:solidFill>
              </a:rPr>
              <a:t>always sent</a:t>
            </a:r>
            <a:r>
              <a:rPr lang="en-US"/>
              <a:t> even there have been no changes for weeks or months.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Tahoma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10.3.0.0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Serial 0/0/0 </a:t>
            </a:r>
            <a:r>
              <a:rPr lang="en-US"/>
              <a:t>interface with a metric of 1.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Tahoma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10.2.0.0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Serial 0/0/1</a:t>
            </a:r>
            <a:r>
              <a:rPr lang="en-US"/>
              <a:t> interface with a metric of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10.4.0.0</a:t>
            </a:r>
            <a:r>
              <a:rPr lang="en-US"/>
              <a:t> out the </a:t>
            </a:r>
            <a:r>
              <a:rPr lang="en-US">
                <a:solidFill>
                  <a:srgbClr val="FFFF00"/>
                </a:solidFill>
              </a:rPr>
              <a:t>S0/0/0</a:t>
            </a:r>
            <a:r>
              <a:rPr lang="en-US"/>
              <a:t> interface with a metric of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10.3.0.0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Fa0/0 </a:t>
            </a:r>
            <a:r>
              <a:rPr lang="en-US"/>
              <a:t>interface with a metric of 1.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the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10.3.0.0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and adds it to its routing table.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the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10.2.0.0 </a:t>
            </a:r>
            <a:r>
              <a:rPr lang="en-US"/>
              <a:t>and adds it to its routing 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R2 Receives</a:t>
            </a:r>
            <a:r>
              <a:rPr lang="en-US"/>
              <a:t> the update </a:t>
            </a:r>
            <a:r>
              <a:rPr lang="en-US">
                <a:solidFill>
                  <a:srgbClr val="00B050"/>
                </a:solidFill>
              </a:rPr>
              <a:t>from R1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10.1.0.0 </a:t>
            </a:r>
            <a:r>
              <a:rPr lang="en-US"/>
              <a:t>and adds it to its routing table.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R2 Receives</a:t>
            </a:r>
            <a:r>
              <a:rPr lang="en-US"/>
              <a:t> the update </a:t>
            </a:r>
            <a:r>
              <a:rPr lang="en-US">
                <a:solidFill>
                  <a:srgbClr val="00B050"/>
                </a:solidFill>
              </a:rPr>
              <a:t>from R3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10.4.0.0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and adds it to its routing 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1200"/>
              <a:t>Sends an update about networks </a:t>
            </a:r>
            <a:r>
              <a:rPr lang="en-US" sz="1200">
                <a:solidFill>
                  <a:srgbClr val="FF0000"/>
                </a:solidFill>
              </a:rPr>
              <a:t>10.3.0.0</a:t>
            </a:r>
            <a:r>
              <a:rPr lang="en-US" sz="1200"/>
              <a:t> with a metric of 1 and </a:t>
            </a:r>
            <a:r>
              <a:rPr lang="en-US" sz="1200">
                <a:solidFill>
                  <a:srgbClr val="FF0000"/>
                </a:solidFill>
              </a:rPr>
              <a:t>10.4.0.0</a:t>
            </a:r>
            <a:r>
              <a:rPr lang="en-US" sz="1200"/>
              <a:t> with a metric of 2 out the </a:t>
            </a:r>
            <a:r>
              <a:rPr lang="en-US" sz="1200">
                <a:solidFill>
                  <a:srgbClr val="FF0000"/>
                </a:solidFill>
              </a:rPr>
              <a:t>Serial 0/0/0</a:t>
            </a:r>
            <a:r>
              <a:rPr lang="en-US" sz="1200"/>
              <a:t> interface.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200"/>
              <a:t>Similarly sends updates about networks </a:t>
            </a:r>
            <a:r>
              <a:rPr lang="en-US" sz="1200">
                <a:solidFill>
                  <a:srgbClr val="FF0000"/>
                </a:solidFill>
              </a:rPr>
              <a:t>10.1.0.0</a:t>
            </a:r>
            <a:r>
              <a:rPr lang="en-US" sz="1200"/>
              <a:t> with a metric of 2 and </a:t>
            </a:r>
            <a:r>
              <a:rPr lang="en-US" sz="1200">
                <a:solidFill>
                  <a:srgbClr val="FF0000"/>
                </a:solidFill>
              </a:rPr>
              <a:t>10.2.0.0</a:t>
            </a:r>
            <a:r>
              <a:rPr lang="en-US" sz="1200"/>
              <a:t> with a metric of 1 out the </a:t>
            </a:r>
            <a:r>
              <a:rPr lang="en-US" sz="1200">
                <a:solidFill>
                  <a:srgbClr val="FF0000"/>
                </a:solidFill>
              </a:rPr>
              <a:t>Serial 0/0/1</a:t>
            </a:r>
            <a:r>
              <a:rPr lang="en-US" sz="1200"/>
              <a:t> interface.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Char char="r"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Sends an update about network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10.4.0.0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out the S0/0/0 interface with a metric of 1  - 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AGAIN!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Char char="r"/>
            </a:pPr>
            <a:r>
              <a:rPr b="0" i="0" lang="en-US" sz="12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When R2 receives the update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there is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no change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in information so the update is ignored.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10.3.0.0</a:t>
            </a:r>
            <a:r>
              <a:rPr lang="en-US"/>
              <a:t> and there is no change – </a:t>
            </a:r>
            <a:r>
              <a:rPr lang="en-US">
                <a:solidFill>
                  <a:srgbClr val="FF0000"/>
                </a:solidFill>
              </a:rPr>
              <a:t>update ignored</a:t>
            </a:r>
            <a:r>
              <a:rPr lang="en-US"/>
              <a:t>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10.4.0.0 (new)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adds it to its routing 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10.2.0.0</a:t>
            </a:r>
            <a:r>
              <a:rPr lang="en-US"/>
              <a:t> and there is no change – </a:t>
            </a:r>
            <a:r>
              <a:rPr lang="en-US">
                <a:solidFill>
                  <a:srgbClr val="FF0000"/>
                </a:solidFill>
              </a:rPr>
              <a:t>update ignored</a:t>
            </a:r>
            <a:r>
              <a:rPr lang="en-US"/>
              <a:t>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10.1.0.0 (new)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adds it to its routing table.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5" name="Google Shape;64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Therefore, network administrators </a:t>
            </a:r>
            <a:r>
              <a:rPr b="1" lang="en-US"/>
              <a:t>prefer routing protocols with faster convergence</a:t>
            </a:r>
            <a:r>
              <a:rPr lang="en-US"/>
              <a:t>.</a:t>
            </a:r>
            <a:endParaRPr/>
          </a:p>
        </p:txBody>
      </p:sp>
      <p:sp>
        <p:nvSpPr>
          <p:cNvPr id="653" name="Google Shape;65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Therefore, network administrators </a:t>
            </a:r>
            <a:r>
              <a:rPr b="1" lang="en-US"/>
              <a:t>prefer routing protocols with faster convergence</a:t>
            </a:r>
            <a:r>
              <a:rPr lang="en-US"/>
              <a:t>.</a:t>
            </a:r>
            <a:endParaRPr/>
          </a:p>
        </p:txBody>
      </p:sp>
      <p:sp>
        <p:nvSpPr>
          <p:cNvPr id="661" name="Google Shape;6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As you see in this graph, there is only one link between A and the other parts of the network.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 Now imagine that the link between A and B is cut.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 At this time, B corrects its table.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8" name="Google Shape;70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e643ac904d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g3e643ac904d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8" name="Google Shape;72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5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45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45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45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45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45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45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4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5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4" name="Google Shape;54;p51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51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6" name="Google Shape;56;p51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7" name="Google Shape;57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2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63" name="Google Shape;63;p52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64" name="Google Shape;64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3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3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1" name="Google Shape;71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4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4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8" name="Google Shape;78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4" name="Google Shape;84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6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6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2" name="Google Shape;92;p56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7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8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7" name="Google Shape;107;p58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9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9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4" name="Google Shape;114;p59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0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1" name="Google Shape;121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1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1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7" name="Google Shape;127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4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4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4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4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4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4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4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4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4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13.jpg"/><Relationship Id="rId5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geeksforgeeks.org/computer-networks/what-is-poison-reverse-in-networking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12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 txBox="1"/>
          <p:nvPr>
            <p:ph type="ctrTitle"/>
          </p:nvPr>
        </p:nvSpPr>
        <p:spPr>
          <a:xfrm>
            <a:off x="2928400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</a:t>
            </a:r>
            <a:br>
              <a:rPr lang="en-US"/>
            </a:br>
            <a:r>
              <a:rPr lang="en-US" sz="3200"/>
              <a:t>Routing Algorithm</a:t>
            </a:r>
            <a:br>
              <a:rPr lang="en-US" sz="2800"/>
            </a:br>
            <a:r>
              <a:rPr b="1" i="1" lang="en-US" sz="2400"/>
              <a:t>Distance Vector Routing</a:t>
            </a:r>
            <a:endParaRPr b="1" i="1"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>
            <p:ph type="title"/>
          </p:nvPr>
        </p:nvSpPr>
        <p:spPr>
          <a:xfrm>
            <a:off x="1591925" y="545536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44" name="Google Shape;144;p2"/>
          <p:cNvSpPr txBox="1"/>
          <p:nvPr>
            <p:ph idx="1" type="body"/>
          </p:nvPr>
        </p:nvSpPr>
        <p:spPr>
          <a:xfrm>
            <a:off x="1591925" y="1768839"/>
            <a:ext cx="10018713" cy="4751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9093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55"/>
              <a:buFont typeface="Arial"/>
              <a:buChar char="•"/>
            </a:pPr>
            <a:r>
              <a:rPr lang="en-US" sz="3900"/>
              <a:t>understand principles behind network layer services:</a:t>
            </a:r>
            <a:endParaRPr/>
          </a:p>
          <a:p>
            <a:pPr indent="-322263" lvl="1" marL="742950" rtl="0" algn="l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SzPts val="5075"/>
              <a:buFont typeface="Arial"/>
              <a:buChar char="•"/>
            </a:pPr>
            <a:r>
              <a:rPr lang="en-US" sz="4000"/>
              <a:t>routing algorithms</a:t>
            </a:r>
            <a:endParaRPr sz="2800"/>
          </a:p>
          <a:p>
            <a:pPr indent="-285750" lvl="2" marL="120015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SzPts val="4350"/>
              <a:buChar char="•"/>
            </a:pPr>
            <a:r>
              <a:rPr b="1" lang="en-US" sz="3600"/>
              <a:t>distance vector</a:t>
            </a:r>
            <a:endParaRPr sz="2400"/>
          </a:p>
          <a:p>
            <a:pPr indent="-285750" lvl="2" marL="120015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SzPts val="4350"/>
              <a:buChar char="•"/>
            </a:pPr>
            <a:r>
              <a:rPr b="1" lang="en-US" sz="3600"/>
              <a:t>link state</a:t>
            </a:r>
            <a:endParaRPr b="1" sz="3600"/>
          </a:p>
          <a:p>
            <a:pPr indent="0" lvl="0" marL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145" name="Google Shape;145;p2"/>
          <p:cNvSpPr txBox="1"/>
          <p:nvPr>
            <p:ph idx="12" type="sldNum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>
            <p:ph type="title"/>
          </p:nvPr>
        </p:nvSpPr>
        <p:spPr>
          <a:xfrm>
            <a:off x="1484310" y="124098"/>
            <a:ext cx="10018713" cy="9181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Autonomous Systems</a:t>
            </a:r>
            <a:endParaRPr/>
          </a:p>
        </p:txBody>
      </p:sp>
      <p:sp>
        <p:nvSpPr>
          <p:cNvPr id="152" name="Google Shape;152;p4"/>
          <p:cNvSpPr txBox="1"/>
          <p:nvPr>
            <p:ph idx="1" type="body"/>
          </p:nvPr>
        </p:nvSpPr>
        <p:spPr>
          <a:xfrm>
            <a:off x="1340619" y="1338489"/>
            <a:ext cx="10608127" cy="4711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18528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1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Internet is divided into autonomous systems (AS). </a:t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-318528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501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An AS = a group of networks and routers controlled by one organization. </a:t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-318528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501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Routing </a:t>
            </a:r>
            <a:r>
              <a:rPr b="1" i="1" lang="en-US" sz="3200">
                <a:solidFill>
                  <a:srgbClr val="7D28CD"/>
                </a:solidFill>
                <a:latin typeface="Arimo"/>
                <a:ea typeface="Arimo"/>
                <a:cs typeface="Arimo"/>
                <a:sym typeface="Arimo"/>
              </a:rPr>
              <a:t>inside</a:t>
            </a:r>
            <a:r>
              <a:rPr lang="en-US" sz="3200">
                <a:latin typeface="Arimo"/>
                <a:ea typeface="Arimo"/>
                <a:cs typeface="Arimo"/>
                <a:sym typeface="Arimo"/>
              </a:rPr>
              <a:t> an autonomous systems(AS) :</a:t>
            </a:r>
            <a:r>
              <a:rPr b="1" lang="en-US" sz="320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intra-domain routing</a:t>
            </a:r>
            <a:r>
              <a:rPr lang="en-US" sz="320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r>
              <a:rPr lang="en-US" sz="3200">
                <a:latin typeface="Arimo"/>
                <a:ea typeface="Arimo"/>
                <a:cs typeface="Arimo"/>
                <a:sym typeface="Arimo"/>
              </a:rPr>
              <a:t> </a:t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-318528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501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Routing </a:t>
            </a:r>
            <a:r>
              <a:rPr b="1" i="1" lang="en-US" sz="3200">
                <a:solidFill>
                  <a:srgbClr val="7D28CD"/>
                </a:solidFill>
                <a:latin typeface="Arimo"/>
                <a:ea typeface="Arimo"/>
                <a:cs typeface="Arimo"/>
                <a:sym typeface="Arimo"/>
              </a:rPr>
              <a:t>between</a:t>
            </a:r>
            <a:r>
              <a:rPr lang="en-US" sz="3200">
                <a:latin typeface="Arimo"/>
                <a:ea typeface="Arimo"/>
                <a:cs typeface="Arimo"/>
                <a:sym typeface="Arimo"/>
              </a:rPr>
              <a:t> autonomous systems(AS) :</a:t>
            </a:r>
            <a:r>
              <a:rPr b="1" lang="en-US" sz="320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inter-domain routing.</a:t>
            </a:r>
            <a:endParaRPr b="1" sz="3200">
              <a:solidFill>
                <a:srgbClr val="1186C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762"/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>
            <p:ph type="title"/>
          </p:nvPr>
        </p:nvSpPr>
        <p:spPr>
          <a:xfrm>
            <a:off x="1484310" y="263524"/>
            <a:ext cx="10018713" cy="955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Autonomous Systems</a:t>
            </a:r>
            <a:endParaRPr/>
          </a:p>
        </p:txBody>
      </p:sp>
      <p:sp>
        <p:nvSpPr>
          <p:cNvPr id="160" name="Google Shape;160;p5"/>
          <p:cNvSpPr txBox="1"/>
          <p:nvPr>
            <p:ph idx="12" type="sldNum"/>
          </p:nvPr>
        </p:nvSpPr>
        <p:spPr>
          <a:xfrm>
            <a:off x="10951856" y="604969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3527" y="1460827"/>
            <a:ext cx="8624616" cy="47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9368850" y="2323475"/>
            <a:ext cx="1379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RIP/ OSPF</a:t>
            </a:r>
            <a:endParaRPr b="1" i="0" sz="1800" u="none" cap="none" strike="noStrik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>
            <p:ph type="title"/>
          </p:nvPr>
        </p:nvSpPr>
        <p:spPr>
          <a:xfrm>
            <a:off x="1591925" y="128309"/>
            <a:ext cx="10018713" cy="93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Popular Routing Protocols</a:t>
            </a:r>
            <a:endParaRPr/>
          </a:p>
        </p:txBody>
      </p:sp>
      <p:sp>
        <p:nvSpPr>
          <p:cNvPr id="169" name="Google Shape;169;p3"/>
          <p:cNvSpPr txBox="1"/>
          <p:nvPr>
            <p:ph idx="12" type="sldNum"/>
          </p:nvPr>
        </p:nvSpPr>
        <p:spPr>
          <a:xfrm>
            <a:off x="11290174" y="612355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ing Protocols » CS Taleem" id="171" name="Google Shape;1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3932" y="1087638"/>
            <a:ext cx="7432765" cy="521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1433578" y="0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Routing Algorithms</a:t>
            </a:r>
            <a:endParaRPr/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755903" y="1572896"/>
            <a:ext cx="7016497" cy="4278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1468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3600"/>
              <a:t>Given a set of routers and links connecting the routers.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600"/>
          </a:p>
          <a:p>
            <a:pPr indent="-331468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Char char="•"/>
            </a:pPr>
            <a:r>
              <a:rPr lang="en-US" sz="3600"/>
              <a:t>Routing algorithm finds a “</a:t>
            </a:r>
            <a:r>
              <a:rPr lang="en-US" sz="3600">
                <a:solidFill>
                  <a:srgbClr val="FF0000"/>
                </a:solidFill>
              </a:rPr>
              <a:t>good</a:t>
            </a:r>
            <a:r>
              <a:rPr lang="en-US" sz="3600"/>
              <a:t>” path from the source to destination router.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600"/>
          </a:p>
          <a:p>
            <a:pPr indent="-331468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Char char="•"/>
            </a:pPr>
            <a:r>
              <a:rPr lang="en-US" sz="3600"/>
              <a:t>Good path = Lowest cost path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 txBox="1"/>
          <p:nvPr>
            <p:ph idx="12" type="sldNum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2314375"/>
            <a:ext cx="4171668" cy="274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>
            <p:ph type="title"/>
          </p:nvPr>
        </p:nvSpPr>
        <p:spPr>
          <a:xfrm>
            <a:off x="1157995" y="140166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Routing Algorithm classification</a:t>
            </a:r>
            <a:endParaRPr/>
          </a:p>
        </p:txBody>
      </p:sp>
      <p:sp>
        <p:nvSpPr>
          <p:cNvPr id="188" name="Google Shape;188;p8"/>
          <p:cNvSpPr txBox="1"/>
          <p:nvPr>
            <p:ph idx="1" type="body"/>
          </p:nvPr>
        </p:nvSpPr>
        <p:spPr>
          <a:xfrm>
            <a:off x="1310045" y="1346052"/>
            <a:ext cx="10018800" cy="5511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45000"/>
              <a:buFont typeface="Arial"/>
              <a:buNone/>
            </a:pPr>
            <a:r>
              <a:rPr b="1" lang="en-US" sz="3900">
                <a:solidFill>
                  <a:srgbClr val="7D28CD"/>
                </a:solidFill>
              </a:rPr>
              <a:t>Global:</a:t>
            </a:r>
            <a:endParaRPr/>
          </a:p>
          <a:p>
            <a:pPr indent="-394373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Every router knows the whole network (all nodes, all links, and their costs).</a:t>
            </a:r>
            <a:endParaRPr sz="3800"/>
          </a:p>
          <a:p>
            <a:pPr indent="-218352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r>
              <a:t/>
            </a:r>
            <a:endParaRPr sz="3300"/>
          </a:p>
          <a:p>
            <a:pPr indent="-394373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Each router builds a complete map (topology).</a:t>
            </a:r>
            <a:endParaRPr sz="3800"/>
          </a:p>
          <a:p>
            <a:pPr indent="-218352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r>
              <a:t/>
            </a:r>
            <a:endParaRPr sz="3300"/>
          </a:p>
          <a:p>
            <a:pPr indent="-394373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Uses </a:t>
            </a:r>
            <a:r>
              <a:rPr b="1" lang="en-US" sz="3300">
                <a:solidFill>
                  <a:srgbClr val="1186C3"/>
                </a:solidFill>
              </a:rPr>
              <a:t>link state algorithms </a:t>
            </a:r>
            <a:r>
              <a:rPr lang="en-US" sz="3300"/>
              <a:t>(like Dijkstra’s shortest path).</a:t>
            </a:r>
            <a:endParaRPr sz="3800"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0000"/>
              <a:buNone/>
            </a:pPr>
            <a:br>
              <a:rPr lang="en-US" sz="3200"/>
            </a:br>
            <a:r>
              <a:rPr b="1" lang="en-US" sz="3900">
                <a:solidFill>
                  <a:srgbClr val="7D28CD"/>
                </a:solidFill>
              </a:rPr>
              <a:t>Decentralized:</a:t>
            </a:r>
            <a:r>
              <a:rPr b="1" lang="en-US" sz="2600">
                <a:solidFill>
                  <a:srgbClr val="7D28CD"/>
                </a:solidFill>
              </a:rPr>
              <a:t> </a:t>
            </a:r>
            <a:endParaRPr b="1" sz="3000">
              <a:solidFill>
                <a:srgbClr val="7D28CD"/>
              </a:solidFill>
            </a:endParaRPr>
          </a:p>
          <a:p>
            <a:pPr indent="-394373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Each router only knows about its neighbors and the cost to reach them.</a:t>
            </a:r>
            <a:endParaRPr sz="3800"/>
          </a:p>
          <a:p>
            <a:pPr indent="-218352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r>
              <a:t/>
            </a:r>
            <a:endParaRPr sz="3300"/>
          </a:p>
          <a:p>
            <a:pPr indent="-394373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Routers share information with neighbors and update step by step.</a:t>
            </a:r>
            <a:endParaRPr sz="3800"/>
          </a:p>
          <a:p>
            <a:pPr indent="-218352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r>
              <a:t/>
            </a:r>
            <a:endParaRPr sz="3300"/>
          </a:p>
          <a:p>
            <a:pPr indent="-394373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Uses </a:t>
            </a:r>
            <a:r>
              <a:rPr b="1" lang="en-US" sz="3300">
                <a:solidFill>
                  <a:srgbClr val="1186C3"/>
                </a:solidFill>
              </a:rPr>
              <a:t>distance vector algorithms</a:t>
            </a:r>
            <a:r>
              <a:rPr lang="en-US" sz="3300"/>
              <a:t> (like Bellman-Ford).</a:t>
            </a:r>
            <a:endParaRPr sz="3800"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41"/>
              <a:buNone/>
            </a:pPr>
            <a:br>
              <a:rPr lang="en-US" sz="3200"/>
            </a:br>
            <a:endParaRPr b="1">
              <a:solidFill>
                <a:srgbClr val="1186C3"/>
              </a:solidFill>
            </a:endParaRPr>
          </a:p>
        </p:txBody>
      </p:sp>
      <p:sp>
        <p:nvSpPr>
          <p:cNvPr id="189" name="Google Shape;189;p8"/>
          <p:cNvSpPr txBox="1"/>
          <p:nvPr>
            <p:ph idx="12" type="sldNum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Decentralized - Free business icons" id="191" name="Google Shape;191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Distance Vector Algorithm</a:t>
            </a:r>
            <a:endParaRPr/>
          </a:p>
        </p:txBody>
      </p:sp>
      <p:sp>
        <p:nvSpPr>
          <p:cNvPr id="197" name="Google Shape;197;p1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/>
          <p:nvPr>
            <p:ph idx="4294967295" type="title"/>
          </p:nvPr>
        </p:nvSpPr>
        <p:spPr>
          <a:xfrm>
            <a:off x="1484310" y="0"/>
            <a:ext cx="10018713" cy="1115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400"/>
              <a:t>Distance vector algorithm </a:t>
            </a:r>
            <a:endParaRPr sz="4400"/>
          </a:p>
        </p:txBody>
      </p:sp>
      <p:sp>
        <p:nvSpPr>
          <p:cNvPr id="204" name="Google Shape;204;p7"/>
          <p:cNvSpPr txBox="1"/>
          <p:nvPr>
            <p:ph idx="4294967295" type="body"/>
          </p:nvPr>
        </p:nvSpPr>
        <p:spPr>
          <a:xfrm>
            <a:off x="1126653" y="1066088"/>
            <a:ext cx="10376369" cy="5609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Based on </a:t>
            </a:r>
            <a:r>
              <a:rPr b="1" lang="en-US" sz="3600"/>
              <a:t>Bellman-Ford Algorithm</a:t>
            </a:r>
            <a:r>
              <a:rPr lang="en-US" sz="3600"/>
              <a:t>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Each router finds </a:t>
            </a:r>
            <a:r>
              <a:rPr b="1" lang="en-US" sz="3600"/>
              <a:t>shortest paths</a:t>
            </a:r>
            <a:r>
              <a:rPr lang="en-US" sz="3600"/>
              <a:t> to all destinations.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Shortest path cost can be: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Hop count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Link delay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Bandwidth</a:t>
            </a:r>
            <a:endParaRPr sz="3200"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Uses a </a:t>
            </a:r>
            <a:r>
              <a:rPr b="1" lang="en-US" sz="3600"/>
              <a:t>weighted network (topology)</a:t>
            </a:r>
            <a:r>
              <a:rPr lang="en-US" sz="3600"/>
              <a:t>.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istance Vector Routing Algorithm | Example | Gate Vidyalay"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57" y="2677386"/>
            <a:ext cx="3593465" cy="280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>
            <p:ph idx="4294967295" type="title"/>
          </p:nvPr>
        </p:nvSpPr>
        <p:spPr>
          <a:xfrm>
            <a:off x="1366745" y="0"/>
            <a:ext cx="10018713" cy="1115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How Does It Work?</a:t>
            </a:r>
            <a:endParaRPr/>
          </a:p>
        </p:txBody>
      </p:sp>
      <p:sp>
        <p:nvSpPr>
          <p:cNvPr id="213" name="Google Shape;213;p9"/>
          <p:cNvSpPr txBox="1"/>
          <p:nvPr>
            <p:ph idx="4294967295" type="body"/>
          </p:nvPr>
        </p:nvSpPr>
        <p:spPr>
          <a:xfrm>
            <a:off x="880985" y="1358856"/>
            <a:ext cx="9825202" cy="4281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Each router keeps a </a:t>
            </a:r>
            <a:r>
              <a:rPr b="1" lang="en-US" sz="3600">
                <a:solidFill>
                  <a:srgbClr val="1186C3"/>
                </a:solidFill>
              </a:rPr>
              <a:t>Distance Vector (table)</a:t>
            </a:r>
            <a:r>
              <a:rPr lang="en-US" sz="3600"/>
              <a:t>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Router </a:t>
            </a:r>
            <a:r>
              <a:rPr b="1" lang="en-US" sz="3600">
                <a:solidFill>
                  <a:srgbClr val="1186C3"/>
                </a:solidFill>
              </a:rPr>
              <a:t>shares its table</a:t>
            </a:r>
            <a:r>
              <a:rPr lang="en-US" sz="3600">
                <a:solidFill>
                  <a:srgbClr val="1186C3"/>
                </a:solidFill>
              </a:rPr>
              <a:t> </a:t>
            </a:r>
            <a:r>
              <a:rPr lang="en-US" sz="3600"/>
              <a:t>with neighbors regularly.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When a router gets a table from a neighbor, it </a:t>
            </a:r>
            <a:r>
              <a:rPr b="1" lang="en-US" sz="3600">
                <a:solidFill>
                  <a:srgbClr val="1186C3"/>
                </a:solidFill>
              </a:rPr>
              <a:t>updates its own table</a:t>
            </a:r>
            <a:r>
              <a:rPr lang="en-US" sz="3600">
                <a:solidFill>
                  <a:srgbClr val="1186C3"/>
                </a:solidFill>
              </a:rPr>
              <a:t> </a:t>
            </a:r>
            <a:r>
              <a:rPr lang="en-US" sz="3600"/>
              <a:t>using the Bellman-Ford rule.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Repeat until all routers know the shortest paths.</a:t>
            </a:r>
            <a:endParaRPr sz="3600"/>
          </a:p>
        </p:txBody>
      </p:sp>
      <p:sp>
        <p:nvSpPr>
          <p:cNvPr id="214" name="Google Shape;214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643ac904d_0_3"/>
          <p:cNvSpPr txBox="1"/>
          <p:nvPr>
            <p:ph idx="4294967295" type="title"/>
          </p:nvPr>
        </p:nvSpPr>
        <p:spPr>
          <a:xfrm>
            <a:off x="1366750" y="0"/>
            <a:ext cx="100188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500"/>
              <a:t>Algorithm</a:t>
            </a:r>
            <a:endParaRPr sz="3500"/>
          </a:p>
        </p:txBody>
      </p:sp>
      <p:sp>
        <p:nvSpPr>
          <p:cNvPr id="221" name="Google Shape;221;g3e643ac904d_0_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2" name="Google Shape;222;g3e643ac904d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750" y="687075"/>
            <a:ext cx="9618849" cy="600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Distance Vector Routing (DVR) Protocol ..." id="228" name="Google Shape;228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tance Vector Routing Algorithm | Example | Gate Vidyalay"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5919" y="997543"/>
            <a:ext cx="3593465" cy="28073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0" name="Google Shape;230;p10"/>
          <p:cNvGraphicFramePr/>
          <p:nvPr/>
        </p:nvGraphicFramePr>
        <p:xfrm>
          <a:off x="1259242" y="9975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{5061B43A-811D-4AEE-932D-338BD3491CE6}</a:tableStyleId>
              </a:tblPr>
              <a:tblGrid>
                <a:gridCol w="939025"/>
                <a:gridCol w="1000075"/>
              </a:tblGrid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Distance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1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1" name="Google Shape;231;p10"/>
          <p:cNvSpPr txBox="1"/>
          <p:nvPr/>
        </p:nvSpPr>
        <p:spPr>
          <a:xfrm>
            <a:off x="1483360" y="613954"/>
            <a:ext cx="16517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NODE D Table</a:t>
            </a:r>
            <a:endParaRPr b="1" i="0" sz="16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2" name="Google Shape;232;p10"/>
          <p:cNvGraphicFramePr/>
          <p:nvPr/>
        </p:nvGraphicFramePr>
        <p:xfrm>
          <a:off x="7162476" y="967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{5061B43A-811D-4AEE-932D-338BD3491CE6}</a:tableStyleId>
              </a:tblPr>
              <a:tblGrid>
                <a:gridCol w="969550"/>
                <a:gridCol w="969550"/>
              </a:tblGrid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Distance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 Info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3" name="Google Shape;233;p10"/>
          <p:cNvSpPr txBox="1"/>
          <p:nvPr/>
        </p:nvSpPr>
        <p:spPr>
          <a:xfrm>
            <a:off x="7306163" y="613954"/>
            <a:ext cx="16517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NODE C Table</a:t>
            </a:r>
            <a:endParaRPr b="1" i="0" sz="16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088250" y="1369345"/>
            <a:ext cx="483577" cy="28964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91044" y="5174585"/>
            <a:ext cx="96776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Cost to a destination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=</a:t>
            </a:r>
            <a:r>
              <a:rPr lang="en-US" sz="2400"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cost(to neighbor) + neighbor’s cost(to destination)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7006961" y="3054863"/>
            <a:ext cx="49667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Cost to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= cost(to neighbor) + neighbor’s cost(to destination)</a:t>
            </a:r>
            <a:endParaRPr b="1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8250770" y="3284139"/>
            <a:ext cx="9781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D Router</a:t>
            </a:r>
            <a:endParaRPr b="0" i="0" sz="16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9523090" y="3284139"/>
            <a:ext cx="22990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93023"/>
                </a:solidFill>
                <a:latin typeface="Corbel"/>
                <a:ea typeface="Corbel"/>
                <a:cs typeface="Corbel"/>
                <a:sym typeface="Corbel"/>
              </a:rPr>
              <a:t>Cost to A from D Router</a:t>
            </a:r>
            <a:endParaRPr b="0" i="0" sz="16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8430064" y="3592868"/>
            <a:ext cx="3866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11</a:t>
            </a:r>
            <a:endParaRPr b="0" i="0" sz="16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0154066" y="3630755"/>
            <a:ext cx="2856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93023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6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9155049" y="3606814"/>
            <a:ext cx="2936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+</a:t>
            </a:r>
            <a:endParaRPr b="0" i="0" sz="16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294172" y="1369345"/>
            <a:ext cx="663717" cy="289641"/>
          </a:xfrm>
          <a:prstGeom prst="rect">
            <a:avLst/>
          </a:prstGeom>
          <a:solidFill>
            <a:srgbClr val="CCE2F8"/>
          </a:solidFill>
          <a:ln cap="flat" cmpd="sng" w="25400">
            <a:solidFill>
              <a:srgbClr val="CCE2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1483360" y="1369345"/>
            <a:ext cx="1651726" cy="37877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22712" y="4572490"/>
            <a:ext cx="37994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Distance Vector Algorithm:</a:t>
            </a:r>
            <a:endParaRPr b="0" i="0" sz="2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7306148" y="1324708"/>
            <a:ext cx="1651800" cy="3789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472825" y="1369395"/>
            <a:ext cx="483600" cy="2895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>
            <p:ph idx="4294967295" type="title"/>
          </p:nvPr>
        </p:nvSpPr>
        <p:spPr>
          <a:xfrm>
            <a:off x="1327556" y="398419"/>
            <a:ext cx="10018713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Periodic Updates of Distance Vector</a:t>
            </a:r>
            <a:endParaRPr/>
          </a:p>
        </p:txBody>
      </p:sp>
      <p:sp>
        <p:nvSpPr>
          <p:cNvPr id="253" name="Google Shape;253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26"/>
          <p:cNvSpPr/>
          <p:nvPr/>
        </p:nvSpPr>
        <p:spPr>
          <a:xfrm>
            <a:off x="1539991" y="1617324"/>
            <a:ext cx="9599064" cy="5078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Routers regularly send their 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entire routing table</a:t>
            </a:r>
            <a:r>
              <a:rPr b="0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to neighbors (e.g., every 30 seconds in RIP). 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6255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These updates are sent even when there </a:t>
            </a:r>
            <a:r>
              <a:rPr b="1" i="0" lang="en-US" sz="36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is no change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in the network.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6255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This is 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simple but inefficient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6255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04.jpg" id="259" name="Google Shape;2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905001"/>
            <a:ext cx="7747000" cy="429736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 txBox="1"/>
          <p:nvPr>
            <p:ph idx="4294967295" type="title"/>
          </p:nvPr>
        </p:nvSpPr>
        <p:spPr>
          <a:xfrm>
            <a:off x="1552550" y="547041"/>
            <a:ext cx="10018713" cy="413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Operation of Distance Vector</a:t>
            </a:r>
            <a:endParaRPr/>
          </a:p>
        </p:txBody>
      </p:sp>
      <p:sp>
        <p:nvSpPr>
          <p:cNvPr id="261" name="Google Shape;261;p27"/>
          <p:cNvSpPr txBox="1"/>
          <p:nvPr>
            <p:ph idx="4294967295" type="body"/>
          </p:nvPr>
        </p:nvSpPr>
        <p:spPr>
          <a:xfrm>
            <a:off x="1676400" y="12954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>
                <a:solidFill>
                  <a:srgbClr val="FF0000"/>
                </a:solidFill>
              </a:rPr>
              <a:t>Periodic Updates: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grpSp>
        <p:nvGrpSpPr>
          <p:cNvPr id="262" name="Google Shape;262;p27"/>
          <p:cNvGrpSpPr/>
          <p:nvPr/>
        </p:nvGrpSpPr>
        <p:grpSpPr>
          <a:xfrm>
            <a:off x="2895600" y="1295400"/>
            <a:ext cx="5715000" cy="1067082"/>
            <a:chOff x="1371600" y="1295400"/>
            <a:chExt cx="5715000" cy="1067082"/>
          </a:xfrm>
        </p:grpSpPr>
        <p:cxnSp>
          <p:nvCxnSpPr>
            <p:cNvPr id="263" name="Google Shape;263;p27"/>
            <p:cNvCxnSpPr>
              <a:stCxn id="264" idx="1"/>
            </p:cNvCxnSpPr>
            <p:nvPr/>
          </p:nvCxnSpPr>
          <p:spPr>
            <a:xfrm flipH="1">
              <a:off x="1371600" y="1526382"/>
              <a:ext cx="1981200" cy="8361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64" name="Google Shape;264;p27"/>
            <p:cNvSpPr txBox="1"/>
            <p:nvPr/>
          </p:nvSpPr>
          <p:spPr>
            <a:xfrm>
              <a:off x="3352800" y="1295400"/>
              <a:ext cx="3733800" cy="4619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R1 Update Timer expires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" name="Google Shape;265;p27"/>
          <p:cNvGrpSpPr/>
          <p:nvPr/>
        </p:nvGrpSpPr>
        <p:grpSpPr>
          <a:xfrm>
            <a:off x="2438400" y="1828801"/>
            <a:ext cx="7467600" cy="4729163"/>
            <a:chOff x="914400" y="1828800"/>
            <a:chExt cx="7467600" cy="4728865"/>
          </a:xfrm>
        </p:grpSpPr>
        <p:sp>
          <p:nvSpPr>
            <p:cNvPr id="266" name="Google Shape;266;p27"/>
            <p:cNvSpPr txBox="1"/>
            <p:nvPr/>
          </p:nvSpPr>
          <p:spPr>
            <a:xfrm>
              <a:off x="5943600" y="1828800"/>
              <a:ext cx="2438400" cy="461934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Neighbour of R1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7"/>
            <p:cNvSpPr txBox="1"/>
            <p:nvPr/>
          </p:nvSpPr>
          <p:spPr>
            <a:xfrm>
              <a:off x="914400" y="6095731"/>
              <a:ext cx="2438400" cy="461934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Neighbour of R1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27"/>
          <p:cNvGrpSpPr/>
          <p:nvPr/>
        </p:nvGrpSpPr>
        <p:grpSpPr>
          <a:xfrm>
            <a:off x="4343400" y="3200400"/>
            <a:ext cx="4191000" cy="2743200"/>
            <a:chOff x="2819400" y="3200400"/>
            <a:chExt cx="4191000" cy="2743200"/>
          </a:xfrm>
        </p:grpSpPr>
        <p:sp>
          <p:nvSpPr>
            <p:cNvPr id="269" name="Google Shape;269;p27"/>
            <p:cNvSpPr/>
            <p:nvPr/>
          </p:nvSpPr>
          <p:spPr>
            <a:xfrm rot="-5400000">
              <a:off x="4419600" y="3962400"/>
              <a:ext cx="381000" cy="3581400"/>
            </a:xfrm>
            <a:prstGeom prst="rect">
              <a:avLst/>
            </a:prstGeom>
            <a:solidFill>
              <a:srgbClr val="99CCFF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6705600" y="3200400"/>
              <a:ext cx="304800" cy="2057400"/>
            </a:xfrm>
            <a:prstGeom prst="rect">
              <a:avLst/>
            </a:prstGeom>
            <a:solidFill>
              <a:srgbClr val="99CCFF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7"/>
            <p:cNvSpPr txBox="1"/>
            <p:nvPr/>
          </p:nvSpPr>
          <p:spPr>
            <a:xfrm>
              <a:off x="3505200" y="3733800"/>
              <a:ext cx="2971800" cy="830263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99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R1 is unaware of R3 and its networks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27"/>
          <p:cNvGrpSpPr/>
          <p:nvPr/>
        </p:nvGrpSpPr>
        <p:grpSpPr>
          <a:xfrm>
            <a:off x="1423987" y="2755899"/>
            <a:ext cx="4343400" cy="2055813"/>
            <a:chOff x="152400" y="2590800"/>
            <a:chExt cx="4343400" cy="2056606"/>
          </a:xfrm>
        </p:grpSpPr>
        <p:cxnSp>
          <p:nvCxnSpPr>
            <p:cNvPr id="273" name="Google Shape;273;p27"/>
            <p:cNvCxnSpPr/>
            <p:nvPr/>
          </p:nvCxnSpPr>
          <p:spPr>
            <a:xfrm>
              <a:off x="2819400" y="3124200"/>
              <a:ext cx="16764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" name="Google Shape;274;p27"/>
            <p:cNvCxnSpPr/>
            <p:nvPr/>
          </p:nvCxnSpPr>
          <p:spPr>
            <a:xfrm rot="5400000">
              <a:off x="1981994" y="3961606"/>
              <a:ext cx="1370806" cy="794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75" name="Google Shape;275;p27"/>
            <p:cNvSpPr txBox="1"/>
            <p:nvPr/>
          </p:nvSpPr>
          <p:spPr>
            <a:xfrm>
              <a:off x="152400" y="2971947"/>
              <a:ext cx="1828800" cy="120061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Updates sent.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Broadcast!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dv05.jpg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05200" y="2590800"/>
              <a:ext cx="685800" cy="4331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v05.jpg" id="277" name="Google Shape;277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28800" y="3505200"/>
              <a:ext cx="685800" cy="4331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" name="Google Shape;278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idx="4294967295" type="title"/>
          </p:nvPr>
        </p:nvSpPr>
        <p:spPr>
          <a:xfrm>
            <a:off x="1484311" y="685800"/>
            <a:ext cx="10018713" cy="1061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Distance Vector Routing Protocols</a:t>
            </a:r>
            <a:endParaRPr/>
          </a:p>
        </p:txBody>
      </p:sp>
      <p:sp>
        <p:nvSpPr>
          <p:cNvPr id="284" name="Google Shape;284;p28"/>
          <p:cNvSpPr/>
          <p:nvPr/>
        </p:nvSpPr>
        <p:spPr>
          <a:xfrm>
            <a:off x="2438400" y="1447800"/>
            <a:ext cx="7467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Network Discovery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v10.jpg" id="285" name="Google Shape;2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971800"/>
            <a:ext cx="7880350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>
            <p:ph idx="4294967295"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Cold Start</a:t>
            </a:r>
            <a:endParaRPr/>
          </a:p>
        </p:txBody>
      </p:sp>
      <p:sp>
        <p:nvSpPr>
          <p:cNvPr id="292" name="Google Shape;292;p29"/>
          <p:cNvSpPr txBox="1"/>
          <p:nvPr>
            <p:ph idx="4294967295" type="body"/>
          </p:nvPr>
        </p:nvSpPr>
        <p:spPr>
          <a:xfrm>
            <a:off x="1676400" y="3048000"/>
            <a:ext cx="8839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7D28CD"/>
                </a:solidFill>
              </a:rPr>
              <a:t>Network Discovery:</a:t>
            </a:r>
            <a:endParaRPr b="1" sz="2800">
              <a:solidFill>
                <a:srgbClr val="7D28CD"/>
              </a:solidFill>
            </a:endParaRPr>
          </a:p>
          <a:p>
            <a:pPr indent="-288925" lvl="1" marL="855663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Is part of the process of the routing protocol algorithm that enables routers to </a:t>
            </a:r>
            <a:r>
              <a:rPr lang="en-US" sz="2800">
                <a:solidFill>
                  <a:srgbClr val="1186C3"/>
                </a:solidFill>
              </a:rPr>
              <a:t>learn about remote networks for the first time.</a:t>
            </a:r>
            <a:endParaRPr>
              <a:solidFill>
                <a:srgbClr val="1186C3"/>
              </a:solidFill>
            </a:endParaRPr>
          </a:p>
        </p:txBody>
      </p:sp>
      <p:pic>
        <p:nvPicPr>
          <p:cNvPr descr="dv11.jpg" id="293" name="Google Shape;2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0"/>
            <a:ext cx="883920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299" name="Google Shape;2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0"/>
          <p:cNvSpPr txBox="1"/>
          <p:nvPr>
            <p:ph idx="4294967295" type="title"/>
          </p:nvPr>
        </p:nvSpPr>
        <p:spPr>
          <a:xfrm>
            <a:off x="1543843" y="381001"/>
            <a:ext cx="10018713" cy="458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Cold Start</a:t>
            </a:r>
            <a:endParaRPr/>
          </a:p>
        </p:txBody>
      </p:sp>
      <p:sp>
        <p:nvSpPr>
          <p:cNvPr id="301" name="Google Shape;301;p30"/>
          <p:cNvSpPr txBox="1"/>
          <p:nvPr>
            <p:ph idx="4294967295" type="body"/>
          </p:nvPr>
        </p:nvSpPr>
        <p:spPr>
          <a:xfrm>
            <a:off x="1676400" y="4800600"/>
            <a:ext cx="92754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D28CD"/>
                </a:solidFill>
              </a:rPr>
              <a:t>When a router powers up: </a:t>
            </a:r>
            <a:endParaRPr b="1" sz="2800">
              <a:solidFill>
                <a:srgbClr val="7D28CD"/>
              </a:solidFill>
            </a:endParaRPr>
          </a:p>
          <a:p>
            <a:pPr indent="-203486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Knows nothing about the network topology.</a:t>
            </a:r>
            <a:endParaRPr sz="2600"/>
          </a:p>
          <a:p>
            <a:pPr indent="-203486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Knows only the information saved in NVRAM.</a:t>
            </a:r>
            <a:endParaRPr/>
          </a:p>
        </p:txBody>
      </p:sp>
      <p:grpSp>
        <p:nvGrpSpPr>
          <p:cNvPr id="302" name="Google Shape;302;p30"/>
          <p:cNvGrpSpPr/>
          <p:nvPr/>
        </p:nvGrpSpPr>
        <p:grpSpPr>
          <a:xfrm>
            <a:off x="2057400" y="3505200"/>
            <a:ext cx="2438400" cy="182880"/>
            <a:chOff x="533400" y="3505200"/>
            <a:chExt cx="2438400" cy="182880"/>
          </a:xfrm>
        </p:grpSpPr>
        <p:sp>
          <p:nvSpPr>
            <p:cNvPr id="303" name="Google Shape;30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30"/>
          <p:cNvGrpSpPr/>
          <p:nvPr/>
        </p:nvGrpSpPr>
        <p:grpSpPr>
          <a:xfrm>
            <a:off x="2057400" y="3733800"/>
            <a:ext cx="2438400" cy="210312"/>
            <a:chOff x="533400" y="3505200"/>
            <a:chExt cx="2438400" cy="182880"/>
          </a:xfrm>
        </p:grpSpPr>
        <p:sp>
          <p:nvSpPr>
            <p:cNvPr id="307" name="Google Shape;307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0" name="Google Shape;310;p30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311" name="Google Shape;311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30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315" name="Google Shape;315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30"/>
          <p:cNvGrpSpPr/>
          <p:nvPr/>
        </p:nvGrpSpPr>
        <p:grpSpPr>
          <a:xfrm>
            <a:off x="4876800" y="3505200"/>
            <a:ext cx="2438400" cy="182880"/>
            <a:chOff x="533400" y="3505200"/>
            <a:chExt cx="2438400" cy="182880"/>
          </a:xfrm>
        </p:grpSpPr>
        <p:sp>
          <p:nvSpPr>
            <p:cNvPr id="319" name="Google Shape;319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30"/>
          <p:cNvGrpSpPr/>
          <p:nvPr/>
        </p:nvGrpSpPr>
        <p:grpSpPr>
          <a:xfrm>
            <a:off x="4876800" y="3733800"/>
            <a:ext cx="2438400" cy="210312"/>
            <a:chOff x="533400" y="3505200"/>
            <a:chExt cx="2438400" cy="182880"/>
          </a:xfrm>
        </p:grpSpPr>
        <p:sp>
          <p:nvSpPr>
            <p:cNvPr id="323" name="Google Shape;32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30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327" name="Google Shape;327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" name="Google Shape;330;p30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331" name="Google Shape;331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" name="Google Shape;334;p30"/>
          <p:cNvGrpSpPr/>
          <p:nvPr/>
        </p:nvGrpSpPr>
        <p:grpSpPr>
          <a:xfrm>
            <a:off x="7772400" y="3505200"/>
            <a:ext cx="2438400" cy="182880"/>
            <a:chOff x="533400" y="3505200"/>
            <a:chExt cx="2438400" cy="182880"/>
          </a:xfrm>
        </p:grpSpPr>
        <p:sp>
          <p:nvSpPr>
            <p:cNvPr id="335" name="Google Shape;335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30"/>
          <p:cNvGrpSpPr/>
          <p:nvPr/>
        </p:nvGrpSpPr>
        <p:grpSpPr>
          <a:xfrm>
            <a:off x="7772400" y="3733800"/>
            <a:ext cx="2438400" cy="210312"/>
            <a:chOff x="533400" y="3505200"/>
            <a:chExt cx="2438400" cy="182880"/>
          </a:xfrm>
        </p:grpSpPr>
        <p:sp>
          <p:nvSpPr>
            <p:cNvPr id="339" name="Google Shape;339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" name="Google Shape;342;p30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343" name="Google Shape;34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347" name="Google Shape;347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30"/>
          <p:cNvGrpSpPr/>
          <p:nvPr/>
        </p:nvGrpSpPr>
        <p:grpSpPr>
          <a:xfrm>
            <a:off x="1981200" y="1981200"/>
            <a:ext cx="8229600" cy="838200"/>
            <a:chOff x="457200" y="1981200"/>
            <a:chExt cx="8229600" cy="838200"/>
          </a:xfrm>
        </p:grpSpPr>
        <p:sp>
          <p:nvSpPr>
            <p:cNvPr id="351" name="Google Shape;351;p30"/>
            <p:cNvSpPr/>
            <p:nvPr/>
          </p:nvSpPr>
          <p:spPr>
            <a:xfrm>
              <a:off x="914400" y="1981200"/>
              <a:ext cx="1066800" cy="838200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2" name="Google Shape;352;p30"/>
            <p:cNvCxnSpPr/>
            <p:nvPr/>
          </p:nvCxnSpPr>
          <p:spPr>
            <a:xfrm>
              <a:off x="1981200" y="2057400"/>
              <a:ext cx="9906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3" name="Google Shape;353;p30"/>
            <p:cNvCxnSpPr/>
            <p:nvPr/>
          </p:nvCxnSpPr>
          <p:spPr>
            <a:xfrm rot="10800000">
              <a:off x="457200" y="2057400"/>
              <a:ext cx="457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54" name="Google Shape;354;p30"/>
            <p:cNvSpPr/>
            <p:nvPr/>
          </p:nvSpPr>
          <p:spPr>
            <a:xfrm>
              <a:off x="4038600" y="1981200"/>
              <a:ext cx="990600" cy="838200"/>
            </a:xfrm>
            <a:prstGeom prst="ellipse">
              <a:avLst/>
            </a:prstGeom>
            <a:noFill/>
            <a:ln cap="flat" cmpd="sng" w="38100">
              <a:solidFill>
                <a:srgbClr val="531A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5" name="Google Shape;355;p30"/>
            <p:cNvCxnSpPr/>
            <p:nvPr/>
          </p:nvCxnSpPr>
          <p:spPr>
            <a:xfrm>
              <a:off x="5105400" y="2743200"/>
              <a:ext cx="9906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6" name="Google Shape;356;p30"/>
            <p:cNvCxnSpPr/>
            <p:nvPr/>
          </p:nvCxnSpPr>
          <p:spPr>
            <a:xfrm rot="10800000">
              <a:off x="2819400" y="2743200"/>
              <a:ext cx="10668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57" name="Google Shape;357;p30"/>
            <p:cNvSpPr/>
            <p:nvPr/>
          </p:nvSpPr>
          <p:spPr>
            <a:xfrm>
              <a:off x="7162800" y="1981200"/>
              <a:ext cx="990600" cy="838200"/>
            </a:xfrm>
            <a:prstGeom prst="ellipse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8" name="Google Shape;358;p30"/>
            <p:cNvCxnSpPr/>
            <p:nvPr/>
          </p:nvCxnSpPr>
          <p:spPr>
            <a:xfrm>
              <a:off x="8305800" y="2057400"/>
              <a:ext cx="3810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9" name="Google Shape;359;p30"/>
            <p:cNvCxnSpPr/>
            <p:nvPr/>
          </p:nvCxnSpPr>
          <p:spPr>
            <a:xfrm rot="10800000">
              <a:off x="6019800" y="2057400"/>
              <a:ext cx="11430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60" name="Google Shape;360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30"/>
          <p:cNvSpPr txBox="1"/>
          <p:nvPr/>
        </p:nvSpPr>
        <p:spPr>
          <a:xfrm>
            <a:off x="1981200" y="6248400"/>
            <a:ext cx="78918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             </a:t>
            </a:r>
            <a:r>
              <a:rPr lang="en-US" sz="2200">
                <a:solidFill>
                  <a:schemeClr val="dk1"/>
                </a:solidFill>
                <a:highlight>
                  <a:schemeClr val="accent2"/>
                </a:highlight>
                <a:latin typeface="Corbel"/>
                <a:ea typeface="Corbel"/>
                <a:cs typeface="Corbel"/>
                <a:sym typeface="Corbel"/>
              </a:rPr>
              <a:t>Sends updates about its known networks out all ports. </a:t>
            </a:r>
            <a:endParaRPr sz="2200">
              <a:solidFill>
                <a:schemeClr val="dk1"/>
              </a:solidFill>
              <a:highlight>
                <a:schemeClr val="accent2"/>
              </a:highlight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366" name="Google Shape;3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1"/>
          <p:cNvSpPr txBox="1"/>
          <p:nvPr>
            <p:ph idx="4294967295" type="title"/>
          </p:nvPr>
        </p:nvSpPr>
        <p:spPr>
          <a:xfrm>
            <a:off x="1594513" y="457200"/>
            <a:ext cx="10018713" cy="487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grpSp>
        <p:nvGrpSpPr>
          <p:cNvPr id="368" name="Google Shape;368;p31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369" name="Google Shape;369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31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373" name="Google Shape;373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" name="Google Shape;376;p31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377" name="Google Shape;377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0" name="Google Shape;380;p31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381" name="Google Shape;381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4" name="Google Shape;384;p31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385" name="Google Shape;385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8" name="Google Shape;388;p31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389" name="Google Shape;389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31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31"/>
          <p:cNvCxnSpPr/>
          <p:nvPr/>
        </p:nvCxnSpPr>
        <p:spPr>
          <a:xfrm rot="10800000">
            <a:off x="1981200" y="2057400"/>
            <a:ext cx="381000" cy="1588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94" name="Google Shape;394;p31"/>
          <p:cNvGrpSpPr/>
          <p:nvPr/>
        </p:nvGrpSpPr>
        <p:grpSpPr>
          <a:xfrm>
            <a:off x="3581400" y="1981201"/>
            <a:ext cx="1524000" cy="307777"/>
            <a:chOff x="2057400" y="1981201"/>
            <a:chExt cx="1219200" cy="307777"/>
          </a:xfrm>
        </p:grpSpPr>
        <p:cxnSp>
          <p:nvCxnSpPr>
            <p:cNvPr id="395" name="Google Shape;395;p31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96" name="Google Shape;396;p31"/>
            <p:cNvSpPr txBox="1"/>
            <p:nvPr/>
          </p:nvSpPr>
          <p:spPr>
            <a:xfrm>
              <a:off x="2209800" y="1981201"/>
              <a:ext cx="838200" cy="307777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31"/>
          <p:cNvSpPr txBox="1"/>
          <p:nvPr/>
        </p:nvSpPr>
        <p:spPr>
          <a:xfrm>
            <a:off x="1810725" y="4999375"/>
            <a:ext cx="9141000" cy="1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Router R1: </a:t>
            </a:r>
            <a:endParaRPr b="1" sz="2400" u="sng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an update about network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10.1.0.0</a:t>
            </a: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the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Serial 0/0/0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interface with a metric of 1.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an update about network </a:t>
            </a:r>
            <a:r>
              <a:rPr lang="en-US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10.2.0.0</a:t>
            </a:r>
            <a:r>
              <a:rPr lang="en-US" sz="1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the </a:t>
            </a:r>
            <a:r>
              <a:rPr lang="en-US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Fa0/0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interface with a metric of 1.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</a:t>
            </a:r>
            <a:r>
              <a:rPr lang="en-US" sz="19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rPr>
              <a:t>R1 sends its Routing table to the neighbouring routers !!!!</a:t>
            </a:r>
            <a:endParaRPr sz="1900">
              <a:solidFill>
                <a:schemeClr val="dk1"/>
              </a:solidFill>
              <a:highlight>
                <a:schemeClr val="accent2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chemeClr val="accent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"/>
          <p:cNvSpPr txBox="1"/>
          <p:nvPr>
            <p:ph idx="4294967295" type="title"/>
          </p:nvPr>
        </p:nvSpPr>
        <p:spPr>
          <a:xfrm>
            <a:off x="1484311" y="685801"/>
            <a:ext cx="10018713" cy="1046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grpSp>
        <p:nvGrpSpPr>
          <p:cNvPr id="404" name="Google Shape;404;p32"/>
          <p:cNvGrpSpPr/>
          <p:nvPr/>
        </p:nvGrpSpPr>
        <p:grpSpPr>
          <a:xfrm>
            <a:off x="1687513" y="1974851"/>
            <a:ext cx="8839200" cy="3432175"/>
            <a:chOff x="96" y="823"/>
            <a:chExt cx="5568" cy="2162"/>
          </a:xfrm>
        </p:grpSpPr>
        <p:pic>
          <p:nvPicPr>
            <p:cNvPr descr="dv10.jpg" id="405" name="Google Shape;40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" y="823"/>
              <a:ext cx="5568" cy="21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6" name="Google Shape;406;p32"/>
            <p:cNvGrpSpPr/>
            <p:nvPr/>
          </p:nvGrpSpPr>
          <p:grpSpPr>
            <a:xfrm>
              <a:off x="336" y="2736"/>
              <a:ext cx="1536" cy="96"/>
              <a:chOff x="533400" y="4267200"/>
              <a:chExt cx="2438400" cy="152400"/>
            </a:xfrm>
          </p:grpSpPr>
          <p:sp>
            <p:nvSpPr>
              <p:cNvPr id="407" name="Google Shape;407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0" name="Google Shape;410;p32"/>
            <p:cNvGrpSpPr/>
            <p:nvPr/>
          </p:nvGrpSpPr>
          <p:grpSpPr>
            <a:xfrm>
              <a:off x="2112" y="2544"/>
              <a:ext cx="1536" cy="115"/>
              <a:chOff x="533400" y="3505200"/>
              <a:chExt cx="2438400" cy="182880"/>
            </a:xfrm>
          </p:grpSpPr>
          <p:sp>
            <p:nvSpPr>
              <p:cNvPr id="411" name="Google Shape;411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4" name="Google Shape;414;p32"/>
            <p:cNvGrpSpPr/>
            <p:nvPr/>
          </p:nvGrpSpPr>
          <p:grpSpPr>
            <a:xfrm>
              <a:off x="2112" y="2736"/>
              <a:ext cx="1536" cy="96"/>
              <a:chOff x="533400" y="4267200"/>
              <a:chExt cx="2438400" cy="152400"/>
            </a:xfrm>
          </p:grpSpPr>
          <p:sp>
            <p:nvSpPr>
              <p:cNvPr id="415" name="Google Shape;415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8" name="Google Shape;418;p32"/>
            <p:cNvGrpSpPr/>
            <p:nvPr/>
          </p:nvGrpSpPr>
          <p:grpSpPr>
            <a:xfrm>
              <a:off x="3936" y="2544"/>
              <a:ext cx="1536" cy="115"/>
              <a:chOff x="533400" y="3505200"/>
              <a:chExt cx="2438400" cy="182880"/>
            </a:xfrm>
          </p:grpSpPr>
          <p:sp>
            <p:nvSpPr>
              <p:cNvPr id="419" name="Google Shape;419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2" name="Google Shape;422;p32"/>
            <p:cNvGrpSpPr/>
            <p:nvPr/>
          </p:nvGrpSpPr>
          <p:grpSpPr>
            <a:xfrm>
              <a:off x="3936" y="2736"/>
              <a:ext cx="1536" cy="96"/>
              <a:chOff x="533400" y="4267200"/>
              <a:chExt cx="2438400" cy="152400"/>
            </a:xfrm>
          </p:grpSpPr>
          <p:sp>
            <p:nvSpPr>
              <p:cNvPr id="423" name="Google Shape;423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6" name="Google Shape;426;p32"/>
            <p:cNvSpPr/>
            <p:nvPr/>
          </p:nvSpPr>
          <p:spPr>
            <a:xfrm>
              <a:off x="2448" y="1248"/>
              <a:ext cx="816" cy="528"/>
            </a:xfrm>
            <a:prstGeom prst="ellipse">
              <a:avLst/>
            </a:prstGeom>
            <a:noFill/>
            <a:ln cap="flat" cmpd="sng" w="38100">
              <a:solidFill>
                <a:srgbClr val="531A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7" name="Google Shape;427;p32"/>
            <p:cNvGrpSpPr/>
            <p:nvPr/>
          </p:nvGrpSpPr>
          <p:grpSpPr>
            <a:xfrm>
              <a:off x="336" y="2544"/>
              <a:ext cx="1536" cy="115"/>
              <a:chOff x="533400" y="3505200"/>
              <a:chExt cx="2438400" cy="182880"/>
            </a:xfrm>
          </p:grpSpPr>
          <p:sp>
            <p:nvSpPr>
              <p:cNvPr id="428" name="Google Shape;428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1" name="Google Shape;431;p32"/>
            <p:cNvGrpSpPr/>
            <p:nvPr/>
          </p:nvGrpSpPr>
          <p:grpSpPr>
            <a:xfrm>
              <a:off x="1536" y="1681"/>
              <a:ext cx="912" cy="194"/>
              <a:chOff x="2438400" y="2590800"/>
              <a:chExt cx="1295400" cy="307777"/>
            </a:xfrm>
          </p:grpSpPr>
          <p:cxnSp>
            <p:nvCxnSpPr>
              <p:cNvPr id="432" name="Google Shape;432;p32"/>
              <p:cNvCxnSpPr/>
              <p:nvPr/>
            </p:nvCxnSpPr>
            <p:spPr>
              <a:xfrm rot="10800000">
                <a:off x="2438400" y="2743200"/>
                <a:ext cx="1295400" cy="1587"/>
              </a:xfrm>
              <a:prstGeom prst="straightConnector1">
                <a:avLst/>
              </a:prstGeom>
              <a:noFill/>
              <a:ln cap="flat" cmpd="sng" w="50800">
                <a:solidFill>
                  <a:srgbClr val="7D28CD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433" name="Google Shape;433;p32"/>
              <p:cNvSpPr txBox="1"/>
              <p:nvPr/>
            </p:nvSpPr>
            <p:spPr>
              <a:xfrm>
                <a:off x="2743784" y="2590800"/>
                <a:ext cx="838033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10.3.0.0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4" name="Google Shape;434;p32"/>
            <p:cNvGrpSpPr/>
            <p:nvPr/>
          </p:nvGrpSpPr>
          <p:grpSpPr>
            <a:xfrm>
              <a:off x="3312" y="1681"/>
              <a:ext cx="912" cy="194"/>
              <a:chOff x="5257800" y="2590800"/>
              <a:chExt cx="1295400" cy="307777"/>
            </a:xfrm>
          </p:grpSpPr>
          <p:cxnSp>
            <p:nvCxnSpPr>
              <p:cNvPr id="435" name="Google Shape;435;p32"/>
              <p:cNvCxnSpPr/>
              <p:nvPr/>
            </p:nvCxnSpPr>
            <p:spPr>
              <a:xfrm>
                <a:off x="5257800" y="2743200"/>
                <a:ext cx="1295400" cy="1587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436" name="Google Shape;436;p32"/>
              <p:cNvSpPr txBox="1"/>
              <p:nvPr/>
            </p:nvSpPr>
            <p:spPr>
              <a:xfrm>
                <a:off x="5486483" y="2590800"/>
                <a:ext cx="838033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7" name="Google Shape;437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p32"/>
          <p:cNvSpPr txBox="1"/>
          <p:nvPr/>
        </p:nvSpPr>
        <p:spPr>
          <a:xfrm>
            <a:off x="2847175" y="5957400"/>
            <a:ext cx="69036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lang="en-US" sz="19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rPr>
              <a:t>R2 sends its Routing table to the neighbouring routers !!!!</a:t>
            </a:r>
            <a:endParaRPr sz="1900">
              <a:solidFill>
                <a:schemeClr val="dk1"/>
              </a:solidFill>
              <a:highlight>
                <a:schemeClr val="accent2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"/>
          <p:cNvSpPr txBox="1"/>
          <p:nvPr>
            <p:ph idx="4294967295" type="title"/>
          </p:nvPr>
        </p:nvSpPr>
        <p:spPr>
          <a:xfrm>
            <a:off x="1484311" y="685801"/>
            <a:ext cx="10018713" cy="916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sp>
        <p:nvSpPr>
          <p:cNvPr id="444" name="Google Shape;444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45" name="Google Shape;445;p33"/>
          <p:cNvGrpSpPr/>
          <p:nvPr/>
        </p:nvGrpSpPr>
        <p:grpSpPr>
          <a:xfrm>
            <a:off x="1859250" y="1910061"/>
            <a:ext cx="8838232" cy="3431738"/>
            <a:chOff x="96" y="816"/>
            <a:chExt cx="5567" cy="2162"/>
          </a:xfrm>
        </p:grpSpPr>
        <p:pic>
          <p:nvPicPr>
            <p:cNvPr descr="dv10.jpg" id="446" name="Google Shape;446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" y="816"/>
              <a:ext cx="5567" cy="21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7" name="Google Shape;447;p33"/>
            <p:cNvGrpSpPr/>
            <p:nvPr/>
          </p:nvGrpSpPr>
          <p:grpSpPr>
            <a:xfrm>
              <a:off x="3920" y="2608"/>
              <a:ext cx="1463" cy="91"/>
              <a:chOff x="533400" y="4267200"/>
              <a:chExt cx="2438400" cy="152400"/>
            </a:xfrm>
          </p:grpSpPr>
          <p:sp>
            <p:nvSpPr>
              <p:cNvPr id="448" name="Google Shape;448;p33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33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33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1" name="Google Shape;451;p33"/>
            <p:cNvGrpSpPr/>
            <p:nvPr/>
          </p:nvGrpSpPr>
          <p:grpSpPr>
            <a:xfrm>
              <a:off x="320" y="1189"/>
              <a:ext cx="5063" cy="1511"/>
              <a:chOff x="320" y="1189"/>
              <a:chExt cx="5063" cy="1511"/>
            </a:xfrm>
          </p:grpSpPr>
          <p:grpSp>
            <p:nvGrpSpPr>
              <p:cNvPr id="452" name="Google Shape;452;p33"/>
              <p:cNvGrpSpPr/>
              <p:nvPr/>
            </p:nvGrpSpPr>
            <p:grpSpPr>
              <a:xfrm>
                <a:off x="320" y="2443"/>
                <a:ext cx="1463" cy="110"/>
                <a:chOff x="533400" y="3505200"/>
                <a:chExt cx="2438400" cy="183000"/>
              </a:xfrm>
            </p:grpSpPr>
            <p:sp>
              <p:nvSpPr>
                <p:cNvPr id="453" name="Google Shape;453;p33"/>
                <p:cNvSpPr/>
                <p:nvPr/>
              </p:nvSpPr>
              <p:spPr>
                <a:xfrm>
                  <a:off x="533400" y="3505200"/>
                  <a:ext cx="685800" cy="1830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" name="Google Shape;454;p33"/>
                <p:cNvSpPr/>
                <p:nvPr/>
              </p:nvSpPr>
              <p:spPr>
                <a:xfrm>
                  <a:off x="1600200" y="3505200"/>
                  <a:ext cx="685800" cy="1830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33"/>
                <p:cNvSpPr/>
                <p:nvPr/>
              </p:nvSpPr>
              <p:spPr>
                <a:xfrm>
                  <a:off x="2590800" y="3505200"/>
                  <a:ext cx="381000" cy="1830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6" name="Google Shape;456;p33"/>
              <p:cNvGrpSpPr/>
              <p:nvPr/>
            </p:nvGrpSpPr>
            <p:grpSpPr>
              <a:xfrm>
                <a:off x="320" y="2608"/>
                <a:ext cx="1463" cy="91"/>
                <a:chOff x="533400" y="4267200"/>
                <a:chExt cx="2438400" cy="152400"/>
              </a:xfrm>
            </p:grpSpPr>
            <p:sp>
              <p:nvSpPr>
                <p:cNvPr id="457" name="Google Shape;457;p33"/>
                <p:cNvSpPr/>
                <p:nvPr/>
              </p:nvSpPr>
              <p:spPr>
                <a:xfrm>
                  <a:off x="5334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Google Shape;458;p33"/>
                <p:cNvSpPr/>
                <p:nvPr/>
              </p:nvSpPr>
              <p:spPr>
                <a:xfrm>
                  <a:off x="16002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" name="Google Shape;459;p33"/>
                <p:cNvSpPr/>
                <p:nvPr/>
              </p:nvSpPr>
              <p:spPr>
                <a:xfrm>
                  <a:off x="2590800" y="4267200"/>
                  <a:ext cx="3810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0" name="Google Shape;460;p33"/>
              <p:cNvGrpSpPr/>
              <p:nvPr/>
            </p:nvGrpSpPr>
            <p:grpSpPr>
              <a:xfrm>
                <a:off x="2096" y="2443"/>
                <a:ext cx="1463" cy="110"/>
                <a:chOff x="533400" y="3505200"/>
                <a:chExt cx="2438400" cy="183000"/>
              </a:xfrm>
            </p:grpSpPr>
            <p:sp>
              <p:nvSpPr>
                <p:cNvPr id="461" name="Google Shape;461;p33"/>
                <p:cNvSpPr/>
                <p:nvPr/>
              </p:nvSpPr>
              <p:spPr>
                <a:xfrm>
                  <a:off x="533400" y="3505200"/>
                  <a:ext cx="685800" cy="1830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p33"/>
                <p:cNvSpPr/>
                <p:nvPr/>
              </p:nvSpPr>
              <p:spPr>
                <a:xfrm>
                  <a:off x="1600200" y="3505200"/>
                  <a:ext cx="685800" cy="1830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33"/>
                <p:cNvSpPr/>
                <p:nvPr/>
              </p:nvSpPr>
              <p:spPr>
                <a:xfrm>
                  <a:off x="2590800" y="3505200"/>
                  <a:ext cx="381000" cy="1830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4" name="Google Shape;464;p33"/>
              <p:cNvGrpSpPr/>
              <p:nvPr/>
            </p:nvGrpSpPr>
            <p:grpSpPr>
              <a:xfrm>
                <a:off x="2096" y="2608"/>
                <a:ext cx="1463" cy="91"/>
                <a:chOff x="533400" y="4267200"/>
                <a:chExt cx="2438400" cy="152400"/>
              </a:xfrm>
            </p:grpSpPr>
            <p:sp>
              <p:nvSpPr>
                <p:cNvPr id="465" name="Google Shape;465;p33"/>
                <p:cNvSpPr/>
                <p:nvPr/>
              </p:nvSpPr>
              <p:spPr>
                <a:xfrm>
                  <a:off x="5334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p33"/>
                <p:cNvSpPr/>
                <p:nvPr/>
              </p:nvSpPr>
              <p:spPr>
                <a:xfrm>
                  <a:off x="16002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" name="Google Shape;467;p33"/>
                <p:cNvSpPr/>
                <p:nvPr/>
              </p:nvSpPr>
              <p:spPr>
                <a:xfrm>
                  <a:off x="2590800" y="4267200"/>
                  <a:ext cx="3810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8" name="Google Shape;468;p33"/>
              <p:cNvGrpSpPr/>
              <p:nvPr/>
            </p:nvGrpSpPr>
            <p:grpSpPr>
              <a:xfrm>
                <a:off x="3920" y="2443"/>
                <a:ext cx="1463" cy="110"/>
                <a:chOff x="533400" y="3505200"/>
                <a:chExt cx="2438400" cy="183000"/>
              </a:xfrm>
            </p:grpSpPr>
            <p:sp>
              <p:nvSpPr>
                <p:cNvPr id="469" name="Google Shape;469;p33"/>
                <p:cNvSpPr/>
                <p:nvPr/>
              </p:nvSpPr>
              <p:spPr>
                <a:xfrm>
                  <a:off x="533400" y="3505200"/>
                  <a:ext cx="685800" cy="1830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33"/>
                <p:cNvSpPr/>
                <p:nvPr/>
              </p:nvSpPr>
              <p:spPr>
                <a:xfrm>
                  <a:off x="1600200" y="3505200"/>
                  <a:ext cx="685800" cy="1830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33"/>
                <p:cNvSpPr/>
                <p:nvPr/>
              </p:nvSpPr>
              <p:spPr>
                <a:xfrm>
                  <a:off x="2590800" y="3505200"/>
                  <a:ext cx="381000" cy="1830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72" name="Google Shape;472;p33"/>
              <p:cNvSpPr/>
              <p:nvPr/>
            </p:nvSpPr>
            <p:spPr>
              <a:xfrm>
                <a:off x="4464" y="1248"/>
                <a:ext cx="600" cy="600"/>
              </a:xfrm>
              <a:prstGeom prst="ellipse">
                <a:avLst/>
              </a:prstGeom>
              <a:noFill/>
              <a:ln cap="flat" cmpd="sng" w="381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3" name="Google Shape;473;p33"/>
              <p:cNvGrpSpPr/>
              <p:nvPr/>
            </p:nvGrpSpPr>
            <p:grpSpPr>
              <a:xfrm>
                <a:off x="3365" y="1189"/>
                <a:ext cx="907" cy="185"/>
                <a:chOff x="5715000" y="1981200"/>
                <a:chExt cx="1295400" cy="307500"/>
              </a:xfrm>
            </p:grpSpPr>
            <p:cxnSp>
              <p:nvCxnSpPr>
                <p:cNvPr id="474" name="Google Shape;474;p33"/>
                <p:cNvCxnSpPr/>
                <p:nvPr/>
              </p:nvCxnSpPr>
              <p:spPr>
                <a:xfrm rot="10800000">
                  <a:off x="5715000" y="2133688"/>
                  <a:ext cx="1295400" cy="1500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475" name="Google Shape;475;p33"/>
                <p:cNvSpPr txBox="1"/>
                <p:nvPr/>
              </p:nvSpPr>
              <p:spPr>
                <a:xfrm>
                  <a:off x="6019958" y="1981200"/>
                  <a:ext cx="837900" cy="307500"/>
                </a:xfrm>
                <a:prstGeom prst="rect">
                  <a:avLst/>
                </a:prstGeom>
                <a:solidFill>
                  <a:srgbClr val="008000"/>
                </a:solidFill>
                <a:ln cap="flat" cmpd="sng" w="25400">
                  <a:solidFill>
                    <a:srgbClr val="66FF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10.4.0.0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cxnSp>
        <p:nvCxnSpPr>
          <p:cNvPr id="476" name="Google Shape;476;p33"/>
          <p:cNvCxnSpPr>
            <a:stCxn id="472" idx="7"/>
          </p:cNvCxnSpPr>
          <p:nvPr/>
        </p:nvCxnSpPr>
        <p:spPr>
          <a:xfrm flipH="1" rot="10800000">
            <a:off x="9606460" y="2728151"/>
            <a:ext cx="770400" cy="7200"/>
          </a:xfrm>
          <a:prstGeom prst="straightConnector1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7" name="Google Shape;477;p33"/>
          <p:cNvSpPr txBox="1"/>
          <p:nvPr/>
        </p:nvSpPr>
        <p:spPr>
          <a:xfrm>
            <a:off x="2847175" y="5957400"/>
            <a:ext cx="69036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lang="en-US" sz="19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rPr>
              <a:t>R3 sends its Routing table to the neighbouring routers !!!!</a:t>
            </a:r>
            <a:endParaRPr sz="1900">
              <a:solidFill>
                <a:schemeClr val="dk1"/>
              </a:solidFill>
              <a:highlight>
                <a:schemeClr val="accent2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idx="4294967295" type="title"/>
          </p:nvPr>
        </p:nvSpPr>
        <p:spPr>
          <a:xfrm>
            <a:off x="1676400" y="457200"/>
            <a:ext cx="10018713" cy="487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pic>
        <p:nvPicPr>
          <p:cNvPr descr="dv10.jpg" id="483" name="Google Shape;48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4" name="Google Shape;484;p34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485" name="Google Shape;485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8" name="Google Shape;488;p34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489" name="Google Shape;489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34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493" name="Google Shape;493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34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497" name="Google Shape;497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" name="Google Shape;500;p34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501" name="Google Shape;501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4" name="Google Shape;504;p34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05" name="Google Shape;505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" name="Google Shape;508;p34"/>
          <p:cNvGrpSpPr/>
          <p:nvPr/>
        </p:nvGrpSpPr>
        <p:grpSpPr>
          <a:xfrm>
            <a:off x="3962400" y="2667000"/>
            <a:ext cx="1295400" cy="304800"/>
            <a:chOff x="2438400" y="2590800"/>
            <a:chExt cx="1295400" cy="304800"/>
          </a:xfrm>
        </p:grpSpPr>
        <p:cxnSp>
          <p:nvCxnSpPr>
            <p:cNvPr id="509" name="Google Shape;509;p34"/>
            <p:cNvCxnSpPr/>
            <p:nvPr/>
          </p:nvCxnSpPr>
          <p:spPr>
            <a:xfrm rot="10800000">
              <a:off x="2438400" y="27432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10" name="Google Shape;510;p34"/>
            <p:cNvSpPr txBox="1"/>
            <p:nvPr/>
          </p:nvSpPr>
          <p:spPr>
            <a:xfrm>
              <a:off x="2743200" y="2590800"/>
              <a:ext cx="838200" cy="304800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1" name="Google Shape;511;p34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" name="Google Shape;512;p34"/>
          <p:cNvGrpSpPr/>
          <p:nvPr/>
        </p:nvGrpSpPr>
        <p:grpSpPr>
          <a:xfrm>
            <a:off x="6781800" y="1981200"/>
            <a:ext cx="2971800" cy="990600"/>
            <a:chOff x="5257800" y="1981200"/>
            <a:chExt cx="2971800" cy="990600"/>
          </a:xfrm>
        </p:grpSpPr>
        <p:grpSp>
          <p:nvGrpSpPr>
            <p:cNvPr id="513" name="Google Shape;513;p34"/>
            <p:cNvGrpSpPr/>
            <p:nvPr/>
          </p:nvGrpSpPr>
          <p:grpSpPr>
            <a:xfrm>
              <a:off x="5257800" y="2667000"/>
              <a:ext cx="1295400" cy="304800"/>
              <a:chOff x="5257800" y="2590800"/>
              <a:chExt cx="1295400" cy="304800"/>
            </a:xfrm>
          </p:grpSpPr>
          <p:cxnSp>
            <p:nvCxnSpPr>
              <p:cNvPr id="514" name="Google Shape;514;p34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15" name="Google Shape;515;p34"/>
              <p:cNvSpPr txBox="1"/>
              <p:nvPr/>
            </p:nvSpPr>
            <p:spPr>
              <a:xfrm>
                <a:off x="5486400" y="2590800"/>
                <a:ext cx="838200" cy="304800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6" name="Google Shape;516;p34"/>
            <p:cNvSpPr/>
            <p:nvPr/>
          </p:nvSpPr>
          <p:spPr>
            <a:xfrm>
              <a:off x="7086600" y="1981200"/>
              <a:ext cx="1143000" cy="838200"/>
            </a:xfrm>
            <a:prstGeom prst="ellipse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" name="Google Shape;517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522" name="Google Shape;5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5"/>
          <p:cNvSpPr txBox="1"/>
          <p:nvPr>
            <p:ph idx="4294967295" type="title"/>
          </p:nvPr>
        </p:nvSpPr>
        <p:spPr>
          <a:xfrm>
            <a:off x="1620043" y="292101"/>
            <a:ext cx="10018713" cy="455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grpSp>
        <p:nvGrpSpPr>
          <p:cNvPr id="524" name="Google Shape;524;p35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25" name="Google Shape;525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" name="Google Shape;528;p35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529" name="Google Shape;529;p35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5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5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35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533" name="Google Shape;533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6" name="Google Shape;536;p35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37" name="Google Shape;537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0" name="Google Shape;540;p35"/>
          <p:cNvSpPr/>
          <p:nvPr/>
        </p:nvSpPr>
        <p:spPr>
          <a:xfrm>
            <a:off x="5410200" y="1981200"/>
            <a:ext cx="1295400" cy="838200"/>
          </a:xfrm>
          <a:prstGeom prst="ellipse">
            <a:avLst/>
          </a:prstGeom>
          <a:noFill/>
          <a:ln cap="flat" cmpd="sng" w="38100">
            <a:solidFill>
              <a:srgbClr val="531A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1" name="Google Shape;541;p35"/>
          <p:cNvGrpSpPr/>
          <p:nvPr/>
        </p:nvGrpSpPr>
        <p:grpSpPr>
          <a:xfrm>
            <a:off x="3581400" y="1981201"/>
            <a:ext cx="1219200" cy="304800"/>
            <a:chOff x="2057400" y="1981201"/>
            <a:chExt cx="1219200" cy="304800"/>
          </a:xfrm>
        </p:grpSpPr>
        <p:cxnSp>
          <p:nvCxnSpPr>
            <p:cNvPr id="542" name="Google Shape;542;p35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43" name="Google Shape;543;p35"/>
            <p:cNvSpPr txBox="1"/>
            <p:nvPr/>
          </p:nvSpPr>
          <p:spPr>
            <a:xfrm>
              <a:off x="2209800" y="1981201"/>
              <a:ext cx="838200" cy="304800"/>
            </a:xfrm>
            <a:prstGeom prst="rect">
              <a:avLst/>
            </a:prstGeom>
            <a:solidFill>
              <a:srgbClr val="99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4" name="Google Shape;544;p35"/>
          <p:cNvGrpSpPr/>
          <p:nvPr/>
        </p:nvGrpSpPr>
        <p:grpSpPr>
          <a:xfrm>
            <a:off x="7086600" y="1981201"/>
            <a:ext cx="1447800" cy="307777"/>
            <a:chOff x="5715000" y="1981200"/>
            <a:chExt cx="1295400" cy="307777"/>
          </a:xfrm>
        </p:grpSpPr>
        <p:cxnSp>
          <p:nvCxnSpPr>
            <p:cNvPr id="545" name="Google Shape;545;p35"/>
            <p:cNvCxnSpPr/>
            <p:nvPr/>
          </p:nvCxnSpPr>
          <p:spPr>
            <a:xfrm rot="10800000">
              <a:off x="5715000" y="21336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46" name="Google Shape;546;p35"/>
            <p:cNvSpPr txBox="1"/>
            <p:nvPr/>
          </p:nvSpPr>
          <p:spPr>
            <a:xfrm>
              <a:off x="6020385" y="1981200"/>
              <a:ext cx="838033" cy="307777"/>
            </a:xfrm>
            <a:prstGeom prst="rect">
              <a:avLst/>
            </a:prstGeom>
            <a:solidFill>
              <a:srgbClr val="0080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7" name="Google Shape;547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552" name="Google Shape;55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7"/>
          <p:cNvSpPr txBox="1"/>
          <p:nvPr>
            <p:ph idx="4294967295" type="title"/>
          </p:nvPr>
        </p:nvSpPr>
        <p:spPr>
          <a:xfrm>
            <a:off x="1620043" y="497229"/>
            <a:ext cx="10018713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554" name="Google Shape;554;p37"/>
          <p:cNvSpPr txBox="1"/>
          <p:nvPr>
            <p:ph idx="4294967295" type="body"/>
          </p:nvPr>
        </p:nvSpPr>
        <p:spPr>
          <a:xfrm>
            <a:off x="1676400" y="5006975"/>
            <a:ext cx="8839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016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grpSp>
        <p:nvGrpSpPr>
          <p:cNvPr id="555" name="Google Shape;555;p37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56" name="Google Shape;556;p37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9" name="Google Shape;559;p37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60" name="Google Shape;560;p37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7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7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3" name="Google Shape;563;p37"/>
          <p:cNvSpPr/>
          <p:nvPr/>
        </p:nvSpPr>
        <p:spPr>
          <a:xfrm>
            <a:off x="5486400" y="1981200"/>
            <a:ext cx="1143000" cy="838200"/>
          </a:xfrm>
          <a:prstGeom prst="ellipse">
            <a:avLst/>
          </a:prstGeom>
          <a:noFill/>
          <a:ln cap="flat" cmpd="sng" w="38100">
            <a:solidFill>
              <a:srgbClr val="531A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4" name="Google Shape;564;p37"/>
          <p:cNvGrpSpPr/>
          <p:nvPr/>
        </p:nvGrpSpPr>
        <p:grpSpPr>
          <a:xfrm>
            <a:off x="4648200" y="2743201"/>
            <a:ext cx="1371600" cy="307777"/>
            <a:chOff x="1981200" y="2667000"/>
            <a:chExt cx="1295400" cy="307777"/>
          </a:xfrm>
        </p:grpSpPr>
        <p:cxnSp>
          <p:nvCxnSpPr>
            <p:cNvPr id="565" name="Google Shape;565;p37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66" name="Google Shape;566;p37"/>
            <p:cNvSpPr txBox="1"/>
            <p:nvPr/>
          </p:nvSpPr>
          <p:spPr>
            <a:xfrm>
              <a:off x="2285560" y="2667000"/>
              <a:ext cx="838111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7" name="Google Shape;567;p37"/>
          <p:cNvGrpSpPr/>
          <p:nvPr/>
        </p:nvGrpSpPr>
        <p:grpSpPr>
          <a:xfrm>
            <a:off x="3352800" y="2743201"/>
            <a:ext cx="1371600" cy="307777"/>
            <a:chOff x="1981200" y="2667000"/>
            <a:chExt cx="1295400" cy="307777"/>
          </a:xfrm>
        </p:grpSpPr>
        <p:cxnSp>
          <p:nvCxnSpPr>
            <p:cNvPr id="568" name="Google Shape;568;p37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69" name="Google Shape;569;p37"/>
            <p:cNvSpPr txBox="1"/>
            <p:nvPr/>
          </p:nvSpPr>
          <p:spPr>
            <a:xfrm>
              <a:off x="2285560" y="2667000"/>
              <a:ext cx="838111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0" name="Google Shape;570;p37"/>
          <p:cNvGrpSpPr/>
          <p:nvPr/>
        </p:nvGrpSpPr>
        <p:grpSpPr>
          <a:xfrm>
            <a:off x="6096000" y="2743201"/>
            <a:ext cx="2743200" cy="307777"/>
            <a:chOff x="4724400" y="2743200"/>
            <a:chExt cx="2590800" cy="307777"/>
          </a:xfrm>
        </p:grpSpPr>
        <p:grpSp>
          <p:nvGrpSpPr>
            <p:cNvPr id="571" name="Google Shape;571;p37"/>
            <p:cNvGrpSpPr/>
            <p:nvPr/>
          </p:nvGrpSpPr>
          <p:grpSpPr>
            <a:xfrm>
              <a:off x="6019800" y="2743200"/>
              <a:ext cx="1295400" cy="307777"/>
              <a:chOff x="5257800" y="2590800"/>
              <a:chExt cx="1295400" cy="307777"/>
            </a:xfrm>
          </p:grpSpPr>
          <p:cxnSp>
            <p:nvCxnSpPr>
              <p:cNvPr id="572" name="Google Shape;572;p37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73" name="Google Shape;573;p37"/>
              <p:cNvSpPr txBox="1"/>
              <p:nvPr/>
            </p:nvSpPr>
            <p:spPr>
              <a:xfrm>
                <a:off x="5485694" y="2590800"/>
                <a:ext cx="839611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37"/>
            <p:cNvGrpSpPr/>
            <p:nvPr/>
          </p:nvGrpSpPr>
          <p:grpSpPr>
            <a:xfrm>
              <a:off x="4724400" y="2743200"/>
              <a:ext cx="1295400" cy="307777"/>
              <a:chOff x="5257800" y="2590800"/>
              <a:chExt cx="1295400" cy="307777"/>
            </a:xfrm>
          </p:grpSpPr>
          <p:cxnSp>
            <p:nvCxnSpPr>
              <p:cNvPr id="575" name="Google Shape;575;p37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76" name="Google Shape;576;p37"/>
              <p:cNvSpPr txBox="1"/>
              <p:nvPr/>
            </p:nvSpPr>
            <p:spPr>
              <a:xfrm>
                <a:off x="5485694" y="2590800"/>
                <a:ext cx="839611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10.1.0.0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7" name="Google Shape;577;p37"/>
          <p:cNvGrpSpPr/>
          <p:nvPr/>
        </p:nvGrpSpPr>
        <p:grpSpPr>
          <a:xfrm>
            <a:off x="3581400" y="1752600"/>
            <a:ext cx="4876800" cy="1068388"/>
            <a:chOff x="2057400" y="1752600"/>
            <a:chExt cx="4876800" cy="1067594"/>
          </a:xfrm>
        </p:grpSpPr>
        <p:cxnSp>
          <p:nvCxnSpPr>
            <p:cNvPr id="578" name="Google Shape;578;p37"/>
            <p:cNvCxnSpPr/>
            <p:nvPr/>
          </p:nvCxnSpPr>
          <p:spPr>
            <a:xfrm flipH="1" rot="-5400000">
              <a:off x="2894806" y="2134394"/>
              <a:ext cx="686594" cy="685006"/>
            </a:xfrm>
            <a:prstGeom prst="straightConnector1">
              <a:avLst/>
            </a:prstGeom>
            <a:noFill/>
            <a:ln cap="flat" cmpd="sng" w="50800">
              <a:solidFill>
                <a:srgbClr val="99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79" name="Google Shape;579;p37"/>
            <p:cNvSpPr txBox="1"/>
            <p:nvPr/>
          </p:nvSpPr>
          <p:spPr>
            <a:xfrm>
              <a:off x="2057400" y="1752600"/>
              <a:ext cx="914400" cy="399813"/>
            </a:xfrm>
            <a:prstGeom prst="rect">
              <a:avLst/>
            </a:prstGeom>
            <a:solidFill>
              <a:srgbClr val="660033"/>
            </a:solidFill>
            <a:ln cap="flat" cmpd="sng" w="25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0" name="Google Shape;580;p37"/>
            <p:cNvCxnSpPr/>
            <p:nvPr/>
          </p:nvCxnSpPr>
          <p:spPr>
            <a:xfrm rot="5400000">
              <a:off x="5524500" y="2247900"/>
              <a:ext cx="609600" cy="533400"/>
            </a:xfrm>
            <a:prstGeom prst="straightConnector1">
              <a:avLst/>
            </a:prstGeom>
            <a:noFill/>
            <a:ln cap="flat" cmpd="sng" w="50800">
              <a:solidFill>
                <a:srgbClr val="99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81" name="Google Shape;581;p37"/>
            <p:cNvSpPr txBox="1"/>
            <p:nvPr/>
          </p:nvSpPr>
          <p:spPr>
            <a:xfrm>
              <a:off x="6019800" y="1828743"/>
              <a:ext cx="914400" cy="399813"/>
            </a:xfrm>
            <a:prstGeom prst="rect">
              <a:avLst/>
            </a:prstGeom>
            <a:solidFill>
              <a:srgbClr val="660033"/>
            </a:solidFill>
            <a:ln cap="flat" cmpd="sng" w="25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587" name="Google Shape;5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8"/>
          <p:cNvSpPr txBox="1"/>
          <p:nvPr>
            <p:ph idx="4294967295" type="title"/>
          </p:nvPr>
        </p:nvSpPr>
        <p:spPr>
          <a:xfrm>
            <a:off x="1676400" y="454024"/>
            <a:ext cx="10018713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589" name="Google Shape;589;p38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90" name="Google Shape;590;p38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3" name="Google Shape;593;p38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94" name="Google Shape;594;p38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8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8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Google Shape;597;p38"/>
          <p:cNvSpPr/>
          <p:nvPr/>
        </p:nvSpPr>
        <p:spPr>
          <a:xfrm>
            <a:off x="8610600" y="1981200"/>
            <a:ext cx="1143000" cy="838200"/>
          </a:xfrm>
          <a:prstGeom prst="ellipse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8" name="Google Shape;598;p38"/>
          <p:cNvGrpSpPr/>
          <p:nvPr/>
        </p:nvGrpSpPr>
        <p:grpSpPr>
          <a:xfrm>
            <a:off x="6934200" y="1981201"/>
            <a:ext cx="1600200" cy="307777"/>
            <a:chOff x="5715000" y="1981200"/>
            <a:chExt cx="1295400" cy="307777"/>
          </a:xfrm>
        </p:grpSpPr>
        <p:cxnSp>
          <p:nvCxnSpPr>
            <p:cNvPr id="599" name="Google Shape;599;p38"/>
            <p:cNvCxnSpPr/>
            <p:nvPr/>
          </p:nvCxnSpPr>
          <p:spPr>
            <a:xfrm rot="10800000">
              <a:off x="5715000" y="21336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00" name="Google Shape;600;p38"/>
            <p:cNvSpPr txBox="1"/>
            <p:nvPr/>
          </p:nvSpPr>
          <p:spPr>
            <a:xfrm>
              <a:off x="6019574" y="1981200"/>
              <a:ext cx="837898" cy="307777"/>
            </a:xfrm>
            <a:prstGeom prst="rect">
              <a:avLst/>
            </a:prstGeom>
            <a:solidFill>
              <a:srgbClr val="0080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1" name="Google Shape;601;p38"/>
          <p:cNvSpPr/>
          <p:nvPr/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2" name="Google Shape;602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607" name="Google Shape;60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39"/>
          <p:cNvSpPr txBox="1"/>
          <p:nvPr>
            <p:ph idx="4294967295" type="title"/>
          </p:nvPr>
        </p:nvSpPr>
        <p:spPr>
          <a:xfrm>
            <a:off x="1512886" y="383977"/>
            <a:ext cx="10018713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609" name="Google Shape;609;p39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610" name="Google Shape;610;p39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9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9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39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14" name="Google Shape;614;p39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9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9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7" name="Google Shape;617;p39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39"/>
          <p:cNvGrpSpPr/>
          <p:nvPr/>
        </p:nvGrpSpPr>
        <p:grpSpPr>
          <a:xfrm>
            <a:off x="4724400" y="2743201"/>
            <a:ext cx="1447800" cy="307777"/>
            <a:chOff x="1981200" y="2667000"/>
            <a:chExt cx="1295400" cy="307777"/>
          </a:xfrm>
        </p:grpSpPr>
        <p:cxnSp>
          <p:nvCxnSpPr>
            <p:cNvPr id="619" name="Google Shape;619;p39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20" name="Google Shape;620;p39"/>
            <p:cNvSpPr txBox="1"/>
            <p:nvPr/>
          </p:nvSpPr>
          <p:spPr>
            <a:xfrm>
              <a:off x="2286585" y="2667000"/>
              <a:ext cx="838033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1" name="Google Shape;621;p39"/>
          <p:cNvGrpSpPr/>
          <p:nvPr/>
        </p:nvGrpSpPr>
        <p:grpSpPr>
          <a:xfrm>
            <a:off x="3276600" y="2743201"/>
            <a:ext cx="1447800" cy="307777"/>
            <a:chOff x="1981200" y="2667000"/>
            <a:chExt cx="1295400" cy="307777"/>
          </a:xfrm>
        </p:grpSpPr>
        <p:cxnSp>
          <p:nvCxnSpPr>
            <p:cNvPr id="622" name="Google Shape;622;p39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23" name="Google Shape;623;p39"/>
            <p:cNvSpPr txBox="1"/>
            <p:nvPr/>
          </p:nvSpPr>
          <p:spPr>
            <a:xfrm>
              <a:off x="2286585" y="2667000"/>
              <a:ext cx="838033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" name="Google Shape;624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629" name="Google Shape;62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0"/>
          <p:cNvSpPr txBox="1"/>
          <p:nvPr>
            <p:ph idx="4294967295" type="title"/>
          </p:nvPr>
        </p:nvSpPr>
        <p:spPr>
          <a:xfrm>
            <a:off x="1676400" y="444304"/>
            <a:ext cx="10018713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631" name="Google Shape;631;p40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32" name="Google Shape;632;p4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5" name="Google Shape;635;p40"/>
          <p:cNvSpPr/>
          <p:nvPr/>
        </p:nvSpPr>
        <p:spPr>
          <a:xfrm>
            <a:off x="8610600" y="1981200"/>
            <a:ext cx="1143000" cy="838200"/>
          </a:xfrm>
          <a:prstGeom prst="ellipse">
            <a:avLst/>
          </a:prstGeom>
          <a:noFill/>
          <a:ln cap="flat" cmpd="sng" w="38100">
            <a:solidFill>
              <a:srgbClr val="00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6" name="Google Shape;636;p40"/>
          <p:cNvGrpSpPr/>
          <p:nvPr/>
        </p:nvGrpSpPr>
        <p:grpSpPr>
          <a:xfrm>
            <a:off x="7391400" y="2743201"/>
            <a:ext cx="1447800" cy="307777"/>
            <a:chOff x="5257800" y="2590800"/>
            <a:chExt cx="1295400" cy="307777"/>
          </a:xfrm>
        </p:grpSpPr>
        <p:cxnSp>
          <p:nvCxnSpPr>
            <p:cNvPr id="637" name="Google Shape;637;p40"/>
            <p:cNvCxnSpPr/>
            <p:nvPr/>
          </p:nvCxnSpPr>
          <p:spPr>
            <a:xfrm>
              <a:off x="5257800" y="27432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38" name="Google Shape;638;p40"/>
            <p:cNvSpPr txBox="1"/>
            <p:nvPr/>
          </p:nvSpPr>
          <p:spPr>
            <a:xfrm>
              <a:off x="5486484" y="2590800"/>
              <a:ext cx="838033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10.2.0.0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9" name="Google Shape;639;p40"/>
          <p:cNvGrpSpPr/>
          <p:nvPr/>
        </p:nvGrpSpPr>
        <p:grpSpPr>
          <a:xfrm>
            <a:off x="6096000" y="2743201"/>
            <a:ext cx="1371600" cy="307777"/>
            <a:chOff x="5257800" y="2590800"/>
            <a:chExt cx="1295400" cy="307777"/>
          </a:xfrm>
        </p:grpSpPr>
        <p:cxnSp>
          <p:nvCxnSpPr>
            <p:cNvPr id="640" name="Google Shape;640;p40"/>
            <p:cNvCxnSpPr/>
            <p:nvPr/>
          </p:nvCxnSpPr>
          <p:spPr>
            <a:xfrm>
              <a:off x="5257800" y="27432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41" name="Google Shape;641;p40"/>
            <p:cNvSpPr txBox="1"/>
            <p:nvPr/>
          </p:nvSpPr>
          <p:spPr>
            <a:xfrm>
              <a:off x="5485694" y="2590800"/>
              <a:ext cx="839611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2" name="Google Shape;642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647" name="Google Shape;64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4859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1"/>
          <p:cNvSpPr txBox="1"/>
          <p:nvPr>
            <p:ph idx="4294967295" type="title"/>
          </p:nvPr>
        </p:nvSpPr>
        <p:spPr>
          <a:xfrm>
            <a:off x="1676400" y="571500"/>
            <a:ext cx="10018713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649" name="Google Shape;649;p41"/>
          <p:cNvSpPr txBox="1"/>
          <p:nvPr>
            <p:ph idx="4294967295" type="body"/>
          </p:nvPr>
        </p:nvSpPr>
        <p:spPr>
          <a:xfrm>
            <a:off x="1558835" y="5175252"/>
            <a:ext cx="9609908" cy="13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 sz="2400"/>
              <a:t>The network has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b="1" lang="en-US" sz="2400">
                <a:solidFill>
                  <a:srgbClr val="FF0000"/>
                </a:solidFill>
              </a:rPr>
              <a:t>CONVERGED!</a:t>
            </a:r>
            <a:endParaRPr b="1" sz="2400"/>
          </a:p>
          <a:p>
            <a:pPr indent="-342900" lvl="2" marL="796925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Font typeface="Tahoma"/>
              <a:buChar char="•"/>
            </a:pPr>
            <a:r>
              <a:rPr lang="en-US" sz="2400"/>
              <a:t>All routers now know about all of the networks attached to all of their neighbouring routers.</a:t>
            </a:r>
            <a:endParaRPr sz="24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650" name="Google Shape;650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2"/>
          <p:cNvSpPr txBox="1"/>
          <p:nvPr>
            <p:ph idx="4294967295" type="title"/>
          </p:nvPr>
        </p:nvSpPr>
        <p:spPr>
          <a:xfrm>
            <a:off x="1655761" y="485775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Convergence</a:t>
            </a:r>
            <a:endParaRPr/>
          </a:p>
        </p:txBody>
      </p:sp>
      <p:sp>
        <p:nvSpPr>
          <p:cNvPr id="656" name="Google Shape;656;p42"/>
          <p:cNvSpPr txBox="1"/>
          <p:nvPr>
            <p:ph idx="4294967295" type="body"/>
          </p:nvPr>
        </p:nvSpPr>
        <p:spPr>
          <a:xfrm>
            <a:off x="1362075" y="971551"/>
            <a:ext cx="5346455" cy="535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Convergence</a:t>
            </a:r>
            <a:r>
              <a:rPr lang="en-US"/>
              <a:t> is the time a network takes to reach a </a:t>
            </a:r>
            <a:r>
              <a:rPr b="1" lang="en-US">
                <a:solidFill>
                  <a:srgbClr val="7D28CD"/>
                </a:solidFill>
              </a:rPr>
              <a:t>stable routing state</a:t>
            </a:r>
            <a:r>
              <a:rPr lang="en-US"/>
              <a:t> after a change (e.g., link failure).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 general, </a:t>
            </a:r>
            <a:r>
              <a:rPr b="1" lang="en-US">
                <a:solidFill>
                  <a:srgbClr val="7D28CD"/>
                </a:solidFill>
              </a:rPr>
              <a:t>larger networks </a:t>
            </a:r>
            <a:r>
              <a:rPr b="1" lang="en-US"/>
              <a:t>take </a:t>
            </a:r>
            <a:r>
              <a:rPr b="1" lang="en-US">
                <a:solidFill>
                  <a:srgbClr val="0070C0"/>
                </a:solidFill>
              </a:rPr>
              <a:t>longer to converge</a:t>
            </a:r>
            <a:r>
              <a:rPr b="1" lang="en-US"/>
              <a:t>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Routing protocols are compared based on </a:t>
            </a:r>
            <a:r>
              <a:rPr b="1" lang="en-US"/>
              <a:t>how fast they spread routing updates</a:t>
            </a:r>
            <a:br>
              <a:rPr lang="en-US"/>
            </a:br>
            <a:r>
              <a:rPr b="1" lang="en-US">
                <a:solidFill>
                  <a:srgbClr val="FF0000"/>
                </a:solidFill>
              </a:rPr>
              <a:t>→</a:t>
            </a:r>
            <a:r>
              <a:rPr lang="en-US"/>
              <a:t> this is called </a:t>
            </a:r>
            <a:r>
              <a:rPr b="1" lang="en-US">
                <a:solidFill>
                  <a:srgbClr val="FF0000"/>
                </a:solidFill>
              </a:rPr>
              <a:t>speed of convergence</a:t>
            </a:r>
            <a:r>
              <a:rPr lang="en-US">
                <a:solidFill>
                  <a:srgbClr val="FF0000"/>
                </a:solidFill>
              </a:rPr>
              <a:t>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 network </a:t>
            </a:r>
            <a:r>
              <a:rPr b="1" lang="en-US">
                <a:solidFill>
                  <a:srgbClr val="7D28CD"/>
                </a:solidFill>
              </a:rPr>
              <a:t>cannot forward traffic correctly</a:t>
            </a:r>
            <a:r>
              <a:rPr lang="en-US">
                <a:solidFill>
                  <a:srgbClr val="7D28CD"/>
                </a:solidFill>
              </a:rPr>
              <a:t> </a:t>
            </a:r>
            <a:r>
              <a:rPr lang="en-US"/>
              <a:t>until convergence is complete.</a:t>
            </a:r>
            <a:endParaRPr/>
          </a:p>
        </p:txBody>
      </p:sp>
      <p:pic>
        <p:nvPicPr>
          <p:cNvPr descr="dv12.jpg" id="657" name="Google Shape;65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832" y="1718897"/>
            <a:ext cx="4957763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"/>
          <p:cNvSpPr txBox="1"/>
          <p:nvPr>
            <p:ph idx="4294967295" type="title"/>
          </p:nvPr>
        </p:nvSpPr>
        <p:spPr>
          <a:xfrm>
            <a:off x="1655761" y="485775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Disadvantages</a:t>
            </a:r>
            <a:endParaRPr/>
          </a:p>
        </p:txBody>
      </p:sp>
      <p:sp>
        <p:nvSpPr>
          <p:cNvPr id="664" name="Google Shape;664;p11"/>
          <p:cNvSpPr txBox="1"/>
          <p:nvPr>
            <p:ph idx="4294967295" type="body"/>
          </p:nvPr>
        </p:nvSpPr>
        <p:spPr>
          <a:xfrm>
            <a:off x="1362075" y="971551"/>
            <a:ext cx="10709852" cy="535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Routers have </a:t>
            </a:r>
            <a:r>
              <a:rPr b="1" lang="en-US" sz="26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only local knowledge</a:t>
            </a:r>
            <a:r>
              <a:rPr lang="en-US" sz="26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(they know information only from neighbors).</a:t>
            </a:r>
            <a:endParaRPr sz="2200"/>
          </a:p>
          <a:p>
            <a:pPr indent="-76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Routers </a:t>
            </a:r>
            <a:r>
              <a:rPr b="1" lang="en-US" sz="26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trust information received from neighbors</a:t>
            </a:r>
            <a:r>
              <a:rPr lang="en-US" sz="2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even if it is outdated or incorrect.</a:t>
            </a:r>
            <a:endParaRPr sz="2200"/>
          </a:p>
          <a:p>
            <a:pPr indent="-76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Routing updates are </a:t>
            </a:r>
            <a:r>
              <a:rPr b="1" lang="en-US" sz="26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slow to converge</a:t>
            </a:r>
            <a:r>
              <a:rPr lang="en-US" sz="26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after a link failure.</a:t>
            </a:r>
            <a:endParaRPr sz="2200"/>
          </a:p>
          <a:p>
            <a:pPr indent="-76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Incorrect routing information can </a:t>
            </a:r>
            <a:r>
              <a:rPr b="1" lang="en-US" sz="2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spread from one router to another</a:t>
            </a:r>
            <a:r>
              <a:rPr lang="en-US" sz="2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sz="2200"/>
          </a:p>
          <a:p>
            <a:pPr indent="-76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can create </a:t>
            </a:r>
            <a:r>
              <a:rPr b="1" lang="en-US" sz="26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routing loops</a:t>
            </a:r>
            <a:r>
              <a:rPr lang="en-US" sz="26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sz="2200"/>
          </a:p>
        </p:txBody>
      </p:sp>
      <p:sp>
        <p:nvSpPr>
          <p:cNvPr id="665" name="Google Shape;665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2" name="Google Shape;6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0543" y="2117114"/>
            <a:ext cx="70485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2827" y="3775930"/>
            <a:ext cx="5223137" cy="1956655"/>
          </a:xfrm>
          <a:prstGeom prst="rect">
            <a:avLst/>
          </a:prstGeom>
          <a:noFill/>
          <a:ln>
            <a:noFill/>
          </a:ln>
        </p:spPr>
      </p:pic>
      <p:sp>
        <p:nvSpPr>
          <p:cNvPr descr="Network Device Status Icons, Jon Fuller's Portfolio" id="674" name="Google Shape;674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+ Hundred Computer Network Outage Icon Royalty-Free Images, Stock Photos &amp;  Pictures | Shutterstock" id="675" name="Google Shape;67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7667" y="2242039"/>
            <a:ext cx="641838" cy="641838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3"/>
          <p:cNvSpPr txBox="1"/>
          <p:nvPr/>
        </p:nvSpPr>
        <p:spPr>
          <a:xfrm>
            <a:off x="5564684" y="4246684"/>
            <a:ext cx="65147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∞,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677" name="Google Shape;677;p13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Count to infinity Problem :: Routing Loops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8" name="Google Shape;678;p13"/>
          <p:cNvSpPr txBox="1"/>
          <p:nvPr/>
        </p:nvSpPr>
        <p:spPr>
          <a:xfrm>
            <a:off x="2172800" y="5883275"/>
            <a:ext cx="89727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Problem is</a:t>
            </a:r>
            <a:r>
              <a:rPr lang="en-US" sz="1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 </a:t>
            </a:r>
            <a:endParaRPr sz="19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Before B sends its routing table to C, </a:t>
            </a:r>
            <a:r>
              <a:rPr b="1" lang="en-US" sz="1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 sends its routing table to B</a:t>
            </a:r>
            <a:r>
              <a:rPr lang="en-US" sz="1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where </a:t>
            </a:r>
            <a:r>
              <a:rPr b="1" lang="en-US" sz="1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Cost(A) = 2</a:t>
            </a:r>
            <a:endParaRPr b="1" sz="19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nter image description here" id="684" name="Google Shape;6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4760" y="2417884"/>
            <a:ext cx="6291880" cy="36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14"/>
          <p:cNvSpPr txBox="1"/>
          <p:nvPr/>
        </p:nvSpPr>
        <p:spPr>
          <a:xfrm>
            <a:off x="7936523" y="1403837"/>
            <a:ext cx="4047392" cy="5084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Since C does not know that the link between A and B is down, it assumes a path to A with cost 2 (1 from C to B and 1 from B to A).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 receives C’s table and assumes there is an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alternate path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4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to A via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 it updates its distance to A from infinity to 3 (1 from B to C + 2 from C to 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Once again, routers exchange their tables.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6" name="Google Shape;6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1119" y="1296956"/>
            <a:ext cx="5728188" cy="874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+ Hundred Computer Network Outage Icon Royalty-Free Images, Stock Photos &amp;  Pictures | Shutterstock" id="687" name="Google Shape;68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7228" y="1403837"/>
            <a:ext cx="521610" cy="52161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4"/>
          <p:cNvSpPr/>
          <p:nvPr/>
        </p:nvSpPr>
        <p:spPr>
          <a:xfrm>
            <a:off x="1714500" y="3734837"/>
            <a:ext cx="5934807" cy="226841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4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Count to infinity Problem :: Routing Loops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0" name="Google Shape;690;p14"/>
          <p:cNvSpPr txBox="1"/>
          <p:nvPr/>
        </p:nvSpPr>
        <p:spPr>
          <a:xfrm>
            <a:off x="4930531" y="1242519"/>
            <a:ext cx="889000" cy="430847"/>
          </a:xfrm>
          <a:prstGeom prst="rect">
            <a:avLst/>
          </a:prstGeom>
          <a:solidFill>
            <a:srgbClr val="531A88"/>
          </a:solidFill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4"/>
          <p:cNvSpPr/>
          <p:nvPr/>
        </p:nvSpPr>
        <p:spPr>
          <a:xfrm>
            <a:off x="5819532" y="2858018"/>
            <a:ext cx="618214" cy="448599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4"/>
          <p:cNvSpPr/>
          <p:nvPr/>
        </p:nvSpPr>
        <p:spPr>
          <a:xfrm>
            <a:off x="4842270" y="3268955"/>
            <a:ext cx="618214" cy="448599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nter image description here" id="698" name="Google Shape;6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4760" y="2417884"/>
            <a:ext cx="6291880" cy="36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15"/>
          <p:cNvSpPr txBox="1"/>
          <p:nvPr/>
        </p:nvSpPr>
        <p:spPr>
          <a:xfrm>
            <a:off x="7936522" y="1403837"/>
            <a:ext cx="4108939" cy="46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6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C receives B's routing table, it sees that B has changed the weight of its link to A from 1 to 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6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6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 C updates its table and changes the weight of the link to A to 4 (1 for C to B, and 3 for B to A, as B said).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6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6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process loops until all nodes find out that the weight of link to A is infinity.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0" name="Google Shape;7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1119" y="1278913"/>
            <a:ext cx="5728188" cy="874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+ Hundred Computer Network Outage Icon Royalty-Free Images, Stock Photos &amp;  Pictures | Shutterstock" id="701" name="Google Shape;7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7228" y="1403837"/>
            <a:ext cx="521610" cy="52161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15"/>
          <p:cNvSpPr/>
          <p:nvPr/>
        </p:nvSpPr>
        <p:spPr>
          <a:xfrm>
            <a:off x="1714500" y="4097215"/>
            <a:ext cx="5934807" cy="190603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5"/>
          <p:cNvSpPr/>
          <p:nvPr/>
        </p:nvSpPr>
        <p:spPr>
          <a:xfrm>
            <a:off x="1714499" y="3734837"/>
            <a:ext cx="5934900" cy="350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5"/>
          <p:cNvSpPr txBox="1"/>
          <p:nvPr/>
        </p:nvSpPr>
        <p:spPr>
          <a:xfrm>
            <a:off x="3358838" y="1162344"/>
            <a:ext cx="889000" cy="430847"/>
          </a:xfrm>
          <a:prstGeom prst="rect">
            <a:avLst/>
          </a:prstGeom>
          <a:solidFill>
            <a:srgbClr val="531A88"/>
          </a:solidFill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5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Count to infinity Problem :: Routing Loops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1" name="Google Shape;711;p16"/>
          <p:cNvSpPr txBox="1"/>
          <p:nvPr/>
        </p:nvSpPr>
        <p:spPr>
          <a:xfrm>
            <a:off x="1098675" y="2839901"/>
            <a:ext cx="103263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One way to solve this problem is that a router does not advertise a route back out the interface on which it was learned.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12" name="Google Shape;7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1119" y="1296956"/>
            <a:ext cx="5728188" cy="874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+ Hundred Computer Network Outage Icon Royalty-Free Images, Stock Photos &amp;  Pictures | Shutterstock" id="713" name="Google Shape;7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7228" y="1403837"/>
            <a:ext cx="521610" cy="52161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16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Solution One: Split Horizon Rule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15" name="Google Shape;7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8852" y="3926630"/>
            <a:ext cx="5223137" cy="195665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16"/>
          <p:cNvSpPr txBox="1"/>
          <p:nvPr/>
        </p:nvSpPr>
        <p:spPr>
          <a:xfrm>
            <a:off x="2067075" y="5934550"/>
            <a:ext cx="8389500" cy="78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So, when C sends its routing table to B, it does not include any route that C learns from B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7" name="Google Shape;717;p16"/>
          <p:cNvSpPr/>
          <p:nvPr/>
        </p:nvSpPr>
        <p:spPr>
          <a:xfrm>
            <a:off x="6767675" y="4414350"/>
            <a:ext cx="697200" cy="297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8" name="Google Shape;718;p16"/>
          <p:cNvSpPr/>
          <p:nvPr/>
        </p:nvSpPr>
        <p:spPr>
          <a:xfrm>
            <a:off x="9190825" y="1396825"/>
            <a:ext cx="2811900" cy="116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orbel"/>
                <a:ea typeface="Corbel"/>
                <a:cs typeface="Corbel"/>
                <a:sym typeface="Corbel"/>
              </a:rPr>
              <a:t>Router Information Protocol (RIP)</a:t>
            </a:r>
            <a:r>
              <a:rPr lang="en-US">
                <a:latin typeface="Corbel"/>
                <a:ea typeface="Corbel"/>
                <a:cs typeface="Corbel"/>
                <a:sym typeface="Corbel"/>
              </a:rPr>
              <a:t> uses this method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e643ac904d_0_2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4" name="Google Shape;724;g3e643ac904d_0_23"/>
          <p:cNvSpPr txBox="1"/>
          <p:nvPr/>
        </p:nvSpPr>
        <p:spPr>
          <a:xfrm>
            <a:off x="1484310" y="468190"/>
            <a:ext cx="100188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Solution </a:t>
            </a:r>
            <a:r>
              <a:rPr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Two</a:t>
            </a: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</a:t>
            </a:r>
            <a:r>
              <a:rPr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Poison Reverse Method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5" name="Google Shape;725;g3e643ac904d_0_23"/>
          <p:cNvSpPr txBox="1"/>
          <p:nvPr/>
        </p:nvSpPr>
        <p:spPr>
          <a:xfrm>
            <a:off x="2080100" y="2054900"/>
            <a:ext cx="8586300" cy="4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49580" lvl="0" marL="45720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Poison reverse:  Advertise that route back to the neighbor with an infinite metric.</a:t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									Ref</a:t>
            </a:r>
            <a:r>
              <a:rPr lang="en-US" sz="13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(if you like)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  </a:t>
            </a:r>
            <a:r>
              <a:rPr lang="en-US" sz="2800" u="sng">
                <a:solidFill>
                  <a:schemeClr val="hlink"/>
                </a:solidFill>
                <a:latin typeface="Corbel"/>
                <a:ea typeface="Corbel"/>
                <a:cs typeface="Corbel"/>
                <a:sym typeface="Corbel"/>
                <a:hlinkClick r:id="rId3"/>
              </a:rPr>
              <a:t>Poison Reverse</a:t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3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Mehnaz Seraj</dc:creator>
</cp:coreProperties>
</file>