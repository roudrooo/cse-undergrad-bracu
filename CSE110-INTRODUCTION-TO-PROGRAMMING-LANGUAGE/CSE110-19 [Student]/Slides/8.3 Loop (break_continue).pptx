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59aa3fe0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59aa3fe0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59ad92e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59ad92e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59ad92eae9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59ad92eae9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59ad92eae9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59ad92eae9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59ad92eae9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59ad92eae9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59ad92eae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59ad92eae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259ad92eae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259ad92eae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59ad92eae9_0_2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59ad92eae9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849850"/>
            <a:ext cx="8520600" cy="94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Loops (break/continue)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11700" y="1152475"/>
            <a:ext cx="8520600" cy="254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Two important concepts one should learn with loop are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break</a:t>
            </a:r>
            <a:r>
              <a:rPr lang="en"/>
              <a:t> </a:t>
            </a:r>
            <a:r>
              <a:rPr lang="en">
                <a:solidFill>
                  <a:schemeClr val="dk1"/>
                </a:solidFill>
              </a:rPr>
              <a:t>&amp;</a:t>
            </a:r>
            <a:r>
              <a:rPr lang="en"/>
              <a:t>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lang="en"/>
              <a:t>. </a:t>
            </a:r>
            <a:r>
              <a:rPr lang="en">
                <a:solidFill>
                  <a:schemeClr val="dk1"/>
                </a:solidFill>
              </a:rPr>
              <a:t>These two keywords grant us more control when running the loop.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break</a:t>
            </a:r>
            <a:r>
              <a:rPr b="1" lang="en" sz="1700">
                <a:solidFill>
                  <a:schemeClr val="dk1"/>
                </a:solidFill>
              </a:rPr>
              <a:t>: </a:t>
            </a:r>
            <a:r>
              <a:rPr lang="en" sz="1700">
                <a:solidFill>
                  <a:schemeClr val="dk1"/>
                </a:solidFill>
              </a:rPr>
              <a:t>the break keyword allows us to </a:t>
            </a:r>
            <a:r>
              <a:rPr b="1" lang="en" sz="1700">
                <a:solidFill>
                  <a:schemeClr val="dk1"/>
                </a:solidFill>
              </a:rPr>
              <a:t>stop the loop</a:t>
            </a:r>
            <a:r>
              <a:rPr lang="en" sz="1700">
                <a:solidFill>
                  <a:schemeClr val="dk1"/>
                </a:solidFill>
              </a:rPr>
              <a:t> early.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❏"/>
            </a:pPr>
            <a:r>
              <a:rPr b="1" lang="en" sz="1700">
                <a:solidFill>
                  <a:srgbClr val="0000FF"/>
                </a:solidFill>
              </a:rPr>
              <a:t>continue</a:t>
            </a:r>
            <a:r>
              <a:rPr lang="en" sz="1700">
                <a:solidFill>
                  <a:schemeClr val="dk1"/>
                </a:solidFill>
              </a:rPr>
              <a:t>: the continue keyword allows us to skip the rest of the loop body and start the next iteration of the loop.</a:t>
            </a:r>
            <a:endParaRPr sz="1700">
              <a:solidFill>
                <a:schemeClr val="dk1"/>
              </a:solidFill>
            </a:endParaRPr>
          </a:p>
        </p:txBody>
      </p:sp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&amp; </a:t>
            </a: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</a:t>
            </a:r>
            <a:endParaRPr b="1" sz="1750"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3699475"/>
            <a:ext cx="8520600" cy="8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/>
              <a:t>Note</a:t>
            </a:r>
            <a:r>
              <a:rPr lang="en" sz="1900"/>
              <a:t>: both break and continue are written inside the loop’s body and are generally bounded by a condition.</a:t>
            </a:r>
            <a:endParaRPr sz="19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but when 5 is reached the program stops.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breaking out of the loop and directly reaching the end.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5176189" y="551162"/>
            <a:ext cx="3128286" cy="4144212"/>
            <a:chOff x="5176189" y="551162"/>
            <a:chExt cx="3128286" cy="4144212"/>
          </a:xfrm>
        </p:grpSpPr>
        <p:grpSp>
          <p:nvGrpSpPr>
            <p:cNvPr id="70" name="Google Shape;70;p15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71" name="Google Shape;71;p15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72" name="Google Shape;72;p15"/>
              <p:cNvCxnSpPr>
                <a:stCxn id="71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3" name="Google Shape;73;p15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74" name="Google Shape;74;p15"/>
              <p:cNvCxnSpPr>
                <a:endCxn id="73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5" name="Google Shape;75;p15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76" name="Google Shape;76;p15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77" name="Google Shape;77;p15"/>
              <p:cNvCxnSpPr>
                <a:stCxn id="73" idx="2"/>
                <a:endCxn id="78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9" name="Google Shape;79;p15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80" name="Google Shape;80;p15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81" name="Google Shape;81;p15"/>
              <p:cNvCxnSpPr>
                <a:stCxn id="80" idx="0"/>
                <a:endCxn id="73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78" name="Google Shape;78;p15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82" name="Google Shape;82;p15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83" name="Google Shape;83;p15"/>
              <p:cNvCxnSpPr>
                <a:stCxn id="78" idx="2"/>
                <a:endCxn id="82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4" name="Google Shape;84;p15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85" name="Google Shape;85;p15"/>
              <p:cNvCxnSpPr>
                <a:stCxn id="82" idx="2"/>
                <a:endCxn id="80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86" name="Google Shape;86;p15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87" name="Google Shape;87;p15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88" name="Google Shape;88;p15"/>
            <p:cNvCxnSpPr>
              <a:stCxn id="78" idx="3"/>
              <a:endCxn id="89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6019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9" name="Google Shape;89;p15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90" name="Google Shape;90;p15"/>
            <p:cNvCxnSpPr>
              <a:stCxn id="73" idx="3"/>
              <a:endCxn id="89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91" name="Google Shape;91;p15"/>
            <p:cNvCxnSpPr>
              <a:stCxn id="89" idx="4"/>
              <a:endCxn id="87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break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97" name="Google Shape;97;p16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98" name="Google Shape;98;p16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Break</a:t>
            </a:r>
            <a:r>
              <a:rPr lang="en">
                <a:solidFill>
                  <a:srgbClr val="1C4587"/>
                </a:solidFill>
              </a:rPr>
              <a:t>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break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99" name="Google Shape;99;p16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Break</a:t>
            </a:r>
            <a:r>
              <a:rPr lang="en" sz="1100">
                <a:solidFill>
                  <a:schemeClr val="accent5"/>
                </a:solidFill>
              </a:rPr>
              <a:t>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1" name="Google Shape;101;p16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102" name="Google Shape;102;p16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3" name="Google Shape;103;p16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Break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105" name="Google Shape;105;p16"/>
          <p:cNvCxnSpPr>
            <a:stCxn id="100" idx="3"/>
            <a:endCxn id="106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7" name="Google Shape;107;p16"/>
          <p:cNvCxnSpPr>
            <a:stCxn id="101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" name="Google Shape;108;p16"/>
          <p:cNvCxnSpPr>
            <a:stCxn id="102" idx="3"/>
            <a:endCxn id="109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6"/>
          <p:cNvCxnSpPr>
            <a:stCxn id="104" idx="3"/>
            <a:endCxn id="111" idx="2"/>
          </p:cNvCxnSpPr>
          <p:nvPr/>
        </p:nvCxnSpPr>
        <p:spPr>
          <a:xfrm>
            <a:off x="5778575" y="2852475"/>
            <a:ext cx="2353800" cy="328500"/>
          </a:xfrm>
          <a:prstGeom prst="curvedConnector4">
            <a:avLst>
              <a:gd fmla="val 43144" name="adj1"/>
              <a:gd fmla="val 144726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6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6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6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6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7" name="Google Shape;117;p16"/>
          <p:cNvCxnSpPr>
            <a:stCxn id="112" idx="2"/>
            <a:endCxn id="103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8" name="Google Shape;118;p16"/>
          <p:cNvCxnSpPr>
            <a:stCxn id="116" idx="3"/>
            <a:endCxn id="104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9" name="Google Shape;119;p16"/>
          <p:cNvCxnSpPr>
            <a:stCxn id="102" idx="1"/>
            <a:endCxn id="1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0" name="Google Shape;120;p16"/>
          <p:cNvCxnSpPr>
            <a:stCxn id="100" idx="1"/>
            <a:endCxn id="1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" name="Google Shape;121;p16"/>
          <p:cNvCxnSpPr>
            <a:stCxn id="101" idx="1"/>
            <a:endCxn id="1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4236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22" name="Google Shape;122;p16"/>
          <p:cNvGrpSpPr/>
          <p:nvPr/>
        </p:nvGrpSpPr>
        <p:grpSpPr>
          <a:xfrm>
            <a:off x="5716264" y="645462"/>
            <a:ext cx="3128286" cy="4144212"/>
            <a:chOff x="5176189" y="551162"/>
            <a:chExt cx="3128286" cy="4144212"/>
          </a:xfrm>
        </p:grpSpPr>
        <p:grpSp>
          <p:nvGrpSpPr>
            <p:cNvPr id="123" name="Google Shape;123;p16"/>
            <p:cNvGrpSpPr/>
            <p:nvPr/>
          </p:nvGrpSpPr>
          <p:grpSpPr>
            <a:xfrm>
              <a:off x="5176189" y="551162"/>
              <a:ext cx="3113486" cy="4144212"/>
              <a:chOff x="5719514" y="445037"/>
              <a:chExt cx="3113486" cy="4144212"/>
            </a:xfrm>
          </p:grpSpPr>
          <p:sp>
            <p:nvSpPr>
              <p:cNvPr id="124" name="Google Shape;124;p16"/>
              <p:cNvSpPr/>
              <p:nvPr/>
            </p:nvSpPr>
            <p:spPr>
              <a:xfrm>
                <a:off x="6956302" y="4450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START</a:t>
                </a:r>
                <a:endParaRPr/>
              </a:p>
            </p:txBody>
          </p:sp>
          <p:cxnSp>
            <p:nvCxnSpPr>
              <p:cNvPr id="125" name="Google Shape;125;p16"/>
              <p:cNvCxnSpPr>
                <a:stCxn id="124" idx="2"/>
              </p:cNvCxnSpPr>
              <p:nvPr/>
            </p:nvCxnSpPr>
            <p:spPr>
              <a:xfrm>
                <a:off x="7384603" y="730049"/>
                <a:ext cx="0" cy="1677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6" name="Google Shape;126;p16"/>
              <p:cNvSpPr/>
              <p:nvPr/>
            </p:nvSpPr>
            <p:spPr>
              <a:xfrm>
                <a:off x="6448200" y="1391575"/>
                <a:ext cx="1847525" cy="723950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&lt;= 10 ?</a:t>
                </a:r>
                <a:endParaRPr sz="1200"/>
              </a:p>
            </p:txBody>
          </p:sp>
          <p:cxnSp>
            <p:nvCxnSpPr>
              <p:cNvPr id="127" name="Google Shape;127;p16"/>
              <p:cNvCxnSpPr>
                <a:endCxn id="126" idx="0"/>
              </p:cNvCxnSpPr>
              <p:nvPr/>
            </p:nvCxnSpPr>
            <p:spPr>
              <a:xfrm>
                <a:off x="7371963" y="1036975"/>
                <a:ext cx="0" cy="354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28" name="Google Shape;128;p16"/>
              <p:cNvSpPr txBox="1"/>
              <p:nvPr/>
            </p:nvSpPr>
            <p:spPr>
              <a:xfrm>
                <a:off x="7333550" y="2076525"/>
                <a:ext cx="716700" cy="31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sp>
            <p:nvSpPr>
              <p:cNvPr id="129" name="Google Shape;129;p16"/>
              <p:cNvSpPr txBox="1"/>
              <p:nvPr/>
            </p:nvSpPr>
            <p:spPr>
              <a:xfrm>
                <a:off x="8116300" y="1391575"/>
                <a:ext cx="7167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cxnSp>
            <p:nvCxnSpPr>
              <p:cNvPr id="130" name="Google Shape;130;p16"/>
              <p:cNvCxnSpPr>
                <a:stCxn id="126" idx="2"/>
                <a:endCxn id="131" idx="0"/>
              </p:cNvCxnSpPr>
              <p:nvPr/>
            </p:nvCxnSpPr>
            <p:spPr>
              <a:xfrm flipH="1">
                <a:off x="7363563" y="2115525"/>
                <a:ext cx="8400" cy="232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2" name="Google Shape;132;p16"/>
              <p:cNvSpPr/>
              <p:nvPr/>
            </p:nvSpPr>
            <p:spPr>
              <a:xfrm>
                <a:off x="6817067" y="897161"/>
                <a:ext cx="1188951" cy="326643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= 1</a:t>
                </a:r>
                <a:endParaRPr/>
              </a:p>
            </p:txBody>
          </p:sp>
          <p:sp>
            <p:nvSpPr>
              <p:cNvPr id="133" name="Google Shape;133;p16"/>
              <p:cNvSpPr/>
              <p:nvPr/>
            </p:nvSpPr>
            <p:spPr>
              <a:xfrm>
                <a:off x="5719514" y="2021375"/>
                <a:ext cx="760800" cy="326650"/>
              </a:xfrm>
              <a:prstGeom prst="flowChartProcess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i += 1</a:t>
                </a:r>
                <a:endParaRPr/>
              </a:p>
            </p:txBody>
          </p:sp>
          <p:cxnSp>
            <p:nvCxnSpPr>
              <p:cNvPr id="134" name="Google Shape;134;p16"/>
              <p:cNvCxnSpPr>
                <a:stCxn id="133" idx="0"/>
                <a:endCxn id="126" idx="1"/>
              </p:cNvCxnSpPr>
              <p:nvPr/>
            </p:nvCxnSpPr>
            <p:spPr>
              <a:xfrm rot="-5400000">
                <a:off x="6140114" y="1713275"/>
                <a:ext cx="267900" cy="3483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1" name="Google Shape;131;p16"/>
              <p:cNvSpPr/>
              <p:nvPr/>
            </p:nvSpPr>
            <p:spPr>
              <a:xfrm>
                <a:off x="6610825" y="2348163"/>
                <a:ext cx="1505477" cy="716509"/>
              </a:xfrm>
              <a:prstGeom prst="flowChartDecision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is </a:t>
                </a:r>
                <a:endParaRPr sz="12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i == 5 ?</a:t>
                </a:r>
                <a:endParaRPr sz="1200"/>
              </a:p>
            </p:txBody>
          </p:sp>
          <p:sp>
            <p:nvSpPr>
              <p:cNvPr id="135" name="Google Shape;135;p16"/>
              <p:cNvSpPr/>
              <p:nvPr/>
            </p:nvSpPr>
            <p:spPr>
              <a:xfrm>
                <a:off x="6769088" y="3354775"/>
                <a:ext cx="1188950" cy="421800"/>
              </a:xfrm>
              <a:prstGeom prst="flowChartInputOutput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Print i</a:t>
                </a:r>
                <a:endParaRPr sz="1200"/>
              </a:p>
            </p:txBody>
          </p:sp>
          <p:cxnSp>
            <p:nvCxnSpPr>
              <p:cNvPr id="136" name="Google Shape;136;p16"/>
              <p:cNvCxnSpPr>
                <a:stCxn id="131" idx="2"/>
                <a:endCxn id="135" idx="1"/>
              </p:cNvCxnSpPr>
              <p:nvPr/>
            </p:nvCxnSpPr>
            <p:spPr>
              <a:xfrm>
                <a:off x="7363564" y="3064672"/>
                <a:ext cx="0" cy="2901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11" name="Google Shape;111;p16"/>
              <p:cNvSpPr txBox="1"/>
              <p:nvPr/>
            </p:nvSpPr>
            <p:spPr>
              <a:xfrm>
                <a:off x="7812888" y="2761088"/>
                <a:ext cx="645300" cy="219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TRUE</a:t>
                </a:r>
                <a:endParaRPr sz="1200"/>
              </a:p>
            </p:txBody>
          </p:sp>
          <p:cxnSp>
            <p:nvCxnSpPr>
              <p:cNvPr id="137" name="Google Shape;137;p16"/>
              <p:cNvCxnSpPr>
                <a:stCxn id="135" idx="2"/>
                <a:endCxn id="133" idx="2"/>
              </p:cNvCxnSpPr>
              <p:nvPr/>
            </p:nvCxnSpPr>
            <p:spPr>
              <a:xfrm rot="10800000">
                <a:off x="6099883" y="2347975"/>
                <a:ext cx="788100" cy="1217700"/>
              </a:xfrm>
              <a:prstGeom prst="bentConnector2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triangle"/>
              </a:ln>
            </p:spPr>
          </p:cxnSp>
          <p:sp>
            <p:nvSpPr>
              <p:cNvPr id="138" name="Google Shape;138;p16"/>
              <p:cNvSpPr txBox="1"/>
              <p:nvPr/>
            </p:nvSpPr>
            <p:spPr>
              <a:xfrm>
                <a:off x="6567125" y="3005575"/>
                <a:ext cx="716700" cy="34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00"/>
                  <a:t>FALSE</a:t>
                </a:r>
                <a:endParaRPr sz="1200"/>
              </a:p>
            </p:txBody>
          </p:sp>
          <p:sp>
            <p:nvSpPr>
              <p:cNvPr id="139" name="Google Shape;139;p16"/>
              <p:cNvSpPr/>
              <p:nvPr/>
            </p:nvSpPr>
            <p:spPr>
              <a:xfrm>
                <a:off x="6893890" y="4304237"/>
                <a:ext cx="856602" cy="285012"/>
              </a:xfrm>
              <a:prstGeom prst="flowChartTerminator">
                <a:avLst/>
              </a:prstGeom>
              <a:solidFill>
                <a:schemeClr val="lt2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chemeClr val="dk1"/>
                    </a:solidFill>
                  </a:rPr>
                  <a:t>END</a:t>
                </a:r>
                <a:endParaRPr/>
              </a:p>
            </p:txBody>
          </p:sp>
        </p:grpSp>
        <p:cxnSp>
          <p:nvCxnSpPr>
            <p:cNvPr id="140" name="Google Shape;140;p16"/>
            <p:cNvCxnSpPr>
              <a:stCxn id="131" idx="3"/>
              <a:endCxn id="141" idx="2"/>
            </p:cNvCxnSpPr>
            <p:nvPr/>
          </p:nvCxnSpPr>
          <p:spPr>
            <a:xfrm>
              <a:off x="7572977" y="2812543"/>
              <a:ext cx="494100" cy="909900"/>
            </a:xfrm>
            <a:prstGeom prst="bentConnector3">
              <a:avLst>
                <a:gd fmla="val 5001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1" name="Google Shape;141;p16"/>
            <p:cNvSpPr/>
            <p:nvPr/>
          </p:nvSpPr>
          <p:spPr>
            <a:xfrm>
              <a:off x="8067175" y="3627950"/>
              <a:ext cx="237300" cy="188700"/>
            </a:xfrm>
            <a:prstGeom prst="flowChartConnec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2" name="Google Shape;142;p16"/>
            <p:cNvCxnSpPr>
              <a:stCxn id="126" idx="3"/>
              <a:endCxn id="141" idx="0"/>
            </p:cNvCxnSpPr>
            <p:nvPr/>
          </p:nvCxnSpPr>
          <p:spPr>
            <a:xfrm>
              <a:off x="7752400" y="1859675"/>
              <a:ext cx="433500" cy="17682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43" name="Google Shape;143;p16"/>
            <p:cNvCxnSpPr>
              <a:stCxn id="141" idx="4"/>
              <a:endCxn id="139" idx="0"/>
            </p:cNvCxnSpPr>
            <p:nvPr/>
          </p:nvCxnSpPr>
          <p:spPr>
            <a:xfrm rot="5400000">
              <a:off x="7185475" y="3410000"/>
              <a:ext cx="593700" cy="1407000"/>
            </a:xfrm>
            <a:prstGeom prst="bentConnector3">
              <a:avLst>
                <a:gd fmla="val 50001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7"/>
          <p:cNvSpPr txBox="1"/>
          <p:nvPr>
            <p:ph type="title"/>
          </p:nvPr>
        </p:nvSpPr>
        <p:spPr>
          <a:xfrm>
            <a:off x="311700" y="445025"/>
            <a:ext cx="4865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visualization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149" name="Google Shape;149;p17"/>
          <p:cNvSpPr txBox="1"/>
          <p:nvPr>
            <p:ph idx="1" type="body"/>
          </p:nvPr>
        </p:nvSpPr>
        <p:spPr>
          <a:xfrm>
            <a:off x="311700" y="1030800"/>
            <a:ext cx="4403400" cy="13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Scenario 4: </a:t>
            </a:r>
            <a:r>
              <a:rPr lang="en" sz="1700">
                <a:solidFill>
                  <a:schemeClr val="dk1"/>
                </a:solidFill>
              </a:rPr>
              <a:t>Draw a flowchart that prints all numbers from 1 to 10 except for 5.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150" name="Google Shape;150;p17"/>
          <p:cNvSpPr txBox="1"/>
          <p:nvPr>
            <p:ph idx="1" type="body"/>
          </p:nvPr>
        </p:nvSpPr>
        <p:spPr>
          <a:xfrm>
            <a:off x="311700" y="2923800"/>
            <a:ext cx="4403400" cy="147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As you can see in the flow chart, whenever </a:t>
            </a:r>
            <a:r>
              <a:rPr b="1" lang="en">
                <a:solidFill>
                  <a:schemeClr val="dk1"/>
                </a:solidFill>
              </a:rPr>
              <a:t>i==5</a:t>
            </a:r>
            <a:r>
              <a:rPr lang="en">
                <a:solidFill>
                  <a:schemeClr val="dk1"/>
                </a:solidFill>
              </a:rPr>
              <a:t> is </a:t>
            </a:r>
            <a:r>
              <a:rPr b="1" lang="en">
                <a:solidFill>
                  <a:schemeClr val="dk1"/>
                </a:solidFill>
              </a:rPr>
              <a:t>true</a:t>
            </a:r>
            <a:r>
              <a:rPr lang="en">
                <a:solidFill>
                  <a:schemeClr val="dk1"/>
                </a:solidFill>
              </a:rPr>
              <a:t> we’re skipping the next line and going to the next iteration.</a:t>
            </a:r>
            <a:endParaRPr sz="2000">
              <a:solidFill>
                <a:schemeClr val="dk1"/>
              </a:solidFill>
            </a:endParaRPr>
          </a:p>
        </p:txBody>
      </p:sp>
      <p:grpSp>
        <p:nvGrpSpPr>
          <p:cNvPr id="151" name="Google Shape;151;p17"/>
          <p:cNvGrpSpPr/>
          <p:nvPr/>
        </p:nvGrpSpPr>
        <p:grpSpPr>
          <a:xfrm>
            <a:off x="5176789" y="551162"/>
            <a:ext cx="3127686" cy="4144212"/>
            <a:chOff x="5720114" y="445037"/>
            <a:chExt cx="3127686" cy="4144212"/>
          </a:xfrm>
        </p:grpSpPr>
        <p:sp>
          <p:nvSpPr>
            <p:cNvPr id="152" name="Google Shape;152;p17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START</a:t>
              </a:r>
              <a:endParaRPr/>
            </a:p>
          </p:txBody>
        </p:sp>
        <p:cxnSp>
          <p:nvCxnSpPr>
            <p:cNvPr id="153" name="Google Shape;153;p17"/>
            <p:cNvCxnSpPr>
              <a:stCxn id="152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4" name="Google Shape;154;p17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&lt;= 10 ?</a:t>
              </a:r>
              <a:endParaRPr sz="1200"/>
            </a:p>
          </p:txBody>
        </p:sp>
        <p:cxnSp>
          <p:nvCxnSpPr>
            <p:cNvPr id="155" name="Google Shape;155;p17"/>
            <p:cNvCxnSpPr>
              <a:endCxn id="154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6" name="Google Shape;156;p17"/>
            <p:cNvSpPr txBox="1"/>
            <p:nvPr/>
          </p:nvSpPr>
          <p:spPr>
            <a:xfrm>
              <a:off x="7485950" y="2076525"/>
              <a:ext cx="7167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57" name="Google Shape;157;p17"/>
            <p:cNvSpPr txBox="1"/>
            <p:nvPr/>
          </p:nvSpPr>
          <p:spPr>
            <a:xfrm>
              <a:off x="8131100" y="1465800"/>
              <a:ext cx="7167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58" name="Google Shape;158;p17"/>
            <p:cNvCxnSpPr>
              <a:stCxn id="154" idx="2"/>
              <a:endCxn id="159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0" name="Google Shape;160;p17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61" name="Google Shape;161;p17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62" name="Google Shape;162;p17"/>
            <p:cNvCxnSpPr>
              <a:stCxn id="161" idx="0"/>
              <a:endCxn id="154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59" name="Google Shape;159;p17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is </a:t>
              </a:r>
              <a:endParaRPr sz="12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i == 5 ?</a:t>
              </a:r>
              <a:endParaRPr sz="1200"/>
            </a:p>
          </p:txBody>
        </p:sp>
        <p:sp>
          <p:nvSpPr>
            <p:cNvPr id="163" name="Google Shape;163;p17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64" name="Google Shape;164;p17"/>
            <p:cNvCxnSpPr>
              <a:stCxn id="159" idx="2"/>
              <a:endCxn id="163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5" name="Google Shape;165;p17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TRUE</a:t>
              </a:r>
              <a:endParaRPr sz="1200"/>
            </a:p>
          </p:txBody>
        </p:sp>
        <p:sp>
          <p:nvSpPr>
            <p:cNvPr id="166" name="Google Shape;166;p17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" name="Google Shape;167;p17"/>
            <p:cNvCxnSpPr>
              <a:stCxn id="159" idx="1"/>
              <a:endCxn id="166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" name="Google Shape;168;p17"/>
            <p:cNvCxnSpPr>
              <a:stCxn id="166" idx="0"/>
              <a:endCxn id="161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9" name="Google Shape;169;p17"/>
            <p:cNvSpPr txBox="1"/>
            <p:nvPr/>
          </p:nvSpPr>
          <p:spPr>
            <a:xfrm>
              <a:off x="6664625" y="3005575"/>
              <a:ext cx="7167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FALSE</a:t>
              </a:r>
              <a:endParaRPr sz="1200"/>
            </a:p>
          </p:txBody>
        </p:sp>
        <p:cxnSp>
          <p:nvCxnSpPr>
            <p:cNvPr id="170" name="Google Shape;170;p17"/>
            <p:cNvCxnSpPr>
              <a:stCxn id="154" idx="3"/>
              <a:endCxn id="171" idx="3"/>
            </p:cNvCxnSpPr>
            <p:nvPr/>
          </p:nvCxnSpPr>
          <p:spPr>
            <a:xfrm flipH="1">
              <a:off x="7750625" y="1753550"/>
              <a:ext cx="545100" cy="2693100"/>
            </a:xfrm>
            <a:prstGeom prst="bentConnector3">
              <a:avLst>
                <a:gd fmla="val -688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71" name="Google Shape;171;p17"/>
            <p:cNvSpPr/>
            <p:nvPr/>
          </p:nvSpPr>
          <p:spPr>
            <a:xfrm>
              <a:off x="6893890" y="43042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72" name="Google Shape;172;p17"/>
            <p:cNvCxnSpPr>
              <a:stCxn id="163" idx="4"/>
              <a:endCxn id="166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4712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8"/>
          <p:cNvSpPr txBox="1"/>
          <p:nvPr>
            <p:ph type="title"/>
          </p:nvPr>
        </p:nvSpPr>
        <p:spPr>
          <a:xfrm>
            <a:off x="278525" y="167425"/>
            <a:ext cx="4089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2022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grpSp>
        <p:nvGrpSpPr>
          <p:cNvPr id="178" name="Google Shape;178;p18"/>
          <p:cNvGrpSpPr/>
          <p:nvPr/>
        </p:nvGrpSpPr>
        <p:grpSpPr>
          <a:xfrm>
            <a:off x="5642067" y="814535"/>
            <a:ext cx="2997261" cy="3955593"/>
            <a:chOff x="5720114" y="445037"/>
            <a:chExt cx="3127686" cy="4001612"/>
          </a:xfrm>
        </p:grpSpPr>
        <p:sp>
          <p:nvSpPr>
            <p:cNvPr id="179" name="Google Shape;179;p18"/>
            <p:cNvSpPr/>
            <p:nvPr/>
          </p:nvSpPr>
          <p:spPr>
            <a:xfrm>
              <a:off x="6956302" y="4450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1"/>
                  </a:solidFill>
                </a:rPr>
                <a:t>START</a:t>
              </a:r>
              <a:endParaRPr sz="1200"/>
            </a:p>
          </p:txBody>
        </p:sp>
        <p:cxnSp>
          <p:nvCxnSpPr>
            <p:cNvPr id="180" name="Google Shape;180;p18"/>
            <p:cNvCxnSpPr>
              <a:stCxn id="179" idx="2"/>
            </p:cNvCxnSpPr>
            <p:nvPr/>
          </p:nvCxnSpPr>
          <p:spPr>
            <a:xfrm>
              <a:off x="7384603" y="730049"/>
              <a:ext cx="0" cy="167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1" name="Google Shape;181;p18"/>
            <p:cNvSpPr/>
            <p:nvPr/>
          </p:nvSpPr>
          <p:spPr>
            <a:xfrm>
              <a:off x="6448200" y="1391575"/>
              <a:ext cx="1847525" cy="723950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is </a:t>
              </a:r>
              <a:endParaRPr sz="11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/>
                <a:t>i &lt;= 10 ?</a:t>
              </a:r>
              <a:endParaRPr sz="1100"/>
            </a:p>
          </p:txBody>
        </p:sp>
        <p:cxnSp>
          <p:nvCxnSpPr>
            <p:cNvPr id="182" name="Google Shape;182;p18"/>
            <p:cNvCxnSpPr>
              <a:endCxn id="181" idx="0"/>
            </p:cNvCxnSpPr>
            <p:nvPr/>
          </p:nvCxnSpPr>
          <p:spPr>
            <a:xfrm>
              <a:off x="7371963" y="1036975"/>
              <a:ext cx="0" cy="354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3" name="Google Shape;183;p18"/>
            <p:cNvSpPr txBox="1"/>
            <p:nvPr/>
          </p:nvSpPr>
          <p:spPr>
            <a:xfrm>
              <a:off x="7485956" y="2076511"/>
              <a:ext cx="645300" cy="31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84" name="Google Shape;184;p18"/>
            <p:cNvSpPr txBox="1"/>
            <p:nvPr/>
          </p:nvSpPr>
          <p:spPr>
            <a:xfrm>
              <a:off x="8202500" y="1465788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85" name="Google Shape;185;p18"/>
            <p:cNvCxnSpPr>
              <a:stCxn id="181" idx="2"/>
              <a:endCxn id="186" idx="0"/>
            </p:cNvCxnSpPr>
            <p:nvPr/>
          </p:nvCxnSpPr>
          <p:spPr>
            <a:xfrm flipH="1">
              <a:off x="7363563" y="2115525"/>
              <a:ext cx="8400" cy="232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7" name="Google Shape;187;p18"/>
            <p:cNvSpPr/>
            <p:nvPr/>
          </p:nvSpPr>
          <p:spPr>
            <a:xfrm>
              <a:off x="6817067" y="897161"/>
              <a:ext cx="1188951" cy="326643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= 1</a:t>
              </a:r>
              <a:endParaRPr/>
            </a:p>
          </p:txBody>
        </p:sp>
        <p:sp>
          <p:nvSpPr>
            <p:cNvPr id="188" name="Google Shape;188;p18"/>
            <p:cNvSpPr/>
            <p:nvPr/>
          </p:nvSpPr>
          <p:spPr>
            <a:xfrm>
              <a:off x="5720114" y="1974850"/>
              <a:ext cx="760800" cy="326650"/>
            </a:xfrm>
            <a:prstGeom prst="flowChartProcess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i += 1</a:t>
              </a:r>
              <a:endParaRPr/>
            </a:p>
          </p:txBody>
        </p:sp>
        <p:cxnSp>
          <p:nvCxnSpPr>
            <p:cNvPr id="189" name="Google Shape;189;p18"/>
            <p:cNvCxnSpPr>
              <a:stCxn id="188" idx="0"/>
              <a:endCxn id="181" idx="1"/>
            </p:cNvCxnSpPr>
            <p:nvPr/>
          </p:nvCxnSpPr>
          <p:spPr>
            <a:xfrm rot="-5400000">
              <a:off x="6163664" y="1690300"/>
              <a:ext cx="221400" cy="347700"/>
            </a:xfrm>
            <a:prstGeom prst="bentConnector2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86" name="Google Shape;186;p18"/>
            <p:cNvSpPr/>
            <p:nvPr/>
          </p:nvSpPr>
          <p:spPr>
            <a:xfrm>
              <a:off x="6610825" y="2348163"/>
              <a:ext cx="1505477" cy="716509"/>
            </a:xfrm>
            <a:prstGeom prst="flowChartDecision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is </a:t>
              </a:r>
              <a:endParaRPr sz="1000"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i==5 ?</a:t>
              </a:r>
              <a:endParaRPr sz="1000"/>
            </a:p>
          </p:txBody>
        </p:sp>
        <p:sp>
          <p:nvSpPr>
            <p:cNvPr id="190" name="Google Shape;190;p18"/>
            <p:cNvSpPr/>
            <p:nvPr/>
          </p:nvSpPr>
          <p:spPr>
            <a:xfrm>
              <a:off x="6372100" y="3354940"/>
              <a:ext cx="1971525" cy="421800"/>
            </a:xfrm>
            <a:prstGeom prst="flowChartInputOutpu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/>
                <a:t>Print i</a:t>
              </a:r>
              <a:endParaRPr sz="1200"/>
            </a:p>
          </p:txBody>
        </p:sp>
        <p:cxnSp>
          <p:nvCxnSpPr>
            <p:cNvPr id="191" name="Google Shape;191;p18"/>
            <p:cNvCxnSpPr>
              <a:stCxn id="186" idx="2"/>
              <a:endCxn id="190" idx="1"/>
            </p:cNvCxnSpPr>
            <p:nvPr/>
          </p:nvCxnSpPr>
          <p:spPr>
            <a:xfrm flipH="1">
              <a:off x="7357864" y="3064672"/>
              <a:ext cx="5700" cy="290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2" name="Google Shape;192;p18"/>
            <p:cNvSpPr txBox="1"/>
            <p:nvPr/>
          </p:nvSpPr>
          <p:spPr>
            <a:xfrm>
              <a:off x="6186438" y="2447513"/>
              <a:ext cx="645300" cy="219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TRUE</a:t>
              </a:r>
              <a:endParaRPr sz="1000"/>
            </a:p>
          </p:txBody>
        </p:sp>
        <p:sp>
          <p:nvSpPr>
            <p:cNvPr id="193" name="Google Shape;193;p18"/>
            <p:cNvSpPr/>
            <p:nvPr/>
          </p:nvSpPr>
          <p:spPr>
            <a:xfrm>
              <a:off x="5998836" y="2593434"/>
              <a:ext cx="204000" cy="2196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94" name="Google Shape;194;p18"/>
            <p:cNvCxnSpPr>
              <a:stCxn id="186" idx="1"/>
              <a:endCxn id="193" idx="6"/>
            </p:cNvCxnSpPr>
            <p:nvPr/>
          </p:nvCxnSpPr>
          <p:spPr>
            <a:xfrm rot="10800000">
              <a:off x="6202825" y="2703118"/>
              <a:ext cx="408000" cy="3300"/>
            </a:xfrm>
            <a:prstGeom prst="bentConnector3">
              <a:avLst>
                <a:gd fmla="val 49999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95" name="Google Shape;195;p18"/>
            <p:cNvCxnSpPr>
              <a:stCxn id="193" idx="0"/>
              <a:endCxn id="188" idx="2"/>
            </p:cNvCxnSpPr>
            <p:nvPr/>
          </p:nvCxnSpPr>
          <p:spPr>
            <a:xfrm rot="-5400000">
              <a:off x="5955186" y="2447184"/>
              <a:ext cx="291900" cy="600"/>
            </a:xfrm>
            <a:prstGeom prst="bentConnector3">
              <a:avLst>
                <a:gd fmla="val 5000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6" name="Google Shape;196;p18"/>
            <p:cNvSpPr txBox="1"/>
            <p:nvPr/>
          </p:nvSpPr>
          <p:spPr>
            <a:xfrm>
              <a:off x="6736026" y="3005575"/>
              <a:ext cx="645300" cy="34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FALSE</a:t>
              </a:r>
              <a:endParaRPr sz="1000"/>
            </a:p>
          </p:txBody>
        </p:sp>
        <p:cxnSp>
          <p:nvCxnSpPr>
            <p:cNvPr id="197" name="Google Shape;197;p18"/>
            <p:cNvCxnSpPr>
              <a:stCxn id="181" idx="3"/>
              <a:endCxn id="198" idx="3"/>
            </p:cNvCxnSpPr>
            <p:nvPr/>
          </p:nvCxnSpPr>
          <p:spPr>
            <a:xfrm flipH="1">
              <a:off x="7750625" y="1753550"/>
              <a:ext cx="545100" cy="2550600"/>
            </a:xfrm>
            <a:prstGeom prst="bentConnector3">
              <a:avLst>
                <a:gd fmla="val -45586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98" name="Google Shape;198;p18"/>
            <p:cNvSpPr/>
            <p:nvPr/>
          </p:nvSpPr>
          <p:spPr>
            <a:xfrm>
              <a:off x="6894015" y="4161637"/>
              <a:ext cx="856602" cy="285012"/>
            </a:xfrm>
            <a:prstGeom prst="flowChartTerminator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1"/>
                  </a:solidFill>
                </a:rPr>
                <a:t>END</a:t>
              </a:r>
              <a:endParaRPr/>
            </a:p>
          </p:txBody>
        </p:sp>
        <p:cxnSp>
          <p:nvCxnSpPr>
            <p:cNvPr id="199" name="Google Shape;199;p18"/>
            <p:cNvCxnSpPr>
              <a:stCxn id="190" idx="4"/>
              <a:endCxn id="193" idx="4"/>
            </p:cNvCxnSpPr>
            <p:nvPr/>
          </p:nvCxnSpPr>
          <p:spPr>
            <a:xfrm flipH="1" rot="5400000">
              <a:off x="6247563" y="2666440"/>
              <a:ext cx="963600" cy="1257000"/>
            </a:xfrm>
            <a:prstGeom prst="bentConnector3">
              <a:avLst>
                <a:gd fmla="val -25000" name="adj1"/>
              </a:avLst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0" name="Google Shape;200;p18"/>
          <p:cNvSpPr txBox="1"/>
          <p:nvPr/>
        </p:nvSpPr>
        <p:spPr>
          <a:xfrm>
            <a:off x="4538825" y="145975"/>
            <a:ext cx="44823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of Scenario 4 flowchart and Java code using for loop.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335375" y="814525"/>
            <a:ext cx="4236600" cy="272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public class </a:t>
            </a:r>
            <a:r>
              <a:rPr lang="en">
                <a:solidFill>
                  <a:srgbClr val="1C4587"/>
                </a:solidFill>
              </a:rPr>
              <a:t>ContinueScenario4</a:t>
            </a:r>
            <a:r>
              <a:rPr lang="en">
                <a:solidFill>
                  <a:srgbClr val="0000FF"/>
                </a:solidFill>
              </a:rPr>
              <a:t>{   </a:t>
            </a:r>
            <a:endParaRPr>
              <a:solidFill>
                <a:srgbClr val="0000FF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public static </a:t>
            </a:r>
            <a:r>
              <a:rPr lang="en">
                <a:solidFill>
                  <a:srgbClr val="0B5394"/>
                </a:solidFill>
              </a:rPr>
              <a:t>void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main</a:t>
            </a:r>
            <a:r>
              <a:rPr lang="en">
                <a:solidFill>
                  <a:srgbClr val="0000FF"/>
                </a:solidFill>
              </a:rPr>
              <a:t>(</a:t>
            </a:r>
            <a:r>
              <a:rPr lang="en">
                <a:solidFill>
                  <a:srgbClr val="0B5394"/>
                </a:solidFill>
              </a:rPr>
              <a:t>String</a:t>
            </a:r>
            <a:r>
              <a:rPr lang="en"/>
              <a:t>[]</a:t>
            </a:r>
            <a:r>
              <a:rPr lang="en">
                <a:solidFill>
                  <a:srgbClr val="0000FF"/>
                </a:solidFill>
              </a:rPr>
              <a:t> </a:t>
            </a:r>
            <a:r>
              <a:rPr lang="en"/>
              <a:t>args)  { 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	for </a:t>
            </a:r>
            <a:r>
              <a:rPr lang="en">
                <a:solidFill>
                  <a:schemeClr val="dk1"/>
                </a:solidFill>
              </a:rPr>
              <a:t>(  int i=1 ; i&lt;=10 ; i++ )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if </a:t>
            </a:r>
            <a:r>
              <a:rPr lang="en">
                <a:solidFill>
                  <a:schemeClr val="dk1"/>
                </a:solidFill>
              </a:rPr>
              <a:t>( i == 5 )  {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     continue</a:t>
            </a:r>
            <a:r>
              <a:rPr lang="en">
                <a:solidFill>
                  <a:schemeClr val="dk1"/>
                </a:solidFill>
              </a:rPr>
              <a:t>;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AutoNum type="arabicPeriod"/>
            </a:pPr>
            <a:r>
              <a:rPr lang="en">
                <a:solidFill>
                  <a:srgbClr val="0000FF"/>
                </a:solidFill>
              </a:rPr>
              <a:t>               </a:t>
            </a:r>
            <a:r>
              <a:rPr lang="en">
                <a:solidFill>
                  <a:srgbClr val="0B5394"/>
                </a:solidFill>
              </a:rPr>
              <a:t>System</a:t>
            </a:r>
            <a:r>
              <a:rPr lang="en">
                <a:solidFill>
                  <a:schemeClr val="dk1"/>
                </a:solidFill>
              </a:rPr>
              <a:t>.out.print( i + </a:t>
            </a:r>
            <a:r>
              <a:rPr lang="en">
                <a:solidFill>
                  <a:srgbClr val="FF0000"/>
                </a:solidFill>
              </a:rPr>
              <a:t>“ ” </a:t>
            </a:r>
            <a:r>
              <a:rPr lang="en">
                <a:solidFill>
                  <a:schemeClr val="dk1"/>
                </a:solidFill>
              </a:rPr>
              <a:t>);           </a:t>
            </a:r>
            <a:endParaRPr>
              <a:solidFill>
                <a:schemeClr val="dk1"/>
              </a:solidFill>
            </a:endParaRPr>
          </a:p>
          <a:p>
            <a:pPr indent="-285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AutoNum type="arabicPeriod"/>
            </a:pPr>
            <a:r>
              <a:rPr lang="en" sz="1000">
                <a:solidFill>
                  <a:schemeClr val="dk1"/>
                </a:solidFill>
              </a:rPr>
              <a:t> 	</a:t>
            </a:r>
            <a:r>
              <a:rPr lang="en">
                <a:solidFill>
                  <a:schemeClr val="dk1"/>
                </a:solidFill>
              </a:rPr>
              <a:t>}</a:t>
            </a:r>
            <a:endParaRPr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     }</a:t>
            </a:r>
            <a:endParaRPr/>
          </a:p>
          <a:p>
            <a:pPr indent="-2921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000"/>
              <a:buAutoNum type="arabicPeriod"/>
            </a:pPr>
            <a:r>
              <a:rPr lang="en"/>
              <a:t>}</a:t>
            </a:r>
            <a:endParaRPr sz="1800"/>
          </a:p>
        </p:txBody>
      </p:sp>
      <p:sp>
        <p:nvSpPr>
          <p:cNvPr id="202" name="Google Shape;202;p18"/>
          <p:cNvSpPr txBox="1"/>
          <p:nvPr/>
        </p:nvSpPr>
        <p:spPr>
          <a:xfrm>
            <a:off x="335375" y="3608850"/>
            <a:ext cx="4236600" cy="861900"/>
          </a:xfrm>
          <a:prstGeom prst="rect">
            <a:avLst/>
          </a:prstGeom>
          <a:solidFill>
            <a:srgbClr val="F3F3F3"/>
          </a:solidFill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Welcome to DrJava.  Working directory is /home/Java110</a:t>
            </a:r>
            <a:endParaRPr sz="11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&gt; run </a:t>
            </a:r>
            <a:r>
              <a:rPr lang="en" sz="1100">
                <a:solidFill>
                  <a:schemeClr val="accent5"/>
                </a:solidFill>
              </a:rPr>
              <a:t>ContinueScenario4</a:t>
            </a:r>
            <a:endParaRPr sz="1100">
              <a:solidFill>
                <a:schemeClr val="accent5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38761D"/>
                </a:solidFill>
              </a:rPr>
              <a:t>1 2 3 4 6 7 8 9 10 &gt; </a:t>
            </a:r>
            <a:endParaRPr sz="1100">
              <a:solidFill>
                <a:srgbClr val="38761D"/>
              </a:solidFill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4992500" y="934125"/>
            <a:ext cx="12054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Initialization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5200100" y="1506863"/>
            <a:ext cx="99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highlight>
                  <a:schemeClr val="accent6"/>
                </a:highlight>
              </a:rPr>
              <a:t>Condition</a:t>
            </a:r>
            <a:endParaRPr b="1" sz="1200">
              <a:highlight>
                <a:schemeClr val="accent6"/>
              </a:highlight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4867475" y="221345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Steps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5389700" y="3305900"/>
            <a:ext cx="618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highlight>
                  <a:schemeClr val="accent6"/>
                </a:highlight>
              </a:rPr>
              <a:t>Body</a:t>
            </a:r>
            <a:endParaRPr b="1" sz="1100">
              <a:highlight>
                <a:schemeClr val="accent6"/>
              </a:highlight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4867475" y="2652375"/>
            <a:ext cx="911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0000FF"/>
                </a:solidFill>
                <a:highlight>
                  <a:schemeClr val="accent6"/>
                </a:highlight>
              </a:rPr>
              <a:t>Continue</a:t>
            </a:r>
            <a:endParaRPr b="1" sz="1100">
              <a:solidFill>
                <a:srgbClr val="0000FF"/>
              </a:solidFill>
              <a:highlight>
                <a:schemeClr val="accent6"/>
              </a:highlight>
            </a:endParaRPr>
          </a:p>
        </p:txBody>
      </p:sp>
      <p:cxnSp>
        <p:nvCxnSpPr>
          <p:cNvPr id="208" name="Google Shape;208;p18"/>
          <p:cNvCxnSpPr>
            <a:stCxn id="203" idx="3"/>
            <a:endCxn id="187" idx="1"/>
          </p:cNvCxnSpPr>
          <p:nvPr/>
        </p:nvCxnSpPr>
        <p:spPr>
          <a:xfrm>
            <a:off x="6197900" y="1134225"/>
            <a:ext cx="495300" cy="288600"/>
          </a:xfrm>
          <a:prstGeom prst="curvedConnector3">
            <a:avLst>
              <a:gd fmla="val 5000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18"/>
          <p:cNvCxnSpPr>
            <a:stCxn id="204" idx="3"/>
          </p:cNvCxnSpPr>
          <p:nvPr/>
        </p:nvCxnSpPr>
        <p:spPr>
          <a:xfrm>
            <a:off x="6197900" y="1706963"/>
            <a:ext cx="554700" cy="2052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18"/>
          <p:cNvCxnSpPr>
            <a:stCxn id="205" idx="3"/>
            <a:endCxn id="188" idx="1"/>
          </p:cNvCxnSpPr>
          <p:nvPr/>
        </p:nvCxnSpPr>
        <p:spPr>
          <a:xfrm>
            <a:off x="5486075" y="2413550"/>
            <a:ext cx="156000" cy="74700"/>
          </a:xfrm>
          <a:prstGeom prst="curvedConnector3">
            <a:avLst>
              <a:gd fmla="val 4999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18"/>
          <p:cNvCxnSpPr>
            <a:stCxn id="207" idx="3"/>
            <a:endCxn id="192" idx="0"/>
          </p:cNvCxnSpPr>
          <p:nvPr/>
        </p:nvCxnSpPr>
        <p:spPr>
          <a:xfrm flipH="1" rot="10800000">
            <a:off x="5778575" y="2793975"/>
            <a:ext cx="619500" cy="58500"/>
          </a:xfrm>
          <a:prstGeom prst="curvedConnector4">
            <a:avLst>
              <a:gd fmla="val 25050" name="adj1"/>
              <a:gd fmla="val 114103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2" name="Google Shape;212;p18"/>
          <p:cNvSpPr/>
          <p:nvPr/>
        </p:nvSpPr>
        <p:spPr>
          <a:xfrm>
            <a:off x="1413575" y="1611875"/>
            <a:ext cx="2166900" cy="1089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2962463" y="1394213"/>
            <a:ext cx="3000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1729475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2345976" y="1394225"/>
            <a:ext cx="495300" cy="199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1789500" y="1851200"/>
            <a:ext cx="911100" cy="2052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7" name="Google Shape;217;p18"/>
          <p:cNvCxnSpPr>
            <a:stCxn id="212" idx="2"/>
            <a:endCxn id="206" idx="1"/>
          </p:cNvCxnSpPr>
          <p:nvPr/>
        </p:nvCxnSpPr>
        <p:spPr>
          <a:xfrm flipH="1" rot="-5400000">
            <a:off x="3540725" y="1657175"/>
            <a:ext cx="805200" cy="2892600"/>
          </a:xfrm>
          <a:prstGeom prst="curvedConnector2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8"/>
          <p:cNvCxnSpPr>
            <a:stCxn id="216" idx="3"/>
            <a:endCxn id="207" idx="1"/>
          </p:cNvCxnSpPr>
          <p:nvPr/>
        </p:nvCxnSpPr>
        <p:spPr>
          <a:xfrm>
            <a:off x="2700600" y="1953800"/>
            <a:ext cx="2166900" cy="898800"/>
          </a:xfrm>
          <a:prstGeom prst="curvedConnector3">
            <a:avLst>
              <a:gd fmla="val 49999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18"/>
          <p:cNvCxnSpPr>
            <a:stCxn id="205" idx="1"/>
            <a:endCxn id="213" idx="3"/>
          </p:cNvCxnSpPr>
          <p:nvPr/>
        </p:nvCxnSpPr>
        <p:spPr>
          <a:xfrm rot="10800000">
            <a:off x="3262475" y="1494050"/>
            <a:ext cx="1605000" cy="919500"/>
          </a:xfrm>
          <a:prstGeom prst="curvedConnector3">
            <a:avLst>
              <a:gd fmla="val 50000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18"/>
          <p:cNvCxnSpPr>
            <a:stCxn id="203" idx="1"/>
            <a:endCxn id="214" idx="1"/>
          </p:cNvCxnSpPr>
          <p:nvPr/>
        </p:nvCxnSpPr>
        <p:spPr>
          <a:xfrm flipH="1">
            <a:off x="1729400" y="1134225"/>
            <a:ext cx="3263100" cy="359700"/>
          </a:xfrm>
          <a:prstGeom prst="curvedConnector3">
            <a:avLst>
              <a:gd fmla="val 107295" name="adj1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1" name="Google Shape;221;p18"/>
          <p:cNvCxnSpPr>
            <a:stCxn id="204" idx="1"/>
            <a:endCxn id="215" idx="0"/>
          </p:cNvCxnSpPr>
          <p:nvPr/>
        </p:nvCxnSpPr>
        <p:spPr>
          <a:xfrm rot="10800000">
            <a:off x="2593700" y="1394363"/>
            <a:ext cx="2606400" cy="312600"/>
          </a:xfrm>
          <a:prstGeom prst="curvedConnector4">
            <a:avLst>
              <a:gd fmla="val 45251" name="adj1"/>
              <a:gd fmla="val 17622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FF"/>
                </a:solidFill>
              </a:rPr>
              <a:t>continue</a:t>
            </a:r>
            <a:r>
              <a:rPr b="1" lang="en"/>
              <a:t> keyword </a:t>
            </a:r>
            <a:r>
              <a:rPr b="1" lang="en" sz="2022"/>
              <a:t>-</a:t>
            </a:r>
            <a:r>
              <a:rPr b="1" lang="en"/>
              <a:t> </a:t>
            </a:r>
            <a:r>
              <a:rPr b="1" lang="en" sz="2022"/>
              <a:t>code</a:t>
            </a:r>
            <a:endParaRPr sz="3244"/>
          </a:p>
        </p:txBody>
      </p:sp>
      <p:sp>
        <p:nvSpPr>
          <p:cNvPr id="227" name="Google Shape;22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000000"/>
                </a:solidFill>
              </a:rPr>
              <a:t>This was an example of </a:t>
            </a:r>
            <a:r>
              <a:rPr b="1" lang="en" sz="2000">
                <a:solidFill>
                  <a:srgbClr val="0000FF"/>
                </a:solidFill>
              </a:rPr>
              <a:t>continue </a:t>
            </a:r>
            <a:r>
              <a:rPr lang="en" sz="2000">
                <a:solidFill>
                  <a:schemeClr val="dk1"/>
                </a:solidFill>
              </a:rPr>
              <a:t>keyword using </a:t>
            </a:r>
            <a:r>
              <a:rPr b="1" lang="en" sz="2000">
                <a:solidFill>
                  <a:srgbClr val="0000FF"/>
                </a:solidFill>
              </a:rPr>
              <a:t>for</a:t>
            </a:r>
            <a:r>
              <a:rPr lang="en" sz="2000">
                <a:solidFill>
                  <a:schemeClr val="dk1"/>
                </a:solidFill>
              </a:rPr>
              <a:t> loop. Now, what would happen if instead of </a:t>
            </a:r>
            <a:r>
              <a:rPr b="1" lang="en" sz="2000">
                <a:solidFill>
                  <a:srgbClr val="0000FF"/>
                </a:solidFill>
              </a:rPr>
              <a:t>for </a:t>
            </a:r>
            <a:r>
              <a:rPr lang="en" sz="2000">
                <a:solidFill>
                  <a:schemeClr val="dk1"/>
                </a:solidFill>
              </a:rPr>
              <a:t>loop you used </a:t>
            </a:r>
            <a:r>
              <a:rPr b="1" lang="en" sz="2000">
                <a:solidFill>
                  <a:srgbClr val="0000FF"/>
                </a:solidFill>
              </a:rPr>
              <a:t>while </a:t>
            </a:r>
            <a:r>
              <a:rPr lang="en" sz="2000">
                <a:solidFill>
                  <a:schemeClr val="dk1"/>
                </a:solidFill>
              </a:rPr>
              <a:t>loop?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That’s for you to find out!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0"/>
          <p:cNvSpPr txBox="1"/>
          <p:nvPr/>
        </p:nvSpPr>
        <p:spPr>
          <a:xfrm>
            <a:off x="311700" y="21706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20">
                <a:solidFill>
                  <a:srgbClr val="000000"/>
                </a:solidFill>
              </a:rPr>
              <a:t>THANK YOU!</a:t>
            </a:r>
            <a:endParaRPr b="1" sz="36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