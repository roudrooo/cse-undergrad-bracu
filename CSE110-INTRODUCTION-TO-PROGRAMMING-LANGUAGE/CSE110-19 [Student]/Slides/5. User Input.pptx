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9B99DD0-A8E5-446E-A93A-FCA122923778}">
  <a:tblStyle styleId="{09B99DD0-A8E5-446E-A93A-FCA12292377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51e53392c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51e53392c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52e469a00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52e469a00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52e469a00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52e469a00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52fa930f48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52fa930f48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52e469a00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52e469a00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297fd9d81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297fd9d81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4425ee7d1f29c63b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4425ee7d1f29c63b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297fd9d81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297fd9d81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297fd9d81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297fd9d81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297fd9d816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297fd9d816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2003850"/>
            <a:ext cx="8520600" cy="113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 </a:t>
            </a:r>
            <a:r>
              <a:rPr lang="en"/>
              <a:t>User Input </a:t>
            </a:r>
            <a:endParaRPr/>
          </a:p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User input in Java</a:t>
            </a:r>
            <a:endParaRPr b="1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Sometimes we need to take input from the user.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Creates a connection between the program and it’s user.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Most common way to take input is using the java scanner class.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2200" y="3098175"/>
            <a:ext cx="5239599" cy="86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What is a Java Scanner Class?</a:t>
            </a:r>
            <a:endParaRPr b="1"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A predefined class that reads data from the keyboard or a text file.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Found in the java.util package.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Can read all types of data (numeric, strings and other data types).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Easiest</a:t>
            </a:r>
            <a:r>
              <a:rPr lang="en">
                <a:solidFill>
                  <a:schemeClr val="dk1"/>
                </a:solidFill>
              </a:rPr>
              <a:t> way to take input from the user.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User Input using Scanner class</a:t>
            </a:r>
            <a:endParaRPr b="1"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118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Import the java.util.Scanner package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Create an object of the Scanner class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Syntax:</a:t>
            </a:r>
            <a:endParaRPr/>
          </a:p>
        </p:txBody>
      </p:sp>
      <p:sp>
        <p:nvSpPr>
          <p:cNvPr id="77" name="Google Shape;77;p16"/>
          <p:cNvSpPr txBox="1"/>
          <p:nvPr/>
        </p:nvSpPr>
        <p:spPr>
          <a:xfrm>
            <a:off x="2044500" y="3057725"/>
            <a:ext cx="5055000" cy="4617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Scanner sc = new Scanner (System.in);</a:t>
            </a:r>
            <a:endParaRPr sz="2200"/>
          </a:p>
        </p:txBody>
      </p:sp>
      <p:sp>
        <p:nvSpPr>
          <p:cNvPr id="78" name="Google Shape;78;p16"/>
          <p:cNvSpPr/>
          <p:nvPr/>
        </p:nvSpPr>
        <p:spPr>
          <a:xfrm rot="5400000">
            <a:off x="2789875" y="2588825"/>
            <a:ext cx="378600" cy="8388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2474275" y="2466675"/>
            <a:ext cx="984300" cy="3168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Class Name</a:t>
            </a:r>
            <a:endParaRPr sz="1100"/>
          </a:p>
        </p:txBody>
      </p:sp>
      <p:sp>
        <p:nvSpPr>
          <p:cNvPr id="80" name="Google Shape;80;p16"/>
          <p:cNvSpPr/>
          <p:nvPr/>
        </p:nvSpPr>
        <p:spPr>
          <a:xfrm rot="5400000">
            <a:off x="5078350" y="1685075"/>
            <a:ext cx="378600" cy="26463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4673750" y="2411325"/>
            <a:ext cx="1437900" cy="3786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To create an object of Scanner class</a:t>
            </a:r>
            <a:endParaRPr sz="1100"/>
          </a:p>
        </p:txBody>
      </p:sp>
      <p:sp>
        <p:nvSpPr>
          <p:cNvPr id="82" name="Google Shape;82;p16"/>
          <p:cNvSpPr/>
          <p:nvPr/>
        </p:nvSpPr>
        <p:spPr>
          <a:xfrm flipH="1" rot="5400000">
            <a:off x="3475375" y="3382325"/>
            <a:ext cx="222900" cy="2565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3015475" y="3678075"/>
            <a:ext cx="1142700" cy="3168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Variable </a:t>
            </a:r>
            <a:r>
              <a:rPr lang="en" sz="1100"/>
              <a:t>Name</a:t>
            </a:r>
            <a:endParaRPr sz="1100"/>
          </a:p>
        </p:txBody>
      </p:sp>
      <p:sp>
        <p:nvSpPr>
          <p:cNvPr id="84" name="Google Shape;84;p16"/>
          <p:cNvSpPr/>
          <p:nvPr/>
        </p:nvSpPr>
        <p:spPr>
          <a:xfrm flipH="1" rot="5400000">
            <a:off x="5780150" y="3148675"/>
            <a:ext cx="378600" cy="999300"/>
          </a:xfrm>
          <a:prstGeom prst="leftBrace">
            <a:avLst>
              <a:gd fmla="val 0" name="adj1"/>
              <a:gd fmla="val 48894" name="adj2"/>
            </a:avLst>
          </a:prstGeom>
          <a:noFill/>
          <a:ln cap="flat" cmpd="sng" w="38100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5330150" y="3875000"/>
            <a:ext cx="1278600" cy="378600"/>
          </a:xfrm>
          <a:prstGeom prst="rect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To receive input from user</a:t>
            </a:r>
            <a:endParaRPr sz="1100"/>
          </a:p>
        </p:txBody>
      </p:sp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Example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1728150" y="1177400"/>
            <a:ext cx="5687700" cy="2448000"/>
          </a:xfrm>
          <a:prstGeom prst="rect">
            <a:avLst/>
          </a:prstGeom>
          <a:solidFill>
            <a:srgbClr val="D9D9D9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794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ourier New"/>
              <a:buAutoNum type="arabicPeriod"/>
            </a:pPr>
            <a:r>
              <a:rPr lang="en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java.util.</a:t>
            </a:r>
            <a:r>
              <a:rPr lang="en" sz="12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Scanner</a:t>
            </a: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94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ourier New"/>
              <a:buAutoNum type="arabicPeriod"/>
            </a:pPr>
            <a:r>
              <a:rPr lang="en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UserInput 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94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ourier New"/>
              <a:buAutoNum type="arabicPeriod"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public static</a:t>
            </a: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void main (String [] args){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94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ourier New"/>
              <a:buAutoNum type="arabicPeriod"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Scanner </a:t>
            </a: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sc = </a:t>
            </a:r>
            <a:r>
              <a:rPr lang="en" sz="120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n" sz="12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Scanner </a:t>
            </a: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2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.in);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94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ourier New"/>
              <a:buAutoNum type="arabicPeriod"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st1 = sc.nextLine();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94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ourier New"/>
              <a:buAutoNum type="arabicPeriod"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0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</a:t>
            </a:r>
            <a:r>
              <a:rPr lang="en" sz="1200">
                <a:solidFill>
                  <a:srgbClr val="A61C00"/>
                </a:solidFill>
                <a:latin typeface="Courier New"/>
                <a:ea typeface="Courier New"/>
                <a:cs typeface="Courier New"/>
                <a:sym typeface="Courier New"/>
              </a:rPr>
              <a:t>"Output: "</a:t>
            </a: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 st1);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94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ourier New"/>
              <a:buAutoNum type="arabicPeriod"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794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ourier New"/>
              <a:buAutoNum type="arabicPeriod"/>
            </a:pPr>
            <a:r>
              <a:rPr lang="en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20"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3" name="Google Shape;93;p17"/>
          <p:cNvSpPr txBox="1"/>
          <p:nvPr/>
        </p:nvSpPr>
        <p:spPr>
          <a:xfrm>
            <a:off x="1728150" y="3625393"/>
            <a:ext cx="5687700" cy="923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200">
              <a:solidFill>
                <a:srgbClr val="1C458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Output: Hello World</a:t>
            </a:r>
            <a:endParaRPr sz="12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1961100" y="4030721"/>
            <a:ext cx="3568800" cy="20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4D79"/>
                </a:solidFill>
                <a:latin typeface="Courier New"/>
                <a:ea typeface="Courier New"/>
                <a:cs typeface="Courier New"/>
                <a:sym typeface="Courier New"/>
              </a:rPr>
              <a:t>Hello World</a:t>
            </a:r>
            <a:endParaRPr sz="1100">
              <a:solidFill>
                <a:srgbClr val="A64D7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5" name="Google Shape;95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Inputting Different Datatypes</a:t>
            </a:r>
            <a:endParaRPr b="1"/>
          </a:p>
        </p:txBody>
      </p:sp>
      <p:graphicFrame>
        <p:nvGraphicFramePr>
          <p:cNvPr id="101" name="Google Shape;101;p18"/>
          <p:cNvGraphicFramePr/>
          <p:nvPr/>
        </p:nvGraphicFramePr>
        <p:xfrm>
          <a:off x="1208988" y="1419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{09B99DD0-A8E5-446E-A93A-FCA122923778}</a:tableStyleId>
              </a:tblPr>
              <a:tblGrid>
                <a:gridCol w="2382250"/>
                <a:gridCol w="4343750"/>
              </a:tblGrid>
              <a:tr h="393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Method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Usage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nextInt()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Reads an integer value from the user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nextLong()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Reads a long value from the user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nextFloat()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Reads a float value from the user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nextDouble()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Reads a double value from the user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nextBoolean()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Reads a boolean value from the user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nextLine()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Reads a string value from the user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next()</a:t>
                      </a:r>
                      <a:endParaRPr sz="12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Reads a string value until a space (“ “) is encountered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2" name="Google Shape;10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Inputting Integer Datatype</a:t>
            </a:r>
            <a:endParaRPr/>
          </a:p>
        </p:txBody>
      </p:sp>
      <p:sp>
        <p:nvSpPr>
          <p:cNvPr id="108" name="Google Shape;108;p19"/>
          <p:cNvSpPr txBox="1"/>
          <p:nvPr>
            <p:ph idx="1" type="body"/>
          </p:nvPr>
        </p:nvSpPr>
        <p:spPr>
          <a:xfrm>
            <a:off x="1728200" y="1336950"/>
            <a:ext cx="5687700" cy="2448000"/>
          </a:xfrm>
          <a:prstGeom prst="rect">
            <a:avLst/>
          </a:prstGeom>
          <a:solidFill>
            <a:srgbClr val="D9D9D9"/>
          </a:solidFill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java.util.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Scanner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</a:t>
            </a: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UserInput {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public static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void main (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[] args){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Scanner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sc = </a:t>
            </a: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Scanner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.in);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702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.out.print(</a:t>
            </a:r>
            <a:r>
              <a:rPr lang="en" sz="1220">
                <a:solidFill>
                  <a:srgbClr val="A61C00"/>
                </a:solidFill>
                <a:latin typeface="Courier New"/>
                <a:ea typeface="Courier New"/>
                <a:cs typeface="Courier New"/>
                <a:sym typeface="Courier New"/>
              </a:rPr>
              <a:t>“Enter an integer: “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i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nt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num1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sc.nextInt();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</a:t>
            </a:r>
            <a:r>
              <a:rPr lang="en" sz="1220">
                <a:solidFill>
                  <a:srgbClr val="A61C00"/>
                </a:solidFill>
                <a:latin typeface="Courier New"/>
                <a:ea typeface="Courier New"/>
                <a:cs typeface="Courier New"/>
                <a:sym typeface="Courier New"/>
              </a:rPr>
              <a:t>“Output: ”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 num1);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60"/>
          </a:p>
        </p:txBody>
      </p:sp>
      <p:sp>
        <p:nvSpPr>
          <p:cNvPr id="109" name="Google Shape;109;p19"/>
          <p:cNvSpPr txBox="1"/>
          <p:nvPr/>
        </p:nvSpPr>
        <p:spPr>
          <a:xfrm>
            <a:off x="1728100" y="3785068"/>
            <a:ext cx="5687700" cy="923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Enter an integer: </a:t>
            </a:r>
            <a:endParaRPr sz="1200">
              <a:solidFill>
                <a:srgbClr val="1C458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Output: 65</a:t>
            </a:r>
            <a:endParaRPr sz="12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0" name="Google Shape;110;p19"/>
          <p:cNvSpPr/>
          <p:nvPr/>
        </p:nvSpPr>
        <p:spPr>
          <a:xfrm>
            <a:off x="3649175" y="4144021"/>
            <a:ext cx="3568800" cy="20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4D79"/>
                </a:solidFill>
                <a:latin typeface="Courier New"/>
                <a:ea typeface="Courier New"/>
                <a:cs typeface="Courier New"/>
                <a:sym typeface="Courier New"/>
              </a:rPr>
              <a:t>65</a:t>
            </a:r>
            <a:endParaRPr sz="1100">
              <a:solidFill>
                <a:srgbClr val="A64D7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1" name="Google Shape;11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Inputting Boolean Datatype</a:t>
            </a:r>
            <a:endParaRPr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1728200" y="1328425"/>
            <a:ext cx="5687700" cy="2448000"/>
          </a:xfrm>
          <a:prstGeom prst="rect">
            <a:avLst/>
          </a:prstGeom>
          <a:solidFill>
            <a:srgbClr val="D9D9D9"/>
          </a:solidFill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java.util.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Scanner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</a:t>
            </a: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UserInput {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public static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void main (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[] args){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Scanner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sc = </a:t>
            </a: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Scanner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.in);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702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.out.print(</a:t>
            </a:r>
            <a:r>
              <a:rPr lang="en" sz="1220">
                <a:solidFill>
                  <a:srgbClr val="A61C00"/>
                </a:solidFill>
                <a:latin typeface="Courier New"/>
                <a:ea typeface="Courier New"/>
                <a:cs typeface="Courier New"/>
                <a:sym typeface="Courier New"/>
              </a:rPr>
              <a:t>“Enter a boolean: “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boolean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bool = sc.nextBoolean();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</a:t>
            </a:r>
            <a:r>
              <a:rPr lang="en" sz="1220">
                <a:solidFill>
                  <a:srgbClr val="A61C00"/>
                </a:solidFill>
                <a:latin typeface="Courier New"/>
                <a:ea typeface="Courier New"/>
                <a:cs typeface="Courier New"/>
                <a:sym typeface="Courier New"/>
              </a:rPr>
              <a:t>“Output: “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+ bool);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60"/>
          </a:p>
        </p:txBody>
      </p:sp>
      <p:sp>
        <p:nvSpPr>
          <p:cNvPr id="118" name="Google Shape;118;p20"/>
          <p:cNvSpPr txBox="1"/>
          <p:nvPr/>
        </p:nvSpPr>
        <p:spPr>
          <a:xfrm>
            <a:off x="1728100" y="3776425"/>
            <a:ext cx="5687700" cy="923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Enter a boolean: </a:t>
            </a:r>
            <a:endParaRPr sz="1200">
              <a:solidFill>
                <a:srgbClr val="1C458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Output: true</a:t>
            </a:r>
            <a:endParaRPr sz="12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19" name="Google Shape;119;p20"/>
          <p:cNvSpPr/>
          <p:nvPr/>
        </p:nvSpPr>
        <p:spPr>
          <a:xfrm>
            <a:off x="3649175" y="4135475"/>
            <a:ext cx="3568800" cy="20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4D79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endParaRPr sz="1100">
              <a:solidFill>
                <a:srgbClr val="A64D7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0" name="Google Shape;12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Inputting String Datatype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1728200" y="1336975"/>
            <a:ext cx="5687700" cy="2448000"/>
          </a:xfrm>
          <a:prstGeom prst="rect">
            <a:avLst/>
          </a:prstGeom>
          <a:solidFill>
            <a:srgbClr val="D9D9D9"/>
          </a:solidFill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java.util.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Scanner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</a:t>
            </a: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UserInput {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public static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void main (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[] args){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Scanner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sc = </a:t>
            </a: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Scanner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.in);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702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.out.print(</a:t>
            </a:r>
            <a:r>
              <a:rPr lang="en" sz="1220">
                <a:solidFill>
                  <a:srgbClr val="A61C00"/>
                </a:solidFill>
                <a:latin typeface="Courier New"/>
                <a:ea typeface="Courier New"/>
                <a:cs typeface="Courier New"/>
                <a:sym typeface="Courier New"/>
              </a:rPr>
              <a:t>“Enter a string: “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st1 = sc.nextLine();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</a:t>
            </a:r>
            <a:r>
              <a:rPr lang="en" sz="1220">
                <a:solidFill>
                  <a:srgbClr val="A61C00"/>
                </a:solidFill>
                <a:latin typeface="Courier New"/>
                <a:ea typeface="Courier New"/>
                <a:cs typeface="Courier New"/>
                <a:sym typeface="Courier New"/>
              </a:rPr>
              <a:t>(“Output: “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 st1);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60"/>
          </a:p>
        </p:txBody>
      </p:sp>
      <p:sp>
        <p:nvSpPr>
          <p:cNvPr id="127" name="Google Shape;127;p21"/>
          <p:cNvSpPr txBox="1"/>
          <p:nvPr/>
        </p:nvSpPr>
        <p:spPr>
          <a:xfrm>
            <a:off x="1728100" y="3785075"/>
            <a:ext cx="5687700" cy="923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Enter a string: </a:t>
            </a:r>
            <a:endParaRPr sz="1200">
              <a:solidFill>
                <a:srgbClr val="1C458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Output: Hello there CSE110</a:t>
            </a:r>
            <a:endParaRPr sz="12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8" name="Google Shape;128;p21"/>
          <p:cNvSpPr/>
          <p:nvPr/>
        </p:nvSpPr>
        <p:spPr>
          <a:xfrm>
            <a:off x="3649175" y="4144025"/>
            <a:ext cx="3568800" cy="20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4D79"/>
                </a:solidFill>
                <a:latin typeface="Courier New"/>
                <a:ea typeface="Courier New"/>
                <a:cs typeface="Courier New"/>
                <a:sym typeface="Courier New"/>
              </a:rPr>
              <a:t>Hello there CSE110</a:t>
            </a:r>
            <a:endParaRPr sz="1100">
              <a:solidFill>
                <a:srgbClr val="A64D7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9" name="Google Shape;12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Inputting String Datatype (Contd.)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2"/>
          <p:cNvSpPr txBox="1"/>
          <p:nvPr>
            <p:ph idx="1" type="body"/>
          </p:nvPr>
        </p:nvSpPr>
        <p:spPr>
          <a:xfrm>
            <a:off x="1728200" y="1336950"/>
            <a:ext cx="5687700" cy="2448000"/>
          </a:xfrm>
          <a:prstGeom prst="rect">
            <a:avLst/>
          </a:prstGeom>
          <a:solidFill>
            <a:srgbClr val="D9D9D9"/>
          </a:solidFill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import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java.util.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Scanner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public </a:t>
            </a: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UserInput {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 public static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void main (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[] args){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Scanner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sc = </a:t>
            </a:r>
            <a:r>
              <a:rPr lang="en" sz="1220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Scanner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.in);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702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2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.out.print(</a:t>
            </a:r>
            <a:r>
              <a:rPr lang="en" sz="1220">
                <a:solidFill>
                  <a:srgbClr val="A61C00"/>
                </a:solidFill>
                <a:latin typeface="Courier New"/>
                <a:ea typeface="Courier New"/>
                <a:cs typeface="Courier New"/>
                <a:sym typeface="Courier New"/>
              </a:rPr>
              <a:t>“Enter a string: “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String 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st1 = sc.next();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220">
                <a:solidFill>
                  <a:srgbClr val="0B5394"/>
                </a:solidFill>
                <a:latin typeface="Courier New"/>
                <a:ea typeface="Courier New"/>
                <a:cs typeface="Courier New"/>
                <a:sym typeface="Courier New"/>
              </a:rPr>
              <a:t>System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.out.println(</a:t>
            </a:r>
            <a:r>
              <a:rPr lang="en" sz="1220">
                <a:solidFill>
                  <a:srgbClr val="A61C00"/>
                </a:solidFill>
                <a:latin typeface="Courier New"/>
                <a:ea typeface="Courier New"/>
                <a:cs typeface="Courier New"/>
                <a:sym typeface="Courier New"/>
              </a:rPr>
              <a:t>“Output: “</a:t>
            </a: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 st1);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22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28829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"/>
              <a:buFont typeface="Courier New"/>
              <a:buAutoNum type="arabicPeriod"/>
            </a:pPr>
            <a:r>
              <a:rPr lang="en" sz="122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60"/>
          </a:p>
        </p:txBody>
      </p:sp>
      <p:sp>
        <p:nvSpPr>
          <p:cNvPr id="136" name="Google Shape;136;p22"/>
          <p:cNvSpPr txBox="1"/>
          <p:nvPr/>
        </p:nvSpPr>
        <p:spPr>
          <a:xfrm>
            <a:off x="1728100" y="3785050"/>
            <a:ext cx="5687700" cy="9234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Welcome to DrJava. Working directory is C:\Users\Desktop</a:t>
            </a:r>
            <a:endParaRPr sz="12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&gt; </a:t>
            </a:r>
            <a:r>
              <a:rPr lang="en" sz="1200">
                <a:latin typeface="Courier New"/>
                <a:ea typeface="Courier New"/>
                <a:cs typeface="Courier New"/>
                <a:sym typeface="Courier New"/>
              </a:rPr>
              <a:t>Enter a string: </a:t>
            </a:r>
            <a:endParaRPr sz="1200">
              <a:solidFill>
                <a:srgbClr val="1C4587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AA84F"/>
                </a:solidFill>
                <a:latin typeface="Courier New"/>
                <a:ea typeface="Courier New"/>
                <a:cs typeface="Courier New"/>
                <a:sym typeface="Courier New"/>
              </a:rPr>
              <a:t>Output: Hello</a:t>
            </a:r>
            <a:endParaRPr sz="1200">
              <a:solidFill>
                <a:srgbClr val="6AA84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7" name="Google Shape;137;p22"/>
          <p:cNvSpPr/>
          <p:nvPr/>
        </p:nvSpPr>
        <p:spPr>
          <a:xfrm>
            <a:off x="3649175" y="4144000"/>
            <a:ext cx="3568800" cy="20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A64D79"/>
                </a:solidFill>
                <a:latin typeface="Courier New"/>
                <a:ea typeface="Courier New"/>
                <a:cs typeface="Courier New"/>
                <a:sym typeface="Courier New"/>
              </a:rPr>
              <a:t>Hello there CSE110</a:t>
            </a:r>
            <a:endParaRPr sz="1100">
              <a:solidFill>
                <a:srgbClr val="A64D7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8" name="Google Shape;13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 txBox="1"/>
          <p:nvPr>
            <p:ph idx="1" type="body"/>
          </p:nvPr>
        </p:nvSpPr>
        <p:spPr>
          <a:xfrm>
            <a:off x="311700" y="2098350"/>
            <a:ext cx="8520600" cy="9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 sz="3300">
                <a:solidFill>
                  <a:schemeClr val="dk1"/>
                </a:solidFill>
              </a:rPr>
              <a:t>THANK YOU!</a:t>
            </a:r>
            <a:endParaRPr b="1" sz="3300">
              <a:solidFill>
                <a:schemeClr val="dk1"/>
              </a:solidFill>
            </a:endParaRPr>
          </a:p>
        </p:txBody>
      </p:sp>
      <p:sp>
        <p:nvSpPr>
          <p:cNvPr id="144" name="Google Shape;14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