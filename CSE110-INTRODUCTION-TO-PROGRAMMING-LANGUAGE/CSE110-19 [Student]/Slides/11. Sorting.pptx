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B74D8E-EC93-4CD8-8651-12C28DF1943A}">
  <a:tblStyle styleId="{ACB74D8E-EC93-4CD8-8651-12C28DF194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af8b716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af8b716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5a7b904d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5a7b904d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561f9f428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561f9f428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2af8b716b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2af8b716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37ae01a23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37ae01a23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5a7b904d9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5a7b904d9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2af8b716b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2af8b716b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37ae01a23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37ae01a23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5b09be721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5b09be721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5b09be721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5b09be721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37ae01a2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37ae01a2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2af8b716b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2af8b716b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5a7b904d97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5a7b904d97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5a7b904d97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5a7b904d9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5a7b904d97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5a7b904d97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a7b904d97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a7b904d97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5a7b904d97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5a7b904d97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5a7b904d97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5a7b904d97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2af8b716b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2af8b716b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Sorting?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41975" y="1129775"/>
            <a:ext cx="8520600" cy="36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Taking an array or list of unordered elements and turning it into a sorted array or list.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Arranging elements done in a certain order (Ascending or Descending).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sort(): default </a:t>
            </a:r>
            <a:r>
              <a:rPr lang="en" sz="1600">
                <a:solidFill>
                  <a:schemeClr val="dk1"/>
                </a:solidFill>
              </a:rPr>
              <a:t>function</a:t>
            </a:r>
            <a:r>
              <a:rPr lang="en" sz="1600">
                <a:solidFill>
                  <a:schemeClr val="dk1"/>
                </a:solidFill>
              </a:rPr>
              <a:t> in java, sorts array in ascending order.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068075" y="2237200"/>
            <a:ext cx="5471700" cy="2211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1" lang="en" sz="10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java.util.Arrays;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1" lang="en" sz="10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Sort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0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main(String args[]) {</a:t>
            </a:r>
            <a:endParaRPr b="1" sz="1000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AutoNum type="arabicPeriod"/>
            </a:pPr>
            <a:r>
              <a:rPr b="1" lang="en" sz="10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" sz="10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array = {</a:t>
            </a:r>
            <a:r>
              <a:rPr lang="en" sz="10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35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28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-</a:t>
            </a:r>
            <a:r>
              <a:rPr lang="en" sz="10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 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Arrays.sort(array); 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System.out.println(</a:t>
            </a:r>
            <a:r>
              <a:rPr lang="en" sz="1000">
                <a:solidFill>
                  <a:srgbClr val="008200"/>
                </a:solidFill>
                <a:latin typeface="Courier New"/>
                <a:ea typeface="Courier New"/>
                <a:cs typeface="Courier New"/>
                <a:sym typeface="Courier New"/>
              </a:rPr>
              <a:t>"Sorted Array in Ascending Order: "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System.out.println(Arrays.toString(array));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2068075" y="4449000"/>
            <a:ext cx="5471700" cy="515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[-3, 8, 10, 28, 35]</a:t>
            </a:r>
            <a:endParaRPr sz="10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Sort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7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One of the most popular sorting </a:t>
            </a:r>
            <a:r>
              <a:rPr lang="en" sz="1600">
                <a:solidFill>
                  <a:schemeClr val="dk1"/>
                </a:solidFill>
              </a:rPr>
              <a:t>techniques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Sorting done on comparison basis.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Ex: For sorting in ascending order, first element of array compared with rest of the </a:t>
            </a:r>
            <a:r>
              <a:rPr lang="en" sz="1600">
                <a:solidFill>
                  <a:schemeClr val="dk1"/>
                </a:solidFill>
              </a:rPr>
              <a:t>elements</a:t>
            </a:r>
            <a:r>
              <a:rPr lang="en" sz="1600">
                <a:solidFill>
                  <a:schemeClr val="dk1"/>
                </a:solidFill>
              </a:rPr>
              <a:t>.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Minimum value found and swapped with the first element.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Similarly, second element of array compared with the elements in array after the second element.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M</a:t>
            </a:r>
            <a:r>
              <a:rPr lang="en" sz="1600">
                <a:solidFill>
                  <a:schemeClr val="dk1"/>
                </a:solidFill>
              </a:rPr>
              <a:t>inimum value found and swapped with the second element.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And so on for the rest of the elements until array is completely sorted.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Sort (Contd.)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300413"/>
            <a:ext cx="757800" cy="4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Step 1:</a:t>
            </a:r>
            <a:endParaRPr b="1" sz="1400">
              <a:solidFill>
                <a:schemeClr val="dk1"/>
              </a:solidFill>
            </a:endParaRPr>
          </a:p>
        </p:txBody>
      </p:sp>
      <p:graphicFrame>
        <p:nvGraphicFramePr>
          <p:cNvPr id="76" name="Google Shape;76;p16"/>
          <p:cNvGraphicFramePr/>
          <p:nvPr/>
        </p:nvGraphicFramePr>
        <p:xfrm>
          <a:off x="1099075" y="218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7" name="Google Shape;77;p16"/>
          <p:cNvGraphicFramePr/>
          <p:nvPr/>
        </p:nvGraphicFramePr>
        <p:xfrm>
          <a:off x="1099075" y="298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8" name="Google Shape;78;p16"/>
          <p:cNvGraphicFramePr/>
          <p:nvPr/>
        </p:nvGraphicFramePr>
        <p:xfrm>
          <a:off x="1099075" y="374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" name="Google Shape;79;p16"/>
          <p:cNvGraphicFramePr/>
          <p:nvPr/>
        </p:nvGraphicFramePr>
        <p:xfrm>
          <a:off x="1099075" y="1338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sp>
        <p:nvSpPr>
          <p:cNvPr id="80" name="Google Shape;80;p16"/>
          <p:cNvSpPr txBox="1"/>
          <p:nvPr/>
        </p:nvSpPr>
        <p:spPr>
          <a:xfrm>
            <a:off x="2983150" y="1624675"/>
            <a:ext cx="93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Min Element</a:t>
            </a:r>
            <a:endParaRPr sz="1000"/>
          </a:p>
        </p:txBody>
      </p:sp>
      <p:sp>
        <p:nvSpPr>
          <p:cNvPr id="81" name="Google Shape;81;p16"/>
          <p:cNvSpPr/>
          <p:nvPr/>
        </p:nvSpPr>
        <p:spPr>
          <a:xfrm flipH="1">
            <a:off x="1230425" y="1069450"/>
            <a:ext cx="2300100" cy="2685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2" name="Google Shape;82;p16"/>
          <p:cNvGraphicFramePr/>
          <p:nvPr/>
        </p:nvGraphicFramePr>
        <p:xfrm>
          <a:off x="5668300" y="1338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" name="Google Shape;83;p16"/>
          <p:cNvGraphicFramePr/>
          <p:nvPr/>
        </p:nvGraphicFramePr>
        <p:xfrm>
          <a:off x="5668300" y="2120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" name="Google Shape;84;p16"/>
          <p:cNvGraphicFramePr/>
          <p:nvPr/>
        </p:nvGraphicFramePr>
        <p:xfrm>
          <a:off x="5668300" y="2987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" name="Google Shape;85;p16"/>
          <p:cNvGraphicFramePr/>
          <p:nvPr/>
        </p:nvGraphicFramePr>
        <p:xfrm>
          <a:off x="5668300" y="3743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6" name="Google Shape;86;p16"/>
          <p:cNvSpPr/>
          <p:nvPr/>
        </p:nvSpPr>
        <p:spPr>
          <a:xfrm flipH="1">
            <a:off x="1841125" y="1888150"/>
            <a:ext cx="1237800" cy="2685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 flipH="1">
            <a:off x="2832150" y="3560975"/>
            <a:ext cx="757800" cy="1824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3992175" y="1469325"/>
            <a:ext cx="1376400" cy="12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4097625" y="1214400"/>
            <a:ext cx="1145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After Swapping</a:t>
            </a:r>
            <a:endParaRPr sz="1100"/>
          </a:p>
        </p:txBody>
      </p:sp>
      <p:sp>
        <p:nvSpPr>
          <p:cNvPr id="90" name="Google Shape;90;p16"/>
          <p:cNvSpPr/>
          <p:nvPr/>
        </p:nvSpPr>
        <p:spPr>
          <a:xfrm>
            <a:off x="3992175" y="2297100"/>
            <a:ext cx="1376400" cy="12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4097625" y="2042175"/>
            <a:ext cx="1145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After Swapping</a:t>
            </a:r>
            <a:endParaRPr sz="1100"/>
          </a:p>
        </p:txBody>
      </p:sp>
      <p:sp>
        <p:nvSpPr>
          <p:cNvPr id="92" name="Google Shape;92;p16"/>
          <p:cNvSpPr/>
          <p:nvPr/>
        </p:nvSpPr>
        <p:spPr>
          <a:xfrm>
            <a:off x="3987075" y="3124863"/>
            <a:ext cx="1376400" cy="12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3992175" y="3874525"/>
            <a:ext cx="1376400" cy="12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4061475" y="2722175"/>
            <a:ext cx="123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Swapped with Own Element</a:t>
            </a:r>
            <a:endParaRPr sz="1100"/>
          </a:p>
        </p:txBody>
      </p:sp>
      <p:sp>
        <p:nvSpPr>
          <p:cNvPr id="95" name="Google Shape;95;p16"/>
          <p:cNvSpPr txBox="1"/>
          <p:nvPr/>
        </p:nvSpPr>
        <p:spPr>
          <a:xfrm>
            <a:off x="4112925" y="3619563"/>
            <a:ext cx="1145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After Swapping</a:t>
            </a:r>
            <a:endParaRPr sz="1100"/>
          </a:p>
        </p:txBody>
      </p:sp>
      <p:sp>
        <p:nvSpPr>
          <p:cNvPr id="96" name="Google Shape;96;p16"/>
          <p:cNvSpPr txBox="1"/>
          <p:nvPr/>
        </p:nvSpPr>
        <p:spPr>
          <a:xfrm>
            <a:off x="2419050" y="2492688"/>
            <a:ext cx="93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Min Element</a:t>
            </a:r>
            <a:endParaRPr sz="1000"/>
          </a:p>
        </p:txBody>
      </p:sp>
      <p:sp>
        <p:nvSpPr>
          <p:cNvPr id="97" name="Google Shape;97;p16"/>
          <p:cNvSpPr txBox="1"/>
          <p:nvPr/>
        </p:nvSpPr>
        <p:spPr>
          <a:xfrm>
            <a:off x="2983150" y="4035650"/>
            <a:ext cx="93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Min Element</a:t>
            </a:r>
            <a:endParaRPr sz="1000"/>
          </a:p>
        </p:txBody>
      </p:sp>
      <p:graphicFrame>
        <p:nvGraphicFramePr>
          <p:cNvPr id="98" name="Google Shape;98;p16"/>
          <p:cNvGraphicFramePr/>
          <p:nvPr/>
        </p:nvGraphicFramePr>
        <p:xfrm>
          <a:off x="5668288" y="4447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99" name="Google Shape;99;p16"/>
          <p:cNvSpPr txBox="1"/>
          <p:nvPr/>
        </p:nvSpPr>
        <p:spPr>
          <a:xfrm>
            <a:off x="5033975" y="662500"/>
            <a:ext cx="5322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6699"/>
                </a:solidFill>
              </a:rPr>
              <a:t>Initial Array</a:t>
            </a:r>
            <a:endParaRPr b="1" sz="1300">
              <a:solidFill>
                <a:srgbClr val="006699"/>
              </a:solidFill>
            </a:endParaRPr>
          </a:p>
        </p:txBody>
      </p:sp>
      <p:graphicFrame>
        <p:nvGraphicFramePr>
          <p:cNvPr id="100" name="Google Shape;100;p16"/>
          <p:cNvGraphicFramePr/>
          <p:nvPr/>
        </p:nvGraphicFramePr>
        <p:xfrm>
          <a:off x="5668300" y="646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1" name="Google Shape;101;p16"/>
          <p:cNvSpPr txBox="1"/>
          <p:nvPr/>
        </p:nvSpPr>
        <p:spPr>
          <a:xfrm>
            <a:off x="5033975" y="4470875"/>
            <a:ext cx="5322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6699"/>
                </a:solidFill>
              </a:rPr>
              <a:t>Final</a:t>
            </a:r>
            <a:r>
              <a:rPr b="1" lang="en" sz="1300">
                <a:solidFill>
                  <a:srgbClr val="006699"/>
                </a:solidFill>
              </a:rPr>
              <a:t> Array</a:t>
            </a:r>
            <a:endParaRPr b="1" sz="1300">
              <a:solidFill>
                <a:srgbClr val="006699"/>
              </a:solidFill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1926263" y="3245363"/>
            <a:ext cx="93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Min Element</a:t>
            </a:r>
            <a:endParaRPr sz="1000"/>
          </a:p>
        </p:txBody>
      </p:sp>
      <p:sp>
        <p:nvSpPr>
          <p:cNvPr id="103" name="Google Shape;103;p16"/>
          <p:cNvSpPr/>
          <p:nvPr/>
        </p:nvSpPr>
        <p:spPr>
          <a:xfrm flipH="1">
            <a:off x="2225375" y="2721725"/>
            <a:ext cx="255000" cy="2685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311700" y="2149300"/>
            <a:ext cx="757800" cy="4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Step 2:</a:t>
            </a:r>
            <a:endParaRPr b="1" sz="1400">
              <a:solidFill>
                <a:schemeClr val="dk1"/>
              </a:solidFill>
            </a:endParaRPr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311700" y="2950250"/>
            <a:ext cx="757800" cy="4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Step 3:</a:t>
            </a:r>
            <a:endParaRPr b="1" sz="1400">
              <a:solidFill>
                <a:schemeClr val="dk1"/>
              </a:solidFill>
            </a:endParaRPr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3705650"/>
            <a:ext cx="757800" cy="4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Step 4:</a:t>
            </a:r>
            <a:endParaRPr b="1" sz="14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Sort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311700" y="1152475"/>
            <a:ext cx="8520600" cy="37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311700" y="1107800"/>
            <a:ext cx="5399400" cy="3793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SzPts val="1050"/>
              <a:buFont typeface="Roboto"/>
              <a:buAutoNum type="arabicPeriod"/>
            </a:pPr>
            <a:r>
              <a:rPr b="1"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array = {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SzPts val="1050"/>
              <a:buFont typeface="Roboto"/>
              <a:buAutoNum type="arabicPeriod"/>
            </a:pPr>
            <a:r>
              <a:rPr b="1"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i &lt; array.length -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i++)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{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min_index = i;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j = i +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j &lt; array.length; j++){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b="1"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(array[j] &lt; array[min_index]){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min_index = j;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}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temp = array[min_index]; 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array[min_index] = array[i];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array[i] = temp;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}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</a:t>
            </a:r>
            <a:r>
              <a:rPr lang="en" sz="1050">
                <a:solidFill>
                  <a:srgbClr val="008200"/>
                </a:solidFill>
                <a:latin typeface="Courier New"/>
                <a:ea typeface="Courier New"/>
                <a:cs typeface="Courier New"/>
                <a:sym typeface="Courier New"/>
              </a:rPr>
              <a:t>"Sorted Array in Ascending Order: "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System.out.println(Arrays.toString(array));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711100" y="2518800"/>
            <a:ext cx="3169200" cy="69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[3, 8, 10, 20, 25]</a:t>
            </a:r>
            <a:endParaRPr sz="10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Sort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311700" y="1152475"/>
            <a:ext cx="8520600" cy="37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311700" y="918075"/>
            <a:ext cx="5940600" cy="4113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Clr>
                <a:srgbClr val="006699"/>
              </a:buClr>
              <a:buSzPts val="900"/>
              <a:buFont typeface="Courier New"/>
              <a:buAutoNum type="arabicPeriod"/>
            </a:pPr>
            <a:r>
              <a:rPr b="1" lang="en" sz="9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import java.util.Arrays;</a:t>
            </a:r>
            <a:endParaRPr b="1" sz="900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900"/>
              <a:buFont typeface="Courier New"/>
              <a:buAutoNum type="arabicPeriod"/>
            </a:pPr>
            <a:r>
              <a:rPr b="1" lang="en" sz="9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BubbleSort {</a:t>
            </a:r>
            <a:endParaRPr b="1" sz="900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900"/>
              <a:buFont typeface="Courier New"/>
              <a:buAutoNum type="arabicPeriod"/>
            </a:pPr>
            <a:r>
              <a:rPr b="1" lang="en" sz="9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static void main(String args[]) {</a:t>
            </a:r>
            <a:endParaRPr b="1" sz="900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900"/>
              <a:buFont typeface="Courier New"/>
              <a:buAutoNum type="arabicPeriod"/>
            </a:pPr>
            <a:r>
              <a:rPr b="1" lang="en" sz="9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int[] array = {20, 25, 10, 8, 3};  </a:t>
            </a:r>
            <a:endParaRPr b="1" sz="900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900"/>
              <a:buFont typeface="Courier New"/>
              <a:buAutoNum type="arabicPeriod"/>
            </a:pPr>
            <a:r>
              <a:rPr b="1" lang="en" sz="9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(int i = 0; i &lt; array.length - 1; i++){  </a:t>
            </a:r>
            <a:endParaRPr b="1" sz="900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900"/>
              <a:buFont typeface="Courier New"/>
              <a:buAutoNum type="arabicPeriod"/>
            </a:pPr>
            <a:r>
              <a:rPr b="1" lang="en" sz="9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int min_index = i;  </a:t>
            </a:r>
            <a:endParaRPr b="1" sz="900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900"/>
              <a:buFont typeface="Courier New"/>
              <a:buAutoNum type="arabicPeriod"/>
            </a:pPr>
            <a:r>
              <a:rPr b="1" lang="en" sz="9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for (int j = i + 1; j &lt; array.length; j++){  </a:t>
            </a:r>
            <a:endParaRPr b="1" sz="900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900"/>
              <a:buFont typeface="Courier New"/>
              <a:buAutoNum type="arabicPeriod"/>
            </a:pPr>
            <a:r>
              <a:rPr b="1" lang="en" sz="9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if (array[j] &lt; array[min_index]){  </a:t>
            </a:r>
            <a:endParaRPr b="1" sz="900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900"/>
              <a:buFont typeface="Courier New"/>
              <a:buAutoNum type="arabicPeriod"/>
            </a:pPr>
            <a:r>
              <a:rPr b="1" lang="en" sz="9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min_index = j;</a:t>
            </a:r>
            <a:endParaRPr b="1" sz="900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900"/>
              <a:buFont typeface="Courier New"/>
              <a:buAutoNum type="arabicPeriod"/>
            </a:pPr>
            <a:r>
              <a:rPr b="1" lang="en" sz="9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}  </a:t>
            </a:r>
            <a:endParaRPr b="1" sz="900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900"/>
              <a:buFont typeface="Courier New"/>
              <a:buAutoNum type="arabicPeriod"/>
            </a:pPr>
            <a:r>
              <a:rPr b="1" lang="en" sz="9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  </a:t>
            </a:r>
            <a:endParaRPr b="1" sz="900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900"/>
              <a:buFont typeface="Courier New"/>
              <a:buAutoNum type="arabicPeriod"/>
            </a:pPr>
            <a:r>
              <a:rPr b="1" lang="en" sz="9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int temp = array[min_index];   </a:t>
            </a:r>
            <a:endParaRPr b="1" sz="900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900"/>
              <a:buFont typeface="Courier New"/>
              <a:buAutoNum type="arabicPeriod"/>
            </a:pPr>
            <a:r>
              <a:rPr b="1" lang="en" sz="9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array[min_index] = array[i];  </a:t>
            </a:r>
            <a:endParaRPr b="1" sz="900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900"/>
              <a:buFont typeface="Courier New"/>
              <a:buAutoNum type="arabicPeriod"/>
            </a:pPr>
            <a:r>
              <a:rPr b="1" lang="en" sz="9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array[i] = temp;</a:t>
            </a:r>
            <a:endParaRPr b="1" sz="900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900"/>
              <a:buFont typeface="Courier New"/>
              <a:buAutoNum type="arabicPeriod"/>
            </a:pPr>
            <a:r>
              <a:rPr b="1" lang="en" sz="9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         }</a:t>
            </a:r>
            <a:endParaRPr b="1" sz="900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900"/>
              <a:buFont typeface="Courier New"/>
              <a:buAutoNum type="arabicPeriod"/>
            </a:pPr>
            <a:r>
              <a:rPr b="1" lang="en" sz="9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System.out.println("Sorted Array in Ascending Order: ");</a:t>
            </a:r>
            <a:endParaRPr b="1" sz="900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900"/>
              <a:buFont typeface="Courier New"/>
              <a:buAutoNum type="arabicPeriod"/>
            </a:pPr>
            <a:r>
              <a:rPr b="1" lang="en" sz="9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System.out.println(Arrays.toString(array));</a:t>
            </a:r>
            <a:endParaRPr b="1" sz="900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900"/>
              <a:buFont typeface="Courier New"/>
              <a:buAutoNum type="arabicPeriod"/>
            </a:pPr>
            <a:r>
              <a:rPr b="1" lang="en" sz="9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1" sz="900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900"/>
              <a:buFont typeface="Courier New"/>
              <a:buAutoNum type="arabicPeriod"/>
            </a:pPr>
            <a:r>
              <a:rPr b="1" lang="en" sz="9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900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6378775" y="2571750"/>
            <a:ext cx="2765100" cy="69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[3, 8, 10, 20, 25]</a:t>
            </a:r>
            <a:endParaRPr sz="10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Sort (Contd.)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311700" y="955825"/>
            <a:ext cx="8520600" cy="41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Before starting iteration (Unsorted List):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After first iteration: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After second iteration: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After third iteration: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After fourth iteration: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graphicFrame>
        <p:nvGraphicFramePr>
          <p:cNvPr id="129" name="Google Shape;129;p19"/>
          <p:cNvGraphicFramePr/>
          <p:nvPr/>
        </p:nvGraphicFramePr>
        <p:xfrm>
          <a:off x="876875" y="1339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297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0" name="Google Shape;130;p19"/>
          <p:cNvGraphicFramePr/>
          <p:nvPr/>
        </p:nvGraphicFramePr>
        <p:xfrm>
          <a:off x="876875" y="2058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02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1" name="Google Shape;131;p19"/>
          <p:cNvGraphicFramePr/>
          <p:nvPr/>
        </p:nvGraphicFramePr>
        <p:xfrm>
          <a:off x="876875" y="277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1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2" name="Google Shape;132;p19"/>
          <p:cNvGraphicFramePr/>
          <p:nvPr/>
        </p:nvGraphicFramePr>
        <p:xfrm>
          <a:off x="876875" y="345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1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3" name="Google Shape;133;p19"/>
          <p:cNvGraphicFramePr/>
          <p:nvPr/>
        </p:nvGraphicFramePr>
        <p:xfrm>
          <a:off x="876875" y="421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1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Bubble Sort</a:t>
            </a:r>
            <a:endParaRPr/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Sorting done by comparing two adjacent elements in an array in each iteration and </a:t>
            </a:r>
            <a:r>
              <a:rPr lang="en" sz="1600">
                <a:solidFill>
                  <a:schemeClr val="dk1"/>
                </a:solidFill>
              </a:rPr>
              <a:t>swapping</a:t>
            </a:r>
            <a:r>
              <a:rPr lang="en" sz="1600">
                <a:solidFill>
                  <a:schemeClr val="dk1"/>
                </a:solidFill>
              </a:rPr>
              <a:t> them.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Process repeated till array is sorted and swapping not needed.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At the end of each iteration of outer loop, one element from the last of array sorted.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Bubble Sort </a:t>
            </a:r>
            <a:r>
              <a:rPr lang="en"/>
              <a:t>(Contd.)</a:t>
            </a:r>
            <a:endParaRPr/>
          </a:p>
        </p:txBody>
      </p:sp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311700" y="1152475"/>
            <a:ext cx="8741700" cy="39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Initial Array: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Step 1 :</a:t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146" name="Google Shape;146;p21"/>
          <p:cNvGraphicFramePr/>
          <p:nvPr/>
        </p:nvGraphicFramePr>
        <p:xfrm>
          <a:off x="185145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7" name="Google Shape;147;p21"/>
          <p:cNvGraphicFramePr/>
          <p:nvPr/>
        </p:nvGraphicFramePr>
        <p:xfrm>
          <a:off x="1851450" y="171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8" name="Google Shape;148;p21"/>
          <p:cNvGraphicFramePr/>
          <p:nvPr/>
        </p:nvGraphicFramePr>
        <p:xfrm>
          <a:off x="1851450" y="247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9" name="Google Shape;149;p21"/>
          <p:cNvGraphicFramePr/>
          <p:nvPr/>
        </p:nvGraphicFramePr>
        <p:xfrm>
          <a:off x="1851450" y="324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150" name="Google Shape;150;p21"/>
          <p:cNvCxnSpPr/>
          <p:nvPr/>
        </p:nvCxnSpPr>
        <p:spPr>
          <a:xfrm>
            <a:off x="2173350" y="2091125"/>
            <a:ext cx="759000" cy="2328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1" name="Google Shape;151;p21"/>
          <p:cNvCxnSpPr/>
          <p:nvPr/>
        </p:nvCxnSpPr>
        <p:spPr>
          <a:xfrm rot="10800000">
            <a:off x="2932225" y="2091100"/>
            <a:ext cx="0" cy="2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21"/>
          <p:cNvCxnSpPr/>
          <p:nvPr/>
        </p:nvCxnSpPr>
        <p:spPr>
          <a:xfrm>
            <a:off x="2704150" y="2845400"/>
            <a:ext cx="759000" cy="2328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3" name="Google Shape;153;p21"/>
          <p:cNvCxnSpPr/>
          <p:nvPr/>
        </p:nvCxnSpPr>
        <p:spPr>
          <a:xfrm rot="10800000">
            <a:off x="3463025" y="2845375"/>
            <a:ext cx="0" cy="2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21"/>
          <p:cNvCxnSpPr/>
          <p:nvPr/>
        </p:nvCxnSpPr>
        <p:spPr>
          <a:xfrm>
            <a:off x="3300275" y="3609125"/>
            <a:ext cx="759000" cy="2328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5" name="Google Shape;155;p21"/>
          <p:cNvCxnSpPr/>
          <p:nvPr/>
        </p:nvCxnSpPr>
        <p:spPr>
          <a:xfrm rot="10800000">
            <a:off x="4059150" y="3609100"/>
            <a:ext cx="0" cy="2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56" name="Google Shape;156;p21"/>
          <p:cNvGraphicFramePr/>
          <p:nvPr/>
        </p:nvGraphicFramePr>
        <p:xfrm>
          <a:off x="1851450" y="405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157" name="Google Shape;157;p21"/>
          <p:cNvSpPr txBox="1"/>
          <p:nvPr/>
        </p:nvSpPr>
        <p:spPr>
          <a:xfrm>
            <a:off x="3543525" y="2875025"/>
            <a:ext cx="89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6699"/>
                </a:solidFill>
              </a:rPr>
              <a:t>No swap</a:t>
            </a:r>
            <a:endParaRPr b="1" sz="1000">
              <a:solidFill>
                <a:srgbClr val="006699"/>
              </a:solidFill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5229925" y="3934863"/>
            <a:ext cx="3444600" cy="615600"/>
          </a:xfrm>
          <a:prstGeom prst="rect">
            <a:avLst/>
          </a:prstGeom>
          <a:noFill/>
          <a:ln cap="flat" cmpd="sng" w="9525">
            <a:solidFill>
              <a:srgbClr val="00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Maximum element, i.e. 20 sorted at the end of first iteration of outer loop.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Bubble Sort </a:t>
            </a:r>
            <a:r>
              <a:rPr lang="en"/>
              <a:t>(Contd.)</a:t>
            </a:r>
            <a:endParaRPr/>
          </a:p>
        </p:txBody>
      </p:sp>
      <p:sp>
        <p:nvSpPr>
          <p:cNvPr id="164" name="Google Shape;164;p22"/>
          <p:cNvSpPr txBox="1"/>
          <p:nvPr>
            <p:ph idx="1" type="body"/>
          </p:nvPr>
        </p:nvSpPr>
        <p:spPr>
          <a:xfrm>
            <a:off x="311700" y="1152475"/>
            <a:ext cx="8741700" cy="39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Step 2 :</a:t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165" name="Google Shape;165;p22"/>
          <p:cNvGraphicFramePr/>
          <p:nvPr/>
        </p:nvGraphicFramePr>
        <p:xfrm>
          <a:off x="1756575" y="122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6" name="Google Shape;166;p22"/>
          <p:cNvGraphicFramePr/>
          <p:nvPr/>
        </p:nvGraphicFramePr>
        <p:xfrm>
          <a:off x="1756575" y="199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7" name="Google Shape;167;p22"/>
          <p:cNvGraphicFramePr/>
          <p:nvPr/>
        </p:nvGraphicFramePr>
        <p:xfrm>
          <a:off x="1756575" y="275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68" name="Google Shape;168;p22"/>
          <p:cNvCxnSpPr/>
          <p:nvPr/>
        </p:nvCxnSpPr>
        <p:spPr>
          <a:xfrm>
            <a:off x="2078475" y="1603450"/>
            <a:ext cx="759000" cy="2328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" name="Google Shape;169;p22"/>
          <p:cNvCxnSpPr/>
          <p:nvPr/>
        </p:nvCxnSpPr>
        <p:spPr>
          <a:xfrm rot="10800000">
            <a:off x="2837350" y="1603425"/>
            <a:ext cx="0" cy="2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22"/>
          <p:cNvCxnSpPr/>
          <p:nvPr/>
        </p:nvCxnSpPr>
        <p:spPr>
          <a:xfrm>
            <a:off x="2609275" y="2357725"/>
            <a:ext cx="759000" cy="2328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1" name="Google Shape;171;p22"/>
          <p:cNvCxnSpPr/>
          <p:nvPr/>
        </p:nvCxnSpPr>
        <p:spPr>
          <a:xfrm rot="10800000">
            <a:off x="3368150" y="2357700"/>
            <a:ext cx="0" cy="2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" name="Google Shape;172;p22"/>
          <p:cNvSpPr txBox="1"/>
          <p:nvPr/>
        </p:nvSpPr>
        <p:spPr>
          <a:xfrm>
            <a:off x="4966400" y="2630750"/>
            <a:ext cx="3667800" cy="615600"/>
          </a:xfrm>
          <a:prstGeom prst="rect">
            <a:avLst/>
          </a:prstGeom>
          <a:noFill/>
          <a:ln cap="flat" cmpd="sng" w="9525">
            <a:solidFill>
              <a:srgbClr val="00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</a:t>
            </a:r>
            <a:r>
              <a:rPr lang="en"/>
              <a:t> maximum </a:t>
            </a:r>
            <a:r>
              <a:rPr lang="en"/>
              <a:t>element, i.e. 10 sorted at the end of second iteration</a:t>
            </a:r>
            <a:r>
              <a:rPr lang="en">
                <a:solidFill>
                  <a:schemeClr val="dk1"/>
                </a:solidFill>
              </a:rPr>
              <a:t> of outer loop</a:t>
            </a:r>
            <a:r>
              <a:rPr lang="en"/>
              <a:t>.</a:t>
            </a:r>
            <a:endParaRPr/>
          </a:p>
        </p:txBody>
      </p:sp>
      <p:sp>
        <p:nvSpPr>
          <p:cNvPr id="173" name="Google Shape;173;p22"/>
          <p:cNvSpPr txBox="1"/>
          <p:nvPr/>
        </p:nvSpPr>
        <p:spPr>
          <a:xfrm>
            <a:off x="2920250" y="1550500"/>
            <a:ext cx="89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6699"/>
                </a:solidFill>
              </a:rPr>
              <a:t>No swap</a:t>
            </a:r>
            <a:endParaRPr b="1" sz="1000">
              <a:solidFill>
                <a:srgbClr val="00669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Bubble Sort </a:t>
            </a:r>
            <a:r>
              <a:rPr lang="en"/>
              <a:t>(Contd.)</a:t>
            </a:r>
            <a:endParaRPr/>
          </a:p>
        </p:txBody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311700" y="1152475"/>
            <a:ext cx="8741700" cy="39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Step 3 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Final Array:</a:t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180" name="Google Shape;180;p23"/>
          <p:cNvGraphicFramePr/>
          <p:nvPr/>
        </p:nvGraphicFramePr>
        <p:xfrm>
          <a:off x="1756575" y="122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81" name="Google Shape;181;p23"/>
          <p:cNvCxnSpPr/>
          <p:nvPr/>
        </p:nvCxnSpPr>
        <p:spPr>
          <a:xfrm>
            <a:off x="2078475" y="1603450"/>
            <a:ext cx="759000" cy="2328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2" name="Google Shape;182;p23"/>
          <p:cNvCxnSpPr/>
          <p:nvPr/>
        </p:nvCxnSpPr>
        <p:spPr>
          <a:xfrm rot="10800000">
            <a:off x="2837350" y="1603425"/>
            <a:ext cx="0" cy="2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" name="Google Shape;183;p23"/>
          <p:cNvSpPr txBox="1"/>
          <p:nvPr/>
        </p:nvSpPr>
        <p:spPr>
          <a:xfrm>
            <a:off x="4839925" y="1103313"/>
            <a:ext cx="3667800" cy="615600"/>
          </a:xfrm>
          <a:prstGeom prst="rect">
            <a:avLst/>
          </a:prstGeom>
          <a:noFill/>
          <a:ln cap="flat" cmpd="sng" w="9525">
            <a:solidFill>
              <a:srgbClr val="00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Remaining elements</a:t>
            </a:r>
            <a:r>
              <a:rPr lang="en"/>
              <a:t> sorted at the end of third iteration</a:t>
            </a:r>
            <a:r>
              <a:rPr lang="en">
                <a:solidFill>
                  <a:schemeClr val="dk1"/>
                </a:solidFill>
              </a:rPr>
              <a:t> of outer loop</a:t>
            </a:r>
            <a:r>
              <a:rPr lang="en"/>
              <a:t>.</a:t>
            </a:r>
            <a:endParaRPr/>
          </a:p>
        </p:txBody>
      </p:sp>
      <p:graphicFrame>
        <p:nvGraphicFramePr>
          <p:cNvPr id="184" name="Google Shape;184;p23"/>
          <p:cNvGraphicFramePr/>
          <p:nvPr/>
        </p:nvGraphicFramePr>
        <p:xfrm>
          <a:off x="1756575" y="21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Bubble Sort </a:t>
            </a:r>
            <a:r>
              <a:rPr lang="en"/>
              <a:t>(Contd.)</a:t>
            </a:r>
            <a:endParaRPr/>
          </a:p>
        </p:txBody>
      </p:sp>
      <p:sp>
        <p:nvSpPr>
          <p:cNvPr id="190" name="Google Shape;190;p24"/>
          <p:cNvSpPr txBox="1"/>
          <p:nvPr/>
        </p:nvSpPr>
        <p:spPr>
          <a:xfrm>
            <a:off x="311700" y="1107800"/>
            <a:ext cx="5399400" cy="3793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java.util.Arrays;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BubbleSort {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main(String args[]) {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array = {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 5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 20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 1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 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i &lt; array.length -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i++)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for (</a:t>
            </a:r>
            <a:r>
              <a:rPr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j =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j &lt; array.length - i -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j++)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(array[j] &gt; array[j +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]) {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 = array[j];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array[j] = array[j +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array[j +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= temp;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</a:t>
            </a:r>
            <a:r>
              <a:rPr lang="en" sz="1050">
                <a:solidFill>
                  <a:srgbClr val="008200"/>
                </a:solidFill>
                <a:latin typeface="Courier New"/>
                <a:ea typeface="Courier New"/>
                <a:cs typeface="Courier New"/>
                <a:sym typeface="Courier New"/>
              </a:rPr>
              <a:t>"Sorted Array in Ascending Order:"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System.out.println(Arrays.toString(array));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5711100" y="2518800"/>
            <a:ext cx="3169200" cy="69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[1, 5, 10, 20]</a:t>
            </a:r>
            <a:endParaRPr sz="10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>
            <p:ph type="title"/>
          </p:nvPr>
        </p:nvSpPr>
        <p:spPr>
          <a:xfrm>
            <a:off x="311700" y="445025"/>
            <a:ext cx="29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Insertion Sort</a:t>
            </a:r>
            <a:endParaRPr/>
          </a:p>
        </p:txBody>
      </p:sp>
      <p:sp>
        <p:nvSpPr>
          <p:cNvPr id="197" name="Google Shape;197;p25"/>
          <p:cNvSpPr txBox="1"/>
          <p:nvPr>
            <p:ph idx="1" type="body"/>
          </p:nvPr>
        </p:nvSpPr>
        <p:spPr>
          <a:xfrm>
            <a:off x="311700" y="1152475"/>
            <a:ext cx="4203000" cy="3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Insertion Sort is a sorting algorithm that builds a sorted sublist one element at a time.</a:t>
            </a:r>
            <a:endParaRPr sz="1600">
              <a:solidFill>
                <a:schemeClr val="dk1"/>
              </a:solidFill>
            </a:endParaRPr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It starts by assuming the first element is already sorted.</a:t>
            </a:r>
            <a:endParaRPr sz="1600">
              <a:solidFill>
                <a:schemeClr val="dk1"/>
              </a:solidFill>
            </a:endParaRPr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The algorithm iterates through the unsorted part of the list, picking one element at a time.</a:t>
            </a:r>
            <a:endParaRPr sz="1600">
              <a:solidFill>
                <a:schemeClr val="dk1"/>
              </a:solidFill>
            </a:endParaRPr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Each element is then inserted into its correct position in the sorted sublist.</a:t>
            </a:r>
            <a:endParaRPr sz="1600">
              <a:solidFill>
                <a:schemeClr val="dk1"/>
              </a:solidFill>
            </a:endParaRPr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This process is repeated until all elements are properly placed, resulting in a fully sorted list.</a:t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198" name="Google Shape;198;p25"/>
          <p:cNvGraphicFramePr/>
          <p:nvPr/>
        </p:nvGraphicFramePr>
        <p:xfrm>
          <a:off x="552055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9" name="Google Shape;199;p25"/>
          <p:cNvGraphicFramePr/>
          <p:nvPr/>
        </p:nvGraphicFramePr>
        <p:xfrm>
          <a:off x="5520550" y="186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0" name="Google Shape;200;p25"/>
          <p:cNvGraphicFramePr/>
          <p:nvPr/>
        </p:nvGraphicFramePr>
        <p:xfrm>
          <a:off x="5520550" y="2705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1" name="Google Shape;201;p25"/>
          <p:cNvGraphicFramePr/>
          <p:nvPr/>
        </p:nvGraphicFramePr>
        <p:xfrm>
          <a:off x="5520550" y="354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2" name="Google Shape;202;p25"/>
          <p:cNvGraphicFramePr/>
          <p:nvPr/>
        </p:nvGraphicFramePr>
        <p:xfrm>
          <a:off x="5520550" y="439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p25"/>
          <p:cNvSpPr/>
          <p:nvPr/>
        </p:nvSpPr>
        <p:spPr>
          <a:xfrm flipH="1">
            <a:off x="5694300" y="1351850"/>
            <a:ext cx="709500" cy="396300"/>
          </a:xfrm>
          <a:prstGeom prst="curvedUpArrow">
            <a:avLst>
              <a:gd fmla="val 25000" name="adj1"/>
              <a:gd fmla="val 50000" name="adj2"/>
              <a:gd fmla="val 33316" name="adj3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5"/>
          <p:cNvSpPr/>
          <p:nvPr/>
        </p:nvSpPr>
        <p:spPr>
          <a:xfrm flipH="1">
            <a:off x="5756300" y="2187625"/>
            <a:ext cx="1135200" cy="396300"/>
          </a:xfrm>
          <a:prstGeom prst="curvedUpArrow">
            <a:avLst>
              <a:gd fmla="val 25000" name="adj1"/>
              <a:gd fmla="val 50000" name="adj2"/>
              <a:gd fmla="val 33316" name="adj3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"/>
          <p:cNvSpPr/>
          <p:nvPr/>
        </p:nvSpPr>
        <p:spPr>
          <a:xfrm flipH="1">
            <a:off x="6226525" y="3064825"/>
            <a:ext cx="1234200" cy="396300"/>
          </a:xfrm>
          <a:prstGeom prst="curvedUpArrow">
            <a:avLst>
              <a:gd fmla="val 25000" name="adj1"/>
              <a:gd fmla="val 50000" name="adj2"/>
              <a:gd fmla="val 33316" name="adj3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5"/>
          <p:cNvSpPr/>
          <p:nvPr/>
        </p:nvSpPr>
        <p:spPr>
          <a:xfrm flipH="1">
            <a:off x="6226525" y="3884000"/>
            <a:ext cx="1729200" cy="436800"/>
          </a:xfrm>
          <a:prstGeom prst="curvedUpArrow">
            <a:avLst>
              <a:gd fmla="val 25000" name="adj1"/>
              <a:gd fmla="val 50000" name="adj2"/>
              <a:gd fmla="val 33316" name="adj3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Insertion Sort (Contd.)</a:t>
            </a:r>
            <a:endParaRPr/>
          </a:p>
        </p:txBody>
      </p:sp>
      <p:sp>
        <p:nvSpPr>
          <p:cNvPr id="212" name="Google Shape;212;p26"/>
          <p:cNvSpPr txBox="1"/>
          <p:nvPr/>
        </p:nvSpPr>
        <p:spPr>
          <a:xfrm>
            <a:off x="311700" y="1177400"/>
            <a:ext cx="5444700" cy="3480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257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Roboto Medium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import java.util.Arrays;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257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Roboto Medium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InsertionSort {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257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Roboto Medium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public static void main(String args[]) {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257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Roboto Medium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int[] arr = { 9, 5, 1, 4, 3 };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257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Roboto Medium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(int i = 1; i &lt; arr.length; i++) {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257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Roboto Medium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int key = arr[i];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257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Roboto Medium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int j = i - 1;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257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Roboto Medium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while (j &gt;= 0 &amp;&amp; arr[j] &gt; key) {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257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Roboto Medium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arr[j + 1] = arr[j];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257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Roboto Medium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j--;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257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Roboto Medium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257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Roboto Medium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arr[j + 1] = key;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257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Roboto Medium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257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Roboto Medium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System.out.println("Sorted Array in Ascending Order: ");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257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Roboto Medium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System.out.println(Arrays.toString(arr));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257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Roboto Medium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257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850"/>
              <a:buFont typeface="Roboto Medium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" sz="105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5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3" name="Google Shape;213;p26"/>
          <p:cNvSpPr txBox="1"/>
          <p:nvPr/>
        </p:nvSpPr>
        <p:spPr>
          <a:xfrm>
            <a:off x="5756400" y="1930825"/>
            <a:ext cx="3298800" cy="1116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Sorted Array in Ascending Order: 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[1, 3, 4, 5, 9]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311700" y="445025"/>
            <a:ext cx="37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Insertion Sort (Contd.)</a:t>
            </a:r>
            <a:endParaRPr/>
          </a:p>
        </p:txBody>
      </p:sp>
      <p:sp>
        <p:nvSpPr>
          <p:cNvPr id="219" name="Google Shape;219;p27"/>
          <p:cNvSpPr txBox="1"/>
          <p:nvPr/>
        </p:nvSpPr>
        <p:spPr>
          <a:xfrm>
            <a:off x="311700" y="1791100"/>
            <a:ext cx="4132200" cy="2562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int[] arr = { 9, 5, 1, 4, 3 };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1; i &lt; arr.length; i++)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key = arr[i];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j = i - 1;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while (j &gt;= 0 &amp;&amp; arr[j] &gt; key)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arr[j + 1] = arr[j];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j--;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arr[j + 1] = key;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20" name="Google Shape;220;p27"/>
          <p:cNvGraphicFramePr/>
          <p:nvPr/>
        </p:nvGraphicFramePr>
        <p:xfrm>
          <a:off x="5650075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sp>
        <p:nvSpPr>
          <p:cNvPr id="221" name="Google Shape;221;p27"/>
          <p:cNvSpPr txBox="1"/>
          <p:nvPr/>
        </p:nvSpPr>
        <p:spPr>
          <a:xfrm>
            <a:off x="5117875" y="1056225"/>
            <a:ext cx="5322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 =</a:t>
            </a:r>
            <a:endParaRPr/>
          </a:p>
        </p:txBody>
      </p:sp>
      <p:graphicFrame>
        <p:nvGraphicFramePr>
          <p:cNvPr id="222" name="Google Shape;222;p27"/>
          <p:cNvGraphicFramePr/>
          <p:nvPr/>
        </p:nvGraphicFramePr>
        <p:xfrm>
          <a:off x="5798150" y="232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3" name="Google Shape;223;p27"/>
          <p:cNvGraphicFramePr/>
          <p:nvPr/>
        </p:nvGraphicFramePr>
        <p:xfrm>
          <a:off x="5798175" y="315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4" name="Google Shape;224;p27"/>
          <p:cNvGraphicFramePr/>
          <p:nvPr/>
        </p:nvGraphicFramePr>
        <p:xfrm>
          <a:off x="5762675" y="410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sp>
        <p:nvSpPr>
          <p:cNvPr id="225" name="Google Shape;225;p27"/>
          <p:cNvSpPr/>
          <p:nvPr/>
        </p:nvSpPr>
        <p:spPr>
          <a:xfrm>
            <a:off x="6096075" y="3528275"/>
            <a:ext cx="532200" cy="2661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7"/>
          <p:cNvSpPr/>
          <p:nvPr/>
        </p:nvSpPr>
        <p:spPr>
          <a:xfrm>
            <a:off x="4940513" y="3192742"/>
            <a:ext cx="452400" cy="4539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7" name="Google Shape;227;p27"/>
          <p:cNvSpPr txBox="1"/>
          <p:nvPr/>
        </p:nvSpPr>
        <p:spPr>
          <a:xfrm>
            <a:off x="4940513" y="2864400"/>
            <a:ext cx="4524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key</a:t>
            </a:r>
            <a:endParaRPr sz="1200"/>
          </a:p>
        </p:txBody>
      </p:sp>
      <p:cxnSp>
        <p:nvCxnSpPr>
          <p:cNvPr id="228" name="Google Shape;228;p27"/>
          <p:cNvCxnSpPr>
            <a:endCxn id="227" idx="0"/>
          </p:cNvCxnSpPr>
          <p:nvPr/>
        </p:nvCxnSpPr>
        <p:spPr>
          <a:xfrm>
            <a:off x="5155913" y="2094900"/>
            <a:ext cx="10800" cy="7695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stealth"/>
          </a:ln>
        </p:spPr>
      </p:cxnSp>
      <p:cxnSp>
        <p:nvCxnSpPr>
          <p:cNvPr id="229" name="Google Shape;229;p27"/>
          <p:cNvCxnSpPr/>
          <p:nvPr/>
        </p:nvCxnSpPr>
        <p:spPr>
          <a:xfrm>
            <a:off x="5156050" y="2103725"/>
            <a:ext cx="1427700" cy="144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27"/>
          <p:cNvCxnSpPr/>
          <p:nvPr/>
        </p:nvCxnSpPr>
        <p:spPr>
          <a:xfrm>
            <a:off x="6583650" y="2121500"/>
            <a:ext cx="0" cy="2127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7"/>
          <p:cNvCxnSpPr/>
          <p:nvPr/>
        </p:nvCxnSpPr>
        <p:spPr>
          <a:xfrm rot="10800000">
            <a:off x="6042850" y="4467225"/>
            <a:ext cx="0" cy="4122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stealth"/>
          </a:ln>
        </p:spPr>
      </p:cxnSp>
      <p:cxnSp>
        <p:nvCxnSpPr>
          <p:cNvPr id="232" name="Google Shape;232;p27"/>
          <p:cNvCxnSpPr/>
          <p:nvPr/>
        </p:nvCxnSpPr>
        <p:spPr>
          <a:xfrm>
            <a:off x="5209250" y="4852825"/>
            <a:ext cx="807000" cy="90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7"/>
          <p:cNvCxnSpPr>
            <a:stCxn id="226" idx="2"/>
          </p:cNvCxnSpPr>
          <p:nvPr/>
        </p:nvCxnSpPr>
        <p:spPr>
          <a:xfrm>
            <a:off x="5166713" y="3646642"/>
            <a:ext cx="24900" cy="11973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234" name="Google Shape;234;p27"/>
          <p:cNvSpPr txBox="1"/>
          <p:nvPr/>
        </p:nvSpPr>
        <p:spPr>
          <a:xfrm>
            <a:off x="5117863" y="1698163"/>
            <a:ext cx="4524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i = 1</a:t>
            </a:r>
            <a:endParaRPr b="1"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/>
          <p:nvPr>
            <p:ph type="title"/>
          </p:nvPr>
        </p:nvSpPr>
        <p:spPr>
          <a:xfrm>
            <a:off x="311700" y="445025"/>
            <a:ext cx="37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Insertion Sort (Contd.)</a:t>
            </a:r>
            <a:endParaRPr/>
          </a:p>
        </p:txBody>
      </p:sp>
      <p:sp>
        <p:nvSpPr>
          <p:cNvPr id="240" name="Google Shape;240;p28"/>
          <p:cNvSpPr txBox="1"/>
          <p:nvPr/>
        </p:nvSpPr>
        <p:spPr>
          <a:xfrm>
            <a:off x="311700" y="1791100"/>
            <a:ext cx="4132200" cy="2562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int[] arr = { 9, 5, 1, 4, 3 };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1; i &lt; arr.length; i++)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key = arr[i];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j = i - 1;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while (j &gt;= 0 &amp;&amp; arr[j] &gt; key)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arr[j + 1] = arr[j];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j--;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arr[j + 1] = key;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41" name="Google Shape;241;p28"/>
          <p:cNvGraphicFramePr/>
          <p:nvPr/>
        </p:nvGraphicFramePr>
        <p:xfrm>
          <a:off x="5798150" y="164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2" name="Google Shape;242;p28"/>
          <p:cNvGraphicFramePr/>
          <p:nvPr/>
        </p:nvGraphicFramePr>
        <p:xfrm>
          <a:off x="5798150" y="234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3" name="Google Shape;243;p28"/>
          <p:cNvGraphicFramePr/>
          <p:nvPr/>
        </p:nvGraphicFramePr>
        <p:xfrm>
          <a:off x="5762675" y="410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sp>
        <p:nvSpPr>
          <p:cNvPr id="244" name="Google Shape;244;p28"/>
          <p:cNvSpPr/>
          <p:nvPr/>
        </p:nvSpPr>
        <p:spPr>
          <a:xfrm>
            <a:off x="6598725" y="2736725"/>
            <a:ext cx="532200" cy="2661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8"/>
          <p:cNvSpPr/>
          <p:nvPr/>
        </p:nvSpPr>
        <p:spPr>
          <a:xfrm>
            <a:off x="4947563" y="3097779"/>
            <a:ext cx="452400" cy="4539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6" name="Google Shape;246;p28"/>
          <p:cNvSpPr txBox="1"/>
          <p:nvPr/>
        </p:nvSpPr>
        <p:spPr>
          <a:xfrm>
            <a:off x="4952963" y="2716025"/>
            <a:ext cx="4524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key</a:t>
            </a:r>
            <a:endParaRPr sz="1200"/>
          </a:p>
        </p:txBody>
      </p:sp>
      <p:cxnSp>
        <p:nvCxnSpPr>
          <p:cNvPr id="247" name="Google Shape;247;p28"/>
          <p:cNvCxnSpPr>
            <a:endCxn id="246" idx="0"/>
          </p:cNvCxnSpPr>
          <p:nvPr/>
        </p:nvCxnSpPr>
        <p:spPr>
          <a:xfrm>
            <a:off x="5162363" y="1429625"/>
            <a:ext cx="16800" cy="12864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stealth"/>
          </a:ln>
        </p:spPr>
      </p:cxnSp>
      <p:cxnSp>
        <p:nvCxnSpPr>
          <p:cNvPr id="248" name="Google Shape;248;p28"/>
          <p:cNvCxnSpPr/>
          <p:nvPr/>
        </p:nvCxnSpPr>
        <p:spPr>
          <a:xfrm>
            <a:off x="5156050" y="1423275"/>
            <a:ext cx="1974900" cy="90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28"/>
          <p:cNvCxnSpPr/>
          <p:nvPr/>
        </p:nvCxnSpPr>
        <p:spPr>
          <a:xfrm>
            <a:off x="7135400" y="1437675"/>
            <a:ext cx="0" cy="2127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28"/>
          <p:cNvCxnSpPr/>
          <p:nvPr/>
        </p:nvCxnSpPr>
        <p:spPr>
          <a:xfrm rot="10800000">
            <a:off x="6042850" y="4467225"/>
            <a:ext cx="0" cy="4122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stealth"/>
          </a:ln>
        </p:spPr>
      </p:cxnSp>
      <p:cxnSp>
        <p:nvCxnSpPr>
          <p:cNvPr id="251" name="Google Shape;251;p28"/>
          <p:cNvCxnSpPr/>
          <p:nvPr/>
        </p:nvCxnSpPr>
        <p:spPr>
          <a:xfrm>
            <a:off x="5209250" y="4852825"/>
            <a:ext cx="807000" cy="90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28"/>
          <p:cNvCxnSpPr>
            <a:stCxn id="245" idx="2"/>
          </p:cNvCxnSpPr>
          <p:nvPr/>
        </p:nvCxnSpPr>
        <p:spPr>
          <a:xfrm>
            <a:off x="5173763" y="3551679"/>
            <a:ext cx="6300" cy="13011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253" name="Google Shape;253;p28"/>
          <p:cNvSpPr txBox="1"/>
          <p:nvPr/>
        </p:nvSpPr>
        <p:spPr>
          <a:xfrm>
            <a:off x="5117863" y="1017713"/>
            <a:ext cx="4524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i = 2</a:t>
            </a:r>
            <a:endParaRPr b="1" sz="1200"/>
          </a:p>
        </p:txBody>
      </p:sp>
      <p:graphicFrame>
        <p:nvGraphicFramePr>
          <p:cNvPr id="254" name="Google Shape;254;p28"/>
          <p:cNvGraphicFramePr/>
          <p:nvPr/>
        </p:nvGraphicFramePr>
        <p:xfrm>
          <a:off x="5762675" y="322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sp>
        <p:nvSpPr>
          <p:cNvPr id="255" name="Google Shape;255;p28"/>
          <p:cNvSpPr/>
          <p:nvPr/>
        </p:nvSpPr>
        <p:spPr>
          <a:xfrm>
            <a:off x="6042850" y="3621050"/>
            <a:ext cx="532200" cy="2661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 txBox="1"/>
          <p:nvPr>
            <p:ph type="title"/>
          </p:nvPr>
        </p:nvSpPr>
        <p:spPr>
          <a:xfrm>
            <a:off x="311700" y="445025"/>
            <a:ext cx="37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Insertion Sort (Contd.)</a:t>
            </a:r>
            <a:endParaRPr/>
          </a:p>
        </p:txBody>
      </p:sp>
      <p:sp>
        <p:nvSpPr>
          <p:cNvPr id="261" name="Google Shape;261;p29"/>
          <p:cNvSpPr txBox="1"/>
          <p:nvPr/>
        </p:nvSpPr>
        <p:spPr>
          <a:xfrm>
            <a:off x="311700" y="1791100"/>
            <a:ext cx="4132200" cy="2562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int[] arr = { 9, 5, 1, 4, 3 };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1; i &lt; arr.length; i++)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key = arr[i];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j = i - 1;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while (j &gt;= 0 &amp;&amp; arr[j] &gt; key)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arr[j + 1] = arr[j];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j--;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arr[j + 1] = key;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62" name="Google Shape;262;p29"/>
          <p:cNvGraphicFramePr/>
          <p:nvPr/>
        </p:nvGraphicFramePr>
        <p:xfrm>
          <a:off x="5798150" y="164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3" name="Google Shape;263;p29"/>
          <p:cNvGraphicFramePr/>
          <p:nvPr/>
        </p:nvGraphicFramePr>
        <p:xfrm>
          <a:off x="5798150" y="234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4" name="Google Shape;264;p29"/>
          <p:cNvGraphicFramePr/>
          <p:nvPr/>
        </p:nvGraphicFramePr>
        <p:xfrm>
          <a:off x="5762675" y="410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sp>
        <p:nvSpPr>
          <p:cNvPr id="265" name="Google Shape;265;p29"/>
          <p:cNvSpPr/>
          <p:nvPr/>
        </p:nvSpPr>
        <p:spPr>
          <a:xfrm>
            <a:off x="7139650" y="2726375"/>
            <a:ext cx="532200" cy="2661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9"/>
          <p:cNvSpPr/>
          <p:nvPr/>
        </p:nvSpPr>
        <p:spPr>
          <a:xfrm>
            <a:off x="4947563" y="3097779"/>
            <a:ext cx="452400" cy="4539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7" name="Google Shape;267;p29"/>
          <p:cNvSpPr txBox="1"/>
          <p:nvPr/>
        </p:nvSpPr>
        <p:spPr>
          <a:xfrm>
            <a:off x="4952963" y="2716025"/>
            <a:ext cx="4524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key</a:t>
            </a:r>
            <a:endParaRPr sz="1200"/>
          </a:p>
        </p:txBody>
      </p:sp>
      <p:cxnSp>
        <p:nvCxnSpPr>
          <p:cNvPr id="268" name="Google Shape;268;p29"/>
          <p:cNvCxnSpPr>
            <a:endCxn id="267" idx="0"/>
          </p:cNvCxnSpPr>
          <p:nvPr/>
        </p:nvCxnSpPr>
        <p:spPr>
          <a:xfrm>
            <a:off x="5162363" y="1429625"/>
            <a:ext cx="16800" cy="12864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stealth"/>
          </a:ln>
        </p:spPr>
      </p:cxnSp>
      <p:cxnSp>
        <p:nvCxnSpPr>
          <p:cNvPr id="269" name="Google Shape;269;p29"/>
          <p:cNvCxnSpPr/>
          <p:nvPr/>
        </p:nvCxnSpPr>
        <p:spPr>
          <a:xfrm>
            <a:off x="5156050" y="1423275"/>
            <a:ext cx="2515800" cy="330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29"/>
          <p:cNvCxnSpPr/>
          <p:nvPr/>
        </p:nvCxnSpPr>
        <p:spPr>
          <a:xfrm>
            <a:off x="7676350" y="1432275"/>
            <a:ext cx="0" cy="2127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29"/>
          <p:cNvCxnSpPr/>
          <p:nvPr/>
        </p:nvCxnSpPr>
        <p:spPr>
          <a:xfrm rot="10800000">
            <a:off x="6566050" y="4449625"/>
            <a:ext cx="0" cy="4122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stealth"/>
          </a:ln>
        </p:spPr>
      </p:cxnSp>
      <p:cxnSp>
        <p:nvCxnSpPr>
          <p:cNvPr id="272" name="Google Shape;272;p29"/>
          <p:cNvCxnSpPr/>
          <p:nvPr/>
        </p:nvCxnSpPr>
        <p:spPr>
          <a:xfrm>
            <a:off x="5209250" y="4852825"/>
            <a:ext cx="1362900" cy="177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29"/>
          <p:cNvCxnSpPr>
            <a:stCxn id="266" idx="2"/>
          </p:cNvCxnSpPr>
          <p:nvPr/>
        </p:nvCxnSpPr>
        <p:spPr>
          <a:xfrm>
            <a:off x="5173763" y="3551679"/>
            <a:ext cx="6300" cy="13011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274" name="Google Shape;274;p29"/>
          <p:cNvSpPr txBox="1"/>
          <p:nvPr/>
        </p:nvSpPr>
        <p:spPr>
          <a:xfrm>
            <a:off x="5117863" y="1017713"/>
            <a:ext cx="4524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i = 3</a:t>
            </a:r>
            <a:endParaRPr b="1" sz="1200"/>
          </a:p>
        </p:txBody>
      </p:sp>
      <p:graphicFrame>
        <p:nvGraphicFramePr>
          <p:cNvPr id="275" name="Google Shape;275;p29"/>
          <p:cNvGraphicFramePr/>
          <p:nvPr/>
        </p:nvGraphicFramePr>
        <p:xfrm>
          <a:off x="5762675" y="322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sp>
        <p:nvSpPr>
          <p:cNvPr id="276" name="Google Shape;276;p29"/>
          <p:cNvSpPr/>
          <p:nvPr/>
        </p:nvSpPr>
        <p:spPr>
          <a:xfrm>
            <a:off x="6607450" y="3620975"/>
            <a:ext cx="532200" cy="2661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 txBox="1"/>
          <p:nvPr>
            <p:ph type="title"/>
          </p:nvPr>
        </p:nvSpPr>
        <p:spPr>
          <a:xfrm>
            <a:off x="311700" y="445025"/>
            <a:ext cx="37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Insertion Sort (Contd.)</a:t>
            </a:r>
            <a:endParaRPr/>
          </a:p>
        </p:txBody>
      </p:sp>
      <p:sp>
        <p:nvSpPr>
          <p:cNvPr id="282" name="Google Shape;282;p30"/>
          <p:cNvSpPr txBox="1"/>
          <p:nvPr/>
        </p:nvSpPr>
        <p:spPr>
          <a:xfrm>
            <a:off x="311700" y="1791100"/>
            <a:ext cx="4132200" cy="2562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int[] arr = { 9, 5, 1, 4, 3 };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1; i &lt; arr.length; i++)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key = arr[i];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j = i - 1;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while (j &gt;= 0 &amp;&amp; arr[j] &gt; key)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arr[j + 1] = arr[j];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j--;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arr[j + 1] = key;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edium"/>
              <a:buAutoNum type="arabicPeriod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83" name="Google Shape;283;p30"/>
          <p:cNvGraphicFramePr/>
          <p:nvPr/>
        </p:nvGraphicFramePr>
        <p:xfrm>
          <a:off x="5792750" y="133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4" name="Google Shape;284;p30"/>
          <p:cNvGraphicFramePr/>
          <p:nvPr/>
        </p:nvGraphicFramePr>
        <p:xfrm>
          <a:off x="5792750" y="194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5" name="Google Shape;285;p30"/>
          <p:cNvGraphicFramePr/>
          <p:nvPr/>
        </p:nvGraphicFramePr>
        <p:xfrm>
          <a:off x="5762675" y="409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</a:tbl>
          </a:graphicData>
        </a:graphic>
      </p:graphicFrame>
      <p:sp>
        <p:nvSpPr>
          <p:cNvPr id="286" name="Google Shape;286;p30"/>
          <p:cNvSpPr/>
          <p:nvPr/>
        </p:nvSpPr>
        <p:spPr>
          <a:xfrm>
            <a:off x="6566050" y="3749825"/>
            <a:ext cx="532200" cy="2127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0"/>
          <p:cNvSpPr/>
          <p:nvPr/>
        </p:nvSpPr>
        <p:spPr>
          <a:xfrm>
            <a:off x="4947563" y="2751717"/>
            <a:ext cx="452400" cy="4539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8" name="Google Shape;288;p30"/>
          <p:cNvSpPr txBox="1"/>
          <p:nvPr/>
        </p:nvSpPr>
        <p:spPr>
          <a:xfrm>
            <a:off x="4947563" y="2405650"/>
            <a:ext cx="4524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key</a:t>
            </a:r>
            <a:endParaRPr sz="1200"/>
          </a:p>
        </p:txBody>
      </p:sp>
      <p:cxnSp>
        <p:nvCxnSpPr>
          <p:cNvPr id="289" name="Google Shape;289;p30"/>
          <p:cNvCxnSpPr>
            <a:endCxn id="288" idx="0"/>
          </p:cNvCxnSpPr>
          <p:nvPr/>
        </p:nvCxnSpPr>
        <p:spPr>
          <a:xfrm>
            <a:off x="5156963" y="1119250"/>
            <a:ext cx="16800" cy="12864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stealth"/>
          </a:ln>
        </p:spPr>
      </p:cxnSp>
      <p:cxnSp>
        <p:nvCxnSpPr>
          <p:cNvPr id="290" name="Google Shape;290;p30"/>
          <p:cNvCxnSpPr/>
          <p:nvPr/>
        </p:nvCxnSpPr>
        <p:spPr>
          <a:xfrm>
            <a:off x="5150650" y="1112900"/>
            <a:ext cx="3056700" cy="330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30"/>
          <p:cNvCxnSpPr/>
          <p:nvPr/>
        </p:nvCxnSpPr>
        <p:spPr>
          <a:xfrm>
            <a:off x="8194175" y="1145900"/>
            <a:ext cx="0" cy="2127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30"/>
          <p:cNvCxnSpPr/>
          <p:nvPr/>
        </p:nvCxnSpPr>
        <p:spPr>
          <a:xfrm rot="10800000">
            <a:off x="6566050" y="4435150"/>
            <a:ext cx="0" cy="4122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stealth"/>
          </a:ln>
        </p:spPr>
      </p:cxnSp>
      <p:cxnSp>
        <p:nvCxnSpPr>
          <p:cNvPr id="293" name="Google Shape;293;p30"/>
          <p:cNvCxnSpPr/>
          <p:nvPr/>
        </p:nvCxnSpPr>
        <p:spPr>
          <a:xfrm>
            <a:off x="5209250" y="4852825"/>
            <a:ext cx="1362900" cy="177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30"/>
          <p:cNvCxnSpPr>
            <a:stCxn id="287" idx="2"/>
          </p:cNvCxnSpPr>
          <p:nvPr/>
        </p:nvCxnSpPr>
        <p:spPr>
          <a:xfrm>
            <a:off x="5173763" y="3205617"/>
            <a:ext cx="6300" cy="1656000"/>
          </a:xfrm>
          <a:prstGeom prst="straightConnector1">
            <a:avLst/>
          </a:prstGeom>
          <a:noFill/>
          <a:ln cap="flat" cmpd="sng" w="19050">
            <a:solidFill>
              <a:srgbClr val="660000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295" name="Google Shape;295;p30"/>
          <p:cNvSpPr txBox="1"/>
          <p:nvPr/>
        </p:nvSpPr>
        <p:spPr>
          <a:xfrm>
            <a:off x="5112463" y="707338"/>
            <a:ext cx="4524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i = 4</a:t>
            </a:r>
            <a:endParaRPr b="1" sz="1200"/>
          </a:p>
        </p:txBody>
      </p:sp>
      <p:graphicFrame>
        <p:nvGraphicFramePr>
          <p:cNvPr id="296" name="Google Shape;296;p30"/>
          <p:cNvGraphicFramePr/>
          <p:nvPr/>
        </p:nvGraphicFramePr>
        <p:xfrm>
          <a:off x="5762675" y="263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sp>
        <p:nvSpPr>
          <p:cNvPr id="297" name="Google Shape;297;p30"/>
          <p:cNvSpPr/>
          <p:nvPr/>
        </p:nvSpPr>
        <p:spPr>
          <a:xfrm>
            <a:off x="7130675" y="3027075"/>
            <a:ext cx="532200" cy="2127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98" name="Google Shape;298;p30"/>
          <p:cNvGraphicFramePr/>
          <p:nvPr/>
        </p:nvGraphicFramePr>
        <p:xfrm>
          <a:off x="5792750" y="3362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534900"/>
                <a:gridCol w="534900"/>
                <a:gridCol w="534900"/>
                <a:gridCol w="534900"/>
                <a:gridCol w="534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sp>
        <p:nvSpPr>
          <p:cNvPr id="299" name="Google Shape;299;p30"/>
          <p:cNvSpPr/>
          <p:nvPr/>
        </p:nvSpPr>
        <p:spPr>
          <a:xfrm>
            <a:off x="7662875" y="2345700"/>
            <a:ext cx="532200" cy="2127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"/>
          <p:cNvSpPr txBox="1"/>
          <p:nvPr>
            <p:ph type="title"/>
          </p:nvPr>
        </p:nvSpPr>
        <p:spPr>
          <a:xfrm>
            <a:off x="311700" y="445025"/>
            <a:ext cx="356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Insertion Sort (Contd.)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05" name="Google Shape;305;p31"/>
          <p:cNvGraphicFramePr/>
          <p:nvPr/>
        </p:nvGraphicFramePr>
        <p:xfrm>
          <a:off x="5957275" y="54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450875"/>
                <a:gridCol w="450875"/>
                <a:gridCol w="450875"/>
                <a:gridCol w="450875"/>
                <a:gridCol w="450875"/>
              </a:tblGrid>
              <a:tr h="31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9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06" name="Google Shape;306;p31"/>
          <p:cNvSpPr txBox="1"/>
          <p:nvPr/>
        </p:nvSpPr>
        <p:spPr>
          <a:xfrm>
            <a:off x="5268950" y="540900"/>
            <a:ext cx="5322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Initial Array</a:t>
            </a:r>
            <a:endParaRPr sz="1300"/>
          </a:p>
        </p:txBody>
      </p:sp>
      <p:sp>
        <p:nvSpPr>
          <p:cNvPr id="307" name="Google Shape;307;p31"/>
          <p:cNvSpPr txBox="1"/>
          <p:nvPr/>
        </p:nvSpPr>
        <p:spPr>
          <a:xfrm>
            <a:off x="311700" y="1309475"/>
            <a:ext cx="5322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Step 1:</a:t>
            </a:r>
            <a:endParaRPr sz="1300"/>
          </a:p>
        </p:txBody>
      </p:sp>
      <p:graphicFrame>
        <p:nvGraphicFramePr>
          <p:cNvPr id="308" name="Google Shape;308;p31"/>
          <p:cNvGraphicFramePr/>
          <p:nvPr/>
        </p:nvGraphicFramePr>
        <p:xfrm>
          <a:off x="1037763" y="1309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450875"/>
                <a:gridCol w="450875"/>
                <a:gridCol w="450875"/>
                <a:gridCol w="450875"/>
                <a:gridCol w="450875"/>
              </a:tblGrid>
              <a:tr h="31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9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309" name="Google Shape;309;p31"/>
          <p:cNvSpPr/>
          <p:nvPr/>
        </p:nvSpPr>
        <p:spPr>
          <a:xfrm flipH="1">
            <a:off x="1224800" y="1099175"/>
            <a:ext cx="532200" cy="2127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1"/>
          <p:cNvSpPr/>
          <p:nvPr/>
        </p:nvSpPr>
        <p:spPr>
          <a:xfrm>
            <a:off x="3972475" y="1456338"/>
            <a:ext cx="1376400" cy="122700"/>
          </a:xfrm>
          <a:prstGeom prst="rightArrow">
            <a:avLst>
              <a:gd fmla="val 50000" name="adj1"/>
              <a:gd fmla="val 130440" name="adj2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1" name="Google Shape;311;p31"/>
          <p:cNvGraphicFramePr/>
          <p:nvPr/>
        </p:nvGraphicFramePr>
        <p:xfrm>
          <a:off x="5801150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450875"/>
                <a:gridCol w="450875"/>
                <a:gridCol w="450875"/>
                <a:gridCol w="450875"/>
                <a:gridCol w="450875"/>
              </a:tblGrid>
              <a:tr h="31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5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9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2" name="Google Shape;312;p31"/>
          <p:cNvSpPr/>
          <p:nvPr/>
        </p:nvSpPr>
        <p:spPr>
          <a:xfrm>
            <a:off x="1269125" y="1693300"/>
            <a:ext cx="487800" cy="2127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1"/>
          <p:cNvSpPr txBox="1"/>
          <p:nvPr/>
        </p:nvSpPr>
        <p:spPr>
          <a:xfrm>
            <a:off x="311700" y="2277300"/>
            <a:ext cx="5322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Step 2:</a:t>
            </a:r>
            <a:endParaRPr sz="1300"/>
          </a:p>
        </p:txBody>
      </p:sp>
      <p:graphicFrame>
        <p:nvGraphicFramePr>
          <p:cNvPr id="314" name="Google Shape;314;p31"/>
          <p:cNvGraphicFramePr/>
          <p:nvPr/>
        </p:nvGraphicFramePr>
        <p:xfrm>
          <a:off x="1037763" y="224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450875"/>
                <a:gridCol w="450875"/>
                <a:gridCol w="450875"/>
                <a:gridCol w="450875"/>
                <a:gridCol w="450875"/>
              </a:tblGrid>
              <a:tr h="31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5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9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315" name="Google Shape;315;p31"/>
          <p:cNvSpPr/>
          <p:nvPr/>
        </p:nvSpPr>
        <p:spPr>
          <a:xfrm flipH="1">
            <a:off x="1224900" y="2036125"/>
            <a:ext cx="939900" cy="2127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6" name="Google Shape;316;p31"/>
          <p:cNvGraphicFramePr/>
          <p:nvPr/>
        </p:nvGraphicFramePr>
        <p:xfrm>
          <a:off x="5801150" y="225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450875"/>
                <a:gridCol w="450875"/>
                <a:gridCol w="450875"/>
                <a:gridCol w="450875"/>
                <a:gridCol w="450875"/>
              </a:tblGrid>
              <a:tr h="31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5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9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7" name="Google Shape;317;p31"/>
          <p:cNvSpPr/>
          <p:nvPr/>
        </p:nvSpPr>
        <p:spPr>
          <a:xfrm>
            <a:off x="1269125" y="2630250"/>
            <a:ext cx="425700" cy="2127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1"/>
          <p:cNvSpPr/>
          <p:nvPr/>
        </p:nvSpPr>
        <p:spPr>
          <a:xfrm>
            <a:off x="1694825" y="2630250"/>
            <a:ext cx="425700" cy="2127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1"/>
          <p:cNvSpPr txBox="1"/>
          <p:nvPr/>
        </p:nvSpPr>
        <p:spPr>
          <a:xfrm>
            <a:off x="311700" y="3211400"/>
            <a:ext cx="5322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Step 3:</a:t>
            </a:r>
            <a:endParaRPr sz="1300"/>
          </a:p>
        </p:txBody>
      </p:sp>
      <p:graphicFrame>
        <p:nvGraphicFramePr>
          <p:cNvPr id="320" name="Google Shape;320;p31"/>
          <p:cNvGraphicFramePr/>
          <p:nvPr/>
        </p:nvGraphicFramePr>
        <p:xfrm>
          <a:off x="1037763" y="322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450875"/>
                <a:gridCol w="450875"/>
                <a:gridCol w="450875"/>
                <a:gridCol w="450875"/>
                <a:gridCol w="450875"/>
              </a:tblGrid>
              <a:tr h="31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5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9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321" name="Google Shape;321;p31"/>
          <p:cNvSpPr/>
          <p:nvPr/>
        </p:nvSpPr>
        <p:spPr>
          <a:xfrm flipH="1">
            <a:off x="1695013" y="2998700"/>
            <a:ext cx="939900" cy="2127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22" name="Google Shape;322;p31"/>
          <p:cNvGraphicFramePr/>
          <p:nvPr/>
        </p:nvGraphicFramePr>
        <p:xfrm>
          <a:off x="5801150" y="323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450875"/>
                <a:gridCol w="450875"/>
                <a:gridCol w="450875"/>
                <a:gridCol w="450875"/>
                <a:gridCol w="450875"/>
              </a:tblGrid>
              <a:tr h="31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4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5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9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23" name="Google Shape;323;p31"/>
          <p:cNvSpPr/>
          <p:nvPr/>
        </p:nvSpPr>
        <p:spPr>
          <a:xfrm>
            <a:off x="1757000" y="3618600"/>
            <a:ext cx="425700" cy="2127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1"/>
          <p:cNvSpPr/>
          <p:nvPr/>
        </p:nvSpPr>
        <p:spPr>
          <a:xfrm>
            <a:off x="2209225" y="3618600"/>
            <a:ext cx="425700" cy="2127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1"/>
          <p:cNvSpPr txBox="1"/>
          <p:nvPr/>
        </p:nvSpPr>
        <p:spPr>
          <a:xfrm>
            <a:off x="311700" y="4249025"/>
            <a:ext cx="5322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Step 4:</a:t>
            </a:r>
            <a:endParaRPr sz="1300"/>
          </a:p>
        </p:txBody>
      </p:sp>
      <p:graphicFrame>
        <p:nvGraphicFramePr>
          <p:cNvPr id="326" name="Google Shape;326;p31"/>
          <p:cNvGraphicFramePr/>
          <p:nvPr/>
        </p:nvGraphicFramePr>
        <p:xfrm>
          <a:off x="1037763" y="421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450875"/>
                <a:gridCol w="450875"/>
                <a:gridCol w="450875"/>
                <a:gridCol w="450875"/>
                <a:gridCol w="450875"/>
              </a:tblGrid>
              <a:tr h="31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4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5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9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327" name="Google Shape;327;p31"/>
          <p:cNvSpPr/>
          <p:nvPr/>
        </p:nvSpPr>
        <p:spPr>
          <a:xfrm flipH="1">
            <a:off x="1659300" y="3970950"/>
            <a:ext cx="1445400" cy="2442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28" name="Google Shape;328;p31"/>
          <p:cNvGraphicFramePr/>
          <p:nvPr/>
        </p:nvGraphicFramePr>
        <p:xfrm>
          <a:off x="5801150" y="4231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{ACB74D8E-EC93-4CD8-8651-12C28DF1943A}</a:tableStyleId>
              </a:tblPr>
              <a:tblGrid>
                <a:gridCol w="450875"/>
                <a:gridCol w="450875"/>
                <a:gridCol w="450875"/>
                <a:gridCol w="450875"/>
                <a:gridCol w="450875"/>
              </a:tblGrid>
              <a:tr h="31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1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3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4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5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9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</a:tbl>
          </a:graphicData>
        </a:graphic>
      </p:graphicFrame>
      <p:sp>
        <p:nvSpPr>
          <p:cNvPr id="329" name="Google Shape;329;p31"/>
          <p:cNvSpPr/>
          <p:nvPr/>
        </p:nvSpPr>
        <p:spPr>
          <a:xfrm>
            <a:off x="2120525" y="4612225"/>
            <a:ext cx="425700" cy="2127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1"/>
          <p:cNvSpPr/>
          <p:nvPr/>
        </p:nvSpPr>
        <p:spPr>
          <a:xfrm>
            <a:off x="2634925" y="4612225"/>
            <a:ext cx="425700" cy="2127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1"/>
          <p:cNvSpPr/>
          <p:nvPr/>
        </p:nvSpPr>
        <p:spPr>
          <a:xfrm>
            <a:off x="1659350" y="4612225"/>
            <a:ext cx="425700" cy="2127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1"/>
          <p:cNvSpPr txBox="1"/>
          <p:nvPr/>
        </p:nvSpPr>
        <p:spPr>
          <a:xfrm>
            <a:off x="4045425" y="1153113"/>
            <a:ext cx="11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After Insertion</a:t>
            </a:r>
            <a:endParaRPr b="1" sz="1000"/>
          </a:p>
        </p:txBody>
      </p:sp>
      <p:sp>
        <p:nvSpPr>
          <p:cNvPr id="333" name="Google Shape;333;p31"/>
          <p:cNvSpPr txBox="1"/>
          <p:nvPr/>
        </p:nvSpPr>
        <p:spPr>
          <a:xfrm>
            <a:off x="4045425" y="2094763"/>
            <a:ext cx="11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After Insertion</a:t>
            </a:r>
            <a:endParaRPr b="1" sz="1000"/>
          </a:p>
        </p:txBody>
      </p:sp>
      <p:sp>
        <p:nvSpPr>
          <p:cNvPr id="334" name="Google Shape;334;p31"/>
          <p:cNvSpPr txBox="1"/>
          <p:nvPr/>
        </p:nvSpPr>
        <p:spPr>
          <a:xfrm>
            <a:off x="4088125" y="3080763"/>
            <a:ext cx="11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After Insertion</a:t>
            </a:r>
            <a:endParaRPr b="1" sz="1000"/>
          </a:p>
        </p:txBody>
      </p:sp>
      <p:sp>
        <p:nvSpPr>
          <p:cNvPr id="335" name="Google Shape;335;p31"/>
          <p:cNvSpPr txBox="1"/>
          <p:nvPr/>
        </p:nvSpPr>
        <p:spPr>
          <a:xfrm>
            <a:off x="4123850" y="4049188"/>
            <a:ext cx="11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After Insertion</a:t>
            </a:r>
            <a:endParaRPr b="1" sz="1000"/>
          </a:p>
        </p:txBody>
      </p:sp>
      <p:sp>
        <p:nvSpPr>
          <p:cNvPr id="336" name="Google Shape;336;p31"/>
          <p:cNvSpPr/>
          <p:nvPr/>
        </p:nvSpPr>
        <p:spPr>
          <a:xfrm>
            <a:off x="3972475" y="3410588"/>
            <a:ext cx="1376400" cy="122700"/>
          </a:xfrm>
          <a:prstGeom prst="rightArrow">
            <a:avLst>
              <a:gd fmla="val 50000" name="adj1"/>
              <a:gd fmla="val 130440" name="adj2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1"/>
          <p:cNvSpPr/>
          <p:nvPr/>
        </p:nvSpPr>
        <p:spPr>
          <a:xfrm>
            <a:off x="3972475" y="2433463"/>
            <a:ext cx="1376400" cy="122700"/>
          </a:xfrm>
          <a:prstGeom prst="rightArrow">
            <a:avLst>
              <a:gd fmla="val 50000" name="adj1"/>
              <a:gd fmla="val 130440" name="adj2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4008200" y="4347263"/>
            <a:ext cx="1376400" cy="122700"/>
          </a:xfrm>
          <a:prstGeom prst="rightArrow">
            <a:avLst>
              <a:gd fmla="val 50000" name="adj1"/>
              <a:gd fmla="val 130440" name="adj2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1"/>
          <p:cNvSpPr txBox="1"/>
          <p:nvPr/>
        </p:nvSpPr>
        <p:spPr>
          <a:xfrm>
            <a:off x="6451338" y="4693125"/>
            <a:ext cx="95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Sorted Array</a:t>
            </a:r>
            <a:endParaRPr b="1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endParaRPr/>
          </a:p>
        </p:txBody>
      </p:sp>
      <p:sp>
        <p:nvSpPr>
          <p:cNvPr id="345" name="Google Shape;34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