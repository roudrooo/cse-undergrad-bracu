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3F9FC8-1852-4863-8DE2-240E8EFB2CB7}">
  <a:tblStyle styleId="{DF3F9FC8-1852-4863-8DE2-240E8EFB2C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0bb9799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0bb9799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0bb97995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0bb97995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0bb97995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50bb97995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0bb97995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0bb97995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50bb97995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50bb97995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50bb97995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50bb97995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0bb97995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0bb97995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0bb97995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0bb97995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0bb97995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50bb97995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50bb97995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50bb97995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0bb97995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50bb97995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0bb97995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0bb97995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0bb97995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50bb97995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0bb97995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0bb97995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0bb97995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0bb97995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0bb97995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0bb97995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50bb97995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50bb97995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50ea07159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50ea0715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929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Introduction to </a:t>
            </a:r>
            <a:r>
              <a:rPr lang="en" sz="4000"/>
              <a:t>Operators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Operators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12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Operators are </a:t>
            </a:r>
            <a:r>
              <a:rPr lang="en">
                <a:solidFill>
                  <a:schemeClr val="dk1"/>
                </a:solidFill>
              </a:rPr>
              <a:t>symbols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used to perform </a:t>
            </a:r>
            <a:r>
              <a:rPr lang="en">
                <a:solidFill>
                  <a:schemeClr val="dk1"/>
                </a:solidFill>
              </a:rPr>
              <a:t>specific operations on one or more operands to produce a result.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Types of operators in Java: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375" y="2500300"/>
            <a:ext cx="7217249" cy="19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Arithmetic</a:t>
            </a:r>
            <a:r>
              <a:rPr b="1" lang="en"/>
              <a:t> Operators</a:t>
            </a:r>
            <a:endParaRPr b="1"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1241750" y="148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1931100"/>
                <a:gridCol w="2364700"/>
                <a:gridCol w="236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Category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Additive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Addition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Subtraction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Multiplicative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Multiplication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*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Division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/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Modulus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Arithmetic Operators (Continued)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Addition</a:t>
            </a:r>
            <a:r>
              <a:rPr lang="en" sz="1600">
                <a:solidFill>
                  <a:schemeClr val="dk1"/>
                </a:solidFill>
              </a:rPr>
              <a:t>: Adds two variables/numbers of same datatype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Subtraction: </a:t>
            </a:r>
            <a:r>
              <a:rPr lang="en" sz="1600">
                <a:solidFill>
                  <a:schemeClr val="dk1"/>
                </a:solidFill>
              </a:rPr>
              <a:t>Subtracts the second number from the first one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Multiplication</a:t>
            </a:r>
            <a:r>
              <a:rPr lang="en" sz="1600">
                <a:solidFill>
                  <a:schemeClr val="dk1"/>
                </a:solidFill>
              </a:rPr>
              <a:t>: Multiplies the first operand with the second one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        </a:t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2279250" y="180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56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System.out.println(2+3);  //Output: 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Google Shape;75;p16"/>
          <p:cNvGraphicFramePr/>
          <p:nvPr/>
        </p:nvGraphicFramePr>
        <p:xfrm>
          <a:off x="2279250" y="293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56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System.out.println(7-3);   //Output: 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Google Shape;76;p16"/>
          <p:cNvGraphicFramePr/>
          <p:nvPr/>
        </p:nvGraphicFramePr>
        <p:xfrm>
          <a:off x="2279250" y="405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563300"/>
              </a:tblGrid>
              <a:tr h="402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System.out.println(3*3);    //Output: 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Arithmetic Operators (Continued)</a:t>
            </a:r>
            <a:endParaRPr b="1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Division</a:t>
            </a:r>
            <a:r>
              <a:rPr b="1"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</a:rPr>
              <a:t>Divides the first operand with the second one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Modulus: </a:t>
            </a:r>
            <a:r>
              <a:rPr lang="en" sz="1600">
                <a:solidFill>
                  <a:schemeClr val="dk1"/>
                </a:solidFill>
              </a:rPr>
              <a:t>Finds the remainder after dividing the first number with the second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2044263" y="185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106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System.out.println(9/2);    //Output: 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System.out.println(9.0/2.0);    //Output: 4.5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17"/>
          <p:cNvGraphicFramePr/>
          <p:nvPr/>
        </p:nvGraphicFramePr>
        <p:xfrm>
          <a:off x="2044275" y="343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106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System.out.println(5%2);    //Output: 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System.out.println(7%9);    //Output: 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89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Assignment Operators</a:t>
            </a:r>
            <a:endParaRPr b="1"/>
          </a:p>
        </p:txBody>
      </p:sp>
      <p:graphicFrame>
        <p:nvGraphicFramePr>
          <p:cNvPr id="90" name="Google Shape;90;p18"/>
          <p:cNvGraphicFramePr/>
          <p:nvPr/>
        </p:nvGraphicFramePr>
        <p:xfrm>
          <a:off x="1757338" y="110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1632150"/>
                <a:gridCol w="1998575"/>
                <a:gridCol w="1998575"/>
              </a:tblGrid>
              <a:tr h="39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Identicality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Assignment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 = 5;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Addition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Equals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+=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+= 3;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= a+3;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Subtraction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Equals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-=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-= 3;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= a-3;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Multiplication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Equals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*=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*= 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= a*2;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Division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Equals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/=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/= 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= a/2;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Modulus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Equals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%=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%= 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= a%2;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Assignment </a:t>
            </a:r>
            <a:r>
              <a:rPr b="1" lang="en"/>
              <a:t>Operators (Continued)</a:t>
            </a:r>
            <a:endParaRPr b="1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(=)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Assigns the value on the right to the variable on the left.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(+=)</a:t>
            </a:r>
            <a:r>
              <a:rPr b="1"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</a:rPr>
              <a:t>Adds both the operands on its right and left and assigns the addition to   the operand on its left</a:t>
            </a:r>
            <a:r>
              <a:rPr lang="en" sz="1600">
                <a:solidFill>
                  <a:schemeClr val="dk1"/>
                </a:solidFill>
              </a:rPr>
              <a:t> 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 </a:t>
            </a:r>
            <a:endParaRPr sz="1600"/>
          </a:p>
        </p:txBody>
      </p:sp>
      <p:graphicFrame>
        <p:nvGraphicFramePr>
          <p:cNvPr id="97" name="Google Shape;97;p19"/>
          <p:cNvGraphicFramePr/>
          <p:nvPr/>
        </p:nvGraphicFramePr>
        <p:xfrm>
          <a:off x="2284013" y="175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2287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number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float value = 2.5f;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98;p19"/>
          <p:cNvGraphicFramePr/>
          <p:nvPr/>
        </p:nvGraphicFramePr>
        <p:xfrm>
          <a:off x="2284013" y="368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810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5, b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b+=a;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System.out.println(b);   // Output: 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Assignment Operators (Continued)</a:t>
            </a:r>
            <a:endParaRPr b="1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(-=)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Subtracts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the right operand from the left operand and assigns the result to the left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(*=): </a:t>
            </a:r>
            <a:r>
              <a:rPr lang="en" sz="1600">
                <a:solidFill>
                  <a:schemeClr val="dk1"/>
                </a:solidFill>
              </a:rPr>
              <a:t>Multiplies </a:t>
            </a:r>
            <a:r>
              <a:rPr lang="en" sz="1600">
                <a:solidFill>
                  <a:schemeClr val="dk1"/>
                </a:solidFill>
              </a:rPr>
              <a:t>both the operands and assigns the result to the left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2265775" y="1895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563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5, b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b-=a;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System.out.println(b);   // Output: 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" name="Google Shape;106;p20"/>
          <p:cNvGraphicFramePr/>
          <p:nvPr/>
        </p:nvGraphicFramePr>
        <p:xfrm>
          <a:off x="2221525" y="361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65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int a = 5, b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b*=a;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System.out.println(b);   // Output: 50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Assignment Operators (Continued)</a:t>
            </a:r>
            <a:endParaRPr b="1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(/=)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</a:rPr>
              <a:t>Divides the operand on its left with the operand on its right and assigns the result to the left operand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(%=):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Divides the left operand by the right operand and assigns the remainder to the operand on the left.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aphicFrame>
        <p:nvGraphicFramePr>
          <p:cNvPr id="113" name="Google Shape;113;p21"/>
          <p:cNvGraphicFramePr/>
          <p:nvPr/>
        </p:nvGraphicFramePr>
        <p:xfrm>
          <a:off x="2587075" y="189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51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5, b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b/=a;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System.out.println(b);   // Output: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" name="Google Shape;114;p21"/>
          <p:cNvGraphicFramePr/>
          <p:nvPr/>
        </p:nvGraphicFramePr>
        <p:xfrm>
          <a:off x="2587075" y="37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51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int a = 5, b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b%=a;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System.out.println(b);   // Output: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Relational </a:t>
            </a:r>
            <a:r>
              <a:rPr b="1" lang="en"/>
              <a:t>Operators</a:t>
            </a:r>
            <a:endParaRPr b="1"/>
          </a:p>
        </p:txBody>
      </p:sp>
      <p:graphicFrame>
        <p:nvGraphicFramePr>
          <p:cNvPr id="120" name="Google Shape;120;p22"/>
          <p:cNvGraphicFramePr/>
          <p:nvPr/>
        </p:nvGraphicFramePr>
        <p:xfrm>
          <a:off x="1519963" y="146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1769775"/>
                <a:gridCol w="2167150"/>
                <a:gridCol w="2167150"/>
              </a:tblGrid>
              <a:tr h="38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Category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6175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Comparison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Greater Than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&gt;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Less Than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&lt;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Greater Than or Equals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&gt;=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Less Than or Equals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&lt;=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Equality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Equals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==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Equals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!=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Relational Operators (Continued)</a:t>
            </a:r>
            <a:endParaRPr b="1"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(&gt;)</a:t>
            </a:r>
            <a:r>
              <a:rPr lang="en" sz="1600">
                <a:solidFill>
                  <a:schemeClr val="dk1"/>
                </a:solidFill>
              </a:rPr>
              <a:t>: Checks if the left operand is greater than the right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(&lt;): </a:t>
            </a:r>
            <a:r>
              <a:rPr lang="en" sz="1600">
                <a:solidFill>
                  <a:schemeClr val="dk1"/>
                </a:solidFill>
              </a:rPr>
              <a:t>Checks if the left operand is less than the right operand.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(&gt;=): </a:t>
            </a:r>
            <a:r>
              <a:rPr lang="en" sz="1600">
                <a:solidFill>
                  <a:schemeClr val="dk1"/>
                </a:solidFill>
              </a:rPr>
              <a:t>Checks if the left operand is greater than or equals to the right operand.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            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27" name="Google Shape;127;p23"/>
          <p:cNvGraphicFramePr/>
          <p:nvPr/>
        </p:nvGraphicFramePr>
        <p:xfrm>
          <a:off x="2058650" y="181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038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System.out.println(5&gt;3);   // Output: 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Google Shape;128;p23"/>
          <p:cNvGraphicFramePr/>
          <p:nvPr/>
        </p:nvGraphicFramePr>
        <p:xfrm>
          <a:off x="2058650" y="294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1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System.out.println(5&lt;3);   // Output: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Google Shape;129;p23"/>
          <p:cNvGraphicFramePr/>
          <p:nvPr/>
        </p:nvGraphicFramePr>
        <p:xfrm>
          <a:off x="2058650" y="421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315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System.out.println(7&gt;=10);   // Output: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Relational Operators (Continued)</a:t>
            </a:r>
            <a:endParaRPr b="1"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(&lt;=)</a:t>
            </a:r>
            <a:r>
              <a:rPr lang="en" sz="1600">
                <a:solidFill>
                  <a:schemeClr val="dk1"/>
                </a:solidFill>
              </a:rPr>
              <a:t>: Checks if the left operand is less than or equals to the right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(==): </a:t>
            </a:r>
            <a:r>
              <a:rPr lang="en" sz="1600">
                <a:solidFill>
                  <a:schemeClr val="dk1"/>
                </a:solidFill>
              </a:rPr>
              <a:t>Checks if both the operands are equal.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(!=): </a:t>
            </a:r>
            <a:r>
              <a:rPr lang="en" sz="1600">
                <a:solidFill>
                  <a:schemeClr val="dk1"/>
                </a:solidFill>
              </a:rPr>
              <a:t>Checks if the left operand is not equals to the right operand.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36" name="Google Shape;136;p24"/>
          <p:cNvGraphicFramePr/>
          <p:nvPr/>
        </p:nvGraphicFramePr>
        <p:xfrm>
          <a:off x="2144100" y="180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116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System.out.println(2&lt;=3);   // Output: true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Google Shape;137;p24"/>
          <p:cNvGraphicFramePr/>
          <p:nvPr/>
        </p:nvGraphicFramePr>
        <p:xfrm>
          <a:off x="2144088" y="287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182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System.out.println(5==3);   // Output: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Google Shape;138;p24"/>
          <p:cNvGraphicFramePr/>
          <p:nvPr/>
        </p:nvGraphicFramePr>
        <p:xfrm>
          <a:off x="2144100" y="41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256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System.out.println(7!=10);   // Output: 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Logical </a:t>
            </a:r>
            <a:r>
              <a:rPr b="1" lang="en"/>
              <a:t>Operators</a:t>
            </a:r>
            <a:endParaRPr b="1"/>
          </a:p>
        </p:txBody>
      </p:sp>
      <p:graphicFrame>
        <p:nvGraphicFramePr>
          <p:cNvPr id="144" name="Google Shape;144;p25"/>
          <p:cNvGraphicFramePr/>
          <p:nvPr/>
        </p:nvGraphicFramePr>
        <p:xfrm>
          <a:off x="2207300" y="177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2364700"/>
                <a:gridCol w="236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Logical AND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&amp;&amp;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Logical 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||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Logical NOT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Logical </a:t>
            </a:r>
            <a:r>
              <a:rPr b="1" lang="en"/>
              <a:t>Operators (Continued)</a:t>
            </a:r>
            <a:endParaRPr b="1"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(&amp;&amp;)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</a:rPr>
              <a:t>Denotes true if both the conditions before and after are true, otherwise false.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(||): </a:t>
            </a:r>
            <a:r>
              <a:rPr lang="en" sz="1600">
                <a:solidFill>
                  <a:schemeClr val="dk1"/>
                </a:solidFill>
              </a:rPr>
              <a:t>Denotes true if at least one conditions before and after are true, otherwise false.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(!): </a:t>
            </a:r>
            <a:r>
              <a:rPr lang="en" sz="1600">
                <a:solidFill>
                  <a:schemeClr val="dk1"/>
                </a:solidFill>
              </a:rPr>
              <a:t>Reverses the logical value of the operand on its right.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2" name="Google Shape;152;p26"/>
          <p:cNvGraphicFramePr/>
          <p:nvPr/>
        </p:nvGraphicFramePr>
        <p:xfrm>
          <a:off x="1961875" y="323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71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System.out.println(5&lt;-1 || 10&gt;5);   // Output: 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Google Shape;153;p26"/>
          <p:cNvGraphicFramePr/>
          <p:nvPr/>
        </p:nvGraphicFramePr>
        <p:xfrm>
          <a:off x="1961875" y="432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326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System.out.println(!(5&gt;3));   // Output: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Google Shape;154;p26"/>
          <p:cNvGraphicFramePr/>
          <p:nvPr/>
        </p:nvGraphicFramePr>
        <p:xfrm>
          <a:off x="1961863" y="179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76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5, b = 10, c = 20;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System.out.println(a&gt;b &amp;&amp; b&lt;c);   // Output: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Unary </a:t>
            </a:r>
            <a:r>
              <a:rPr b="1" lang="en"/>
              <a:t>Operators</a:t>
            </a:r>
            <a:endParaRPr b="1"/>
          </a:p>
        </p:txBody>
      </p:sp>
      <p:graphicFrame>
        <p:nvGraphicFramePr>
          <p:cNvPr id="160" name="Google Shape;160;p27"/>
          <p:cNvGraphicFramePr/>
          <p:nvPr/>
        </p:nvGraphicFramePr>
        <p:xfrm>
          <a:off x="1519963" y="146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1769775"/>
                <a:gridCol w="2167150"/>
                <a:gridCol w="2167150"/>
              </a:tblGrid>
              <a:tr h="38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Type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6175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Prefix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Increment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++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Decrement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Postfix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Increment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++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Decrement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Unary </a:t>
            </a:r>
            <a:r>
              <a:rPr b="1" lang="en"/>
              <a:t>Operators (Continued)</a:t>
            </a:r>
            <a:endParaRPr b="1"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Negation </a:t>
            </a:r>
            <a:r>
              <a:rPr b="1" lang="en" sz="1600">
                <a:solidFill>
                  <a:schemeClr val="dk1"/>
                </a:solidFill>
              </a:rPr>
              <a:t>(</a:t>
            </a:r>
            <a:r>
              <a:rPr b="1" lang="en" sz="1600">
                <a:solidFill>
                  <a:schemeClr val="dk1"/>
                </a:solidFill>
              </a:rPr>
              <a:t>-</a:t>
            </a:r>
            <a:r>
              <a:rPr b="1" lang="en" sz="1600">
                <a:solidFill>
                  <a:schemeClr val="dk1"/>
                </a:solidFill>
              </a:rPr>
              <a:t>): </a:t>
            </a:r>
            <a:r>
              <a:rPr lang="en" sz="1600">
                <a:solidFill>
                  <a:schemeClr val="dk1"/>
                </a:solidFill>
              </a:rPr>
              <a:t>Negates an operand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Not </a:t>
            </a:r>
            <a:r>
              <a:rPr b="1" lang="en" sz="1600">
                <a:solidFill>
                  <a:schemeClr val="dk1"/>
                </a:solidFill>
              </a:rPr>
              <a:t>(!): </a:t>
            </a:r>
            <a:r>
              <a:rPr lang="en" sz="1600">
                <a:solidFill>
                  <a:schemeClr val="dk1"/>
                </a:solidFill>
              </a:rPr>
              <a:t>Reverses the logical value of an operand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8" name="Google Shape;168;p28"/>
          <p:cNvGraphicFramePr/>
          <p:nvPr/>
        </p:nvGraphicFramePr>
        <p:xfrm>
          <a:off x="1782100" y="190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596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int b = -a;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System.out.println(b);   // Output: -5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Google Shape;169;p28"/>
          <p:cNvGraphicFramePr/>
          <p:nvPr/>
        </p:nvGraphicFramePr>
        <p:xfrm>
          <a:off x="1782100" y="392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413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System.out.println(! false);   // Output: 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Unary Operators (Continued)</a:t>
            </a:r>
            <a:endParaRPr b="1"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Pre-Increment (++): </a:t>
            </a:r>
            <a:r>
              <a:rPr lang="en" sz="1600">
                <a:solidFill>
                  <a:schemeClr val="dk1"/>
                </a:solidFill>
              </a:rPr>
              <a:t>Increments the operand by 1 and then assigned.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Pre-Decrement </a:t>
            </a:r>
            <a:r>
              <a:rPr b="1" lang="en" sz="1600">
                <a:solidFill>
                  <a:schemeClr val="dk1"/>
                </a:solidFill>
              </a:rPr>
              <a:t>(--): </a:t>
            </a:r>
            <a:r>
              <a:rPr lang="en" sz="1600">
                <a:solidFill>
                  <a:schemeClr val="dk1"/>
                </a:solidFill>
              </a:rPr>
              <a:t>Decrements the operand by 1 and then assigned.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7" name="Google Shape;177;p29"/>
          <p:cNvGraphicFramePr/>
          <p:nvPr/>
        </p:nvGraphicFramePr>
        <p:xfrm>
          <a:off x="1892725" y="375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int y = --a;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System.out.println(a);   // Output: 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System.out.println(y);   // Output: 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" name="Google Shape;178;p29"/>
          <p:cNvGraphicFramePr/>
          <p:nvPr/>
        </p:nvGraphicFramePr>
        <p:xfrm>
          <a:off x="1892713" y="187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54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int y = ++a;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System.out.println(a);   // Output: 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System.out.println(y);   // Output: 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Unary Operators (Continued)</a:t>
            </a:r>
            <a:endParaRPr b="1"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152475"/>
            <a:ext cx="86415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Post</a:t>
            </a:r>
            <a:r>
              <a:rPr b="1" lang="en" sz="1600">
                <a:solidFill>
                  <a:schemeClr val="dk1"/>
                </a:solidFill>
              </a:rPr>
              <a:t>-Increment (++): </a:t>
            </a:r>
            <a:r>
              <a:rPr lang="en" sz="1600">
                <a:solidFill>
                  <a:schemeClr val="dk1"/>
                </a:solidFill>
              </a:rPr>
              <a:t>The value is assigned first and then </a:t>
            </a:r>
            <a:r>
              <a:rPr lang="en" sz="1600">
                <a:solidFill>
                  <a:schemeClr val="dk1"/>
                </a:solidFill>
              </a:rPr>
              <a:t>i</a:t>
            </a:r>
            <a:r>
              <a:rPr lang="en" sz="1600">
                <a:solidFill>
                  <a:schemeClr val="dk1"/>
                </a:solidFill>
              </a:rPr>
              <a:t>ncrements the operand by 1.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Post-Decrement (--): </a:t>
            </a:r>
            <a:r>
              <a:rPr lang="en" sz="1600">
                <a:solidFill>
                  <a:schemeClr val="dk1"/>
                </a:solidFill>
              </a:rPr>
              <a:t>The value is assigned first and then decrements the operand by 1.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6" name="Google Shape;186;p30"/>
          <p:cNvGraphicFramePr/>
          <p:nvPr/>
        </p:nvGraphicFramePr>
        <p:xfrm>
          <a:off x="1654525" y="375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718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int y = a--;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System.out.println(y);   // Output: 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System.out.println(a);   // Output: 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" name="Google Shape;187;p30"/>
          <p:cNvGraphicFramePr/>
          <p:nvPr/>
        </p:nvGraphicFramePr>
        <p:xfrm>
          <a:off x="1654525" y="180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{DF3F9FC8-1852-4863-8DE2-240E8EFB2CB7}</a:tableStyleId>
              </a:tblPr>
              <a:tblGrid>
                <a:gridCol w="3552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int y = a++;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System.out.println(y);   // Output: 5</a:t>
                      </a:r>
                      <a:br>
                        <a:rPr lang="en" sz="1600">
                          <a:solidFill>
                            <a:schemeClr val="dk1"/>
                          </a:solidFill>
                        </a:rPr>
                      </a:b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System.out.println(a);   // Output: 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11700" y="2050750"/>
            <a:ext cx="8520600" cy="8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