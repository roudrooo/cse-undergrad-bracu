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31632ba1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31632ba1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3b8ccf0e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3b8ccf0e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3b8ccf0e5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53b8ccf0e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53b8ccf0e5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53b8ccf0e5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53b8ccf0e5_1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53b8ccf0e5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53d12510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53d12510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68358" y="12509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Decision Making 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Switch case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Switch-Case Statement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0028FF"/>
                </a:solidFill>
              </a:rPr>
              <a:t>Equality based execution</a:t>
            </a:r>
            <a:r>
              <a:rPr lang="en" sz="1600">
                <a:solidFill>
                  <a:schemeClr val="dk1"/>
                </a:solidFill>
              </a:rPr>
              <a:t> of one or more test cases.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Variable/expression to be checked is passed inside </a:t>
            </a:r>
            <a:r>
              <a:rPr b="1" lang="en" sz="1600">
                <a:solidFill>
                  <a:schemeClr val="dk1"/>
                </a:solidFill>
              </a:rPr>
              <a:t>switch (expression) </a:t>
            </a:r>
            <a:r>
              <a:rPr lang="en" sz="1600">
                <a:solidFill>
                  <a:schemeClr val="dk1"/>
                </a:solidFill>
              </a:rPr>
              <a:t>statement.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Inside the switch block, several cases are used to match against the variable/expression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0028FF"/>
                </a:solidFill>
              </a:rPr>
              <a:t>“case”</a:t>
            </a:r>
            <a:r>
              <a:rPr lang="en" sz="1600">
                <a:solidFill>
                  <a:schemeClr val="dk1"/>
                </a:solidFill>
              </a:rPr>
              <a:t> keyword used to define each case expression.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Default statement/case is optional, added at the end as standard practice.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1091984" y="1086975"/>
            <a:ext cx="955530" cy="255960"/>
          </a:xfrm>
          <a:prstGeom prst="flowChartTerminator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START</a:t>
            </a:r>
            <a:endParaRPr sz="1300"/>
          </a:p>
        </p:txBody>
      </p:sp>
      <p:sp>
        <p:nvSpPr>
          <p:cNvPr id="66" name="Google Shape;66;p15"/>
          <p:cNvSpPr/>
          <p:nvPr/>
        </p:nvSpPr>
        <p:spPr>
          <a:xfrm>
            <a:off x="690155" y="1542975"/>
            <a:ext cx="1759200" cy="5508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expression</a:t>
            </a:r>
            <a:endParaRPr sz="1100"/>
          </a:p>
        </p:txBody>
      </p:sp>
      <p:cxnSp>
        <p:nvCxnSpPr>
          <p:cNvPr id="67" name="Google Shape;67;p15"/>
          <p:cNvCxnSpPr>
            <a:stCxn id="65" idx="2"/>
            <a:endCxn id="66" idx="0"/>
          </p:cNvCxnSpPr>
          <p:nvPr/>
        </p:nvCxnSpPr>
        <p:spPr>
          <a:xfrm>
            <a:off x="1569749" y="1342935"/>
            <a:ext cx="0" cy="2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" name="Google Shape;68;p15"/>
          <p:cNvSpPr/>
          <p:nvPr/>
        </p:nvSpPr>
        <p:spPr>
          <a:xfrm>
            <a:off x="891058" y="2293825"/>
            <a:ext cx="1357500" cy="4875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</a:t>
            </a:r>
            <a:r>
              <a:rPr lang="en" sz="1100"/>
              <a:t>ase 1</a:t>
            </a:r>
            <a:endParaRPr sz="1100"/>
          </a:p>
        </p:txBody>
      </p:sp>
      <p:sp>
        <p:nvSpPr>
          <p:cNvPr id="69" name="Google Shape;69;p15"/>
          <p:cNvSpPr/>
          <p:nvPr/>
        </p:nvSpPr>
        <p:spPr>
          <a:xfrm>
            <a:off x="891058" y="3015198"/>
            <a:ext cx="1357500" cy="4875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case 2</a:t>
            </a:r>
            <a:endParaRPr sz="1100"/>
          </a:p>
        </p:txBody>
      </p:sp>
      <p:sp>
        <p:nvSpPr>
          <p:cNvPr id="70" name="Google Shape;70;p15"/>
          <p:cNvSpPr/>
          <p:nvPr/>
        </p:nvSpPr>
        <p:spPr>
          <a:xfrm>
            <a:off x="891058" y="3686142"/>
            <a:ext cx="1357500" cy="4875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default case</a:t>
            </a:r>
            <a:endParaRPr sz="1100"/>
          </a:p>
        </p:txBody>
      </p:sp>
      <p:sp>
        <p:nvSpPr>
          <p:cNvPr id="71" name="Google Shape;71;p15"/>
          <p:cNvSpPr/>
          <p:nvPr/>
        </p:nvSpPr>
        <p:spPr>
          <a:xfrm>
            <a:off x="3015463" y="2409545"/>
            <a:ext cx="1003800" cy="25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</a:t>
            </a:r>
            <a:r>
              <a:rPr lang="en" sz="1100"/>
              <a:t>tatement 1</a:t>
            </a:r>
            <a:endParaRPr sz="1100"/>
          </a:p>
        </p:txBody>
      </p:sp>
      <p:sp>
        <p:nvSpPr>
          <p:cNvPr id="72" name="Google Shape;72;p15"/>
          <p:cNvSpPr/>
          <p:nvPr/>
        </p:nvSpPr>
        <p:spPr>
          <a:xfrm>
            <a:off x="3015463" y="3130906"/>
            <a:ext cx="1003800" cy="25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statement 2</a:t>
            </a:r>
            <a:endParaRPr sz="1100"/>
          </a:p>
        </p:txBody>
      </p:sp>
      <p:sp>
        <p:nvSpPr>
          <p:cNvPr id="73" name="Google Shape;73;p15"/>
          <p:cNvSpPr/>
          <p:nvPr/>
        </p:nvSpPr>
        <p:spPr>
          <a:xfrm>
            <a:off x="3015463" y="3801862"/>
            <a:ext cx="1003800" cy="25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statement 3</a:t>
            </a:r>
            <a:endParaRPr sz="1100"/>
          </a:p>
        </p:txBody>
      </p:sp>
      <p:sp>
        <p:nvSpPr>
          <p:cNvPr id="74" name="Google Shape;74;p15"/>
          <p:cNvSpPr/>
          <p:nvPr/>
        </p:nvSpPr>
        <p:spPr>
          <a:xfrm>
            <a:off x="3337370" y="4228308"/>
            <a:ext cx="360000" cy="323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3039531" y="4722570"/>
            <a:ext cx="955530" cy="255960"/>
          </a:xfrm>
          <a:prstGeom prst="flowChartTerminator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END</a:t>
            </a:r>
            <a:endParaRPr sz="1300"/>
          </a:p>
        </p:txBody>
      </p:sp>
      <p:cxnSp>
        <p:nvCxnSpPr>
          <p:cNvPr id="76" name="Google Shape;76;p15"/>
          <p:cNvCxnSpPr>
            <a:stCxn id="68" idx="2"/>
            <a:endCxn id="69" idx="0"/>
          </p:cNvCxnSpPr>
          <p:nvPr/>
        </p:nvCxnSpPr>
        <p:spPr>
          <a:xfrm>
            <a:off x="1569808" y="2781325"/>
            <a:ext cx="0" cy="23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5"/>
          <p:cNvCxnSpPr>
            <a:stCxn id="68" idx="3"/>
            <a:endCxn id="71" idx="1"/>
          </p:cNvCxnSpPr>
          <p:nvPr/>
        </p:nvCxnSpPr>
        <p:spPr>
          <a:xfrm>
            <a:off x="2248558" y="2537575"/>
            <a:ext cx="76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5"/>
          <p:cNvCxnSpPr>
            <a:stCxn id="69" idx="3"/>
            <a:endCxn id="72" idx="1"/>
          </p:cNvCxnSpPr>
          <p:nvPr/>
        </p:nvCxnSpPr>
        <p:spPr>
          <a:xfrm>
            <a:off x="2248558" y="3258948"/>
            <a:ext cx="76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5"/>
          <p:cNvCxnSpPr>
            <a:stCxn id="70" idx="3"/>
            <a:endCxn id="73" idx="1"/>
          </p:cNvCxnSpPr>
          <p:nvPr/>
        </p:nvCxnSpPr>
        <p:spPr>
          <a:xfrm>
            <a:off x="2248558" y="3929892"/>
            <a:ext cx="76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5"/>
          <p:cNvCxnSpPr>
            <a:stCxn id="69" idx="2"/>
            <a:endCxn id="70" idx="0"/>
          </p:cNvCxnSpPr>
          <p:nvPr/>
        </p:nvCxnSpPr>
        <p:spPr>
          <a:xfrm>
            <a:off x="1569808" y="3502698"/>
            <a:ext cx="0" cy="18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5"/>
          <p:cNvCxnSpPr>
            <a:stCxn id="71" idx="2"/>
            <a:endCxn id="72" idx="0"/>
          </p:cNvCxnSpPr>
          <p:nvPr/>
        </p:nvCxnSpPr>
        <p:spPr>
          <a:xfrm>
            <a:off x="3517363" y="2665445"/>
            <a:ext cx="0" cy="4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5"/>
          <p:cNvCxnSpPr>
            <a:stCxn id="72" idx="2"/>
            <a:endCxn id="73" idx="0"/>
          </p:cNvCxnSpPr>
          <p:nvPr/>
        </p:nvCxnSpPr>
        <p:spPr>
          <a:xfrm>
            <a:off x="3517363" y="3386806"/>
            <a:ext cx="0" cy="41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5"/>
          <p:cNvCxnSpPr>
            <a:endCxn id="74" idx="0"/>
          </p:cNvCxnSpPr>
          <p:nvPr/>
        </p:nvCxnSpPr>
        <p:spPr>
          <a:xfrm>
            <a:off x="3517370" y="4057908"/>
            <a:ext cx="0" cy="17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>
            <a:stCxn id="70" idx="2"/>
            <a:endCxn id="74" idx="2"/>
          </p:cNvCxnSpPr>
          <p:nvPr/>
        </p:nvCxnSpPr>
        <p:spPr>
          <a:xfrm flipH="1" rot="-5400000">
            <a:off x="2345308" y="3398142"/>
            <a:ext cx="216600" cy="1767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>
            <a:endCxn id="75" idx="0"/>
          </p:cNvCxnSpPr>
          <p:nvPr/>
        </p:nvCxnSpPr>
        <p:spPr>
          <a:xfrm flipH="1" rot="-5400000">
            <a:off x="3431796" y="4637070"/>
            <a:ext cx="1704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5"/>
          <p:cNvSpPr txBox="1"/>
          <p:nvPr/>
        </p:nvSpPr>
        <p:spPr>
          <a:xfrm>
            <a:off x="2191816" y="2189225"/>
            <a:ext cx="77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M</a:t>
            </a:r>
            <a:r>
              <a:rPr b="1" lang="en" sz="1100"/>
              <a:t>atched</a:t>
            </a:r>
            <a:endParaRPr b="1" sz="1100"/>
          </a:p>
        </p:txBody>
      </p:sp>
      <p:sp>
        <p:nvSpPr>
          <p:cNvPr id="87" name="Google Shape;87;p15"/>
          <p:cNvSpPr txBox="1"/>
          <p:nvPr/>
        </p:nvSpPr>
        <p:spPr>
          <a:xfrm>
            <a:off x="2191807" y="2913790"/>
            <a:ext cx="77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Matched</a:t>
            </a:r>
            <a:endParaRPr b="1" sz="1100"/>
          </a:p>
        </p:txBody>
      </p:sp>
      <p:sp>
        <p:nvSpPr>
          <p:cNvPr id="88" name="Google Shape;88;p15"/>
          <p:cNvSpPr txBox="1"/>
          <p:nvPr/>
        </p:nvSpPr>
        <p:spPr>
          <a:xfrm>
            <a:off x="2194766" y="3609955"/>
            <a:ext cx="77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Matched</a:t>
            </a:r>
            <a:endParaRPr b="1" sz="1100"/>
          </a:p>
        </p:txBody>
      </p:sp>
      <p:sp>
        <p:nvSpPr>
          <p:cNvPr id="89" name="Google Shape;89;p15"/>
          <p:cNvSpPr txBox="1"/>
          <p:nvPr/>
        </p:nvSpPr>
        <p:spPr>
          <a:xfrm>
            <a:off x="524450" y="2711277"/>
            <a:ext cx="95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Unm</a:t>
            </a:r>
            <a:r>
              <a:rPr b="1" lang="en" sz="1100"/>
              <a:t>atched</a:t>
            </a:r>
            <a:endParaRPr b="1" sz="1100"/>
          </a:p>
        </p:txBody>
      </p:sp>
      <p:sp>
        <p:nvSpPr>
          <p:cNvPr id="90" name="Google Shape;90;p15"/>
          <p:cNvSpPr txBox="1"/>
          <p:nvPr/>
        </p:nvSpPr>
        <p:spPr>
          <a:xfrm>
            <a:off x="524450" y="3429308"/>
            <a:ext cx="95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Unmatched</a:t>
            </a:r>
            <a:endParaRPr b="1" sz="1100"/>
          </a:p>
        </p:txBody>
      </p:sp>
      <p:sp>
        <p:nvSpPr>
          <p:cNvPr id="91" name="Google Shape;91;p15"/>
          <p:cNvSpPr txBox="1"/>
          <p:nvPr/>
        </p:nvSpPr>
        <p:spPr>
          <a:xfrm>
            <a:off x="539174" y="4147338"/>
            <a:ext cx="95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Unmatched</a:t>
            </a:r>
            <a:endParaRPr b="1" sz="1100"/>
          </a:p>
        </p:txBody>
      </p:sp>
      <p:sp>
        <p:nvSpPr>
          <p:cNvPr id="92" name="Google Shape;92;p15"/>
          <p:cNvSpPr txBox="1"/>
          <p:nvPr/>
        </p:nvSpPr>
        <p:spPr>
          <a:xfrm>
            <a:off x="5060950" y="1086975"/>
            <a:ext cx="3682200" cy="1954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00">
                <a:solidFill>
                  <a:srgbClr val="0000FF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lang="en" sz="1000">
                <a:solidFill>
                  <a:srgbClr val="0000FF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(expression) {</a:t>
            </a:r>
            <a:endParaRPr sz="1000"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00"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28FF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case </a:t>
            </a:r>
            <a:r>
              <a:rPr lang="en" sz="1000"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expression_1 : </a:t>
            </a:r>
            <a:endParaRPr sz="1000"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00"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000">
                <a:highlight>
                  <a:srgbClr val="FFFD00"/>
                </a:highlight>
                <a:latin typeface="Courier New"/>
                <a:ea typeface="Courier New"/>
                <a:cs typeface="Courier New"/>
                <a:sym typeface="Courier New"/>
              </a:rPr>
              <a:t>statement_1</a:t>
            </a:r>
            <a:r>
              <a:rPr lang="en" sz="1000">
                <a:highlight>
                  <a:srgbClr val="FFFD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highlight>
                <a:srgbClr val="FFFD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00"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28FF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case </a:t>
            </a: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expression_2 :</a:t>
            </a:r>
            <a:endParaRPr sz="1000">
              <a:solidFill>
                <a:schemeClr val="dk1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000">
                <a:solidFill>
                  <a:schemeClr val="dk1"/>
                </a:solidFill>
                <a:highlight>
                  <a:srgbClr val="FFFD00"/>
                </a:highlight>
                <a:latin typeface="Courier New"/>
                <a:ea typeface="Courier New"/>
                <a:cs typeface="Courier New"/>
                <a:sym typeface="Courier New"/>
              </a:rPr>
              <a:t>statement_2;</a:t>
            </a:r>
            <a:endParaRPr sz="1000">
              <a:solidFill>
                <a:schemeClr val="dk1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28FF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default :</a:t>
            </a: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>
              <a:solidFill>
                <a:schemeClr val="dk1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000">
                <a:solidFill>
                  <a:schemeClr val="dk1"/>
                </a:solidFill>
                <a:highlight>
                  <a:srgbClr val="FFFD00"/>
                </a:highlight>
                <a:latin typeface="Courier New"/>
                <a:ea typeface="Courier New"/>
                <a:cs typeface="Courier New"/>
                <a:sym typeface="Courier New"/>
              </a:rPr>
              <a:t>default_statement_1;</a:t>
            </a:r>
            <a:endParaRPr sz="1000">
              <a:solidFill>
                <a:schemeClr val="dk1"/>
              </a:solidFill>
              <a:highlight>
                <a:srgbClr val="FFFD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0028FF"/>
              </a:solidFill>
              <a:highlight>
                <a:srgbClr val="EEEEE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" name="Google Shape;93;p15"/>
          <p:cNvSpPr txBox="1"/>
          <p:nvPr>
            <p:ph idx="1" type="body"/>
          </p:nvPr>
        </p:nvSpPr>
        <p:spPr>
          <a:xfrm>
            <a:off x="4992325" y="3137075"/>
            <a:ext cx="4075500" cy="16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One case matched -&gt; All statements </a:t>
            </a:r>
            <a:r>
              <a:rPr lang="en" sz="1500">
                <a:solidFill>
                  <a:schemeClr val="dk1"/>
                </a:solidFill>
              </a:rPr>
              <a:t>executed </a:t>
            </a:r>
            <a:r>
              <a:rPr lang="en" sz="1500">
                <a:solidFill>
                  <a:schemeClr val="dk1"/>
                </a:solidFill>
              </a:rPr>
              <a:t>after that.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expression == expression_1, statement_1, statement_2 and default_statement will be executed.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</a:t>
            </a:r>
            <a:r>
              <a:rPr lang="en" sz="1500">
                <a:solidFill>
                  <a:schemeClr val="dk1"/>
                </a:solidFill>
              </a:rPr>
              <a:t>o case matched -&gt; Only default statement executed.</a:t>
            </a:r>
            <a:endParaRPr sz="1500">
              <a:solidFill>
                <a:schemeClr val="dk1"/>
              </a:solidFill>
            </a:endParaRPr>
          </a:p>
        </p:txBody>
      </p:sp>
      <p:cxnSp>
        <p:nvCxnSpPr>
          <p:cNvPr id="94" name="Google Shape;94;p15"/>
          <p:cNvCxnSpPr>
            <a:endCxn id="68" idx="0"/>
          </p:cNvCxnSpPr>
          <p:nvPr/>
        </p:nvCxnSpPr>
        <p:spPr>
          <a:xfrm>
            <a:off x="1565608" y="2080225"/>
            <a:ext cx="4200" cy="21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Switch-Case Statement Without break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>
            <a:off x="992490" y="1194588"/>
            <a:ext cx="902502" cy="250776"/>
          </a:xfrm>
          <a:prstGeom prst="flowChartTerminator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START</a:t>
            </a:r>
            <a:endParaRPr sz="1300"/>
          </a:p>
        </p:txBody>
      </p:sp>
      <p:sp>
        <p:nvSpPr>
          <p:cNvPr id="101" name="Google Shape;101;p16"/>
          <p:cNvSpPr/>
          <p:nvPr/>
        </p:nvSpPr>
        <p:spPr>
          <a:xfrm>
            <a:off x="543900" y="1628938"/>
            <a:ext cx="1798500" cy="5232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expression</a:t>
            </a:r>
            <a:endParaRPr sz="1100"/>
          </a:p>
        </p:txBody>
      </p:sp>
      <p:cxnSp>
        <p:nvCxnSpPr>
          <p:cNvPr id="102" name="Google Shape;102;p16"/>
          <p:cNvCxnSpPr>
            <a:stCxn id="100" idx="2"/>
            <a:endCxn id="101" idx="0"/>
          </p:cNvCxnSpPr>
          <p:nvPr/>
        </p:nvCxnSpPr>
        <p:spPr>
          <a:xfrm flipH="1">
            <a:off x="1443141" y="1445364"/>
            <a:ext cx="600" cy="18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" name="Google Shape;103;p16"/>
          <p:cNvSpPr/>
          <p:nvPr/>
        </p:nvSpPr>
        <p:spPr>
          <a:xfrm>
            <a:off x="802054" y="2351068"/>
            <a:ext cx="1282200" cy="4776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case 1</a:t>
            </a:r>
            <a:endParaRPr sz="1100"/>
          </a:p>
        </p:txBody>
      </p:sp>
      <p:sp>
        <p:nvSpPr>
          <p:cNvPr id="104" name="Google Shape;104;p16"/>
          <p:cNvSpPr/>
          <p:nvPr/>
        </p:nvSpPr>
        <p:spPr>
          <a:xfrm>
            <a:off x="802054" y="3057824"/>
            <a:ext cx="1282200" cy="4776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case 2</a:t>
            </a:r>
            <a:endParaRPr sz="1100"/>
          </a:p>
        </p:txBody>
      </p:sp>
      <p:sp>
        <p:nvSpPr>
          <p:cNvPr id="105" name="Google Shape;105;p16"/>
          <p:cNvSpPr/>
          <p:nvPr/>
        </p:nvSpPr>
        <p:spPr>
          <a:xfrm>
            <a:off x="802054" y="3715172"/>
            <a:ext cx="1282200" cy="4776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default case</a:t>
            </a:r>
            <a:endParaRPr sz="1100"/>
          </a:p>
        </p:txBody>
      </p:sp>
      <p:sp>
        <p:nvSpPr>
          <p:cNvPr id="106" name="Google Shape;106;p16"/>
          <p:cNvSpPr/>
          <p:nvPr/>
        </p:nvSpPr>
        <p:spPr>
          <a:xfrm>
            <a:off x="2664578" y="2464443"/>
            <a:ext cx="948000" cy="2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statement 1</a:t>
            </a:r>
            <a:endParaRPr sz="1100"/>
          </a:p>
        </p:txBody>
      </p:sp>
      <p:sp>
        <p:nvSpPr>
          <p:cNvPr id="107" name="Google Shape;107;p16"/>
          <p:cNvSpPr/>
          <p:nvPr/>
        </p:nvSpPr>
        <p:spPr>
          <a:xfrm>
            <a:off x="2664578" y="3171187"/>
            <a:ext cx="948000" cy="2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statement 2</a:t>
            </a:r>
            <a:endParaRPr sz="1100"/>
          </a:p>
        </p:txBody>
      </p:sp>
      <p:sp>
        <p:nvSpPr>
          <p:cNvPr id="108" name="Google Shape;108;p16"/>
          <p:cNvSpPr/>
          <p:nvPr/>
        </p:nvSpPr>
        <p:spPr>
          <a:xfrm>
            <a:off x="2664578" y="3828547"/>
            <a:ext cx="948000" cy="2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statement 3</a:t>
            </a:r>
            <a:endParaRPr sz="1100"/>
          </a:p>
        </p:txBody>
      </p:sp>
      <p:sp>
        <p:nvSpPr>
          <p:cNvPr id="109" name="Google Shape;109;p16"/>
          <p:cNvSpPr/>
          <p:nvPr/>
        </p:nvSpPr>
        <p:spPr>
          <a:xfrm>
            <a:off x="2968613" y="4246352"/>
            <a:ext cx="339900" cy="31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2687309" y="4730598"/>
            <a:ext cx="902502" cy="250776"/>
          </a:xfrm>
          <a:prstGeom prst="flowChartTerminator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END</a:t>
            </a:r>
            <a:endParaRPr sz="1300"/>
          </a:p>
        </p:txBody>
      </p:sp>
      <p:cxnSp>
        <p:nvCxnSpPr>
          <p:cNvPr id="111" name="Google Shape;111;p16"/>
          <p:cNvCxnSpPr>
            <a:stCxn id="101" idx="2"/>
            <a:endCxn id="103" idx="0"/>
          </p:cNvCxnSpPr>
          <p:nvPr/>
        </p:nvCxnSpPr>
        <p:spPr>
          <a:xfrm>
            <a:off x="1443150" y="2152138"/>
            <a:ext cx="0" cy="1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6"/>
          <p:cNvCxnSpPr>
            <a:stCxn id="103" idx="2"/>
            <a:endCxn id="104" idx="0"/>
          </p:cNvCxnSpPr>
          <p:nvPr/>
        </p:nvCxnSpPr>
        <p:spPr>
          <a:xfrm>
            <a:off x="1443154" y="2828668"/>
            <a:ext cx="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6"/>
          <p:cNvCxnSpPr>
            <a:stCxn id="103" idx="3"/>
            <a:endCxn id="106" idx="1"/>
          </p:cNvCxnSpPr>
          <p:nvPr/>
        </p:nvCxnSpPr>
        <p:spPr>
          <a:xfrm>
            <a:off x="2084254" y="2589868"/>
            <a:ext cx="58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6"/>
          <p:cNvCxnSpPr>
            <a:stCxn id="104" idx="3"/>
            <a:endCxn id="107" idx="1"/>
          </p:cNvCxnSpPr>
          <p:nvPr/>
        </p:nvCxnSpPr>
        <p:spPr>
          <a:xfrm>
            <a:off x="2084254" y="3296624"/>
            <a:ext cx="58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6"/>
          <p:cNvCxnSpPr>
            <a:stCxn id="105" idx="3"/>
            <a:endCxn id="108" idx="1"/>
          </p:cNvCxnSpPr>
          <p:nvPr/>
        </p:nvCxnSpPr>
        <p:spPr>
          <a:xfrm>
            <a:off x="2084254" y="3953972"/>
            <a:ext cx="58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6"/>
          <p:cNvCxnSpPr>
            <a:stCxn id="104" idx="2"/>
            <a:endCxn id="105" idx="0"/>
          </p:cNvCxnSpPr>
          <p:nvPr/>
        </p:nvCxnSpPr>
        <p:spPr>
          <a:xfrm>
            <a:off x="1443154" y="3535424"/>
            <a:ext cx="0" cy="17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6"/>
          <p:cNvCxnSpPr>
            <a:endCxn id="109" idx="0"/>
          </p:cNvCxnSpPr>
          <p:nvPr/>
        </p:nvCxnSpPr>
        <p:spPr>
          <a:xfrm>
            <a:off x="3138563" y="4079552"/>
            <a:ext cx="0" cy="16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6"/>
          <p:cNvCxnSpPr>
            <a:stCxn id="105" idx="2"/>
            <a:endCxn id="109" idx="2"/>
          </p:cNvCxnSpPr>
          <p:nvPr/>
        </p:nvCxnSpPr>
        <p:spPr>
          <a:xfrm flipH="1" rot="-5400000">
            <a:off x="2099854" y="3536072"/>
            <a:ext cx="212100" cy="1525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6"/>
          <p:cNvCxnSpPr>
            <a:endCxn id="110" idx="0"/>
          </p:cNvCxnSpPr>
          <p:nvPr/>
        </p:nvCxnSpPr>
        <p:spPr>
          <a:xfrm flipH="1" rot="-5400000">
            <a:off x="3054860" y="4646898"/>
            <a:ext cx="1668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16"/>
          <p:cNvSpPr txBox="1"/>
          <p:nvPr/>
        </p:nvSpPr>
        <p:spPr>
          <a:xfrm>
            <a:off x="1918273" y="2287988"/>
            <a:ext cx="85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Matched</a:t>
            </a:r>
            <a:endParaRPr b="1" sz="1100"/>
          </a:p>
        </p:txBody>
      </p:sp>
      <p:sp>
        <p:nvSpPr>
          <p:cNvPr id="121" name="Google Shape;121;p16"/>
          <p:cNvSpPr txBox="1"/>
          <p:nvPr/>
        </p:nvSpPr>
        <p:spPr>
          <a:xfrm>
            <a:off x="1918263" y="3008525"/>
            <a:ext cx="85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Matched</a:t>
            </a:r>
            <a:endParaRPr b="1" sz="1100"/>
          </a:p>
        </p:txBody>
      </p:sp>
      <p:sp>
        <p:nvSpPr>
          <p:cNvPr id="122" name="Google Shape;122;p16"/>
          <p:cNvSpPr txBox="1"/>
          <p:nvPr/>
        </p:nvSpPr>
        <p:spPr>
          <a:xfrm>
            <a:off x="1867586" y="3652513"/>
            <a:ext cx="90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Matched</a:t>
            </a:r>
            <a:endParaRPr b="1" sz="1100"/>
          </a:p>
        </p:txBody>
      </p:sp>
      <p:sp>
        <p:nvSpPr>
          <p:cNvPr id="123" name="Google Shape;123;p16"/>
          <p:cNvSpPr txBox="1"/>
          <p:nvPr/>
        </p:nvSpPr>
        <p:spPr>
          <a:xfrm>
            <a:off x="387325" y="2758750"/>
            <a:ext cx="99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Unmatched</a:t>
            </a:r>
            <a:endParaRPr b="1" sz="1100"/>
          </a:p>
        </p:txBody>
      </p:sp>
      <p:sp>
        <p:nvSpPr>
          <p:cNvPr id="124" name="Google Shape;124;p16"/>
          <p:cNvSpPr txBox="1"/>
          <p:nvPr/>
        </p:nvSpPr>
        <p:spPr>
          <a:xfrm>
            <a:off x="387325" y="3474188"/>
            <a:ext cx="99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Unmatched</a:t>
            </a:r>
            <a:endParaRPr b="1" sz="1100"/>
          </a:p>
        </p:txBody>
      </p:sp>
      <p:sp>
        <p:nvSpPr>
          <p:cNvPr id="125" name="Google Shape;125;p16"/>
          <p:cNvSpPr txBox="1"/>
          <p:nvPr/>
        </p:nvSpPr>
        <p:spPr>
          <a:xfrm>
            <a:off x="436299" y="4167050"/>
            <a:ext cx="103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Unmatched</a:t>
            </a:r>
            <a:endParaRPr b="1" sz="1100"/>
          </a:p>
        </p:txBody>
      </p:sp>
      <p:sp>
        <p:nvSpPr>
          <p:cNvPr id="126" name="Google Shape;126;p16"/>
          <p:cNvSpPr txBox="1"/>
          <p:nvPr/>
        </p:nvSpPr>
        <p:spPr>
          <a:xfrm>
            <a:off x="5020450" y="946025"/>
            <a:ext cx="3912900" cy="2416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00">
                <a:solidFill>
                  <a:srgbClr val="0000FF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switch </a:t>
            </a:r>
            <a:r>
              <a:rPr lang="en" sz="1000"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(expression) {</a:t>
            </a:r>
            <a:endParaRPr sz="1000"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00"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28FF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case </a:t>
            </a:r>
            <a:r>
              <a:rPr lang="en" sz="1000"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expression_1 :</a:t>
            </a:r>
            <a:endParaRPr sz="1000"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00"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highlight>
                  <a:srgbClr val="FFFD00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" sz="1000">
                <a:highlight>
                  <a:srgbClr val="FFFD00"/>
                </a:highlight>
                <a:latin typeface="Courier New"/>
                <a:ea typeface="Courier New"/>
                <a:cs typeface="Courier New"/>
                <a:sym typeface="Courier New"/>
              </a:rPr>
              <a:t>tatement_1;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0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break;</a:t>
            </a:r>
            <a:endParaRPr sz="1000">
              <a:highlight>
                <a:srgbClr val="00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00">
                <a:highlight>
                  <a:srgbClr val="EEEEE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28FF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case </a:t>
            </a: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expression_2 :</a:t>
            </a:r>
            <a:endParaRPr sz="1000">
              <a:solidFill>
                <a:schemeClr val="dk1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chemeClr val="dk1"/>
                </a:solidFill>
                <a:highlight>
                  <a:srgbClr val="FFFD00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" sz="1000">
                <a:solidFill>
                  <a:schemeClr val="dk1"/>
                </a:solidFill>
                <a:highlight>
                  <a:srgbClr val="FFFD00"/>
                </a:highlight>
                <a:latin typeface="Courier New"/>
                <a:ea typeface="Courier New"/>
                <a:cs typeface="Courier New"/>
                <a:sym typeface="Courier New"/>
              </a:rPr>
              <a:t>tatement_2;</a:t>
            </a:r>
            <a:endParaRPr sz="1000">
              <a:solidFill>
                <a:schemeClr val="dk1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break;</a:t>
            </a: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endParaRPr sz="1000">
              <a:solidFill>
                <a:schemeClr val="dk1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rgbClr val="0028FF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28FF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default :</a:t>
            </a: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>
              <a:solidFill>
                <a:schemeClr val="dk1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chemeClr val="dk1"/>
                </a:solidFill>
                <a:highlight>
                  <a:srgbClr val="FFFD00"/>
                </a:highlight>
                <a:latin typeface="Courier New"/>
                <a:ea typeface="Courier New"/>
                <a:cs typeface="Courier New"/>
                <a:sym typeface="Courier New"/>
              </a:rPr>
              <a:t>default_statement_1;</a:t>
            </a:r>
            <a:endParaRPr sz="1000">
              <a:solidFill>
                <a:schemeClr val="dk1"/>
              </a:solidFill>
              <a:highlight>
                <a:srgbClr val="FFFD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0028FF"/>
              </a:solidFill>
              <a:highlight>
                <a:srgbClr val="EEEEE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896803" y="2464448"/>
            <a:ext cx="551100" cy="2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break</a:t>
            </a:r>
            <a:endParaRPr sz="1100"/>
          </a:p>
        </p:txBody>
      </p:sp>
      <p:cxnSp>
        <p:nvCxnSpPr>
          <p:cNvPr id="128" name="Google Shape;128;p16"/>
          <p:cNvCxnSpPr>
            <a:stCxn id="106" idx="3"/>
            <a:endCxn id="127" idx="1"/>
          </p:cNvCxnSpPr>
          <p:nvPr/>
        </p:nvCxnSpPr>
        <p:spPr>
          <a:xfrm>
            <a:off x="3612578" y="2589843"/>
            <a:ext cx="28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16"/>
          <p:cNvSpPr/>
          <p:nvPr/>
        </p:nvSpPr>
        <p:spPr>
          <a:xfrm>
            <a:off x="3896968" y="3171279"/>
            <a:ext cx="551100" cy="2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break</a:t>
            </a:r>
            <a:endParaRPr sz="1100"/>
          </a:p>
        </p:txBody>
      </p:sp>
      <p:cxnSp>
        <p:nvCxnSpPr>
          <p:cNvPr id="130" name="Google Shape;130;p16"/>
          <p:cNvCxnSpPr>
            <a:endCxn id="129" idx="1"/>
          </p:cNvCxnSpPr>
          <p:nvPr/>
        </p:nvCxnSpPr>
        <p:spPr>
          <a:xfrm>
            <a:off x="3612868" y="3296679"/>
            <a:ext cx="28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6"/>
          <p:cNvCxnSpPr>
            <a:stCxn id="127" idx="3"/>
            <a:endCxn id="109" idx="6"/>
          </p:cNvCxnSpPr>
          <p:nvPr/>
        </p:nvCxnSpPr>
        <p:spPr>
          <a:xfrm flipH="1">
            <a:off x="3308503" y="2589848"/>
            <a:ext cx="1139400" cy="1815000"/>
          </a:xfrm>
          <a:prstGeom prst="bentConnector3">
            <a:avLst>
              <a:gd fmla="val -1974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6"/>
          <p:cNvCxnSpPr>
            <a:stCxn id="129" idx="2"/>
            <a:endCxn id="109" idx="7"/>
          </p:cNvCxnSpPr>
          <p:nvPr/>
        </p:nvCxnSpPr>
        <p:spPr>
          <a:xfrm rot="5400000">
            <a:off x="3280318" y="3400479"/>
            <a:ext cx="870600" cy="913800"/>
          </a:xfrm>
          <a:prstGeom prst="bentConnector3">
            <a:avLst>
              <a:gd fmla="val 9971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16"/>
          <p:cNvSpPr txBox="1"/>
          <p:nvPr>
            <p:ph idx="1" type="body"/>
          </p:nvPr>
        </p:nvSpPr>
        <p:spPr>
          <a:xfrm>
            <a:off x="4953100" y="3373775"/>
            <a:ext cx="4047600" cy="16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One case matched -&gt; Statement for only that case executed.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expression == expression_1, only statement_1 will be executed.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No case matched -&gt; Only default statement executed.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34" name="Google Shape;13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Switch-Case Statement With break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Now can you identify how if-else and switch-case statements work differently?</a:t>
            </a:r>
            <a:endParaRPr sz="2500"/>
          </a:p>
        </p:txBody>
      </p:sp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1126775" y="2834125"/>
            <a:ext cx="6902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00"/>
              <a:t>Hint: Think about how the number of blocks of codes are </a:t>
            </a:r>
            <a:r>
              <a:rPr lang="en" sz="1600"/>
              <a:t>executed and how they create branches.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0000"/>
                </a:solidFill>
              </a:rPr>
              <a:t>THANK YOU!</a:t>
            </a:r>
            <a:endParaRPr b="1" sz="3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