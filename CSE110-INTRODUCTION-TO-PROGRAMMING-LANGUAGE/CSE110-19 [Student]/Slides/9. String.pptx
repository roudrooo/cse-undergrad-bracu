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0A7BCF-8FF9-4D1E-A465-8D95E6E1C045}">
  <a:tblStyle styleId="{540A7BCF-8FF9-4D1E-A465-8D95E6E1C0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aa964a5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aa964a5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49ada7e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49ada7e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aa964a56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aa964a56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aa964a56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2aa964a56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544e1a44e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544e1a44e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44e1a44e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44e1a44e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54d6fa6e4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54d6fa6e4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549ada7e1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549ada7e1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49ada7e1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549ada7e1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49ada7e1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549ada7e1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549ada7e1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549ada7e1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49ada7e1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549ada7e1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49ada7e1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549ada7e1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549ada7e1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549ada7e1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4d6fa6e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54d6fa6e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4d6fa6e4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54d6fa6e4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54d6fa6e4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54d6fa6e4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55224f088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55224f088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cs.cmu.edu/~pattis/15-1XX/common/handouts/ascii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a string?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 many other </a:t>
            </a:r>
            <a:r>
              <a:rPr lang="en" sz="1600">
                <a:solidFill>
                  <a:schemeClr val="dk1"/>
                </a:solidFill>
              </a:rPr>
              <a:t>programming</a:t>
            </a:r>
            <a:r>
              <a:rPr lang="en" sz="1600">
                <a:solidFill>
                  <a:schemeClr val="dk1"/>
                </a:solidFill>
              </a:rPr>
              <a:t> languages, string is a sequence of characters.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 Java, strings are objects.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Strings are </a:t>
            </a:r>
            <a:r>
              <a:rPr lang="en" sz="1600">
                <a:solidFill>
                  <a:schemeClr val="dk1"/>
                </a:solidFill>
              </a:rPr>
              <a:t>surrounded</a:t>
            </a:r>
            <a:r>
              <a:rPr lang="en" sz="1600">
                <a:solidFill>
                  <a:schemeClr val="dk1"/>
                </a:solidFill>
              </a:rPr>
              <a:t> by double quotes.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Strings are immutable. Once a string is created, it can’t be changed.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If we want to to modify a string, it will create a new string which contains the modifications.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52500" y="1036350"/>
            <a:ext cx="84390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.next() and .nextLine() of the scanner class is used to take string as input.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.next() </a:t>
            </a:r>
            <a:r>
              <a:rPr lang="en" sz="1600">
                <a:solidFill>
                  <a:schemeClr val="dk1"/>
                </a:solidFill>
              </a:rPr>
              <a:t>only </a:t>
            </a:r>
            <a:r>
              <a:rPr lang="en" sz="1600">
                <a:solidFill>
                  <a:schemeClr val="dk1"/>
                </a:solidFill>
              </a:rPr>
              <a:t>takes input until it finds a </a:t>
            </a:r>
            <a:r>
              <a:rPr lang="en" sz="1600">
                <a:solidFill>
                  <a:schemeClr val="dk1"/>
                </a:solidFill>
              </a:rPr>
              <a:t>“ ”</a:t>
            </a:r>
            <a:r>
              <a:rPr lang="en" sz="1600">
                <a:solidFill>
                  <a:schemeClr val="dk1"/>
                </a:solidFill>
              </a:rPr>
              <a:t> or space</a:t>
            </a:r>
            <a:r>
              <a:rPr lang="en" sz="1600">
                <a:solidFill>
                  <a:schemeClr val="dk1"/>
                </a:solidFill>
              </a:rPr>
              <a:t> in the given input.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.nextLine() takes </a:t>
            </a:r>
            <a:r>
              <a:rPr lang="en" sz="1600">
                <a:solidFill>
                  <a:schemeClr val="dk1"/>
                </a:solidFill>
              </a:rPr>
              <a:t>input until it finds a “\n” in the given input.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1754525" y="2085475"/>
            <a:ext cx="5387700" cy="1764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stringInput{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Scanner(System.in);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input1 = sc.next();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input2 = sc.nextLine();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.out.println(input1);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.out.println(input2);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754525" y="3849475"/>
            <a:ext cx="5387700" cy="1166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CSE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CSE IS FUN.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1972641" y="4120242"/>
            <a:ext cx="2839500" cy="159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</a:rPr>
              <a:t>CSE IS FUN.</a:t>
            </a:r>
            <a:endParaRPr sz="1100">
              <a:solidFill>
                <a:srgbClr val="A64D79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972641" y="4336643"/>
            <a:ext cx="2839500" cy="159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</a:rPr>
              <a:t>CSE IS FUN.</a:t>
            </a:r>
            <a:endParaRPr sz="1100">
              <a:solidFill>
                <a:srgbClr val="A64D79"/>
              </a:solidFill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String Input and Output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String Initialization</a:t>
            </a:r>
            <a:endParaRPr b="1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081175"/>
            <a:ext cx="8520600" cy="38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Initialization using String literals: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055800" y="2273350"/>
            <a:ext cx="3032400" cy="415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String my_string = “Hello World!”;</a:t>
            </a:r>
            <a:endParaRPr sz="1500"/>
          </a:p>
        </p:txBody>
      </p:sp>
      <p:sp>
        <p:nvSpPr>
          <p:cNvPr id="79" name="Google Shape;79;p16"/>
          <p:cNvSpPr/>
          <p:nvPr/>
        </p:nvSpPr>
        <p:spPr>
          <a:xfrm rot="5400000">
            <a:off x="3206500" y="1992350"/>
            <a:ext cx="340800" cy="351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3014350" y="1740200"/>
            <a:ext cx="725100" cy="2574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Literal</a:t>
            </a:r>
            <a:endParaRPr sz="1300"/>
          </a:p>
        </p:txBody>
      </p:sp>
      <p:sp>
        <p:nvSpPr>
          <p:cNvPr id="81" name="Google Shape;81;p16"/>
          <p:cNvSpPr/>
          <p:nvPr/>
        </p:nvSpPr>
        <p:spPr>
          <a:xfrm flipH="1" rot="5400000">
            <a:off x="3997400" y="2426825"/>
            <a:ext cx="257400" cy="7251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3644450" y="2918075"/>
            <a:ext cx="963300" cy="340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Variable name</a:t>
            </a:r>
            <a:endParaRPr sz="1200"/>
          </a:p>
        </p:txBody>
      </p:sp>
      <p:sp>
        <p:nvSpPr>
          <p:cNvPr id="83" name="Google Shape;83;p16"/>
          <p:cNvSpPr/>
          <p:nvPr/>
        </p:nvSpPr>
        <p:spPr>
          <a:xfrm rot="5400000">
            <a:off x="5133000" y="1851800"/>
            <a:ext cx="340800" cy="6324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904400" y="1740200"/>
            <a:ext cx="798000" cy="2574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String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String Initialization</a:t>
            </a:r>
            <a:endParaRPr b="1"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081175"/>
            <a:ext cx="8520600" cy="38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Creating an object of String class: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2945800" y="2273350"/>
            <a:ext cx="3468900" cy="415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String my_str = new String( “Hello”);</a:t>
            </a:r>
            <a:endParaRPr sz="1500"/>
          </a:p>
        </p:txBody>
      </p:sp>
      <p:sp>
        <p:nvSpPr>
          <p:cNvPr id="92" name="Google Shape;92;p17"/>
          <p:cNvSpPr/>
          <p:nvPr/>
        </p:nvSpPr>
        <p:spPr>
          <a:xfrm rot="5400000">
            <a:off x="3138525" y="1992350"/>
            <a:ext cx="340800" cy="351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2798325" y="1786725"/>
            <a:ext cx="963300" cy="2574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Class name</a:t>
            </a:r>
            <a:endParaRPr sz="1100"/>
          </a:p>
        </p:txBody>
      </p:sp>
      <p:sp>
        <p:nvSpPr>
          <p:cNvPr id="94" name="Google Shape;94;p17"/>
          <p:cNvSpPr/>
          <p:nvPr/>
        </p:nvSpPr>
        <p:spPr>
          <a:xfrm flipH="1" rot="5400000">
            <a:off x="3753900" y="2534525"/>
            <a:ext cx="257400" cy="5097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3400950" y="2892700"/>
            <a:ext cx="963300" cy="340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Object </a:t>
            </a:r>
            <a:r>
              <a:rPr lang="en" sz="1200"/>
              <a:t>name</a:t>
            </a:r>
            <a:endParaRPr sz="1200"/>
          </a:p>
        </p:txBody>
      </p:sp>
      <p:sp>
        <p:nvSpPr>
          <p:cNvPr id="96" name="Google Shape;96;p17"/>
          <p:cNvSpPr/>
          <p:nvPr/>
        </p:nvSpPr>
        <p:spPr>
          <a:xfrm rot="5400000">
            <a:off x="4984825" y="1380650"/>
            <a:ext cx="378600" cy="15747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4455175" y="1665525"/>
            <a:ext cx="1437900" cy="378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To create an object of String class</a:t>
            </a:r>
            <a:endParaRPr sz="1100"/>
          </a:p>
        </p:txBody>
      </p:sp>
      <p:sp>
        <p:nvSpPr>
          <p:cNvPr id="98" name="Google Shape;98;p17"/>
          <p:cNvSpPr/>
          <p:nvPr/>
        </p:nvSpPr>
        <p:spPr>
          <a:xfrm flipH="1" rot="5400000">
            <a:off x="5549625" y="2562875"/>
            <a:ext cx="257400" cy="4530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5344125" y="2892700"/>
            <a:ext cx="668400" cy="340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String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String Length</a:t>
            </a:r>
            <a:endParaRPr b="1"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37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number of characters in a string.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find using the length() method.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1716150" y="1868350"/>
            <a:ext cx="5711700" cy="2088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stringLength 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World"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str2 = 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r>
              <a:rPr lang="en" sz="114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Empty string</a:t>
            </a:r>
            <a:endParaRPr sz="114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.out.println(str1.length());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.out.println(str2.length());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1716150" y="3854000"/>
            <a:ext cx="57117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n stringLength</a:t>
            </a:r>
            <a:endParaRPr sz="11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00"/>
                </a:solidFill>
              </a:rPr>
              <a:t>String Indexing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311700" y="1152475"/>
            <a:ext cx="85206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String indexing starts from 0 and ends at (Length of string - 1).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If we create string1 = “CSE IS FUN.”, which has a length of 11, the indexing will look like this</a:t>
            </a:r>
            <a:r>
              <a:rPr lang="en" sz="1600"/>
              <a:t>: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</a:t>
            </a:r>
            <a:r>
              <a:rPr lang="en" sz="1600">
                <a:solidFill>
                  <a:srgbClr val="000000"/>
                </a:solidFill>
              </a:rPr>
              <a:t>lanks and </a:t>
            </a:r>
            <a:r>
              <a:rPr lang="en" sz="1600"/>
              <a:t>special characters</a:t>
            </a:r>
            <a:r>
              <a:rPr lang="en" sz="1600">
                <a:solidFill>
                  <a:srgbClr val="000000"/>
                </a:solidFill>
              </a:rPr>
              <a:t> are als</a:t>
            </a:r>
            <a:r>
              <a:rPr lang="en" sz="1600"/>
              <a:t>o</a:t>
            </a:r>
            <a:r>
              <a:rPr lang="en" sz="1600">
                <a:solidFill>
                  <a:srgbClr val="000000"/>
                </a:solidFill>
              </a:rPr>
              <a:t> counted as characters.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 can get characters at each each index by using </a:t>
            </a:r>
            <a:r>
              <a:rPr b="1" lang="en" sz="1600">
                <a:solidFill>
                  <a:srgbClr val="1C55A7"/>
                </a:solidFill>
              </a:rPr>
              <a:t>charAt(index)</a:t>
            </a:r>
            <a:r>
              <a:rPr lang="en" sz="1600"/>
              <a:t> method.     Example: string1.charAt(2) will return “E”. </a:t>
            </a:r>
            <a:endParaRPr sz="1600"/>
          </a:p>
        </p:txBody>
      </p:sp>
      <p:graphicFrame>
        <p:nvGraphicFramePr>
          <p:cNvPr id="114" name="Google Shape;114;p19"/>
          <p:cNvGraphicFramePr/>
          <p:nvPr/>
        </p:nvGraphicFramePr>
        <p:xfrm>
          <a:off x="952450" y="26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{540A7BCF-8FF9-4D1E-A465-8D95E6E1C045}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U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.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Google Shape;115;p19"/>
          <p:cNvGraphicFramePr/>
          <p:nvPr/>
        </p:nvGraphicFramePr>
        <p:xfrm>
          <a:off x="952450" y="22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{540A7BCF-8FF9-4D1E-A465-8D95E6E1C045}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Iterating a String</a:t>
            </a:r>
            <a:endParaRPr b="1"/>
          </a:p>
        </p:txBody>
      </p:sp>
      <p:sp>
        <p:nvSpPr>
          <p:cNvPr id="121" name="Google Shape;121;p20"/>
          <p:cNvSpPr txBox="1"/>
          <p:nvPr/>
        </p:nvSpPr>
        <p:spPr>
          <a:xfrm>
            <a:off x="2074050" y="3393200"/>
            <a:ext cx="4995900" cy="1400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StringIteration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2074050" y="1733600"/>
            <a:ext cx="4995900" cy="165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0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StringIteration {</a:t>
            </a:r>
            <a:endParaRPr sz="1000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main(String[] args)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String str = new String(</a:t>
            </a:r>
            <a:r>
              <a:rPr lang="en" sz="10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0; i &lt;str.length(); i++){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System.out.println(str.charAt(i));       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311700" y="985200"/>
            <a:ext cx="847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Accessing the characters of a string one by one.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Iterating a string using for loop and charAt() method.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26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String </a:t>
            </a:r>
            <a:r>
              <a:rPr b="1" lang="en"/>
              <a:t>Concatenation</a:t>
            </a:r>
            <a:endParaRPr b="1"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1152475"/>
            <a:ext cx="49809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“+” is used to concatenate two or more strings together.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New string created after concatenation.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If a </a:t>
            </a:r>
            <a:r>
              <a:rPr lang="en" sz="1600">
                <a:solidFill>
                  <a:schemeClr val="dk1"/>
                </a:solidFill>
              </a:rPr>
              <a:t>different</a:t>
            </a:r>
            <a:r>
              <a:rPr lang="en" sz="1600">
                <a:solidFill>
                  <a:schemeClr val="dk1"/>
                </a:solidFill>
              </a:rPr>
              <a:t> data type follows a string data type in concatenation, that data is automatically converted to string.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5292600" y="1287250"/>
            <a:ext cx="3727200" cy="195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"We are learning"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str2 = 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"Java."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123;</a:t>
            </a:r>
            <a:endParaRPr sz="114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str3 = str1 + str2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str4 = str1 + num;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.out.println(str3);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.out.println(str4);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5292600" y="3238900"/>
            <a:ext cx="3727200" cy="1006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We are learning Java.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We are learning 123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1093350"/>
            <a:ext cx="8520600" cy="10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DD4A68"/>
                </a:solidFill>
              </a:rPr>
              <a:t>.substring(start, end) </a:t>
            </a:r>
            <a:r>
              <a:rPr lang="en" sz="1600">
                <a:solidFill>
                  <a:schemeClr val="dk1"/>
                </a:solidFill>
              </a:rPr>
              <a:t>is used to divide string into parts called slicing.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Start and end denotes index of characters the string will be sliced from and to.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End is set to (length of string - 1) by default.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1941975" y="2239050"/>
            <a:ext cx="5528100" cy="180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stringSlicing 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"Cutting into pieces"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4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.out.println(str1.substring(3,6));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.out.println(str1.substring(3,));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1941975" y="4044750"/>
            <a:ext cx="5528100" cy="794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ting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ting into pieces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00"/>
                </a:solidFill>
              </a:rPr>
              <a:t>String </a:t>
            </a:r>
            <a:r>
              <a:rPr b="1" lang="en" sz="2500"/>
              <a:t>Slicing</a:t>
            </a:r>
            <a:endParaRPr b="1" sz="2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Comparing Strings</a:t>
            </a:r>
            <a:endParaRPr b="1"/>
          </a:p>
        </p:txBody>
      </p:sp>
      <p:graphicFrame>
        <p:nvGraphicFramePr>
          <p:cNvPr id="145" name="Google Shape;145;p23"/>
          <p:cNvGraphicFramePr/>
          <p:nvPr/>
        </p:nvGraphicFramePr>
        <p:xfrm>
          <a:off x="495350" y="1286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{540A7BCF-8FF9-4D1E-A465-8D95E6E1C045}</a:tableStyleId>
              </a:tblPr>
              <a:tblGrid>
                <a:gridCol w="1647475"/>
                <a:gridCol w="3313225"/>
                <a:gridCol w="2275250"/>
                <a:gridCol w="917325"/>
              </a:tblGrid>
              <a:tr h="59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Methods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Functions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Method Call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Value returned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6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.equals()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Checks if values in two strings are same. Case sensitive.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str1.equals(str2)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.equalsIgnoreCase()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Checks if values in two strings are same. Not case sensitive.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str1.equalsIgnoreCase(str2)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== or equals operator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Checks if reference (address) of two strings are same.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tr1 == str2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.compareTo()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Compares two string values 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lexicographically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. Returns 0 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when identical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, (+)ve 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when first string is greater and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(-)ve values when second string is greater respectively.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str1.compareTo(str2)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32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789113"/>
            <a:ext cx="85206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C55A7"/>
                </a:solidFill>
              </a:rPr>
              <a:t>String</a:t>
            </a:r>
            <a:r>
              <a:rPr lang="en" sz="1500">
                <a:solidFill>
                  <a:schemeClr val="dk1"/>
                </a:solidFill>
              </a:rPr>
              <a:t> str1 = </a:t>
            </a:r>
            <a:r>
              <a:rPr lang="en" sz="1500">
                <a:solidFill>
                  <a:srgbClr val="1C55A7"/>
                </a:solidFill>
              </a:rPr>
              <a:t>new</a:t>
            </a:r>
            <a:r>
              <a:rPr lang="en" sz="1500">
                <a:solidFill>
                  <a:schemeClr val="dk1"/>
                </a:solidFill>
              </a:rPr>
              <a:t> String(“Hello”); </a:t>
            </a:r>
            <a:r>
              <a:rPr lang="en" sz="1500">
                <a:solidFill>
                  <a:srgbClr val="1C55A7"/>
                </a:solidFill>
              </a:rPr>
              <a:t>String</a:t>
            </a:r>
            <a:r>
              <a:rPr lang="en" sz="1500">
                <a:solidFill>
                  <a:schemeClr val="dk1"/>
                </a:solidFill>
              </a:rPr>
              <a:t> str2 = </a:t>
            </a:r>
            <a:r>
              <a:rPr lang="en" sz="1500">
                <a:solidFill>
                  <a:srgbClr val="1C55A7"/>
                </a:solidFill>
              </a:rPr>
              <a:t>new</a:t>
            </a:r>
            <a:r>
              <a:rPr lang="en" sz="1500">
                <a:solidFill>
                  <a:schemeClr val="dk1"/>
                </a:solidFill>
              </a:rPr>
              <a:t> String(“hello”);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Finding Index of Character(s)</a:t>
            </a:r>
            <a:endParaRPr b="1"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236050" y="1204875"/>
            <a:ext cx="3424800" cy="37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DD4A68"/>
                </a:solidFill>
              </a:rPr>
              <a:t>.indexOf()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lang="en" sz="1600">
                <a:solidFill>
                  <a:srgbClr val="DD4A68"/>
                </a:solidFill>
              </a:rPr>
              <a:t>.lastIndexOf() </a:t>
            </a:r>
            <a:r>
              <a:rPr lang="en" sz="1600">
                <a:solidFill>
                  <a:schemeClr val="dk1"/>
                </a:solidFill>
              </a:rPr>
              <a:t>are used to find one or a group of characters in a string.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.indexOf() return the first index value of the character.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.lastIndexOf() returns the last index value of the character.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3999375" y="1369500"/>
            <a:ext cx="4881000" cy="180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stringLength {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.out.println(str1.indexOf(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"o"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.out.println(str2.lastIndexOf(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"o"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.out.println(str2.lastIndex(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"rld"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3999375" y="3175200"/>
            <a:ext cx="48810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Case Conversion</a:t>
            </a:r>
            <a:endParaRPr b="1"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152475"/>
            <a:ext cx="421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.toLowerCase()</a:t>
            </a:r>
            <a:endParaRPr>
              <a:solidFill>
                <a:srgbClr val="DD4A68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Converts all characters to lowercase letters.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4A68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.toUpperCase()</a:t>
            </a:r>
            <a:endParaRPr>
              <a:solidFill>
                <a:srgbClr val="DD4A68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Converts all characters to uppercase letters.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4522500" y="1658000"/>
            <a:ext cx="4305300" cy="1158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22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"LearNinG IS Fun"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22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str1_lower= str1.toLowerCase()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22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str1_upper = str1.toUpperCase() 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22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System.out.println(str1_lower)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22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System.out.println(str1_upper)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4522500" y="2816297"/>
            <a:ext cx="43053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learning is fun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LEARNING IS FUN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Other String Methods</a:t>
            </a:r>
            <a:endParaRPr b="1"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311700" y="1152475"/>
            <a:ext cx="406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.replace(chr1, chr2) 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Used to replace one character with another.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All of chr1 present in the string will be replaced by chr2.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4A68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.charAt(index)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Returns the character at index value passed as argument.</a:t>
            </a:r>
            <a:r>
              <a:rPr lang="en" sz="1600">
                <a:solidFill>
                  <a:srgbClr val="DD4A68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4672975" y="945300"/>
            <a:ext cx="4305300" cy="1419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str2 = str1.replace(“o”,”t”);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System.out.println(str2)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"Henry"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name_changed = name.replace(“Hen”,”Ga”)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System.out.println(name_changed)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4672975" y="2296600"/>
            <a:ext cx="43053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Hellt wtrld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Gary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4672975" y="3448575"/>
            <a:ext cx="4305300" cy="57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System.out.println(str1.charAt(3))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4672975" y="4021275"/>
            <a:ext cx="43053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Other String Methods (Contd)</a:t>
            </a:r>
            <a:endParaRPr b="1"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311700" y="1152475"/>
            <a:ext cx="406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.trim() 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Removes any leading or trailing white spaces and returns the string.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.split(chr)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Splits one string based on the argument passed.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Creates an array of string.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4718300" y="1895875"/>
            <a:ext cx="43053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4718300" y="2808400"/>
            <a:ext cx="4305300" cy="1108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names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"Henry, Gary"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[]names_array= names.split(“, ”)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(String x : names_array){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System.out.println(x)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4718300" y="3916900"/>
            <a:ext cx="43053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Henry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Gary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4718300" y="1152475"/>
            <a:ext cx="4305300" cy="743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         Hello World      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str2 = str1.trim();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System.out.println(str2)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Other String Methods (Contd)</a:t>
            </a:r>
            <a:endParaRPr b="1"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11700" y="1152475"/>
            <a:ext cx="4061100" cy="30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DD4A68"/>
                </a:solidFill>
              </a:rPr>
              <a:t>.valueOf(some_data) </a:t>
            </a:r>
            <a:endParaRPr sz="1600">
              <a:solidFill>
                <a:srgbClr val="DD4A68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Converts other data types into string type.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DD4A68"/>
                </a:solidFill>
              </a:rPr>
              <a:t>.</a:t>
            </a:r>
            <a:r>
              <a:rPr lang="en" sz="1600">
                <a:solidFill>
                  <a:srgbClr val="DD4A68"/>
                </a:solidFill>
                <a:highlight>
                  <a:schemeClr val="lt1"/>
                </a:highlight>
              </a:rPr>
              <a:t>contains(</a:t>
            </a:r>
            <a:r>
              <a:rPr lang="en" sz="1600">
                <a:solidFill>
                  <a:srgbClr val="DD4A68"/>
                </a:solidFill>
              </a:rPr>
              <a:t>substring)</a:t>
            </a:r>
            <a:endParaRPr sz="1600">
              <a:solidFill>
                <a:srgbClr val="DD4A68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Returns </a:t>
            </a:r>
            <a:r>
              <a:rPr lang="en" sz="1600">
                <a:solidFill>
                  <a:srgbClr val="0000FF"/>
                </a:solidFill>
              </a:rPr>
              <a:t>true</a:t>
            </a:r>
            <a:r>
              <a:rPr lang="en" sz="1600">
                <a:solidFill>
                  <a:schemeClr val="dk1"/>
                </a:solidFill>
              </a:rPr>
              <a:t> if a substring exists in a string else </a:t>
            </a:r>
            <a:r>
              <a:rPr lang="en" sz="1600">
                <a:solidFill>
                  <a:srgbClr val="0000FF"/>
                </a:solidFill>
              </a:rPr>
              <a:t>false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4887125" y="2303375"/>
            <a:ext cx="40611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100.63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4887125" y="964775"/>
            <a:ext cx="4061100" cy="1338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nt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digit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String.valueOf(digit);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System.out.println(str1)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float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decimal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100.63F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str2 = String.valueOf(decimal);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System.out.println(str2)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4887125" y="3350925"/>
            <a:ext cx="4061100" cy="776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"Programming is fun!"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Boolean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 = str1.contains("fun");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System.out.println(result);</a:t>
            </a:r>
            <a:endParaRPr sz="1040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4887125" y="4127325"/>
            <a:ext cx="40611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ASCII values</a:t>
            </a:r>
            <a:endParaRPr b="1"/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311700" y="1152475"/>
            <a:ext cx="8371800" cy="30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Unique Unicode value assigned to all keyboard characters.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Range of ASCII values of uppercase characters (‘A’ to ‘Z’): </a:t>
            </a:r>
            <a:r>
              <a:rPr lang="en" sz="1600">
                <a:solidFill>
                  <a:srgbClr val="0000FF"/>
                </a:solidFill>
              </a:rPr>
              <a:t>65 - 90</a:t>
            </a:r>
            <a:endParaRPr sz="1600">
              <a:solidFill>
                <a:srgbClr val="0000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Range of ASCII values of uppercase characters (‘A’ to ‘Z’): </a:t>
            </a:r>
            <a:r>
              <a:rPr lang="en" sz="1600">
                <a:solidFill>
                  <a:srgbClr val="0000FF"/>
                </a:solidFill>
              </a:rPr>
              <a:t>97 - 122</a:t>
            </a:r>
            <a:endParaRPr sz="1600">
              <a:solidFill>
                <a:srgbClr val="0000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ASCII value of space: </a:t>
            </a:r>
            <a:r>
              <a:rPr lang="en" sz="1600">
                <a:solidFill>
                  <a:srgbClr val="0000FF"/>
                </a:solidFill>
              </a:rPr>
              <a:t>32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See more from: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https://www.cs.cmu.edu/~pattis/15-1XX/common/handouts/ascii.html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Converting a Character to ASCII Value</a:t>
            </a:r>
            <a:endParaRPr b="1"/>
          </a:p>
        </p:txBody>
      </p:sp>
      <p:sp>
        <p:nvSpPr>
          <p:cNvPr id="204" name="Google Shape;204;p30"/>
          <p:cNvSpPr txBox="1"/>
          <p:nvPr/>
        </p:nvSpPr>
        <p:spPr>
          <a:xfrm>
            <a:off x="5181325" y="1913575"/>
            <a:ext cx="38421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67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5181325" y="1152475"/>
            <a:ext cx="3842100" cy="761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"CSE110"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unicode_str1 = str1.codePointAt(0);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System.out.println(unicode_str1)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311700" y="1152475"/>
            <a:ext cx="4574700" cy="28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.codePointAt(index) 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Takes an index of a string as a parameter and returns the ASCII value of the character of that index.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int(chr)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Can simply cast a character as an integer.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i="1" sz="1400">
              <a:solidFill>
                <a:schemeClr val="dk1"/>
              </a:solidFill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5181325" y="3546675"/>
            <a:ext cx="38421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5181325" y="2785575"/>
            <a:ext cx="3842100" cy="761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har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c1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unicode_c1 = int(c1);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System.out.println(unicode_c1)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453850" y="3668525"/>
            <a:ext cx="4493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Can you now try to figure out how you can convert an uppercase character to its equivalent lowercase character using the knowledge you gained on ASCII values so far?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/>
        </p:nvSpPr>
        <p:spPr>
          <a:xfrm>
            <a:off x="311700" y="2098350"/>
            <a:ext cx="85206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300">
                <a:solidFill>
                  <a:srgbClr val="000000"/>
                </a:solidFill>
              </a:rPr>
              <a:t>THANK YOU!</a:t>
            </a:r>
            <a:endParaRPr b="1" sz="3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